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38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3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08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9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54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897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12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3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10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8F4569B0-B7EA-412D-9E7F-53A9B56D36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08694" y="3542548"/>
            <a:ext cx="2646732" cy="2646732"/>
          </a:xfrm>
          <a:custGeom>
            <a:avLst/>
            <a:gdLst>
              <a:gd name="connsiteX0" fmla="*/ 200516 w 2646732"/>
              <a:gd name="connsiteY0" fmla="*/ 0 h 2646732"/>
              <a:gd name="connsiteX1" fmla="*/ 2446216 w 2646732"/>
              <a:gd name="connsiteY1" fmla="*/ 0 h 2646732"/>
              <a:gd name="connsiteX2" fmla="*/ 2646732 w 2646732"/>
              <a:gd name="connsiteY2" fmla="*/ 200516 h 2646732"/>
              <a:gd name="connsiteX3" fmla="*/ 2646732 w 2646732"/>
              <a:gd name="connsiteY3" fmla="*/ 2446216 h 2646732"/>
              <a:gd name="connsiteX4" fmla="*/ 2446216 w 2646732"/>
              <a:gd name="connsiteY4" fmla="*/ 2646732 h 2646732"/>
              <a:gd name="connsiteX5" fmla="*/ 200516 w 2646732"/>
              <a:gd name="connsiteY5" fmla="*/ 2646732 h 2646732"/>
              <a:gd name="connsiteX6" fmla="*/ 0 w 2646732"/>
              <a:gd name="connsiteY6" fmla="*/ 2446216 h 2646732"/>
              <a:gd name="connsiteX7" fmla="*/ 0 w 2646732"/>
              <a:gd name="connsiteY7" fmla="*/ 200516 h 2646732"/>
              <a:gd name="connsiteX8" fmla="*/ 200516 w 2646732"/>
              <a:gd name="connsiteY8" fmla="*/ 0 h 264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732" h="2646732">
                <a:moveTo>
                  <a:pt x="200516" y="0"/>
                </a:moveTo>
                <a:lnTo>
                  <a:pt x="2446216" y="0"/>
                </a:lnTo>
                <a:cubicBezTo>
                  <a:pt x="2556958" y="0"/>
                  <a:pt x="2646732" y="89774"/>
                  <a:pt x="2646732" y="200516"/>
                </a:cubicBezTo>
                <a:lnTo>
                  <a:pt x="2646732" y="2446216"/>
                </a:lnTo>
                <a:cubicBezTo>
                  <a:pt x="2646732" y="2556958"/>
                  <a:pt x="2556958" y="2646732"/>
                  <a:pt x="2446216" y="2646732"/>
                </a:cubicBezTo>
                <a:lnTo>
                  <a:pt x="200516" y="2646732"/>
                </a:lnTo>
                <a:cubicBezTo>
                  <a:pt x="89774" y="2646732"/>
                  <a:pt x="0" y="2556958"/>
                  <a:pt x="0" y="2446216"/>
                </a:cubicBezTo>
                <a:lnTo>
                  <a:pt x="0" y="200516"/>
                </a:lnTo>
                <a:cubicBezTo>
                  <a:pt x="0" y="89774"/>
                  <a:pt x="89774" y="0"/>
                  <a:pt x="200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69D0C755-96DA-4B6F-BE0A-5FD4DFFBA83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71597" y="1063172"/>
            <a:ext cx="2208689" cy="2208689"/>
          </a:xfrm>
          <a:custGeom>
            <a:avLst/>
            <a:gdLst>
              <a:gd name="connsiteX0" fmla="*/ 167330 w 2208689"/>
              <a:gd name="connsiteY0" fmla="*/ 0 h 2208689"/>
              <a:gd name="connsiteX1" fmla="*/ 2041359 w 2208689"/>
              <a:gd name="connsiteY1" fmla="*/ 0 h 2208689"/>
              <a:gd name="connsiteX2" fmla="*/ 2208689 w 2208689"/>
              <a:gd name="connsiteY2" fmla="*/ 167330 h 2208689"/>
              <a:gd name="connsiteX3" fmla="*/ 2208689 w 2208689"/>
              <a:gd name="connsiteY3" fmla="*/ 2041359 h 2208689"/>
              <a:gd name="connsiteX4" fmla="*/ 2041359 w 2208689"/>
              <a:gd name="connsiteY4" fmla="*/ 2208689 h 2208689"/>
              <a:gd name="connsiteX5" fmla="*/ 167330 w 2208689"/>
              <a:gd name="connsiteY5" fmla="*/ 2208689 h 2208689"/>
              <a:gd name="connsiteX6" fmla="*/ 0 w 2208689"/>
              <a:gd name="connsiteY6" fmla="*/ 2041359 h 2208689"/>
              <a:gd name="connsiteX7" fmla="*/ 0 w 2208689"/>
              <a:gd name="connsiteY7" fmla="*/ 167330 h 2208689"/>
              <a:gd name="connsiteX8" fmla="*/ 167330 w 2208689"/>
              <a:gd name="connsiteY8" fmla="*/ 0 h 2208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8689" h="2208689">
                <a:moveTo>
                  <a:pt x="167330" y="0"/>
                </a:moveTo>
                <a:lnTo>
                  <a:pt x="2041359" y="0"/>
                </a:lnTo>
                <a:cubicBezTo>
                  <a:pt x="2133773" y="0"/>
                  <a:pt x="2208689" y="74916"/>
                  <a:pt x="2208689" y="167330"/>
                </a:cubicBezTo>
                <a:lnTo>
                  <a:pt x="2208689" y="2041359"/>
                </a:lnTo>
                <a:cubicBezTo>
                  <a:pt x="2208689" y="2133773"/>
                  <a:pt x="2133773" y="2208689"/>
                  <a:pt x="2041359" y="2208689"/>
                </a:cubicBezTo>
                <a:lnTo>
                  <a:pt x="167330" y="2208689"/>
                </a:lnTo>
                <a:cubicBezTo>
                  <a:pt x="74916" y="2208689"/>
                  <a:pt x="0" y="2133773"/>
                  <a:pt x="0" y="2041359"/>
                </a:cubicBezTo>
                <a:lnTo>
                  <a:pt x="0" y="167330"/>
                </a:lnTo>
                <a:cubicBezTo>
                  <a:pt x="0" y="74916"/>
                  <a:pt x="74916" y="0"/>
                  <a:pt x="16733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030FC150-F8C4-4100-AA37-23ED9E685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82522" y="668720"/>
            <a:ext cx="2646732" cy="2646732"/>
          </a:xfrm>
          <a:custGeom>
            <a:avLst/>
            <a:gdLst>
              <a:gd name="connsiteX0" fmla="*/ 200516 w 2646732"/>
              <a:gd name="connsiteY0" fmla="*/ 0 h 2646732"/>
              <a:gd name="connsiteX1" fmla="*/ 2446216 w 2646732"/>
              <a:gd name="connsiteY1" fmla="*/ 0 h 2646732"/>
              <a:gd name="connsiteX2" fmla="*/ 2646732 w 2646732"/>
              <a:gd name="connsiteY2" fmla="*/ 200516 h 2646732"/>
              <a:gd name="connsiteX3" fmla="*/ 2646732 w 2646732"/>
              <a:gd name="connsiteY3" fmla="*/ 2446216 h 2646732"/>
              <a:gd name="connsiteX4" fmla="*/ 2446216 w 2646732"/>
              <a:gd name="connsiteY4" fmla="*/ 2646732 h 2646732"/>
              <a:gd name="connsiteX5" fmla="*/ 200516 w 2646732"/>
              <a:gd name="connsiteY5" fmla="*/ 2646732 h 2646732"/>
              <a:gd name="connsiteX6" fmla="*/ 0 w 2646732"/>
              <a:gd name="connsiteY6" fmla="*/ 2446216 h 2646732"/>
              <a:gd name="connsiteX7" fmla="*/ 0 w 2646732"/>
              <a:gd name="connsiteY7" fmla="*/ 200516 h 2646732"/>
              <a:gd name="connsiteX8" fmla="*/ 200516 w 2646732"/>
              <a:gd name="connsiteY8" fmla="*/ 0 h 264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46732" h="2646732">
                <a:moveTo>
                  <a:pt x="200516" y="0"/>
                </a:moveTo>
                <a:lnTo>
                  <a:pt x="2446216" y="0"/>
                </a:lnTo>
                <a:cubicBezTo>
                  <a:pt x="2556958" y="0"/>
                  <a:pt x="2646732" y="89774"/>
                  <a:pt x="2646732" y="200516"/>
                </a:cubicBezTo>
                <a:lnTo>
                  <a:pt x="2646732" y="2446216"/>
                </a:lnTo>
                <a:cubicBezTo>
                  <a:pt x="2646732" y="2556958"/>
                  <a:pt x="2556958" y="2646732"/>
                  <a:pt x="2446216" y="2646732"/>
                </a:cubicBezTo>
                <a:lnTo>
                  <a:pt x="200516" y="2646732"/>
                </a:lnTo>
                <a:cubicBezTo>
                  <a:pt x="89774" y="2646732"/>
                  <a:pt x="0" y="2556958"/>
                  <a:pt x="0" y="2446216"/>
                </a:cubicBezTo>
                <a:lnTo>
                  <a:pt x="0" y="200516"/>
                </a:lnTo>
                <a:cubicBezTo>
                  <a:pt x="0" y="89774"/>
                  <a:pt x="89774" y="0"/>
                  <a:pt x="2005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44EA3BF0-5DA9-4233-BA6E-B6C0B9B09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57660" y="3634721"/>
            <a:ext cx="1584601" cy="1584601"/>
          </a:xfrm>
          <a:custGeom>
            <a:avLst/>
            <a:gdLst>
              <a:gd name="connsiteX0" fmla="*/ 120049 w 1584601"/>
              <a:gd name="connsiteY0" fmla="*/ 0 h 1584601"/>
              <a:gd name="connsiteX1" fmla="*/ 1464552 w 1584601"/>
              <a:gd name="connsiteY1" fmla="*/ 0 h 1584601"/>
              <a:gd name="connsiteX2" fmla="*/ 1584601 w 1584601"/>
              <a:gd name="connsiteY2" fmla="*/ 120049 h 1584601"/>
              <a:gd name="connsiteX3" fmla="*/ 1584601 w 1584601"/>
              <a:gd name="connsiteY3" fmla="*/ 1464552 h 1584601"/>
              <a:gd name="connsiteX4" fmla="*/ 1464552 w 1584601"/>
              <a:gd name="connsiteY4" fmla="*/ 1584601 h 1584601"/>
              <a:gd name="connsiteX5" fmla="*/ 120049 w 1584601"/>
              <a:gd name="connsiteY5" fmla="*/ 1584601 h 1584601"/>
              <a:gd name="connsiteX6" fmla="*/ 0 w 1584601"/>
              <a:gd name="connsiteY6" fmla="*/ 1464552 h 1584601"/>
              <a:gd name="connsiteX7" fmla="*/ 0 w 1584601"/>
              <a:gd name="connsiteY7" fmla="*/ 120049 h 1584601"/>
              <a:gd name="connsiteX8" fmla="*/ 120049 w 1584601"/>
              <a:gd name="connsiteY8" fmla="*/ 0 h 1584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84601" h="1584601">
                <a:moveTo>
                  <a:pt x="120049" y="0"/>
                </a:moveTo>
                <a:lnTo>
                  <a:pt x="1464552" y="0"/>
                </a:lnTo>
                <a:cubicBezTo>
                  <a:pt x="1530853" y="0"/>
                  <a:pt x="1584601" y="53748"/>
                  <a:pt x="1584601" y="120049"/>
                </a:cubicBezTo>
                <a:lnTo>
                  <a:pt x="1584601" y="1464552"/>
                </a:lnTo>
                <a:cubicBezTo>
                  <a:pt x="1584601" y="1530853"/>
                  <a:pt x="1530853" y="1584601"/>
                  <a:pt x="1464552" y="1584601"/>
                </a:cubicBezTo>
                <a:lnTo>
                  <a:pt x="120049" y="1584601"/>
                </a:lnTo>
                <a:cubicBezTo>
                  <a:pt x="53748" y="1584601"/>
                  <a:pt x="0" y="1530853"/>
                  <a:pt x="0" y="1464552"/>
                </a:cubicBezTo>
                <a:lnTo>
                  <a:pt x="0" y="120049"/>
                </a:lnTo>
                <a:cubicBezTo>
                  <a:pt x="0" y="53748"/>
                  <a:pt x="53748" y="0"/>
                  <a:pt x="12004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lang="en-ID" sz="14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1075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492B3-9328-4140-9BA7-BBFEB440230B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82B21-DA57-48A2-A2A1-947215AC430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63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369308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57926" y="235036"/>
            <a:ext cx="57245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261949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03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15883" y="1867863"/>
            <a:ext cx="1154036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In </a:t>
            </a:r>
            <a:r>
              <a:rPr lang="en-US" sz="2800" b="1" dirty="0"/>
              <a:t>Previous Lecture</a:t>
            </a:r>
            <a:r>
              <a:rPr lang="en-US" sz="2800" dirty="0"/>
              <a:t> you learned</a:t>
            </a:r>
            <a:r>
              <a:rPr lang="en-US" sz="2800" dirty="0" smtClean="0"/>
              <a:t>:</a:t>
            </a: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What is the Vulnerabilities </a:t>
            </a:r>
            <a:endParaRPr lang="en-US" sz="28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How </a:t>
            </a:r>
            <a:r>
              <a:rPr lang="en-US" sz="2800" dirty="0"/>
              <a:t>the Methods of Defense work </a:t>
            </a:r>
            <a:endParaRPr lang="en-US" sz="28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What </a:t>
            </a:r>
            <a:r>
              <a:rPr lang="en-US" sz="2800" dirty="0"/>
              <a:t>is the Software Controls </a:t>
            </a:r>
            <a:endParaRPr lang="en-US" sz="28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What </a:t>
            </a:r>
            <a:r>
              <a:rPr lang="en-US" sz="2800" dirty="0"/>
              <a:t>is the Protected Objects and Methods of Protection . </a:t>
            </a:r>
            <a:endParaRPr lang="en-US" sz="28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What </a:t>
            </a:r>
            <a:r>
              <a:rPr lang="en-US" sz="2800" dirty="0"/>
              <a:t>is the Protection Types</a:t>
            </a:r>
            <a:r>
              <a:rPr lang="en-US" sz="3600" dirty="0"/>
              <a:t/>
            </a:r>
            <a:br>
              <a:rPr lang="en-US" sz="36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2265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67892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57926" y="235036"/>
            <a:ext cx="57245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0909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</a:t>
            </a:r>
            <a:r>
              <a:rPr lang="en-US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TOPICS </a:t>
            </a:r>
            <a:endParaRPr lang="en-U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Chapter</a:t>
            </a:r>
            <a:r>
              <a:rPr lang="fr-FR" sz="2400" b="1" dirty="0" smtClean="0">
                <a:solidFill>
                  <a:schemeClr val="bg1"/>
                </a:solidFill>
              </a:rPr>
              <a:t>  03</a:t>
            </a:r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15883" y="1867863"/>
            <a:ext cx="1154036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This </a:t>
            </a:r>
            <a:r>
              <a:rPr lang="en-US" sz="3200" dirty="0"/>
              <a:t>chapter covers the following topics and concepts: </a:t>
            </a:r>
            <a:endParaRPr lang="en-US" sz="3200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Operating </a:t>
            </a:r>
            <a:r>
              <a:rPr lang="en-US" sz="3200" dirty="0"/>
              <a:t>system Security attack </a:t>
            </a:r>
            <a:r>
              <a:rPr lang="en-US" sz="3200" dirty="0" smtClean="0"/>
              <a:t>types</a:t>
            </a:r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Principles </a:t>
            </a:r>
            <a:r>
              <a:rPr lang="en-US" sz="3200" dirty="0"/>
              <a:t>of Secure OS </a:t>
            </a:r>
            <a:endParaRPr lang="en-US" sz="3200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Design </a:t>
            </a:r>
            <a:r>
              <a:rPr lang="en-US" sz="3200" dirty="0"/>
              <a:t>Protecting an OS from Malicious </a:t>
            </a:r>
            <a:endParaRPr lang="en-US" sz="3200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Software </a:t>
            </a:r>
            <a:r>
              <a:rPr lang="en-US" sz="3200" dirty="0"/>
              <a:t>Memory and Address Protection </a:t>
            </a:r>
            <a:endParaRPr lang="en-US" sz="3200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Linux </a:t>
            </a:r>
            <a:r>
              <a:rPr lang="en-US" sz="3200" dirty="0"/>
              <a:t>Security</a:t>
            </a:r>
            <a:br>
              <a:rPr lang="en-US" sz="32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018316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449318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53391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629400" y="235035"/>
            <a:ext cx="5353049" cy="18385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41959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2 GOALS </a:t>
            </a:r>
          </a:p>
        </p:txBody>
      </p:sp>
      <p:sp>
        <p:nvSpPr>
          <p:cNvPr id="5" name="Organigramme : Connecteur 4"/>
          <p:cNvSpPr/>
          <p:nvPr/>
        </p:nvSpPr>
        <p:spPr>
          <a:xfrm>
            <a:off x="80204" y="418885"/>
            <a:ext cx="1721464" cy="1356083"/>
          </a:xfrm>
          <a:prstGeom prst="flowChartConnector">
            <a:avLst/>
          </a:prstGeom>
          <a:solidFill>
            <a:schemeClr val="accent2"/>
          </a:solidFill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Chapter</a:t>
            </a:r>
            <a:r>
              <a:rPr lang="fr-FR" sz="2400" b="1" dirty="0" smtClean="0"/>
              <a:t>  03</a:t>
            </a:r>
            <a:endParaRPr lang="fr-FR" sz="24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15883" y="1867863"/>
            <a:ext cx="1195090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 complete this chapter, you will be able to: 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Describe </a:t>
            </a:r>
            <a:r>
              <a:rPr lang="en-US" sz="3200" dirty="0"/>
              <a:t>the Protected Objects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Suggest </a:t>
            </a:r>
            <a:r>
              <a:rPr lang="en-US" sz="3200" dirty="0"/>
              <a:t>how to secure your computer/OS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Explain </a:t>
            </a:r>
            <a:r>
              <a:rPr lang="en-US" sz="3200" dirty="0"/>
              <a:t>the method of Protecting an OS from Malicious </a:t>
            </a:r>
            <a:r>
              <a:rPr lang="en-US" sz="3200" dirty="0" smtClean="0"/>
              <a:t>Software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Explain </a:t>
            </a:r>
            <a:r>
              <a:rPr lang="en-US" sz="3200" dirty="0"/>
              <a:t>the Users, Groups, and file Permissions in </a:t>
            </a:r>
            <a:r>
              <a:rPr lang="en-US" sz="3200" dirty="0" smtClean="0"/>
              <a:t>Linux</a:t>
            </a:r>
            <a:r>
              <a:rPr lang="en-US" sz="3200" dirty="0"/>
              <a:t/>
            </a:r>
            <a:br>
              <a:rPr lang="en-US" sz="32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1786435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039" y="1085691"/>
            <a:ext cx="7648484" cy="5433289"/>
          </a:xfrm>
          <a:prstGeom prst="rect">
            <a:avLst/>
          </a:prstGeom>
        </p:spPr>
      </p:pic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96479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6"/>
            <a:ext cx="57102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63403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Operating Systems </a:t>
            </a:r>
            <a:r>
              <a:rPr lang="en-US" sz="2800" b="1" dirty="0" smtClean="0">
                <a:solidFill>
                  <a:schemeClr val="bg1"/>
                </a:solidFill>
              </a:rPr>
              <a:t>Functions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5587052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25286" y="755529"/>
            <a:ext cx="547211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29350" y="235036"/>
            <a:ext cx="57530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219589" y="796090"/>
            <a:ext cx="531983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History of Operating Systems </a:t>
            </a:r>
            <a:endPara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42080" y="1637317"/>
            <a:ext cx="89878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600" dirty="0" smtClean="0"/>
              <a:t>Single-user </a:t>
            </a:r>
            <a:r>
              <a:rPr lang="en-US" sz="3600" dirty="0"/>
              <a:t>systems, no OS </a:t>
            </a:r>
            <a:endParaRPr lang="en-US" sz="36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600" dirty="0" smtClean="0"/>
              <a:t>Multiprogramming </a:t>
            </a:r>
            <a:r>
              <a:rPr lang="en-US" sz="3600" dirty="0"/>
              <a:t>OS </a:t>
            </a:r>
            <a:endParaRPr lang="en-US" sz="3600" dirty="0" smtClean="0"/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US" sz="3600" dirty="0" smtClean="0"/>
              <a:t>Multiple </a:t>
            </a:r>
            <a:r>
              <a:rPr lang="en-US" sz="3600" dirty="0"/>
              <a:t>users </a:t>
            </a:r>
            <a:endParaRPr lang="en-US" sz="3600" dirty="0" smtClean="0"/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US" sz="3600" dirty="0" smtClean="0"/>
              <a:t>Multiple </a:t>
            </a:r>
            <a:r>
              <a:rPr lang="en-US" sz="3600" dirty="0"/>
              <a:t>programs </a:t>
            </a:r>
            <a:endParaRPr lang="en-US" sz="3600" dirty="0" smtClean="0"/>
          </a:p>
          <a:p>
            <a:pPr marL="630238" indent="-285750">
              <a:buFont typeface="Arial" panose="020B0604020202020204" pitchFamily="34" charset="0"/>
              <a:buChar char="•"/>
            </a:pPr>
            <a:r>
              <a:rPr lang="en-US" sz="3600" dirty="0" smtClean="0"/>
              <a:t>Scheduling</a:t>
            </a:r>
            <a:r>
              <a:rPr lang="en-US" sz="3600" dirty="0"/>
              <a:t>, sharing, concurrent use </a:t>
            </a:r>
            <a:endParaRPr lang="en-US" sz="36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3600" dirty="0" smtClean="0"/>
              <a:t>Personal </a:t>
            </a:r>
            <a:r>
              <a:rPr lang="en-US" sz="3600" dirty="0"/>
              <a:t>computers</a:t>
            </a:r>
          </a:p>
        </p:txBody>
      </p:sp>
    </p:spTree>
    <p:extLst>
      <p:ext uri="{BB962C8B-B14F-4D97-AF65-F5344CB8AC3E}">
        <p14:creationId xmlns:p14="http://schemas.microsoft.com/office/powerpoint/2010/main" val="1385264952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78892" y="762730"/>
            <a:ext cx="515040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86514" y="235036"/>
            <a:ext cx="55959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0768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OS Security Services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74859" y="1308224"/>
            <a:ext cx="109694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• </a:t>
            </a:r>
            <a:r>
              <a:rPr lang="en-US" sz="3600" b="1" dirty="0"/>
              <a:t>Control panel</a:t>
            </a:r>
            <a:r>
              <a:rPr lang="en-US" sz="3600" dirty="0"/>
              <a:t>: main component of operating system security environment </a:t>
            </a:r>
            <a:endParaRPr lang="en-US" sz="3600" dirty="0" smtClean="0"/>
          </a:p>
          <a:p>
            <a:r>
              <a:rPr lang="en-US" sz="3600" dirty="0" smtClean="0"/>
              <a:t>• </a:t>
            </a:r>
            <a:r>
              <a:rPr lang="en-US" sz="3600" dirty="0"/>
              <a:t>Used to gain access to the OS and its features • Include </a:t>
            </a:r>
            <a:endParaRPr lang="en-US" sz="3600" dirty="0" smtClean="0"/>
          </a:p>
          <a:p>
            <a:pPr marL="571500" indent="-571500">
              <a:buFontTx/>
              <a:buChar char="-"/>
            </a:pPr>
            <a:r>
              <a:rPr lang="en-US" sz="3600" dirty="0" smtClean="0"/>
              <a:t>User </a:t>
            </a:r>
            <a:r>
              <a:rPr lang="en-US" sz="3600" dirty="0"/>
              <a:t>authentication </a:t>
            </a:r>
            <a:endParaRPr lang="en-US" sz="3600" dirty="0" smtClean="0"/>
          </a:p>
          <a:p>
            <a:pPr marL="571500" indent="-571500">
              <a:buFontTx/>
              <a:buChar char="-"/>
            </a:pPr>
            <a:r>
              <a:rPr lang="en-US" sz="3600" dirty="0" smtClean="0"/>
              <a:t>Remote </a:t>
            </a:r>
            <a:r>
              <a:rPr lang="en-US" sz="3600" dirty="0"/>
              <a:t>access </a:t>
            </a:r>
            <a:endParaRPr lang="en-US" sz="3600" dirty="0" smtClean="0"/>
          </a:p>
          <a:p>
            <a:pPr marL="571500" indent="-571500">
              <a:buFontTx/>
              <a:buChar char="-"/>
            </a:pPr>
            <a:r>
              <a:rPr lang="en-US" sz="3600" dirty="0" smtClean="0"/>
              <a:t>Administration </a:t>
            </a:r>
            <a:r>
              <a:rPr lang="en-US" sz="3600" dirty="0"/>
              <a:t>tasks </a:t>
            </a:r>
            <a:endParaRPr lang="en-US" sz="3600" dirty="0" smtClean="0"/>
          </a:p>
          <a:p>
            <a:pPr marL="571500" indent="-571500">
              <a:buFontTx/>
              <a:buChar char="-"/>
            </a:pPr>
            <a:r>
              <a:rPr lang="en-US" sz="3600" dirty="0" smtClean="0"/>
              <a:t>Password </a:t>
            </a:r>
            <a:r>
              <a:rPr lang="en-US" sz="3600" dirty="0"/>
              <a:t>policies</a:t>
            </a:r>
          </a:p>
        </p:txBody>
      </p:sp>
    </p:spTree>
    <p:extLst>
      <p:ext uri="{BB962C8B-B14F-4D97-AF65-F5344CB8AC3E}">
        <p14:creationId xmlns:p14="http://schemas.microsoft.com/office/powerpoint/2010/main" val="27062623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8" y="762730"/>
            <a:ext cx="421982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15076" y="235036"/>
            <a:ext cx="56673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433885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Protected Objects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08224"/>
            <a:ext cx="1179934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These </a:t>
            </a:r>
            <a:r>
              <a:rPr lang="en-US" sz="3600" b="1" dirty="0"/>
              <a:t>are some of the common objects that need protection by and in OSs</a:t>
            </a:r>
            <a:r>
              <a:rPr lang="en-US" sz="3600" b="1" dirty="0" smtClean="0"/>
              <a:t>.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• </a:t>
            </a:r>
            <a:r>
              <a:rPr lang="en-US" sz="3600" dirty="0" smtClean="0"/>
              <a:t>Memory</a:t>
            </a:r>
          </a:p>
          <a:p>
            <a:r>
              <a:rPr lang="en-US" sz="3600" dirty="0" smtClean="0"/>
              <a:t> </a:t>
            </a:r>
            <a:r>
              <a:rPr lang="en-US" sz="3600" dirty="0"/>
              <a:t>• Networks </a:t>
            </a:r>
            <a:endParaRPr lang="en-US" sz="3600" dirty="0" smtClean="0"/>
          </a:p>
          <a:p>
            <a:r>
              <a:rPr lang="en-US" sz="3600" dirty="0" smtClean="0"/>
              <a:t> • </a:t>
            </a:r>
            <a:r>
              <a:rPr lang="en-US" sz="3600" dirty="0"/>
              <a:t>Serially reusable I/O devices, such as printers </a:t>
            </a:r>
            <a:endParaRPr lang="en-US" sz="3600" dirty="0" smtClean="0"/>
          </a:p>
          <a:p>
            <a:r>
              <a:rPr lang="en-US" sz="3600" dirty="0" smtClean="0"/>
              <a:t> • </a:t>
            </a:r>
            <a:r>
              <a:rPr lang="en-US" sz="3600" dirty="0"/>
              <a:t>Sharable: </a:t>
            </a:r>
            <a:endParaRPr lang="en-US" sz="3600" dirty="0" smtClean="0"/>
          </a:p>
          <a:p>
            <a:pPr marL="1379538" indent="-465138">
              <a:buFont typeface="Wingdings" panose="05000000000000000000" pitchFamily="2" charset="2"/>
              <a:buChar char="§"/>
            </a:pPr>
            <a:r>
              <a:rPr lang="en-US" sz="3600" dirty="0" smtClean="0"/>
              <a:t>programs </a:t>
            </a:r>
            <a:r>
              <a:rPr lang="en-US" sz="3600" dirty="0"/>
              <a:t>and sub procedures </a:t>
            </a:r>
            <a:endParaRPr lang="en-US" sz="3600" dirty="0" smtClean="0"/>
          </a:p>
          <a:p>
            <a:pPr marL="1379538" indent="-465138">
              <a:buFont typeface="Wingdings" panose="05000000000000000000" pitchFamily="2" charset="2"/>
              <a:buChar char="§"/>
            </a:pPr>
            <a:r>
              <a:rPr lang="en-US" sz="3600" dirty="0" smtClean="0"/>
              <a:t>I/O </a:t>
            </a:r>
            <a:r>
              <a:rPr lang="en-US" sz="3600" dirty="0"/>
              <a:t>devices, such as disks </a:t>
            </a:r>
            <a:endParaRPr lang="en-US" sz="3600" dirty="0" smtClean="0"/>
          </a:p>
          <a:p>
            <a:pPr marL="1379538" indent="-465138">
              <a:buFont typeface="Wingdings" panose="05000000000000000000" pitchFamily="2" charset="2"/>
              <a:buChar char="§"/>
            </a:pPr>
            <a:r>
              <a:rPr lang="en-US" sz="3600" dirty="0" smtClean="0"/>
              <a:t>data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3085680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2" y="762730"/>
            <a:ext cx="758510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00788" y="235036"/>
            <a:ext cx="56816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552452" y="787392"/>
            <a:ext cx="63485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Operating system Security attack </a:t>
            </a:r>
            <a:r>
              <a:rPr lang="en-US" sz="2800" b="1" dirty="0" smtClean="0">
                <a:solidFill>
                  <a:schemeClr val="bg1"/>
                </a:solidFill>
              </a:rPr>
              <a:t>types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83104" y="1308224"/>
            <a:ext cx="1179934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Malware Attack: </a:t>
            </a:r>
          </a:p>
          <a:p>
            <a:r>
              <a:rPr lang="en-US" sz="2800" dirty="0" smtClean="0"/>
              <a:t>⁃ </a:t>
            </a:r>
            <a:r>
              <a:rPr lang="en-US" sz="2400" dirty="0"/>
              <a:t>A generic term for software that has a malicious purpose </a:t>
            </a:r>
            <a:endParaRPr lang="en-US" sz="2400" dirty="0" smtClean="0"/>
          </a:p>
          <a:p>
            <a:r>
              <a:rPr lang="en-US" sz="2400" dirty="0" smtClean="0"/>
              <a:t>⁃ </a:t>
            </a:r>
            <a:r>
              <a:rPr lang="en-US" sz="2400" dirty="0"/>
              <a:t>Is software that is intentionally included or inserted in a system for a harmful purpose.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Different </a:t>
            </a:r>
            <a:r>
              <a:rPr lang="en-US" sz="2400" dirty="0"/>
              <a:t>forms of malicious software (malware) Intended to </a:t>
            </a:r>
            <a:endParaRPr lang="en-US" sz="2400" dirty="0" smtClean="0"/>
          </a:p>
          <a:p>
            <a:pPr marL="457200" indent="-457200">
              <a:buFontTx/>
              <a:buChar char="-"/>
            </a:pPr>
            <a:r>
              <a:rPr lang="en-US" sz="2400" dirty="0" smtClean="0"/>
              <a:t>Cause </a:t>
            </a:r>
            <a:r>
              <a:rPr lang="en-US" sz="2400" dirty="0"/>
              <a:t>distress to a user </a:t>
            </a:r>
            <a:endParaRPr lang="en-US" sz="2400" dirty="0" smtClean="0"/>
          </a:p>
          <a:p>
            <a:pPr marL="457200" indent="-457200">
              <a:buFontTx/>
              <a:buChar char="-"/>
            </a:pPr>
            <a:r>
              <a:rPr lang="en-US" sz="2400" dirty="0" smtClean="0"/>
              <a:t>Damage </a:t>
            </a:r>
            <a:r>
              <a:rPr lang="en-US" sz="2400" dirty="0"/>
              <a:t>files or systems </a:t>
            </a:r>
            <a:endParaRPr lang="en-US" sz="2400" dirty="0" smtClean="0"/>
          </a:p>
          <a:p>
            <a:pPr marL="457200" indent="-457200">
              <a:buFontTx/>
              <a:buChar char="-"/>
            </a:pPr>
            <a:r>
              <a:rPr lang="en-US" sz="2400" dirty="0" smtClean="0"/>
              <a:t>Disrupt </a:t>
            </a:r>
            <a:r>
              <a:rPr lang="en-US" sz="2400" dirty="0"/>
              <a:t>ordinary computer and network functions 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/>
              <a:t>Examples </a:t>
            </a:r>
          </a:p>
          <a:p>
            <a:pPr marL="854075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Viruses</a:t>
            </a:r>
            <a:r>
              <a:rPr lang="en-US" sz="2400" dirty="0"/>
              <a:t>, worms </a:t>
            </a:r>
            <a:endParaRPr lang="en-US" sz="2400" dirty="0" smtClean="0"/>
          </a:p>
          <a:p>
            <a:pPr marL="854075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Logic </a:t>
            </a:r>
            <a:r>
              <a:rPr lang="en-US" sz="2400" dirty="0"/>
              <a:t>bomb </a:t>
            </a:r>
            <a:endParaRPr lang="en-US" sz="2400" dirty="0" smtClean="0"/>
          </a:p>
          <a:p>
            <a:pPr marL="854075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Trojan </a:t>
            </a:r>
            <a:r>
              <a:rPr lang="en-US" sz="2400" dirty="0"/>
              <a:t>horses </a:t>
            </a:r>
            <a:endParaRPr lang="en-US" sz="2400" dirty="0" smtClean="0"/>
          </a:p>
          <a:p>
            <a:pPr marL="854075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Spy-wares </a:t>
            </a:r>
          </a:p>
          <a:p>
            <a:pPr marL="457200" indent="-457200">
              <a:buFontTx/>
              <a:buChar char="-"/>
            </a:pPr>
            <a:r>
              <a:rPr lang="en-US" sz="2000" dirty="0" smtClean="0"/>
              <a:t>• </a:t>
            </a:r>
            <a:r>
              <a:rPr lang="en-US" sz="2000" dirty="0"/>
              <a:t>New ones: Spam/scam, Slammer, </a:t>
            </a:r>
            <a:r>
              <a:rPr lang="en-US" sz="2000" dirty="0" err="1"/>
              <a:t>Nimda</a:t>
            </a:r>
            <a:r>
              <a:rPr lang="en-US" sz="2000" dirty="0"/>
              <a:t>, e-payment frauds, etc...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5120741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9" y="642193"/>
            <a:ext cx="766776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00788" y="235036"/>
            <a:ext cx="56816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7" y="682754"/>
            <a:ext cx="6662861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Operating system Security attack </a:t>
            </a:r>
            <a:r>
              <a:rPr lang="en-US" sz="2800" b="1" dirty="0" smtClean="0">
                <a:solidFill>
                  <a:schemeClr val="bg1"/>
                </a:solidFill>
              </a:rPr>
              <a:t>types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125" y="1169594"/>
            <a:ext cx="7218589" cy="561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79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3202" y="762730"/>
            <a:ext cx="628187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15076" y="235036"/>
            <a:ext cx="56673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26243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Malware Attack...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08224"/>
            <a:ext cx="1179934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FF0000"/>
                </a:solidFill>
              </a:rPr>
              <a:t>Malicious </a:t>
            </a:r>
            <a:r>
              <a:rPr lang="en-US" sz="2800" dirty="0">
                <a:solidFill>
                  <a:srgbClr val="FF0000"/>
                </a:solidFill>
              </a:rPr>
              <a:t>software </a:t>
            </a:r>
            <a:r>
              <a:rPr lang="en-US" sz="2800" dirty="0"/>
              <a:t>can be divided into two categories: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those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that need a host program 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fragments </a:t>
            </a:r>
            <a:r>
              <a:rPr lang="en-US" sz="2800" dirty="0"/>
              <a:t>of programs that cannot exist independently of some actual application program, utility, or system program. </a:t>
            </a:r>
            <a:endParaRPr lang="en-US" sz="2800" dirty="0" smtClean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Viruses </a:t>
            </a:r>
            <a:r>
              <a:rPr lang="en-US" sz="2800" dirty="0"/>
              <a:t>and logic bombs are examples.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those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</a:rPr>
              <a:t>that are independent </a:t>
            </a:r>
            <a:endParaRPr lang="en-US" sz="2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are </a:t>
            </a:r>
            <a:r>
              <a:rPr lang="en-US" sz="2800" dirty="0"/>
              <a:t>self-contained programs that can be scheduled and run by the operating system. </a:t>
            </a:r>
            <a:endParaRPr lang="en-US" sz="2800" dirty="0" smtClean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Worms </a:t>
            </a:r>
            <a:r>
              <a:rPr lang="en-US" sz="2800" dirty="0"/>
              <a:t>and zombie programs are examples.</a:t>
            </a:r>
          </a:p>
        </p:txBody>
      </p:sp>
    </p:spTree>
    <p:extLst>
      <p:ext uri="{BB962C8B-B14F-4D97-AF65-F5344CB8AC3E}">
        <p14:creationId xmlns:p14="http://schemas.microsoft.com/office/powerpoint/2010/main" val="77640550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442080" y="762730"/>
            <a:ext cx="5215770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6"/>
            <a:ext cx="57102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7" y="780921"/>
            <a:ext cx="2776661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Malware Attack.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08224"/>
            <a:ext cx="1179934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Viruses 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A </a:t>
            </a:r>
            <a:r>
              <a:rPr lang="en-US" sz="2800" dirty="0"/>
              <a:t>malicious code that replicates and hides itself inside other programs usually without your knowledge. </a:t>
            </a:r>
            <a:endParaRPr lang="en-US" sz="2800" dirty="0" smtClean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A </a:t>
            </a:r>
            <a:r>
              <a:rPr lang="en-US" sz="2800" dirty="0"/>
              <a:t>virus is a piece of software that can "infect" other programs by modifying them. </a:t>
            </a:r>
            <a:endParaRPr lang="en-US" sz="2800" dirty="0" smtClean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Similar </a:t>
            </a:r>
            <a:r>
              <a:rPr lang="en-US" sz="2800" dirty="0"/>
              <a:t>to biological virus: Replicates and Spreads ⁃ Can do serious damage such as erasing file... ⁃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Worms </a:t>
            </a:r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800" dirty="0" smtClean="0"/>
              <a:t> </a:t>
            </a:r>
            <a:r>
              <a:rPr lang="en-US" sz="2800" dirty="0"/>
              <a:t>A worm is a program that can replicate itself and send copies from computer to computer across network connections.</a:t>
            </a:r>
          </a:p>
        </p:txBody>
      </p:sp>
    </p:spTree>
    <p:extLst>
      <p:ext uri="{BB962C8B-B14F-4D97-AF65-F5344CB8AC3E}">
        <p14:creationId xmlns:p14="http://schemas.microsoft.com/office/powerpoint/2010/main" val="16525347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4" y="735046"/>
            <a:ext cx="503228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15076" y="235036"/>
            <a:ext cx="56673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19689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More on Virus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08224"/>
            <a:ext cx="11799345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 smtClean="0"/>
              <a:t>During </a:t>
            </a:r>
            <a:r>
              <a:rPr lang="en-US" sz="2500" dirty="0"/>
              <a:t>its lifetime, a typical virus goes through the following four phases: </a:t>
            </a:r>
            <a:endParaRPr lang="en-US" sz="25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 smtClean="0"/>
              <a:t>Dormant </a:t>
            </a:r>
            <a:r>
              <a:rPr lang="en-US" sz="2300" b="1" dirty="0"/>
              <a:t>phase: </a:t>
            </a:r>
            <a:r>
              <a:rPr lang="en-US" sz="2300" dirty="0"/>
              <a:t>The virus is idle. </a:t>
            </a:r>
            <a:endParaRPr lang="en-US" sz="2300" dirty="0" smtClean="0"/>
          </a:p>
          <a:p>
            <a:pPr marL="914400"/>
            <a:r>
              <a:rPr lang="en-US" sz="2300" dirty="0" smtClean="0">
                <a:solidFill>
                  <a:srgbClr val="FF0000"/>
                </a:solidFill>
              </a:rPr>
              <a:t>⁃ </a:t>
            </a:r>
            <a:r>
              <a:rPr lang="en-US" sz="2300" dirty="0">
                <a:solidFill>
                  <a:srgbClr val="FF0000"/>
                </a:solidFill>
              </a:rPr>
              <a:t>The virus will eventually be activated by some event, such as a date, the presence of another program or file, or the capacity of the disk exceeding some limit. </a:t>
            </a:r>
            <a:endParaRPr lang="en-US" sz="23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 smtClean="0"/>
              <a:t>Propagation </a:t>
            </a:r>
            <a:r>
              <a:rPr lang="en-US" sz="2300" b="1" dirty="0"/>
              <a:t>phase</a:t>
            </a:r>
            <a:r>
              <a:rPr lang="en-US" sz="2300" dirty="0"/>
              <a:t>: </a:t>
            </a:r>
            <a:r>
              <a:rPr lang="en-US" sz="2300" dirty="0" smtClean="0"/>
              <a:t>The </a:t>
            </a:r>
            <a:r>
              <a:rPr lang="en-US" sz="2300" dirty="0"/>
              <a:t>virus places an identical copy of itself into other programs or into certain system areas on the disk</a:t>
            </a:r>
            <a:r>
              <a:rPr lang="en-US" sz="2300" dirty="0" smtClean="0"/>
              <a:t>.</a:t>
            </a:r>
          </a:p>
          <a:p>
            <a:pPr marL="914400"/>
            <a:r>
              <a:rPr lang="en-US" sz="2300" dirty="0" smtClean="0"/>
              <a:t> </a:t>
            </a:r>
            <a:r>
              <a:rPr lang="en-US" sz="2300" dirty="0">
                <a:solidFill>
                  <a:srgbClr val="0070C0"/>
                </a:solidFill>
              </a:rPr>
              <a:t>⁃ Each infected program will now contain a </a:t>
            </a:r>
            <a:r>
              <a:rPr lang="en-US" sz="2300" dirty="0" err="1">
                <a:solidFill>
                  <a:srgbClr val="0070C0"/>
                </a:solidFill>
              </a:rPr>
              <a:t>cione</a:t>
            </a:r>
            <a:r>
              <a:rPr lang="en-US" sz="2300" dirty="0">
                <a:solidFill>
                  <a:srgbClr val="0070C0"/>
                </a:solidFill>
              </a:rPr>
              <a:t> of the virus, which will itself enter a propagation phase, </a:t>
            </a:r>
            <a:endParaRPr lang="en-US" sz="2300" dirty="0" smtClean="0">
              <a:solidFill>
                <a:srgbClr val="0070C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 smtClean="0"/>
              <a:t>Triggering </a:t>
            </a:r>
            <a:r>
              <a:rPr lang="en-US" sz="2300" b="1" dirty="0"/>
              <a:t>phase</a:t>
            </a:r>
            <a:r>
              <a:rPr lang="en-US" sz="2300" dirty="0"/>
              <a:t>: The virus is activated to perform the function for which it was intended. </a:t>
            </a:r>
            <a:endParaRPr lang="en-US" sz="2300" dirty="0" smtClean="0"/>
          </a:p>
          <a:p>
            <a:pPr marL="914400"/>
            <a:r>
              <a:rPr lang="en-US" sz="2300" dirty="0" smtClean="0">
                <a:solidFill>
                  <a:srgbClr val="FF0000"/>
                </a:solidFill>
              </a:rPr>
              <a:t>⁃ </a:t>
            </a:r>
            <a:r>
              <a:rPr lang="en-US" sz="2300" dirty="0">
                <a:solidFill>
                  <a:srgbClr val="FF0000"/>
                </a:solidFill>
              </a:rPr>
              <a:t>As with the dormant phase, the triggering phase can be caused by a </a:t>
            </a:r>
            <a:r>
              <a:rPr lang="en-US" sz="2300" dirty="0" err="1">
                <a:solidFill>
                  <a:srgbClr val="FF0000"/>
                </a:solidFill>
              </a:rPr>
              <a:t>varlety</a:t>
            </a:r>
            <a:r>
              <a:rPr lang="en-US" sz="2300" dirty="0">
                <a:solidFill>
                  <a:srgbClr val="FF0000"/>
                </a:solidFill>
              </a:rPr>
              <a:t> of system events </a:t>
            </a:r>
            <a:endParaRPr lang="en-US" sz="2300" dirty="0" smtClean="0">
              <a:solidFill>
                <a:srgbClr val="FF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 smtClean="0"/>
              <a:t>Execution </a:t>
            </a:r>
            <a:r>
              <a:rPr lang="en-US" sz="2300" b="1" dirty="0"/>
              <a:t>phase: </a:t>
            </a:r>
            <a:r>
              <a:rPr lang="en-US" sz="2300" dirty="0"/>
              <a:t>The function is performed. </a:t>
            </a:r>
            <a:endParaRPr lang="en-US" sz="2300" dirty="0" smtClean="0"/>
          </a:p>
          <a:p>
            <a:pPr marL="914400"/>
            <a:r>
              <a:rPr lang="en-US" sz="2300" dirty="0" smtClean="0">
                <a:solidFill>
                  <a:srgbClr val="0070C0"/>
                </a:solidFill>
              </a:rPr>
              <a:t>⁃ </a:t>
            </a:r>
            <a:r>
              <a:rPr lang="en-US" sz="2300" dirty="0">
                <a:solidFill>
                  <a:srgbClr val="0070C0"/>
                </a:solidFill>
              </a:rPr>
              <a:t>The function may be harmless, such as a message on the screen, or </a:t>
            </a:r>
            <a:endParaRPr lang="en-US" sz="2300" dirty="0" smtClean="0">
              <a:solidFill>
                <a:srgbClr val="0070C0"/>
              </a:solidFill>
            </a:endParaRPr>
          </a:p>
          <a:p>
            <a:pPr marL="914400"/>
            <a:r>
              <a:rPr lang="en-US" sz="2300" dirty="0" smtClean="0">
                <a:solidFill>
                  <a:srgbClr val="0070C0"/>
                </a:solidFill>
              </a:rPr>
              <a:t>⁃ </a:t>
            </a:r>
            <a:r>
              <a:rPr lang="en-US" sz="2300" dirty="0">
                <a:solidFill>
                  <a:srgbClr val="0070C0"/>
                </a:solidFill>
              </a:rPr>
              <a:t>damaging, such as the destruction of programs and data files.</a:t>
            </a:r>
          </a:p>
        </p:txBody>
      </p:sp>
    </p:spTree>
    <p:extLst>
      <p:ext uri="{BB962C8B-B14F-4D97-AF65-F5344CB8AC3E}">
        <p14:creationId xmlns:p14="http://schemas.microsoft.com/office/powerpoint/2010/main" val="2007402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4" y="735046"/>
            <a:ext cx="503228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00788" y="235036"/>
            <a:ext cx="56816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19689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More on Virus...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08224"/>
            <a:ext cx="117993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viruses </a:t>
            </a:r>
            <a:endParaRPr lang="en-US" sz="2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Parasitic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virus: </a:t>
            </a:r>
            <a:r>
              <a:rPr lang="en-US" sz="2800" dirty="0"/>
              <a:t>The traditional and still most common form of virus. </a:t>
            </a:r>
            <a:endParaRPr lang="en-US" sz="2800" dirty="0" smtClean="0"/>
          </a:p>
          <a:p>
            <a:pPr marL="508000"/>
            <a:r>
              <a:rPr lang="en-US" sz="2400" dirty="0" smtClean="0">
                <a:solidFill>
                  <a:srgbClr val="C00000"/>
                </a:solidFill>
              </a:rPr>
              <a:t>- </a:t>
            </a:r>
            <a:r>
              <a:rPr lang="en-US" sz="2400" dirty="0">
                <a:solidFill>
                  <a:srgbClr val="C00000"/>
                </a:solidFill>
              </a:rPr>
              <a:t>A parasitic virus attaches itself to executable files and replicates 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Memory-resident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virus: </a:t>
            </a:r>
            <a:r>
              <a:rPr lang="en-US" sz="2800" dirty="0"/>
              <a:t>resides in main memory as part of a resident system program. </a:t>
            </a:r>
            <a:endParaRPr lang="en-US" sz="2800" dirty="0" smtClean="0"/>
          </a:p>
          <a:p>
            <a:pPr marL="508000"/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-From that point on, the virus infects every program that </a:t>
            </a:r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</a:rPr>
              <a:t>executes.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Boot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sector virus: </a:t>
            </a:r>
            <a:r>
              <a:rPr lang="en-US" sz="2800" dirty="0"/>
              <a:t>Infects a master boot record or boot record and spreads when a system is booted from the disk containing the virus.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Stealth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virus: </a:t>
            </a:r>
            <a:r>
              <a:rPr lang="en-US" sz="2800" dirty="0"/>
              <a:t>A form of virus explicitly designed to hide itself from detection by antivirus software,. </a:t>
            </a:r>
            <a:endParaRPr lang="en-US" sz="2800" dirty="0" smtClean="0"/>
          </a:p>
          <a:p>
            <a:pPr marL="406400"/>
            <a:r>
              <a:rPr lang="en-US" sz="2400" dirty="0">
                <a:solidFill>
                  <a:srgbClr val="C00000"/>
                </a:solidFill>
              </a:rPr>
              <a:t>- </a:t>
            </a:r>
            <a:r>
              <a:rPr lang="en-US" sz="2400" dirty="0" smtClean="0">
                <a:solidFill>
                  <a:srgbClr val="C00000"/>
                </a:solidFill>
              </a:rPr>
              <a:t>a </a:t>
            </a:r>
            <a:r>
              <a:rPr lang="en-US" sz="2400" dirty="0">
                <a:solidFill>
                  <a:srgbClr val="C00000"/>
                </a:solidFill>
              </a:rPr>
              <a:t>virus that uses compression so that the infected program is exactly the same length as an uninfected version.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7863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4" y="735046"/>
            <a:ext cx="397808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543676" y="235036"/>
            <a:ext cx="54387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297299" y="775607"/>
            <a:ext cx="319689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More on Virus...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56907" y="1306928"/>
            <a:ext cx="120836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viruses... </a:t>
            </a:r>
            <a:endParaRPr lang="en-US" sz="28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Polymorphic </a:t>
            </a:r>
            <a:r>
              <a:rPr lang="en-US" sz="2800" b="1" dirty="0"/>
              <a:t>virus: </a:t>
            </a:r>
            <a:r>
              <a:rPr lang="en-US" sz="2800" dirty="0"/>
              <a:t>A virus that mutates with every infection, detection by the "signature" of the virus impossible. </a:t>
            </a:r>
            <a:endParaRPr lang="en-US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Metamorphic </a:t>
            </a:r>
            <a:r>
              <a:rPr lang="en-US" sz="2800" b="1" dirty="0"/>
              <a:t>virus: </a:t>
            </a:r>
            <a:r>
              <a:rPr lang="en-US" sz="2800" dirty="0"/>
              <a:t>As with a polymorphic virus, a metamorphic virus mutates with every infection. </a:t>
            </a:r>
            <a:endParaRPr lang="en-US" sz="2800" dirty="0" smtClean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The </a:t>
            </a:r>
            <a:r>
              <a:rPr lang="en-US" sz="2800" dirty="0"/>
              <a:t>difference is that: </a:t>
            </a:r>
            <a:endParaRPr lang="en-US" sz="2800" dirty="0" smtClean="0"/>
          </a:p>
          <a:p>
            <a:pPr marL="914400" lvl="1" indent="-457200">
              <a:buFontTx/>
              <a:buChar char="-"/>
            </a:pPr>
            <a:r>
              <a:rPr lang="en-US" sz="2800" dirty="0" smtClean="0"/>
              <a:t>a </a:t>
            </a:r>
            <a:r>
              <a:rPr lang="en-US" sz="2800" dirty="0"/>
              <a:t>metamorphic virus rewrites itself completely at each iteration, increasing the difficulty of detection. </a:t>
            </a:r>
            <a:endParaRPr lang="en-US" sz="2800" dirty="0" smtClean="0"/>
          </a:p>
          <a:p>
            <a:pPr marL="914400" lvl="1" indent="-457200">
              <a:buFontTx/>
              <a:buChar char="-"/>
            </a:pPr>
            <a:r>
              <a:rPr lang="en-US" sz="2800" dirty="0" smtClean="0"/>
              <a:t>Metamorphic </a:t>
            </a:r>
            <a:r>
              <a:rPr lang="en-US" sz="2800" dirty="0"/>
              <a:t>viruses my change their behavior as well as their appearance,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62049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56023" y="735046"/>
            <a:ext cx="411600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86514" y="235036"/>
            <a:ext cx="55959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476038" y="816169"/>
            <a:ext cx="319689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Malware Attack.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42080" y="1593744"/>
            <a:ext cx="95058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Trojan Horse 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r>
              <a:rPr lang="en-US" sz="2800" dirty="0" smtClean="0"/>
              <a:t>• </a:t>
            </a:r>
            <a:r>
              <a:rPr lang="en-US" sz="2800" dirty="0"/>
              <a:t>Any malicious program which misinterprets itself as useful, interesting in order to convince a victim to install it. </a:t>
            </a:r>
            <a:endParaRPr lang="en-US" sz="2800" dirty="0" smtClean="0"/>
          </a:p>
          <a:p>
            <a:r>
              <a:rPr lang="en-US" sz="2800" dirty="0" smtClean="0"/>
              <a:t>• </a:t>
            </a:r>
            <a:r>
              <a:rPr lang="en-US" sz="2800" dirty="0"/>
              <a:t>The program claims to do one thing </a:t>
            </a:r>
            <a:endParaRPr lang="en-US" sz="2800" dirty="0" smtClean="0"/>
          </a:p>
          <a:p>
            <a:r>
              <a:rPr lang="en-US" sz="2800" dirty="0" smtClean="0"/>
              <a:t>- </a:t>
            </a:r>
            <a:r>
              <a:rPr lang="en-US" sz="2800" dirty="0"/>
              <a:t>(it may claim to be a game) but instead does damage when you run it (it may erase your Hard Disk). </a:t>
            </a:r>
            <a:endParaRPr lang="en-US" sz="2800" dirty="0" smtClean="0"/>
          </a:p>
          <a:p>
            <a:r>
              <a:rPr lang="en-US" sz="2800" dirty="0" smtClean="0"/>
              <a:t>• </a:t>
            </a:r>
            <a:r>
              <a:rPr lang="en-US" sz="2800" dirty="0"/>
              <a:t>Trojan horse programs do not replicate themselves like a virus, </a:t>
            </a:r>
            <a:endParaRPr lang="en-US" sz="2800" dirty="0" smtClean="0"/>
          </a:p>
          <a:p>
            <a:r>
              <a:rPr lang="en-US" sz="2800" dirty="0" smtClean="0"/>
              <a:t>• </a:t>
            </a:r>
            <a:r>
              <a:rPr lang="en-US" sz="2800" dirty="0"/>
              <a:t>Such program traps a user login credentials and stores them to send to a malicious user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525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8" y="735046"/>
            <a:ext cx="300538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29376" y="235036"/>
            <a:ext cx="55530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19689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Rootkits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42080" y="1593744"/>
            <a:ext cx="1090809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rootkit is a malicious software package that attains and takes advantage of root status or effectively becomes part of the OS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Rootkits </a:t>
            </a:r>
            <a:r>
              <a:rPr lang="en-US" sz="3200" dirty="0"/>
              <a:t>often go to great length to avoid being discovered or, if discovered and partially removed, to reestablish themselves </a:t>
            </a:r>
            <a:endParaRPr lang="en-US" sz="3200" dirty="0" smtClean="0"/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 smtClean="0"/>
              <a:t> </a:t>
            </a:r>
            <a:r>
              <a:rPr lang="en-US" sz="2400" dirty="0"/>
              <a:t>This can include intercepting or modifying basic OS functions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59903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89748" y="735046"/>
            <a:ext cx="285355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15088" y="235036"/>
            <a:ext cx="55673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19689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Spyware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42080" y="1593744"/>
            <a:ext cx="109080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b="1" dirty="0" smtClean="0"/>
              <a:t> </a:t>
            </a:r>
            <a:r>
              <a:rPr lang="en-US" sz="3000" b="1" dirty="0"/>
              <a:t>Software placed on a computer </a:t>
            </a:r>
            <a:endParaRPr lang="en-US" sz="3000" b="1" dirty="0" smtClean="0"/>
          </a:p>
          <a:p>
            <a:pPr marL="800100" lvl="1" indent="-342900">
              <a:buFontTx/>
              <a:buChar char="-"/>
            </a:pPr>
            <a:r>
              <a:rPr lang="en-US" sz="3000" dirty="0" smtClean="0"/>
              <a:t>typically </a:t>
            </a:r>
            <a:r>
              <a:rPr lang="en-US" sz="3000" dirty="0"/>
              <a:t>without user's knowledge </a:t>
            </a:r>
            <a:endParaRPr lang="en-US" sz="3000" dirty="0" smtClean="0"/>
          </a:p>
          <a:p>
            <a:pPr marL="800100" lvl="1" indent="-342900">
              <a:buFontTx/>
              <a:buChar char="-"/>
            </a:pPr>
            <a:r>
              <a:rPr lang="en-US" sz="3000" dirty="0" smtClean="0"/>
              <a:t>reports </a:t>
            </a:r>
            <a:r>
              <a:rPr lang="en-US" sz="3000" dirty="0"/>
              <a:t>back information about user's </a:t>
            </a:r>
            <a:r>
              <a:rPr lang="en-US" sz="3000" dirty="0" smtClean="0"/>
              <a:t>activities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b="1" dirty="0" smtClean="0"/>
              <a:t>Some </a:t>
            </a:r>
            <a:r>
              <a:rPr lang="en-US" sz="3000" b="1" dirty="0"/>
              <a:t>operate through monitoring cookies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b="1" dirty="0" smtClean="0"/>
              <a:t>A </a:t>
            </a:r>
            <a:r>
              <a:rPr lang="en-US" sz="3000" b="1" dirty="0"/>
              <a:t>software that literally spies on what you do on your </a:t>
            </a:r>
            <a:r>
              <a:rPr lang="en-US" sz="3000" b="1" dirty="0" smtClean="0"/>
              <a:t>computer.</a:t>
            </a:r>
          </a:p>
          <a:p>
            <a:pPr marL="800100" lvl="1" indent="-342900">
              <a:buFontTx/>
              <a:buChar char="-"/>
            </a:pPr>
            <a:r>
              <a:rPr lang="en-US" sz="3000" dirty="0" smtClean="0"/>
              <a:t>Example</a:t>
            </a:r>
            <a:r>
              <a:rPr lang="en-US" sz="3000" dirty="0"/>
              <a:t>: Simple Cookies, mobile codes , web crawlers, Xerox </a:t>
            </a:r>
            <a:endParaRPr lang="en-US" sz="3000" dirty="0" smtClean="0"/>
          </a:p>
          <a:p>
            <a:pPr marL="800100" lvl="1" indent="-342900">
              <a:buFontTx/>
              <a:buChar char="-"/>
            </a:pPr>
            <a:r>
              <a:rPr lang="en-US" sz="3000" dirty="0" smtClean="0"/>
              <a:t>Types </a:t>
            </a:r>
            <a:r>
              <a:rPr lang="en-US" sz="3000" dirty="0"/>
              <a:t>of information that is gathered includes the Websites visited, browser and system information, and your computer IP address.</a:t>
            </a:r>
            <a:endParaRPr lang="en-US" sz="3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2326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4" y="735046"/>
            <a:ext cx="503228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43650" y="235036"/>
            <a:ext cx="56387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19689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Spam (junk mail)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42080" y="1593744"/>
            <a:ext cx="1154036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smtClean="0"/>
              <a:t>Filling </a:t>
            </a:r>
            <a:r>
              <a:rPr lang="en-US" sz="3200" b="1" dirty="0"/>
              <a:t>e-mail inboxes with unwanted junk mail. </a:t>
            </a:r>
            <a:endParaRPr lang="en-US" sz="3200" b="1" dirty="0" smtClean="0"/>
          </a:p>
          <a:p>
            <a:endParaRPr lang="en-US" sz="3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smtClean="0"/>
              <a:t>Anyone </a:t>
            </a:r>
            <a:r>
              <a:rPr lang="en-US" sz="3200" b="1" dirty="0"/>
              <a:t>using e-mail is essentially guaranteed to receive </a:t>
            </a:r>
            <a:r>
              <a:rPr lang="en-US" sz="3200" b="1" dirty="0" smtClean="0"/>
              <a:t>spam</a:t>
            </a:r>
          </a:p>
          <a:p>
            <a:endParaRPr lang="en-US" sz="3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smtClean="0"/>
              <a:t>How </a:t>
            </a:r>
            <a:r>
              <a:rPr lang="en-US" sz="3200" b="1" dirty="0"/>
              <a:t>spammers get your mail. </a:t>
            </a:r>
            <a:endParaRPr lang="en-US" sz="3200" b="1" dirty="0" smtClean="0"/>
          </a:p>
          <a:p>
            <a:pPr marL="457200" indent="-457200">
              <a:buFontTx/>
              <a:buChar char="-"/>
            </a:pPr>
            <a:r>
              <a:rPr lang="en-US" sz="3200" dirty="0" smtClean="0"/>
              <a:t>Web </a:t>
            </a:r>
            <a:r>
              <a:rPr lang="en-US" sz="3200" dirty="0"/>
              <a:t>search </a:t>
            </a:r>
            <a:endParaRPr lang="en-US" sz="3200" dirty="0" smtClean="0"/>
          </a:p>
          <a:p>
            <a:pPr marL="457200" indent="-457200">
              <a:buFontTx/>
              <a:buChar char="-"/>
            </a:pPr>
            <a:r>
              <a:rPr lang="en-US" sz="3200" dirty="0" smtClean="0"/>
              <a:t>Sending </a:t>
            </a:r>
            <a:r>
              <a:rPr lang="en-US" sz="3200" dirty="0"/>
              <a:t>test </a:t>
            </a:r>
            <a:r>
              <a:rPr lang="en-US" sz="3200" dirty="0" smtClean="0"/>
              <a:t>emails</a:t>
            </a:r>
          </a:p>
          <a:p>
            <a:pPr marL="457200" indent="-457200">
              <a:buFontTx/>
              <a:buChar char="-"/>
            </a:pPr>
            <a:r>
              <a:rPr lang="en-US" sz="3200" dirty="0" smtClean="0"/>
              <a:t>Exchange </a:t>
            </a:r>
            <a:r>
              <a:rPr lang="en-US" sz="3200" dirty="0"/>
              <a:t>or buy from other spammers</a:t>
            </a:r>
            <a:endParaRPr lang="en-US" sz="3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35129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574858" y="735046"/>
            <a:ext cx="422574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86500" y="235036"/>
            <a:ext cx="56959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319689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Spam (junk mail)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42080" y="1593744"/>
            <a:ext cx="1154036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smtClean="0"/>
              <a:t>Filling </a:t>
            </a:r>
            <a:r>
              <a:rPr lang="en-US" sz="3200" b="1" dirty="0"/>
              <a:t>e-mail inboxes with unwanted junk mail. </a:t>
            </a:r>
            <a:endParaRPr lang="en-US" sz="3200" b="1" dirty="0" smtClean="0"/>
          </a:p>
          <a:p>
            <a:endParaRPr lang="en-US" sz="3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smtClean="0"/>
              <a:t>Anyone </a:t>
            </a:r>
            <a:r>
              <a:rPr lang="en-US" sz="3200" b="1" dirty="0"/>
              <a:t>using e-mail is essentially guaranteed to receive </a:t>
            </a:r>
            <a:r>
              <a:rPr lang="en-US" sz="3200" b="1" dirty="0" smtClean="0"/>
              <a:t>spam</a:t>
            </a:r>
          </a:p>
          <a:p>
            <a:endParaRPr lang="en-US" sz="32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 smtClean="0"/>
              <a:t>How </a:t>
            </a:r>
            <a:r>
              <a:rPr lang="en-US" sz="3200" b="1" dirty="0"/>
              <a:t>spammers get your mail. </a:t>
            </a:r>
            <a:endParaRPr lang="en-US" sz="3200" b="1" dirty="0" smtClean="0"/>
          </a:p>
          <a:p>
            <a:pPr marL="457200" indent="-457200">
              <a:buFontTx/>
              <a:buChar char="-"/>
            </a:pPr>
            <a:r>
              <a:rPr lang="en-US" sz="3200" dirty="0" smtClean="0"/>
              <a:t>Web </a:t>
            </a:r>
            <a:r>
              <a:rPr lang="en-US" sz="3200" dirty="0"/>
              <a:t>search </a:t>
            </a:r>
            <a:endParaRPr lang="en-US" sz="3200" dirty="0" smtClean="0"/>
          </a:p>
          <a:p>
            <a:pPr marL="457200" indent="-457200">
              <a:buFontTx/>
              <a:buChar char="-"/>
            </a:pPr>
            <a:r>
              <a:rPr lang="en-US" sz="3200" dirty="0" smtClean="0"/>
              <a:t>Sending </a:t>
            </a:r>
            <a:r>
              <a:rPr lang="en-US" sz="3200" dirty="0"/>
              <a:t>test </a:t>
            </a:r>
            <a:r>
              <a:rPr lang="en-US" sz="3200" dirty="0" smtClean="0"/>
              <a:t>emails</a:t>
            </a:r>
          </a:p>
          <a:p>
            <a:pPr marL="457200" indent="-457200">
              <a:buFontTx/>
              <a:buChar char="-"/>
            </a:pPr>
            <a:r>
              <a:rPr lang="en-US" sz="3200" dirty="0" smtClean="0"/>
              <a:t>Exchange </a:t>
            </a:r>
            <a:r>
              <a:rPr lang="en-US" sz="3200" dirty="0"/>
              <a:t>or buy from other spammers</a:t>
            </a:r>
            <a:endParaRPr lang="en-US" sz="3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80247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8" y="735046"/>
            <a:ext cx="534853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99200" y="235036"/>
            <a:ext cx="56832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780921"/>
            <a:ext cx="45467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Suggestions to fight spam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442080" y="1593744"/>
            <a:ext cx="115403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Never </a:t>
            </a:r>
            <a:r>
              <a:rPr lang="en-US" sz="3200" dirty="0"/>
              <a:t>reply junk emails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Do </a:t>
            </a:r>
            <a:r>
              <a:rPr lang="en-US" sz="3200" dirty="0"/>
              <a:t>not open any files or executable </a:t>
            </a:r>
            <a:r>
              <a:rPr lang="en-US" sz="3200" dirty="0" smtClean="0"/>
              <a:t>attachments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Immediately </a:t>
            </a:r>
            <a:r>
              <a:rPr lang="en-US" sz="3200" dirty="0"/>
              <a:t>DELETE the malicious email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Don't </a:t>
            </a:r>
            <a:r>
              <a:rPr lang="en-US" sz="3200" dirty="0"/>
              <a:t>post your actual email address in the website.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Norton</a:t>
            </a:r>
            <a:r>
              <a:rPr lang="en-US" sz="3200" dirty="0"/>
              <a:t>, McAfee, and many more include spam as one of the threats that they protect against.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Can </a:t>
            </a:r>
            <a:r>
              <a:rPr lang="en-US" sz="3200" dirty="0"/>
              <a:t>use spam filtering applications</a:t>
            </a:r>
            <a:endParaRPr lang="en-US" sz="3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15875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56024" y="513706"/>
            <a:ext cx="4330314" cy="526006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19048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99200" y="235036"/>
            <a:ext cx="56832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573869"/>
            <a:ext cx="45467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Malware attacks...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44530" y="953394"/>
            <a:ext cx="1134747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 smtClean="0"/>
              <a:t>Infection </a:t>
            </a:r>
            <a:r>
              <a:rPr lang="en-US" sz="2300" b="1" dirty="0"/>
              <a:t>mechanisms </a:t>
            </a:r>
            <a:endParaRPr lang="en-US" sz="2300" b="1" dirty="0" smtClean="0"/>
          </a:p>
          <a:p>
            <a:pPr marL="465138"/>
            <a:r>
              <a:rPr lang="en-US" sz="2300" dirty="0" smtClean="0"/>
              <a:t>‣  First</a:t>
            </a:r>
            <a:r>
              <a:rPr lang="en-US" sz="2300" dirty="0"/>
              <a:t>, the virus should search for and detect objects to infect </a:t>
            </a:r>
            <a:endParaRPr lang="en-US" sz="2300" dirty="0" smtClean="0"/>
          </a:p>
          <a:p>
            <a:pPr marL="465138"/>
            <a:r>
              <a:rPr lang="en-US" sz="2300" dirty="0" smtClean="0"/>
              <a:t>‣  Installation into the </a:t>
            </a:r>
            <a:r>
              <a:rPr lang="en-US" sz="2300" dirty="0" err="1" smtClean="0"/>
              <a:t>infectable</a:t>
            </a:r>
            <a:r>
              <a:rPr lang="en-US" sz="2300" dirty="0" smtClean="0"/>
              <a:t> object . </a:t>
            </a:r>
          </a:p>
          <a:p>
            <a:pPr marL="1257300" lvl="2" indent="-342900">
              <a:buFontTx/>
              <a:buChar char="-"/>
            </a:pPr>
            <a:r>
              <a:rPr lang="en-US" sz="2300" dirty="0" smtClean="0">
                <a:solidFill>
                  <a:srgbClr val="C00000"/>
                </a:solidFill>
              </a:rPr>
              <a:t>Writing </a:t>
            </a:r>
            <a:r>
              <a:rPr lang="en-US" sz="2300" dirty="0">
                <a:solidFill>
                  <a:srgbClr val="C00000"/>
                </a:solidFill>
              </a:rPr>
              <a:t>on the boot sector . </a:t>
            </a:r>
          </a:p>
          <a:p>
            <a:pPr marL="1257300" lvl="2" indent="-342900">
              <a:buFontTx/>
              <a:buChar char="-"/>
            </a:pPr>
            <a:r>
              <a:rPr lang="en-US" sz="2300" dirty="0" smtClean="0">
                <a:solidFill>
                  <a:srgbClr val="C00000"/>
                </a:solidFill>
              </a:rPr>
              <a:t>Add </a:t>
            </a:r>
            <a:r>
              <a:rPr lang="en-US" sz="2300" dirty="0">
                <a:solidFill>
                  <a:srgbClr val="C00000"/>
                </a:solidFill>
              </a:rPr>
              <a:t>some code to executable programs </a:t>
            </a:r>
          </a:p>
          <a:p>
            <a:pPr marL="1257300" lvl="2" indent="-342900">
              <a:buFontTx/>
              <a:buChar char="-"/>
            </a:pPr>
            <a:r>
              <a:rPr lang="en-US" sz="2300" dirty="0" smtClean="0">
                <a:solidFill>
                  <a:srgbClr val="C00000"/>
                </a:solidFill>
              </a:rPr>
              <a:t>Add </a:t>
            </a:r>
            <a:r>
              <a:rPr lang="en-US" sz="2300" dirty="0">
                <a:solidFill>
                  <a:srgbClr val="C00000"/>
                </a:solidFill>
              </a:rPr>
              <a:t>some code to initialization/auto-executable programs </a:t>
            </a:r>
            <a:endParaRPr lang="en-US" sz="2300" dirty="0" smtClean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 smtClean="0">
                <a:solidFill>
                  <a:srgbClr val="FF0000"/>
                </a:solidFill>
              </a:rPr>
              <a:t>Trigger </a:t>
            </a:r>
            <a:r>
              <a:rPr lang="en-US" sz="2300" b="1" dirty="0">
                <a:solidFill>
                  <a:srgbClr val="FF0000"/>
                </a:solidFill>
              </a:rPr>
              <a:t>mechanism </a:t>
            </a:r>
            <a:endParaRPr lang="en-US" sz="2300" b="1" dirty="0" smtClean="0">
              <a:solidFill>
                <a:srgbClr val="FF0000"/>
              </a:solidFill>
            </a:endParaRPr>
          </a:p>
          <a:p>
            <a:r>
              <a:rPr lang="en-US" sz="2300" dirty="0" smtClean="0"/>
              <a:t>       ‣  Date </a:t>
            </a:r>
            <a:endParaRPr lang="en-US" sz="2300" dirty="0"/>
          </a:p>
          <a:p>
            <a:r>
              <a:rPr lang="en-US" sz="2300" dirty="0" smtClean="0"/>
              <a:t>       ‣  </a:t>
            </a:r>
            <a:r>
              <a:rPr lang="en-US" sz="2300" dirty="0"/>
              <a:t>Number of </a:t>
            </a:r>
            <a:r>
              <a:rPr lang="en-US" sz="2300" dirty="0" smtClean="0"/>
              <a:t>infections</a:t>
            </a:r>
          </a:p>
          <a:p>
            <a:r>
              <a:rPr lang="en-US" sz="2300" dirty="0" smtClean="0"/>
              <a:t>       ‣  First </a:t>
            </a:r>
            <a:r>
              <a:rPr lang="en-US" sz="2300" dirty="0"/>
              <a:t>use </a:t>
            </a:r>
            <a:endParaRPr lang="en-US" sz="23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300" b="1" dirty="0" smtClean="0">
                <a:solidFill>
                  <a:srgbClr val="FF0000"/>
                </a:solidFill>
              </a:rPr>
              <a:t>Effects</a:t>
            </a:r>
            <a:r>
              <a:rPr lang="en-US" sz="2300" b="1" dirty="0">
                <a:solidFill>
                  <a:srgbClr val="FF0000"/>
                </a:solidFill>
              </a:rPr>
              <a:t>: It can be anything </a:t>
            </a:r>
            <a:endParaRPr lang="en-US" sz="2300" b="1" dirty="0" smtClean="0">
              <a:solidFill>
                <a:srgbClr val="FF0000"/>
              </a:solidFill>
            </a:endParaRPr>
          </a:p>
          <a:p>
            <a:r>
              <a:rPr lang="en-US" sz="2300" dirty="0" smtClean="0"/>
              <a:t>       ‣  A </a:t>
            </a:r>
            <a:r>
              <a:rPr lang="en-US" sz="2300" dirty="0"/>
              <a:t>message </a:t>
            </a:r>
            <a:endParaRPr lang="en-US" sz="2300" dirty="0" smtClean="0"/>
          </a:p>
          <a:p>
            <a:r>
              <a:rPr lang="en-US" sz="2300" dirty="0" smtClean="0"/>
              <a:t>       ‣  Deleting </a:t>
            </a:r>
            <a:r>
              <a:rPr lang="en-US" sz="2300" dirty="0"/>
              <a:t>files </a:t>
            </a:r>
          </a:p>
          <a:p>
            <a:r>
              <a:rPr lang="en-US" sz="2300" dirty="0" smtClean="0"/>
              <a:t>       ‣   Formatting </a:t>
            </a:r>
            <a:r>
              <a:rPr lang="en-US" sz="2300" dirty="0"/>
              <a:t>disk </a:t>
            </a:r>
            <a:endParaRPr lang="en-US" sz="2300" dirty="0" smtClean="0"/>
          </a:p>
          <a:p>
            <a:r>
              <a:rPr lang="en-US" sz="2300" dirty="0" smtClean="0"/>
              <a:t>       ‣  Overloading </a:t>
            </a:r>
            <a:r>
              <a:rPr lang="en-US" sz="2300" dirty="0"/>
              <a:t>processor/memory </a:t>
            </a:r>
            <a:endParaRPr lang="en-US" sz="2300" dirty="0" smtClean="0"/>
          </a:p>
          <a:p>
            <a:r>
              <a:rPr lang="en-US" sz="2300" dirty="0" smtClean="0"/>
              <a:t>       ‣  </a:t>
            </a:r>
            <a:r>
              <a:rPr lang="en-US" sz="2300" dirty="0" err="1" smtClean="0"/>
              <a:t>Etc</a:t>
            </a:r>
            <a:endParaRPr lang="en-US" sz="23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12253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52228" y="585146"/>
            <a:ext cx="4305546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99200" y="235036"/>
            <a:ext cx="56832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28" name="TextBox 17">
            <a:extLst>
              <a:ext uri="{FF2B5EF4-FFF2-40B4-BE49-F238E27FC236}">
                <a16:creationId xmlns="" xmlns:a16="http://schemas.microsoft.com/office/drawing/2014/main" id="{E0BD3A25-D52F-8E4B-4160-7A8054FEBEB8}"/>
              </a:ext>
            </a:extLst>
          </p:cNvPr>
          <p:cNvSpPr txBox="1"/>
          <p:nvPr/>
        </p:nvSpPr>
        <p:spPr>
          <a:xfrm>
            <a:off x="752229" y="6383942"/>
            <a:ext cx="467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02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631021"/>
            <a:ext cx="45467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Threat Monitoring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15883" y="1146401"/>
            <a:ext cx="1156047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 smtClean="0"/>
              <a:t>Check </a:t>
            </a:r>
            <a:r>
              <a:rPr lang="en-US" sz="3200" dirty="0"/>
              <a:t>for suspicious patterns of activity </a:t>
            </a:r>
            <a:endParaRPr lang="en-US" sz="3200" dirty="0" smtClean="0"/>
          </a:p>
          <a:p>
            <a:pPr marL="457200" indent="-457200">
              <a:buFontTx/>
              <a:buChar char="-"/>
            </a:pPr>
            <a:r>
              <a:rPr lang="en-US" sz="3200" dirty="0" smtClean="0"/>
              <a:t>i.e. several </a:t>
            </a:r>
            <a:r>
              <a:rPr lang="en-US" sz="3200" dirty="0"/>
              <a:t>incorrect password attempts may signal password guessing. </a:t>
            </a:r>
            <a:endParaRPr lang="en-US" sz="3200" dirty="0" smtClean="0"/>
          </a:p>
          <a:p>
            <a:endParaRPr lang="en-US" sz="32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 smtClean="0"/>
              <a:t>Audit </a:t>
            </a:r>
            <a:r>
              <a:rPr lang="en-US" sz="3200" dirty="0"/>
              <a:t>log - records the time, user, and type of all accesses to an object; useful for recovery from a violation and developing better security measures. </a:t>
            </a:r>
            <a:endParaRPr lang="en-US" sz="3200" dirty="0" smtClean="0"/>
          </a:p>
          <a:p>
            <a:endParaRPr lang="en-US" sz="32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/>
              <a:t>Scan the system periodically for security holes; done when the computer is relatively unused.</a:t>
            </a:r>
            <a:endParaRPr lang="en-US" sz="3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09278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2" y="585146"/>
            <a:ext cx="6775940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99200" y="235036"/>
            <a:ext cx="568324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2478" y="631021"/>
            <a:ext cx="4546722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Threat Monitoring (Cont.) 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223272"/>
            <a:ext cx="119522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 • </a:t>
            </a:r>
            <a:r>
              <a:rPr lang="en-US" sz="3200" b="1" dirty="0"/>
              <a:t>Check for: </a:t>
            </a:r>
            <a:endParaRPr lang="en-US" sz="3200" b="1" dirty="0" smtClean="0"/>
          </a:p>
          <a:p>
            <a:pPr indent="406400"/>
            <a:r>
              <a:rPr lang="en-US" sz="3200" dirty="0"/>
              <a:t>⁃ Short or easy-to-guess passwords</a:t>
            </a:r>
          </a:p>
          <a:p>
            <a:pPr indent="406400"/>
            <a:r>
              <a:rPr lang="en-US" sz="3200" dirty="0"/>
              <a:t>⁃ Unauthorized set programs </a:t>
            </a:r>
          </a:p>
          <a:p>
            <a:pPr indent="406400"/>
            <a:r>
              <a:rPr lang="en-US" sz="3200" dirty="0" smtClean="0"/>
              <a:t>⁃ </a:t>
            </a:r>
            <a:r>
              <a:rPr lang="en-US" sz="3200" dirty="0"/>
              <a:t>Unauthorized programs in system </a:t>
            </a:r>
            <a:r>
              <a:rPr lang="en-US" sz="3200" dirty="0" smtClean="0"/>
              <a:t>directories</a:t>
            </a:r>
          </a:p>
          <a:p>
            <a:pPr indent="406400"/>
            <a:r>
              <a:rPr lang="en-US" sz="3200" dirty="0" smtClean="0"/>
              <a:t>⁃ </a:t>
            </a:r>
            <a:r>
              <a:rPr lang="en-US" sz="3200" dirty="0"/>
              <a:t>Unexpected long-running processes </a:t>
            </a:r>
          </a:p>
          <a:p>
            <a:pPr indent="406400"/>
            <a:r>
              <a:rPr lang="en-US" sz="3200" dirty="0"/>
              <a:t>⁃ Improper directory protections </a:t>
            </a:r>
          </a:p>
          <a:p>
            <a:pPr indent="406400"/>
            <a:r>
              <a:rPr lang="en-US" sz="3200" dirty="0"/>
              <a:t>⁃ Improper protections on system data files </a:t>
            </a:r>
          </a:p>
          <a:p>
            <a:pPr indent="406400"/>
            <a:r>
              <a:rPr lang="en-US" sz="3200" dirty="0"/>
              <a:t>⁃ Dangerous entries in the program search path (Trojan horse)</a:t>
            </a:r>
          </a:p>
          <a:p>
            <a:pPr indent="406400"/>
            <a:r>
              <a:rPr lang="en-US" sz="3200" dirty="0"/>
              <a:t>⁃ Changes to system programs: monitor checksum values</a:t>
            </a:r>
          </a:p>
        </p:txBody>
      </p:sp>
    </p:spTree>
    <p:extLst>
      <p:ext uri="{BB962C8B-B14F-4D97-AF65-F5344CB8AC3E}">
        <p14:creationId xmlns:p14="http://schemas.microsoft.com/office/powerpoint/2010/main" val="29059656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15883" y="585146"/>
            <a:ext cx="816045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57926" y="235036"/>
            <a:ext cx="5724524" cy="10822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626393"/>
            <a:ext cx="653584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Suggestions to secure your computer/OS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059227"/>
            <a:ext cx="11952226" cy="518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Use </a:t>
            </a:r>
            <a:r>
              <a:rPr lang="en-US" sz="3200" dirty="0"/>
              <a:t>anti-virus software. </a:t>
            </a:r>
            <a:endParaRPr lang="en-US" sz="32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Depending </a:t>
            </a:r>
            <a:r>
              <a:rPr lang="en-US" sz="3200" dirty="0"/>
              <a:t>on the vendor, the antivirus software may also contain anti-spyware tools, anti-spam filtering, a personal firewall, and more. </a:t>
            </a:r>
            <a:endParaRPr lang="en-US" sz="32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Update </a:t>
            </a:r>
            <a:r>
              <a:rPr lang="en-US" sz="3200" dirty="0"/>
              <a:t>your computer regularly. </a:t>
            </a:r>
            <a:endParaRPr lang="en-US" sz="32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Be </a:t>
            </a:r>
            <a:r>
              <a:rPr lang="en-US" sz="3200" dirty="0"/>
              <a:t>careful with the email attachments </a:t>
            </a:r>
            <a:endParaRPr lang="en-US" sz="3200" dirty="0" smtClean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Use </a:t>
            </a:r>
            <a:r>
              <a:rPr lang="en-US" sz="3200" dirty="0"/>
              <a:t>firewall to protect you from malware attack.</a:t>
            </a:r>
          </a:p>
        </p:txBody>
      </p:sp>
    </p:spTree>
    <p:extLst>
      <p:ext uri="{BB962C8B-B14F-4D97-AF65-F5344CB8AC3E}">
        <p14:creationId xmlns:p14="http://schemas.microsoft.com/office/powerpoint/2010/main" val="304527521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0" y="585146"/>
            <a:ext cx="6721287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29376" y="235036"/>
            <a:ext cx="55530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626393"/>
            <a:ext cx="5191916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Principles of Secure OS Design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059227"/>
            <a:ext cx="1195222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• </a:t>
            </a:r>
            <a:r>
              <a:rPr lang="en-US" sz="2800" b="1" dirty="0"/>
              <a:t>Simplicity of design </a:t>
            </a:r>
            <a:endParaRPr lang="en-US" sz="2800" b="1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OSs are inherently complex, and any unnecessary complexity only makes them harder to understand and secure </a:t>
            </a:r>
            <a:endParaRPr lang="en-US" sz="2800" dirty="0" smtClean="0"/>
          </a:p>
          <a:p>
            <a:r>
              <a:rPr lang="en-US" sz="2800" dirty="0" smtClean="0"/>
              <a:t>• </a:t>
            </a:r>
            <a:r>
              <a:rPr lang="en-US" sz="2800" b="1" dirty="0"/>
              <a:t>Layered design </a:t>
            </a:r>
            <a:endParaRPr lang="en-US" sz="2800" b="1" dirty="0" smtClean="0"/>
          </a:p>
          <a:p>
            <a:pPr marL="914400" indent="-344488">
              <a:buFont typeface="Wingdings" panose="05000000000000000000" pitchFamily="2" charset="2"/>
              <a:buChar char="§"/>
            </a:pPr>
            <a:r>
              <a:rPr lang="en-US" sz="2800" dirty="0" smtClean="0"/>
              <a:t>Enables </a:t>
            </a:r>
            <a:r>
              <a:rPr lang="en-US" sz="2800" dirty="0"/>
              <a:t>layered trust </a:t>
            </a:r>
            <a:endParaRPr lang="en-US" sz="2800" dirty="0" smtClean="0"/>
          </a:p>
          <a:p>
            <a:r>
              <a:rPr lang="en-US" sz="2800" b="1" dirty="0" smtClean="0"/>
              <a:t>• </a:t>
            </a:r>
            <a:r>
              <a:rPr lang="en-US" sz="2800" b="1" dirty="0"/>
              <a:t>Layered trust </a:t>
            </a:r>
            <a:endParaRPr lang="en-US" sz="2800" b="1" dirty="0" smtClean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Layering </a:t>
            </a:r>
            <a:r>
              <a:rPr lang="en-US" sz="2800" dirty="0"/>
              <a:t>is both a way to keep a design logical and understandable and a way to limit risk </a:t>
            </a:r>
            <a:endParaRPr lang="en-US" sz="2800" dirty="0" smtClean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800" dirty="0" smtClean="0"/>
              <a:t>Example</a:t>
            </a:r>
            <a:r>
              <a:rPr lang="en-US" sz="2800" dirty="0"/>
              <a:t>: very tight access controls on critical OS functions, fewer access controls on important noncritical functions, and few if any access controls on functions that aren't important to the OS</a:t>
            </a:r>
          </a:p>
        </p:txBody>
      </p:sp>
    </p:spTree>
    <p:extLst>
      <p:ext uri="{BB962C8B-B14F-4D97-AF65-F5344CB8AC3E}">
        <p14:creationId xmlns:p14="http://schemas.microsoft.com/office/powerpoint/2010/main" val="110721893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0" y="585146"/>
            <a:ext cx="5049650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6"/>
            <a:ext cx="57102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626393"/>
            <a:ext cx="380602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err="1">
                <a:solidFill>
                  <a:schemeClr val="bg1"/>
                </a:solidFill>
              </a:rPr>
              <a:t>Kernelized</a:t>
            </a:r>
            <a:r>
              <a:rPr lang="en-US" sz="2800" b="1" dirty="0">
                <a:solidFill>
                  <a:schemeClr val="bg1"/>
                </a:solidFill>
              </a:rPr>
              <a:t> Design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35151"/>
            <a:ext cx="1195222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• </a:t>
            </a:r>
            <a:r>
              <a:rPr lang="en-US" sz="3600" dirty="0"/>
              <a:t>A kernel is the part of the OS that performs the lowest-level functions </a:t>
            </a:r>
            <a:endParaRPr lang="en-US" sz="3600" dirty="0" smtClean="0"/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3200" dirty="0" smtClean="0"/>
              <a:t>Synchronization </a:t>
            </a:r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3200" dirty="0" err="1" smtClean="0"/>
              <a:t>Interprocess</a:t>
            </a:r>
            <a:r>
              <a:rPr lang="en-US" sz="3200" dirty="0" smtClean="0"/>
              <a:t> </a:t>
            </a:r>
            <a:r>
              <a:rPr lang="en-US" sz="3200" dirty="0"/>
              <a:t>communication </a:t>
            </a:r>
            <a:endParaRPr lang="en-US" sz="3200" dirty="0" smtClean="0"/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3200" dirty="0" smtClean="0"/>
              <a:t>Message </a:t>
            </a:r>
            <a:r>
              <a:rPr lang="en-US" sz="3200" dirty="0"/>
              <a:t>passing </a:t>
            </a:r>
            <a:endParaRPr lang="en-US" sz="3200" dirty="0" smtClean="0"/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3200" dirty="0" smtClean="0"/>
              <a:t>Interrupt </a:t>
            </a:r>
            <a:r>
              <a:rPr lang="en-US" sz="3200" dirty="0"/>
              <a:t>handling </a:t>
            </a:r>
            <a:endParaRPr lang="en-US" sz="3200" dirty="0" smtClean="0"/>
          </a:p>
          <a:p>
            <a:r>
              <a:rPr lang="en-US" sz="3600" dirty="0" smtClean="0"/>
              <a:t>• </a:t>
            </a:r>
            <a:r>
              <a:rPr lang="en-US" sz="3600" dirty="0"/>
              <a:t>A security kernel is responsible for enforcing the security mechanisms of the entire OS </a:t>
            </a:r>
            <a:endParaRPr lang="en-US" sz="3600" dirty="0" smtClean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3200" dirty="0" smtClean="0"/>
              <a:t>Typically </a:t>
            </a:r>
            <a:r>
              <a:rPr lang="en-US" sz="3200" dirty="0"/>
              <a:t>contained within the </a:t>
            </a:r>
            <a:r>
              <a:rPr lang="en-US" sz="3200" dirty="0" smtClean="0"/>
              <a:t>kernel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2098211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585146"/>
            <a:ext cx="532111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72226" y="235036"/>
            <a:ext cx="56102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626393"/>
            <a:ext cx="653584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 smtClean="0">
                <a:solidFill>
                  <a:schemeClr val="bg1"/>
                </a:solidFill>
              </a:rPr>
              <a:t>Reference Monitor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2" y="1146401"/>
            <a:ext cx="10058400" cy="53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218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0" y="795006"/>
            <a:ext cx="3678050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57938" y="235036"/>
            <a:ext cx="562451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028309" y="876130"/>
            <a:ext cx="297735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Trusted Systems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15883" y="1640114"/>
            <a:ext cx="1195090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 </a:t>
            </a:r>
            <a:r>
              <a:rPr lang="en-US" sz="3200" dirty="0"/>
              <a:t>trusted system is one that has been shown to warrant some degree of trust that it will perform certain activities </a:t>
            </a:r>
            <a:r>
              <a:rPr lang="en-US" sz="3200" dirty="0" smtClean="0"/>
              <a:t>faithfully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Characteristics </a:t>
            </a:r>
            <a:r>
              <a:rPr lang="en-US" sz="3200" dirty="0"/>
              <a:t>of a trusted system: </a:t>
            </a:r>
            <a:endParaRPr lang="en-US" sz="3200" dirty="0" smtClean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A </a:t>
            </a:r>
            <a:r>
              <a:rPr lang="en-US" sz="3200" dirty="0"/>
              <a:t>defined policy that details what security qualities it enforces </a:t>
            </a:r>
            <a:endParaRPr lang="en-US" sz="3200" dirty="0" smtClean="0"/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Appropriate </a:t>
            </a:r>
            <a:r>
              <a:rPr lang="en-US" sz="3200" dirty="0"/>
              <a:t>measures and mechanisms by which it can enforce security </a:t>
            </a:r>
            <a:r>
              <a:rPr lang="en-US" sz="3200" dirty="0" smtClean="0"/>
              <a:t>adequately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Independent </a:t>
            </a:r>
            <a:r>
              <a:rPr lang="en-US" sz="3200" dirty="0"/>
              <a:t>scrutiny or evaluation to ensure that the mechanisms have been selected and implemented properly</a:t>
            </a:r>
          </a:p>
        </p:txBody>
      </p:sp>
    </p:spTree>
    <p:extLst>
      <p:ext uri="{BB962C8B-B14F-4D97-AF65-F5344CB8AC3E}">
        <p14:creationId xmlns:p14="http://schemas.microsoft.com/office/powerpoint/2010/main" val="247493444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795006"/>
            <a:ext cx="714991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57926" y="235036"/>
            <a:ext cx="5724524" cy="18775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836253"/>
            <a:ext cx="577770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Other Trusted System Characteristics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15883" y="1280354"/>
            <a:ext cx="119509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800" b="1" dirty="0"/>
              <a:t>Secure startup </a:t>
            </a:r>
            <a:endParaRPr lang="en-US" sz="2800" b="1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System </a:t>
            </a:r>
            <a:r>
              <a:rPr lang="en-US" sz="2400" dirty="0"/>
              <a:t>startup is </a:t>
            </a:r>
            <a:r>
              <a:rPr lang="en-US" sz="2400" dirty="0" smtClean="0"/>
              <a:t>a tricky </a:t>
            </a:r>
            <a:r>
              <a:rPr lang="en-US" sz="2400" dirty="0"/>
              <a:t>time for security, as most systems load basic I/O functionality before being able to load security functions </a:t>
            </a:r>
            <a:endParaRPr lang="en-US" sz="2400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Trusted </a:t>
            </a:r>
            <a:r>
              <a:rPr lang="en-US" sz="2400" dirty="0"/>
              <a:t>path </a:t>
            </a:r>
            <a:endParaRPr lang="en-US" sz="2400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An </a:t>
            </a:r>
            <a:r>
              <a:rPr lang="en-US" sz="2400" dirty="0"/>
              <a:t>unforgeable connection by which the user can be confident of communicating directly with the ÓS 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Object </a:t>
            </a:r>
            <a:r>
              <a:rPr lang="en-US" sz="2800" b="1" dirty="0"/>
              <a:t>reuse control </a:t>
            </a:r>
            <a:endParaRPr lang="en-US" sz="2800" b="1" dirty="0" smtClean="0"/>
          </a:p>
          <a:p>
            <a:pPr marL="914400" indent="-457200">
              <a:buFont typeface="Wingdings" panose="05000000000000000000" pitchFamily="2" charset="2"/>
              <a:buChar char="§"/>
            </a:pPr>
            <a:r>
              <a:rPr lang="en-US" sz="2400" dirty="0" smtClean="0"/>
              <a:t>OS </a:t>
            </a:r>
            <a:r>
              <a:rPr lang="en-US" sz="2400" dirty="0"/>
              <a:t>clears memory before reassigning it to ensure that leftover data doesn't become compromised 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Audit</a:t>
            </a:r>
            <a:r>
              <a:rPr lang="en-US" sz="2800" dirty="0" smtClean="0"/>
              <a:t> </a:t>
            </a: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Trusted </a:t>
            </a:r>
            <a:r>
              <a:rPr lang="en-US" sz="2400" dirty="0"/>
              <a:t>systems track security-relevant changes, such as the installation of new programs or OS modification </a:t>
            </a:r>
            <a:endParaRPr lang="en-US" sz="24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Audit </a:t>
            </a:r>
            <a:r>
              <a:rPr lang="en-US" sz="2400" dirty="0"/>
              <a:t>logs must be protected against tampering and deletion</a:t>
            </a:r>
          </a:p>
        </p:txBody>
      </p:sp>
    </p:spTree>
    <p:extLst>
      <p:ext uri="{BB962C8B-B14F-4D97-AF65-F5344CB8AC3E}">
        <p14:creationId xmlns:p14="http://schemas.microsoft.com/office/powerpoint/2010/main" val="59314692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795006"/>
            <a:ext cx="809674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415088" y="235036"/>
            <a:ext cx="55673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836253"/>
            <a:ext cx="653584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Protecting an OS from Malicious Software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43021" y="1596261"/>
            <a:ext cx="119509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>
                <a:solidFill>
                  <a:srgbClr val="FF0000"/>
                </a:solidFill>
              </a:rPr>
              <a:t>Install </a:t>
            </a:r>
            <a:r>
              <a:rPr lang="en-US" sz="3600" dirty="0">
                <a:solidFill>
                  <a:srgbClr val="FF0000"/>
                </a:solidFill>
              </a:rPr>
              <a:t>updates </a:t>
            </a:r>
            <a:endParaRPr lang="en-US" sz="3600" dirty="0" smtClean="0">
              <a:solidFill>
                <a:srgbClr val="FF0000"/>
              </a:solidFill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Use </a:t>
            </a:r>
            <a:r>
              <a:rPr lang="en-US" sz="3600" dirty="0"/>
              <a:t>malicious software scanners </a:t>
            </a:r>
            <a:endParaRPr lang="en-US" sz="3600" dirty="0" smtClean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Back </a:t>
            </a:r>
            <a:r>
              <a:rPr lang="en-US" sz="3600" dirty="0"/>
              <a:t>up systems and create repair disks </a:t>
            </a:r>
            <a:endParaRPr lang="en-US" sz="3600" dirty="0" smtClean="0"/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Create </a:t>
            </a:r>
            <a:r>
              <a:rPr lang="en-US" sz="3600" dirty="0"/>
              <a:t>and implement organizational policies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1311865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0" y="795006"/>
            <a:ext cx="476389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72226" y="235036"/>
            <a:ext cx="56102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836253"/>
            <a:ext cx="3391691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Installing Updates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43021" y="1596261"/>
            <a:ext cx="119509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• </a:t>
            </a:r>
            <a:r>
              <a:rPr lang="en-US" sz="3200" dirty="0"/>
              <a:t>Update </a:t>
            </a:r>
            <a:endParaRPr lang="en-US" sz="3200" dirty="0" smtClean="0"/>
          </a:p>
          <a:p>
            <a:pPr marL="914400" lvl="1" indent="-457200">
              <a:buFontTx/>
              <a:buChar char="-"/>
            </a:pPr>
            <a:r>
              <a:rPr lang="en-US" sz="3200" dirty="0" smtClean="0"/>
              <a:t>Provides </a:t>
            </a:r>
            <a:r>
              <a:rPr lang="en-US" sz="3200" dirty="0"/>
              <a:t>access to patches that are regularly issued/released </a:t>
            </a:r>
            <a:endParaRPr lang="en-US" sz="3200" dirty="0" smtClean="0"/>
          </a:p>
          <a:p>
            <a:r>
              <a:rPr lang="en-US" sz="3200" dirty="0" smtClean="0"/>
              <a:t>• </a:t>
            </a:r>
            <a:r>
              <a:rPr lang="en-US" sz="3200" dirty="0"/>
              <a:t>Service packs </a:t>
            </a:r>
            <a:endParaRPr lang="en-US" sz="3200" dirty="0" smtClean="0"/>
          </a:p>
          <a:p>
            <a:pPr marL="914400" lvl="1" indent="-457200">
              <a:buFontTx/>
              <a:buChar char="-"/>
            </a:pPr>
            <a:r>
              <a:rPr lang="en-US" sz="3200" dirty="0" smtClean="0"/>
              <a:t>Address </a:t>
            </a:r>
            <a:r>
              <a:rPr lang="en-US" sz="3200" dirty="0"/>
              <a:t>security issues and problems affecting stability, performance, or operation of features included with the </a:t>
            </a:r>
            <a:r>
              <a:rPr lang="en-US" sz="3200" dirty="0" smtClean="0"/>
              <a:t>OS</a:t>
            </a:r>
          </a:p>
          <a:p>
            <a:r>
              <a:rPr lang="en-US" sz="3200" b="1" dirty="0" smtClean="0"/>
              <a:t>Patch</a:t>
            </a:r>
            <a:r>
              <a:rPr lang="en-US" sz="3200" dirty="0" smtClean="0"/>
              <a:t> </a:t>
            </a:r>
            <a:r>
              <a:rPr lang="en-US" sz="3200" dirty="0"/>
              <a:t>This fixes something small and is usually quick to download and install, </a:t>
            </a:r>
            <a:r>
              <a:rPr lang="en-US" sz="3200" b="1" dirty="0"/>
              <a:t>Rollup</a:t>
            </a:r>
            <a:r>
              <a:rPr lang="en-US" sz="3200" dirty="0"/>
              <a:t> This might include a group of patches for a program. </a:t>
            </a:r>
            <a:endParaRPr lang="en-US" sz="3200" dirty="0" smtClean="0"/>
          </a:p>
          <a:p>
            <a:r>
              <a:rPr lang="en-US" sz="3200" b="1" dirty="0" smtClean="0"/>
              <a:t>Update</a:t>
            </a:r>
            <a:r>
              <a:rPr lang="en-US" sz="3200" dirty="0" smtClean="0"/>
              <a:t> </a:t>
            </a:r>
            <a:r>
              <a:rPr lang="en-US" sz="3200" dirty="0"/>
              <a:t>Updates might add or fix features in your program or fix an earlier patch.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576823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795006"/>
            <a:ext cx="8096741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6"/>
            <a:ext cx="571023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836253"/>
            <a:ext cx="653584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Protecting an OS from Malicious Software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43021" y="1596261"/>
            <a:ext cx="119509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• </a:t>
            </a:r>
            <a:r>
              <a:rPr lang="en-US" sz="3600" dirty="0"/>
              <a:t>Install updates </a:t>
            </a:r>
            <a:endParaRPr lang="en-US" sz="3600" dirty="0" smtClean="0"/>
          </a:p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•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malicious software scanners </a:t>
            </a:r>
            <a:endParaRPr lang="en-US" sz="36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3600" dirty="0" smtClean="0"/>
              <a:t>• </a:t>
            </a:r>
            <a:r>
              <a:rPr lang="en-US" sz="3600" dirty="0"/>
              <a:t>Back up systems and create repair disks </a:t>
            </a:r>
            <a:endParaRPr lang="en-US" sz="3600" dirty="0" smtClean="0"/>
          </a:p>
          <a:p>
            <a:r>
              <a:rPr lang="en-US" sz="3600" dirty="0" smtClean="0"/>
              <a:t>• </a:t>
            </a:r>
            <a:r>
              <a:rPr lang="en-US" sz="3600" dirty="0"/>
              <a:t>Create and implement organizational policies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4009912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656024" y="780508"/>
            <a:ext cx="670699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43638" y="235036"/>
            <a:ext cx="5738811" cy="11969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836253"/>
            <a:ext cx="5434804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Using Malicious Software Scanners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315883" y="1253536"/>
            <a:ext cx="1195090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• </a:t>
            </a:r>
            <a:r>
              <a:rPr lang="en-US" sz="3600" dirty="0"/>
              <a:t>Effective way to protect operating system </a:t>
            </a:r>
            <a:endParaRPr lang="en-US" sz="3600" dirty="0" smtClean="0"/>
          </a:p>
          <a:p>
            <a:r>
              <a:rPr lang="en-US" sz="3600" dirty="0" smtClean="0"/>
              <a:t>• </a:t>
            </a:r>
            <a:r>
              <a:rPr lang="en-US" sz="3600" dirty="0"/>
              <a:t>Scan systems for virus, worms, and Trojan horses </a:t>
            </a:r>
            <a:endParaRPr lang="en-US" sz="3600" dirty="0" smtClean="0"/>
          </a:p>
          <a:p>
            <a:r>
              <a:rPr lang="en-US" sz="3600" dirty="0" smtClean="0"/>
              <a:t>• </a:t>
            </a:r>
            <a:r>
              <a:rPr lang="en-US" sz="3600" dirty="0"/>
              <a:t>Often Called Virus Scanners </a:t>
            </a:r>
            <a:endParaRPr lang="en-US" sz="3600" dirty="0" smtClean="0"/>
          </a:p>
          <a:p>
            <a:r>
              <a:rPr lang="en-US" sz="3600" dirty="0" smtClean="0"/>
              <a:t>• </a:t>
            </a:r>
            <a:r>
              <a:rPr lang="en-US" sz="3600" dirty="0"/>
              <a:t>Functions of anti-viruses </a:t>
            </a:r>
            <a:endParaRPr lang="en-US" sz="3600" dirty="0" smtClean="0"/>
          </a:p>
          <a:p>
            <a:pPr marL="465138"/>
            <a:r>
              <a:rPr lang="en-US" sz="3600" dirty="0" smtClean="0">
                <a:solidFill>
                  <a:srgbClr val="FF0000"/>
                </a:solidFill>
              </a:rPr>
              <a:t>⁃ </a:t>
            </a:r>
            <a:r>
              <a:rPr lang="en-US" sz="3600" dirty="0">
                <a:solidFill>
                  <a:srgbClr val="FF0000"/>
                </a:solidFill>
              </a:rPr>
              <a:t>Identification of known viruses </a:t>
            </a:r>
            <a:endParaRPr lang="en-US" sz="3600" dirty="0" smtClean="0">
              <a:solidFill>
                <a:srgbClr val="FF0000"/>
              </a:solidFill>
            </a:endParaRPr>
          </a:p>
          <a:p>
            <a:pPr marL="465138"/>
            <a:r>
              <a:rPr lang="en-US" sz="3600" dirty="0" smtClean="0">
                <a:solidFill>
                  <a:srgbClr val="FF0000"/>
                </a:solidFill>
              </a:rPr>
              <a:t>⁃ </a:t>
            </a:r>
            <a:r>
              <a:rPr lang="en-US" sz="3600" dirty="0">
                <a:solidFill>
                  <a:srgbClr val="FF0000"/>
                </a:solidFill>
              </a:rPr>
              <a:t>Detection of suspected viruses </a:t>
            </a:r>
            <a:endParaRPr lang="en-US" sz="3600" dirty="0" smtClean="0">
              <a:solidFill>
                <a:srgbClr val="FF0000"/>
              </a:solidFill>
            </a:endParaRPr>
          </a:p>
          <a:p>
            <a:pPr marL="465138"/>
            <a:r>
              <a:rPr lang="en-US" sz="3600" dirty="0" smtClean="0">
                <a:solidFill>
                  <a:srgbClr val="FF0000"/>
                </a:solidFill>
              </a:rPr>
              <a:t>⁃ </a:t>
            </a:r>
            <a:r>
              <a:rPr lang="en-US" sz="3600" dirty="0">
                <a:solidFill>
                  <a:srgbClr val="FF0000"/>
                </a:solidFill>
              </a:rPr>
              <a:t>Blocking of possible viruses </a:t>
            </a:r>
            <a:endParaRPr lang="en-US" sz="3600" dirty="0" smtClean="0">
              <a:solidFill>
                <a:srgbClr val="FF0000"/>
              </a:solidFill>
            </a:endParaRPr>
          </a:p>
          <a:p>
            <a:pPr marL="465138"/>
            <a:r>
              <a:rPr lang="en-US" sz="3600" dirty="0" smtClean="0">
                <a:solidFill>
                  <a:srgbClr val="FF0000"/>
                </a:solidFill>
              </a:rPr>
              <a:t>⁃ </a:t>
            </a:r>
            <a:r>
              <a:rPr lang="en-US" sz="3600" dirty="0">
                <a:solidFill>
                  <a:srgbClr val="FF0000"/>
                </a:solidFill>
              </a:rPr>
              <a:t>Disinfection of infected objects </a:t>
            </a:r>
            <a:endParaRPr lang="en-US" sz="3600" dirty="0" smtClean="0">
              <a:solidFill>
                <a:srgbClr val="FF0000"/>
              </a:solidFill>
            </a:endParaRPr>
          </a:p>
          <a:p>
            <a:pPr marL="465138"/>
            <a:r>
              <a:rPr lang="en-US" sz="3600" dirty="0" smtClean="0">
                <a:solidFill>
                  <a:srgbClr val="FF0000"/>
                </a:solidFill>
              </a:rPr>
              <a:t>⁃ </a:t>
            </a:r>
            <a:r>
              <a:rPr lang="en-US" sz="3600" dirty="0">
                <a:solidFill>
                  <a:srgbClr val="FF0000"/>
                </a:solidFill>
              </a:rPr>
              <a:t>Deletion and overwriting of infected objects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76004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795006"/>
            <a:ext cx="6635562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72214" y="235036"/>
            <a:ext cx="5710236" cy="1839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836253"/>
            <a:ext cx="6535848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</a:rPr>
              <a:t>Memory and Address Protection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0005" y="1732244"/>
            <a:ext cx="119509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most obvious problem of multiprogramming is preventing one program from affecting the data and programs in the memory space of other users.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45499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-2" y="783088"/>
            <a:ext cx="332898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29364" y="235036"/>
            <a:ext cx="56530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229749" y="797376"/>
            <a:ext cx="226297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Fence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0005" y="1732244"/>
            <a:ext cx="119509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The </a:t>
            </a:r>
            <a:r>
              <a:rPr lang="en-US" sz="3200" dirty="0"/>
              <a:t>simplest form of memory protection was introduced in single-user operating systems to prevent a faulty user program from destroying part of the resident portion of the operating </a:t>
            </a:r>
            <a:r>
              <a:rPr lang="en-US" sz="3200" dirty="0" smtClean="0"/>
              <a:t>system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a </a:t>
            </a:r>
            <a:r>
              <a:rPr lang="en-US" sz="3200" b="1" dirty="0"/>
              <a:t>fence</a:t>
            </a:r>
            <a:r>
              <a:rPr lang="en-US" sz="3200" dirty="0"/>
              <a:t> is a method to confine users to one side of a boundary.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68562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795006"/>
            <a:ext cx="276364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00788" y="235036"/>
            <a:ext cx="56816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066259" y="807867"/>
            <a:ext cx="157717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Fence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0005" y="1436075"/>
            <a:ext cx="119509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/>
              <a:t>The fence was </a:t>
            </a:r>
            <a:r>
              <a:rPr lang="en-US" sz="2800" b="1" dirty="0"/>
              <a:t>a predefined memory address</a:t>
            </a:r>
            <a:r>
              <a:rPr lang="en-US" sz="2800" dirty="0"/>
              <a:t>, enabling the operating system to reside on one side and the user to stay on the other.</a:t>
            </a:r>
            <a:endParaRPr lang="en-US" sz="2800" dirty="0">
              <a:solidFill>
                <a:srgbClr val="FF000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59" y="2479680"/>
            <a:ext cx="10058400" cy="366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0062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0" y="795006"/>
            <a:ext cx="4435287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29350" y="235036"/>
            <a:ext cx="5753099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751809" y="836253"/>
            <a:ext cx="287734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 smtClean="0">
                <a:solidFill>
                  <a:schemeClr val="bg1"/>
                </a:solidFill>
              </a:rPr>
              <a:t>Fence register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232" y="1401144"/>
            <a:ext cx="8204339" cy="51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4969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0" y="795006"/>
            <a:ext cx="464959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57938" y="235036"/>
            <a:ext cx="562451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455975" y="836253"/>
            <a:ext cx="282019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 smtClean="0">
                <a:solidFill>
                  <a:schemeClr val="bg1"/>
                </a:solidFill>
              </a:rPr>
              <a:t>Fence register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47969" y="1743251"/>
            <a:ext cx="117344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containing </a:t>
            </a:r>
            <a:r>
              <a:rPr lang="en-US" sz="3200" dirty="0"/>
              <a:t>the address of the end of the operating system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dirty="0"/>
              <a:t>location of the fence could be changed.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time a user program generated an address for data modification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If </a:t>
            </a:r>
            <a:r>
              <a:rPr lang="en-US" sz="3200" dirty="0"/>
              <a:t>the address was greater than the fence address the instruction was executed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 </a:t>
            </a:r>
            <a:r>
              <a:rPr lang="en-US" sz="3200" dirty="0"/>
              <a:t>if it was less than the fence address, an error condition was raised </a:t>
            </a:r>
            <a:endParaRPr lang="en-US" sz="3200" dirty="0" smtClean="0"/>
          </a:p>
          <a:p>
            <a:r>
              <a:rPr lang="en-US" sz="3200" dirty="0" smtClean="0"/>
              <a:t>‣&gt;</a:t>
            </a:r>
            <a:r>
              <a:rPr lang="en-US" sz="3200" b="1" dirty="0"/>
              <a:t>the fence cannot protect one user from another user.</a:t>
            </a:r>
          </a:p>
        </p:txBody>
      </p:sp>
    </p:spTree>
    <p:extLst>
      <p:ext uri="{BB962C8B-B14F-4D97-AF65-F5344CB8AC3E}">
        <p14:creationId xmlns:p14="http://schemas.microsoft.com/office/powerpoint/2010/main" val="359230899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0" y="795006"/>
            <a:ext cx="4821049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29364" y="235036"/>
            <a:ext cx="5653086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523210" y="820730"/>
            <a:ext cx="290591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Linux Security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47969" y="1743251"/>
            <a:ext cx="117344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Like </a:t>
            </a:r>
            <a:r>
              <a:rPr lang="en-US" sz="3200" dirty="0"/>
              <a:t>other general-purpose operating systems, Linux's wide range of features presents a broad attack surface.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Even </a:t>
            </a:r>
            <a:r>
              <a:rPr lang="en-US" sz="3200" dirty="0"/>
              <a:t>so, by leveraging native Linux security controls, carefully configuring Linux applications, and deploying certain add-on security packages, you can create highly secure Linux systems.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11885223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795006"/>
            <a:ext cx="536397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257926" y="235036"/>
            <a:ext cx="572452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509763" y="836253"/>
            <a:ext cx="399176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Linux/Unix Security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67184"/>
            <a:ext cx="117344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400" dirty="0" smtClean="0"/>
              <a:t>◦ </a:t>
            </a:r>
            <a:r>
              <a:rPr lang="en-US" sz="2400" dirty="0"/>
              <a:t>Keeping security patches up to date is a widely recognized and critical control for maintaining security 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service configuration 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Most </a:t>
            </a:r>
            <a:r>
              <a:rPr lang="en-US" sz="2400" dirty="0"/>
              <a:t>commonly implemented using separate text files for each application and </a:t>
            </a:r>
            <a:r>
              <a:rPr lang="en-US" sz="2400" dirty="0" smtClean="0"/>
              <a:t>service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Generally </a:t>
            </a:r>
            <a:r>
              <a:rPr lang="en-US" sz="2400" dirty="0"/>
              <a:t>located either in the /</a:t>
            </a:r>
            <a:r>
              <a:rPr lang="en-US" sz="2400" dirty="0" err="1"/>
              <a:t>etc</a:t>
            </a:r>
            <a:r>
              <a:rPr lang="en-US" sz="2400" dirty="0"/>
              <a:t> directory or in the installation tree for a specific application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Individual </a:t>
            </a:r>
            <a:r>
              <a:rPr lang="en-US" sz="2400" dirty="0"/>
              <a:t>user configurations that can override the system defaults are located in hidden "dot" files in each user's home directory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/>
              <a:t>Most </a:t>
            </a:r>
            <a:r>
              <a:rPr lang="en-US" sz="2400" dirty="0"/>
              <a:t>important changes needed to improve system security are to disable services and applications that are not require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6298953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795006"/>
            <a:ext cx="564972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57938" y="235036"/>
            <a:ext cx="562451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536657" y="836253"/>
            <a:ext cx="4034629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Linux/Unix Security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67184"/>
            <a:ext cx="117344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Users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groups, and permissions </a:t>
            </a: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200" dirty="0" smtClean="0"/>
              <a:t>Access </a:t>
            </a:r>
            <a:r>
              <a:rPr lang="en-US" sz="2200" dirty="0"/>
              <a:t>is specified as granting read, write, and execute permissions to each of owner, group, and others for each resource </a:t>
            </a:r>
            <a:endParaRPr lang="en-US" sz="22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200" dirty="0" smtClean="0"/>
              <a:t>Guides </a:t>
            </a:r>
            <a:r>
              <a:rPr lang="en-US" sz="2200" dirty="0"/>
              <a:t>recommend changing the access permissions for critical directories and files </a:t>
            </a:r>
            <a:endParaRPr lang="en-US" sz="22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200" dirty="0" smtClean="0"/>
              <a:t>Local </a:t>
            </a:r>
            <a:r>
              <a:rPr lang="en-US" sz="2200" dirty="0"/>
              <a:t>exploit - Software vulnerability that can be exploited by an attacker to gain elevated privileges </a:t>
            </a:r>
            <a:endParaRPr lang="en-US" sz="2200" dirty="0" smtClean="0"/>
          </a:p>
          <a:p>
            <a:pPr marL="914400" indent="-342900">
              <a:buFont typeface="Wingdings" panose="05000000000000000000" pitchFamily="2" charset="2"/>
              <a:buChar char="§"/>
            </a:pPr>
            <a:r>
              <a:rPr lang="en-US" sz="2200" dirty="0" smtClean="0"/>
              <a:t>Remote </a:t>
            </a:r>
            <a:r>
              <a:rPr lang="en-US" sz="2200" dirty="0"/>
              <a:t>exploit - Software vulnerability in a network server that could be triggered by a remote attacker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chroot</a:t>
            </a: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jail </a:t>
            </a: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 smtClean="0"/>
              <a:t>Restricts </a:t>
            </a:r>
            <a:r>
              <a:rPr lang="en-US" sz="2200" dirty="0"/>
              <a:t>the server's view of the file </a:t>
            </a:r>
            <a:r>
              <a:rPr lang="en-US" sz="2200" dirty="0" err="1" smtClean="0"/>
              <a:t>systerm</a:t>
            </a:r>
            <a:r>
              <a:rPr lang="en-US" sz="2200" dirty="0" smtClean="0"/>
              <a:t> </a:t>
            </a:r>
            <a:r>
              <a:rPr lang="en-US" sz="2200" dirty="0"/>
              <a:t>to just a specified portion </a:t>
            </a:r>
            <a:endParaRPr lang="en-US" sz="2200" dirty="0" smtClean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 smtClean="0"/>
              <a:t>Uses </a:t>
            </a:r>
            <a:r>
              <a:rPr lang="en-US" sz="2200" dirty="0" err="1"/>
              <a:t>chroot</a:t>
            </a:r>
            <a:r>
              <a:rPr lang="en-US" sz="2200" dirty="0"/>
              <a:t> system call to confine a process by mapping the root of the filesystem to some other directory </a:t>
            </a:r>
            <a:endParaRPr lang="en-US" sz="2200" dirty="0" smtClean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 smtClean="0"/>
              <a:t>File </a:t>
            </a:r>
            <a:r>
              <a:rPr lang="en-US" sz="2200" dirty="0"/>
              <a:t>directories outside the </a:t>
            </a:r>
            <a:r>
              <a:rPr lang="en-US" sz="2200" dirty="0" err="1"/>
              <a:t>chroot</a:t>
            </a:r>
            <a:r>
              <a:rPr lang="en-US" sz="2200" dirty="0"/>
              <a:t> jail aren't visible or reachable </a:t>
            </a:r>
            <a:endParaRPr lang="en-US" sz="2200" dirty="0" smtClean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 smtClean="0"/>
              <a:t>Main </a:t>
            </a:r>
            <a:r>
              <a:rPr lang="en-US" sz="2200" dirty="0"/>
              <a:t>disadvantage is added complexity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43631547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765375" y="795006"/>
            <a:ext cx="7128048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00788" y="235036"/>
            <a:ext cx="5681661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926620" y="836253"/>
            <a:ext cx="5768472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Users, Groups, and Permissions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83104" y="1367184"/>
            <a:ext cx="1173448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There </a:t>
            </a:r>
            <a:r>
              <a:rPr lang="en-US" sz="2800" dirty="0"/>
              <a:t>are two things on a Linux/UNIX system that aren't represented by files: </a:t>
            </a:r>
            <a:endParaRPr lang="en-US" sz="2800" dirty="0" smtClean="0"/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2400" dirty="0" smtClean="0"/>
              <a:t>User </a:t>
            </a:r>
            <a:r>
              <a:rPr lang="en-US" sz="2400" dirty="0"/>
              <a:t>accounts </a:t>
            </a:r>
            <a:endParaRPr lang="en-US" sz="2400" dirty="0" smtClean="0"/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2400" dirty="0" smtClean="0"/>
              <a:t>Group </a:t>
            </a:r>
            <a:r>
              <a:rPr lang="en-US" sz="2400" dirty="0"/>
              <a:t>accounts </a:t>
            </a:r>
            <a:endParaRPr lang="en-US" sz="24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/>
              <a:t> 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account </a:t>
            </a:r>
            <a:endParaRPr lang="en-US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/>
              <a:t>Represents someone or something capable of using </a:t>
            </a:r>
            <a:r>
              <a:rPr lang="en-US" sz="2800" dirty="0" smtClean="0"/>
              <a:t>files</a:t>
            </a:r>
          </a:p>
          <a:p>
            <a:pPr marL="566738" lvl="1" indent="-566738">
              <a:buFont typeface="Arial" panose="020B0604020202020204" pitchFamily="34" charset="0"/>
              <a:buChar char="•"/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account</a:t>
            </a:r>
          </a:p>
          <a:p>
            <a:pPr marL="914400" lvl="1" indent="-449263">
              <a:buFont typeface="Wingdings" panose="05000000000000000000" pitchFamily="2" charset="2"/>
              <a:buChar char="§"/>
            </a:pPr>
            <a:r>
              <a:rPr lang="en-US" sz="2800" dirty="0" smtClean="0"/>
              <a:t>A </a:t>
            </a:r>
            <a:r>
              <a:rPr lang="en-US" sz="2800" dirty="0"/>
              <a:t>list of user </a:t>
            </a:r>
            <a:r>
              <a:rPr lang="en-US" sz="2800" dirty="0" smtClean="0"/>
              <a:t>accounts</a:t>
            </a:r>
          </a:p>
          <a:p>
            <a:pPr marL="914400" lvl="1" indent="-449263">
              <a:buFont typeface="Wingdings" panose="05000000000000000000" pitchFamily="2" charset="2"/>
              <a:buChar char="§"/>
            </a:pPr>
            <a:r>
              <a:rPr lang="en-US" sz="2800" dirty="0" smtClean="0"/>
              <a:t>Each </a:t>
            </a:r>
            <a:r>
              <a:rPr lang="en-US" sz="2800" dirty="0"/>
              <a:t>user account is defined with a main group membership, but may belong to as many groups as you need it to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8812380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0" y="795006"/>
            <a:ext cx="5949763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29364" y="235035"/>
            <a:ext cx="5653086" cy="15698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671126" y="820730"/>
            <a:ext cx="4577555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Simple File Permissions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0005" y="1560482"/>
            <a:ext cx="11734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file on a UNIX system has two owners (a user &amp; a group)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dirty="0"/>
              <a:t>user and group has its own set of permissions that specify what the user or group may do with the file (read it, write to it, delete it, execute it) </a:t>
            </a:r>
            <a:endParaRPr lang="en-US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Other </a:t>
            </a:r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3200" dirty="0" smtClean="0"/>
              <a:t>User </a:t>
            </a:r>
            <a:r>
              <a:rPr lang="en-US" sz="3200" dirty="0"/>
              <a:t>accounts that don't own the file or belong to the group that owns </a:t>
            </a:r>
            <a:r>
              <a:rPr lang="en-US" sz="3200" dirty="0" smtClean="0"/>
              <a:t>it</a:t>
            </a:r>
          </a:p>
          <a:p>
            <a:pPr marL="914400" indent="-449263">
              <a:buFont typeface="Wingdings" panose="05000000000000000000" pitchFamily="2" charset="2"/>
              <a:buChar char="§"/>
            </a:pPr>
            <a:r>
              <a:rPr lang="en-US" sz="3200" dirty="0" smtClean="0"/>
              <a:t>Permissions </a:t>
            </a:r>
            <a:r>
              <a:rPr lang="en-US" sz="3200" dirty="0"/>
              <a:t>are listed in the order "user permissions group permissions, other permissions."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2386593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597887F-346F-7DBD-F61F-BDD538B3F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rganigramme : Données stockées 10"/>
          <p:cNvSpPr/>
          <p:nvPr/>
        </p:nvSpPr>
        <p:spPr>
          <a:xfrm rot="10800000">
            <a:off x="379601" y="795006"/>
            <a:ext cx="3878074" cy="56125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A65FC1F-22B0-EE8D-66DA-F323A785E957}"/>
              </a:ext>
            </a:extLst>
          </p:cNvPr>
          <p:cNvSpPr txBox="1"/>
          <p:nvPr/>
        </p:nvSpPr>
        <p:spPr>
          <a:xfrm>
            <a:off x="1476038" y="76200"/>
            <a:ext cx="8086676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sz="3200" b="1" dirty="0">
                <a:solidFill>
                  <a:srgbClr val="FF0000"/>
                </a:solidFill>
              </a:rPr>
              <a:t>Operating </a:t>
            </a:r>
            <a:r>
              <a:rPr lang="fr-FR" sz="3200" b="1" dirty="0" err="1">
                <a:solidFill>
                  <a:srgbClr val="FF0000"/>
                </a:solidFill>
              </a:rPr>
              <a:t>Systems</a:t>
            </a:r>
            <a:r>
              <a:rPr lang="fr-FR" sz="3200" b="1" dirty="0">
                <a:solidFill>
                  <a:srgbClr val="FF0000"/>
                </a:solidFill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</a:rPr>
              <a:t>Security</a:t>
            </a:r>
            <a:endParaRPr lang="en-US" sz="3600" b="1" dirty="0">
              <a:latin typeface="Constantia" panose="02030602050306030303" pitchFamily="18" charset="0"/>
              <a:cs typeface="+mj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7BED23BE-660A-6E34-2E7A-682793B302B1}"/>
              </a:ext>
            </a:extLst>
          </p:cNvPr>
          <p:cNvGrpSpPr/>
          <p:nvPr/>
        </p:nvGrpSpPr>
        <p:grpSpPr>
          <a:xfrm>
            <a:off x="56907" y="235036"/>
            <a:ext cx="1367702" cy="133643"/>
            <a:chOff x="842098" y="1109681"/>
            <a:chExt cx="1367702" cy="133643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7595CB5D-415A-7C61-D609-F6E96722B72F}"/>
                </a:ext>
              </a:extLst>
            </p:cNvPr>
            <p:cNvSpPr/>
            <p:nvPr/>
          </p:nvSpPr>
          <p:spPr>
            <a:xfrm>
              <a:off x="842098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Oval 19">
              <a:extLst>
                <a:ext uri="{FF2B5EF4-FFF2-40B4-BE49-F238E27FC236}">
                  <a16:creationId xmlns="" xmlns:a16="http://schemas.microsoft.com/office/drawing/2014/main" id="{3CBB86E3-5AF1-4FEB-7E45-9AABF671F842}"/>
                </a:ext>
              </a:extLst>
            </p:cNvPr>
            <p:cNvSpPr/>
            <p:nvPr/>
          </p:nvSpPr>
          <p:spPr>
            <a:xfrm>
              <a:off x="1101074" y="1113404"/>
              <a:ext cx="126197" cy="126197"/>
            </a:xfrm>
            <a:prstGeom prst="ellipse">
              <a:avLst/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="" xmlns:a16="http://schemas.microsoft.com/office/drawing/2014/main" id="{EB349117-EEE0-6B07-9BD3-CE3C131AA481}"/>
                </a:ext>
              </a:extLst>
            </p:cNvPr>
            <p:cNvSpPr/>
            <p:nvPr/>
          </p:nvSpPr>
          <p:spPr>
            <a:xfrm>
              <a:off x="1360050" y="1109681"/>
              <a:ext cx="849750" cy="133643"/>
            </a:xfrm>
            <a:prstGeom prst="roundRect">
              <a:avLst>
                <a:gd name="adj" fmla="val 50000"/>
              </a:avLst>
            </a:prstGeom>
            <a:grp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15" name="Rectangle: Rounded Corners 23">
            <a:extLst>
              <a:ext uri="{FF2B5EF4-FFF2-40B4-BE49-F238E27FC236}">
                <a16:creationId xmlns="" xmlns:a16="http://schemas.microsoft.com/office/drawing/2014/main" id="{85F8947A-24F9-F2EE-3B92-7A8B89D0F817}"/>
              </a:ext>
            </a:extLst>
          </p:cNvPr>
          <p:cNvSpPr/>
          <p:nvPr/>
        </p:nvSpPr>
        <p:spPr>
          <a:xfrm rot="10800000" flipH="1">
            <a:off x="6315076" y="235036"/>
            <a:ext cx="5667374" cy="129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3" name="Rectangle: Rounded Corners 23">
            <a:extLst>
              <a:ext uri="{FF2B5EF4-FFF2-40B4-BE49-F238E27FC236}">
                <a16:creationId xmlns="" xmlns:a16="http://schemas.microsoft.com/office/drawing/2014/main" id="{7875675D-B9CC-1887-1CE0-4FB3C2951B55}"/>
              </a:ext>
            </a:extLst>
          </p:cNvPr>
          <p:cNvSpPr/>
          <p:nvPr/>
        </p:nvSpPr>
        <p:spPr>
          <a:xfrm>
            <a:off x="1394792" y="6529033"/>
            <a:ext cx="1087200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: Rounded Corners 23">
            <a:extLst>
              <a:ext uri="{FF2B5EF4-FFF2-40B4-BE49-F238E27FC236}">
                <a16:creationId xmlns="" xmlns:a16="http://schemas.microsoft.com/office/drawing/2014/main" id="{D3E1F96B-E651-8900-5A71-A3CE0400BA0F}"/>
              </a:ext>
            </a:extLst>
          </p:cNvPr>
          <p:cNvSpPr/>
          <p:nvPr/>
        </p:nvSpPr>
        <p:spPr>
          <a:xfrm>
            <a:off x="-193726" y="6529032"/>
            <a:ext cx="849750" cy="133643"/>
          </a:xfrm>
          <a:prstGeom prst="roundRect">
            <a:avLst>
              <a:gd name="adj" fmla="val 50000"/>
            </a:avLst>
          </a:prstGeom>
          <a:solidFill>
            <a:schemeClr val="accent2">
              <a:alpha val="7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7" name="Regular Pentagon 16">
            <a:extLst>
              <a:ext uri="{FF2B5EF4-FFF2-40B4-BE49-F238E27FC236}">
                <a16:creationId xmlns="" xmlns:a16="http://schemas.microsoft.com/office/drawing/2014/main" id="{B0E807BF-B4B0-B65F-1696-E9D4FA6F2405}"/>
              </a:ext>
            </a:extLst>
          </p:cNvPr>
          <p:cNvSpPr/>
          <p:nvPr/>
        </p:nvSpPr>
        <p:spPr>
          <a:xfrm>
            <a:off x="689749" y="6304128"/>
            <a:ext cx="540000" cy="468000"/>
          </a:xfrm>
          <a:prstGeom prst="pentagon">
            <a:avLst/>
          </a:prstGeom>
          <a:solidFill>
            <a:schemeClr val="accent2"/>
          </a:solidFill>
          <a:ln>
            <a:noFill/>
          </a:ln>
          <a:scene3d>
            <a:camera prst="perspectiveHeroicExtremeLeftFacing"/>
            <a:lightRig rig="threePt" dir="t"/>
          </a:scene3d>
          <a:sp3d extrusionH="279400" contourW="12700">
            <a:extrusionClr>
              <a:schemeClr val="tx1"/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100" dirty="0"/>
          </a:p>
        </p:txBody>
      </p:sp>
      <p:sp>
        <p:nvSpPr>
          <p:cNvPr id="3" name="TextBox 1">
            <a:extLst>
              <a:ext uri="{FF2B5EF4-FFF2-40B4-BE49-F238E27FC236}">
                <a16:creationId xmlns="" xmlns:a16="http://schemas.microsoft.com/office/drawing/2014/main" id="{5A662463-C844-81F8-9E96-5857F99BCEBA}"/>
              </a:ext>
            </a:extLst>
          </p:cNvPr>
          <p:cNvSpPr txBox="1"/>
          <p:nvPr/>
        </p:nvSpPr>
        <p:spPr>
          <a:xfrm>
            <a:off x="1267717" y="836253"/>
            <a:ext cx="200580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0005" y="1560482"/>
            <a:ext cx="1173448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Operating </a:t>
            </a:r>
            <a:r>
              <a:rPr lang="en-US" sz="3200" dirty="0"/>
              <a:t>System </a:t>
            </a:r>
            <a:r>
              <a:rPr lang="en-US" sz="3200" dirty="0" smtClean="0"/>
              <a:t>Functions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Protected </a:t>
            </a:r>
            <a:r>
              <a:rPr lang="en-US" sz="3200" dirty="0"/>
              <a:t>Objects </a:t>
            </a:r>
            <a:endParaRPr lang="en-US" sz="3200" dirty="0" smtClean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Operating </a:t>
            </a:r>
            <a:r>
              <a:rPr lang="en-US" sz="3200" dirty="0"/>
              <a:t>system Security attack </a:t>
            </a:r>
            <a:r>
              <a:rPr lang="en-US" sz="3200" dirty="0" smtClean="0"/>
              <a:t>types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Malware Attacks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Principles </a:t>
            </a:r>
            <a:r>
              <a:rPr lang="en-US" sz="3200" dirty="0"/>
              <a:t>of Secure OS </a:t>
            </a:r>
            <a:r>
              <a:rPr lang="en-US" sz="3200" dirty="0" smtClean="0"/>
              <a:t>Design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Memory </a:t>
            </a:r>
            <a:r>
              <a:rPr lang="en-US" sz="3200" dirty="0"/>
              <a:t>and Address </a:t>
            </a:r>
            <a:r>
              <a:rPr lang="en-US" sz="3200" dirty="0" smtClean="0"/>
              <a:t>Protection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 smtClean="0"/>
              <a:t>Linux/Unix </a:t>
            </a:r>
            <a:r>
              <a:rPr lang="en-US" sz="3200" dirty="0"/>
              <a:t>Security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1159153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2687</Words>
  <Application>Microsoft Office PowerPoint</Application>
  <PresentationFormat>Grand écran</PresentationFormat>
  <Paragraphs>354</Paragraphs>
  <Slides>44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Calibri Light</vt:lpstr>
      <vt:lpstr>Constantia</vt:lpstr>
      <vt:lpstr>Courier New</vt:lpstr>
      <vt:lpstr>Segoe UI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lenovo</cp:lastModifiedBy>
  <cp:revision>3</cp:revision>
  <dcterms:created xsi:type="dcterms:W3CDTF">2026-04-25T10:44:48Z</dcterms:created>
  <dcterms:modified xsi:type="dcterms:W3CDTF">2026-04-25T10:49:10Z</dcterms:modified>
</cp:coreProperties>
</file>