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7" r:id="rId19"/>
    <p:sldId id="365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7" r:id="rId35"/>
    <p:sldId id="298" r:id="rId36"/>
    <p:sldId id="299" r:id="rId37"/>
    <p:sldId id="301" r:id="rId38"/>
    <p:sldId id="302" r:id="rId39"/>
    <p:sldId id="303" r:id="rId40"/>
    <p:sldId id="304" r:id="rId41"/>
    <p:sldId id="305" r:id="rId42"/>
    <p:sldId id="317" r:id="rId43"/>
    <p:sldId id="318" r:id="rId44"/>
    <p:sldId id="319" r:id="rId45"/>
    <p:sldId id="320" r:id="rId46"/>
    <p:sldId id="321" r:id="rId47"/>
    <p:sldId id="323" r:id="rId48"/>
    <p:sldId id="324" r:id="rId49"/>
    <p:sldId id="325" r:id="rId50"/>
    <p:sldId id="326" r:id="rId51"/>
    <p:sldId id="327" r:id="rId52"/>
    <p:sldId id="328" r:id="rId53"/>
    <p:sldId id="366" r:id="rId54"/>
    <p:sldId id="367" r:id="rId55"/>
    <p:sldId id="369" r:id="rId56"/>
    <p:sldId id="370" r:id="rId57"/>
    <p:sldId id="371" r:id="rId58"/>
    <p:sldId id="372" r:id="rId59"/>
    <p:sldId id="373" r:id="rId60"/>
    <p:sldId id="374" r:id="rId61"/>
    <p:sldId id="375" r:id="rId62"/>
    <p:sldId id="376" r:id="rId63"/>
    <p:sldId id="377" r:id="rId64"/>
    <p:sldId id="378" r:id="rId65"/>
    <p:sldId id="379" r:id="rId66"/>
    <p:sldId id="380" r:id="rId67"/>
    <p:sldId id="381" r:id="rId68"/>
    <p:sldId id="382" r:id="rId69"/>
    <p:sldId id="383" r:id="rId70"/>
    <p:sldId id="384" r:id="rId71"/>
    <p:sldId id="385" r:id="rId72"/>
    <p:sldId id="386" r:id="rId73"/>
    <p:sldId id="387" r:id="rId74"/>
    <p:sldId id="388" r:id="rId75"/>
    <p:sldId id="389" r:id="rId76"/>
    <p:sldId id="390" r:id="rId77"/>
    <p:sldId id="391" r:id="rId78"/>
    <p:sldId id="392" r:id="rId79"/>
    <p:sldId id="393" r:id="rId80"/>
    <p:sldId id="394" r:id="rId81"/>
    <p:sldId id="395" r:id="rId82"/>
    <p:sldId id="329" r:id="rId83"/>
    <p:sldId id="330" r:id="rId84"/>
    <p:sldId id="331" r:id="rId85"/>
    <p:sldId id="333" r:id="rId86"/>
    <p:sldId id="396" r:id="rId87"/>
    <p:sldId id="397" r:id="rId88"/>
    <p:sldId id="398" r:id="rId89"/>
    <p:sldId id="399" r:id="rId90"/>
    <p:sldId id="400" r:id="rId91"/>
    <p:sldId id="401" r:id="rId92"/>
    <p:sldId id="402" r:id="rId93"/>
    <p:sldId id="403" r:id="rId94"/>
    <p:sldId id="404" r:id="rId95"/>
    <p:sldId id="405" r:id="rId96"/>
    <p:sldId id="406" r:id="rId97"/>
    <p:sldId id="407" r:id="rId98"/>
    <p:sldId id="408" r:id="rId99"/>
    <p:sldId id="409" r:id="rId100"/>
    <p:sldId id="410" r:id="rId101"/>
    <p:sldId id="411" r:id="rId102"/>
    <p:sldId id="412" r:id="rId103"/>
    <p:sldId id="413" r:id="rId104"/>
    <p:sldId id="414" r:id="rId105"/>
    <p:sldId id="415" r:id="rId106"/>
    <p:sldId id="416" r:id="rId107"/>
    <p:sldId id="417" r:id="rId108"/>
    <p:sldId id="418" r:id="rId109"/>
    <p:sldId id="419" r:id="rId110"/>
    <p:sldId id="420" r:id="rId111"/>
    <p:sldId id="421" r:id="rId112"/>
    <p:sldId id="340" r:id="rId113"/>
    <p:sldId id="341" r:id="rId114"/>
    <p:sldId id="342" r:id="rId115"/>
    <p:sldId id="344" r:id="rId116"/>
    <p:sldId id="345" r:id="rId117"/>
    <p:sldId id="346" r:id="rId118"/>
    <p:sldId id="347" r:id="rId119"/>
    <p:sldId id="348" r:id="rId120"/>
    <p:sldId id="349" r:id="rId121"/>
    <p:sldId id="350" r:id="rId122"/>
    <p:sldId id="351" r:id="rId123"/>
    <p:sldId id="352" r:id="rId124"/>
    <p:sldId id="353" r:id="rId125"/>
    <p:sldId id="355" r:id="rId126"/>
    <p:sldId id="356" r:id="rId127"/>
    <p:sldId id="357" r:id="rId128"/>
    <p:sldId id="358" r:id="rId129"/>
    <p:sldId id="359" r:id="rId130"/>
    <p:sldId id="360" r:id="rId131"/>
    <p:sldId id="361" r:id="rId132"/>
    <p:sldId id="362" r:id="rId133"/>
    <p:sldId id="363" r:id="rId134"/>
    <p:sldId id="364" r:id="rId13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2EAA-819D-49A9-9F5F-EB821C4E820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65E-36B3-4202-95D7-23EFD2F21EB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21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2EAA-819D-49A9-9F5F-EB821C4E820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65E-36B3-4202-95D7-23EFD2F21EB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92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2EAA-819D-49A9-9F5F-EB821C4E820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65E-36B3-4202-95D7-23EFD2F21EB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2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2EAA-819D-49A9-9F5F-EB821C4E820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65E-36B3-4202-95D7-23EFD2F21EB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44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2EAA-819D-49A9-9F5F-EB821C4E820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65E-36B3-4202-95D7-23EFD2F21EB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38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2EAA-819D-49A9-9F5F-EB821C4E820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65E-36B3-4202-95D7-23EFD2F21EB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2EAA-819D-49A9-9F5F-EB821C4E820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65E-36B3-4202-95D7-23EFD2F21EB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2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2EAA-819D-49A9-9F5F-EB821C4E820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65E-36B3-4202-95D7-23EFD2F21EB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3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2EAA-819D-49A9-9F5F-EB821C4E820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65E-36B3-4202-95D7-23EFD2F21EB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2EAA-819D-49A9-9F5F-EB821C4E820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65E-36B3-4202-95D7-23EFD2F21EB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17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2EAA-819D-49A9-9F5F-EB821C4E820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65E-36B3-4202-95D7-23EFD2F21EB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51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8F4569B0-B7EA-412D-9E7F-53A9B56D36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08694" y="3542548"/>
            <a:ext cx="2646732" cy="2646732"/>
          </a:xfrm>
          <a:custGeom>
            <a:avLst/>
            <a:gdLst>
              <a:gd name="connsiteX0" fmla="*/ 200516 w 2646732"/>
              <a:gd name="connsiteY0" fmla="*/ 0 h 2646732"/>
              <a:gd name="connsiteX1" fmla="*/ 2446216 w 2646732"/>
              <a:gd name="connsiteY1" fmla="*/ 0 h 2646732"/>
              <a:gd name="connsiteX2" fmla="*/ 2646732 w 2646732"/>
              <a:gd name="connsiteY2" fmla="*/ 200516 h 2646732"/>
              <a:gd name="connsiteX3" fmla="*/ 2646732 w 2646732"/>
              <a:gd name="connsiteY3" fmla="*/ 2446216 h 2646732"/>
              <a:gd name="connsiteX4" fmla="*/ 2446216 w 2646732"/>
              <a:gd name="connsiteY4" fmla="*/ 2646732 h 2646732"/>
              <a:gd name="connsiteX5" fmla="*/ 200516 w 2646732"/>
              <a:gd name="connsiteY5" fmla="*/ 2646732 h 2646732"/>
              <a:gd name="connsiteX6" fmla="*/ 0 w 2646732"/>
              <a:gd name="connsiteY6" fmla="*/ 2446216 h 2646732"/>
              <a:gd name="connsiteX7" fmla="*/ 0 w 2646732"/>
              <a:gd name="connsiteY7" fmla="*/ 200516 h 2646732"/>
              <a:gd name="connsiteX8" fmla="*/ 200516 w 2646732"/>
              <a:gd name="connsiteY8" fmla="*/ 0 h 264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6732" h="2646732">
                <a:moveTo>
                  <a:pt x="200516" y="0"/>
                </a:moveTo>
                <a:lnTo>
                  <a:pt x="2446216" y="0"/>
                </a:lnTo>
                <a:cubicBezTo>
                  <a:pt x="2556958" y="0"/>
                  <a:pt x="2646732" y="89774"/>
                  <a:pt x="2646732" y="200516"/>
                </a:cubicBezTo>
                <a:lnTo>
                  <a:pt x="2646732" y="2446216"/>
                </a:lnTo>
                <a:cubicBezTo>
                  <a:pt x="2646732" y="2556958"/>
                  <a:pt x="2556958" y="2646732"/>
                  <a:pt x="2446216" y="2646732"/>
                </a:cubicBezTo>
                <a:lnTo>
                  <a:pt x="200516" y="2646732"/>
                </a:lnTo>
                <a:cubicBezTo>
                  <a:pt x="89774" y="2646732"/>
                  <a:pt x="0" y="2556958"/>
                  <a:pt x="0" y="2446216"/>
                </a:cubicBezTo>
                <a:lnTo>
                  <a:pt x="0" y="200516"/>
                </a:lnTo>
                <a:cubicBezTo>
                  <a:pt x="0" y="89774"/>
                  <a:pt x="89774" y="0"/>
                  <a:pt x="2005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69D0C755-96DA-4B6F-BE0A-5FD4DFFBA83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1597" y="1063172"/>
            <a:ext cx="2208689" cy="2208689"/>
          </a:xfrm>
          <a:custGeom>
            <a:avLst/>
            <a:gdLst>
              <a:gd name="connsiteX0" fmla="*/ 167330 w 2208689"/>
              <a:gd name="connsiteY0" fmla="*/ 0 h 2208689"/>
              <a:gd name="connsiteX1" fmla="*/ 2041359 w 2208689"/>
              <a:gd name="connsiteY1" fmla="*/ 0 h 2208689"/>
              <a:gd name="connsiteX2" fmla="*/ 2208689 w 2208689"/>
              <a:gd name="connsiteY2" fmla="*/ 167330 h 2208689"/>
              <a:gd name="connsiteX3" fmla="*/ 2208689 w 2208689"/>
              <a:gd name="connsiteY3" fmla="*/ 2041359 h 2208689"/>
              <a:gd name="connsiteX4" fmla="*/ 2041359 w 2208689"/>
              <a:gd name="connsiteY4" fmla="*/ 2208689 h 2208689"/>
              <a:gd name="connsiteX5" fmla="*/ 167330 w 2208689"/>
              <a:gd name="connsiteY5" fmla="*/ 2208689 h 2208689"/>
              <a:gd name="connsiteX6" fmla="*/ 0 w 2208689"/>
              <a:gd name="connsiteY6" fmla="*/ 2041359 h 2208689"/>
              <a:gd name="connsiteX7" fmla="*/ 0 w 2208689"/>
              <a:gd name="connsiteY7" fmla="*/ 167330 h 2208689"/>
              <a:gd name="connsiteX8" fmla="*/ 167330 w 2208689"/>
              <a:gd name="connsiteY8" fmla="*/ 0 h 220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8689" h="2208689">
                <a:moveTo>
                  <a:pt x="167330" y="0"/>
                </a:moveTo>
                <a:lnTo>
                  <a:pt x="2041359" y="0"/>
                </a:lnTo>
                <a:cubicBezTo>
                  <a:pt x="2133773" y="0"/>
                  <a:pt x="2208689" y="74916"/>
                  <a:pt x="2208689" y="167330"/>
                </a:cubicBezTo>
                <a:lnTo>
                  <a:pt x="2208689" y="2041359"/>
                </a:lnTo>
                <a:cubicBezTo>
                  <a:pt x="2208689" y="2133773"/>
                  <a:pt x="2133773" y="2208689"/>
                  <a:pt x="2041359" y="2208689"/>
                </a:cubicBezTo>
                <a:lnTo>
                  <a:pt x="167330" y="2208689"/>
                </a:lnTo>
                <a:cubicBezTo>
                  <a:pt x="74916" y="2208689"/>
                  <a:pt x="0" y="2133773"/>
                  <a:pt x="0" y="2041359"/>
                </a:cubicBezTo>
                <a:lnTo>
                  <a:pt x="0" y="167330"/>
                </a:lnTo>
                <a:cubicBezTo>
                  <a:pt x="0" y="74916"/>
                  <a:pt x="74916" y="0"/>
                  <a:pt x="1673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030FC150-F8C4-4100-AA37-23ED9E685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82522" y="668720"/>
            <a:ext cx="2646732" cy="2646732"/>
          </a:xfrm>
          <a:custGeom>
            <a:avLst/>
            <a:gdLst>
              <a:gd name="connsiteX0" fmla="*/ 200516 w 2646732"/>
              <a:gd name="connsiteY0" fmla="*/ 0 h 2646732"/>
              <a:gd name="connsiteX1" fmla="*/ 2446216 w 2646732"/>
              <a:gd name="connsiteY1" fmla="*/ 0 h 2646732"/>
              <a:gd name="connsiteX2" fmla="*/ 2646732 w 2646732"/>
              <a:gd name="connsiteY2" fmla="*/ 200516 h 2646732"/>
              <a:gd name="connsiteX3" fmla="*/ 2646732 w 2646732"/>
              <a:gd name="connsiteY3" fmla="*/ 2446216 h 2646732"/>
              <a:gd name="connsiteX4" fmla="*/ 2446216 w 2646732"/>
              <a:gd name="connsiteY4" fmla="*/ 2646732 h 2646732"/>
              <a:gd name="connsiteX5" fmla="*/ 200516 w 2646732"/>
              <a:gd name="connsiteY5" fmla="*/ 2646732 h 2646732"/>
              <a:gd name="connsiteX6" fmla="*/ 0 w 2646732"/>
              <a:gd name="connsiteY6" fmla="*/ 2446216 h 2646732"/>
              <a:gd name="connsiteX7" fmla="*/ 0 w 2646732"/>
              <a:gd name="connsiteY7" fmla="*/ 200516 h 2646732"/>
              <a:gd name="connsiteX8" fmla="*/ 200516 w 2646732"/>
              <a:gd name="connsiteY8" fmla="*/ 0 h 264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6732" h="2646732">
                <a:moveTo>
                  <a:pt x="200516" y="0"/>
                </a:moveTo>
                <a:lnTo>
                  <a:pt x="2446216" y="0"/>
                </a:lnTo>
                <a:cubicBezTo>
                  <a:pt x="2556958" y="0"/>
                  <a:pt x="2646732" y="89774"/>
                  <a:pt x="2646732" y="200516"/>
                </a:cubicBezTo>
                <a:lnTo>
                  <a:pt x="2646732" y="2446216"/>
                </a:lnTo>
                <a:cubicBezTo>
                  <a:pt x="2646732" y="2556958"/>
                  <a:pt x="2556958" y="2646732"/>
                  <a:pt x="2446216" y="2646732"/>
                </a:cubicBezTo>
                <a:lnTo>
                  <a:pt x="200516" y="2646732"/>
                </a:lnTo>
                <a:cubicBezTo>
                  <a:pt x="89774" y="2646732"/>
                  <a:pt x="0" y="2556958"/>
                  <a:pt x="0" y="2446216"/>
                </a:cubicBezTo>
                <a:lnTo>
                  <a:pt x="0" y="200516"/>
                </a:lnTo>
                <a:cubicBezTo>
                  <a:pt x="0" y="89774"/>
                  <a:pt x="89774" y="0"/>
                  <a:pt x="2005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44EA3BF0-5DA9-4233-BA6E-B6C0B9B099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57660" y="3634721"/>
            <a:ext cx="1584601" cy="1584601"/>
          </a:xfrm>
          <a:custGeom>
            <a:avLst/>
            <a:gdLst>
              <a:gd name="connsiteX0" fmla="*/ 120049 w 1584601"/>
              <a:gd name="connsiteY0" fmla="*/ 0 h 1584601"/>
              <a:gd name="connsiteX1" fmla="*/ 1464552 w 1584601"/>
              <a:gd name="connsiteY1" fmla="*/ 0 h 1584601"/>
              <a:gd name="connsiteX2" fmla="*/ 1584601 w 1584601"/>
              <a:gd name="connsiteY2" fmla="*/ 120049 h 1584601"/>
              <a:gd name="connsiteX3" fmla="*/ 1584601 w 1584601"/>
              <a:gd name="connsiteY3" fmla="*/ 1464552 h 1584601"/>
              <a:gd name="connsiteX4" fmla="*/ 1464552 w 1584601"/>
              <a:gd name="connsiteY4" fmla="*/ 1584601 h 1584601"/>
              <a:gd name="connsiteX5" fmla="*/ 120049 w 1584601"/>
              <a:gd name="connsiteY5" fmla="*/ 1584601 h 1584601"/>
              <a:gd name="connsiteX6" fmla="*/ 0 w 1584601"/>
              <a:gd name="connsiteY6" fmla="*/ 1464552 h 1584601"/>
              <a:gd name="connsiteX7" fmla="*/ 0 w 1584601"/>
              <a:gd name="connsiteY7" fmla="*/ 120049 h 1584601"/>
              <a:gd name="connsiteX8" fmla="*/ 120049 w 1584601"/>
              <a:gd name="connsiteY8" fmla="*/ 0 h 1584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4601" h="1584601">
                <a:moveTo>
                  <a:pt x="120049" y="0"/>
                </a:moveTo>
                <a:lnTo>
                  <a:pt x="1464552" y="0"/>
                </a:lnTo>
                <a:cubicBezTo>
                  <a:pt x="1530853" y="0"/>
                  <a:pt x="1584601" y="53748"/>
                  <a:pt x="1584601" y="120049"/>
                </a:cubicBezTo>
                <a:lnTo>
                  <a:pt x="1584601" y="1464552"/>
                </a:lnTo>
                <a:cubicBezTo>
                  <a:pt x="1584601" y="1530853"/>
                  <a:pt x="1530853" y="1584601"/>
                  <a:pt x="1464552" y="1584601"/>
                </a:cubicBezTo>
                <a:lnTo>
                  <a:pt x="120049" y="1584601"/>
                </a:lnTo>
                <a:cubicBezTo>
                  <a:pt x="53748" y="1584601"/>
                  <a:pt x="0" y="1530853"/>
                  <a:pt x="0" y="1464552"/>
                </a:cubicBezTo>
                <a:lnTo>
                  <a:pt x="0" y="120049"/>
                </a:lnTo>
                <a:cubicBezTo>
                  <a:pt x="0" y="53748"/>
                  <a:pt x="53748" y="0"/>
                  <a:pt x="12004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9002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52EAA-819D-49A9-9F5F-EB821C4E820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A565E-36B3-4202-95D7-23EFD2F21EB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1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2366643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2354882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2198694"/>
            <a:ext cx="57718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</p:spTree>
    <p:extLst>
      <p:ext uri="{BB962C8B-B14F-4D97-AF65-F5344CB8AC3E}">
        <p14:creationId xmlns:p14="http://schemas.microsoft.com/office/powerpoint/2010/main" val="108817249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518982"/>
            <a:ext cx="117513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1) Core idea: “Use all processes together”</a:t>
            </a:r>
          </a:p>
          <a:p>
            <a:r>
              <a:rPr lang="en-US" sz="2800" dirty="0"/>
              <a:t>The text’s main message is: you don’t build secure software by adding “a bit of security at the end.” Security is an outcome of the </a:t>
            </a:r>
            <a:r>
              <a:rPr lang="en-US" sz="2800" b="1" dirty="0"/>
              <a:t>entire lifecycle</a:t>
            </a:r>
            <a:r>
              <a:rPr lang="en-US" sz="2800" dirty="0"/>
              <a:t>, including: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Requirements</a:t>
            </a:r>
            <a:r>
              <a:rPr lang="en-US" sz="2800" dirty="0"/>
              <a:t> (what must be protected)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Design/Architecture</a:t>
            </a:r>
            <a:r>
              <a:rPr lang="en-US" sz="2800" dirty="0"/>
              <a:t> (trust boundaries, separation, attack surface)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Implementation</a:t>
            </a:r>
            <a:r>
              <a:rPr lang="en-US" sz="2800" dirty="0"/>
              <a:t> (avoid common vulnerability patterns)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Verification</a:t>
            </a:r>
            <a:r>
              <a:rPr lang="en-US" sz="2800" dirty="0"/>
              <a:t> (tests + analysis to find issues early)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Deployment &amp; Operations</a:t>
            </a:r>
            <a:r>
              <a:rPr lang="en-US" sz="2800" dirty="0"/>
              <a:t> (secure </a:t>
            </a:r>
            <a:r>
              <a:rPr lang="en-US" sz="2800" dirty="0" err="1"/>
              <a:t>config</a:t>
            </a:r>
            <a:r>
              <a:rPr lang="en-US" sz="2800" dirty="0"/>
              <a:t>, monitoring, patching) </a:t>
            </a:r>
          </a:p>
          <a:p>
            <a:r>
              <a:rPr lang="en-US" sz="2800" dirty="0"/>
              <a:t>That is </a:t>
            </a:r>
            <a:r>
              <a:rPr lang="en-US" sz="2800" b="1" dirty="0"/>
              <a:t>defense-in-breadth applied to the development process</a:t>
            </a:r>
            <a:r>
              <a:rPr lang="en-US" sz="2800" dirty="0"/>
              <a:t>: security is embedded everywhere, not concentrated in one phase. </a:t>
            </a:r>
          </a:p>
        </p:txBody>
      </p:sp>
    </p:spTree>
    <p:extLst>
      <p:ext uri="{BB962C8B-B14F-4D97-AF65-F5344CB8AC3E}">
        <p14:creationId xmlns:p14="http://schemas.microsoft.com/office/powerpoint/2010/main" val="17551763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303540"/>
            <a:ext cx="1200889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2) Why “strict waterfall” is risky</a:t>
            </a:r>
          </a:p>
          <a:p>
            <a:r>
              <a:rPr lang="en-US" sz="2800" dirty="0"/>
              <a:t>The text criticizes doing everything in a strict sequence:</a:t>
            </a:r>
            <a:br>
              <a:rPr lang="en-US" sz="2800" dirty="0"/>
            </a:br>
            <a:r>
              <a:rPr lang="en-US" sz="2800" b="1" dirty="0"/>
              <a:t>requirements → complete design → complete code → testing</a:t>
            </a:r>
            <a:r>
              <a:rPr lang="en-US" sz="2800" dirty="0"/>
              <a:t>. 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The security problem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Many risks become visible </a:t>
            </a:r>
            <a:r>
              <a:rPr lang="en-US" sz="2800" dirty="0"/>
              <a:t>only during </a:t>
            </a:r>
            <a:r>
              <a:rPr lang="en-US" sz="2800" b="1" dirty="0"/>
              <a:t>implementation</a:t>
            </a:r>
            <a:r>
              <a:rPr lang="en-US" sz="2800" dirty="0"/>
              <a:t> (e.g., session handling, access control mistakes).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assumptions </a:t>
            </a:r>
            <a:r>
              <a:rPr lang="en-US" sz="2800" dirty="0"/>
              <a:t>often turn out wrong once you start coding or integrating.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Threats</a:t>
            </a:r>
            <a:r>
              <a:rPr lang="en-US" sz="2800" dirty="0"/>
              <a:t> evolve; if you wait until the end to verify, you discover problems too late.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Conclusion: </a:t>
            </a:r>
            <a:r>
              <a:rPr lang="en-US" sz="2800" dirty="0"/>
              <a:t>secure development needs </a:t>
            </a:r>
            <a:r>
              <a:rPr lang="en-US" sz="2800" b="1" dirty="0"/>
              <a:t>feedback loops</a:t>
            </a:r>
            <a:r>
              <a:rPr lang="en-US" sz="2800" dirty="0"/>
              <a:t>—requirements, design, code, and tests must continuously inform each other. </a:t>
            </a:r>
          </a:p>
        </p:txBody>
      </p:sp>
    </p:spTree>
    <p:extLst>
      <p:ext uri="{BB962C8B-B14F-4D97-AF65-F5344CB8AC3E}">
        <p14:creationId xmlns:p14="http://schemas.microsoft.com/office/powerpoint/2010/main" val="83204320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63913" y="1176020"/>
            <a:ext cx="1196085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3) Why “integrate everything at the end” is a bad idea</a:t>
            </a:r>
          </a:p>
          <a:p>
            <a:r>
              <a:rPr lang="en-US" sz="2400" dirty="0"/>
              <a:t>A second common mistake is building components independently and </a:t>
            </a:r>
            <a:r>
              <a:rPr lang="en-US" sz="2400" dirty="0" smtClean="0"/>
              <a:t>only integrating/testing </a:t>
            </a:r>
            <a:r>
              <a:rPr lang="en-US" sz="2400" dirty="0"/>
              <a:t>them together at the very end. </a:t>
            </a:r>
          </a:p>
          <a:p>
            <a:r>
              <a:rPr lang="en-US" sz="2400" b="1" dirty="0"/>
              <a:t>Technical risks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API incompatibilities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integration bugs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unexpected behaviors </a:t>
            </a:r>
          </a:p>
          <a:p>
            <a:r>
              <a:rPr lang="en-US" sz="2400" b="1" dirty="0"/>
              <a:t>Security risks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Many security failures appear </a:t>
            </a:r>
            <a:r>
              <a:rPr lang="en-US" sz="2400" b="1" dirty="0"/>
              <a:t>between components</a:t>
            </a:r>
            <a:r>
              <a:rPr lang="en-US" sz="2400" dirty="0"/>
              <a:t>, such as: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broken authorization assumptions across services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trust errors at service boundaries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unsafe data flows </a:t>
            </a:r>
          </a:p>
          <a:p>
            <a:r>
              <a:rPr lang="en-US" sz="2400" dirty="0"/>
              <a:t>If testing happens late, fixes also happen late—more expensive and more dangerous. </a:t>
            </a:r>
            <a:br>
              <a:rPr lang="en-US" sz="2400" dirty="0"/>
            </a:br>
            <a:r>
              <a:rPr lang="en-US" sz="2400" dirty="0"/>
              <a:t>✅ This is a key reason CI exists: integrate frequently to avoid the “big surprise” at the </a:t>
            </a:r>
            <a:r>
              <a:rPr lang="en-US" sz="2400" dirty="0" smtClean="0"/>
              <a:t>end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287180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729154"/>
            <a:ext cx="117513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4) Reality: processes run in parallel</a:t>
            </a:r>
          </a:p>
          <a:p>
            <a:r>
              <a:rPr lang="en-US" sz="2400" dirty="0"/>
              <a:t>In practice, processes “bounce” information between them as new information is learned. </a:t>
            </a:r>
          </a:p>
          <a:p>
            <a:r>
              <a:rPr lang="en-US" sz="2400" b="1" dirty="0"/>
              <a:t>Simple example:</a:t>
            </a:r>
          </a:p>
          <a:p>
            <a:r>
              <a:rPr lang="en-US" sz="2400" dirty="0"/>
              <a:t>you implement a feature → discover an abuse case → go back to design → add an authorization rule → add a test.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This is normal—and it is healthy for security</a:t>
            </a:r>
          </a:p>
        </p:txBody>
      </p:sp>
    </p:spTree>
    <p:extLst>
      <p:ext uri="{BB962C8B-B14F-4D97-AF65-F5344CB8AC3E}">
        <p14:creationId xmlns:p14="http://schemas.microsoft.com/office/powerpoint/2010/main" val="104162132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513930"/>
            <a:ext cx="117513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5) Key practices explained simply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5.1 Continuous Integration (CI)</a:t>
            </a:r>
          </a:p>
          <a:p>
            <a:r>
              <a:rPr lang="en-US" sz="2400" b="1" dirty="0"/>
              <a:t>Definition:</a:t>
            </a:r>
            <a:r>
              <a:rPr lang="en-US" sz="2400" dirty="0"/>
              <a:t> frequent merges of working code + an automated pipeline (build + tests). </a:t>
            </a:r>
            <a:br>
              <a:rPr lang="en-US" sz="2400" dirty="0"/>
            </a:br>
            <a:r>
              <a:rPr lang="en-US" sz="2400" b="1" dirty="0"/>
              <a:t>Why it helps security: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detects defects and regressions early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prevents “explosive” end-of-project integration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makes it easy to run security checks on every merge (SAST, dependency scanning) </a:t>
            </a:r>
          </a:p>
          <a:p>
            <a:r>
              <a:rPr lang="en-US" sz="2400" b="1" dirty="0"/>
              <a:t>Teaching line:</a:t>
            </a:r>
            <a:r>
              <a:rPr lang="en-US" sz="2400" dirty="0"/>
              <a:t> the more often you integrate, the less hidden risk accumulates.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48177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46260" y="235035"/>
            <a:ext cx="4936190" cy="17653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513933"/>
            <a:ext cx="117513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5.2 Continuous Delivery (CD / CDE)</a:t>
            </a:r>
          </a:p>
          <a:p>
            <a:r>
              <a:rPr lang="en-US" sz="2400" b="1" dirty="0"/>
              <a:t>Definition:</a:t>
            </a:r>
            <a:r>
              <a:rPr lang="en-US" sz="2400" dirty="0"/>
              <a:t> after automated tests and quality checks, the application remains </a:t>
            </a:r>
            <a:r>
              <a:rPr lang="en-US" sz="2400" b="1" dirty="0"/>
              <a:t>production-ready</a:t>
            </a:r>
            <a:r>
              <a:rPr lang="en-US" sz="2400" dirty="0"/>
              <a:t> and can be deployed to a production-like environment. </a:t>
            </a:r>
            <a:br>
              <a:rPr lang="en-US" sz="2400" dirty="0"/>
            </a:b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Important note: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/>
              <a:t>a separate human approval step may still be required before production release. </a:t>
            </a:r>
          </a:p>
          <a:p>
            <a:r>
              <a:rPr lang="en-US" sz="2400" b="1" dirty="0"/>
              <a:t>Security impact: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continuous testing in realistic environments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fewer “surprise” releases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better release quality</a:t>
            </a:r>
          </a:p>
        </p:txBody>
      </p:sp>
    </p:spTree>
    <p:extLst>
      <p:ext uri="{BB962C8B-B14F-4D97-AF65-F5344CB8AC3E}">
        <p14:creationId xmlns:p14="http://schemas.microsoft.com/office/powerpoint/2010/main" val="279088555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50323" y="-4088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32812" y="235036"/>
            <a:ext cx="494963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506931"/>
            <a:ext cx="117513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5.3 Continuous Deployment</a:t>
            </a:r>
          </a:p>
          <a:p>
            <a:r>
              <a:rPr lang="en-US" sz="2800" b="1" dirty="0"/>
              <a:t>Definition:</a:t>
            </a:r>
            <a:r>
              <a:rPr lang="en-US" sz="2800" dirty="0"/>
              <a:t> like delivery, but it goes further: the application is deployed to production automatically once validations pass. </a:t>
            </a:r>
            <a:br>
              <a:rPr lang="en-US" sz="2800" dirty="0"/>
            </a:br>
            <a:r>
              <a:rPr lang="en-US" sz="2800" b="1" dirty="0"/>
              <a:t>Security impact:</a:t>
            </a: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requires stronger automated checks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needs guardrails (gates, monitoring, rollback)</a:t>
            </a:r>
          </a:p>
        </p:txBody>
      </p:sp>
    </p:spTree>
    <p:extLst>
      <p:ext uri="{BB962C8B-B14F-4D97-AF65-F5344CB8AC3E}">
        <p14:creationId xmlns:p14="http://schemas.microsoft.com/office/powerpoint/2010/main" val="16331897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607079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19366" y="235036"/>
            <a:ext cx="496308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443364"/>
            <a:ext cx="117513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5.4 DevOps</a:t>
            </a:r>
          </a:p>
          <a:p>
            <a:r>
              <a:rPr lang="en-US" sz="2800" b="1" dirty="0"/>
              <a:t>Definition:</a:t>
            </a:r>
            <a:r>
              <a:rPr lang="en-US" sz="2800" dirty="0"/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coordination between </a:t>
            </a:r>
            <a:r>
              <a:rPr lang="en-US" sz="2800" b="1" dirty="0"/>
              <a:t>Dev and Ops </a:t>
            </a:r>
            <a:r>
              <a:rPr lang="en-US" sz="2800" dirty="0"/>
              <a:t>to shorten development and deployment time, often using CI/CD. </a:t>
            </a:r>
            <a:br>
              <a:rPr lang="en-US" sz="2800" dirty="0"/>
            </a:br>
            <a:r>
              <a:rPr lang="en-US" sz="2800" b="1" dirty="0"/>
              <a:t>Security link:</a:t>
            </a: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better coordination reduces risky “last-minute </a:t>
            </a:r>
            <a:r>
              <a:rPr lang="en-US" sz="2800" dirty="0" err="1"/>
              <a:t>configs</a:t>
            </a:r>
            <a:r>
              <a:rPr lang="en-US" sz="2800" dirty="0"/>
              <a:t>”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supports monitoring, incident response, patching</a:t>
            </a:r>
          </a:p>
        </p:txBody>
      </p:sp>
    </p:spTree>
    <p:extLst>
      <p:ext uri="{BB962C8B-B14F-4D97-AF65-F5344CB8AC3E}">
        <p14:creationId xmlns:p14="http://schemas.microsoft.com/office/powerpoint/2010/main" val="255430297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19366" y="235036"/>
            <a:ext cx="496308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452382"/>
            <a:ext cx="117513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5.5 </a:t>
            </a:r>
            <a:r>
              <a:rPr lang="en-US" sz="2800" b="1" dirty="0" err="1">
                <a:solidFill>
                  <a:srgbClr val="C00000"/>
                </a:solidFill>
              </a:rPr>
              <a:t>DevSecOps</a:t>
            </a:r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/>
              <a:t>Definition:</a:t>
            </a:r>
            <a:r>
              <a:rPr lang="en-US" sz="2800" dirty="0"/>
              <a:t> DevOps + explicit integration of security into development and operations. </a:t>
            </a:r>
            <a:br>
              <a:rPr lang="en-US" sz="2800" dirty="0"/>
            </a:br>
            <a:r>
              <a:rPr lang="en-US" sz="2800" b="1" dirty="0"/>
              <a:t>In practice: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security scanning in CI/CD (SAST/DAST/dependency/</a:t>
            </a:r>
            <a:r>
              <a:rPr lang="en-US" sz="2800" dirty="0" err="1"/>
              <a:t>IaC</a:t>
            </a:r>
            <a:r>
              <a:rPr lang="en-US" sz="2800" dirty="0"/>
              <a:t> scans)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security gates before production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audit logs + alerting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continuous patch management </a:t>
            </a:r>
          </a:p>
        </p:txBody>
      </p:sp>
    </p:spTree>
    <p:extLst>
      <p:ext uri="{BB962C8B-B14F-4D97-AF65-F5344CB8AC3E}">
        <p14:creationId xmlns:p14="http://schemas.microsoft.com/office/powerpoint/2010/main" val="385658102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24609" y="7672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32812" y="235036"/>
            <a:ext cx="494963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6907" y="1560251"/>
            <a:ext cx="1213509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5.6 </a:t>
            </a:r>
            <a:r>
              <a:rPr lang="en-US" sz="2800" b="1" dirty="0" err="1">
                <a:solidFill>
                  <a:srgbClr val="C00000"/>
                </a:solidFill>
              </a:rPr>
              <a:t>GitOps</a:t>
            </a:r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/>
              <a:t>Definition:</a:t>
            </a:r>
            <a:r>
              <a:rPr lang="en-US" sz="2800" dirty="0"/>
              <a:t> </a:t>
            </a:r>
            <a:r>
              <a:rPr lang="en-US" sz="2800" dirty="0" err="1"/>
              <a:t>Git</a:t>
            </a:r>
            <a:r>
              <a:rPr lang="en-US" sz="2800" dirty="0"/>
              <a:t> becomes the </a:t>
            </a:r>
            <a:r>
              <a:rPr lang="en-US" sz="2800" b="1" dirty="0"/>
              <a:t>source of truth</a:t>
            </a:r>
            <a:r>
              <a:rPr lang="en-US" sz="2800" dirty="0"/>
              <a:t> for desired infrastructure (declarative), and an automated process reconciles production to match that state. </a:t>
            </a:r>
            <a:br>
              <a:rPr lang="en-US" sz="2800" dirty="0"/>
            </a:br>
            <a:r>
              <a:rPr lang="en-US" sz="2800" b="1" dirty="0"/>
              <a:t>Why it helps security: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traceability: every infra change is versioned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control: review/approval workflow for infra changes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fewer risky manual configuration changes </a:t>
            </a:r>
          </a:p>
        </p:txBody>
      </p:sp>
    </p:spTree>
    <p:extLst>
      <p:ext uri="{BB962C8B-B14F-4D97-AF65-F5344CB8AC3E}">
        <p14:creationId xmlns:p14="http://schemas.microsoft.com/office/powerpoint/2010/main" val="296731468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24609" y="8792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19366" y="235036"/>
            <a:ext cx="496308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452386"/>
            <a:ext cx="1200889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6) “Adding tools” is not enough (key message)</a:t>
            </a:r>
          </a:p>
          <a:p>
            <a:r>
              <a:rPr lang="en-US" sz="2800" dirty="0"/>
              <a:t>The text emphasizes: security tools are useful, but they cannot understand design intent or decide which data must remain confidential. They do not replace: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sound design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code review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security fundamentals </a:t>
            </a:r>
          </a:p>
          <a:p>
            <a:r>
              <a:rPr lang="en-US" sz="2800" b="1" dirty="0"/>
              <a:t>Teaching translation:</a:t>
            </a:r>
            <a:r>
              <a:rPr lang="en-US" sz="2800" dirty="0"/>
              <a:t> tools detect symptoms; humans decide what must be protected and how. </a:t>
            </a:r>
          </a:p>
        </p:txBody>
      </p:sp>
    </p:spTree>
    <p:extLst>
      <p:ext uri="{BB962C8B-B14F-4D97-AF65-F5344CB8AC3E}">
        <p14:creationId xmlns:p14="http://schemas.microsoft.com/office/powerpoint/2010/main" val="149244573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24609" y="14248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05919" y="235036"/>
            <a:ext cx="49284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667833"/>
            <a:ext cx="117513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7) How security is integrated in practice (example pipeline)</a:t>
            </a:r>
          </a:p>
          <a:p>
            <a:r>
              <a:rPr lang="en-US" sz="2800" dirty="0"/>
              <a:t>A typical secure pipeline aligned with the text: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PR / Pre-merge:</a:t>
            </a:r>
            <a:r>
              <a:rPr lang="en-US" sz="2800" dirty="0"/>
              <a:t> secrets scanning, SAST, review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CI build/tests:</a:t>
            </a:r>
            <a:r>
              <a:rPr lang="en-US" sz="2800" dirty="0"/>
              <a:t> unit/integration tests, dependency scanning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Staging:</a:t>
            </a:r>
            <a:r>
              <a:rPr lang="en-US" sz="2800" dirty="0"/>
              <a:t> DAST, authorization tests (RBAC/ownership)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Gates before production:</a:t>
            </a:r>
            <a:r>
              <a:rPr lang="en-US" sz="2800" dirty="0"/>
              <a:t> block on “Critical”; otherwise ticket + SLA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Production:</a:t>
            </a:r>
            <a:r>
              <a:rPr lang="en-US" sz="2800" dirty="0"/>
              <a:t> monitoring + alerting, audit logs, continuous patching </a:t>
            </a:r>
          </a:p>
        </p:txBody>
      </p:sp>
    </p:spTree>
    <p:extLst>
      <p:ext uri="{BB962C8B-B14F-4D97-AF65-F5344CB8AC3E}">
        <p14:creationId xmlns:p14="http://schemas.microsoft.com/office/powerpoint/2010/main" val="353279503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24609" y="14248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32812" y="235036"/>
            <a:ext cx="4949638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667835"/>
            <a:ext cx="117513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8) Final idea: continuous improvement</a:t>
            </a:r>
          </a:p>
          <a:p>
            <a:r>
              <a:rPr lang="en-US" sz="2800" dirty="0"/>
              <a:t>The text ends by pushing continuous improvement of the software and the process: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make APIs/design easy to use securely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harden the system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add/adjust verification tools and configurations so problems are caught before users see them</a:t>
            </a:r>
          </a:p>
        </p:txBody>
      </p:sp>
    </p:spTree>
    <p:extLst>
      <p:ext uri="{BB962C8B-B14F-4D97-AF65-F5344CB8AC3E}">
        <p14:creationId xmlns:p14="http://schemas.microsoft.com/office/powerpoint/2010/main" val="19227930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557388" y="-32731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32812" y="235036"/>
            <a:ext cx="494963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Using These Processes Together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2098723"/>
            <a:ext cx="1208368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3-line summary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Strict waterfall and “integrate at the end” create high risk.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CI/CD/</a:t>
            </a:r>
            <a:r>
              <a:rPr lang="en-US" sz="2800" dirty="0" err="1" smtClean="0"/>
              <a:t>DevSecOps</a:t>
            </a:r>
            <a:r>
              <a:rPr lang="en-US" sz="2800" dirty="0" smtClean="0"/>
              <a:t>/</a:t>
            </a:r>
            <a:r>
              <a:rPr lang="en-US" sz="2800" dirty="0" err="1" smtClean="0"/>
              <a:t>GitOps</a:t>
            </a:r>
            <a:r>
              <a:rPr lang="en-US" sz="2800" dirty="0" smtClean="0"/>
              <a:t> </a:t>
            </a:r>
            <a:r>
              <a:rPr lang="en-US" sz="2800" dirty="0"/>
              <a:t>enable feedback, automation, and control.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Tools help, but real security comes from processes + design + review + continuous improvement. </a:t>
            </a:r>
          </a:p>
        </p:txBody>
      </p:sp>
    </p:spTree>
    <p:extLst>
      <p:ext uri="{BB962C8B-B14F-4D97-AF65-F5344CB8AC3E}">
        <p14:creationId xmlns:p14="http://schemas.microsoft.com/office/powerpoint/2010/main" val="6885493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19365" y="235036"/>
            <a:ext cx="496308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Development Processes / Defense-in-Breadth (continued)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0005" y="1502605"/>
            <a:ext cx="11771886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1" i="0" u="none" strike="noStrike" cap="none" normalizeH="0" baseline="0" dirty="0" smtClean="0">
                <a:ln>
                  <a:noFill/>
                </a:ln>
                <a:solidFill>
                  <a:srgbClr val="2467B2"/>
                </a:solidFill>
                <a:effectLst/>
                <a:latin typeface="inherit"/>
              </a:rPr>
              <a:t>Test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True</a:t>
            </a:r>
            <a:r>
              <a:rPr kumimoji="0" lang="fr-FR" altLang="fr-FR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or False?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 To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develop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secure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software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you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should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always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rigorously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develop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all the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requirements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then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develop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your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complete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design, and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only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then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begin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implementing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the software.</a:t>
            </a:r>
            <a:endParaRPr kumimoji="0" lang="fr-FR" alt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True</a:t>
            </a:r>
            <a:endParaRPr kumimoji="0" lang="fr-FR" altLang="fr-FR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ato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False</a:t>
            </a:r>
            <a:endParaRPr kumimoji="0" lang="fr-FR" altLang="fr-F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47777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19365" y="235036"/>
            <a:ext cx="496308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Development Processes / Defense-in-Breadth (continued)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381493" y="1659291"/>
            <a:ext cx="11305511" cy="29854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fr-FR" sz="2800" b="1" dirty="0">
                <a:solidFill>
                  <a:schemeClr val="accent1">
                    <a:lumMod val="75000"/>
                  </a:schemeClr>
                </a:solidFill>
              </a:rPr>
              <a:t>Test </a:t>
            </a:r>
            <a:endParaRPr lang="en-US" altLang="fr-FR" sz="28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0"/>
            <a:r>
              <a:rPr lang="en-US" altLang="fr-FR" sz="2800" dirty="0" smtClean="0"/>
              <a:t>True </a:t>
            </a:r>
            <a:r>
              <a:rPr lang="en-US" altLang="fr-FR" sz="2800" dirty="0"/>
              <a:t>or False? To develop secure software, simply add security tools into your continuous integration pipeline.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altLang="fr-FR" sz="2800" dirty="0"/>
              <a:t>True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altLang="fr-FR" sz="2800" dirty="0"/>
              <a:t>False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fr-FR" alt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847517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05919" y="235036"/>
            <a:ext cx="502457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Development Processes / Defense-in-Breadth (continued)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231149" y="1576079"/>
            <a:ext cx="117993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dirty="0"/>
              <a:t>list doesn’t stop at deployment. If security is a </a:t>
            </a:r>
            <a:r>
              <a:rPr lang="en-US" sz="2400" b="1" dirty="0"/>
              <a:t>process</a:t>
            </a:r>
            <a:r>
              <a:rPr lang="en-US" sz="2400" dirty="0"/>
              <a:t>, then the “later life” of the software matters just as much as the build phase.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Operate &amp; Monitor (Run the system safely)</a:t>
            </a:r>
          </a:p>
          <a:p>
            <a:r>
              <a:rPr lang="en-US" sz="2400" dirty="0"/>
              <a:t>After release, you need ongoing visibility to detect risk and respond early: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Collect </a:t>
            </a:r>
            <a:r>
              <a:rPr lang="en-US" sz="2400" b="1" dirty="0"/>
              <a:t>logs, metrics, and traces</a:t>
            </a:r>
            <a:r>
              <a:rPr lang="en-US" sz="2400" dirty="0"/>
              <a:t> (authentication events, permission failures, admin actions).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Monitor for </a:t>
            </a:r>
            <a:r>
              <a:rPr lang="en-US" sz="2400" b="1" dirty="0"/>
              <a:t>abuse patterns</a:t>
            </a:r>
            <a:r>
              <a:rPr lang="en-US" sz="2400" dirty="0"/>
              <a:t> (unusual login spikes, repeated failures, suspicious API usage).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Set up </a:t>
            </a:r>
            <a:r>
              <a:rPr lang="en-US" sz="2400" b="1" dirty="0"/>
              <a:t>alerting</a:t>
            </a:r>
            <a:r>
              <a:rPr lang="en-US" sz="2400" dirty="0"/>
              <a:t> so issues are noticed quickly (not days later).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Review logs regularly and protect them (integrity + access control).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0987745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209024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207848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80752" y="2005172"/>
            <a:ext cx="5771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</a:rPr>
              <a:t>Protect, Detect, Respond</a:t>
            </a:r>
          </a:p>
        </p:txBody>
      </p:sp>
    </p:spTree>
    <p:extLst>
      <p:ext uri="{BB962C8B-B14F-4D97-AF65-F5344CB8AC3E}">
        <p14:creationId xmlns:p14="http://schemas.microsoft.com/office/powerpoint/2010/main" val="313703915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42081" y="1404128"/>
            <a:ext cx="11418226" cy="4085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1)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Why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do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we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talk about “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operations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”?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design, 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system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perfectly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unbreakable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 real production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must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realistic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assumption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Sometimes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an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attacker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will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still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break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through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fr-FR" altLang="fr-FR" sz="24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altLang="fr-FR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</a:t>
            </a:r>
            <a:r>
              <a:rPr kumimoji="0" lang="fr-FR" altLang="fr-FR" sz="2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fr-FR" altLang="fr-FR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must </a:t>
            </a:r>
            <a:r>
              <a:rPr kumimoji="0" lang="fr-FR" altLang="fr-FR" sz="2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</a:t>
            </a:r>
            <a:r>
              <a:rPr kumimoji="0" lang="fr-FR" altLang="fr-FR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5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</a:t>
            </a:r>
            <a:r>
              <a:rPr kumimoji="0" lang="fr-FR" altLang="fr-FR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25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</a:t>
            </a:r>
            <a:r>
              <a:rPr kumimoji="0" lang="fr-FR" altLang="fr-FR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fr-FR" altLang="fr-FR" sz="25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</a:t>
            </a:r>
            <a:r>
              <a:rPr kumimoji="0" lang="fr-FR" altLang="fr-FR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incident.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exactly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mindset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NIST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concurrent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the time, in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as a one-time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sequence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300000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62603" y="1471591"/>
            <a:ext cx="11904189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700" b="1" dirty="0">
                <a:solidFill>
                  <a:srgbClr val="FF0000"/>
                </a:solidFill>
              </a:rPr>
              <a:t>2) The 5 NIST functions (and what they mean in practice)</a:t>
            </a:r>
          </a:p>
          <a:p>
            <a:r>
              <a:rPr lang="en-US" sz="2700" b="1" dirty="0">
                <a:solidFill>
                  <a:srgbClr val="C00000"/>
                </a:solidFill>
              </a:rPr>
              <a:t>A) Identify</a:t>
            </a:r>
          </a:p>
          <a:p>
            <a:r>
              <a:rPr lang="en-US" sz="2700" b="1" dirty="0"/>
              <a:t>Goal:</a:t>
            </a:r>
            <a:r>
              <a:rPr lang="en-US" sz="2700" dirty="0"/>
              <a:t> build a clear understanding of what must be protected and what risks exist.</a:t>
            </a:r>
            <a:br>
              <a:rPr lang="en-US" sz="2700" dirty="0"/>
            </a:br>
            <a:r>
              <a:rPr lang="en-US" sz="2700" dirty="0"/>
              <a:t>In practice: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700" dirty="0"/>
              <a:t>inventory of </a:t>
            </a:r>
            <a:r>
              <a:rPr lang="en-US" sz="2700" b="1" dirty="0"/>
              <a:t>assets</a:t>
            </a:r>
            <a:r>
              <a:rPr lang="en-US" sz="2700" dirty="0"/>
              <a:t> (servers, databases, admin accounts, sensitive data)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700" dirty="0"/>
              <a:t>data classification (medical/financial, etc.)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700" dirty="0"/>
              <a:t>dependencies and external services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700" dirty="0"/>
              <a:t>attacker models + abuse scenarios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700" dirty="0"/>
              <a:t>roles and responsibilities (who does what during an incident) </a:t>
            </a:r>
          </a:p>
          <a:p>
            <a:r>
              <a:rPr lang="en-US" sz="2700" dirty="0"/>
              <a:t>👉 Without </a:t>
            </a:r>
            <a:r>
              <a:rPr lang="en-US" sz="2700" b="1" dirty="0"/>
              <a:t>Identify</a:t>
            </a:r>
            <a:r>
              <a:rPr lang="en-US" sz="2700" dirty="0"/>
              <a:t>, you end up protecting the wrong things or protecting “randomly.”</a:t>
            </a:r>
          </a:p>
        </p:txBody>
      </p:sp>
    </p:spTree>
    <p:extLst>
      <p:ext uri="{BB962C8B-B14F-4D97-AF65-F5344CB8AC3E}">
        <p14:creationId xmlns:p14="http://schemas.microsoft.com/office/powerpoint/2010/main" val="378448544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90755" y="1369924"/>
            <a:ext cx="1140759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B) Protect</a:t>
            </a:r>
          </a:p>
          <a:p>
            <a:r>
              <a:rPr lang="en-US" sz="2800" b="1" dirty="0"/>
              <a:t>Goal:</a:t>
            </a:r>
            <a:r>
              <a:rPr lang="en-US" sz="2800" dirty="0"/>
              <a:t> prevent attacks or reduce their likelihood, and limit impact (“reduce blast radius”).</a:t>
            </a:r>
            <a:br>
              <a:rPr lang="en-US" sz="2800" dirty="0"/>
            </a:br>
            <a:r>
              <a:rPr lang="en-US" sz="2800" dirty="0"/>
              <a:t>Examples: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access control (RBAC), MFA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encryption (TLS, encryption at rest)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input validation, protections against injection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hardening (secure-by-default), least privilege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segmentation, firewalls, WAF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secrets management (not in source code) </a:t>
            </a:r>
          </a:p>
          <a:p>
            <a:r>
              <a:rPr lang="en-US" sz="2800" dirty="0"/>
              <a:t>👉 Protect is the “barrier,” but </a:t>
            </a:r>
            <a:r>
              <a:rPr lang="en-US" sz="2800" b="1" dirty="0"/>
              <a:t>no barrier is perfect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081696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04202" y="1408656"/>
            <a:ext cx="1140759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C) Detect</a:t>
            </a:r>
          </a:p>
          <a:p>
            <a:r>
              <a:rPr lang="en-US" sz="2800" b="1" dirty="0"/>
              <a:t>Goal:</a:t>
            </a:r>
            <a:r>
              <a:rPr lang="en-US" sz="2800" dirty="0"/>
              <a:t> notice that something abnormal or malicious is happening.</a:t>
            </a:r>
            <a:br>
              <a:rPr lang="en-US" sz="2800" dirty="0"/>
            </a:br>
            <a:r>
              <a:rPr lang="en-US" sz="2800" dirty="0"/>
              <a:t>Examples: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logs (authentication, medical-record access, admin actions)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monitoring and alerting (error spikes, unusual behavior)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brute-force detection (many login failures), anomaly detection (mass downloads)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integrity checks (unexpected file changes), security alerts </a:t>
            </a:r>
          </a:p>
          <a:p>
            <a:r>
              <a:rPr lang="en-US" sz="2800" dirty="0"/>
              <a:t>👉 Without </a:t>
            </a:r>
            <a:r>
              <a:rPr lang="en-US" sz="2800" b="1" dirty="0"/>
              <a:t>Detect</a:t>
            </a:r>
            <a:r>
              <a:rPr lang="en-US" sz="2800" dirty="0"/>
              <a:t>, you can be compromised </a:t>
            </a:r>
            <a:r>
              <a:rPr lang="en-US" sz="2800" b="1" dirty="0"/>
              <a:t>without even knowing it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23059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78981" y="1420416"/>
            <a:ext cx="1163110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D) Respond</a:t>
            </a:r>
          </a:p>
          <a:p>
            <a:r>
              <a:rPr lang="en-US" sz="2800" b="1" dirty="0"/>
              <a:t>Goal:</a:t>
            </a:r>
            <a:r>
              <a:rPr lang="en-US" sz="2800" dirty="0"/>
              <a:t> act quickly once an incident is detected to limit damage.</a:t>
            </a:r>
            <a:br>
              <a:rPr lang="en-US" sz="2800" dirty="0"/>
            </a:br>
            <a:r>
              <a:rPr lang="en-US" sz="2800" dirty="0"/>
              <a:t>Examples: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containment: lock an account, revoke a token, rate-limit/block an endpoint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rapid analysis: what happened, when, who, impact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communication: internal teams, users if necessary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immediate fixes: patch, configuration change, key rotation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evidence collection (without focusing on attacker “how-to” details) </a:t>
            </a:r>
          </a:p>
          <a:p>
            <a:r>
              <a:rPr lang="en-US" sz="2800" dirty="0"/>
              <a:t>👉 Respond means </a:t>
            </a:r>
            <a:r>
              <a:rPr lang="en-US" sz="2800" b="1" dirty="0"/>
              <a:t>reducing impact</a:t>
            </a:r>
            <a:r>
              <a:rPr lang="en-US" sz="2800" dirty="0"/>
              <a:t> and regaining control.</a:t>
            </a:r>
          </a:p>
        </p:txBody>
      </p:sp>
    </p:spTree>
    <p:extLst>
      <p:ext uri="{BB962C8B-B14F-4D97-AF65-F5344CB8AC3E}">
        <p14:creationId xmlns:p14="http://schemas.microsoft.com/office/powerpoint/2010/main" val="324330227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cxnSp>
        <p:nvCxnSpPr>
          <p:cNvPr id="17" name="Connecteur droit 16"/>
          <p:cNvCxnSpPr/>
          <p:nvPr/>
        </p:nvCxnSpPr>
        <p:spPr>
          <a:xfrm>
            <a:off x="1219589" y="3253316"/>
            <a:ext cx="0" cy="687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78981" y="1435723"/>
            <a:ext cx="1140759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E) Recover</a:t>
            </a:r>
          </a:p>
          <a:p>
            <a:r>
              <a:rPr lang="en-US" sz="2800" b="1" dirty="0"/>
              <a:t>Goal:</a:t>
            </a:r>
            <a:r>
              <a:rPr lang="en-US" sz="2800" dirty="0"/>
              <a:t> restore services and strengthen resilience.</a:t>
            </a:r>
            <a:br>
              <a:rPr lang="en-US" sz="2800" dirty="0"/>
            </a:br>
            <a:r>
              <a:rPr lang="en-US" sz="2800" dirty="0"/>
              <a:t>Examples: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restore from backups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gradual service restoration + validation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post-mortem / lessons learned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process improvements (new controls, new tests, hardening) </a:t>
            </a:r>
          </a:p>
          <a:p>
            <a:r>
              <a:rPr lang="en-US" sz="2800" dirty="0"/>
              <a:t>👉 Recover means returning to normal </a:t>
            </a:r>
            <a:r>
              <a:rPr lang="en-US" sz="2800" b="1" dirty="0"/>
              <a:t>and</a:t>
            </a:r>
            <a:r>
              <a:rPr lang="en-US" sz="2800" dirty="0"/>
              <a:t> reducing the chance of recurrence.</a:t>
            </a:r>
          </a:p>
        </p:txBody>
      </p:sp>
    </p:spTree>
    <p:extLst>
      <p:ext uri="{BB962C8B-B14F-4D97-AF65-F5344CB8AC3E}">
        <p14:creationId xmlns:p14="http://schemas.microsoft.com/office/powerpoint/2010/main" val="428825551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31149" y="1483444"/>
            <a:ext cx="1140759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3) Why many courses simplify to 3: Protect / Detect / Respond</a:t>
            </a:r>
          </a:p>
          <a:p>
            <a:r>
              <a:rPr lang="en-US" sz="2800" dirty="0"/>
              <a:t>In many teaching contexts, the five functions are grouped: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Identify</a:t>
            </a:r>
            <a:r>
              <a:rPr lang="en-US" sz="2800" dirty="0"/>
              <a:t> is treated as part of </a:t>
            </a:r>
            <a:r>
              <a:rPr lang="en-US" sz="2800" b="1" dirty="0"/>
              <a:t>Protect</a:t>
            </a:r>
            <a:r>
              <a:rPr lang="en-US" sz="2800" dirty="0"/>
              <a:t> (you cannot protect well unless you first identify assets and risks)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Recover</a:t>
            </a:r>
            <a:r>
              <a:rPr lang="en-US" sz="2800" dirty="0"/>
              <a:t> is treated as part of </a:t>
            </a:r>
            <a:r>
              <a:rPr lang="en-US" sz="2800" b="1" dirty="0"/>
              <a:t>Respond</a:t>
            </a:r>
            <a:r>
              <a:rPr lang="en-US" sz="2800" dirty="0"/>
              <a:t> (response includes restoring service and improving resilience) </a:t>
            </a:r>
          </a:p>
          <a:p>
            <a:r>
              <a:rPr lang="en-US" sz="2800" dirty="0"/>
              <a:t>So you teach a simple triangle: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Protect:</a:t>
            </a:r>
            <a:r>
              <a:rPr lang="en-US" sz="2800" dirty="0"/>
              <a:t> prevent / reduce likelihood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Detect:</a:t>
            </a:r>
            <a:r>
              <a:rPr lang="en-US" sz="2800" dirty="0"/>
              <a:t> notice quickly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Respond:</a:t>
            </a:r>
            <a:r>
              <a:rPr lang="en-US" sz="2800" dirty="0"/>
              <a:t> contain + fix + restore</a:t>
            </a:r>
          </a:p>
        </p:txBody>
      </p:sp>
    </p:spTree>
    <p:extLst>
      <p:ext uri="{BB962C8B-B14F-4D97-AF65-F5344CB8AC3E}">
        <p14:creationId xmlns:p14="http://schemas.microsoft.com/office/powerpoint/2010/main" val="337459401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31149" y="1626766"/>
            <a:ext cx="1140759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4) Why balance is essential (very important)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Protect only:</a:t>
            </a:r>
            <a:r>
              <a:rPr lang="en-US" sz="2800" dirty="0"/>
              <a:t> if the attacker breaks through, they can operate for a long time without being noticed.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Detect/Recover only without Protect:</a:t>
            </a:r>
            <a:r>
              <a:rPr lang="en-US" sz="2800" dirty="0"/>
              <a:t> you spend all your time firefighting; the system becomes unreliable and people lose trust.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Recover without Detect:</a:t>
            </a:r>
            <a:r>
              <a:rPr lang="en-US" sz="2800" dirty="0"/>
              <a:t> recovery is useless if you don’t know when an incident happened. </a:t>
            </a:r>
          </a:p>
          <a:p>
            <a:r>
              <a:rPr lang="en-US" sz="2800" dirty="0"/>
              <a:t>👉 A resilient system needs </a:t>
            </a:r>
            <a:r>
              <a:rPr lang="en-US" sz="2800" b="1" dirty="0"/>
              <a:t>all three</a:t>
            </a:r>
            <a:r>
              <a:rPr lang="en-US" sz="2800" dirty="0"/>
              <a:t> together.</a:t>
            </a:r>
          </a:p>
        </p:txBody>
      </p:sp>
    </p:spTree>
    <p:extLst>
      <p:ext uri="{BB962C8B-B14F-4D97-AF65-F5344CB8AC3E}">
        <p14:creationId xmlns:p14="http://schemas.microsoft.com/office/powerpoint/2010/main" val="30805920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51343" y="1435723"/>
            <a:ext cx="1140759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5) Quick </a:t>
            </a:r>
            <a:r>
              <a:rPr lang="fr-FR" sz="2800" b="1" dirty="0" err="1">
                <a:solidFill>
                  <a:srgbClr val="FF0000"/>
                </a:solidFill>
              </a:rPr>
              <a:t>example</a:t>
            </a:r>
            <a:r>
              <a:rPr lang="fr-FR" sz="2800" b="1" dirty="0">
                <a:solidFill>
                  <a:srgbClr val="FF0000"/>
                </a:solidFill>
              </a:rPr>
              <a:t> (</a:t>
            </a:r>
            <a:r>
              <a:rPr lang="fr-FR" sz="2800" b="1" dirty="0" err="1">
                <a:solidFill>
                  <a:srgbClr val="FF0000"/>
                </a:solidFill>
              </a:rPr>
              <a:t>telemedicine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platform</a:t>
            </a:r>
            <a:r>
              <a:rPr lang="fr-FR" sz="2800" b="1" dirty="0">
                <a:solidFill>
                  <a:srgbClr val="FF0000"/>
                </a:solidFill>
              </a:rPr>
              <a:t>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err="1"/>
              <a:t>Protect</a:t>
            </a:r>
            <a:r>
              <a:rPr lang="fr-FR" sz="2800" b="1" dirty="0"/>
              <a:t>:</a:t>
            </a:r>
            <a:r>
              <a:rPr lang="fr-FR" sz="2800" dirty="0"/>
              <a:t> MFA for </a:t>
            </a:r>
            <a:r>
              <a:rPr lang="fr-FR" sz="2800" dirty="0" err="1"/>
              <a:t>doctors</a:t>
            </a:r>
            <a:r>
              <a:rPr lang="fr-FR" sz="2800" dirty="0"/>
              <a:t>, RBAC, TLS, </a:t>
            </a:r>
            <a:r>
              <a:rPr lang="fr-FR" sz="2800" dirty="0" err="1"/>
              <a:t>database</a:t>
            </a:r>
            <a:r>
              <a:rPr lang="fr-FR" sz="2800" dirty="0"/>
              <a:t> </a:t>
            </a:r>
            <a:r>
              <a:rPr lang="fr-FR" sz="2800" dirty="0" err="1"/>
              <a:t>encryption</a:t>
            </a:r>
            <a:r>
              <a:rPr lang="fr-FR" sz="2800" dirty="0"/>
              <a:t>, input validation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err="1"/>
              <a:t>Detect</a:t>
            </a:r>
            <a:r>
              <a:rPr lang="fr-FR" sz="2800" b="1" dirty="0"/>
              <a:t>:</a:t>
            </a:r>
            <a:r>
              <a:rPr lang="fr-FR" sz="2800" dirty="0"/>
              <a:t> logs for patient record </a:t>
            </a:r>
            <a:r>
              <a:rPr lang="fr-FR" sz="2800" dirty="0" err="1"/>
              <a:t>access</a:t>
            </a:r>
            <a:r>
              <a:rPr lang="fr-FR" sz="2800" dirty="0"/>
              <a:t>, </a:t>
            </a:r>
            <a:r>
              <a:rPr lang="fr-FR" sz="2800" dirty="0" err="1"/>
              <a:t>alerts</a:t>
            </a:r>
            <a:r>
              <a:rPr lang="fr-FR" sz="2800" dirty="0"/>
              <a:t> for mass </a:t>
            </a:r>
            <a:r>
              <a:rPr lang="fr-FR" sz="2800" dirty="0" err="1"/>
              <a:t>downloads</a:t>
            </a:r>
            <a:r>
              <a:rPr lang="fr-FR" sz="2800" dirty="0"/>
              <a:t>, brute-force </a:t>
            </a:r>
            <a:r>
              <a:rPr lang="fr-FR" sz="2800" dirty="0" err="1"/>
              <a:t>detection</a:t>
            </a:r>
            <a:r>
              <a:rPr lang="fr-FR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err="1"/>
              <a:t>Respond</a:t>
            </a:r>
            <a:r>
              <a:rPr lang="fr-FR" sz="2800" b="1" dirty="0"/>
              <a:t>:</a:t>
            </a:r>
            <a:r>
              <a:rPr lang="fr-FR" sz="2800" dirty="0"/>
              <a:t> </a:t>
            </a:r>
            <a:r>
              <a:rPr lang="fr-FR" sz="2800" dirty="0" err="1"/>
              <a:t>disable</a:t>
            </a:r>
            <a:r>
              <a:rPr lang="fr-FR" sz="2800" dirty="0"/>
              <a:t> </a:t>
            </a:r>
            <a:r>
              <a:rPr lang="fr-FR" sz="2800" dirty="0" err="1"/>
              <a:t>suspicious</a:t>
            </a:r>
            <a:r>
              <a:rPr lang="fr-FR" sz="2800" dirty="0"/>
              <a:t> </a:t>
            </a:r>
            <a:r>
              <a:rPr lang="fr-FR" sz="2800" dirty="0" err="1"/>
              <a:t>account</a:t>
            </a:r>
            <a:r>
              <a:rPr lang="fr-FR" sz="2800" dirty="0"/>
              <a:t>, </a:t>
            </a:r>
            <a:r>
              <a:rPr lang="fr-FR" sz="2800" dirty="0" err="1"/>
              <a:t>rotate</a:t>
            </a:r>
            <a:r>
              <a:rPr lang="fr-FR" sz="2800" dirty="0"/>
              <a:t> keys, patch, </a:t>
            </a:r>
            <a:r>
              <a:rPr lang="fr-FR" sz="2800" dirty="0" err="1"/>
              <a:t>communicate</a:t>
            </a:r>
            <a:r>
              <a:rPr lang="fr-FR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err="1"/>
              <a:t>Recover</a:t>
            </a:r>
            <a:r>
              <a:rPr lang="fr-FR" sz="2800" b="1" dirty="0"/>
              <a:t>:</a:t>
            </a:r>
            <a:r>
              <a:rPr lang="fr-FR" sz="2800" dirty="0"/>
              <a:t> restore, </a:t>
            </a:r>
            <a:r>
              <a:rPr lang="fr-FR" sz="2800" dirty="0" err="1"/>
              <a:t>integrity</a:t>
            </a:r>
            <a:r>
              <a:rPr lang="fr-FR" sz="2800" dirty="0"/>
              <a:t> </a:t>
            </a:r>
            <a:r>
              <a:rPr lang="fr-FR" sz="2800" dirty="0" err="1"/>
              <a:t>checks</a:t>
            </a:r>
            <a:r>
              <a:rPr lang="fr-FR" sz="2800" dirty="0"/>
              <a:t>, post-mortem, </a:t>
            </a:r>
            <a:r>
              <a:rPr lang="fr-FR" sz="2800" dirty="0" err="1"/>
              <a:t>hardening</a:t>
            </a:r>
            <a:r>
              <a:rPr lang="fr-FR" sz="2800" dirty="0"/>
              <a:t> </a:t>
            </a:r>
          </a:p>
          <a:p>
            <a:r>
              <a:rPr lang="fr-FR" sz="2800" b="1" dirty="0"/>
              <a:t>Minimum for </a:t>
            </a:r>
            <a:r>
              <a:rPr lang="fr-FR" sz="2800" b="1" dirty="0" err="1"/>
              <a:t>larger</a:t>
            </a:r>
            <a:r>
              <a:rPr lang="fr-FR" sz="2800" b="1" dirty="0"/>
              <a:t> applications: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err="1"/>
              <a:t>Logging</a:t>
            </a:r>
            <a:r>
              <a:rPr lang="fr-FR" sz="2800" dirty="0"/>
              <a:t> (to support </a:t>
            </a:r>
            <a:r>
              <a:rPr lang="fr-FR" sz="2800" dirty="0" err="1"/>
              <a:t>detection</a:t>
            </a:r>
            <a:r>
              <a:rPr lang="fr-FR" sz="2800" dirty="0"/>
              <a:t>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/>
              <a:t>Backups</a:t>
            </a:r>
            <a:r>
              <a:rPr lang="fr-FR" sz="2800" dirty="0"/>
              <a:t> (to support </a:t>
            </a:r>
            <a:r>
              <a:rPr lang="fr-FR" sz="2800" dirty="0" err="1"/>
              <a:t>recovery</a:t>
            </a:r>
            <a:r>
              <a:rPr lang="fr-FR" sz="2800" dirty="0"/>
              <a:t>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/>
              <a:t>Monitoring/</a:t>
            </a:r>
            <a:r>
              <a:rPr lang="fr-FR" sz="2800" b="1" dirty="0" err="1"/>
              <a:t>alerting</a:t>
            </a:r>
            <a:r>
              <a:rPr lang="fr-FR" sz="2800" dirty="0"/>
              <a:t> (</a:t>
            </a:r>
            <a:r>
              <a:rPr lang="fr-FR" sz="2800" dirty="0" err="1"/>
              <a:t>otherwise</a:t>
            </a:r>
            <a:r>
              <a:rPr lang="fr-FR" sz="2800" dirty="0"/>
              <a:t> logs are not </a:t>
            </a:r>
            <a:r>
              <a:rPr lang="fr-FR" sz="2800" dirty="0" err="1"/>
              <a:t>actionable</a:t>
            </a:r>
            <a:r>
              <a:rPr lang="fr-FR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604452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341475"/>
            <a:ext cx="1190580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Summary— </a:t>
            </a:r>
            <a:r>
              <a:rPr lang="en-US" sz="2400" b="1" dirty="0">
                <a:solidFill>
                  <a:srgbClr val="FF0000"/>
                </a:solidFill>
              </a:rPr>
              <a:t>Protect • Detect • Respond (NIST-aligned)</a:t>
            </a:r>
          </a:p>
          <a:p>
            <a:r>
              <a:rPr lang="en-US" sz="2400" b="1" dirty="0"/>
              <a:t>Title:</a:t>
            </a:r>
            <a:r>
              <a:rPr lang="en-US" sz="2400" dirty="0"/>
              <a:t> Protect, Detect, Respond — Building Resilient Security in Operations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Key idea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/>
              <a:t>Assume </a:t>
            </a:r>
            <a:r>
              <a:rPr lang="en-US" sz="2400" b="1" dirty="0"/>
              <a:t>breaches can happen</a:t>
            </a:r>
            <a:r>
              <a:rPr lang="en-US" sz="2400" dirty="0"/>
              <a:t> → security must work </a:t>
            </a:r>
            <a:r>
              <a:rPr lang="en-US" sz="2400" b="1" dirty="0"/>
              <a:t>before, during, and after</a:t>
            </a:r>
            <a:r>
              <a:rPr lang="en-US" sz="2400" dirty="0"/>
              <a:t> </a:t>
            </a:r>
            <a:r>
              <a:rPr lang="en-US" sz="2400" dirty="0" smtClean="0"/>
              <a:t>incidents.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 smtClean="0"/>
              <a:t>NIST </a:t>
            </a:r>
            <a:r>
              <a:rPr lang="en-US" sz="2400" dirty="0"/>
              <a:t>CSF has 5 continuous functions (</a:t>
            </a:r>
            <a:r>
              <a:rPr lang="en-US" sz="2400" b="1" dirty="0"/>
              <a:t>Identify, Protect, Detect, Respond, Recover</a:t>
            </a:r>
            <a:r>
              <a:rPr lang="en-US" sz="2400" dirty="0"/>
              <a:t>). 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this course: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Identify ⟶ Protect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Recover ⟶ Respond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183104" y="3649799"/>
            <a:ext cx="115561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 (</a:t>
            </a:r>
            <a:r>
              <a:rPr lang="fr-FR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Prevent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</a:t>
            </a:r>
            <a:r>
              <a:rPr lang="fr-FR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reduce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likelihood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fr-FR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blast radius)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dirty="0" err="1"/>
              <a:t>Strong</a:t>
            </a:r>
            <a:r>
              <a:rPr lang="fr-FR" sz="2400" dirty="0"/>
              <a:t> </a:t>
            </a:r>
            <a:r>
              <a:rPr lang="fr-FR" sz="2400" dirty="0" err="1"/>
              <a:t>access</a:t>
            </a:r>
            <a:r>
              <a:rPr lang="fr-FR" sz="2400" dirty="0"/>
              <a:t> control: </a:t>
            </a:r>
            <a:r>
              <a:rPr lang="fr-FR" sz="2400" b="1" dirty="0"/>
              <a:t>RBAC/ABAC</a:t>
            </a:r>
            <a:r>
              <a:rPr lang="fr-FR" sz="2400" dirty="0"/>
              <a:t>, </a:t>
            </a:r>
            <a:r>
              <a:rPr lang="fr-FR" sz="2400" b="1" dirty="0"/>
              <a:t>MFA</a:t>
            </a:r>
            <a:r>
              <a:rPr lang="fr-FR" sz="2400" dirty="0"/>
              <a:t> for sensitive </a:t>
            </a:r>
            <a:r>
              <a:rPr lang="fr-FR" sz="2400" dirty="0" err="1"/>
              <a:t>roles</a:t>
            </a:r>
            <a:r>
              <a:rPr lang="fr-FR" sz="2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dirty="0"/>
              <a:t>Secure communications &amp; </a:t>
            </a:r>
            <a:r>
              <a:rPr lang="fr-FR" sz="2400" dirty="0" err="1"/>
              <a:t>storage</a:t>
            </a:r>
            <a:r>
              <a:rPr lang="fr-FR" sz="2400" dirty="0"/>
              <a:t>: </a:t>
            </a:r>
            <a:r>
              <a:rPr lang="fr-FR" sz="2400" b="1" dirty="0"/>
              <a:t>TLS/HTTPS</a:t>
            </a:r>
            <a:r>
              <a:rPr lang="fr-FR" sz="2400" dirty="0"/>
              <a:t>, </a:t>
            </a:r>
            <a:r>
              <a:rPr lang="fr-FR" sz="2400" b="1" dirty="0" err="1"/>
              <a:t>encryption</a:t>
            </a:r>
            <a:r>
              <a:rPr lang="fr-FR" sz="2400" b="1" dirty="0"/>
              <a:t> at </a:t>
            </a:r>
            <a:r>
              <a:rPr lang="fr-FR" sz="2400" b="1" dirty="0" err="1"/>
              <a:t>rest</a:t>
            </a:r>
            <a:r>
              <a:rPr lang="fr-FR" sz="2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dirty="0" err="1"/>
              <a:t>Reduce</a:t>
            </a:r>
            <a:r>
              <a:rPr lang="fr-FR" sz="2400" dirty="0"/>
              <a:t> </a:t>
            </a:r>
            <a:r>
              <a:rPr lang="fr-FR" sz="2400" dirty="0" err="1"/>
              <a:t>common</a:t>
            </a:r>
            <a:r>
              <a:rPr lang="fr-FR" sz="2400" dirty="0"/>
              <a:t> exploits: </a:t>
            </a:r>
            <a:r>
              <a:rPr lang="fr-FR" sz="2400" b="1" dirty="0"/>
              <a:t>input validation</a:t>
            </a:r>
            <a:r>
              <a:rPr lang="fr-FR" sz="2400" dirty="0"/>
              <a:t>, </a:t>
            </a:r>
            <a:r>
              <a:rPr lang="fr-FR" sz="2400" dirty="0" err="1"/>
              <a:t>safe</a:t>
            </a:r>
            <a:r>
              <a:rPr lang="fr-FR" sz="2400" dirty="0"/>
              <a:t> defaults, least </a:t>
            </a:r>
            <a:r>
              <a:rPr lang="fr-FR" sz="2400" dirty="0" err="1"/>
              <a:t>privilege</a:t>
            </a:r>
            <a:r>
              <a:rPr lang="fr-FR" sz="2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dirty="0" err="1"/>
              <a:t>Perimeter</a:t>
            </a:r>
            <a:r>
              <a:rPr lang="fr-FR" sz="2400" dirty="0"/>
              <a:t>/abuse </a:t>
            </a:r>
            <a:r>
              <a:rPr lang="fr-FR" sz="2400" dirty="0" err="1"/>
              <a:t>controls</a:t>
            </a:r>
            <a:r>
              <a:rPr lang="fr-FR" sz="2400" dirty="0"/>
              <a:t>: </a:t>
            </a:r>
            <a:r>
              <a:rPr lang="fr-FR" sz="2400" b="1" dirty="0"/>
              <a:t>rate </a:t>
            </a:r>
            <a:r>
              <a:rPr lang="fr-FR" sz="2400" b="1" dirty="0" err="1"/>
              <a:t>limiting</a:t>
            </a:r>
            <a:r>
              <a:rPr lang="fr-FR" sz="2400" dirty="0"/>
              <a:t>, WAF, segmentation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dirty="0"/>
              <a:t>Secrets </a:t>
            </a:r>
            <a:r>
              <a:rPr lang="fr-FR" sz="2400" dirty="0" err="1"/>
              <a:t>hygiene</a:t>
            </a:r>
            <a:r>
              <a:rPr lang="fr-FR" sz="2400" dirty="0"/>
              <a:t>: </a:t>
            </a:r>
            <a:r>
              <a:rPr lang="fr-FR" sz="2400" b="1" dirty="0"/>
              <a:t>no secrets in code</a:t>
            </a:r>
            <a:r>
              <a:rPr lang="fr-FR" sz="2400" dirty="0"/>
              <a:t>, use </a:t>
            </a:r>
            <a:r>
              <a:rPr lang="fr-FR" sz="2400" dirty="0" err="1"/>
              <a:t>secure</a:t>
            </a:r>
            <a:r>
              <a:rPr lang="fr-FR" sz="2400" dirty="0"/>
              <a:t> secret </a:t>
            </a:r>
            <a:r>
              <a:rPr lang="fr-FR" sz="2400" dirty="0" err="1"/>
              <a:t>storage</a:t>
            </a:r>
            <a:r>
              <a:rPr lang="fr-FR" sz="2400" dirty="0"/>
              <a:t>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4259999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31148" y="1215486"/>
            <a:ext cx="1196085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Summary— </a:t>
            </a:r>
            <a:r>
              <a:rPr lang="en-US" sz="2400" b="1" dirty="0">
                <a:solidFill>
                  <a:srgbClr val="FF0000"/>
                </a:solidFill>
              </a:rPr>
              <a:t>Protect • Detect • Respond (NIST-aligned)</a:t>
            </a:r>
          </a:p>
          <a:p>
            <a:r>
              <a:rPr lang="en-US" sz="2400" b="1" dirty="0"/>
              <a:t>Title:</a:t>
            </a:r>
            <a:r>
              <a:rPr lang="en-US" sz="2400" dirty="0"/>
              <a:t> Protect, Detect, Respond — Building Resilient Security in Operations</a:t>
            </a:r>
          </a:p>
          <a:p>
            <a:r>
              <a:rPr lang="en-US" sz="2400" b="1" dirty="0"/>
              <a:t>Key idea</a:t>
            </a:r>
            <a:endParaRPr lang="en-US" sz="2400" dirty="0"/>
          </a:p>
          <a:p>
            <a:pPr marL="577850" indent="-577850">
              <a:buFont typeface="Wingdings" panose="05000000000000000000" pitchFamily="2" charset="2"/>
              <a:buChar char="q"/>
            </a:pPr>
            <a:r>
              <a:rPr lang="en-US" sz="2400" dirty="0"/>
              <a:t>Assume </a:t>
            </a:r>
            <a:r>
              <a:rPr lang="en-US" sz="2400" b="1" dirty="0"/>
              <a:t>breaches can happen</a:t>
            </a:r>
            <a:r>
              <a:rPr lang="en-US" sz="2400" dirty="0"/>
              <a:t> → security must work </a:t>
            </a:r>
            <a:r>
              <a:rPr lang="en-US" sz="2400" b="1" dirty="0"/>
              <a:t>before, during, and after</a:t>
            </a:r>
            <a:r>
              <a:rPr lang="en-US" sz="2400" dirty="0"/>
              <a:t> incidents. </a:t>
            </a:r>
          </a:p>
          <a:p>
            <a:pPr marL="577850" indent="-577850">
              <a:buFont typeface="Wingdings" panose="05000000000000000000" pitchFamily="2" charset="2"/>
              <a:buChar char="q"/>
              <a:tabLst>
                <a:tab pos="577850" algn="l"/>
              </a:tabLst>
            </a:pPr>
            <a:r>
              <a:rPr lang="en-US" sz="2400" dirty="0"/>
              <a:t>NIST CSF has 5 continuous functions (</a:t>
            </a:r>
            <a:r>
              <a:rPr lang="en-US" sz="2400" b="1" dirty="0"/>
              <a:t>Identify, Protect, Detect, Respond, Recover</a:t>
            </a:r>
            <a:r>
              <a:rPr lang="en-US" sz="2400" dirty="0"/>
              <a:t>). </a:t>
            </a:r>
          </a:p>
          <a:p>
            <a:pPr lvl="1"/>
            <a:r>
              <a:rPr lang="en-US" sz="2400" dirty="0"/>
              <a:t>In this course: </a:t>
            </a:r>
            <a:r>
              <a:rPr lang="en-US" sz="2400" b="1" dirty="0"/>
              <a:t>Identify ⟶ Protect</a:t>
            </a:r>
            <a:r>
              <a:rPr lang="en-US" sz="2400" dirty="0"/>
              <a:t>, </a:t>
            </a:r>
            <a:r>
              <a:rPr lang="en-US" sz="2400" b="1" dirty="0"/>
              <a:t>Recover ⟶ Respond</a:t>
            </a:r>
            <a:r>
              <a:rPr lang="en-US" sz="2400" dirty="0"/>
              <a:t>. 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257299" y="3523810"/>
            <a:ext cx="102355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 (Notice </a:t>
            </a:r>
            <a:r>
              <a:rPr lang="fr-FR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quickly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something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abnormal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happens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b="1" dirty="0"/>
              <a:t>Audit logs</a:t>
            </a:r>
            <a:r>
              <a:rPr lang="fr-FR" sz="2400" dirty="0"/>
              <a:t>: log </a:t>
            </a:r>
            <a:r>
              <a:rPr lang="fr-FR" sz="2400" dirty="0" err="1"/>
              <a:t>authentication</a:t>
            </a:r>
            <a:r>
              <a:rPr lang="fr-FR" sz="2400" dirty="0"/>
              <a:t>, record </a:t>
            </a:r>
            <a:r>
              <a:rPr lang="fr-FR" sz="2400" dirty="0" err="1"/>
              <a:t>access</a:t>
            </a:r>
            <a:r>
              <a:rPr lang="fr-FR" sz="2400" dirty="0"/>
              <a:t>, admin actions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b="1" dirty="0"/>
              <a:t>Monitoring &amp; </a:t>
            </a:r>
            <a:r>
              <a:rPr lang="fr-FR" sz="2400" b="1" dirty="0" err="1"/>
              <a:t>alerts</a:t>
            </a:r>
            <a:r>
              <a:rPr lang="fr-FR" sz="2400" dirty="0"/>
              <a:t>: </a:t>
            </a:r>
            <a:r>
              <a:rPr lang="fr-FR" sz="2400" dirty="0" err="1"/>
              <a:t>spikes</a:t>
            </a:r>
            <a:r>
              <a:rPr lang="fr-FR" sz="2400" dirty="0"/>
              <a:t> in </a:t>
            </a:r>
            <a:r>
              <a:rPr lang="fr-FR" sz="2400" dirty="0" err="1"/>
              <a:t>errors</a:t>
            </a:r>
            <a:r>
              <a:rPr lang="fr-FR" sz="2400" dirty="0"/>
              <a:t>, </a:t>
            </a:r>
            <a:r>
              <a:rPr lang="fr-FR" sz="2400" dirty="0" err="1"/>
              <a:t>unusual</a:t>
            </a:r>
            <a:r>
              <a:rPr lang="fr-FR" sz="2400" dirty="0"/>
              <a:t> </a:t>
            </a:r>
            <a:r>
              <a:rPr lang="fr-FR" sz="2400" dirty="0" err="1"/>
              <a:t>traffic</a:t>
            </a:r>
            <a:r>
              <a:rPr lang="fr-FR" sz="2400" dirty="0"/>
              <a:t> patterns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dirty="0"/>
              <a:t>Attack </a:t>
            </a:r>
            <a:r>
              <a:rPr lang="fr-FR" sz="2400" dirty="0" err="1"/>
              <a:t>indicators</a:t>
            </a:r>
            <a:r>
              <a:rPr lang="fr-FR" sz="2400" dirty="0"/>
              <a:t>: </a:t>
            </a:r>
            <a:r>
              <a:rPr lang="fr-FR" sz="2400" dirty="0" err="1"/>
              <a:t>repeated</a:t>
            </a:r>
            <a:r>
              <a:rPr lang="fr-FR" sz="2400" dirty="0"/>
              <a:t> login </a:t>
            </a:r>
            <a:r>
              <a:rPr lang="fr-FR" sz="2400" dirty="0" err="1"/>
              <a:t>failures</a:t>
            </a:r>
            <a:r>
              <a:rPr lang="fr-FR" sz="2400" dirty="0"/>
              <a:t>, mass </a:t>
            </a:r>
            <a:r>
              <a:rPr lang="fr-FR" sz="2400" dirty="0" err="1"/>
              <a:t>downloads</a:t>
            </a:r>
            <a:r>
              <a:rPr lang="fr-FR" sz="2400" dirty="0"/>
              <a:t>, </a:t>
            </a:r>
            <a:r>
              <a:rPr lang="fr-FR" sz="2400" dirty="0" err="1"/>
              <a:t>unusual</a:t>
            </a:r>
            <a:r>
              <a:rPr lang="fr-FR" sz="2400" dirty="0"/>
              <a:t> </a:t>
            </a:r>
            <a:r>
              <a:rPr lang="fr-FR" sz="2400" dirty="0" err="1"/>
              <a:t>geolocation</a:t>
            </a:r>
            <a:r>
              <a:rPr lang="fr-FR" sz="2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dirty="0" err="1"/>
              <a:t>Integrity</a:t>
            </a:r>
            <a:r>
              <a:rPr lang="fr-FR" sz="2400" dirty="0"/>
              <a:t> </a:t>
            </a:r>
            <a:r>
              <a:rPr lang="fr-FR" sz="2400" dirty="0" err="1"/>
              <a:t>signals</a:t>
            </a:r>
            <a:r>
              <a:rPr lang="fr-FR" sz="2400" dirty="0"/>
              <a:t>: </a:t>
            </a:r>
            <a:r>
              <a:rPr lang="fr-FR" sz="2400" dirty="0" err="1"/>
              <a:t>unexpected</a:t>
            </a:r>
            <a:r>
              <a:rPr lang="fr-FR" sz="2400" dirty="0"/>
              <a:t> file/config changes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dirty="0"/>
              <a:t>Goal: </a:t>
            </a:r>
            <a:r>
              <a:rPr lang="fr-FR" sz="2400" dirty="0" err="1"/>
              <a:t>reduce</a:t>
            </a:r>
            <a:r>
              <a:rPr lang="fr-FR" sz="2400" dirty="0"/>
              <a:t> </a:t>
            </a:r>
            <a:r>
              <a:rPr lang="fr-FR" sz="2400" b="1" dirty="0"/>
              <a:t>time-to-</a:t>
            </a:r>
            <a:r>
              <a:rPr lang="fr-FR" sz="2400" b="1" dirty="0" err="1"/>
              <a:t>detect</a:t>
            </a:r>
            <a:r>
              <a:rPr lang="fr-FR" sz="2400" dirty="0"/>
              <a:t> (</a:t>
            </a:r>
            <a:r>
              <a:rPr lang="fr-FR" sz="2400" dirty="0" err="1"/>
              <a:t>so</a:t>
            </a:r>
            <a:r>
              <a:rPr lang="fr-FR" sz="2400" dirty="0"/>
              <a:t> </a:t>
            </a:r>
            <a:r>
              <a:rPr lang="fr-FR" sz="2400" dirty="0" err="1"/>
              <a:t>response</a:t>
            </a:r>
            <a:r>
              <a:rPr lang="fr-FR" sz="2400" dirty="0"/>
              <a:t> </a:t>
            </a:r>
            <a:r>
              <a:rPr lang="fr-FR" sz="2400" dirty="0" err="1"/>
              <a:t>starts</a:t>
            </a:r>
            <a:r>
              <a:rPr lang="fr-FR" sz="2400" dirty="0"/>
              <a:t> </a:t>
            </a:r>
            <a:r>
              <a:rPr lang="fr-FR" sz="2400" dirty="0" err="1"/>
              <a:t>fast</a:t>
            </a:r>
            <a:r>
              <a:rPr lang="fr-FR" sz="24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21807735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31148" y="1319997"/>
            <a:ext cx="1196085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Summary— </a:t>
            </a:r>
            <a:r>
              <a:rPr lang="en-US" sz="2400" b="1" dirty="0">
                <a:solidFill>
                  <a:srgbClr val="FF0000"/>
                </a:solidFill>
              </a:rPr>
              <a:t>Protect • Detect • Respond (NIST-aligned)</a:t>
            </a:r>
          </a:p>
          <a:p>
            <a:r>
              <a:rPr lang="en-US" sz="2400" b="1" dirty="0"/>
              <a:t>Title:</a:t>
            </a:r>
            <a:r>
              <a:rPr lang="en-US" sz="2400" dirty="0"/>
              <a:t> Protect, Detect, Respond — Building Resilient Security in Operations</a:t>
            </a:r>
          </a:p>
          <a:p>
            <a:r>
              <a:rPr lang="en-US" sz="2400" b="1" dirty="0"/>
              <a:t>Key idea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Assume </a:t>
            </a:r>
            <a:r>
              <a:rPr lang="en-US" sz="2400" b="1" dirty="0"/>
              <a:t>breaches can happen</a:t>
            </a:r>
            <a:r>
              <a:rPr lang="en-US" sz="2400" dirty="0"/>
              <a:t> → security must work </a:t>
            </a:r>
            <a:r>
              <a:rPr lang="en-US" sz="2400" b="1" dirty="0"/>
              <a:t>before, during, and after</a:t>
            </a:r>
            <a:r>
              <a:rPr lang="en-US" sz="2400" dirty="0"/>
              <a:t> incidents.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NIST CSF has 5 continuous functions (</a:t>
            </a:r>
            <a:r>
              <a:rPr lang="en-US" sz="2400" b="1" dirty="0"/>
              <a:t>Identify, Protect, Detect, Respond, Recover</a:t>
            </a:r>
            <a:r>
              <a:rPr lang="en-US" sz="2400" dirty="0"/>
              <a:t>). </a:t>
            </a:r>
          </a:p>
          <a:p>
            <a:pPr lvl="1"/>
            <a:r>
              <a:rPr lang="en-US" sz="2400" dirty="0"/>
              <a:t>In this course: </a:t>
            </a:r>
            <a:r>
              <a:rPr lang="en-US" sz="2400" b="1" dirty="0"/>
              <a:t>Identify ⟶ Protect</a:t>
            </a:r>
            <a:r>
              <a:rPr lang="en-US" sz="2400" dirty="0"/>
              <a:t>, </a:t>
            </a:r>
            <a:r>
              <a:rPr lang="en-US" sz="2400" b="1" dirty="0"/>
              <a:t>Recover ⟶ Respond</a:t>
            </a:r>
            <a:r>
              <a:rPr lang="en-US" sz="2400" dirty="0"/>
              <a:t>. </a:t>
            </a:r>
            <a:endParaRPr lang="en-US" dirty="0"/>
          </a:p>
        </p:txBody>
      </p:sp>
      <p:sp>
        <p:nvSpPr>
          <p:cNvPr id="14" name="ZoneTexte 13"/>
          <p:cNvSpPr txBox="1"/>
          <p:nvPr/>
        </p:nvSpPr>
        <p:spPr>
          <a:xfrm>
            <a:off x="231149" y="3614548"/>
            <a:ext cx="116665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RESPOND (Contain damage + fix + restore service)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Containment</a:t>
            </a:r>
            <a:r>
              <a:rPr lang="en-US" sz="2400" dirty="0"/>
              <a:t>: disable account, revoke tokens, block abusive endpoints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Triage</a:t>
            </a:r>
            <a:r>
              <a:rPr lang="en-US" sz="2400" dirty="0"/>
              <a:t>: what happened, when, who/what affected, impact scope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Remediation</a:t>
            </a:r>
            <a:r>
              <a:rPr lang="en-US" sz="2400" dirty="0"/>
              <a:t>: patch, </a:t>
            </a:r>
            <a:r>
              <a:rPr lang="en-US" sz="2400" dirty="0" err="1"/>
              <a:t>config</a:t>
            </a:r>
            <a:r>
              <a:rPr lang="en-US" sz="2400" dirty="0"/>
              <a:t> fix, </a:t>
            </a:r>
            <a:r>
              <a:rPr lang="en-US" sz="2400" b="1" dirty="0"/>
              <a:t>rotate keys/secrets</a:t>
            </a:r>
            <a:r>
              <a:rPr lang="en-US" sz="2400" dirty="0"/>
              <a:t>, strengthen controls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Recovery actions</a:t>
            </a:r>
            <a:r>
              <a:rPr lang="en-US" sz="2400" dirty="0"/>
              <a:t>: restore from backups, validate integrity, gradual rollback/roll-forward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Post-incident</a:t>
            </a:r>
            <a:r>
              <a:rPr lang="en-US" sz="2400" dirty="0"/>
              <a:t>: root cause analysis + improvements (hardening, new tests, better alerts)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7141899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31148" y="1399811"/>
            <a:ext cx="1203564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Summary— </a:t>
            </a:r>
            <a:r>
              <a:rPr lang="en-US" sz="2400" b="1" dirty="0">
                <a:solidFill>
                  <a:srgbClr val="FF0000"/>
                </a:solidFill>
              </a:rPr>
              <a:t>Protect • Detect • Respond (NIST-aligned)</a:t>
            </a:r>
          </a:p>
          <a:p>
            <a:r>
              <a:rPr lang="en-US" sz="2400" b="1" dirty="0"/>
              <a:t>Title:</a:t>
            </a:r>
            <a:r>
              <a:rPr lang="en-US" sz="2400" dirty="0"/>
              <a:t> Protect, Detect, Respond — Building Resilient Security in Operations</a:t>
            </a:r>
          </a:p>
          <a:p>
            <a:r>
              <a:rPr lang="en-US" sz="2400" b="1" dirty="0"/>
              <a:t>Key idea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Assume </a:t>
            </a:r>
            <a:r>
              <a:rPr lang="en-US" sz="2400" b="1" dirty="0"/>
              <a:t>breaches can happen</a:t>
            </a:r>
            <a:r>
              <a:rPr lang="en-US" sz="2400" dirty="0"/>
              <a:t> → security must work </a:t>
            </a:r>
            <a:r>
              <a:rPr lang="en-US" sz="2400" b="1" dirty="0"/>
              <a:t>before, during, and after</a:t>
            </a:r>
            <a:r>
              <a:rPr lang="en-US" sz="2400" dirty="0"/>
              <a:t> incidents.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NIST CSF has 5 continuous functions (</a:t>
            </a:r>
            <a:r>
              <a:rPr lang="en-US" sz="2400" b="1" dirty="0"/>
              <a:t>Identify, Protect, Detect, Respond, Recover</a:t>
            </a:r>
            <a:r>
              <a:rPr lang="en-US" sz="2400" dirty="0"/>
              <a:t>). </a:t>
            </a:r>
          </a:p>
          <a:p>
            <a:pPr lvl="1"/>
            <a:r>
              <a:rPr lang="en-US" sz="2400" dirty="0"/>
              <a:t>In this course: </a:t>
            </a:r>
            <a:r>
              <a:rPr lang="en-US" sz="2400" b="1" dirty="0"/>
              <a:t>Identify ⟶ Protect</a:t>
            </a:r>
            <a:r>
              <a:rPr lang="en-US" sz="2400" dirty="0"/>
              <a:t>, </a:t>
            </a:r>
            <a:r>
              <a:rPr lang="en-US" sz="2400" b="1" dirty="0"/>
              <a:t>Recover ⟶ Respond</a:t>
            </a:r>
            <a:r>
              <a:rPr lang="en-US" sz="2400" dirty="0"/>
              <a:t>. 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231149" y="3666379"/>
            <a:ext cx="111199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balance matters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Protect only → attacker can operate silently if they break through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Detect/Respond without Protect → constant firefighting, low trust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Recover without Detect → you may not know </a:t>
            </a:r>
            <a:r>
              <a:rPr lang="en-US" sz="2400" i="1" dirty="0"/>
              <a:t>when</a:t>
            </a:r>
            <a:r>
              <a:rPr lang="en-US" sz="2400" dirty="0"/>
              <a:t> to recover </a:t>
            </a:r>
          </a:p>
          <a:p>
            <a:r>
              <a:rPr lang="en-US" sz="2400" b="1" dirty="0"/>
              <a:t>Minimum for serious systems</a:t>
            </a:r>
            <a:endParaRPr lang="en-US" sz="2400" dirty="0"/>
          </a:p>
          <a:p>
            <a:r>
              <a:rPr lang="en-US" sz="2400" b="1" dirty="0"/>
              <a:t>Logging + monitoring/alerting + backups</a:t>
            </a:r>
            <a:r>
              <a:rPr lang="en-US" sz="2400" dirty="0"/>
              <a:t> (otherwise detection/response is weak)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36060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71709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135816" y="70533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32319" y="713374"/>
            <a:ext cx="577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Protect, Detect, Respond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31149" y="1700082"/>
            <a:ext cx="11827239" cy="40318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1" i="0" u="none" strike="noStrike" cap="none" normalizeH="0" baseline="0" dirty="0" smtClean="0">
                <a:ln>
                  <a:noFill/>
                </a:ln>
                <a:solidFill>
                  <a:srgbClr val="2467B2"/>
                </a:solidFill>
                <a:effectLst/>
                <a:latin typeface="Calibri (Corps)"/>
              </a:rPr>
              <a:t>Test </a:t>
            </a:r>
            <a:endParaRPr kumimoji="0" lang="fr-FR" altLang="fr-FR" sz="2800" b="1" i="0" u="none" strike="noStrike" cap="none" normalizeH="0" baseline="0" dirty="0" smtClean="0">
              <a:ln>
                <a:noFill/>
              </a:ln>
              <a:solidFill>
                <a:srgbClr val="2467B2"/>
              </a:solidFill>
              <a:effectLst/>
              <a:latin typeface="Calibri (Corp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Which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statement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best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reflects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the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relationship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between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protection,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detection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, and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response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in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security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You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need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protection,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detection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, and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response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in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security</a:t>
            </a:r>
            <a:endParaRPr kumimoji="0" lang="fr-FR" altLang="fr-FR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 (Corps)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Response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is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what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matters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in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security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;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you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can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never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protect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everything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anyway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,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so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just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focus on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response</a:t>
            </a:r>
            <a:endParaRPr kumimoji="0" lang="fr-FR" altLang="fr-FR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 (Corps)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Protection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is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what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matters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in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security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; if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your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protection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is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good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enough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,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you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don’t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need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detection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 or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Corps)"/>
              </a:rPr>
              <a:t>response</a:t>
            </a:r>
            <a:endParaRPr kumimoji="0" lang="fr-FR" alt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 (Corps)"/>
            </a:endParaRPr>
          </a:p>
        </p:txBody>
      </p:sp>
    </p:spTree>
    <p:extLst>
      <p:ext uri="{BB962C8B-B14F-4D97-AF65-F5344CB8AC3E}">
        <p14:creationId xmlns:p14="http://schemas.microsoft.com/office/powerpoint/2010/main" val="856904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209024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207848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2086526"/>
            <a:ext cx="57718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393969930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51192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51191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58213" y="608085"/>
            <a:ext cx="57718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Vulnerabilities</a:t>
            </a:r>
          </a:p>
          <a:p>
            <a:pPr algn="ctr"/>
            <a:endParaRPr lang="en-US" sz="2600" b="1" dirty="0">
              <a:solidFill>
                <a:srgbClr val="0070C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74859" y="2233534"/>
            <a:ext cx="10547843" cy="2893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31149" y="1387641"/>
            <a:ext cx="1153613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1) What is a vulnerability?</a:t>
            </a:r>
            <a:endParaRPr lang="fr-FR" sz="2400" dirty="0">
              <a:solidFill>
                <a:srgbClr val="C00000"/>
              </a:solidFill>
            </a:endParaRPr>
          </a:p>
          <a:p>
            <a:r>
              <a:rPr lang="en-US" sz="2400" dirty="0"/>
              <a:t>A </a:t>
            </a:r>
            <a:r>
              <a:rPr lang="en-US" sz="2400" b="1" dirty="0"/>
              <a:t>vulnerability</a:t>
            </a:r>
            <a:r>
              <a:rPr lang="en-US" sz="2400" dirty="0"/>
              <a:t> is a weakness in software (or a system) that can be exploited to break a security goal.</a:t>
            </a:r>
            <a:endParaRPr lang="fr-FR" sz="2400" dirty="0"/>
          </a:p>
          <a:p>
            <a:r>
              <a:rPr lang="en-US" sz="2400" dirty="0"/>
              <a:t>A very practical way to define it is:</a:t>
            </a:r>
            <a:endParaRPr lang="fr-FR" sz="2400" dirty="0"/>
          </a:p>
          <a:p>
            <a:r>
              <a:rPr lang="en-US" sz="2400" b="1" dirty="0"/>
              <a:t>A vulnerability = a failure to meet a security requirement.</a:t>
            </a:r>
            <a:r>
              <a:rPr lang="en-US" sz="2400" dirty="0"/>
              <a:t> </a:t>
            </a:r>
            <a:endParaRPr lang="fr-FR" sz="2400" dirty="0"/>
          </a:p>
          <a:p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Simple </a:t>
            </a:r>
            <a:r>
              <a:rPr lang="fr-FR" sz="2400" b="1" dirty="0" err="1">
                <a:solidFill>
                  <a:schemeClr val="accent1">
                    <a:lumMod val="75000"/>
                  </a:schemeClr>
                </a:solidFill>
              </a:rPr>
              <a:t>example</a:t>
            </a:r>
            <a:endParaRPr lang="fr-FR" sz="2400" dirty="0">
              <a:solidFill>
                <a:schemeClr val="accent1">
                  <a:lumMod val="75000"/>
                </a:schemeClr>
              </a:solidFill>
            </a:endParaRPr>
          </a:p>
          <a:p>
            <a:pPr lvl="0"/>
            <a:r>
              <a:rPr lang="en-US" sz="2400" b="1" dirty="0"/>
              <a:t>Security requirement:</a:t>
            </a:r>
            <a:r>
              <a:rPr lang="en-US" sz="2400" dirty="0"/>
              <a:t> “Only authorized doctors can access a patient’s medical record.” </a:t>
            </a:r>
            <a:endParaRPr lang="fr-FR" sz="2400" dirty="0"/>
          </a:p>
          <a:p>
            <a:pPr lvl="0"/>
            <a:r>
              <a:rPr lang="en-US" sz="2400" dirty="0"/>
              <a:t>If someone can access another patient’s record by changing an ID in a URL/request, then the requirement is not met → </a:t>
            </a:r>
            <a:r>
              <a:rPr lang="en-US" sz="2400" b="1" dirty="0"/>
              <a:t>that is a vulnerability</a:t>
            </a:r>
            <a:r>
              <a:rPr lang="en-US" sz="2400" dirty="0"/>
              <a:t>. </a:t>
            </a:r>
            <a:endParaRPr lang="fr-FR" sz="2400" dirty="0"/>
          </a:p>
          <a:p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definition is helpful in teaching because it ties vulnerabilities directly to 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requirements</a:t>
            </a: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2400" dirty="0"/>
              <a:t>if you don’t define security requirements clearly, you can’t clearly say what counts as a vulnerability.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19196132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51192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51191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848780" y="525992"/>
            <a:ext cx="57718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Reporting and Handling Vulnerabilities: A Brief Summary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74859" y="2233534"/>
            <a:ext cx="10547843" cy="2893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31149" y="1088938"/>
            <a:ext cx="11536130" cy="54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300" b="1" dirty="0">
                <a:solidFill>
                  <a:srgbClr val="C00000"/>
                </a:solidFill>
              </a:rPr>
              <a:t>2) Unintentional vs deliberate vulnerabilities</a:t>
            </a:r>
            <a:endParaRPr lang="fr-FR" sz="2300" dirty="0">
              <a:solidFill>
                <a:srgbClr val="C00000"/>
              </a:solidFill>
            </a:endParaRPr>
          </a:p>
          <a:p>
            <a:r>
              <a:rPr lang="en-US" sz="2300" b="1" dirty="0">
                <a:solidFill>
                  <a:srgbClr val="FF0000"/>
                </a:solidFill>
              </a:rPr>
              <a:t>A) Most vulnerabilities are unintentional</a:t>
            </a:r>
            <a:endParaRPr lang="fr-FR" sz="2300" dirty="0">
              <a:solidFill>
                <a:srgbClr val="FF0000"/>
              </a:solidFill>
            </a:endParaRPr>
          </a:p>
          <a:p>
            <a:r>
              <a:rPr lang="fr-FR" sz="2300" dirty="0" err="1"/>
              <a:t>They</a:t>
            </a:r>
            <a:r>
              <a:rPr lang="fr-FR" sz="2300" dirty="0"/>
              <a:t> </a:t>
            </a:r>
            <a:r>
              <a:rPr lang="fr-FR" sz="2300" dirty="0" err="1"/>
              <a:t>happen</a:t>
            </a:r>
            <a:r>
              <a:rPr lang="fr-FR" sz="2300" dirty="0"/>
              <a:t> </a:t>
            </a:r>
            <a:r>
              <a:rPr lang="fr-FR" sz="2300" dirty="0" err="1"/>
              <a:t>because</a:t>
            </a:r>
            <a:r>
              <a:rPr lang="fr-FR" sz="2300" dirty="0"/>
              <a:t> of: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300" b="1" dirty="0" err="1"/>
              <a:t>coding</a:t>
            </a:r>
            <a:r>
              <a:rPr lang="fr-FR" sz="2300" b="1" dirty="0"/>
              <a:t> bugs</a:t>
            </a:r>
            <a:r>
              <a:rPr lang="fr-FR" sz="2300" dirty="0"/>
              <a:t> (</a:t>
            </a:r>
            <a:r>
              <a:rPr lang="fr-FR" sz="2300" dirty="0" err="1"/>
              <a:t>logic</a:t>
            </a:r>
            <a:r>
              <a:rPr lang="fr-FR" sz="2300" dirty="0"/>
              <a:t> </a:t>
            </a:r>
            <a:r>
              <a:rPr lang="fr-FR" sz="2300" dirty="0" err="1"/>
              <a:t>mistakes</a:t>
            </a:r>
            <a:r>
              <a:rPr lang="fr-FR" sz="2300" dirty="0"/>
              <a:t>)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design flaws</a:t>
            </a:r>
            <a:r>
              <a:rPr lang="en-US" sz="2300" dirty="0"/>
              <a:t> (poor architecture, wrong trust boundaries, weak permissions) </a:t>
            </a:r>
            <a:endParaRPr lang="fr-FR" sz="23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misconfiguration</a:t>
            </a:r>
            <a:r>
              <a:rPr lang="en-US" sz="2300" dirty="0"/>
              <a:t> (debug enabled, overly broad access) </a:t>
            </a:r>
            <a:endParaRPr lang="fr-FR" sz="23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300" b="1" dirty="0" err="1"/>
              <a:t>vulnerable</a:t>
            </a:r>
            <a:r>
              <a:rPr lang="fr-FR" sz="2300" b="1" dirty="0"/>
              <a:t> </a:t>
            </a:r>
            <a:r>
              <a:rPr lang="fr-FR" sz="2300" b="1" dirty="0" err="1"/>
              <a:t>dependencies</a:t>
            </a:r>
            <a:r>
              <a:rPr lang="fr-FR" sz="2300" dirty="0"/>
              <a:t> (</a:t>
            </a:r>
            <a:r>
              <a:rPr lang="fr-FR" sz="2300" dirty="0" err="1"/>
              <a:t>outdated</a:t>
            </a:r>
            <a:r>
              <a:rPr lang="fr-FR" sz="2300" dirty="0"/>
              <a:t> </a:t>
            </a:r>
            <a:r>
              <a:rPr lang="fr-FR" sz="2300" dirty="0" err="1"/>
              <a:t>libraries</a:t>
            </a:r>
            <a:r>
              <a:rPr lang="fr-FR" sz="2300" dirty="0"/>
              <a:t>) </a:t>
            </a:r>
          </a:p>
          <a:p>
            <a:r>
              <a:rPr lang="en-US" sz="2300" dirty="0"/>
              <a:t>In these cases, the developer did not intend to create a security hole.</a:t>
            </a:r>
            <a:endParaRPr lang="fr-FR" sz="2300" dirty="0"/>
          </a:p>
          <a:p>
            <a:r>
              <a:rPr lang="en-US" sz="2300" b="1" dirty="0">
                <a:solidFill>
                  <a:srgbClr val="FF0000"/>
                </a:solidFill>
              </a:rPr>
              <a:t>B) Some vulnerabilities can be deliberate</a:t>
            </a:r>
            <a:endParaRPr lang="fr-FR" sz="2300" dirty="0">
              <a:solidFill>
                <a:srgbClr val="FF0000"/>
              </a:solidFill>
            </a:endParaRPr>
          </a:p>
          <a:p>
            <a:r>
              <a:rPr lang="en-US" sz="2300" dirty="0"/>
              <a:t>The text notes that vulnerabilities can sometimes be </a:t>
            </a:r>
            <a:r>
              <a:rPr lang="en-US" sz="2300" b="1" dirty="0"/>
              <a:t>intentional</a:t>
            </a:r>
            <a:r>
              <a:rPr lang="en-US" sz="2300" dirty="0"/>
              <a:t>, for example when someone inserts malicious code into software. </a:t>
            </a:r>
            <a:br>
              <a:rPr lang="en-US" sz="2300" dirty="0"/>
            </a:br>
            <a:r>
              <a:rPr lang="fr-FR" sz="2300" dirty="0"/>
              <a:t>This </a:t>
            </a:r>
            <a:r>
              <a:rPr lang="fr-FR" sz="2300" dirty="0" err="1"/>
              <a:t>can</a:t>
            </a:r>
            <a:r>
              <a:rPr lang="fr-FR" sz="2300" dirty="0"/>
              <a:t> </a:t>
            </a:r>
            <a:r>
              <a:rPr lang="fr-FR" sz="2300" dirty="0" err="1"/>
              <a:t>happen</a:t>
            </a:r>
            <a:r>
              <a:rPr lang="fr-FR" sz="2300" dirty="0"/>
              <a:t> due to: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3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insider</a:t>
            </a:r>
            <a:r>
              <a:rPr lang="fr-FR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sabotage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supply-chain compromise</a:t>
            </a:r>
            <a:r>
              <a:rPr lang="en-US" sz="2300" dirty="0"/>
              <a:t> (a dependency or build process gets altered) </a:t>
            </a:r>
            <a:endParaRPr lang="fr-FR" sz="23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intentionally adding a hidden</a:t>
            </a:r>
            <a:r>
              <a:rPr lang="en-US" sz="2300" dirty="0"/>
              <a:t> “secret access” path </a:t>
            </a:r>
            <a:endParaRPr lang="fr-FR" sz="2300" dirty="0"/>
          </a:p>
        </p:txBody>
      </p:sp>
    </p:spTree>
    <p:extLst>
      <p:ext uri="{BB962C8B-B14F-4D97-AF65-F5344CB8AC3E}">
        <p14:creationId xmlns:p14="http://schemas.microsoft.com/office/powerpoint/2010/main" val="235225446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51192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51191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58213" y="608085"/>
            <a:ext cx="57718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Vulnerabilities</a:t>
            </a:r>
          </a:p>
          <a:p>
            <a:pPr algn="ctr"/>
            <a:endParaRPr lang="en-US" sz="2600" b="1" dirty="0">
              <a:solidFill>
                <a:srgbClr val="0070C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74859" y="2233534"/>
            <a:ext cx="10547843" cy="2893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31149" y="1263976"/>
            <a:ext cx="1153613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3) Common examples: backdoor and logic bomb</a:t>
            </a:r>
          </a:p>
          <a:p>
            <a:r>
              <a:rPr lang="en-US" b="1" dirty="0">
                <a:solidFill>
                  <a:srgbClr val="FF0000"/>
                </a:solidFill>
              </a:rPr>
              <a:t>3.1 Backdoor</a:t>
            </a:r>
          </a:p>
          <a:p>
            <a:r>
              <a:rPr lang="en-US" dirty="0"/>
              <a:t>A </a:t>
            </a:r>
            <a:r>
              <a:rPr lang="en-US" b="1" dirty="0"/>
              <a:t>backdoor</a:t>
            </a:r>
            <a:r>
              <a:rPr lang="en-US" dirty="0"/>
              <a:t> is a hidden method for gaining unauthorized access. </a:t>
            </a:r>
          </a:p>
          <a:p>
            <a:r>
              <a:rPr lang="en-US" b="1" dirty="0"/>
              <a:t>Key characteristics: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is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hidden</a:t>
            </a:r>
            <a:r>
              <a:rPr lang="en-US" dirty="0"/>
              <a:t> (not documented, not visible in normal use)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allows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bypassing authentication/authorization </a:t>
            </a:r>
          </a:p>
          <a:p>
            <a:r>
              <a:rPr lang="en-US" b="1" dirty="0" smtClean="0"/>
              <a:t>Teaching-friendly </a:t>
            </a:r>
            <a:r>
              <a:rPr lang="en-US" b="1" dirty="0"/>
              <a:t>example (no technical how-to):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 secret “admin access” path triggered by a special account or hidden feature. </a:t>
            </a:r>
          </a:p>
          <a:p>
            <a:r>
              <a:rPr lang="en-US" b="1" dirty="0"/>
              <a:t>Why it is serious: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bypasses normal security controls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can be hard to detect without audits and careful review </a:t>
            </a:r>
          </a:p>
          <a:p>
            <a:r>
              <a:rPr lang="en-US" b="1" dirty="0">
                <a:solidFill>
                  <a:srgbClr val="FF0000"/>
                </a:solidFill>
              </a:rPr>
              <a:t>3.2 Logic bomb</a:t>
            </a:r>
          </a:p>
          <a:p>
            <a:r>
              <a:rPr lang="en-US" dirty="0"/>
              <a:t>A </a:t>
            </a:r>
            <a:r>
              <a:rPr lang="en-US" b="1" dirty="0"/>
              <a:t>logic bomb</a:t>
            </a:r>
            <a:r>
              <a:rPr lang="en-US" dirty="0"/>
              <a:t> is code that performs a malicious action when triggered by specific conditions (date/event/state). </a:t>
            </a:r>
          </a:p>
          <a:p>
            <a:r>
              <a:rPr lang="en-US" b="1" dirty="0"/>
              <a:t>Teaching-friendly example:</a:t>
            </a:r>
          </a:p>
          <a:p>
            <a:r>
              <a:rPr lang="en-US" dirty="0"/>
              <a:t>code that deletes or changes data when a specific date arrives or when a specific employee account is removed. </a:t>
            </a:r>
          </a:p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it is dangerous: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software can look normal for a long time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activates at a chosen time/condition, which makes it harder to anticipate </a:t>
            </a:r>
          </a:p>
        </p:txBody>
      </p:sp>
    </p:spTree>
    <p:extLst>
      <p:ext uri="{BB962C8B-B14F-4D97-AF65-F5344CB8AC3E}">
        <p14:creationId xmlns:p14="http://schemas.microsoft.com/office/powerpoint/2010/main" val="174684271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51192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51191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58213" y="608085"/>
            <a:ext cx="57718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Vulnerabilities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74859" y="2233534"/>
            <a:ext cx="10547843" cy="2893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31149" y="1356311"/>
            <a:ext cx="117513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4) Vulnerabilities are not only software</a:t>
            </a:r>
            <a:endParaRPr lang="fr-FR" sz="2400" dirty="0">
              <a:solidFill>
                <a:srgbClr val="C00000"/>
              </a:solidFill>
            </a:endParaRPr>
          </a:p>
          <a:p>
            <a:r>
              <a:rPr lang="en-US" sz="2400" dirty="0"/>
              <a:t>Even if a course focuses on software vulnerabilities, </a:t>
            </a:r>
            <a:r>
              <a:rPr lang="en-US" sz="2400" b="1" dirty="0"/>
              <a:t>hardware can also have vulnerabilities</a:t>
            </a:r>
            <a:r>
              <a:rPr lang="en-US" sz="2400" dirty="0"/>
              <a:t>. </a:t>
            </a:r>
            <a:endParaRPr lang="fr-FR" sz="2400" dirty="0"/>
          </a:p>
          <a:p>
            <a:r>
              <a:rPr lang="fr-FR" sz="2400" dirty="0" err="1"/>
              <a:t>Why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matters</a:t>
            </a:r>
            <a:r>
              <a:rPr lang="fr-FR" sz="2400" dirty="0"/>
              <a:t>:</a:t>
            </a:r>
          </a:p>
          <a:p>
            <a:pPr lvl="0"/>
            <a:r>
              <a:rPr lang="en-US" sz="2400" dirty="0"/>
              <a:t>a “perfect” application can still be impacted if the platform (hardware/firmware) has a weakness </a:t>
            </a:r>
            <a:endParaRPr lang="fr-FR" sz="2400" dirty="0"/>
          </a:p>
          <a:p>
            <a:pPr lvl="0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is a system property: software + hardware + configuration + people </a:t>
            </a:r>
            <a:endParaRPr lang="fr-FR" sz="24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5) Why are there so many known vulnerabilities today?</a:t>
            </a:r>
            <a:endParaRPr lang="fr-FR" sz="2400" dirty="0">
              <a:solidFill>
                <a:srgbClr val="C00000"/>
              </a:solidFill>
            </a:endParaRPr>
          </a:p>
          <a:p>
            <a:r>
              <a:rPr lang="en-US" sz="2400" dirty="0"/>
              <a:t>Modern society depends heavily on software (and hardware), so there has been massive growth in publicly known vulnerabilities. </a:t>
            </a:r>
            <a:endParaRPr lang="fr-FR" sz="2400" dirty="0"/>
          </a:p>
          <a:p>
            <a:r>
              <a:rPr lang="fr-F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Practical</a:t>
            </a: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reasons</a:t>
            </a: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</a:t>
            </a: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400" dirty="0"/>
              <a:t>more software, more dependencies, more complexity </a:t>
            </a:r>
            <a:endParaRPr lang="fr-FR" sz="24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400" dirty="0"/>
              <a:t>more audits, researchers, bug bounties, and automated scanners </a:t>
            </a:r>
            <a:endParaRPr lang="fr-FR" sz="24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400" dirty="0"/>
              <a:t>more public reporting and transparency (public databases, advisories)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6312727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51192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51191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58213" y="608085"/>
            <a:ext cx="57718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Vulnerabilities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74859" y="2233534"/>
            <a:ext cx="10547843" cy="2893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31149" y="1140873"/>
            <a:ext cx="1153613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6) Why can “Did you fix this vulnerability?” be surprisingly hard to answer?</a:t>
            </a:r>
          </a:p>
          <a:p>
            <a:r>
              <a:rPr lang="en-US" sz="2400" dirty="0"/>
              <a:t>Because to answer correctly, you must know: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Which vulnerability exactly</a:t>
            </a:r>
            <a:r>
              <a:rPr lang="en-US" sz="2400" dirty="0"/>
              <a:t> (precise ID, exact component)?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Which version</a:t>
            </a:r>
            <a:r>
              <a:rPr lang="en-US" sz="2400" dirty="0"/>
              <a:t> is actually running in production?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Is it in </a:t>
            </a:r>
            <a:r>
              <a:rPr lang="en-US" sz="2400" b="1" dirty="0"/>
              <a:t>our code</a:t>
            </a:r>
            <a:r>
              <a:rPr lang="en-US" sz="2400" dirty="0"/>
              <a:t> or in a </a:t>
            </a:r>
            <a:r>
              <a:rPr lang="en-US" sz="2400" b="1" dirty="0"/>
              <a:t>dependency</a:t>
            </a:r>
            <a:r>
              <a:rPr lang="en-US" sz="2400" dirty="0"/>
              <a:t>?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Has the fix been </a:t>
            </a:r>
            <a:r>
              <a:rPr lang="en-US" sz="2400" b="1" dirty="0"/>
              <a:t>tested, validated, and deployed everywhere</a:t>
            </a:r>
            <a:r>
              <a:rPr lang="en-US" sz="2400" dirty="0"/>
              <a:t> (prod, staging, all instances, mobile apps)?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Are there </a:t>
            </a:r>
            <a:r>
              <a:rPr lang="en-US" sz="2400" b="1" dirty="0"/>
              <a:t>variants</a:t>
            </a:r>
            <a:r>
              <a:rPr lang="en-US" sz="2400" dirty="0"/>
              <a:t> (same bug class in another endpoint/module)?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Is a scanner finding a </a:t>
            </a:r>
            <a:r>
              <a:rPr lang="en-US" sz="2400" b="1" dirty="0"/>
              <a:t>false positive</a:t>
            </a:r>
            <a:r>
              <a:rPr lang="en-US" sz="2400" dirty="0"/>
              <a:t>, or do we have evidence? 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 “fixed” does not simply mean “someone committed a change in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.” </a:t>
            </a:r>
            <a:r>
              <a:rPr lang="en-US" sz="2400" dirty="0"/>
              <a:t>It also means: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verified by tests/scans,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released,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deployed,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verifiable and </a:t>
            </a:r>
            <a:r>
              <a:rPr lang="en-US" sz="2400" dirty="0"/>
              <a:t>confirmable. </a:t>
            </a:r>
          </a:p>
        </p:txBody>
      </p:sp>
    </p:spTree>
    <p:extLst>
      <p:ext uri="{BB962C8B-B14F-4D97-AF65-F5344CB8AC3E}">
        <p14:creationId xmlns:p14="http://schemas.microsoft.com/office/powerpoint/2010/main" val="297290864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51192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51191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58213" y="608085"/>
            <a:ext cx="57718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Vulnerabilities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74859" y="2233534"/>
            <a:ext cx="10547843" cy="2893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78981" y="1389767"/>
            <a:ext cx="1153613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7) Why this leads to “efforts to identify and address known vulnerabilities”</a:t>
            </a:r>
          </a:p>
          <a:p>
            <a:r>
              <a:rPr lang="en-US" sz="2800" dirty="0"/>
              <a:t>The next step (as the text says) is to discuss how organizations handle known vulnerabilities: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vulnerability tracking and inventories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patch and update management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dependency scanning and supply-chain security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triage and prioritization (what to fix first)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verification (prove the fix is effective)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953147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51192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51191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58213" y="608085"/>
            <a:ext cx="57718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Vulnerabilities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74859" y="2233534"/>
            <a:ext cx="10547843" cy="2893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83104" y="1100337"/>
            <a:ext cx="1200889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6-line slide summary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Vulnerability = </a:t>
            </a:r>
            <a:r>
              <a:rPr lang="en-US" sz="2800" b="1" dirty="0"/>
              <a:t>failure to meet a security requirement</a:t>
            </a:r>
            <a:r>
              <a:rPr lang="en-US" sz="280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Usually unintentional (bug/design/</a:t>
            </a:r>
            <a:r>
              <a:rPr lang="en-US" sz="2800" dirty="0" err="1"/>
              <a:t>config</a:t>
            </a:r>
            <a:r>
              <a:rPr lang="en-US" sz="2800" dirty="0"/>
              <a:t>/dependency), sometimes deliberate (malicious insertion). </a:t>
            </a:r>
          </a:p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Examples: </a:t>
            </a:r>
            <a:r>
              <a:rPr lang="en-US" sz="2800" b="1" dirty="0"/>
              <a:t>backdoor</a:t>
            </a:r>
            <a:r>
              <a:rPr lang="en-US" sz="2800" dirty="0"/>
              <a:t> (hidden unauthorized access), </a:t>
            </a:r>
            <a:r>
              <a:rPr lang="en-US" sz="2800" b="1" dirty="0"/>
              <a:t>logic bomb</a:t>
            </a:r>
            <a:r>
              <a:rPr lang="en-US" sz="2800" dirty="0"/>
              <a:t> (malicious action triggered by conditions).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can be vulnerable too.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Publicly known vulnerabilities have grown massively (complexity + dependencies + auditing).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“Is it fixed?” is hard: versions, deployments, dependencies, </a:t>
            </a:r>
            <a:r>
              <a:rPr lang="en-US" sz="2800" dirty="0" smtClean="0"/>
              <a:t>validation, evidence</a:t>
            </a:r>
            <a:r>
              <a:rPr lang="en-US" sz="2800" dirty="0"/>
              <a:t>, variants. </a:t>
            </a:r>
          </a:p>
        </p:txBody>
      </p:sp>
    </p:spTree>
    <p:extLst>
      <p:ext uri="{BB962C8B-B14F-4D97-AF65-F5344CB8AC3E}">
        <p14:creationId xmlns:p14="http://schemas.microsoft.com/office/powerpoint/2010/main" val="7799478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209024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207848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2086526"/>
            <a:ext cx="57718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Reporting and Handling Vulnerabilities: A Brief Summary</a:t>
            </a:r>
          </a:p>
        </p:txBody>
      </p:sp>
    </p:spTree>
    <p:extLst>
      <p:ext uri="{BB962C8B-B14F-4D97-AF65-F5344CB8AC3E}">
        <p14:creationId xmlns:p14="http://schemas.microsoft.com/office/powerpoint/2010/main" val="90106949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Reporting and Handling Vulnerabilities: A Brief Summary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378981" y="1563539"/>
            <a:ext cx="1142555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Reporting </a:t>
            </a:r>
            <a:r>
              <a:rPr lang="en-US" sz="2400" b="1" dirty="0">
                <a:solidFill>
                  <a:srgbClr val="FF0000"/>
                </a:solidFill>
              </a:rPr>
              <a:t>and Handling Vulnerabilities</a:t>
            </a:r>
          </a:p>
          <a:p>
            <a:r>
              <a:rPr lang="en-US" sz="2400" b="1" dirty="0"/>
              <a:t>1) Why do we talk about vulnerability “reporting”?</a:t>
            </a:r>
          </a:p>
          <a:p>
            <a:r>
              <a:rPr lang="en-US" sz="2400" dirty="0"/>
              <a:t>Vulnerabilities are discovered all the time: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by users,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through internal audits,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by security researchers,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by automated tools. 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Key point: </a:t>
            </a:r>
            <a:r>
              <a:rPr lang="en-US" sz="2400" b="1" dirty="0"/>
              <a:t>finding a vulnerability is not the end</a:t>
            </a:r>
            <a:r>
              <a:rPr lang="en-US" sz="2400" dirty="0"/>
              <a:t>. After discovery, you must: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communicate it responsibly,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fix it quickly,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help users protect themselves (update guidance, temporary mitigations),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and document lessons learned so it does not happen again.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832576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Reporting and Handling Vulnerabilities: A Brief Summary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315883" y="1678899"/>
            <a:ext cx="1142555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2) What exactly is “Timed Coordinated Disclosure”?</a:t>
            </a:r>
          </a:p>
          <a:p>
            <a:r>
              <a:rPr lang="en-US" sz="2400" dirty="0"/>
              <a:t>It is a </a:t>
            </a:r>
            <a:r>
              <a:rPr lang="en-US" sz="2400" b="1" dirty="0"/>
              <a:t>coordinated vulnerability disclosure process with a time limit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purpose is to balance two important goals: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Protect users</a:t>
            </a:r>
            <a:r>
              <a:rPr lang="en-US" sz="2400" dirty="0"/>
              <a:t> (give the supplier time to fix before publishing details),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Ensure transparency and accountability</a:t>
            </a:r>
            <a:r>
              <a:rPr lang="en-US" sz="2400" dirty="0"/>
              <a:t> (if the supplier ignores or delays too long, public disclosure may be needed).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075066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Reporting and Handling Vulnerabilities: A Brief Summary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315883" y="1478112"/>
            <a:ext cx="11425558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3) The typical 3-step process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Step 1 — Private report to the supplier</a:t>
            </a:r>
          </a:p>
          <a:p>
            <a:r>
              <a:rPr lang="en-US" sz="2400" dirty="0"/>
              <a:t>The finder reports the issue </a:t>
            </a:r>
            <a:r>
              <a:rPr lang="en-US" sz="2400" b="1" dirty="0"/>
              <a:t>privately</a:t>
            </a:r>
            <a:r>
              <a:rPr lang="en-US" sz="2400" dirty="0"/>
              <a:t> to the vendor/maintainer.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Goals: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prevent attackers from learning about the vulnerability before a fix exists,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provide enough information to reproduce and fix it (description, impact, conditions). </a:t>
            </a:r>
          </a:p>
          <a:p>
            <a:r>
              <a:rPr lang="en-US" sz="2400" b="1" dirty="0"/>
              <a:t>Good supplier practices: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acknowledge the report quickly,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ask for clarification if needed,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perform </a:t>
            </a:r>
            <a:r>
              <a:rPr lang="en-US" sz="2400" b="1" dirty="0"/>
              <a:t>triage</a:t>
            </a:r>
            <a:r>
              <a:rPr lang="en-US" sz="2400" dirty="0"/>
              <a:t> (assess severity and scope).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578174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Reporting and Handling Vulnerabilities: A Brief Summary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315883" y="1120963"/>
            <a:ext cx="1142555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Step 2 — Embargo period (usually 14–90 days)</a:t>
            </a:r>
          </a:p>
          <a:p>
            <a:r>
              <a:rPr lang="en-US" sz="2400" dirty="0"/>
              <a:t>The supplier is given a limited time window to: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confirm the issue,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fix it,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test it,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prepare a patch and release. </a:t>
            </a:r>
          </a:p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an embargo?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without a delay, immediate public disclosure can expose millions of users before a patch is available,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but without a time limit, some fixes may never get delivered. </a:t>
            </a:r>
          </a:p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practice, the exact timeline depends on: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severity,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complexity,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and the number of parties involved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328683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Reporting and Handling Vulnerabilities: A Brief Summary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315883" y="1336410"/>
            <a:ext cx="11425558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Step 3 — Public disclosure</a:t>
            </a:r>
          </a:p>
          <a:p>
            <a:r>
              <a:rPr lang="en-US" sz="2800" dirty="0"/>
              <a:t>After the embargo ends, or once a fix is released (and users have had a short time to update), the vulnerability becomes public through: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security bulletins,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release notes,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advisories,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sometimes a researcher write-up. </a:t>
            </a:r>
          </a:p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Important point: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“coordinated” does </a:t>
            </a:r>
            <a:r>
              <a:rPr lang="en-US" sz="2800" b="1" dirty="0"/>
              <a:t>not</a:t>
            </a:r>
            <a:r>
              <a:rPr lang="en-US" sz="2800" dirty="0"/>
              <a:t> mean “secret forever.”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If the supplier does not fix the issue in time, public disclosure can still happen to protect users through awareness and pressure.</a:t>
            </a:r>
          </a:p>
        </p:txBody>
      </p:sp>
    </p:spTree>
    <p:extLst>
      <p:ext uri="{BB962C8B-B14F-4D97-AF65-F5344CB8AC3E}">
        <p14:creationId xmlns:p14="http://schemas.microsoft.com/office/powerpoint/2010/main" val="107084385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Reporting and Handling Vulnerabilities: A Brief Summary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315883" y="1305637"/>
            <a:ext cx="1142555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4) Why coordination can be complex</a:t>
            </a:r>
          </a:p>
          <a:p>
            <a:r>
              <a:rPr lang="en-US" sz="2400" dirty="0"/>
              <a:t>Because multiple stakeholders may be involved: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product vendor,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open-source dependency maintainers,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integrators,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cloud providers,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distributions/packagers,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CERT/incident response teams,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enterprise customers who need planned patch windows. </a:t>
            </a:r>
          </a:p>
          <a:p>
            <a:r>
              <a:rPr lang="en-US" sz="2400" b="1" dirty="0"/>
              <a:t>Simple example: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vulnerability is in a library → the library must be fixed </a:t>
            </a:r>
            <a:r>
              <a:rPr lang="en-US" sz="2400" b="1" dirty="0"/>
              <a:t>and</a:t>
            </a:r>
            <a:r>
              <a:rPr lang="en-US" sz="2400" dirty="0"/>
              <a:t> every product depending on it must release an update.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844935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Reporting and Handling Vulnerabilities: A Brief Summary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315883" y="1244089"/>
            <a:ext cx="1142555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5) What developers/suppliers should put in place (very practical)</a:t>
            </a:r>
          </a:p>
          <a:p>
            <a:r>
              <a:rPr lang="en-US" sz="2000" b="1" dirty="0"/>
              <a:t>A) Make reporting easy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clear “Security” page on the website/repo,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dedicated email (e.g., security@…),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</a:t>
            </a:r>
            <a:r>
              <a:rPr lang="en-US" sz="2000" b="1" dirty="0"/>
              <a:t>SECURITY.md</a:t>
            </a:r>
            <a:r>
              <a:rPr lang="en-US" sz="2000" dirty="0"/>
              <a:t> file for open-source projects,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ideally a </a:t>
            </a:r>
            <a:r>
              <a:rPr lang="en-US" sz="2000" b="1" dirty="0"/>
              <a:t>security.txt</a:t>
            </a:r>
            <a:r>
              <a:rPr lang="en-US" sz="2000" dirty="0"/>
              <a:t> file on the website (contact + rules). </a:t>
            </a:r>
          </a:p>
          <a:p>
            <a:r>
              <a:rPr lang="en-US" sz="2000" b="1" dirty="0"/>
              <a:t>B) Provide trusted private communication channels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dedicated email channel,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optional encryption (e.g., PGP),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private ticketing system,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clear rules: what a report should include, expected response times. </a:t>
            </a:r>
          </a:p>
          <a:p>
            <a:r>
              <a:rPr lang="en-US" sz="2000" b="1" dirty="0"/>
              <a:t>C) Be ready to fix quickly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an internal triage process,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prioritization (severity, exploitability, impact),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fix + tests + release,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clear communication: advisory, affected versions, fixed versions, temporary mitigations/workarounds.</a:t>
            </a:r>
          </a:p>
        </p:txBody>
      </p:sp>
    </p:spTree>
    <p:extLst>
      <p:ext uri="{BB962C8B-B14F-4D97-AF65-F5344CB8AC3E}">
        <p14:creationId xmlns:p14="http://schemas.microsoft.com/office/powerpoint/2010/main" val="157187740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Reporting and Handling Vulnerabilities: A Brief Summary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315883" y="1305646"/>
            <a:ext cx="1142555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600" b="1" dirty="0">
                <a:solidFill>
                  <a:srgbClr val="C00000"/>
                </a:solidFill>
              </a:rPr>
              <a:t>6) Vulnerability “tracking”: why we need CVE</a:t>
            </a:r>
          </a:p>
          <a:p>
            <a:r>
              <a:rPr lang="en-US" sz="2600" dirty="0"/>
              <a:t>There are so many vulnerabilities and software products that we need a standard way to: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/>
              <a:t>uniquely identify a vulnerability,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/>
              <a:t>avoid confusion (“are we talking about the same issue?”),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/>
              <a:t>enable tracking by tools, companies, scanners, and security teams. </a:t>
            </a:r>
          </a:p>
          <a:p>
            <a:r>
              <a:rPr lang="en-US" sz="2600" b="1" dirty="0"/>
              <a:t>CVE (Common Vulnerabilities and Exposures)</a:t>
            </a:r>
          </a:p>
          <a:p>
            <a:r>
              <a:rPr lang="en-US" sz="2600" dirty="0"/>
              <a:t>A </a:t>
            </a:r>
            <a:r>
              <a:rPr lang="en-US" sz="2600" b="1" dirty="0"/>
              <a:t>standard identifier</a:t>
            </a:r>
            <a:r>
              <a:rPr lang="en-US" sz="2600" dirty="0"/>
              <a:t> (e.g., </a:t>
            </a:r>
            <a:r>
              <a:rPr lang="en-US" sz="2600" b="1" dirty="0"/>
              <a:t>CVE-YYYY-NNNN</a:t>
            </a:r>
            <a:r>
              <a:rPr lang="en-US" sz="2600" dirty="0"/>
              <a:t>) used as a shared reference.</a:t>
            </a:r>
          </a:p>
          <a:p>
            <a:r>
              <a:rPr 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it matters: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/>
              <a:t>links advisories, patches, articles, and databases together,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/>
              <a:t>enables automated tracking (inventories and scanning tools),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/>
              <a:t>supports risk management in organizations</a:t>
            </a:r>
            <a:r>
              <a:rPr lang="en-US" sz="2600" dirty="0" smtClean="0"/>
              <a:t>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80564968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Reporting and Handling Vulnerabilities: A Brief Summary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231149" y="1654589"/>
            <a:ext cx="114255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7) Teaching summary (what to tell students)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Report privately, fix quickly, then disclose publicly for transparency.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The embargo protects users while creating time pressure on the supplier.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Coordination can be complex due to dependencies and multiple vendors.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 good supplier makes reporting easy, communicates privately, patches quickly, and publishes clear advisories.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CVE exists because we must track thousands of vulnerabilities consistently.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1837631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Reporting and Handling Vulnerabilities: A Brief Summary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74860" y="1847329"/>
            <a:ext cx="9912166" cy="2523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rgbClr val="2467B2"/>
                </a:solidFill>
                <a:effectLst/>
                <a:latin typeface="inherit"/>
              </a:rPr>
              <a:t>Test </a:t>
            </a:r>
            <a:r>
              <a:rPr kumimoji="0" lang="fr-FR" altLang="fr-FR" sz="2000" b="1" i="0" u="none" strike="noStrike" cap="none" normalizeH="0" baseline="0" dirty="0" err="1" smtClean="0">
                <a:ln>
                  <a:noFill/>
                </a:ln>
                <a:solidFill>
                  <a:srgbClr val="2467B2"/>
                </a:solidFill>
                <a:effectLst/>
                <a:latin typeface="inherit"/>
              </a:rPr>
              <a:t>Your</a:t>
            </a: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rgbClr val="2467B2"/>
                </a:solidFill>
                <a:effectLst/>
                <a:latin typeface="inherit"/>
              </a:rPr>
              <a:t> </a:t>
            </a:r>
            <a:r>
              <a:rPr kumimoji="0" lang="fr-FR" altLang="fr-FR" sz="2000" b="1" i="0" u="none" strike="noStrike" cap="none" normalizeH="0" baseline="0" dirty="0" err="1" smtClean="0">
                <a:ln>
                  <a:noFill/>
                </a:ln>
                <a:solidFill>
                  <a:srgbClr val="2467B2"/>
                </a:solidFill>
                <a:effectLst/>
                <a:latin typeface="inherit"/>
              </a:rPr>
              <a:t>Understanding</a:t>
            </a: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rgbClr val="2467B2"/>
                </a:solidFill>
                <a:effectLst/>
                <a:latin typeface="inherit"/>
              </a:rPr>
              <a:t> 3.8</a:t>
            </a: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Which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of the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following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statements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is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true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about software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security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and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vulnerability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reporting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?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Avoiding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common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kinds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of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vulnerabilities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is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not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enough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by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itself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to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make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software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secure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, but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it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can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be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a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significant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help.</a:t>
            </a: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All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CVEs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are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assigned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by the MITRE Corporation.</a:t>
            </a: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All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publicly-known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vulnerabilities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are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assigned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 CVE 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IDs</a:t>
            </a: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3420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214349" y="2282912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034282" y="2271151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657981" y="2279189"/>
            <a:ext cx="69989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</a:rPr>
              <a:t>Common Vulnerabilities and Exposures (CVEs)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6915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Common Vulnerabilities and Exposures </a:t>
            </a:r>
          </a:p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(CVEs)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534938"/>
            <a:ext cx="11960851" cy="40010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600" b="1" dirty="0">
                <a:solidFill>
                  <a:srgbClr val="FF0000"/>
                </a:solidFill>
              </a:rPr>
              <a:t>1) What is a CVE?</a:t>
            </a:r>
          </a:p>
          <a:p>
            <a:pPr>
              <a:spcAft>
                <a:spcPts val="1200"/>
              </a:spcAft>
            </a:pPr>
            <a:r>
              <a:rPr 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CVE (Common Vulnerabilities and Exposures)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a global “dictionary” of </a:t>
            </a:r>
            <a:r>
              <a:rPr 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publicly disclosed cybersecurity vulnerabilities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US" sz="2600" dirty="0"/>
              <a:t>🎯 </a:t>
            </a:r>
            <a:r>
              <a:rPr lang="en-US" sz="2600" b="1" dirty="0">
                <a:solidFill>
                  <a:srgbClr val="C00000"/>
                </a:solidFill>
              </a:rPr>
              <a:t>Main goal:</a:t>
            </a:r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/>
              <a:t>To make it easier to </a:t>
            </a:r>
            <a:r>
              <a:rPr lang="en-US" sz="2600" b="1" dirty="0"/>
              <a:t>share, reference, and track</a:t>
            </a:r>
            <a:r>
              <a:rPr lang="en-US" sz="2600" dirty="0"/>
              <a:t> vulnerability information by giving each vulnerability a </a:t>
            </a:r>
            <a:r>
              <a:rPr lang="en-US" sz="2600" b="1" dirty="0"/>
              <a:t>unique identifier</a:t>
            </a:r>
            <a:r>
              <a:rPr lang="en-US" sz="2600" dirty="0"/>
              <a:t>.</a:t>
            </a:r>
          </a:p>
          <a:p>
            <a:pPr>
              <a:spcAft>
                <a:spcPts val="600"/>
              </a:spcAft>
            </a:pPr>
            <a:r>
              <a:rPr lang="en-US" sz="2600" dirty="0"/>
              <a:t>Without CVEs, different people might refer to the same vulnerability using different names, causing confusion. With CVE, everyone can point to the same reference: </a:t>
            </a:r>
            <a:r>
              <a:rPr lang="en-US" sz="2600" b="1" dirty="0"/>
              <a:t>CVE-YYYY-NNNN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655872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Common Vulnerabilities and Exposures </a:t>
            </a:r>
          </a:p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(CVEs)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765772"/>
            <a:ext cx="11960851" cy="35394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2) What does a CVE entry include?</a:t>
            </a:r>
          </a:p>
          <a:p>
            <a:r>
              <a:rPr lang="en-US" sz="2800" dirty="0"/>
              <a:t>Each CVE entry includes at least: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 </a:t>
            </a:r>
            <a:r>
              <a:rPr lang="en-US" sz="2800" b="1" dirty="0"/>
              <a:t>unique ID</a:t>
            </a:r>
            <a:r>
              <a:rPr lang="en-US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 </a:t>
            </a:r>
            <a:r>
              <a:rPr lang="en-US" sz="2800" b="1" dirty="0"/>
              <a:t>brief description</a:t>
            </a:r>
            <a:r>
              <a:rPr lang="en-US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at least one public reference</a:t>
            </a:r>
            <a:r>
              <a:rPr lang="en-US" sz="2800" dirty="0"/>
              <a:t> (e.g., advisory link, bulletin, report) </a:t>
            </a:r>
          </a:p>
          <a:p>
            <a:r>
              <a:rPr lang="en-US" sz="2800" dirty="0"/>
              <a:t>Important note: a CVE record is often </a:t>
            </a:r>
            <a:r>
              <a:rPr lang="en-US" sz="2800" b="1" dirty="0"/>
              <a:t>short</a:t>
            </a:r>
            <a:r>
              <a:rPr lang="en-US" sz="2800" dirty="0"/>
              <a:t>. Many details (affected versions, severity scores, fix links) may be provided by other databases (like NVD) or vendor advisories.</a:t>
            </a:r>
          </a:p>
        </p:txBody>
      </p:sp>
    </p:spTree>
    <p:extLst>
      <p:ext uri="{BB962C8B-B14F-4D97-AF65-F5344CB8AC3E}">
        <p14:creationId xmlns:p14="http://schemas.microsoft.com/office/powerpoint/2010/main" val="125819107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Common Vulnerabilities and Exposures </a:t>
            </a:r>
          </a:p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(CVEs)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788856"/>
            <a:ext cx="11960851" cy="3493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FF0000"/>
                </a:solidFill>
              </a:rPr>
              <a:t>3) CVE ID format: CVE-year-number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CVE IDs follow:</a:t>
            </a:r>
            <a:br>
              <a:rPr lang="en-US" sz="2800" dirty="0"/>
            </a:br>
            <a:r>
              <a:rPr lang="en-US" sz="2800" b="1" dirty="0"/>
              <a:t>CVE-YYYY-NNNN…</a:t>
            </a:r>
            <a:endParaRPr lang="en-US" sz="2800" dirty="0"/>
          </a:p>
          <a:p>
            <a:pPr>
              <a:spcAft>
                <a:spcPts val="1200"/>
              </a:spcAft>
            </a:pPr>
            <a:r>
              <a:rPr lang="en-US" sz="2800" dirty="0"/>
              <a:t>Example: </a:t>
            </a:r>
            <a:r>
              <a:rPr lang="en-US" sz="2800" b="1" dirty="0"/>
              <a:t>CVE-2014-0160</a:t>
            </a:r>
            <a:r>
              <a:rPr lang="en-US" sz="2800" dirty="0"/>
              <a:t> is a vulnerability in OpenSSL known as </a:t>
            </a:r>
            <a:r>
              <a:rPr lang="en-US" sz="2800" b="1" dirty="0"/>
              <a:t>Heartbleed</a:t>
            </a:r>
            <a:r>
              <a:rPr lang="en-US" sz="2800" dirty="0"/>
              <a:t>, first reported in 2014.</a:t>
            </a:r>
          </a:p>
          <a:p>
            <a:r>
              <a:rPr lang="en-US" sz="2800" dirty="0"/>
              <a:t>⚠️ The numeric part is not necessarily a simple “count” of vulnerabilities in that year (see CNA section below).</a:t>
            </a:r>
          </a:p>
        </p:txBody>
      </p:sp>
    </p:spTree>
    <p:extLst>
      <p:ext uri="{BB962C8B-B14F-4D97-AF65-F5344CB8AC3E}">
        <p14:creationId xmlns:p14="http://schemas.microsoft.com/office/powerpoint/2010/main" val="8432690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Common Vulnerabilities and Exposures </a:t>
            </a:r>
          </a:p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(CVEs)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342581"/>
            <a:ext cx="11960851" cy="4385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4) CVE databases (e.g., NVD)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CVE is mainly an </a:t>
            </a:r>
            <a:r>
              <a:rPr lang="en-US" sz="2400" b="1" dirty="0"/>
              <a:t>identifier system</a:t>
            </a:r>
            <a:r>
              <a:rPr lang="en-US" sz="2400" dirty="0"/>
              <a:t>, but there are databases that track and enrich CVE entries.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A major one is the U.S. </a:t>
            </a:r>
            <a:r>
              <a:rPr lang="en-US" sz="2400" b="1" dirty="0"/>
              <a:t>National Vulnerability Database (NVD)</a:t>
            </a:r>
            <a:r>
              <a:rPr lang="en-US" sz="2400" dirty="0"/>
              <a:t>, which tracks publicly known CVEs and often adds: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affected products/versions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severity scoring (commonly CVSS)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additional references and metadata </a:t>
            </a:r>
          </a:p>
          <a:p>
            <a:r>
              <a:rPr lang="en-US" sz="2400" dirty="0"/>
              <a:t>So in practice: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CVE = the standard ID</a:t>
            </a:r>
            <a:r>
              <a:rPr lang="en-US" sz="24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NVD (and similar databases) = detailed vulnerability record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351383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Common Vulnerabilities and Exposures </a:t>
            </a:r>
          </a:p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(CVEs)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257945"/>
            <a:ext cx="11960851" cy="45550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5) Who assigns CVEs? (CNA)</a:t>
            </a:r>
          </a:p>
          <a:p>
            <a:pPr>
              <a:spcAft>
                <a:spcPts val="600"/>
              </a:spcAft>
            </a:pPr>
            <a:r>
              <a:rPr lang="en-US" sz="2800" dirty="0"/>
              <a:t>CVEs are assigned by </a:t>
            </a:r>
            <a:r>
              <a:rPr lang="en-US" sz="2800" b="1" dirty="0"/>
              <a:t>CVE Numbering Authorities (CNAs)</a:t>
            </a:r>
            <a:r>
              <a:rPr lang="en-US" sz="2800" dirty="0"/>
              <a:t>.</a:t>
            </a:r>
          </a:p>
          <a:p>
            <a:pPr>
              <a:spcAft>
                <a:spcPts val="600"/>
              </a:spcAft>
            </a:pPr>
            <a:r>
              <a:rPr lang="en-US" sz="2800" dirty="0"/>
              <a:t>A </a:t>
            </a:r>
            <a:r>
              <a:rPr lang="en-US" sz="2800" b="1" dirty="0"/>
              <a:t>CNA</a:t>
            </a:r>
            <a:r>
              <a:rPr lang="en-US" sz="2800" dirty="0"/>
              <a:t> is an organization authorized to assign CVE IDs to vulnerabilities affecting products within a defined scope (for example, its own products).</a:t>
            </a:r>
          </a:p>
          <a:p>
            <a:r>
              <a:rPr lang="en-US" sz="2800" b="1" dirty="0"/>
              <a:t>Examples: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MITRE</a:t>
            </a:r>
            <a:r>
              <a:rPr lang="en-US" sz="2800" dirty="0"/>
              <a:t> is the primary CNA, sometimes called the </a:t>
            </a:r>
            <a:r>
              <a:rPr lang="en-US" sz="2800" b="1" dirty="0"/>
              <a:t>“CNA of last resort”</a:t>
            </a:r>
            <a:r>
              <a:rPr lang="en-US" sz="2800" dirty="0"/>
              <a:t> (it can assign a CVE when no other CNA is authorized).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Large vendors (e.g., Microsoft, Red Hat) can act as CNAs for their own products.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Third-party coordinators (e.g., CERT/CC) can also be CNAs.</a:t>
            </a:r>
          </a:p>
        </p:txBody>
      </p:sp>
    </p:spTree>
    <p:extLst>
      <p:ext uri="{BB962C8B-B14F-4D97-AF65-F5344CB8AC3E}">
        <p14:creationId xmlns:p14="http://schemas.microsoft.com/office/powerpoint/2010/main" val="61738529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Common Vulnerabilities and Exposures </a:t>
            </a:r>
          </a:p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(CVEs)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0808" y="1785123"/>
            <a:ext cx="11960851" cy="3339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FF0000"/>
                </a:solidFill>
              </a:rPr>
              <a:t>6) Why the CVE number is not a simple counter</a:t>
            </a:r>
          </a:p>
          <a:p>
            <a:pPr>
              <a:spcAft>
                <a:spcPts val="600"/>
              </a:spcAft>
            </a:pPr>
            <a:r>
              <a:rPr lang="en-US" sz="2800" dirty="0"/>
              <a:t>Each CNA receives a </a:t>
            </a:r>
            <a:r>
              <a:rPr lang="en-US" sz="2800" b="1" dirty="0"/>
              <a:t>block of numbers</a:t>
            </a:r>
            <a:r>
              <a:rPr lang="en-US" sz="2800" dirty="0"/>
              <a:t> it is allowed to use.</a:t>
            </a:r>
          </a:p>
          <a:p>
            <a:pPr>
              <a:spcAft>
                <a:spcPts val="600"/>
              </a:spcAft>
            </a:pPr>
            <a:r>
              <a:rPr lang="en-US" sz="2800" dirty="0"/>
              <a:t>That means an ID like </a:t>
            </a:r>
            <a:r>
              <a:rPr lang="en-US" sz="2800" b="1" dirty="0"/>
              <a:t>CVE-2025-50000</a:t>
            </a:r>
            <a:r>
              <a:rPr lang="en-US" sz="2800" dirty="0"/>
              <a:t> does </a:t>
            </a:r>
            <a:r>
              <a:rPr lang="en-US" sz="2800" b="1" dirty="0"/>
              <a:t>not</a:t>
            </a:r>
            <a:r>
              <a:rPr lang="en-US" sz="2800" dirty="0"/>
              <a:t> mean “the 50,000th vulnerability in 2025.”</a:t>
            </a:r>
            <a:br>
              <a:rPr lang="en-US" sz="2800" dirty="0"/>
            </a:br>
            <a:r>
              <a:rPr lang="en-US" sz="2800" dirty="0"/>
              <a:t>It simply means the CNA that assigned it was authorized to use that number.</a:t>
            </a:r>
          </a:p>
          <a:p>
            <a:r>
              <a:rPr lang="en-US" sz="2800" dirty="0"/>
              <a:t>So: </a:t>
            </a:r>
            <a:r>
              <a:rPr lang="en-US" sz="2800" b="1" dirty="0"/>
              <a:t>CVE numbers are identifiers, not statistics.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4762792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25208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Common Vulnerabilities and Exposures </a:t>
            </a:r>
          </a:p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(CVEs)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3104" y="1488940"/>
            <a:ext cx="11960851" cy="48320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7) Why many public vulnerabilities have no CVE</a:t>
            </a:r>
          </a:p>
          <a:p>
            <a:r>
              <a:rPr lang="en-US" sz="2800" dirty="0"/>
              <a:t>Many publicly known vulnerabilities do not have CVE IDs because: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CVE IDs are assigned only if someone requests one</a:t>
            </a:r>
            <a:r>
              <a:rPr lang="en-US" sz="2800" dirty="0"/>
              <a:t> from a CNA.</a:t>
            </a:r>
            <a:br>
              <a:rPr lang="en-US" sz="2800" dirty="0"/>
            </a:br>
            <a:r>
              <a:rPr lang="en-US" sz="2800" dirty="0"/>
              <a:t>If nobody requests it, there may be </a:t>
            </a:r>
            <a:r>
              <a:rPr lang="en-US" sz="2800" b="1" dirty="0"/>
              <a:t>no CVE</a:t>
            </a:r>
            <a:r>
              <a:rPr lang="en-US" sz="2800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CVEs have a </a:t>
            </a:r>
            <a:r>
              <a:rPr lang="en-US" sz="2800" b="1" dirty="0"/>
              <a:t>scope</a:t>
            </a:r>
            <a:r>
              <a:rPr lang="en-US" sz="2800" dirty="0"/>
              <a:t>: they are generally for </a:t>
            </a:r>
            <a:r>
              <a:rPr lang="en-US" sz="2800" b="1" dirty="0"/>
              <a:t>publicly released software</a:t>
            </a:r>
            <a:r>
              <a:rPr lang="en-US" sz="2800" dirty="0"/>
              <a:t>, including widely used pre-releases.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CVEs are generally </a:t>
            </a:r>
            <a:r>
              <a:rPr lang="en-US" sz="2800" b="1" dirty="0"/>
              <a:t>not assigned</a:t>
            </a:r>
            <a:r>
              <a:rPr lang="en-US" sz="2800" dirty="0"/>
              <a:t> to: 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US" sz="2800" dirty="0"/>
              <a:t>custom-built software that is not distributed 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US" sz="2800" dirty="0"/>
              <a:t>many online services (depending on policy/scope) </a:t>
            </a:r>
          </a:p>
          <a:p>
            <a:r>
              <a:rPr lang="en-US" sz="2800" dirty="0"/>
              <a:t>So “no CVE” does </a:t>
            </a:r>
            <a:r>
              <a:rPr lang="en-US" sz="2800" b="1" dirty="0"/>
              <a:t>not</a:t>
            </a:r>
            <a:r>
              <a:rPr lang="en-US" sz="2800" dirty="0"/>
              <a:t> mean “no vulnerability”—it usually means “no CVE was requested or it’s out of scope.”</a:t>
            </a:r>
          </a:p>
        </p:txBody>
      </p:sp>
    </p:spTree>
    <p:extLst>
      <p:ext uri="{BB962C8B-B14F-4D97-AF65-F5344CB8AC3E}">
        <p14:creationId xmlns:p14="http://schemas.microsoft.com/office/powerpoint/2010/main" val="97130243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25208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Common Vulnerabilities and Exposures </a:t>
            </a:r>
          </a:p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(CVEs)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3104" y="1459974"/>
            <a:ext cx="11960851" cy="3970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8) Why CVE is still important</a:t>
            </a:r>
          </a:p>
          <a:p>
            <a:r>
              <a:rPr lang="en-US" sz="2800" dirty="0"/>
              <a:t>Despite limitations, CVE is the most widely used way to give a unique identifier to publicly known vulnerabilities.</a:t>
            </a:r>
          </a:p>
          <a:p>
            <a:r>
              <a:rPr lang="en-US" sz="2800" dirty="0"/>
              <a:t>It helps: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vendors publish consistent advisories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security teams track risk across systems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tools (scanners, inventories, SIEM) correlate alerts with patches/advisories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everyone talk about the same issue without ambiguity </a:t>
            </a:r>
          </a:p>
        </p:txBody>
      </p:sp>
    </p:spTree>
    <p:extLst>
      <p:ext uri="{BB962C8B-B14F-4D97-AF65-F5344CB8AC3E}">
        <p14:creationId xmlns:p14="http://schemas.microsoft.com/office/powerpoint/2010/main" val="157648481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68665" y="625208"/>
            <a:ext cx="6998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Common Vulnerabilities and Exposures </a:t>
            </a:r>
          </a:p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(CVEs)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413223"/>
            <a:ext cx="11960851" cy="48320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sz="2800" b="1" dirty="0" err="1" smtClean="0"/>
              <a:t>Summary</a:t>
            </a:r>
            <a:r>
              <a:rPr lang="fr-FR" sz="2800" b="1" dirty="0" smtClean="0"/>
              <a:t> </a:t>
            </a:r>
            <a:r>
              <a:rPr lang="fr-FR" sz="2800" b="1" dirty="0"/>
              <a:t>(8 </a:t>
            </a:r>
            <a:r>
              <a:rPr lang="fr-FR" sz="2800" b="1" dirty="0" err="1"/>
              <a:t>lines</a:t>
            </a:r>
            <a:r>
              <a:rPr lang="fr-FR" sz="2800" b="1" dirty="0"/>
              <a:t>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/>
              <a:t>CVE</a:t>
            </a:r>
            <a:r>
              <a:rPr lang="fr-FR" sz="2800" dirty="0"/>
              <a:t> = global </a:t>
            </a:r>
            <a:r>
              <a:rPr lang="fr-FR" sz="2800" dirty="0" err="1"/>
              <a:t>dictionary</a:t>
            </a:r>
            <a:r>
              <a:rPr lang="fr-FR" sz="2800" dirty="0"/>
              <a:t> of </a:t>
            </a:r>
            <a:r>
              <a:rPr lang="fr-FR" sz="2800" dirty="0" err="1"/>
              <a:t>some</a:t>
            </a:r>
            <a:r>
              <a:rPr lang="fr-FR" sz="2800" dirty="0"/>
              <a:t> </a:t>
            </a:r>
            <a:r>
              <a:rPr lang="fr-FR" sz="2800" b="1" dirty="0" err="1"/>
              <a:t>publicly</a:t>
            </a:r>
            <a:r>
              <a:rPr lang="fr-FR" sz="2800" b="1" dirty="0"/>
              <a:t> </a:t>
            </a:r>
            <a:r>
              <a:rPr lang="fr-FR" sz="2800" b="1" dirty="0" err="1"/>
              <a:t>disclosed</a:t>
            </a:r>
            <a:r>
              <a:rPr lang="fr-FR" sz="2800" dirty="0"/>
              <a:t> </a:t>
            </a:r>
            <a:r>
              <a:rPr lang="fr-FR" sz="2800" dirty="0" err="1"/>
              <a:t>vulnerabilities</a:t>
            </a:r>
            <a:r>
              <a:rPr lang="fr-FR" sz="2800" dirty="0"/>
              <a:t>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Goal: </a:t>
            </a:r>
            <a:r>
              <a:rPr lang="fr-FR" sz="2800" dirty="0" err="1"/>
              <a:t>easier</a:t>
            </a:r>
            <a:r>
              <a:rPr lang="fr-FR" sz="2800" dirty="0"/>
              <a:t> sharing and </a:t>
            </a:r>
            <a:r>
              <a:rPr lang="fr-FR" sz="2800" dirty="0" err="1"/>
              <a:t>tracking</a:t>
            </a:r>
            <a:r>
              <a:rPr lang="fr-FR" sz="2800" dirty="0"/>
              <a:t> via a </a:t>
            </a:r>
            <a:r>
              <a:rPr lang="fr-FR" sz="2800" b="1" dirty="0"/>
              <a:t>unique ID</a:t>
            </a:r>
            <a:r>
              <a:rPr lang="fr-FR" sz="2800" dirty="0"/>
              <a:t>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Each</a:t>
            </a:r>
            <a:r>
              <a:rPr lang="fr-FR" sz="2800" dirty="0"/>
              <a:t> entry: </a:t>
            </a:r>
            <a:r>
              <a:rPr lang="fr-FR" sz="2800" b="1" dirty="0"/>
              <a:t>ID + short description + public </a:t>
            </a:r>
            <a:r>
              <a:rPr lang="fr-FR" sz="2800" b="1" dirty="0" err="1"/>
              <a:t>reference</a:t>
            </a:r>
            <a:r>
              <a:rPr lang="fr-FR" sz="2800" b="1" dirty="0"/>
              <a:t>(s)</a:t>
            </a:r>
            <a:r>
              <a:rPr lang="fr-FR" sz="2800" dirty="0"/>
              <a:t>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Format: </a:t>
            </a:r>
            <a:r>
              <a:rPr lang="fr-FR" sz="2800" b="1" dirty="0"/>
              <a:t>CVE-YYYY-NNNN</a:t>
            </a:r>
            <a:r>
              <a:rPr lang="fr-FR" sz="2800" dirty="0"/>
              <a:t> (</a:t>
            </a:r>
            <a:r>
              <a:rPr lang="fr-FR" sz="2800" dirty="0" err="1"/>
              <a:t>e.g</a:t>
            </a:r>
            <a:r>
              <a:rPr lang="fr-FR" sz="2800" dirty="0"/>
              <a:t>., CVE-2014-0160 “</a:t>
            </a:r>
            <a:r>
              <a:rPr lang="fr-FR" sz="2800" dirty="0" err="1"/>
              <a:t>Heartbleed</a:t>
            </a:r>
            <a:r>
              <a:rPr lang="fr-FR" sz="2800" dirty="0"/>
              <a:t>”).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Databases</a:t>
            </a:r>
            <a:r>
              <a:rPr lang="fr-FR" sz="2800" dirty="0"/>
              <a:t> </a:t>
            </a:r>
            <a:r>
              <a:rPr lang="fr-FR" sz="2800" dirty="0" err="1"/>
              <a:t>like</a:t>
            </a:r>
            <a:r>
              <a:rPr lang="fr-FR" sz="2800" dirty="0"/>
              <a:t> </a:t>
            </a:r>
            <a:r>
              <a:rPr lang="fr-FR" sz="2800" b="1" dirty="0"/>
              <a:t>NVD</a:t>
            </a:r>
            <a:r>
              <a:rPr lang="fr-FR" sz="2800" dirty="0"/>
              <a:t> </a:t>
            </a:r>
            <a:r>
              <a:rPr lang="fr-FR" sz="2800" dirty="0" err="1"/>
              <a:t>add</a:t>
            </a:r>
            <a:r>
              <a:rPr lang="fr-FR" sz="2800" dirty="0"/>
              <a:t> </a:t>
            </a:r>
            <a:r>
              <a:rPr lang="fr-FR" sz="2800" dirty="0" err="1"/>
              <a:t>details</a:t>
            </a:r>
            <a:r>
              <a:rPr lang="fr-FR" sz="2800" dirty="0"/>
              <a:t> (versions, scores, links).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CVEs</a:t>
            </a:r>
            <a:r>
              <a:rPr lang="fr-FR" sz="2800" dirty="0"/>
              <a:t> are </a:t>
            </a:r>
            <a:r>
              <a:rPr lang="fr-FR" sz="2800" dirty="0" err="1"/>
              <a:t>assigned</a:t>
            </a:r>
            <a:r>
              <a:rPr lang="fr-FR" sz="2800" dirty="0"/>
              <a:t> by </a:t>
            </a:r>
            <a:r>
              <a:rPr lang="fr-FR" sz="2800" b="1" dirty="0" err="1"/>
              <a:t>CNAs</a:t>
            </a:r>
            <a:r>
              <a:rPr lang="fr-FR" sz="2800" dirty="0"/>
              <a:t> (MITRE, </a:t>
            </a:r>
            <a:r>
              <a:rPr lang="fr-FR" sz="2800" dirty="0" err="1"/>
              <a:t>vendors</a:t>
            </a:r>
            <a:r>
              <a:rPr lang="fr-FR" sz="2800" dirty="0"/>
              <a:t>, CERT/CC…).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Numbers</a:t>
            </a:r>
            <a:r>
              <a:rPr lang="fr-FR" sz="2800" dirty="0"/>
              <a:t> are not a simple global count; </a:t>
            </a:r>
            <a:r>
              <a:rPr lang="fr-FR" sz="2800" dirty="0" err="1"/>
              <a:t>CNAs</a:t>
            </a:r>
            <a:r>
              <a:rPr lang="fr-FR" sz="2800" dirty="0"/>
              <a:t> use </a:t>
            </a:r>
            <a:r>
              <a:rPr lang="fr-FR" sz="2800" b="1" dirty="0" err="1"/>
              <a:t>allocated</a:t>
            </a:r>
            <a:r>
              <a:rPr lang="fr-FR" sz="2800" b="1" dirty="0"/>
              <a:t> </a:t>
            </a:r>
            <a:r>
              <a:rPr lang="fr-FR" sz="2800" b="1" dirty="0" err="1"/>
              <a:t>number</a:t>
            </a:r>
            <a:r>
              <a:rPr lang="fr-FR" sz="2800" b="1" dirty="0"/>
              <a:t> ranges</a:t>
            </a:r>
            <a:r>
              <a:rPr lang="fr-FR" sz="2800" dirty="0"/>
              <a:t>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Many</a:t>
            </a:r>
            <a:r>
              <a:rPr lang="fr-FR" sz="2800" dirty="0"/>
              <a:t> </a:t>
            </a:r>
            <a:r>
              <a:rPr lang="fr-FR" sz="2800" dirty="0" err="1"/>
              <a:t>vulnerabilities</a:t>
            </a:r>
            <a:r>
              <a:rPr lang="fr-FR" sz="2800" dirty="0"/>
              <a:t> have no CVE (no </a:t>
            </a:r>
            <a:r>
              <a:rPr lang="fr-FR" sz="2800" dirty="0" err="1"/>
              <a:t>request</a:t>
            </a:r>
            <a:r>
              <a:rPr lang="fr-FR" sz="2800" dirty="0"/>
              <a:t>, scope </a:t>
            </a:r>
            <a:r>
              <a:rPr lang="fr-FR" sz="2800" dirty="0" err="1"/>
              <a:t>limits</a:t>
            </a:r>
            <a:r>
              <a:rPr lang="fr-FR" sz="2800" dirty="0"/>
              <a:t>), but CVE </a:t>
            </a:r>
            <a:r>
              <a:rPr lang="fr-FR" sz="2800" dirty="0" err="1"/>
              <a:t>remains</a:t>
            </a:r>
            <a:r>
              <a:rPr lang="fr-FR" sz="2800" dirty="0"/>
              <a:t> the key standard.</a:t>
            </a:r>
          </a:p>
        </p:txBody>
      </p:sp>
    </p:spTree>
    <p:extLst>
      <p:ext uri="{BB962C8B-B14F-4D97-AF65-F5344CB8AC3E}">
        <p14:creationId xmlns:p14="http://schemas.microsoft.com/office/powerpoint/2010/main" val="263851462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214349" y="2282912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034282" y="2271151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3797369" y="2259392"/>
            <a:ext cx="6998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</a:rPr>
              <a:t>Top Kinds of Vulnerabilities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93821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008053" y="684404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197782"/>
            <a:ext cx="11960851" cy="52629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1) Why group vulnerabilities into categories?</a:t>
            </a:r>
          </a:p>
          <a:p>
            <a:r>
              <a:rPr lang="en-US" sz="2800" dirty="0"/>
              <a:t>Most vulnerabilities are not completely unique. They repeat as </a:t>
            </a:r>
            <a:r>
              <a:rPr lang="en-US" sz="2800" b="1" dirty="0"/>
              <a:t>patterns</a:t>
            </a:r>
            <a:r>
              <a:rPr lang="en-US" sz="2800" dirty="0"/>
              <a:t> (common mistakes) across many systems.</a:t>
            </a:r>
          </a:p>
          <a:p>
            <a:r>
              <a:rPr lang="en-US" sz="2800" dirty="0"/>
              <a:t>If we group vulnerabilities into </a:t>
            </a:r>
            <a:r>
              <a:rPr lang="en-US" sz="2800" b="1" dirty="0"/>
              <a:t>categories</a:t>
            </a:r>
            <a:r>
              <a:rPr lang="en-US" sz="2800" dirty="0"/>
              <a:t>, we can: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identify which </a:t>
            </a:r>
            <a:r>
              <a:rPr lang="en-US" sz="2800" b="1" dirty="0"/>
              <a:t>types are most common</a:t>
            </a:r>
            <a:r>
              <a:rPr lang="en-US" sz="2800" dirty="0"/>
              <a:t>,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understand their </a:t>
            </a:r>
            <a:r>
              <a:rPr lang="en-US" sz="2800" b="1" dirty="0"/>
              <a:t>root causes</a:t>
            </a:r>
            <a:r>
              <a:rPr lang="en-US" sz="2800" dirty="0"/>
              <a:t> (design, code, configuration),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apply </a:t>
            </a:r>
            <a:r>
              <a:rPr lang="en-US" sz="2800" b="1" dirty="0"/>
              <a:t>repeatable prevention steps</a:t>
            </a:r>
            <a:r>
              <a:rPr lang="en-US" sz="2800" dirty="0"/>
              <a:t> (secure coding rules, controls, tests),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avoid “fixing one-off bugs” without learning. </a:t>
            </a:r>
          </a:p>
          <a:p>
            <a:r>
              <a:rPr lang="en-US" sz="2800" dirty="0"/>
              <a:t>✅ Key idea: learning common categories helps prevent the same mistakes from happening again.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39409333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008053" y="684404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628671"/>
            <a:ext cx="11960851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2) What is CWE?</a:t>
            </a:r>
          </a:p>
          <a:p>
            <a:r>
              <a:rPr lang="en-US" sz="2800" b="1" dirty="0"/>
              <a:t>CWE (Common Weakness Enumeration)</a:t>
            </a:r>
            <a:r>
              <a:rPr lang="en-US" sz="2800" dirty="0"/>
              <a:t> is a comprehensive list (a taxonomy) of </a:t>
            </a:r>
            <a:r>
              <a:rPr lang="en-US" sz="2800" b="1" dirty="0"/>
              <a:t>common software weaknesses</a:t>
            </a:r>
            <a:r>
              <a:rPr lang="en-US" sz="2800" dirty="0"/>
              <a:t>.</a:t>
            </a:r>
          </a:p>
          <a:p>
            <a:r>
              <a:rPr lang="en-US" sz="2800" dirty="0"/>
              <a:t>In CWE terminology: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b="1" dirty="0"/>
              <a:t>“weakness”</a:t>
            </a:r>
            <a:r>
              <a:rPr lang="en-US" sz="2800" dirty="0"/>
              <a:t> means a </a:t>
            </a:r>
            <a:r>
              <a:rPr lang="en-US" sz="2800" b="1" dirty="0"/>
              <a:t>type/class of vulnerability</a:t>
            </a:r>
            <a:r>
              <a:rPr lang="en-US" sz="2800" dirty="0"/>
              <a:t>, not a specific incident. </a:t>
            </a:r>
          </a:p>
          <a:p>
            <a:r>
              <a:rPr lang="en-US" sz="2800" dirty="0"/>
              <a:t>Each weakness has an ID like: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CWE-20</a:t>
            </a:r>
            <a:r>
              <a:rPr lang="en-US" sz="2800" dirty="0"/>
              <a:t>, </a:t>
            </a:r>
            <a:r>
              <a:rPr lang="en-US" sz="2800" b="1" dirty="0"/>
              <a:t>CWE-89</a:t>
            </a:r>
            <a:r>
              <a:rPr lang="en-US" sz="2800" dirty="0"/>
              <a:t>, etc. </a:t>
            </a:r>
          </a:p>
          <a:p>
            <a:r>
              <a:rPr lang="en-US" sz="2800" dirty="0"/>
              <a:t>So CWE answers: </a:t>
            </a:r>
            <a:r>
              <a:rPr lang="en-US" sz="2800" b="1" dirty="0"/>
              <a:t>“What kind of vulnerability is this?”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94829416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008053" y="684404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351673"/>
            <a:ext cx="11960851" cy="49552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3) The essential difference: CVE vs CWE</a:t>
            </a:r>
          </a:p>
          <a:p>
            <a:r>
              <a:rPr lang="en-US" sz="2400" dirty="0"/>
              <a:t>This is the main thing to remember:</a:t>
            </a:r>
          </a:p>
          <a:p>
            <a:r>
              <a:rPr lang="en-US" sz="2400" b="1" dirty="0"/>
              <a:t>✅ CVE = a specific vulnerability in a specific product/version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An individual, real-world instance.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Format: </a:t>
            </a:r>
            <a:r>
              <a:rPr lang="en-US" sz="2400" b="1" dirty="0"/>
              <a:t>CVE-YYYY-NNNN</a:t>
            </a:r>
            <a:r>
              <a:rPr lang="en-US" sz="2400" dirty="0"/>
              <a:t> </a:t>
            </a:r>
          </a:p>
          <a:p>
            <a:r>
              <a:rPr lang="en-US" sz="2400" b="1" dirty="0"/>
              <a:t>✅ CWE = a type/category of vulnerability that can appear across products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 general pattern or class of weakness.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Format: </a:t>
            </a:r>
            <a:r>
              <a:rPr lang="en-US" sz="2400" b="1" dirty="0"/>
              <a:t>CWE-XX</a:t>
            </a:r>
            <a:r>
              <a:rPr lang="en-US" sz="2400" dirty="0"/>
              <a:t> </a:t>
            </a:r>
          </a:p>
          <a:p>
            <a:r>
              <a:rPr lang="en-US" sz="2400" b="1" dirty="0"/>
              <a:t>Simple example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“SQL Injection in Product X, version Y” → </a:t>
            </a:r>
            <a:r>
              <a:rPr lang="en-US" sz="2400" b="1" dirty="0"/>
              <a:t>CVE</a:t>
            </a:r>
            <a:r>
              <a:rPr lang="en-US" sz="2400" dirty="0"/>
              <a:t> (specific instance)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“SQL Injection as a category” → </a:t>
            </a:r>
            <a:r>
              <a:rPr lang="en-US" sz="2400" b="1" dirty="0"/>
              <a:t>CWE</a:t>
            </a:r>
            <a:r>
              <a:rPr lang="en-US" sz="2400" dirty="0"/>
              <a:t> (type), e.g. </a:t>
            </a:r>
            <a:r>
              <a:rPr lang="en-US" sz="2400" b="1" dirty="0"/>
              <a:t>CWE-89</a:t>
            </a:r>
            <a:r>
              <a:rPr lang="en-US" sz="2400" dirty="0"/>
              <a:t> </a:t>
            </a:r>
          </a:p>
          <a:p>
            <a:r>
              <a:rPr lang="en-US" sz="2400" dirty="0"/>
              <a:t>👉 In practice: a CVE often maps to one (or more) CWE categories.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52298101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008053" y="684404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4275" y="606539"/>
            <a:ext cx="11960851" cy="56938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4) Why the course can’t cover all CWEs</a:t>
            </a:r>
          </a:p>
          <a:p>
            <a:r>
              <a:rPr lang="en-US" sz="2400" dirty="0"/>
              <a:t>The CWE list is </a:t>
            </a:r>
            <a:r>
              <a:rPr lang="en-US" sz="2400" b="1" dirty="0"/>
              <a:t>very large</a:t>
            </a:r>
            <a:r>
              <a:rPr lang="en-US" sz="2400" dirty="0"/>
              <a:t>, so a course must focus on: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most </a:t>
            </a:r>
            <a:r>
              <a:rPr lang="en-US" sz="2400" b="1" dirty="0"/>
              <a:t>frequent</a:t>
            </a:r>
            <a:r>
              <a:rPr lang="en-US" sz="2400" dirty="0"/>
              <a:t> weaknesses,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most </a:t>
            </a:r>
            <a:r>
              <a:rPr lang="en-US" sz="2400" b="1" dirty="0"/>
              <a:t>severe/high-impact</a:t>
            </a:r>
            <a:r>
              <a:rPr lang="en-US" sz="2400" dirty="0"/>
              <a:t> ones,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ones most likely to appear in real systems. </a:t>
            </a:r>
          </a:p>
          <a:p>
            <a:r>
              <a:rPr lang="en-US" sz="2400" dirty="0"/>
              <a:t>That is why we use “Top lists”.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5) Why do “Top lists” exist?</a:t>
            </a:r>
          </a:p>
          <a:p>
            <a:r>
              <a:rPr lang="en-US" sz="2400" dirty="0"/>
              <a:t>Since CWE is huge, people have built “Top” lists using real-world evidence and prioritization based on: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likelihood</a:t>
            </a:r>
            <a:r>
              <a:rPr lang="en-US" sz="2400" dirty="0"/>
              <a:t> (how often it happens),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severity</a:t>
            </a:r>
            <a:r>
              <a:rPr lang="en-US" sz="2400" dirty="0"/>
              <a:t> (how damaging it is). </a:t>
            </a:r>
          </a:p>
          <a:p>
            <a:r>
              <a:rPr lang="en-US" sz="2400" dirty="0"/>
              <a:t>Two major efforts mentioned are: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OWASP Top 10</a:t>
            </a:r>
            <a:r>
              <a:rPr lang="en-US" sz="24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CWE Top 25</a:t>
            </a:r>
            <a:endParaRPr lang="en-US" sz="24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0203613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008053" y="684404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415624"/>
            <a:ext cx="11960851" cy="49552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6) OWASP Top 10 (Web focus)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OWASP Top 10</a:t>
            </a:r>
            <a:r>
              <a:rPr lang="en-US" sz="2400" dirty="0"/>
              <a:t> is a list representing broad consensus on the most critical security risks affecting </a:t>
            </a:r>
            <a:r>
              <a:rPr lang="en-US" sz="2400" b="1" dirty="0"/>
              <a:t>web applications</a:t>
            </a:r>
            <a:r>
              <a:rPr lang="en-US" sz="2400" dirty="0"/>
              <a:t>.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points: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It is officially called </a:t>
            </a:r>
            <a:r>
              <a:rPr lang="en-US" sz="2400" b="1" dirty="0"/>
              <a:t>OWASP Top 10 Web Application Security Risks</a:t>
            </a:r>
            <a:r>
              <a:rPr lang="en-US" sz="2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It is updated periodically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OWASP also maintains specialized versions: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OWASP Mobile Top 10</a:t>
            </a:r>
            <a:r>
              <a:rPr lang="en-US" sz="2400" dirty="0"/>
              <a:t> (mobile apps)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OWASP </a:t>
            </a:r>
            <a:r>
              <a:rPr lang="en-US" sz="2400" b="1" dirty="0" err="1"/>
              <a:t>IoT</a:t>
            </a:r>
            <a:r>
              <a:rPr lang="en-US" sz="2400" b="1" dirty="0"/>
              <a:t> Top 10</a:t>
            </a:r>
            <a:r>
              <a:rPr lang="en-US" sz="2400" dirty="0"/>
              <a:t> (connected devices)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The web list remains the most widely recognized. </a:t>
            </a:r>
          </a:p>
          <a:p>
            <a:r>
              <a:rPr lang="en-US" sz="2400" dirty="0"/>
              <a:t>OWASP Top 10 is about </a:t>
            </a:r>
            <a:r>
              <a:rPr lang="en-US" sz="2400" b="1" dirty="0"/>
              <a:t>web application risks</a:t>
            </a:r>
            <a:r>
              <a:rPr lang="en-US" sz="2400" dirty="0"/>
              <a:t> (how web apps fail and how attackers exploit them).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68436345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008053" y="684404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296239"/>
            <a:ext cx="11960851" cy="39395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7) CWE Top 25 (All software)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b="1" dirty="0"/>
              <a:t>CWE Top 25</a:t>
            </a:r>
            <a:r>
              <a:rPr lang="en-US" sz="2400" dirty="0"/>
              <a:t> identifies the most widespread and critical kinds of weaknesses based on long-term analysis of publicly known vulnerabilities.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Key differences from OWASP: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OWASP Top 10 → focused on </a:t>
            </a:r>
            <a:r>
              <a:rPr lang="en-US" sz="2400" b="1" dirty="0"/>
              <a:t>web apps</a:t>
            </a:r>
            <a:r>
              <a:rPr lang="en-US" sz="2400" dirty="0"/>
              <a:t> 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CWE Top 25 → applies to </a:t>
            </a:r>
            <a:r>
              <a:rPr lang="en-US" sz="2400" b="1" dirty="0"/>
              <a:t>all types of software</a:t>
            </a:r>
            <a:r>
              <a:rPr lang="en-US" sz="2400" dirty="0"/>
              <a:t>, not only web </a:t>
            </a:r>
          </a:p>
          <a:p>
            <a:r>
              <a:rPr lang="en-US" sz="2400" dirty="0"/>
              <a:t>Also, although it’s called “Top 25,” related weaknesses beyond the first 25 are also tracked as important.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59495689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008053" y="684404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188520"/>
            <a:ext cx="11960851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8) Why these lists change slowly</a:t>
            </a:r>
          </a:p>
          <a:p>
            <a:r>
              <a:rPr lang="en-US" sz="2400" dirty="0"/>
              <a:t>The text notes something important: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top vulnerability types do change over time, 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but </a:t>
            </a:r>
            <a:r>
              <a:rPr lang="en-US" sz="2400" b="1" dirty="0"/>
              <a:t>not very much</a:t>
            </a:r>
            <a:r>
              <a:rPr lang="en-US" sz="2400" dirty="0"/>
              <a:t>. 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Many top weaknesses have been common for </a:t>
            </a:r>
            <a:r>
              <a:rPr lang="en-US" sz="2400" b="1" dirty="0"/>
              <a:t>decades</a:t>
            </a:r>
            <a:r>
              <a:rPr lang="en-US" sz="2400" dirty="0"/>
              <a:t> (e.g., input validation errors, access control problems, memory safety issues in some contexts). Web application problems have also been common since the 1990s.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✅ Good news for learning: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mastering these “top” vulnerability types will remain useful for years. 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66970799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008053" y="684404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896408"/>
            <a:ext cx="11960851" cy="27392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9) What do “Notes” in the course mean?</a:t>
            </a:r>
          </a:p>
          <a:p>
            <a:r>
              <a:rPr lang="en-US" sz="2400" dirty="0"/>
              <a:t>When the course includes a “Note,” it indicates that the vulnerability being discussed is so common that it appears in: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</a:t>
            </a:r>
            <a:r>
              <a:rPr lang="en-US" sz="2400" b="1" dirty="0"/>
              <a:t>OWASP Top 10</a:t>
            </a:r>
            <a:r>
              <a:rPr lang="en-US" sz="2400" dirty="0"/>
              <a:t> and/or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</a:t>
            </a:r>
            <a:r>
              <a:rPr lang="en-US" sz="2400" b="1" dirty="0"/>
              <a:t>CWE Top 25</a:t>
            </a:r>
            <a:r>
              <a:rPr lang="en-US" sz="2400" dirty="0"/>
              <a:t> </a:t>
            </a:r>
          </a:p>
          <a:p>
            <a:r>
              <a:rPr lang="en-US" sz="2400" dirty="0"/>
              <a:t>In other words: </a:t>
            </a:r>
            <a:r>
              <a:rPr lang="en-US" sz="2400" b="1" dirty="0"/>
              <a:t>high-priority</a:t>
            </a:r>
            <a:r>
              <a:rPr lang="en-US" sz="2400" dirty="0"/>
              <a:t> and worth mastering.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09331277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008053" y="684404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711745"/>
            <a:ext cx="11960851" cy="31085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10) How to use this to prevent vulnerabilities (simple method)</a:t>
            </a:r>
          </a:p>
          <a:p>
            <a:r>
              <a:rPr lang="en-US" sz="2400" dirty="0"/>
              <a:t>A practical learning/prevention workflow is: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Identify the category (CWE and/or OWASP)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Understand the mechanism and root cause (design vs code vs </a:t>
            </a:r>
            <a:r>
              <a:rPr lang="en-US" sz="2400" dirty="0" err="1"/>
              <a:t>config</a:t>
            </a:r>
            <a:r>
              <a:rPr lang="en-US" sz="2400" dirty="0"/>
              <a:t>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Apply controls (secure design, validation, </a:t>
            </a:r>
            <a:r>
              <a:rPr lang="en-US" sz="2400" dirty="0" err="1"/>
              <a:t>authz</a:t>
            </a:r>
            <a:r>
              <a:rPr lang="en-US" sz="2400" dirty="0"/>
              <a:t>, least privilege, etc.)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Add a verification test (unit/integration/security tests, SAST/DAST, </a:t>
            </a:r>
            <a:r>
              <a:rPr lang="en-US" sz="2400" dirty="0" err="1"/>
              <a:t>auth</a:t>
            </a:r>
            <a:r>
              <a:rPr lang="en-US" sz="2400" dirty="0"/>
              <a:t> tests)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Repeat using checklists, reviews, and automation </a:t>
            </a:r>
          </a:p>
          <a:p>
            <a:pPr marL="514350" indent="-514350">
              <a:buFont typeface="+mj-lt"/>
              <a:buAutoNum type="arabicPeriod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17570537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214349" y="2282912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034282" y="2271151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3797369" y="2259392"/>
            <a:ext cx="69989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</a:rPr>
              <a:t>Value of Knowing Top Kinds of Vulnerabilities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6221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034183" y="696109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Value of Knowing 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305" y="1435713"/>
            <a:ext cx="11960851" cy="493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100" b="1" dirty="0">
                <a:solidFill>
                  <a:srgbClr val="FF0000"/>
                </a:solidFill>
              </a:rPr>
              <a:t>1) Core message: “Knowing common vulnerabilities ≠ secure software”</a:t>
            </a:r>
          </a:p>
          <a:p>
            <a:r>
              <a:rPr lang="en-US" sz="2100" dirty="0"/>
              <a:t>The course will spend a lot of time on </a:t>
            </a:r>
            <a:r>
              <a:rPr lang="en-US" sz="2100" b="1" dirty="0"/>
              <a:t>common vulnerability types</a:t>
            </a:r>
            <a:r>
              <a:rPr lang="en-US" sz="2100" dirty="0"/>
              <a:t> (OWASP Top 10, CWE Top 25, etc.). The text warns about a common misunderstanding: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100" dirty="0"/>
              <a:t>Students may think: “If I avoid these common mistakes, that’s all I need to build secure software.”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100" b="1" dirty="0"/>
              <a:t>That is not true.</a:t>
            </a:r>
            <a:r>
              <a:rPr lang="en-US" sz="2100" dirty="0"/>
              <a:t> </a:t>
            </a:r>
          </a:p>
          <a:p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✅ Why not?</a:t>
            </a:r>
            <a:r>
              <a:rPr lang="en-US" sz="2100" dirty="0"/>
              <a:t/>
            </a:r>
            <a:br>
              <a:rPr lang="en-US" sz="2100" dirty="0"/>
            </a:br>
            <a:r>
              <a:rPr lang="en-US" sz="2100" dirty="0"/>
              <a:t>Because secure software is more than avoiding known bugs. It also requires: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100" dirty="0"/>
              <a:t>clear </a:t>
            </a:r>
            <a:r>
              <a:rPr lang="en-US" sz="2100" b="1" dirty="0"/>
              <a:t>security requirements</a:t>
            </a:r>
            <a:r>
              <a:rPr lang="en-US" sz="2100" dirty="0"/>
              <a:t> (what must be protected, by whom, from what),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100" dirty="0"/>
              <a:t>secure </a:t>
            </a:r>
            <a:r>
              <a:rPr lang="en-US" sz="2100" b="1" dirty="0"/>
              <a:t>architecture/design</a:t>
            </a:r>
            <a:r>
              <a:rPr lang="en-US" sz="2100" dirty="0"/>
              <a:t> (trust boundaries, attack surface reduction),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100" dirty="0"/>
              <a:t>correct </a:t>
            </a:r>
            <a:r>
              <a:rPr lang="en-US" sz="2100" b="1" dirty="0"/>
              <a:t>controls</a:t>
            </a:r>
            <a:r>
              <a:rPr lang="en-US" sz="2100" dirty="0"/>
              <a:t> (</a:t>
            </a:r>
            <a:r>
              <a:rPr lang="en-US" sz="2100" dirty="0" err="1"/>
              <a:t>auth</a:t>
            </a:r>
            <a:r>
              <a:rPr lang="en-US" sz="2100" dirty="0"/>
              <a:t>, access control, crypto, dependency choices),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100" b="1" dirty="0"/>
              <a:t>risk management</a:t>
            </a:r>
            <a:r>
              <a:rPr lang="en-US" sz="2100" dirty="0"/>
              <a:t> (prioritize, verify, monitor),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100" dirty="0"/>
              <a:t>secure </a:t>
            </a:r>
            <a:r>
              <a:rPr lang="en-US" sz="2100" b="1" dirty="0"/>
              <a:t>operations</a:t>
            </a:r>
            <a:r>
              <a:rPr lang="en-US" sz="2100" dirty="0"/>
              <a:t> (logging, monitoring, incident response, patching),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100" dirty="0"/>
              <a:t>and most importantly: </a:t>
            </a:r>
            <a:r>
              <a:rPr lang="en-US" sz="2100" b="1" dirty="0"/>
              <a:t>thinking like an attacker</a:t>
            </a:r>
            <a:r>
              <a:rPr lang="en-US" sz="2100" dirty="0"/>
              <a:t>. </a:t>
            </a:r>
          </a:p>
          <a:p>
            <a:r>
              <a:rPr lang="en-US" sz="2100" dirty="0"/>
              <a:t>So: avoiding common mistakes is </a:t>
            </a:r>
            <a:r>
              <a:rPr lang="en-US" sz="2100" b="1" dirty="0"/>
              <a:t>necessary</a:t>
            </a:r>
            <a:r>
              <a:rPr lang="en-US" sz="2100" dirty="0"/>
              <a:t>, but not </a:t>
            </a:r>
            <a:r>
              <a:rPr lang="en-US" sz="2100" b="1" dirty="0"/>
              <a:t>sufficient</a:t>
            </a:r>
            <a:r>
              <a:rPr lang="en-US" sz="2100" dirty="0" smtClean="0"/>
              <a:t>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19225051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034183" y="696109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Value of Knowing 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4960" y="1280884"/>
            <a:ext cx="11960851" cy="48320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200" b="1" dirty="0">
                <a:solidFill>
                  <a:srgbClr val="FF0000"/>
                </a:solidFill>
                <a:latin typeface="Calibri corps"/>
              </a:rPr>
              <a:t>2) Why common vulnerabilities are still extremely valuable</a:t>
            </a:r>
          </a:p>
          <a:p>
            <a:r>
              <a:rPr lang="en-US" sz="2200" dirty="0">
                <a:latin typeface="Calibri corps"/>
              </a:rPr>
              <a:t>Even though they don’t guarantee perfect security, understanding common vulnerability types has huge benefits.</a:t>
            </a:r>
          </a:p>
          <a:p>
            <a:r>
              <a:rPr lang="en-US" sz="2200" b="1" dirty="0">
                <a:latin typeface="Calibri corps"/>
              </a:rPr>
              <a:t>A) They cover most real-world vulnerabilities (90%–99%)</a:t>
            </a:r>
          </a:p>
          <a:p>
            <a:r>
              <a:rPr lang="en-US" sz="2200" dirty="0">
                <a:latin typeface="Calibri corps"/>
              </a:rPr>
              <a:t>The text claims that (depending on measurement) </a:t>
            </a:r>
            <a:r>
              <a:rPr lang="en-US" sz="2200" b="1" dirty="0">
                <a:latin typeface="Calibri corps"/>
              </a:rPr>
              <a:t>90% to 99%</a:t>
            </a:r>
            <a:r>
              <a:rPr lang="en-US" sz="2200" dirty="0">
                <a:latin typeface="Calibri corps"/>
              </a:rPr>
              <a:t> of vulnerabilities are covered by these “top lists.”</a:t>
            </a:r>
          </a:p>
          <a:p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corps"/>
              </a:rPr>
              <a:t>Teaching meaning: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Calibri corps"/>
              </a:rPr>
              <a:t>A relatively small set of patterns explains a large portion of real incidents.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Calibri corps"/>
              </a:rPr>
              <a:t>Learning them gives you a high return on learning effort. </a:t>
            </a:r>
          </a:p>
          <a:p>
            <a:r>
              <a:rPr lang="en-US" sz="2200" b="1" dirty="0">
                <a:latin typeface="Calibri corps"/>
              </a:rPr>
              <a:t>B) “An order of magnitude” reduction</a:t>
            </a:r>
          </a:p>
          <a:p>
            <a:r>
              <a:rPr lang="en-US" sz="2200" dirty="0">
                <a:latin typeface="Calibri corps"/>
              </a:rPr>
              <a:t>Preventing common mistakes can reduce vulnerabilities by </a:t>
            </a:r>
            <a:r>
              <a:rPr lang="en-US" sz="2200" b="1" dirty="0">
                <a:latin typeface="Calibri corps"/>
              </a:rPr>
              <a:t>at least an order of magnitude</a:t>
            </a:r>
            <a:r>
              <a:rPr lang="en-US" sz="2200" dirty="0">
                <a:latin typeface="Calibri corps"/>
              </a:rPr>
              <a:t>.</a:t>
            </a:r>
          </a:p>
          <a:p>
            <a:r>
              <a:rPr lang="en-US" sz="2200" dirty="0">
                <a:solidFill>
                  <a:schemeClr val="accent1">
                    <a:lumMod val="75000"/>
                  </a:schemeClr>
                </a:solidFill>
                <a:latin typeface="Calibri corps"/>
              </a:rPr>
              <a:t>➡️ “Order of magnitude” ≈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Calibri corps"/>
              </a:rPr>
              <a:t>10× fewer vulnerabilities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  <a:latin typeface="Calibri corps"/>
              </a:rPr>
              <a:t>.</a:t>
            </a:r>
          </a:p>
          <a:p>
            <a:r>
              <a:rPr lang="en-US" sz="2200" dirty="0">
                <a:latin typeface="Calibri corps"/>
              </a:rPr>
              <a:t>So you move from “many easy-to-exploit issues” to “much harder to break” even without perfection</a:t>
            </a:r>
            <a:r>
              <a:rPr lang="en-US" sz="2200" dirty="0" smtClean="0">
                <a:latin typeface="Calibri corps"/>
              </a:rPr>
              <a:t>.</a:t>
            </a:r>
            <a:endParaRPr lang="en-US" sz="2200" dirty="0">
              <a:latin typeface="Calibri corps"/>
            </a:endParaRPr>
          </a:p>
        </p:txBody>
      </p:sp>
    </p:spTree>
    <p:extLst>
      <p:ext uri="{BB962C8B-B14F-4D97-AF65-F5344CB8AC3E}">
        <p14:creationId xmlns:p14="http://schemas.microsoft.com/office/powerpoint/2010/main" val="188955564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034183" y="696109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Value of Knowing 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305" y="1481586"/>
            <a:ext cx="11960851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3) “Never make mistakes” is unrealistic — managing common mistakes is practical</a:t>
            </a:r>
          </a:p>
          <a:p>
            <a:r>
              <a:rPr lang="en-US" sz="2400" dirty="0"/>
              <a:t>The text contrasts two approaches: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“Never make a mistake” is impractical in real development (complexity, time pressure, human error).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But it </a:t>
            </a:r>
            <a:r>
              <a:rPr lang="en-US" sz="2400" i="1" dirty="0"/>
              <a:t>is</a:t>
            </a:r>
            <a:r>
              <a:rPr lang="en-US" sz="2400" dirty="0"/>
              <a:t> practical to focus on identifying and managing the </a:t>
            </a:r>
            <a:r>
              <a:rPr lang="en-US" sz="2400" b="1" dirty="0"/>
              <a:t>most common</a:t>
            </a:r>
            <a:r>
              <a:rPr lang="en-US" sz="2400" dirty="0"/>
              <a:t> mistakes that lead to vulnerabilities. </a:t>
            </a:r>
          </a:p>
          <a:p>
            <a:r>
              <a:rPr lang="en-US" sz="2400" dirty="0"/>
              <a:t>This is the security mindset of prioritization: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fix what happens most often,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reduce the largest risks first,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apply systematic controls (checklists, reviews, testing, automation).</a:t>
            </a:r>
          </a:p>
        </p:txBody>
      </p:sp>
    </p:spTree>
    <p:extLst>
      <p:ext uri="{BB962C8B-B14F-4D97-AF65-F5344CB8AC3E}">
        <p14:creationId xmlns:p14="http://schemas.microsoft.com/office/powerpoint/2010/main" val="9720100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034183" y="696109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Value of Knowing 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42080" y="1925878"/>
            <a:ext cx="93426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4) </a:t>
            </a:r>
            <a:r>
              <a:rPr kumimoji="0" lang="fr-FR" altLang="fr-FR" sz="3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Why</a:t>
            </a:r>
            <a:r>
              <a:rPr kumimoji="0" lang="fr-FR" altLang="fr-FR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3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these</a:t>
            </a:r>
            <a:r>
              <a:rPr kumimoji="0" lang="fr-FR" altLang="fr-FR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3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vulnerabilities</a:t>
            </a:r>
            <a:r>
              <a:rPr kumimoji="0" lang="fr-FR" altLang="fr-FR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fr-FR" altLang="fr-FR" sz="3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common</a:t>
            </a:r>
            <a:endParaRPr kumimoji="0" lang="fr-FR" altLang="fr-FR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key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appearing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Many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developers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simply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don’t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know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what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they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don’t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know the pattern,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can’t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them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fr-FR" alt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</a:t>
            </a:r>
            <a:r>
              <a:rPr kumimoji="0" lang="fr-FR" altLang="fr-FR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toward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them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594122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9" y="69616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72162" y="684404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034183" y="696109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Value of Knowing 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42080" y="1587325"/>
            <a:ext cx="11082049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5) The “tip”: common-</a:t>
            </a:r>
            <a:r>
              <a:rPr lang="en-US" sz="2800" b="1" dirty="0" err="1" smtClean="0">
                <a:solidFill>
                  <a:srgbClr val="FF0000"/>
                </a:solidFill>
              </a:rPr>
              <a:t>vuln</a:t>
            </a:r>
            <a:r>
              <a:rPr lang="en-US" sz="2800" b="1" dirty="0" smtClean="0">
                <a:solidFill>
                  <a:srgbClr val="FF0000"/>
                </a:solidFill>
              </a:rPr>
              <a:t> knowledge gives a strong head start</a:t>
            </a:r>
          </a:p>
          <a:p>
            <a:r>
              <a:rPr lang="en-US" sz="2800" dirty="0" smtClean="0"/>
              <a:t>Understanding common vulnerabilities won’t make software perfect, </a:t>
            </a:r>
          </a:p>
          <a:p>
            <a:pPr>
              <a:spcAft>
                <a:spcPts val="1200"/>
              </a:spcAft>
            </a:pPr>
            <a:r>
              <a:rPr lang="en-US" sz="2800" dirty="0" smtClean="0"/>
              <a:t>but it gives a </a:t>
            </a:r>
            <a:r>
              <a:rPr lang="en-US" sz="2800" b="1" dirty="0" smtClean="0"/>
              <a:t>powerful head start</a:t>
            </a:r>
            <a:r>
              <a:rPr lang="en-US" sz="2800" dirty="0" smtClean="0"/>
              <a:t> toward secure software.</a:t>
            </a:r>
          </a:p>
          <a:p>
            <a:pPr>
              <a:spcAft>
                <a:spcPts val="1200"/>
              </a:spcAft>
            </a:pPr>
            <a:r>
              <a:rPr lang="en-US" sz="2800" dirty="0" smtClean="0"/>
              <a:t>In classroom terms: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You won’t eliminate every risk,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but you remove many of the “easy wins” attackers rely on.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3223382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496736" y="507907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16669" y="496146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778690" y="507851"/>
            <a:ext cx="7413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 Value of Knowing 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20005" y="1014637"/>
            <a:ext cx="12251289" cy="54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300" b="1" dirty="0" smtClean="0">
                <a:solidFill>
                  <a:srgbClr val="FF0000"/>
                </a:solidFill>
              </a:rPr>
              <a:t>6) Second benefit: learning common vulnerabilities improves your ability to find other vulnerabilities</a:t>
            </a:r>
          </a:p>
          <a:p>
            <a:r>
              <a:rPr lang="en-US" sz="2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text adds an important point: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dirty="0" smtClean="0"/>
              <a:t>There is </a:t>
            </a:r>
            <a:r>
              <a:rPr lang="en-US" sz="2300" b="1" dirty="0" smtClean="0"/>
              <a:t>no substitute for thinking</a:t>
            </a:r>
            <a:r>
              <a:rPr lang="en-US" sz="2300" dirty="0" smtClean="0"/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dirty="0" smtClean="0"/>
              <a:t>Many developers struggle to view systems the way attackers do.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dirty="0" smtClean="0"/>
              <a:t>Studying common vulnerabilities from the past makes you more sensitive to weaknesses in general. </a:t>
            </a:r>
          </a:p>
          <a:p>
            <a:r>
              <a:rPr lang="en-US" sz="2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Practical interpretation:</a:t>
            </a:r>
            <a:r>
              <a:rPr lang="en-US" sz="2300" dirty="0" smtClean="0"/>
              <a:t/>
            </a:r>
            <a:br>
              <a:rPr lang="en-US" sz="2300" dirty="0" smtClean="0"/>
            </a:br>
            <a:r>
              <a:rPr lang="en-US" sz="2300" dirty="0" smtClean="0"/>
              <a:t>Common vulnerabilities act like “training lenses” that sharpen your security instincts: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dirty="0" smtClean="0"/>
              <a:t>Where are the untrusted inputs?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dirty="0" smtClean="0"/>
              <a:t>Where are trust decisions being made?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dirty="0" smtClean="0"/>
              <a:t>Where could access control fail?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dirty="0" smtClean="0"/>
              <a:t>What assumptions could an attacker break?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dirty="0" smtClean="0"/>
              <a:t>What data is sensitive, and where does it flow? </a:t>
            </a:r>
          </a:p>
          <a:p>
            <a:r>
              <a:rPr lang="en-US" sz="23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✅ So common-</a:t>
            </a:r>
            <a:r>
              <a:rPr lang="en-US" sz="2300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vuln</a:t>
            </a:r>
            <a:r>
              <a:rPr lang="en-US" sz="23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knowledge doesn’t replace thinking — it </a:t>
            </a:r>
            <a:r>
              <a:rPr lang="en-US" sz="23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helps you think better</a:t>
            </a:r>
            <a:r>
              <a:rPr lang="en-US" sz="23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23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84915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496736" y="507907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16669" y="496146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778690" y="507851"/>
            <a:ext cx="7413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 Value of Knowing 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20005" y="1429292"/>
            <a:ext cx="12251289" cy="358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7) A short summary 1 (3 lines)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/>
              <a:t>Top vulnerability types are high-impact: preventing them can remove most real-world issues.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/>
              <a:t>But secure software also needs requirements, design, controls, verification, and operations.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/>
              <a:t>Learning common vulnerability patterns strengthens your attacker mindset and helps you discover new problems too. </a:t>
            </a:r>
          </a:p>
          <a:p>
            <a:endParaRPr lang="en-US" sz="2400" dirty="0" smtClean="0"/>
          </a:p>
          <a:p>
            <a:endParaRPr lang="en-US" sz="23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093810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496736" y="507907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16669" y="496146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778690" y="507851"/>
            <a:ext cx="7413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 Value of Knowing Top Kinds of Vulnerabilities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6907" y="1354964"/>
            <a:ext cx="12251289" cy="450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8) Summary2: Common vulnerabilities: necessary, but not sufficient</a:t>
            </a:r>
          </a:p>
          <a:p>
            <a:r>
              <a:rPr lang="en-US" sz="2400" b="1" dirty="0" smtClean="0"/>
              <a:t>3 key ideas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Avoiding common bugs isn’t enough:</a:t>
            </a:r>
            <a:r>
              <a:rPr lang="en-US" sz="2400" dirty="0" smtClean="0"/>
              <a:t> secure software needs requirements, design, controls, verification, and operations (logs/monitoring/patching) + attacker thinking.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Still high ROI:</a:t>
            </a:r>
            <a:r>
              <a:rPr lang="en-US" sz="2400" dirty="0" smtClean="0"/>
              <a:t> learning “top” patterns removes many easy-to-exploit issues and significantly reduces risk.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Improves security thinking:</a:t>
            </a:r>
            <a:r>
              <a:rPr lang="en-US" sz="2400" dirty="0" smtClean="0"/>
              <a:t> common patterns train you to spot new issues (untrusted inputs, trust decisions, access control, sensitive data flows). </a:t>
            </a:r>
          </a:p>
          <a:p>
            <a:r>
              <a:rPr lang="en-US" sz="2400" b="1" dirty="0" smtClean="0"/>
              <a:t>Mini diagram: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Top patterns → fewer obvious flaws → more focus on system-specific risks → stronger security</a:t>
            </a:r>
          </a:p>
          <a:p>
            <a:endParaRPr lang="en-US" sz="2400" dirty="0" smtClean="0"/>
          </a:p>
          <a:p>
            <a:endParaRPr lang="en-US" sz="23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965472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2195272" y="2590318"/>
            <a:ext cx="6520109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3015206" y="2578557"/>
            <a:ext cx="5357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/>
              <a:t>Secure </a:t>
            </a:r>
            <a:r>
              <a:rPr lang="fr-FR" sz="3200" b="1" dirty="0" smtClean="0"/>
              <a:t>Design </a:t>
            </a:r>
            <a:r>
              <a:rPr lang="fr-FR" sz="3200" b="1" dirty="0" err="1" smtClean="0"/>
              <a:t>Principles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73940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218253" y="2590318"/>
            <a:ext cx="5939654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953114" y="2578557"/>
            <a:ext cx="5357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/>
              <a:t>Secure </a:t>
            </a:r>
            <a:r>
              <a:rPr lang="fr-FR" sz="3200" b="1" dirty="0" smtClean="0"/>
              <a:t>Design </a:t>
            </a:r>
            <a:r>
              <a:rPr lang="fr-FR" sz="3200" b="1" dirty="0" err="1" smtClean="0"/>
              <a:t>Principles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310390" y="2492887"/>
            <a:ext cx="4956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396534635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4142" y="1463996"/>
            <a:ext cx="11824712" cy="48167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2400" dirty="0" smtClean="0"/>
              <a:t>When </a:t>
            </a:r>
            <a:r>
              <a:rPr lang="en-US" sz="2400" dirty="0"/>
              <a:t>you build non-trivial software, you cannot treat the whole problem as one single block. You need to </a:t>
            </a:r>
            <a:r>
              <a:rPr lang="en-US" sz="2400" b="1" dirty="0">
                <a:solidFill>
                  <a:srgbClr val="C00000"/>
                </a:solidFill>
              </a:rPr>
              <a:t>divide the system into smaller parts</a:t>
            </a:r>
            <a:r>
              <a:rPr lang="en-US" sz="2400" dirty="0">
                <a:solidFill>
                  <a:srgbClr val="C00000"/>
                </a:solidFill>
              </a:rPr>
              <a:t> that work together</a:t>
            </a:r>
            <a:r>
              <a:rPr lang="en-US" sz="2400" dirty="0"/>
              <a:t>.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For example, during design you decide: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classes to create</a:t>
            </a:r>
            <a:r>
              <a:rPr lang="en-US" sz="2400" dirty="0"/>
              <a:t>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methods belong in each class</a:t>
            </a:r>
            <a:r>
              <a:rPr lang="en-US" sz="2400" dirty="0"/>
              <a:t>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components communicate</a:t>
            </a:r>
            <a:r>
              <a:rPr lang="en-US" sz="2400" dirty="0"/>
              <a:t>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data is stored</a:t>
            </a:r>
            <a:r>
              <a:rPr lang="en-US" sz="2400" dirty="0"/>
              <a:t>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component is allowed to do what</a:t>
            </a:r>
            <a:r>
              <a:rPr lang="en-US" sz="2400" dirty="0"/>
              <a:t>. 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All of these decisions form the </a:t>
            </a:r>
            <a:r>
              <a:rPr lang="en-US" sz="2400" b="1" dirty="0">
                <a:solidFill>
                  <a:srgbClr val="FF0000"/>
                </a:solidFill>
              </a:rPr>
              <a:t>design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FF0000"/>
                </a:solidFill>
              </a:rPr>
              <a:t>architectural design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of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the software</a:t>
            </a:r>
            <a:r>
              <a:rPr lang="en-US" sz="2400" dirty="0"/>
              <a:t>.</a:t>
            </a:r>
          </a:p>
          <a:p>
            <a:r>
              <a:rPr lang="en-US" sz="2400" dirty="0"/>
              <a:t>Here,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word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does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not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mean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interface design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or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 appearance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It means the </a:t>
            </a:r>
            <a:r>
              <a:rPr lang="en-US" sz="2400" b="1" dirty="0">
                <a:solidFill>
                  <a:srgbClr val="C00000"/>
                </a:solidFill>
              </a:rPr>
              <a:t>internal structure of the system</a:t>
            </a:r>
            <a:r>
              <a:rPr lang="en-US" sz="24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696165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684404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207732966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42080" y="1515821"/>
            <a:ext cx="11022444" cy="4678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dirty="0"/>
              <a:t>A 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includes decisions </a:t>
            </a:r>
            <a:r>
              <a:rPr lang="en-US" sz="2800" dirty="0"/>
              <a:t>such as: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classes or modules to create</a:t>
            </a:r>
            <a:r>
              <a:rPr lang="en-US" sz="2800" dirty="0"/>
              <a:t>,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responsibilities belong to each component</a:t>
            </a:r>
            <a:r>
              <a:rPr lang="en-US" sz="2800" dirty="0"/>
              <a:t>,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 communicate</a:t>
            </a:r>
            <a:r>
              <a:rPr lang="en-US" sz="2800" dirty="0"/>
              <a:t>,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moves through the system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which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parts are allowed to perform which actions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These decisions matter because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problems </a:t>
            </a:r>
            <a:r>
              <a:rPr lang="en-US" sz="2800" dirty="0"/>
              <a:t>often come not only from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bad code</a:t>
            </a:r>
            <a:r>
              <a:rPr lang="en-US" sz="2800" dirty="0"/>
              <a:t>, but from </a:t>
            </a:r>
            <a:r>
              <a:rPr lang="en-US" sz="2800" b="1" dirty="0"/>
              <a:t>bad structure</a:t>
            </a:r>
            <a:r>
              <a:rPr lang="en-US" sz="2800" dirty="0"/>
              <a:t>. A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poorly designed system can remain vulnerable even</a:t>
            </a:r>
            <a:r>
              <a:rPr lang="en-US" sz="2800" dirty="0"/>
              <a:t> if the code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clean and technically correct.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696165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684404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47489679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42080" y="1190570"/>
            <a:ext cx="11425558" cy="55707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300" b="1" dirty="0">
                <a:solidFill>
                  <a:srgbClr val="FF0000"/>
                </a:solidFill>
              </a:rPr>
              <a:t>) Design is how software is organized</a:t>
            </a:r>
          </a:p>
          <a:p>
            <a:r>
              <a:rPr lang="en-US" sz="2300" dirty="0"/>
              <a:t>Design is the process of deciding how the software will be structured internally.</a:t>
            </a:r>
          </a:p>
          <a:p>
            <a:r>
              <a:rPr lang="en-US" sz="2300" dirty="0"/>
              <a:t>For example, you may ask: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300" dirty="0"/>
              <a:t>Should the front end and back end be separated? 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300" dirty="0"/>
              <a:t>Should authentication be handled by a dedicated service? 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300" dirty="0"/>
              <a:t>Should every module access the database directly? 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300" dirty="0"/>
              <a:t>Should sensitive operations go through an authorization layer first? </a:t>
            </a:r>
          </a:p>
          <a:p>
            <a:r>
              <a:rPr lang="en-US" sz="2300" dirty="0"/>
              <a:t>These are design decisions, and they strongly affect: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300" dirty="0"/>
              <a:t>maintainability, 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300" dirty="0"/>
              <a:t>performance, 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300" dirty="0"/>
              <a:t>reliability, 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300" dirty="0"/>
              <a:t>and especially </a:t>
            </a:r>
            <a:r>
              <a:rPr lang="en-US" sz="2300" b="1" dirty="0"/>
              <a:t>security</a:t>
            </a:r>
            <a:r>
              <a:rPr lang="en-US" sz="2300" dirty="0"/>
              <a:t>. </a:t>
            </a:r>
          </a:p>
          <a:p>
            <a:r>
              <a:rPr lang="en-US" sz="2300" dirty="0"/>
              <a:t>So software security does not depend only on code.</a:t>
            </a:r>
            <a:br>
              <a:rPr lang="en-US" sz="2300" dirty="0"/>
            </a:br>
            <a:r>
              <a:rPr lang="en-US" sz="2300" dirty="0"/>
              <a:t>It also depends on </a:t>
            </a:r>
            <a:r>
              <a:rPr lang="en-US" sz="2300" b="1" dirty="0"/>
              <a:t>how the system is designed</a:t>
            </a:r>
            <a:r>
              <a:rPr lang="en-US" sz="23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696165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684404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188017153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5883" y="1335051"/>
            <a:ext cx="11425558" cy="51398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2) Design is iterative</a:t>
            </a:r>
          </a:p>
          <a:p>
            <a:r>
              <a:rPr lang="en-US" sz="2800" dirty="0"/>
              <a:t>The passage says: </a:t>
            </a:r>
            <a:r>
              <a:rPr lang="en-US" sz="2800" b="1" dirty="0"/>
              <a:t>Design is iterative</a:t>
            </a:r>
            <a:r>
              <a:rPr lang="en-US" sz="2800" dirty="0"/>
              <a:t>.</a:t>
            </a:r>
          </a:p>
          <a:p>
            <a:r>
              <a:rPr lang="en-US" sz="2800" dirty="0"/>
              <a:t>This means design does not happen once at the beginning and then stay fixed forever. In real software development, the process often looks like this: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You create an initial design.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You start implementing it.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You discover weaknesses or limitations.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You revise the structure.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You redesign parts of the system. </a:t>
            </a:r>
          </a:p>
          <a:p>
            <a:r>
              <a:rPr lang="en-US" sz="2800" dirty="0"/>
              <a:t>So design is an </a:t>
            </a:r>
            <a:r>
              <a:rPr lang="en-US" sz="2800" b="1" dirty="0"/>
              <a:t>ongoing process</a:t>
            </a:r>
            <a:r>
              <a:rPr lang="en-US" sz="28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696165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684404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42382803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5883" y="1233011"/>
            <a:ext cx="11425558" cy="54784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200" b="1" dirty="0"/>
              <a:t>Example</a:t>
            </a:r>
          </a:p>
          <a:p>
            <a:r>
              <a:rPr lang="en-US" sz="2200" dirty="0"/>
              <a:t>Suppose you create an application with: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200" dirty="0"/>
              <a:t>a user module, 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200" dirty="0"/>
              <a:t>an admin module, 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200" dirty="0"/>
              <a:t>a payment module. </a:t>
            </a:r>
          </a:p>
          <a:p>
            <a:r>
              <a:rPr lang="en-US" sz="2200" dirty="0"/>
              <a:t>Later, during implementation, you realize: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200" dirty="0"/>
              <a:t>the admin module has too many privileges, 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200" dirty="0"/>
              <a:t>the payment module accesses sensitive data too directly, 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200" dirty="0"/>
              <a:t>there is not enough isolation between components. </a:t>
            </a:r>
          </a:p>
          <a:p>
            <a:r>
              <a:rPr lang="en-US" sz="2200" dirty="0"/>
              <a:t>At that point, you may redesign the system by: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200" dirty="0"/>
              <a:t>adding an authorization layer, 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200" dirty="0"/>
              <a:t>separating sensitive functions, 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200" dirty="0"/>
              <a:t>reducing privileges, 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200" dirty="0"/>
              <a:t>isolating some components. </a:t>
            </a:r>
          </a:p>
          <a:p>
            <a:r>
              <a:rPr lang="en-US" sz="2200" dirty="0"/>
              <a:t>That is exactly what it means for design to be iterative.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696165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684404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321915797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5883" y="1516755"/>
            <a:ext cx="11425558" cy="4462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3) Design evolves as functionality evolves</a:t>
            </a:r>
          </a:p>
          <a:p>
            <a:r>
              <a:rPr lang="en-US" sz="2400" dirty="0"/>
              <a:t>The passage also says: </a:t>
            </a:r>
            <a:r>
              <a:rPr lang="en-US" sz="2400" b="1" dirty="0"/>
              <a:t>Design evolves with functionality</a:t>
            </a:r>
            <a:r>
              <a:rPr lang="en-US" sz="2400" dirty="0"/>
              <a:t>.</a:t>
            </a:r>
          </a:p>
          <a:p>
            <a:r>
              <a:rPr lang="en-US" sz="2400" dirty="0"/>
              <a:t>Whenever software changes, its design often needs to change too.</a:t>
            </a:r>
          </a:p>
          <a:p>
            <a:r>
              <a:rPr lang="en-US" sz="2400" b="1" dirty="0"/>
              <a:t>Why?</a:t>
            </a:r>
          </a:p>
          <a:p>
            <a:r>
              <a:rPr lang="en-US" sz="2400" dirty="0"/>
              <a:t>Because new features often introduce: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new data,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new users,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new communications,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new permissions,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new entry points,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new risks.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696165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684404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41942969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5883" y="1085873"/>
            <a:ext cx="11425558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/>
              <a:t>Example</a:t>
            </a:r>
          </a:p>
          <a:p>
            <a:r>
              <a:rPr lang="en-US" sz="2000" dirty="0"/>
              <a:t>Imagine an application that initially only displays content.</a:t>
            </a:r>
            <a:br>
              <a:rPr lang="en-US" sz="2000" dirty="0"/>
            </a:br>
            <a:r>
              <a:rPr lang="en-US" sz="2000" dirty="0"/>
              <a:t>Then you add:</a:t>
            </a:r>
          </a:p>
          <a:p>
            <a:pPr marL="806450" indent="-349250">
              <a:buFont typeface="Wingdings" panose="05000000000000000000" pitchFamily="2" charset="2"/>
              <a:buChar char="§"/>
            </a:pPr>
            <a:r>
              <a:rPr lang="en-US" sz="2000" dirty="0"/>
              <a:t>login, </a:t>
            </a:r>
          </a:p>
          <a:p>
            <a:pPr marL="806450" indent="-349250">
              <a:buFont typeface="Wingdings" panose="05000000000000000000" pitchFamily="2" charset="2"/>
              <a:buChar char="§"/>
            </a:pPr>
            <a:r>
              <a:rPr lang="en-US" sz="2000" dirty="0"/>
              <a:t>file upload, </a:t>
            </a:r>
          </a:p>
          <a:p>
            <a:pPr marL="806450" indent="-349250">
              <a:buFont typeface="Wingdings" panose="05000000000000000000" pitchFamily="2" charset="2"/>
              <a:buChar char="§"/>
            </a:pPr>
            <a:r>
              <a:rPr lang="en-US" sz="2000" dirty="0"/>
              <a:t>online payment, </a:t>
            </a:r>
          </a:p>
          <a:p>
            <a:pPr marL="806450" indent="-349250">
              <a:buFont typeface="Wingdings" panose="05000000000000000000" pitchFamily="2" charset="2"/>
              <a:buChar char="§"/>
            </a:pPr>
            <a:r>
              <a:rPr lang="en-US" sz="2000" dirty="0"/>
              <a:t>two-factor authentication, </a:t>
            </a:r>
          </a:p>
          <a:p>
            <a:pPr marL="806450" indent="-349250">
              <a:buFont typeface="Wingdings" panose="05000000000000000000" pitchFamily="2" charset="2"/>
              <a:buChar char="§"/>
            </a:pPr>
            <a:r>
              <a:rPr lang="en-US" sz="2000" dirty="0"/>
              <a:t>notifications. </a:t>
            </a:r>
          </a:p>
          <a:p>
            <a:r>
              <a:rPr lang="en-US" sz="2000" dirty="0"/>
              <a:t>Now the internal structure can no longer remain the same.</a:t>
            </a:r>
            <a:br>
              <a:rPr lang="en-US" sz="2000" dirty="0"/>
            </a:br>
            <a:r>
              <a:rPr lang="en-US" sz="2000" dirty="0"/>
              <a:t>You may need:</a:t>
            </a:r>
          </a:p>
          <a:p>
            <a:pPr marL="806450" indent="-349250">
              <a:buFont typeface="Wingdings" panose="05000000000000000000" pitchFamily="2" charset="2"/>
              <a:buChar char="§"/>
            </a:pPr>
            <a:r>
              <a:rPr lang="en-US" sz="2000" dirty="0"/>
              <a:t>identity management, </a:t>
            </a:r>
          </a:p>
          <a:p>
            <a:pPr marL="806450" indent="-349250">
              <a:buFont typeface="Wingdings" panose="05000000000000000000" pitchFamily="2" charset="2"/>
              <a:buChar char="§"/>
            </a:pPr>
            <a:r>
              <a:rPr lang="en-US" sz="2000" dirty="0"/>
              <a:t>access control, </a:t>
            </a:r>
          </a:p>
          <a:p>
            <a:pPr marL="806450" indent="-349250">
              <a:buFont typeface="Wingdings" panose="05000000000000000000" pitchFamily="2" charset="2"/>
              <a:buChar char="§"/>
            </a:pPr>
            <a:r>
              <a:rPr lang="en-US" sz="2000" dirty="0"/>
              <a:t>encryption, </a:t>
            </a:r>
          </a:p>
          <a:p>
            <a:pPr marL="806450" indent="-349250">
              <a:buFont typeface="Wingdings" panose="05000000000000000000" pitchFamily="2" charset="2"/>
              <a:buChar char="§"/>
            </a:pPr>
            <a:r>
              <a:rPr lang="en-US" sz="2000" dirty="0"/>
              <a:t>logging, </a:t>
            </a:r>
          </a:p>
          <a:p>
            <a:pPr marL="806450" indent="-349250">
              <a:buFont typeface="Wingdings" panose="05000000000000000000" pitchFamily="2" charset="2"/>
              <a:buChar char="§"/>
            </a:pPr>
            <a:r>
              <a:rPr lang="en-US" sz="2000" dirty="0"/>
              <a:t>stronger separation of responsibilities. </a:t>
            </a:r>
          </a:p>
          <a:p>
            <a:r>
              <a:rPr lang="en-US" sz="2000" dirty="0"/>
              <a:t>So secure design is not a one-time task.</a:t>
            </a:r>
            <a:br>
              <a:rPr lang="en-US" sz="2000" dirty="0"/>
            </a:br>
            <a:r>
              <a:rPr lang="en-US" sz="2000" dirty="0"/>
              <a:t>It is a </a:t>
            </a:r>
            <a:r>
              <a:rPr lang="en-US" sz="2000" b="1" dirty="0"/>
              <a:t>continuous activity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21326476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0440" y="1220486"/>
            <a:ext cx="11425558" cy="48936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4) Some designs are more secure than others</a:t>
            </a:r>
          </a:p>
          <a:p>
            <a:r>
              <a:rPr lang="en-US" sz="2400" dirty="0"/>
              <a:t>The passage explains that some designs are simply better than others.</a:t>
            </a:r>
          </a:p>
          <a:p>
            <a:r>
              <a:rPr lang="en-US" sz="2400" dirty="0"/>
              <a:t>Some designs are: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easier to understand,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easier to maintain,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less error-prone,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more efficient,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and more secure. </a:t>
            </a:r>
          </a:p>
          <a:p>
            <a:r>
              <a:rPr lang="en-US" sz="2400" dirty="0"/>
              <a:t>There is no magic formula that guarantees a secure design.</a:t>
            </a:r>
            <a:br>
              <a:rPr lang="en-US" sz="2400" dirty="0"/>
            </a:br>
            <a:r>
              <a:rPr lang="en-US" sz="2400" dirty="0"/>
              <a:t>However, after decades of software development, people have identified general principles that help developers avoid bad designs and move toward better ones.</a:t>
            </a:r>
          </a:p>
          <a:p>
            <a:r>
              <a:rPr lang="en-US" sz="2400" dirty="0"/>
              <a:t>These are called:</a:t>
            </a:r>
          </a:p>
          <a:p>
            <a:r>
              <a:rPr lang="en-US" sz="2400" b="1" dirty="0"/>
              <a:t>Security design principles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406010814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289070"/>
            <a:ext cx="11425558" cy="39087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/>
              <a:t>Security design </a:t>
            </a:r>
            <a:r>
              <a:rPr lang="en-US" sz="2800" b="1" dirty="0" smtClean="0"/>
              <a:t>principles (</a:t>
            </a:r>
            <a:r>
              <a:rPr lang="en-US" sz="2800" b="1" dirty="0" err="1" smtClean="0"/>
              <a:t>Cont</a:t>
            </a:r>
            <a:r>
              <a:rPr lang="en-US" sz="2800" b="1" dirty="0" smtClean="0"/>
              <a:t>)</a:t>
            </a:r>
            <a:endParaRPr lang="en-US" sz="2800" b="1" dirty="0"/>
          </a:p>
          <a:p>
            <a:r>
              <a:rPr lang="en-US" sz="2800" dirty="0"/>
              <a:t>They are </a:t>
            </a:r>
            <a:r>
              <a:rPr lang="en-US" sz="2800" b="1" dirty="0"/>
              <a:t>general guidelines based on experience and practice</a:t>
            </a:r>
            <a:r>
              <a:rPr lang="en-US" sz="2800" dirty="0"/>
              <a:t>.</a:t>
            </a:r>
          </a:p>
          <a:p>
            <a:r>
              <a:rPr lang="en-US" sz="2800" dirty="0"/>
              <a:t>You can think of them as: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practical rules,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engineering wisdom,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rules of thumb. </a:t>
            </a:r>
          </a:p>
          <a:p>
            <a:r>
              <a:rPr lang="en-US" sz="2800" dirty="0"/>
              <a:t>They do not automatically solve security problems, but they help guide thinking in a safer direction.</a:t>
            </a:r>
          </a:p>
          <a:p>
            <a:endParaRPr lang="en-US" sz="2400" b="1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134630121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451034"/>
            <a:ext cx="11425558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5) Security design principles do not guarantee security</a:t>
            </a:r>
          </a:p>
          <a:p>
            <a:r>
              <a:rPr lang="en-US" sz="2400" dirty="0"/>
              <a:t>This is a very important idea.</a:t>
            </a:r>
          </a:p>
          <a:p>
            <a:r>
              <a:rPr lang="en-US" sz="2400" dirty="0"/>
              <a:t>Security design principles:</a:t>
            </a:r>
          </a:p>
          <a:p>
            <a:pPr marL="685800" indent="-342900">
              <a:buFont typeface="Wingdings" panose="05000000000000000000" pitchFamily="2" charset="2"/>
              <a:buChar char="§"/>
            </a:pPr>
            <a:r>
              <a:rPr lang="en-US" sz="2400" dirty="0"/>
              <a:t>do </a:t>
            </a:r>
            <a:r>
              <a:rPr lang="en-US" sz="2400" b="1" dirty="0"/>
              <a:t>not</a:t>
            </a:r>
            <a:r>
              <a:rPr lang="en-US" sz="2400" dirty="0"/>
              <a:t> guarantee that a system is secure, </a:t>
            </a:r>
          </a:p>
          <a:p>
            <a:pPr marL="685800" indent="-342900">
              <a:buFont typeface="Wingdings" panose="05000000000000000000" pitchFamily="2" charset="2"/>
              <a:buChar char="§"/>
            </a:pPr>
            <a:r>
              <a:rPr lang="en-US" sz="2400" dirty="0"/>
              <a:t>do </a:t>
            </a:r>
            <a:r>
              <a:rPr lang="en-US" sz="2400" b="1" dirty="0"/>
              <a:t>not</a:t>
            </a:r>
            <a:r>
              <a:rPr lang="en-US" sz="2400" dirty="0"/>
              <a:t> replace thinking, </a:t>
            </a:r>
          </a:p>
          <a:p>
            <a:pPr marL="685800" indent="-342900">
              <a:buFont typeface="Wingdings" panose="05000000000000000000" pitchFamily="2" charset="2"/>
              <a:buChar char="§"/>
            </a:pPr>
            <a:r>
              <a:rPr lang="en-US" sz="2400" dirty="0"/>
              <a:t>do </a:t>
            </a:r>
            <a:r>
              <a:rPr lang="en-US" sz="2400" b="1" dirty="0"/>
              <a:t>not</a:t>
            </a:r>
            <a:r>
              <a:rPr lang="en-US" sz="2400" dirty="0"/>
              <a:t> remove the need for testing, </a:t>
            </a:r>
          </a:p>
          <a:p>
            <a:pPr marL="685800" indent="-342900">
              <a:buFont typeface="Wingdings" panose="05000000000000000000" pitchFamily="2" charset="2"/>
              <a:buChar char="§"/>
            </a:pPr>
            <a:r>
              <a:rPr lang="en-US" sz="2400" dirty="0"/>
              <a:t>do </a:t>
            </a:r>
            <a:r>
              <a:rPr lang="en-US" sz="2400" b="1" dirty="0"/>
              <a:t>not</a:t>
            </a:r>
            <a:r>
              <a:rPr lang="en-US" sz="2400" dirty="0"/>
              <a:t> replace risk analysis. </a:t>
            </a:r>
          </a:p>
          <a:p>
            <a:r>
              <a:rPr lang="en-US" sz="2400" dirty="0"/>
              <a:t>They are helpful, but they are not enough on their own.</a:t>
            </a:r>
          </a:p>
          <a:p>
            <a:endParaRPr lang="en-US" sz="2400" b="1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34111815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451038"/>
            <a:ext cx="11425558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/>
              <a:t>Why not?</a:t>
            </a:r>
          </a:p>
          <a:p>
            <a:r>
              <a:rPr lang="en-US" sz="2400" dirty="0"/>
              <a:t>Because every system is different: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400" dirty="0"/>
              <a:t>different environments, 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400" dirty="0"/>
              <a:t>different users, 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400" dirty="0"/>
              <a:t>different threats, 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400" dirty="0"/>
              <a:t>different constraints, 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2400" dirty="0"/>
              <a:t>different goals. </a:t>
            </a:r>
          </a:p>
          <a:p>
            <a:r>
              <a:rPr lang="en-US" sz="2400" dirty="0"/>
              <a:t>A principle may be very useful in one project and less useful in another.</a:t>
            </a:r>
          </a:p>
          <a:p>
            <a:r>
              <a:rPr lang="en-US" sz="2400" dirty="0"/>
              <a:t>So these principles are </a:t>
            </a:r>
            <a:r>
              <a:rPr lang="en-US" sz="2400" b="1" dirty="0"/>
              <a:t>aids to judgment</a:t>
            </a:r>
            <a:r>
              <a:rPr lang="en-US" sz="2400" dirty="0"/>
              <a:t>, not substitutes for judgment.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80787476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069078"/>
            <a:ext cx="11425558" cy="54168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100" b="1" dirty="0">
                <a:solidFill>
                  <a:srgbClr val="FF0000"/>
                </a:solidFill>
              </a:rPr>
              <a:t>6) Principles can sometimes conflict</a:t>
            </a:r>
          </a:p>
          <a:p>
            <a:r>
              <a:rPr lang="en-US" sz="2100" dirty="0"/>
              <a:t>The passage points out that principles may sometimes clash.</a:t>
            </a:r>
          </a:p>
          <a:p>
            <a:r>
              <a:rPr lang="en-US" sz="2100" dirty="0"/>
              <a:t>For example, one security principle encourages </a:t>
            </a:r>
            <a:r>
              <a:rPr lang="en-US" sz="2100" b="1" dirty="0"/>
              <a:t>simplicity</a:t>
            </a:r>
            <a:r>
              <a:rPr lang="en-US" sz="2100" dirty="0"/>
              <a:t>.</a:t>
            </a:r>
            <a:br>
              <a:rPr lang="en-US" sz="2100" dirty="0"/>
            </a:br>
            <a:r>
              <a:rPr lang="en-US" sz="2100" dirty="0"/>
              <a:t>But another security need may require adding more mechanisms, which creates more complexity.</a:t>
            </a:r>
          </a:p>
          <a:p>
            <a:r>
              <a:rPr lang="en-US" sz="2100" b="1" dirty="0"/>
              <a:t>Example</a:t>
            </a:r>
          </a:p>
          <a:p>
            <a:r>
              <a:rPr lang="en-US" sz="2100" dirty="0"/>
              <a:t>The simplest login system may just use a username and password.</a:t>
            </a:r>
            <a:br>
              <a:rPr lang="en-US" sz="2100" dirty="0"/>
            </a:br>
            <a:r>
              <a:rPr lang="en-US" sz="2100" dirty="0"/>
              <a:t>But stronger security may require: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100" dirty="0"/>
              <a:t>MFA,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100" dirty="0"/>
              <a:t>rate limiting,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100" dirty="0"/>
              <a:t>monitoring,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100" dirty="0"/>
              <a:t>role separation,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100" dirty="0"/>
              <a:t>audit logging. </a:t>
            </a:r>
          </a:p>
          <a:p>
            <a:pPr>
              <a:spcAft>
                <a:spcPts val="1200"/>
              </a:spcAft>
            </a:pPr>
            <a:r>
              <a:rPr lang="en-US" sz="2100" dirty="0"/>
              <a:t>This makes the system more complex, but also more secure in important ways.</a:t>
            </a:r>
          </a:p>
          <a:p>
            <a:r>
              <a:rPr lang="en-US" sz="2100" dirty="0"/>
              <a:t>So principles should not be applied mechanically.</a:t>
            </a:r>
            <a:br>
              <a:rPr lang="en-US" sz="2100" dirty="0"/>
            </a:br>
            <a:r>
              <a:rPr lang="en-US" sz="2100" dirty="0"/>
              <a:t>They must be applied </a:t>
            </a:r>
            <a:r>
              <a:rPr lang="en-US" sz="2100" b="1" dirty="0"/>
              <a:t>carefully and intelligently</a:t>
            </a:r>
            <a:r>
              <a:rPr lang="en-US" sz="2100" dirty="0"/>
              <a:t>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361845930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230667"/>
            <a:ext cx="11862444" cy="50937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7) Thinking about these principles usually leads to better security</a:t>
            </a:r>
            <a:endParaRPr lang="fr-FR" sz="2400" dirty="0">
              <a:solidFill>
                <a:srgbClr val="FF0000"/>
              </a:solidFill>
            </a:endParaRPr>
          </a:p>
          <a:p>
            <a:r>
              <a:rPr lang="en-US" sz="2400" dirty="0"/>
              <a:t>The key message is this:</a:t>
            </a:r>
            <a:endParaRPr lang="fr-FR" sz="2400" dirty="0"/>
          </a:p>
          <a:p>
            <a:pPr>
              <a:spcAft>
                <a:spcPts val="1200"/>
              </a:spcAft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Your </a:t>
            </a: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will generally be more secure if you think about security design </a:t>
            </a:r>
            <a:r>
              <a:rPr 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principles </a:t>
            </a: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try to apply them.</a:t>
            </a:r>
            <a:endParaRPr lang="fr-FR" sz="2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1200"/>
              </a:spcAft>
            </a:pPr>
            <a:r>
              <a:rPr lang="en-US" sz="2400" dirty="0"/>
              <a:t>In other words, these principles improve the quality of your decisions.</a:t>
            </a:r>
            <a:endParaRPr lang="fr-FR" sz="2400" dirty="0"/>
          </a:p>
          <a:p>
            <a:pPr>
              <a:spcAft>
                <a:spcPts val="1200"/>
              </a:spcAft>
            </a:pPr>
            <a:r>
              <a:rPr lang="en-US" sz="2400" dirty="0"/>
              <a:t>They help you ask questions such as:</a:t>
            </a:r>
            <a:endParaRPr lang="fr-FR" sz="2400" dirty="0"/>
          </a:p>
          <a:p>
            <a:pPr marL="685800" lvl="0" indent="-342900">
              <a:buFont typeface="Wingdings" panose="05000000000000000000" pitchFamily="2" charset="2"/>
              <a:buChar char="§"/>
            </a:pPr>
            <a:r>
              <a:rPr lang="en-US" sz="2400" dirty="0"/>
              <a:t>Does this component have too much privilege? </a:t>
            </a:r>
            <a:endParaRPr lang="fr-FR" sz="2400" dirty="0"/>
          </a:p>
          <a:p>
            <a:pPr marL="685800" lvl="0" indent="-342900">
              <a:buFont typeface="Wingdings" panose="05000000000000000000" pitchFamily="2" charset="2"/>
              <a:buChar char="§"/>
            </a:pPr>
            <a:r>
              <a:rPr lang="en-US" sz="2400" dirty="0"/>
              <a:t>Should this part of the system trust that other part? </a:t>
            </a:r>
            <a:endParaRPr lang="fr-FR" sz="2400" dirty="0"/>
          </a:p>
          <a:p>
            <a:pPr marL="685800" lvl="0" indent="-342900">
              <a:buFont typeface="Wingdings" panose="05000000000000000000" pitchFamily="2" charset="2"/>
              <a:buChar char="§"/>
            </a:pPr>
            <a:r>
              <a:rPr lang="en-US" sz="2400" dirty="0"/>
              <a:t>Is there an unsafe entry point here? </a:t>
            </a:r>
            <a:endParaRPr lang="fr-FR" sz="2400" dirty="0"/>
          </a:p>
          <a:p>
            <a:pPr marL="685800" lvl="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Can an attacker abuse this interaction? </a:t>
            </a:r>
            <a:endParaRPr lang="fr-FR" sz="2400" dirty="0"/>
          </a:p>
          <a:p>
            <a:r>
              <a:rPr lang="en-US" sz="2400" dirty="0"/>
              <a:t>That is why they are valuable: they improve security thinking during design.</a:t>
            </a:r>
            <a:endParaRPr lang="fr-FR" sz="2400" dirty="0"/>
          </a:p>
          <a:p>
            <a:endParaRPr lang="en-US" sz="2100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110931200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162928"/>
            <a:ext cx="11862444" cy="48628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8) Trust is central to secure design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The passage then introduces a fundamental idea in security:</a:t>
            </a:r>
          </a:p>
          <a:p>
            <a:pPr>
              <a:spcAft>
                <a:spcPts val="1200"/>
              </a:spcAft>
            </a:pPr>
            <a:r>
              <a:rPr lang="en-US" sz="2400" b="1" dirty="0"/>
              <a:t>What can you trust, and what should you not trust?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In any real system, not everything should be treated as trustworthy.</a:t>
            </a:r>
          </a:p>
          <a:p>
            <a:r>
              <a:rPr lang="en-US" sz="2400" dirty="0"/>
              <a:t>Some components may be relatively trusted. Others should be treated carefully or treated as untrusted by default.</a:t>
            </a:r>
          </a:p>
          <a:p>
            <a:r>
              <a:rPr lang="en-US" sz="2400" b="1" dirty="0"/>
              <a:t>Examples of relatively trusted components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400" dirty="0"/>
              <a:t>a server you control, 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400" dirty="0"/>
              <a:t>an internal database, 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400" dirty="0"/>
              <a:t>a secured operating system environment, 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400" dirty="0"/>
              <a:t>a well-defined internal service.</a:t>
            </a:r>
          </a:p>
          <a:p>
            <a:endParaRPr lang="en-US" sz="2100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324687755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447625"/>
            <a:ext cx="11862444" cy="42934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/>
              <a:t>Examples of things you should not trust by default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external users,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client devices,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browser input,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data coming from the Internet,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other applications on a phone,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public networks. </a:t>
            </a:r>
          </a:p>
          <a:p>
            <a:r>
              <a:rPr lang="en-US" sz="2800" dirty="0"/>
              <a:t>Secure design begins by recognizing that </a:t>
            </a:r>
            <a:r>
              <a:rPr lang="en-US" sz="2800" b="1" dirty="0"/>
              <a:t>trust must be limited and deliberate</a:t>
            </a:r>
            <a:r>
              <a:rPr lang="en-US" sz="2800" dirty="0"/>
              <a:t>.</a:t>
            </a:r>
          </a:p>
          <a:p>
            <a:endParaRPr lang="en-US" sz="2100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92070055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991141"/>
            <a:ext cx="12071995" cy="550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9) What is a trust boundary?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The passage introduces the concept of a </a:t>
            </a:r>
            <a:r>
              <a:rPr lang="en-US" sz="2400" b="1" dirty="0"/>
              <a:t>trust boundary</a:t>
            </a:r>
            <a:r>
              <a:rPr lang="en-US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A trust boundary is the line between: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components you trust,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and components you do not necessarily trust. </a:t>
            </a:r>
          </a:p>
          <a:p>
            <a:pPr>
              <a:spcAft>
                <a:spcPts val="1200"/>
              </a:spcAft>
            </a:pPr>
            <a:r>
              <a:rPr lang="en-US" sz="2400" b="1" dirty="0"/>
              <a:t>Simple definition</a:t>
            </a:r>
          </a:p>
          <a:p>
            <a:r>
              <a:rPr lang="en-US" sz="2400" dirty="0"/>
              <a:t>A trust boundary is the point where: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data,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commands,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requests,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or identities 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move from a </a:t>
            </a:r>
            <a:r>
              <a:rPr lang="en-US" sz="2400" b="1" dirty="0"/>
              <a:t>less trusted area</a:t>
            </a:r>
            <a:r>
              <a:rPr lang="en-US" sz="2400" dirty="0"/>
              <a:t> into a </a:t>
            </a:r>
            <a:r>
              <a:rPr lang="en-US" sz="2400" b="1" dirty="0"/>
              <a:t>more trusted area</a:t>
            </a:r>
            <a:r>
              <a:rPr lang="en-US" sz="2400" dirty="0"/>
              <a:t>.</a:t>
            </a:r>
          </a:p>
          <a:p>
            <a:r>
              <a:rPr lang="en-US" sz="2400" dirty="0"/>
              <a:t>At that point, security controls are especially important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180231897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4" y="1466202"/>
            <a:ext cx="12071995" cy="45550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/>
              <a:t>Why is this important?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Because many vulnerabilities happen when a system incorrectly assumes that something outside the trusted area is safe.</a:t>
            </a:r>
          </a:p>
          <a:p>
            <a:r>
              <a:rPr lang="en-US" sz="2800" b="1" dirty="0"/>
              <a:t>For example: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trusting user input without validation, 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trusting a client to enforce security rules, 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trusting data from the network without checking it, 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trusting a mobile app with secrets it should not hold. </a:t>
            </a:r>
          </a:p>
          <a:p>
            <a:r>
              <a:rPr lang="en-US" sz="2800" dirty="0"/>
              <a:t>So trust boundaries help developers know </a:t>
            </a:r>
            <a:r>
              <a:rPr lang="en-US" sz="2800" b="1" dirty="0"/>
              <a:t>where protection is needed most</a:t>
            </a:r>
            <a:r>
              <a:rPr lang="en-US" sz="2800" dirty="0"/>
              <a:t>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399802941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320609"/>
            <a:ext cx="12071995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10) Example: server-side applications</a:t>
            </a:r>
          </a:p>
          <a:p>
            <a:r>
              <a:rPr lang="en-US" sz="2400" dirty="0"/>
              <a:t>The passage gives the example of </a:t>
            </a:r>
            <a:r>
              <a:rPr lang="en-US" sz="2400" b="1" dirty="0"/>
              <a:t>server-side applications</a:t>
            </a:r>
            <a:r>
              <a:rPr lang="en-US" sz="2400" dirty="0"/>
              <a:t>.</a:t>
            </a:r>
          </a:p>
          <a:p>
            <a:r>
              <a:rPr lang="en-US" sz="2400" dirty="0"/>
              <a:t>If you build a server-side system, such as: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a website,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a web API,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a cloud service,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an online platform, </a:t>
            </a:r>
          </a:p>
          <a:p>
            <a:r>
              <a:rPr lang="en-US" sz="2400" dirty="0"/>
              <a:t>then you probably trust: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the server machine,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the operating system on that server,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the container runtime or environment you manage.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But you should not trust external clients.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7874214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3104" y="1289070"/>
            <a:ext cx="12071995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/>
              <a:t>Why not trust clients?</a:t>
            </a:r>
          </a:p>
          <a:p>
            <a:r>
              <a:rPr lang="en-US" sz="2800" dirty="0"/>
              <a:t>Because a client might be: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a normal user, 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a malicious user, 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a compromised browser, 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a script, 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or a system controlled by an attacker. </a:t>
            </a:r>
          </a:p>
          <a:p>
            <a:r>
              <a:rPr lang="en-US" sz="2800" dirty="0"/>
              <a:t>So the trust boundary lies between: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the server, 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and the client side.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8419457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4" y="1081485"/>
            <a:ext cx="12071995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/>
              <a:t>Practical meaning</a:t>
            </a:r>
          </a:p>
          <a:p>
            <a:r>
              <a:rPr lang="en-US" sz="2000" dirty="0"/>
              <a:t>Everything coming from the client must be handled carefully, such as: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form input,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uploaded files,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cookies,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headers,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query parameters,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tokens,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API requests. </a:t>
            </a:r>
          </a:p>
          <a:p>
            <a:r>
              <a:rPr lang="en-US" sz="2000" dirty="0"/>
              <a:t>This is why the server must perform: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input validation,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authentication,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authorization,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filtering,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logging,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security checks. </a:t>
            </a:r>
          </a:p>
          <a:p>
            <a:r>
              <a:rPr lang="en-US" sz="2000" dirty="0"/>
              <a:t>The key idea is: </a:t>
            </a:r>
            <a:r>
              <a:rPr lang="en-US" sz="2000" b="1" dirty="0"/>
              <a:t>the client is outside the trust boundary</a:t>
            </a:r>
            <a:r>
              <a:rPr lang="en-US" sz="2000" dirty="0"/>
              <a:t>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19699143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218994"/>
            <a:ext cx="12071995" cy="47089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11) Example: mobile applications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passage also discusses </a:t>
            </a:r>
            <a:r>
              <a:rPr lang="en-US" sz="2400" b="1" dirty="0"/>
              <a:t>mobile applications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Suppose you are building a mobile app that communicates with a server you control.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In this case, there are several trust issues.</a:t>
            </a:r>
          </a:p>
          <a:p>
            <a:r>
              <a:rPr lang="en-US" sz="2400" b="1" dirty="0"/>
              <a:t>What you may trust relatively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remote server that you operate. </a:t>
            </a:r>
          </a:p>
          <a:p>
            <a:r>
              <a:rPr lang="en-US" sz="2400" b="1" dirty="0"/>
              <a:t>What you should not fully trust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communication path between the app and the server,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other apps on the smartphone,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sometimes the device itself,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even the user, in some security-relevant situations.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259299235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065112"/>
            <a:ext cx="12071995" cy="50167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>
                <a:solidFill>
                  <a:srgbClr val="FF0000"/>
                </a:solidFill>
              </a:rPr>
              <a:t>12) Why should the network path not be trusted?</a:t>
            </a:r>
          </a:p>
          <a:p>
            <a:r>
              <a:rPr lang="en-US" sz="2000" dirty="0"/>
              <a:t>Because data moving across a network may be:</a:t>
            </a:r>
          </a:p>
          <a:p>
            <a:pPr marL="860425" indent="-342900">
              <a:buFont typeface="Wingdings" panose="05000000000000000000" pitchFamily="2" charset="2"/>
              <a:buChar char="§"/>
            </a:pPr>
            <a:r>
              <a:rPr lang="en-US" sz="2000" dirty="0"/>
              <a:t>intercepted, </a:t>
            </a:r>
          </a:p>
          <a:p>
            <a:pPr marL="860425" indent="-342900">
              <a:buFont typeface="Wingdings" panose="05000000000000000000" pitchFamily="2" charset="2"/>
              <a:buChar char="§"/>
            </a:pPr>
            <a:r>
              <a:rPr lang="en-US" sz="2000" dirty="0"/>
              <a:t>modified, </a:t>
            </a:r>
          </a:p>
          <a:p>
            <a:pPr marL="860425" indent="-342900">
              <a:buFont typeface="Wingdings" panose="05000000000000000000" pitchFamily="2" charset="2"/>
              <a:buChar char="§"/>
            </a:pPr>
            <a:r>
              <a:rPr lang="en-US" sz="2000" dirty="0"/>
              <a:t>replayed, </a:t>
            </a:r>
          </a:p>
          <a:p>
            <a:pPr marL="860425" indent="-342900">
              <a:buFont typeface="Wingdings" panose="05000000000000000000" pitchFamily="2" charset="2"/>
              <a:buChar char="§"/>
            </a:pPr>
            <a:r>
              <a:rPr lang="en-US" sz="2000" dirty="0"/>
              <a:t>redirected, </a:t>
            </a:r>
          </a:p>
          <a:p>
            <a:pPr marL="860425" indent="-342900">
              <a:buFont typeface="Wingdings" panose="05000000000000000000" pitchFamily="2" charset="2"/>
              <a:buChar char="§"/>
            </a:pPr>
            <a:r>
              <a:rPr lang="en-US" sz="2000" dirty="0"/>
              <a:t>monitored. 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That is why the passage mentions using </a:t>
            </a:r>
            <a:r>
              <a:rPr lang="en-US" sz="2000" b="1" dirty="0"/>
              <a:t>TLS</a:t>
            </a:r>
            <a:r>
              <a:rPr lang="en-US" sz="2000" dirty="0"/>
              <a:t>.</a:t>
            </a:r>
          </a:p>
          <a:p>
            <a:r>
              <a:rPr lang="en-US" sz="2000" dirty="0"/>
              <a:t>TLS helps protect communication by providing:</a:t>
            </a:r>
          </a:p>
          <a:p>
            <a:pPr marL="860425" indent="-342900">
              <a:buFont typeface="Wingdings" panose="05000000000000000000" pitchFamily="2" charset="2"/>
              <a:buChar char="§"/>
            </a:pPr>
            <a:r>
              <a:rPr lang="en-US" sz="2000" dirty="0"/>
              <a:t>confidentiality, </a:t>
            </a:r>
          </a:p>
          <a:p>
            <a:pPr marL="860425" indent="-342900">
              <a:buFont typeface="Wingdings" panose="05000000000000000000" pitchFamily="2" charset="2"/>
              <a:buChar char="§"/>
            </a:pPr>
            <a:r>
              <a:rPr lang="en-US" sz="2000" dirty="0"/>
              <a:t>integrity, </a:t>
            </a:r>
          </a:p>
          <a:p>
            <a:pPr marL="860425" indent="-342900">
              <a:buFont typeface="Wingdings" panose="05000000000000000000" pitchFamily="2" charset="2"/>
              <a:buChar char="§"/>
            </a:pPr>
            <a:r>
              <a:rPr lang="en-US" sz="2000" dirty="0"/>
              <a:t>server authentication in many cases, </a:t>
            </a:r>
          </a:p>
          <a:p>
            <a:pPr marL="860425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resistance to interception and tampering. </a:t>
            </a:r>
          </a:p>
          <a:p>
            <a:r>
              <a:rPr lang="en-US" sz="2000" dirty="0"/>
              <a:t>So if your mobile app talks to a server, the communication should not be assumed safe unless it is protected.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27222536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372890"/>
            <a:ext cx="12071995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>
                <a:solidFill>
                  <a:srgbClr val="FF0000"/>
                </a:solidFill>
              </a:rPr>
              <a:t>13) Why should other mobile apps not be trusted?</a:t>
            </a:r>
          </a:p>
          <a:p>
            <a:r>
              <a:rPr lang="en-US" sz="2000" dirty="0"/>
              <a:t>Because another app on the same phone may be: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malicious,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compromised,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overly curious,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or trying to access data that does not belong to it. 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So your mobile app should not assume that the surrounding device environment is fully safe.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It must be careful with: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local storage,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secrets,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inter-app communication,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shared files,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permissions.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281262633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219004"/>
            <a:ext cx="12071995" cy="47089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>
                <a:solidFill>
                  <a:srgbClr val="FF0000"/>
                </a:solidFill>
              </a:rPr>
              <a:t>14) Trust is not absolute</a:t>
            </a:r>
          </a:p>
          <a:p>
            <a:r>
              <a:rPr lang="en-US" sz="2000" dirty="0"/>
              <a:t>The passage makes another important point:</a:t>
            </a:r>
          </a:p>
          <a:p>
            <a:r>
              <a:rPr lang="en-US" sz="2000" b="1" dirty="0"/>
              <a:t>Trust is not all-or-nothing</a:t>
            </a:r>
          </a:p>
          <a:p>
            <a:r>
              <a:rPr lang="en-US" sz="2000" dirty="0"/>
              <a:t>It is not just: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“trusted”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or “untrusted.” </a:t>
            </a:r>
          </a:p>
          <a:p>
            <a:r>
              <a:rPr lang="en-US" sz="2000" dirty="0"/>
              <a:t>In reality, trust is often </a:t>
            </a:r>
            <a:r>
              <a:rPr lang="en-US" sz="2000" b="1" dirty="0"/>
              <a:t>partial and purpose-specific</a:t>
            </a:r>
            <a:r>
              <a:rPr lang="en-US" sz="2000" dirty="0"/>
              <a:t>.</a:t>
            </a:r>
          </a:p>
          <a:p>
            <a:r>
              <a:rPr lang="en-US" sz="2000" b="1" dirty="0"/>
              <a:t>Example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You may trust the smartphone operating system to run your app,</a:t>
            </a:r>
            <a:br>
              <a:rPr lang="en-US" sz="2000" dirty="0"/>
            </a:br>
            <a:r>
              <a:rPr lang="en-US" sz="2000" dirty="0"/>
              <a:t>but not trust it enough to store highly sensitive secrets there forever.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You may trust a user to read their own data,</a:t>
            </a:r>
            <a:br>
              <a:rPr lang="en-US" sz="2000" dirty="0"/>
            </a:br>
            <a:r>
              <a:rPr lang="en-US" sz="2000" dirty="0"/>
              <a:t>but not trust them to decide their own privilege level.</a:t>
            </a:r>
          </a:p>
          <a:p>
            <a:r>
              <a:rPr lang="en-US" sz="2000" dirty="0"/>
              <a:t>You may trust a client to send a request,</a:t>
            </a:r>
            <a:br>
              <a:rPr lang="en-US" sz="2000" dirty="0"/>
            </a:br>
            <a:r>
              <a:rPr lang="en-US" sz="2000" dirty="0"/>
              <a:t>but not trust it to decide whether the request is authorized.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407477494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441290"/>
            <a:ext cx="12071995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dirty="0"/>
              <a:t>So trust should always be asked in a precise way: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trusted for what? 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trusted how much? 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trusted under what conditions? 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800" dirty="0"/>
              <a:t>trusted for which purpose? </a:t>
            </a:r>
          </a:p>
          <a:p>
            <a:r>
              <a:rPr lang="en-US" sz="2800" dirty="0"/>
              <a:t>That is a much better security mindset than vague trust.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37725280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012575"/>
            <a:ext cx="12071995" cy="5170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 dirty="0">
                <a:solidFill>
                  <a:srgbClr val="FF0000"/>
                </a:solidFill>
              </a:rPr>
              <a:t>15) Why this matters so much</a:t>
            </a:r>
          </a:p>
          <a:p>
            <a:r>
              <a:rPr lang="en-US" sz="1600" dirty="0"/>
              <a:t>A large number of security problems come from </a:t>
            </a:r>
            <a:r>
              <a:rPr lang="en-US" sz="1600" b="1" dirty="0"/>
              <a:t>incorrect trust assumptions</a:t>
            </a:r>
            <a:r>
              <a:rPr lang="en-US" sz="1600" dirty="0"/>
              <a:t>.</a:t>
            </a:r>
          </a:p>
          <a:p>
            <a:r>
              <a:rPr lang="en-US" sz="1600" b="1" dirty="0"/>
              <a:t>Examples</a:t>
            </a:r>
          </a:p>
          <a:p>
            <a:r>
              <a:rPr lang="en-US" sz="1600" dirty="0"/>
              <a:t>If you trust user input without validation, you may get: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SQL injection,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cross-site scripting,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command injection. </a:t>
            </a:r>
          </a:p>
          <a:p>
            <a:r>
              <a:rPr lang="en-US" sz="1600" dirty="0"/>
              <a:t>If you trust the client to set the correct price, you may get: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payment fraud,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manipulated transactions. </a:t>
            </a:r>
          </a:p>
          <a:p>
            <a:r>
              <a:rPr lang="en-US" sz="1600" dirty="0"/>
              <a:t>If you trust the network without encryption, you may get: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eavesdropping,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data theft,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tampering. </a:t>
            </a:r>
          </a:p>
          <a:p>
            <a:r>
              <a:rPr lang="en-US" sz="1600" dirty="0"/>
              <a:t>If you trust a mobile app with secrets it should not store, you may get: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reverse engineering,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secret extraction,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impersonation. </a:t>
            </a:r>
          </a:p>
          <a:p>
            <a:r>
              <a:rPr lang="en-US" sz="1600" dirty="0"/>
              <a:t>So a lot of software security begins with one basic question:</a:t>
            </a:r>
          </a:p>
          <a:p>
            <a:r>
              <a:rPr lang="en-US" sz="1600" b="1" dirty="0"/>
              <a:t>Am I trusting something that should not be trusted?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25312545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081826"/>
            <a:ext cx="12071995" cy="50321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200" b="1" dirty="0" smtClean="0">
                <a:solidFill>
                  <a:srgbClr val="FF0000"/>
                </a:solidFill>
              </a:rPr>
              <a:t>16) Overall summary of the passage</a:t>
            </a:r>
          </a:p>
          <a:p>
            <a:pPr>
              <a:spcAft>
                <a:spcPts val="600"/>
              </a:spcAft>
            </a:pPr>
            <a:r>
              <a:rPr lang="en-US" sz="2200" dirty="0" smtClean="0"/>
              <a:t>This passage is trying to teach the following:</a:t>
            </a:r>
          </a:p>
          <a:p>
            <a:pPr>
              <a:spcAft>
                <a:spcPts val="600"/>
              </a:spcAft>
            </a:pPr>
            <a:r>
              <a:rPr lang="en-US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First,</a:t>
            </a:r>
            <a:r>
              <a:rPr lang="en-US" sz="2200" dirty="0" smtClean="0"/>
              <a:t> design means </a:t>
            </a:r>
            <a:r>
              <a:rPr lang="en-US" sz="2200" b="1" dirty="0" smtClean="0"/>
              <a:t>how software is broken into components and how those components work together</a:t>
            </a:r>
            <a:r>
              <a:rPr lang="en-US" sz="2200" dirty="0" smtClean="0"/>
              <a:t>.</a:t>
            </a:r>
          </a:p>
          <a:p>
            <a:pPr>
              <a:spcAft>
                <a:spcPts val="600"/>
              </a:spcAft>
            </a:pPr>
            <a:r>
              <a:rPr lang="en-US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Second,</a:t>
            </a:r>
            <a:r>
              <a:rPr lang="en-US" sz="2200" dirty="0" smtClean="0"/>
              <a:t> design is </a:t>
            </a:r>
            <a:r>
              <a:rPr lang="en-US" sz="2200" b="1" dirty="0" smtClean="0"/>
              <a:t>not fixed</a:t>
            </a:r>
            <a:r>
              <a:rPr lang="en-US" sz="2200" dirty="0" smtClean="0"/>
              <a:t>; it changes as implementation progresses and as features evolve.</a:t>
            </a:r>
          </a:p>
          <a:p>
            <a:pPr>
              <a:spcAft>
                <a:spcPts val="600"/>
              </a:spcAft>
            </a:pPr>
            <a:r>
              <a:rPr lang="en-US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Third,</a:t>
            </a:r>
            <a:r>
              <a:rPr lang="en-US" sz="2200" dirty="0" smtClean="0"/>
              <a:t> some designs are </a:t>
            </a:r>
            <a:r>
              <a:rPr lang="en-US" sz="2200" b="1" dirty="0" smtClean="0"/>
              <a:t>more secure than others</a:t>
            </a:r>
            <a:r>
              <a:rPr lang="en-US" sz="2200" dirty="0" smtClean="0"/>
              <a:t>.</a:t>
            </a:r>
          </a:p>
          <a:p>
            <a:pPr>
              <a:spcAft>
                <a:spcPts val="600"/>
              </a:spcAft>
            </a:pPr>
            <a:r>
              <a:rPr lang="en-US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Fourth,</a:t>
            </a:r>
            <a:r>
              <a:rPr lang="en-US" sz="2200" dirty="0" smtClean="0"/>
              <a:t> security design principles are </a:t>
            </a:r>
            <a:r>
              <a:rPr lang="en-US" sz="2200" b="1" dirty="0" smtClean="0"/>
              <a:t>experience-based guidelines</a:t>
            </a:r>
            <a:r>
              <a:rPr lang="en-US" sz="2200" dirty="0" smtClean="0"/>
              <a:t> that help developers choose better designs.</a:t>
            </a:r>
          </a:p>
          <a:p>
            <a:pPr>
              <a:spcAft>
                <a:spcPts val="600"/>
              </a:spcAft>
            </a:pPr>
            <a:r>
              <a:rPr lang="en-US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Fifth,</a:t>
            </a:r>
            <a:r>
              <a:rPr lang="en-US" sz="2200" dirty="0" smtClean="0"/>
              <a:t> these principles do </a:t>
            </a:r>
            <a:r>
              <a:rPr lang="en-US" sz="2200" b="1" dirty="0" smtClean="0"/>
              <a:t>not guarantee security</a:t>
            </a:r>
            <a:r>
              <a:rPr lang="en-US" sz="2200" dirty="0" smtClean="0"/>
              <a:t> and do not replace careful thinking.</a:t>
            </a:r>
          </a:p>
          <a:p>
            <a:pPr>
              <a:spcAft>
                <a:spcPts val="600"/>
              </a:spcAft>
            </a:pPr>
            <a:r>
              <a:rPr lang="en-US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Sixth,</a:t>
            </a:r>
            <a:r>
              <a:rPr lang="en-US" sz="2200" dirty="0" smtClean="0"/>
              <a:t> secure design requires thinking about </a:t>
            </a:r>
            <a:r>
              <a:rPr lang="en-US" sz="2200" b="1" dirty="0" smtClean="0"/>
              <a:t>trust</a:t>
            </a:r>
            <a:r>
              <a:rPr lang="en-US" sz="2200" dirty="0" smtClean="0"/>
              <a:t>: what can be trusted, what cannot, and to what extent.</a:t>
            </a:r>
          </a:p>
          <a:p>
            <a:r>
              <a:rPr lang="en-US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Seventh,</a:t>
            </a:r>
            <a:r>
              <a:rPr lang="en-US" sz="2200" dirty="0" smtClean="0"/>
              <a:t> the concept of a </a:t>
            </a:r>
            <a:r>
              <a:rPr lang="en-US" sz="2200" b="1" dirty="0" smtClean="0"/>
              <a:t>trust boundary</a:t>
            </a:r>
            <a:r>
              <a:rPr lang="en-US" sz="2200" dirty="0" smtClean="0"/>
              <a:t> is essential because many protections must be placed exactly at those boundaries.</a:t>
            </a:r>
            <a:endParaRPr lang="en-US" sz="2200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40805174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366522"/>
            <a:ext cx="12071995" cy="4462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18) Conclusion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In conclusion, the main message of this passage is that </a:t>
            </a:r>
            <a:r>
              <a:rPr lang="en-US" sz="2400" b="1" dirty="0"/>
              <a:t>software security begins with design</a:t>
            </a:r>
            <a:r>
              <a:rPr lang="en-US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A secure system is not only a system with fewer coding mistakes.</a:t>
            </a:r>
            <a:br>
              <a:rPr lang="en-US" sz="2400" dirty="0"/>
            </a:br>
            <a:r>
              <a:rPr lang="en-US" sz="2400" dirty="0"/>
              <a:t>It is also a system whose architecture has been planned to: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reduce unnecessary trust,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isolate sensitive components,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place protections at trust boundaries,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and make security part of the system structure itself. </a:t>
            </a:r>
          </a:p>
          <a:p>
            <a:r>
              <a:rPr lang="en-US" sz="2400" dirty="0"/>
              <a:t>So secure design principles are valuable because they help developers think more clearly and make safer design choices throughout the life of the software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548248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536487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544526"/>
            <a:ext cx="6998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What Are Security Design Principles?</a:t>
            </a:r>
          </a:p>
        </p:txBody>
      </p:sp>
    </p:spTree>
    <p:extLst>
      <p:ext uri="{BB962C8B-B14F-4D97-AF65-F5344CB8AC3E}">
        <p14:creationId xmlns:p14="http://schemas.microsoft.com/office/powerpoint/2010/main" val="22561432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218253" y="2590318"/>
            <a:ext cx="5939654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953114" y="2578557"/>
            <a:ext cx="5357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/>
              <a:t>Secure </a:t>
            </a:r>
            <a:r>
              <a:rPr lang="fr-FR" sz="3200" b="1" dirty="0" smtClean="0"/>
              <a:t>Design </a:t>
            </a:r>
            <a:r>
              <a:rPr lang="fr-FR" sz="3200" b="1" dirty="0" err="1" smtClean="0"/>
              <a:t>Principles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310390" y="2492887"/>
            <a:ext cx="4956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 err="1">
                <a:solidFill>
                  <a:schemeClr val="accent1">
                    <a:lumMod val="75000"/>
                  </a:schemeClr>
                </a:solidFill>
              </a:rPr>
              <a:t>Widely-Recommended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</a:rPr>
              <a:t> Secure Design </a:t>
            </a:r>
            <a:r>
              <a:rPr lang="fr-FR" sz="2800" b="1" dirty="0" err="1">
                <a:solidFill>
                  <a:schemeClr val="accent1">
                    <a:lumMod val="75000"/>
                  </a:schemeClr>
                </a:solidFill>
              </a:rPr>
              <a:t>Principles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9698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182615"/>
            <a:ext cx="11022444" cy="47243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200" b="1" dirty="0" err="1"/>
              <a:t>Saltzer</a:t>
            </a:r>
            <a:r>
              <a:rPr lang="en-US" sz="2200" b="1" dirty="0"/>
              <a:t> and Schroeder’s Secure Design Principles</a:t>
            </a:r>
          </a:p>
          <a:p>
            <a:pPr>
              <a:spcAft>
                <a:spcPts val="600"/>
              </a:spcAft>
            </a:pPr>
            <a:r>
              <a:rPr lang="en-US" sz="2200" dirty="0"/>
              <a:t>The text explains that software has been attacked for many decades, and that some of the most important secure design principles were identified as early as </a:t>
            </a:r>
            <a:r>
              <a:rPr lang="en-US" sz="2200" b="1" dirty="0"/>
              <a:t>1975</a:t>
            </a:r>
            <a:r>
              <a:rPr lang="en-US" sz="2200" dirty="0"/>
              <a:t> by </a:t>
            </a:r>
            <a:r>
              <a:rPr lang="en-US" sz="2200" b="1" dirty="0"/>
              <a:t>Jerome H. </a:t>
            </a:r>
            <a:r>
              <a:rPr lang="en-US" sz="2200" b="1" dirty="0" err="1"/>
              <a:t>Saltzer</a:t>
            </a:r>
            <a:r>
              <a:rPr lang="en-US" sz="2200" dirty="0"/>
              <a:t> and </a:t>
            </a:r>
            <a:r>
              <a:rPr lang="en-US" sz="2200" b="1" dirty="0"/>
              <a:t>Michael D. Schroeder</a:t>
            </a:r>
            <a:r>
              <a:rPr lang="en-US" sz="2200" dirty="0"/>
              <a:t>.</a:t>
            </a:r>
          </a:p>
          <a:p>
            <a:pPr>
              <a:spcAft>
                <a:spcPts val="1200"/>
              </a:spcAft>
            </a:pPr>
            <a:r>
              <a:rPr lang="en-US" sz="2200" dirty="0"/>
              <a:t>What makes their work especially important is that these principles are still highly relevant today. Even though technology has changed dramatically since 1975, these ideas still apply to: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web applications,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mobile applications,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operating systems,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cloud services,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APIs,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and software systems in general.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696165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684404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39111455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3104" y="1269179"/>
            <a:ext cx="11636489" cy="50167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/>
              <a:t>Why have these principles lasted so long?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Because they are not tied to one programming language, one platform, or one product. They are based on deep and general ideas such as: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limiting power,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checking access carefully,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keeping security mechanisms simple,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avoiding false assumptions,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using secure defaults,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requiring multiple conditions for sensitive access,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minimizing unsafe sharing, 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and taking human behavior seriously. </a:t>
            </a:r>
          </a:p>
          <a:p>
            <a:r>
              <a:rPr lang="en-US" sz="2000" dirty="0"/>
              <a:t>So these principles are </a:t>
            </a:r>
            <a:r>
              <a:rPr lang="en-US" sz="2000" b="1" dirty="0"/>
              <a:t>timeless</a:t>
            </a:r>
            <a:r>
              <a:rPr lang="en-US" sz="2000" dirty="0"/>
              <a:t> because they focus on things that do not change easily: complexity, trust, mistakes, and human behavior.</a:t>
            </a:r>
          </a:p>
          <a:p>
            <a:r>
              <a:rPr lang="en-US" sz="2000" dirty="0"/>
              <a:t>At the same time, the text reminds us that these principles are only </a:t>
            </a:r>
            <a:r>
              <a:rPr lang="en-US" sz="2000" b="1" dirty="0"/>
              <a:t>rules of thumb</a:t>
            </a:r>
            <a:r>
              <a:rPr lang="en-US" sz="2000" dirty="0"/>
              <a:t>. They are not automatic formulas. They do not replace thinking. They help guide thinking.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696165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684404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370469967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999807"/>
            <a:ext cx="11636489" cy="5355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b="1" dirty="0" smtClean="0">
                <a:solidFill>
                  <a:srgbClr val="FF0000"/>
                </a:solidFill>
              </a:rPr>
              <a:t>) Least Privilege</a:t>
            </a:r>
          </a:p>
          <a:p>
            <a:r>
              <a:rPr lang="en-US" b="1" dirty="0" smtClean="0"/>
              <a:t>Meaning</a:t>
            </a:r>
          </a:p>
          <a:p>
            <a:r>
              <a:rPr lang="en-US" dirty="0" smtClean="0"/>
              <a:t>The principle of </a:t>
            </a:r>
            <a:r>
              <a:rPr lang="en-US" b="1" dirty="0" smtClean="0"/>
              <a:t>least privilege</a:t>
            </a:r>
            <a:r>
              <a:rPr lang="en-US" dirty="0" smtClean="0"/>
              <a:t> says that every: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user,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program,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process,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or component </a:t>
            </a:r>
          </a:p>
          <a:p>
            <a:r>
              <a:rPr lang="en-US" dirty="0" smtClean="0"/>
              <a:t>should operate with only the </a:t>
            </a:r>
            <a:r>
              <a:rPr lang="en-US" b="1" dirty="0" smtClean="0"/>
              <a:t>minimum privileges necessary</a:t>
            </a:r>
            <a:r>
              <a:rPr lang="en-US" dirty="0" smtClean="0"/>
              <a:t> to perform its job.</a:t>
            </a:r>
          </a:p>
          <a:p>
            <a:r>
              <a:rPr lang="en-US" b="1" dirty="0" smtClean="0"/>
              <a:t>Core idea</a:t>
            </a:r>
          </a:p>
          <a:p>
            <a:r>
              <a:rPr lang="en-US" dirty="0" smtClean="0"/>
              <a:t>If you give too many privileges to a user or a program, then any mistake, bug, or attack can cause much more damage.</a:t>
            </a:r>
          </a:p>
          <a:p>
            <a:r>
              <a:rPr lang="en-US" dirty="0" smtClean="0"/>
              <a:t>So the goal is to avoid giving unnecessary power.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A normal user who only needs to read a document should not have administrator rights over the whole system.</a:t>
            </a:r>
          </a:p>
          <a:p>
            <a:r>
              <a:rPr lang="en-US" dirty="0" smtClean="0"/>
              <a:t>Similarly, if a web application only needs to read certain records from a database, it should not also have permission to: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delete tables,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change user accounts,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or grant privileges to others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692443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410979544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074372"/>
            <a:ext cx="11636489" cy="50937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300" b="1" dirty="0">
                <a:solidFill>
                  <a:srgbClr val="FF0000"/>
                </a:solidFill>
              </a:rPr>
              <a:t>Why it matters</a:t>
            </a:r>
          </a:p>
          <a:p>
            <a:r>
              <a:rPr lang="en-US" sz="2300" dirty="0"/>
              <a:t>This principle limits the impact of accidents and attacks. If an attacker compromises a low-privilege account or component, the attacker may still be unable to control the whole system.</a:t>
            </a:r>
          </a:p>
          <a:p>
            <a:r>
              <a:rPr lang="en-US" sz="2300" b="1" dirty="0">
                <a:solidFill>
                  <a:srgbClr val="C00000"/>
                </a:solidFill>
              </a:rPr>
              <a:t>Practical example</a:t>
            </a:r>
          </a:p>
          <a:p>
            <a:r>
              <a:rPr lang="en-US" sz="2300" dirty="0"/>
              <a:t>Imagine a reporting service that only displays information. If that service runs with full database privileges, then a flaw in that service might allow an attacker to: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300" dirty="0"/>
              <a:t>delete data,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300" dirty="0"/>
              <a:t>modify records,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300" dirty="0"/>
              <a:t>or steal large amounts of information. </a:t>
            </a:r>
          </a:p>
          <a:p>
            <a:r>
              <a:rPr lang="en-US" sz="2300" dirty="0"/>
              <a:t>But if the service only has limited read access, the damage is much smaller</a:t>
            </a:r>
            <a:r>
              <a:rPr lang="en-US" sz="2300" dirty="0" smtClean="0"/>
              <a:t>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Simple summary</a:t>
            </a:r>
            <a:endParaRPr lang="fr-FR" sz="2400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Least privilege </a:t>
            </a:r>
            <a:r>
              <a:rPr lang="en-US" sz="2400" dirty="0"/>
              <a:t>means:</a:t>
            </a:r>
            <a:endParaRPr lang="fr-FR" sz="2400" dirty="0"/>
          </a:p>
          <a:p>
            <a:r>
              <a:rPr lang="en-US" sz="2400" dirty="0" smtClean="0"/>
              <a:t>   </a:t>
            </a: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Never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 more power than is actually needed</a:t>
            </a: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fr-FR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329832017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964837"/>
            <a:ext cx="11636489" cy="550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200" b="1" dirty="0">
                <a:solidFill>
                  <a:srgbClr val="FF0000"/>
                </a:solidFill>
              </a:rPr>
              <a:t>2) Complete Mediation</a:t>
            </a:r>
          </a:p>
          <a:p>
            <a:r>
              <a:rPr lang="en-US" sz="2200" b="1" dirty="0"/>
              <a:t>(also called non-</a:t>
            </a:r>
            <a:r>
              <a:rPr lang="en-US" sz="2200" b="1" dirty="0" err="1"/>
              <a:t>bypassability</a:t>
            </a:r>
            <a:r>
              <a:rPr lang="en-US" sz="2200" b="1" dirty="0"/>
              <a:t>)</a:t>
            </a:r>
          </a:p>
          <a:p>
            <a:r>
              <a:rPr lang="en-US" sz="2200" b="1" dirty="0"/>
              <a:t>Meaning</a:t>
            </a:r>
          </a:p>
          <a:p>
            <a:r>
              <a:rPr lang="en-US" sz="2200" b="1" dirty="0"/>
              <a:t>Complete mediation</a:t>
            </a:r>
            <a:r>
              <a:rPr lang="en-US" sz="2200" dirty="0"/>
              <a:t> means that </a:t>
            </a:r>
            <a:r>
              <a:rPr lang="en-US" sz="2200" b="1" dirty="0"/>
              <a:t>every access attempt</a:t>
            </a:r>
            <a:r>
              <a:rPr lang="en-US" sz="2200" dirty="0"/>
              <a:t> must be checked.</a:t>
            </a:r>
          </a:p>
          <a:p>
            <a:r>
              <a:rPr lang="en-US" sz="2200" dirty="0"/>
              <a:t>The system should not assume that because something was allowed once, it should automatically be allowed later.</a:t>
            </a:r>
          </a:p>
          <a:p>
            <a:r>
              <a:rPr lang="en-US" sz="2200" b="1" dirty="0">
                <a:solidFill>
                  <a:srgbClr val="FF0000"/>
                </a:solidFill>
              </a:rPr>
              <a:t>Core idea</a:t>
            </a:r>
          </a:p>
          <a:p>
            <a:r>
              <a:rPr lang="en-US" sz="2200" dirty="0"/>
              <a:t>Whenever a user, program, or process tries to access: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a file,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a record,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a function,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an API endpoint,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or any sensitive operation,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/>
              <a:t>the system should verify that the access is really permitted.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/>
              <a:t>The text also uses the term </a:t>
            </a:r>
            <a:r>
              <a:rPr lang="en-US" sz="2200" b="1" dirty="0"/>
              <a:t>non-</a:t>
            </a:r>
            <a:r>
              <a:rPr lang="en-US" sz="2200" b="1" dirty="0" err="1"/>
              <a:t>bypassability</a:t>
            </a:r>
            <a:r>
              <a:rPr lang="en-US" sz="2200" dirty="0"/>
              <a:t>, which means the protection mechanism must be placed in a way that it </a:t>
            </a:r>
            <a:r>
              <a:rPr lang="en-US" sz="2200" b="1" dirty="0"/>
              <a:t>cannot be bypassed</a:t>
            </a:r>
            <a:r>
              <a:rPr lang="en-US" sz="2200" dirty="0"/>
              <a:t>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333147685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964842"/>
            <a:ext cx="11636489" cy="550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200" b="1" dirty="0"/>
              <a:t>Example</a:t>
            </a:r>
            <a:endParaRPr lang="fr-FR" sz="2200" b="1" dirty="0"/>
          </a:p>
          <a:p>
            <a:r>
              <a:rPr lang="en-US" sz="2200" dirty="0"/>
              <a:t>A user is logged in. That does not mean the user should be allowed to access every resource. If the user requests another person’s data, the system must check:</a:t>
            </a:r>
            <a:endParaRPr lang="fr-FR" sz="22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200" dirty="0" err="1"/>
              <a:t>who</a:t>
            </a:r>
            <a:r>
              <a:rPr lang="fr-FR" sz="2200" dirty="0"/>
              <a:t> the user </a:t>
            </a:r>
            <a:r>
              <a:rPr lang="fr-FR" sz="2200" dirty="0" err="1"/>
              <a:t>is</a:t>
            </a:r>
            <a:r>
              <a:rPr lang="fr-FR" sz="2200" dirty="0"/>
              <a:t>,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200" dirty="0"/>
              <a:t>what resource is being requested, </a:t>
            </a:r>
            <a:endParaRPr lang="fr-FR" sz="22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200" dirty="0"/>
              <a:t>and whether that user is allowed to access that specific resource. </a:t>
            </a:r>
            <a:endParaRPr lang="fr-FR" sz="2200" dirty="0"/>
          </a:p>
          <a:p>
            <a:r>
              <a:rPr lang="en-US" sz="2200" b="1" dirty="0"/>
              <a:t>Common mistake</a:t>
            </a:r>
            <a:endParaRPr lang="fr-FR" sz="2200" b="1" dirty="0"/>
          </a:p>
          <a:p>
            <a:r>
              <a:rPr lang="en-US" sz="2200" dirty="0"/>
              <a:t>A system checks authorization once, then trusts future actions without rechecking. </a:t>
            </a:r>
            <a:r>
              <a:rPr lang="fr-FR" sz="2200" dirty="0"/>
              <a:t>That </a:t>
            </a:r>
            <a:r>
              <a:rPr lang="fr-FR" sz="2200" dirty="0" err="1"/>
              <a:t>can</a:t>
            </a:r>
            <a:r>
              <a:rPr lang="fr-FR" sz="2200" dirty="0"/>
              <a:t> </a:t>
            </a:r>
            <a:r>
              <a:rPr lang="fr-FR" sz="2200" dirty="0" err="1"/>
              <a:t>become</a:t>
            </a:r>
            <a:r>
              <a:rPr lang="fr-FR" sz="2200" dirty="0"/>
              <a:t> </a:t>
            </a:r>
            <a:r>
              <a:rPr lang="fr-FR" sz="2200" dirty="0" err="1"/>
              <a:t>dangerous</a:t>
            </a:r>
            <a:r>
              <a:rPr lang="fr-FR" sz="2200" dirty="0"/>
              <a:t> if: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200" dirty="0"/>
              <a:t>permissions change,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200" dirty="0" err="1"/>
              <a:t>tokens</a:t>
            </a:r>
            <a:r>
              <a:rPr lang="fr-FR" sz="2200" dirty="0"/>
              <a:t> are </a:t>
            </a:r>
            <a:r>
              <a:rPr lang="fr-FR" sz="2200" dirty="0" err="1"/>
              <a:t>reused</a:t>
            </a:r>
            <a:r>
              <a:rPr lang="fr-FR" sz="2200" dirty="0"/>
              <a:t> </a:t>
            </a:r>
            <a:r>
              <a:rPr lang="fr-FR" sz="2200" dirty="0" err="1"/>
              <a:t>incorrectly</a:t>
            </a:r>
            <a:r>
              <a:rPr lang="fr-FR" sz="2200" dirty="0"/>
              <a:t>,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200" dirty="0"/>
              <a:t>indirect paths bypass the main check, </a:t>
            </a:r>
            <a:endParaRPr lang="fr-FR" sz="22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200" dirty="0"/>
              <a:t>or the </a:t>
            </a:r>
            <a:r>
              <a:rPr lang="fr-FR" sz="2200" dirty="0" err="1"/>
              <a:t>context</a:t>
            </a:r>
            <a:r>
              <a:rPr lang="fr-FR" sz="2200" dirty="0"/>
              <a:t> changes. </a:t>
            </a:r>
          </a:p>
          <a:p>
            <a:r>
              <a:rPr lang="fr-FR" sz="2200" b="1" dirty="0"/>
              <a:t>Simple </a:t>
            </a:r>
            <a:r>
              <a:rPr lang="fr-FR" sz="2200" b="1" dirty="0" err="1"/>
              <a:t>summary</a:t>
            </a:r>
            <a:endParaRPr lang="fr-FR" sz="2200" b="1" dirty="0"/>
          </a:p>
          <a:p>
            <a:r>
              <a:rPr lang="fr-FR" sz="2200" dirty="0"/>
              <a:t>Complete </a:t>
            </a:r>
            <a:r>
              <a:rPr lang="fr-FR" sz="2200" dirty="0" err="1"/>
              <a:t>mediation</a:t>
            </a:r>
            <a:r>
              <a:rPr lang="fr-FR" sz="2200" dirty="0"/>
              <a:t> </a:t>
            </a:r>
            <a:r>
              <a:rPr lang="fr-FR" sz="2200" dirty="0" err="1"/>
              <a:t>means</a:t>
            </a:r>
            <a:r>
              <a:rPr lang="fr-FR" sz="2200" dirty="0"/>
              <a:t>:</a:t>
            </a:r>
          </a:p>
          <a:p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Every sensitive access must be checked, and the check must not be </a:t>
            </a:r>
            <a:r>
              <a:rPr lang="en-US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bypassable</a:t>
            </a:r>
            <a:r>
              <a:rPr lang="en-US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fr-FR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166477770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057182"/>
            <a:ext cx="12495858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>
                <a:solidFill>
                  <a:srgbClr val="FF0000"/>
                </a:solidFill>
              </a:rPr>
              <a:t>3) Economy of Mechanism</a:t>
            </a:r>
          </a:p>
          <a:p>
            <a:r>
              <a:rPr lang="en-US" sz="2000" b="1" dirty="0" smtClean="0"/>
              <a:t> (simplicity)Meaning</a:t>
            </a:r>
            <a:endParaRPr lang="en-US" sz="2000" b="1" dirty="0"/>
          </a:p>
          <a:p>
            <a:r>
              <a:rPr lang="en-US" sz="2000" dirty="0"/>
              <a:t>The system, especially the part security depends on, should be </a:t>
            </a:r>
            <a:r>
              <a:rPr lang="en-US" sz="2000" b="1" dirty="0"/>
              <a:t>as simple and as small as possible</a:t>
            </a:r>
            <a:r>
              <a:rPr lang="en-US" sz="2000" dirty="0"/>
              <a:t>.</a:t>
            </a:r>
          </a:p>
          <a:p>
            <a:r>
              <a:rPr lang="en-US" sz="2000" b="1" dirty="0"/>
              <a:t>Core idea</a:t>
            </a:r>
          </a:p>
          <a:p>
            <a:r>
              <a:rPr lang="en-US" sz="2000" dirty="0"/>
              <a:t>The more complex a mechanism is: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harder it is to understand,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harder it is to test,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harder it is to maintain,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and the more likely it is to contain mistakes. </a:t>
            </a:r>
          </a:p>
          <a:p>
            <a:r>
              <a:rPr lang="en-US" sz="2000" dirty="0"/>
              <a:t>In security, unnecessary complexity often creates weakness.</a:t>
            </a:r>
          </a:p>
          <a:p>
            <a:r>
              <a:rPr lang="en-US" sz="2000" b="1" dirty="0"/>
              <a:t>Why?</a:t>
            </a:r>
          </a:p>
          <a:p>
            <a:r>
              <a:rPr lang="en-US" sz="2000" dirty="0"/>
              <a:t>Because complexity increases: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hidden interactions,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overlooked cases,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logical mistakes,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configuration errors,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and maintenance difficulty.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171509064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072573"/>
            <a:ext cx="12495858" cy="52937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/>
              <a:t>Example</a:t>
            </a:r>
            <a:endParaRPr lang="fr-FR" sz="2000" dirty="0"/>
          </a:p>
          <a:p>
            <a:r>
              <a:rPr lang="en-US" sz="2000" dirty="0"/>
              <a:t>An authorization system with:</a:t>
            </a:r>
            <a:endParaRPr lang="fr-FR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000" dirty="0" err="1"/>
              <a:t>too</a:t>
            </a:r>
            <a:r>
              <a:rPr lang="fr-FR" sz="2000" dirty="0"/>
              <a:t> </a:t>
            </a:r>
            <a:r>
              <a:rPr lang="fr-FR" sz="2000" dirty="0" err="1"/>
              <a:t>many</a:t>
            </a:r>
            <a:r>
              <a:rPr lang="fr-FR" sz="2000" dirty="0"/>
              <a:t> </a:t>
            </a:r>
            <a:r>
              <a:rPr lang="fr-FR" sz="2000" dirty="0" err="1"/>
              <a:t>rules</a:t>
            </a:r>
            <a:r>
              <a:rPr lang="fr-FR" sz="2000" dirty="0"/>
              <a:t>,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000" dirty="0" err="1"/>
              <a:t>too</a:t>
            </a:r>
            <a:r>
              <a:rPr lang="fr-FR" sz="2000" dirty="0"/>
              <a:t> </a:t>
            </a:r>
            <a:r>
              <a:rPr lang="fr-FR" sz="2000" dirty="0" err="1"/>
              <a:t>many</a:t>
            </a:r>
            <a:r>
              <a:rPr lang="fr-FR" sz="2000" dirty="0"/>
              <a:t> exceptions,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000" dirty="0" err="1"/>
              <a:t>too</a:t>
            </a:r>
            <a:r>
              <a:rPr lang="fr-FR" sz="2000" dirty="0"/>
              <a:t> </a:t>
            </a:r>
            <a:r>
              <a:rPr lang="fr-FR" sz="2000" dirty="0" err="1"/>
              <a:t>many</a:t>
            </a:r>
            <a:r>
              <a:rPr lang="fr-FR" sz="2000" dirty="0"/>
              <a:t> </a:t>
            </a:r>
            <a:r>
              <a:rPr lang="fr-FR" sz="2000" dirty="0" err="1"/>
              <a:t>layers</a:t>
            </a:r>
            <a:r>
              <a:rPr lang="fr-FR" sz="2000" dirty="0"/>
              <a:t>,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000" dirty="0"/>
              <a:t>and </a:t>
            </a:r>
            <a:r>
              <a:rPr lang="fr-FR" sz="2000" dirty="0" err="1"/>
              <a:t>unclear</a:t>
            </a:r>
            <a:r>
              <a:rPr lang="fr-FR" sz="2000" dirty="0"/>
              <a:t> </a:t>
            </a:r>
            <a:r>
              <a:rPr lang="fr-FR" sz="2000" dirty="0" err="1"/>
              <a:t>implicit</a:t>
            </a:r>
            <a:r>
              <a:rPr lang="fr-FR" sz="2000" dirty="0"/>
              <a:t> </a:t>
            </a:r>
            <a:r>
              <a:rPr lang="fr-FR" sz="2000" dirty="0" err="1"/>
              <a:t>behavior</a:t>
            </a:r>
            <a:r>
              <a:rPr lang="fr-FR" sz="2000" dirty="0"/>
              <a:t> </a:t>
            </a:r>
          </a:p>
          <a:p>
            <a:r>
              <a:rPr lang="en-US" sz="2000" dirty="0"/>
              <a:t>becomes difficult to audit. Eventually, people no longer know exactly who has access to what.</a:t>
            </a:r>
            <a:endParaRPr lang="fr-FR" sz="2000" dirty="0"/>
          </a:p>
          <a:p>
            <a:r>
              <a:rPr lang="en-US" sz="2000" b="1" dirty="0"/>
              <a:t>Practical example</a:t>
            </a:r>
            <a:endParaRPr lang="fr-FR" sz="2000" dirty="0"/>
          </a:p>
          <a:p>
            <a:r>
              <a:rPr lang="en-US" sz="2000" dirty="0"/>
              <a:t>Suppose a system stores security rules partly in configuration files, partly in code, partly in a database, and partly in temporary exceptions added over time. That system may become insecure not because it lacks controls, but because it is </a:t>
            </a:r>
            <a:r>
              <a:rPr lang="en-US" sz="2000" b="1" dirty="0"/>
              <a:t>too complicated to manage correctly</a:t>
            </a:r>
            <a:r>
              <a:rPr lang="en-US" sz="2000" dirty="0"/>
              <a:t>.</a:t>
            </a:r>
            <a:endParaRPr lang="fr-FR" sz="2000" dirty="0"/>
          </a:p>
          <a:p>
            <a:r>
              <a:rPr lang="en-US" sz="2000" b="1" dirty="0"/>
              <a:t>Important note</a:t>
            </a:r>
            <a:endParaRPr lang="fr-FR" sz="2000" dirty="0"/>
          </a:p>
          <a:p>
            <a:r>
              <a:rPr lang="en-US" sz="2000" dirty="0"/>
              <a:t>Simplicity does not mean being naive or removing useful protections. It means avoiding </a:t>
            </a:r>
            <a:r>
              <a:rPr lang="en-US" sz="2000" b="1" dirty="0"/>
              <a:t>unnecessary complexity</a:t>
            </a:r>
            <a:r>
              <a:rPr lang="en-US" sz="2000" dirty="0"/>
              <a:t>.</a:t>
            </a:r>
            <a:endParaRPr lang="fr-FR" sz="2000" dirty="0"/>
          </a:p>
          <a:p>
            <a:r>
              <a:rPr lang="en-US" sz="2000" b="1" dirty="0"/>
              <a:t>Simple summary</a:t>
            </a:r>
            <a:endParaRPr lang="fr-FR" sz="2000" dirty="0"/>
          </a:p>
          <a:p>
            <a:r>
              <a:rPr lang="en-US" sz="2000" dirty="0"/>
              <a:t>Economy of mechanism means:</a:t>
            </a:r>
            <a:endParaRPr lang="fr-FR" sz="2000" dirty="0"/>
          </a:p>
          <a:p>
            <a:r>
              <a:rPr lang="en-US" sz="2000" dirty="0" smtClean="0"/>
              <a:t>    </a:t>
            </a:r>
            <a:r>
              <a:rPr lang="en-US" sz="2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</a:t>
            </a:r>
            <a:r>
              <a:rPr lang="en-US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mechanisms should be simple enough to understand, verify, and maintain.</a:t>
            </a:r>
            <a:endParaRPr lang="fr-FR" sz="2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14120649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0005" y="1041799"/>
            <a:ext cx="12495858" cy="5355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4) Open Design</a:t>
            </a:r>
          </a:p>
          <a:p>
            <a:r>
              <a:rPr lang="en-US" b="1" dirty="0"/>
              <a:t>Meaning</a:t>
            </a:r>
          </a:p>
          <a:p>
            <a:r>
              <a:rPr lang="en-US" dirty="0"/>
              <a:t>A protection mechanism should not depend on the attacker being ignorant of how the system works.</a:t>
            </a:r>
          </a:p>
          <a:p>
            <a:r>
              <a:rPr lang="en-US" dirty="0"/>
              <a:t>Instead, the system should remain secure even if its design is publicly known.</a:t>
            </a:r>
          </a:p>
          <a:p>
            <a:r>
              <a:rPr lang="en-US" dirty="0"/>
              <a:t>Security should rely only on a small number of secrets that are easy to change, such as: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passwords,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private keys,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or cryptographic secrets. </a:t>
            </a:r>
          </a:p>
          <a:p>
            <a:r>
              <a:rPr lang="en-US" b="1" dirty="0"/>
              <a:t>Core idea</a:t>
            </a:r>
          </a:p>
          <a:p>
            <a:r>
              <a:rPr lang="en-US" dirty="0"/>
              <a:t>This principle rejects </a:t>
            </a:r>
            <a:r>
              <a:rPr lang="en-US" b="1" dirty="0"/>
              <a:t>security through obscurity</a:t>
            </a:r>
            <a:r>
              <a:rPr lang="en-US" dirty="0"/>
              <a:t>.</a:t>
            </a:r>
          </a:p>
          <a:p>
            <a:r>
              <a:rPr lang="en-US" dirty="0"/>
              <a:t>That phrase refers to the weak idea that a system is secure just because its internal workings are hidden.</a:t>
            </a:r>
          </a:p>
          <a:p>
            <a:r>
              <a:rPr lang="en-US" b="1" dirty="0"/>
              <a:t>Why is obscurity not enough?</a:t>
            </a:r>
          </a:p>
          <a:p>
            <a:r>
              <a:rPr lang="en-US" dirty="0"/>
              <a:t>Because attackers may be able to: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study the application,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reverse-engineer binaries,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observe behavior,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inspect traffic,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or discover hidden details. </a:t>
            </a:r>
          </a:p>
          <a:p>
            <a:r>
              <a:rPr lang="en-US" dirty="0"/>
              <a:t>If the whole security of the system collapses once the attacker understands how it works, then the design is weak.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30095822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1121588"/>
            <a:ext cx="12192000" cy="4062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/>
              <a:t>Example</a:t>
            </a:r>
            <a:endParaRPr lang="fr-FR" sz="2400" b="1" dirty="0"/>
          </a:p>
          <a:p>
            <a:r>
              <a:rPr lang="en-US" sz="2400" dirty="0"/>
              <a:t>A secure encryption system should remain secure even if everyone knows the encryption algorithm, as long as the secret key remains secret.</a:t>
            </a:r>
            <a:endParaRPr lang="fr-FR" sz="2400" dirty="0"/>
          </a:p>
          <a:p>
            <a:r>
              <a:rPr lang="en-US" sz="2400" b="1" dirty="0"/>
              <a:t>Software example</a:t>
            </a:r>
            <a:endParaRPr lang="fr-FR" sz="2400" b="1" dirty="0"/>
          </a:p>
          <a:p>
            <a:r>
              <a:rPr lang="en-US" sz="2400" dirty="0"/>
              <a:t>An admin page should not be protected only because its URL is “hard to guess.” If someone discovers the path, the system should still require proper authentication and authorization.</a:t>
            </a:r>
            <a:endParaRPr lang="fr-FR" sz="2400" dirty="0"/>
          </a:p>
          <a:p>
            <a:r>
              <a:rPr lang="en-US" sz="2400" b="1" dirty="0"/>
              <a:t>Simple summary</a:t>
            </a:r>
            <a:endParaRPr lang="fr-FR" sz="2400" b="1" dirty="0"/>
          </a:p>
          <a:p>
            <a:r>
              <a:rPr lang="en-US" sz="2400" dirty="0"/>
              <a:t>Open design means:</a:t>
            </a:r>
            <a:endParaRPr lang="fr-FR" sz="2400" dirty="0"/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system should stay secure even when its design is known.</a:t>
            </a:r>
            <a:endParaRPr lang="fr-FR" sz="24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250787203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103957"/>
            <a:ext cx="11751300" cy="52937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>
                <a:solidFill>
                  <a:srgbClr val="FF0000"/>
                </a:solidFill>
              </a:rPr>
              <a:t>5) Fail-Safe Defaults</a:t>
            </a:r>
          </a:p>
          <a:p>
            <a:r>
              <a:rPr lang="en-US" sz="2000" b="1" dirty="0"/>
              <a:t>Meaning</a:t>
            </a:r>
          </a:p>
          <a:p>
            <a:r>
              <a:rPr lang="en-US" sz="2000" dirty="0"/>
              <a:t>The default configuration should be the </a:t>
            </a:r>
            <a:r>
              <a:rPr lang="en-US" sz="2000" b="1" dirty="0"/>
              <a:t>secure configuration</a:t>
            </a:r>
            <a:r>
              <a:rPr lang="en-US" sz="2000" dirty="0"/>
              <a:t>.</a:t>
            </a:r>
          </a:p>
          <a:p>
            <a:r>
              <a:rPr lang="en-US" sz="2000" dirty="0"/>
              <a:t>If it is not certain that something should be allowed, it should be </a:t>
            </a:r>
            <a:r>
              <a:rPr lang="en-US" sz="2000" b="1" dirty="0"/>
              <a:t>denied</a:t>
            </a:r>
            <a:r>
              <a:rPr lang="en-US" sz="2000" dirty="0"/>
              <a:t>.</a:t>
            </a:r>
          </a:p>
          <a:p>
            <a:r>
              <a:rPr lang="en-US" sz="2000" b="1" dirty="0"/>
              <a:t>Core idea</a:t>
            </a:r>
          </a:p>
          <a:p>
            <a:r>
              <a:rPr lang="en-US" sz="2000" dirty="0"/>
              <a:t>The default rule should be:</a:t>
            </a:r>
          </a:p>
          <a:p>
            <a:r>
              <a:rPr lang="en-US" sz="2000" b="1" dirty="0"/>
              <a:t>deny unless explicitly allowed</a:t>
            </a:r>
            <a:r>
              <a:rPr lang="en-US" sz="2000" dirty="0"/>
              <a:t>, </a:t>
            </a:r>
          </a:p>
          <a:p>
            <a:r>
              <a:rPr lang="en-US" sz="2000" dirty="0"/>
              <a:t>not:</a:t>
            </a:r>
          </a:p>
          <a:p>
            <a:r>
              <a:rPr lang="en-US" sz="2000" b="1" dirty="0"/>
              <a:t>allow unless explicitly denied</a:t>
            </a:r>
            <a:r>
              <a:rPr lang="en-US" sz="2000" dirty="0"/>
              <a:t>. </a:t>
            </a:r>
          </a:p>
          <a:p>
            <a:r>
              <a:rPr lang="en-US" sz="2000" b="1" dirty="0"/>
              <a:t>Why it matters</a:t>
            </a:r>
          </a:p>
          <a:p>
            <a:r>
              <a:rPr lang="en-US" sz="2000" dirty="0"/>
              <a:t>Because many people keep default settings. If the initial configuration is too open, the system will often be deployed insecurely.</a:t>
            </a:r>
          </a:p>
          <a:p>
            <a:r>
              <a:rPr lang="en-US" sz="2000" b="1" dirty="0"/>
              <a:t>Examples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A new account should not automatically receive powerful privileges.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A sensitive folder should not be publicly shared by default.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A newly installed API should not expose administrative routes to everyone.</a:t>
            </a:r>
          </a:p>
          <a:p>
            <a:endParaRPr lang="en-US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37406408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295817"/>
            <a:ext cx="11751300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/>
              <a:t>Benefit</a:t>
            </a:r>
            <a:endParaRPr lang="fr-FR" sz="2400" b="1" dirty="0"/>
          </a:p>
          <a:p>
            <a:r>
              <a:rPr lang="en-US" sz="2400" dirty="0"/>
              <a:t>This principle reduces the risk caused by human error and bad configuration.</a:t>
            </a:r>
            <a:endParaRPr lang="fr-FR" sz="2400" dirty="0"/>
          </a:p>
          <a:p>
            <a:r>
              <a:rPr lang="en-US" sz="2400" b="1" dirty="0"/>
              <a:t>Simple summary</a:t>
            </a:r>
            <a:endParaRPr lang="fr-FR" sz="2400" b="1" dirty="0"/>
          </a:p>
          <a:p>
            <a:r>
              <a:rPr lang="en-US" sz="2400" dirty="0"/>
              <a:t>Fail-safe defaults means:</a:t>
            </a:r>
            <a:endParaRPr lang="fr-FR" sz="2400" dirty="0"/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Deny by default; allow only when permission is explicit.</a:t>
            </a:r>
            <a:endParaRPr lang="fr-FR" sz="24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187618480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079618"/>
            <a:ext cx="11751300" cy="50167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>
                <a:solidFill>
                  <a:srgbClr val="FF0000"/>
                </a:solidFill>
              </a:rPr>
              <a:t>6) Separation of Privilege</a:t>
            </a:r>
          </a:p>
          <a:p>
            <a:r>
              <a:rPr lang="en-US" sz="2000" b="1" dirty="0"/>
              <a:t>Meaning</a:t>
            </a:r>
          </a:p>
          <a:p>
            <a:r>
              <a:rPr lang="en-US" sz="2000" dirty="0"/>
              <a:t>Access to a sensitive resource should depend on </a:t>
            </a:r>
            <a:r>
              <a:rPr lang="en-US" sz="2000" b="1" dirty="0"/>
              <a:t>more than one condition</a:t>
            </a:r>
            <a:r>
              <a:rPr lang="en-US" sz="2000" dirty="0"/>
              <a:t>.</a:t>
            </a:r>
          </a:p>
          <a:p>
            <a:r>
              <a:rPr lang="en-US" sz="2000" dirty="0"/>
              <a:t>The text gives the example of </a:t>
            </a:r>
            <a:r>
              <a:rPr lang="en-US" sz="2000" b="1" dirty="0"/>
              <a:t>two-factor authentication</a:t>
            </a:r>
            <a:r>
              <a:rPr lang="en-US" sz="2000" dirty="0"/>
              <a:t>:</a:t>
            </a:r>
          </a:p>
          <a:p>
            <a:r>
              <a:rPr lang="en-US" sz="2000" dirty="0"/>
              <a:t>a password, </a:t>
            </a:r>
          </a:p>
          <a:p>
            <a:r>
              <a:rPr lang="en-US" sz="2000" dirty="0"/>
              <a:t>plus a second factor such as a temporary code or authentication app. </a:t>
            </a:r>
          </a:p>
          <a:p>
            <a:r>
              <a:rPr lang="en-US" sz="2000" b="1" dirty="0"/>
              <a:t>Core idea</a:t>
            </a:r>
          </a:p>
          <a:p>
            <a:r>
              <a:rPr lang="en-US" sz="2000" dirty="0"/>
              <a:t>If security depends on only one condition, breaking that one condition may be enough to defeat the system.</a:t>
            </a:r>
          </a:p>
          <a:p>
            <a:r>
              <a:rPr lang="en-US" sz="2000" dirty="0"/>
              <a:t>If access depends on two or more independent conditions, then breaking one barrier is not enough.</a:t>
            </a:r>
          </a:p>
          <a:p>
            <a:r>
              <a:rPr lang="en-US" sz="2000" b="1" dirty="0"/>
              <a:t>Example</a:t>
            </a:r>
          </a:p>
          <a:p>
            <a:r>
              <a:rPr lang="en-US" sz="2000" dirty="0"/>
              <a:t>For a bank account, knowing the password alone may not be sufficient. The user may also need: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code sent to a phone,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confirmation in an app,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or another verification step. </a:t>
            </a:r>
          </a:p>
          <a:p>
            <a:r>
              <a:rPr lang="en-US" sz="2000" dirty="0"/>
              <a:t>This way, stealing the password alone does not immediately give access.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27833791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967496"/>
            <a:ext cx="11751300" cy="5355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900" b="1" dirty="0">
                <a:solidFill>
                  <a:srgbClr val="FF0000"/>
                </a:solidFill>
              </a:rPr>
              <a:t>7) Least Common Mechanism</a:t>
            </a:r>
          </a:p>
          <a:p>
            <a:r>
              <a:rPr lang="en-US" sz="1900" b="1" dirty="0"/>
              <a:t>(minimize sharing)</a:t>
            </a:r>
          </a:p>
          <a:p>
            <a:r>
              <a:rPr lang="en-US" sz="1900" b="1" dirty="0"/>
              <a:t>Meaning</a:t>
            </a:r>
          </a:p>
          <a:p>
            <a:r>
              <a:rPr lang="en-US" sz="1900" dirty="0"/>
              <a:t>The system should minimize the amount of </a:t>
            </a:r>
            <a:r>
              <a:rPr lang="en-US" sz="1900" b="1" dirty="0"/>
              <a:t>shared mechanisms and shared resources</a:t>
            </a:r>
            <a:r>
              <a:rPr lang="en-US" sz="1900" dirty="0"/>
              <a:t>.</a:t>
            </a:r>
          </a:p>
          <a:p>
            <a:r>
              <a:rPr lang="en-US" sz="1900" b="1" dirty="0"/>
              <a:t>Core idea</a:t>
            </a:r>
          </a:p>
          <a:p>
            <a:r>
              <a:rPr lang="en-US" sz="1900" dirty="0"/>
              <a:t>Too much sharing creates risk. When users, programs, or components with different trust levels share the same resources, this can create opportunities for: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information leakage,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interference,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side-channel attacks,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or unexpected abuse. </a:t>
            </a:r>
          </a:p>
          <a:p>
            <a:r>
              <a:rPr lang="en-US" sz="1900" b="1" dirty="0"/>
              <a:t>Examples of shared mechanisms to minimize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shared files,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shared directories,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shared memory,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shared execution environments,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the same computer for differently trusted workloads, </a:t>
            </a:r>
          </a:p>
          <a:p>
            <a:r>
              <a:rPr lang="en-US" sz="1900" dirty="0"/>
              <a:t>or the same service for unrelated trust levels.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9163796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944414"/>
            <a:ext cx="11751300" cy="54014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300" b="1" dirty="0"/>
              <a:t>Why it matters</a:t>
            </a:r>
            <a:endParaRPr lang="fr-FR" sz="2300" b="1" dirty="0"/>
          </a:p>
          <a:p>
            <a:r>
              <a:rPr lang="en-US" sz="2300" dirty="0"/>
              <a:t>A shared mechanism becomes a contact point between different parts of the system. If one side is less trustworthy, it may affect, observe, or interfere with the more sensitive side.</a:t>
            </a:r>
            <a:endParaRPr lang="fr-FR" sz="2300" dirty="0"/>
          </a:p>
          <a:p>
            <a:r>
              <a:rPr lang="en-US" sz="2300" b="1" dirty="0"/>
              <a:t>Example</a:t>
            </a:r>
            <a:endParaRPr lang="fr-FR" sz="2300" b="1" dirty="0"/>
          </a:p>
          <a:p>
            <a:r>
              <a:rPr lang="en-US" sz="2300" dirty="0"/>
              <a:t>Running a public Internet-facing service on the same machine as a highly sensitive internal process, without strong isolation, increases the risk. If the exposed service is compromised, the attacker is already much closer to the sensitive one.</a:t>
            </a:r>
            <a:endParaRPr lang="fr-FR" sz="2300" dirty="0"/>
          </a:p>
          <a:p>
            <a:r>
              <a:rPr lang="en-US" sz="2300" b="1" dirty="0"/>
              <a:t>Another example</a:t>
            </a:r>
            <a:endParaRPr lang="fr-FR" sz="2300" b="1" dirty="0"/>
          </a:p>
          <a:p>
            <a:r>
              <a:rPr lang="en-US" sz="2300" dirty="0"/>
              <a:t>If multiple applications share temporary files or directories carelessly, one application may read or modify data that belongs to another.</a:t>
            </a:r>
            <a:endParaRPr lang="fr-FR" sz="2300" dirty="0"/>
          </a:p>
          <a:p>
            <a:r>
              <a:rPr lang="en-US" sz="2300" b="1" dirty="0"/>
              <a:t>Simple summary</a:t>
            </a:r>
            <a:endParaRPr lang="fr-FR" sz="2300" b="1" dirty="0"/>
          </a:p>
          <a:p>
            <a:r>
              <a:rPr lang="en-US" sz="2300" dirty="0"/>
              <a:t>Least common mechanism means:</a:t>
            </a:r>
            <a:endParaRPr lang="fr-FR" sz="2300" dirty="0"/>
          </a:p>
          <a:p>
            <a:r>
              <a:rPr lang="en-US" sz="23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Reduce sharing as much as possible between components with different trust levels.</a:t>
            </a:r>
            <a:endParaRPr lang="fr-FR" sz="23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348689135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198332"/>
            <a:ext cx="11751300" cy="48936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8) Psychological Acceptability</a:t>
            </a:r>
          </a:p>
          <a:p>
            <a:r>
              <a:rPr lang="en-US" sz="2400" b="1" dirty="0"/>
              <a:t>(easy to use)</a:t>
            </a:r>
          </a:p>
          <a:p>
            <a:r>
              <a:rPr lang="en-US" sz="2400" b="1" dirty="0"/>
              <a:t>Meaning</a:t>
            </a:r>
          </a:p>
          <a:p>
            <a:r>
              <a:rPr lang="en-US" sz="2400" dirty="0"/>
              <a:t>Security mechanisms and interfaces should be </a:t>
            </a:r>
            <a:r>
              <a:rPr lang="en-US" sz="2400" b="1" dirty="0"/>
              <a:t>easy to understand and easy to use correctly</a:t>
            </a:r>
            <a:r>
              <a:rPr lang="en-US" sz="2400" dirty="0"/>
              <a:t>.</a:t>
            </a:r>
          </a:p>
          <a:p>
            <a:r>
              <a:rPr lang="en-US" sz="2400" b="1" dirty="0"/>
              <a:t>Core idea</a:t>
            </a:r>
          </a:p>
          <a:p>
            <a:r>
              <a:rPr lang="en-US" sz="2400" dirty="0"/>
              <a:t>A security mechanism may be excellent in theory, but if users: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do not understand it,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find it too difficult,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become frustrated by it,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or bypass it,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then it will fail in practice.</a:t>
            </a:r>
          </a:p>
          <a:p>
            <a:r>
              <a:rPr lang="en-US" sz="2400" dirty="0"/>
              <a:t>This principle recognizes that people are part of the system.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331006363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982890"/>
            <a:ext cx="11751300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>
                <a:solidFill>
                  <a:srgbClr val="FF0000"/>
                </a:solidFill>
              </a:rPr>
              <a:t>Why it matters</a:t>
            </a:r>
            <a:endParaRPr lang="fr-FR" sz="2000" dirty="0">
              <a:solidFill>
                <a:srgbClr val="FF0000"/>
              </a:solidFill>
            </a:endParaRPr>
          </a:p>
          <a:p>
            <a:r>
              <a:rPr lang="en-US" sz="2000" dirty="0"/>
              <a:t>If security is too confusing or too inconvenient, users often respond in unsafe ways. </a:t>
            </a:r>
            <a:r>
              <a:rPr lang="fr-FR" sz="2000" dirty="0"/>
              <a:t>For </a:t>
            </a:r>
            <a:r>
              <a:rPr lang="fr-FR" sz="2000" dirty="0" err="1"/>
              <a:t>example</a:t>
            </a:r>
            <a:r>
              <a:rPr lang="fr-FR" sz="2000" dirty="0"/>
              <a:t>, </a:t>
            </a:r>
            <a:r>
              <a:rPr lang="fr-FR" sz="2000" dirty="0" err="1"/>
              <a:t>they</a:t>
            </a:r>
            <a:r>
              <a:rPr lang="fr-FR" sz="2000" dirty="0"/>
              <a:t> </a:t>
            </a:r>
            <a:r>
              <a:rPr lang="fr-FR" sz="2000" dirty="0" err="1"/>
              <a:t>may</a:t>
            </a:r>
            <a:r>
              <a:rPr lang="fr-FR" sz="2000" dirty="0"/>
              <a:t>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000" dirty="0" err="1"/>
              <a:t>choose</a:t>
            </a:r>
            <a:r>
              <a:rPr lang="fr-FR" sz="2000" dirty="0"/>
              <a:t> </a:t>
            </a:r>
            <a:r>
              <a:rPr lang="fr-FR" sz="2000" dirty="0" err="1"/>
              <a:t>weak</a:t>
            </a:r>
            <a:r>
              <a:rPr lang="fr-FR" sz="2000" dirty="0"/>
              <a:t> </a:t>
            </a:r>
            <a:r>
              <a:rPr lang="fr-FR" sz="2000" dirty="0" err="1"/>
              <a:t>passwords</a:t>
            </a:r>
            <a:r>
              <a:rPr lang="fr-FR" sz="2000" dirty="0"/>
              <a:t>,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000" dirty="0" err="1"/>
              <a:t>reuse</a:t>
            </a:r>
            <a:r>
              <a:rPr lang="fr-FR" sz="2000" dirty="0"/>
              <a:t> </a:t>
            </a:r>
            <a:r>
              <a:rPr lang="fr-FR" sz="2000" dirty="0" err="1"/>
              <a:t>passwords</a:t>
            </a:r>
            <a:r>
              <a:rPr lang="fr-FR" sz="2000" dirty="0"/>
              <a:t>,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000" dirty="0" err="1"/>
              <a:t>write</a:t>
            </a:r>
            <a:r>
              <a:rPr lang="fr-FR" sz="2000" dirty="0"/>
              <a:t> down secret codes,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000" dirty="0" err="1"/>
              <a:t>disable</a:t>
            </a:r>
            <a:r>
              <a:rPr lang="fr-FR" sz="2000" dirty="0"/>
              <a:t> protections, </a:t>
            </a:r>
            <a:endParaRPr lang="fr-FR" sz="2000" dirty="0" smtClean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dirty="0" smtClean="0"/>
              <a:t>or </a:t>
            </a:r>
            <a:r>
              <a:rPr lang="en-US" sz="2000" dirty="0"/>
              <a:t>click through warnings without reading them. </a:t>
            </a:r>
            <a:endParaRPr lang="fr-FR" sz="2000" dirty="0"/>
          </a:p>
          <a:p>
            <a:r>
              <a:rPr lang="fr-FR" sz="2000" b="1" dirty="0" err="1"/>
              <a:t>Examples</a:t>
            </a:r>
            <a:endParaRPr lang="fr-FR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dirty="0"/>
              <a:t>If password rules are unreasonable, users may create predictable patterns or store them insecurely. </a:t>
            </a:r>
            <a:endParaRPr lang="fr-FR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dirty="0"/>
              <a:t>If security warnings appear too often and are unclear, users stop paying attention. </a:t>
            </a:r>
            <a:endParaRPr lang="fr-FR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dirty="0"/>
              <a:t>If login protection is too complex, some users will try to avoid it. </a:t>
            </a:r>
            <a:endParaRPr lang="fr-FR" sz="2000" dirty="0"/>
          </a:p>
          <a:p>
            <a:r>
              <a:rPr lang="en-US" sz="2000" b="1" dirty="0"/>
              <a:t>Good design approach</a:t>
            </a:r>
            <a:endParaRPr lang="fr-FR" sz="2000" dirty="0"/>
          </a:p>
          <a:p>
            <a:r>
              <a:rPr lang="en-US" sz="2000" dirty="0"/>
              <a:t>A good security system should make the correct behavior the easiest behavior.</a:t>
            </a:r>
            <a:endParaRPr lang="fr-FR" sz="2000" dirty="0"/>
          </a:p>
          <a:p>
            <a:r>
              <a:rPr lang="en-US" sz="2000" b="1" dirty="0"/>
              <a:t>Simple summary</a:t>
            </a:r>
            <a:endParaRPr lang="fr-FR" sz="2000" dirty="0"/>
          </a:p>
          <a:p>
            <a:r>
              <a:rPr lang="en-US" sz="2000" dirty="0"/>
              <a:t>Psychological acceptability means:</a:t>
            </a:r>
            <a:endParaRPr lang="fr-FR" sz="2000" dirty="0"/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must be usable, or people will use it incorrectly</a:t>
            </a:r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fr-FR" sz="2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3701692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149" y="1013674"/>
            <a:ext cx="11751300" cy="52629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/>
              <a:t>Why are these principles still important today?</a:t>
            </a:r>
          </a:p>
          <a:p>
            <a:r>
              <a:rPr lang="en-US" sz="2400" dirty="0"/>
              <a:t>The text says these principles remain timeless because they focus on realities that still matter:</a:t>
            </a:r>
          </a:p>
          <a:p>
            <a:r>
              <a:rPr lang="en-US" sz="2400" b="1" dirty="0"/>
              <a:t>1. Human behavior</a:t>
            </a:r>
          </a:p>
          <a:p>
            <a:r>
              <a:rPr lang="en-US" sz="2400" dirty="0"/>
              <a:t>People make mistakes, forget things, choose shortcuts, and react badly to confusing systems.</a:t>
            </a:r>
          </a:p>
          <a:p>
            <a:r>
              <a:rPr lang="en-US" sz="2400" b="1" dirty="0"/>
              <a:t>2. System complexity</a:t>
            </a:r>
          </a:p>
          <a:p>
            <a:r>
              <a:rPr lang="en-US" sz="2400" dirty="0"/>
              <a:t>Complex systems are harder to secure. That was true in 1975 and is still true now.</a:t>
            </a:r>
          </a:p>
          <a:p>
            <a:r>
              <a:rPr lang="en-US" sz="2400" b="1" dirty="0"/>
              <a:t>3. Controlled trust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400" dirty="0"/>
              <a:t>Security depends heavily on deciding: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400" dirty="0"/>
              <a:t>what to trust, 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400" dirty="0"/>
              <a:t>how much to trust it, 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400" dirty="0"/>
              <a:t>under what conditions, 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en-US" sz="2400" dirty="0"/>
              <a:t>and with what limits. 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27285115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6338" y="1270989"/>
            <a:ext cx="11751300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/>
              <a:t>4. Access control and misuse</a:t>
            </a:r>
          </a:p>
          <a:p>
            <a:r>
              <a:rPr lang="en-US" sz="2400" dirty="0"/>
              <a:t>Many attacks still succeed because of: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excessive privilege,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incomplete checking,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unsafe defaults,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bad assumptions,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unnecessary sharing,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or unusable protections.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So even though technology changes, many fundamental design mistakes remain the same.</a:t>
            </a:r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33837523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1036326"/>
            <a:ext cx="11751300" cy="56323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/>
              <a:t>Very important point: these principles are guides, not automatic recipes</a:t>
            </a:r>
          </a:p>
          <a:p>
            <a:r>
              <a:rPr lang="en-US" sz="2800" dirty="0"/>
              <a:t>The text emphasizes that these design principles are </a:t>
            </a:r>
            <a:r>
              <a:rPr lang="en-US" sz="2800" b="1" dirty="0"/>
              <a:t>rules of thumb</a:t>
            </a:r>
            <a:r>
              <a:rPr lang="en-US" sz="2800" dirty="0"/>
              <a:t>.</a:t>
            </a:r>
          </a:p>
          <a:p>
            <a:r>
              <a:rPr lang="en-US" sz="2800" dirty="0"/>
              <a:t>They do not mean:</a:t>
            </a:r>
          </a:p>
          <a:p>
            <a:pPr marL="631825" indent="-403225">
              <a:buFont typeface="Wingdings" panose="05000000000000000000" pitchFamily="2" charset="2"/>
              <a:buChar char="§"/>
            </a:pPr>
            <a:r>
              <a:rPr lang="en-US" sz="2800" dirty="0"/>
              <a:t>“always do exactly this in every case,” </a:t>
            </a:r>
          </a:p>
          <a:p>
            <a:pPr marL="631825" indent="-403225">
              <a:buFont typeface="Wingdings" panose="05000000000000000000" pitchFamily="2" charset="2"/>
              <a:buChar char="§"/>
            </a:pPr>
            <a:r>
              <a:rPr lang="en-US" sz="2800" dirty="0"/>
              <a:t>or “this principle alone is enough.” </a:t>
            </a:r>
          </a:p>
          <a:p>
            <a:r>
              <a:rPr lang="en-US" sz="2800" dirty="0"/>
              <a:t>Instead, they help designers ask better questions during software design.</a:t>
            </a:r>
          </a:p>
          <a:p>
            <a:r>
              <a:rPr lang="en-US" sz="2800" dirty="0"/>
              <a:t>Sometimes there may be good reasons not to apply a principle in a strict way. But if you decide not to follow one, that choice should be: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800" dirty="0"/>
              <a:t>conscious,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800" dirty="0"/>
              <a:t>justified,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800" dirty="0"/>
              <a:t>and made with a clear understanding of the risks.</a:t>
            </a:r>
          </a:p>
          <a:p>
            <a:endParaRPr lang="en-US" sz="2400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169306105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40700" y="1204658"/>
            <a:ext cx="11751300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/>
              <a:t>Quick summary of the eight principles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Least privilege</a:t>
            </a:r>
          </a:p>
          <a:p>
            <a:pPr marL="457200"/>
            <a:r>
              <a:rPr lang="en-US" sz="2000" dirty="0"/>
              <a:t>Give only the permissions that are necessary.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Complete mediation</a:t>
            </a:r>
          </a:p>
          <a:p>
            <a:pPr marL="457200"/>
            <a:r>
              <a:rPr lang="en-US" sz="2000" dirty="0"/>
              <a:t>Check every access, and make sure the check cannot be bypassed.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Economy of mechanism</a:t>
            </a:r>
          </a:p>
          <a:p>
            <a:pPr marL="457200"/>
            <a:r>
              <a:rPr lang="en-US" sz="2000" dirty="0"/>
              <a:t>Keep security mechanisms small, clear, and simple.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Open design</a:t>
            </a:r>
          </a:p>
          <a:p>
            <a:pPr marL="457200"/>
            <a:r>
              <a:rPr lang="en-US" sz="2000" dirty="0"/>
              <a:t>Do not rely on attacker ignorance of the system’s design.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Fail-safe defaults</a:t>
            </a:r>
          </a:p>
          <a:p>
            <a:pPr marL="457200"/>
            <a:r>
              <a:rPr lang="en-US" sz="2000" dirty="0"/>
              <a:t>Use secure defaults; deny unless access is explicitly allowed.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Separation of privilege</a:t>
            </a:r>
          </a:p>
          <a:p>
            <a:pPr marL="457200"/>
            <a:r>
              <a:rPr lang="en-US" sz="2000" dirty="0"/>
              <a:t>Require more than one condition for sensitive access.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Least common mechanism</a:t>
            </a:r>
          </a:p>
          <a:p>
            <a:pPr marL="457200"/>
            <a:r>
              <a:rPr lang="en-US" sz="2000" dirty="0"/>
              <a:t>Minimize unnecessary sharing.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Psychological acceptability</a:t>
            </a:r>
          </a:p>
          <a:p>
            <a:pPr marL="457200"/>
            <a:r>
              <a:rPr lang="en-US" sz="2000" dirty="0"/>
              <a:t>Make security easy enough to use correctly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225843208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40700" y="1019996"/>
            <a:ext cx="11751300" cy="56938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/>
              <a:t>Conclusion</a:t>
            </a:r>
          </a:p>
          <a:p>
            <a:r>
              <a:rPr lang="en-US" sz="2000" dirty="0"/>
              <a:t>This section shows that software security does not begin only with tools or coding practices. It begins with </a:t>
            </a:r>
            <a:r>
              <a:rPr lang="en-US" sz="2000" b="1" dirty="0"/>
              <a:t>good design choices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Saltzer</a:t>
            </a:r>
            <a:r>
              <a:rPr lang="en-US" sz="2000" dirty="0"/>
              <a:t> and Schroeder’s principles are powerful because they teach designers to: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reduce unnecessary privilege,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verify access carefully,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avoid needless complexity,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reject security through obscurity,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choose secure defaults,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require multiple protections for sensitive actions,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minimize sharing,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and respect human behavior. </a:t>
            </a:r>
            <a:endParaRPr lang="en-US" sz="2000" dirty="0" smtClean="0"/>
          </a:p>
          <a:p>
            <a:pPr marL="53975" lvl="1"/>
            <a:r>
              <a:rPr lang="en-US" sz="2000" dirty="0" smtClean="0"/>
              <a:t>In </a:t>
            </a:r>
            <a:r>
              <a:rPr lang="en-US" sz="2000" dirty="0"/>
              <a:t>other words, these principles help build systems that are: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stronger,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clearer,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easier to manage,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and more resistant to attack.</a:t>
            </a:r>
          </a:p>
          <a:p>
            <a:endParaRPr lang="en-US" sz="2400" dirty="0"/>
          </a:p>
        </p:txBody>
      </p:sp>
      <p:sp>
        <p:nvSpPr>
          <p:cNvPr id="11" name="Organigramme : Données stockées 10"/>
          <p:cNvSpPr/>
          <p:nvPr/>
        </p:nvSpPr>
        <p:spPr>
          <a:xfrm rot="10800000">
            <a:off x="0" y="481853"/>
            <a:ext cx="51958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654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71536" y="470092"/>
            <a:ext cx="4267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Secure Design Principles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868665" y="491455"/>
            <a:ext cx="699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Widely-Recommended Secure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4444249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11080</Words>
  <Application>Microsoft Office PowerPoint</Application>
  <PresentationFormat>Grand écran</PresentationFormat>
  <Paragraphs>1660</Paragraphs>
  <Slides>134</Slides>
  <Notes>0</Notes>
  <HiddenSlides>2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134</vt:i4>
      </vt:variant>
    </vt:vector>
  </HeadingPairs>
  <TitlesOfParts>
    <vt:vector size="146" baseType="lpstr">
      <vt:lpstr>Arial</vt:lpstr>
      <vt:lpstr>Calibri</vt:lpstr>
      <vt:lpstr>Calibri (Corps)</vt:lpstr>
      <vt:lpstr>Calibri corps</vt:lpstr>
      <vt:lpstr>Calibri Light</vt:lpstr>
      <vt:lpstr>Constantia</vt:lpstr>
      <vt:lpstr>Courier New</vt:lpstr>
      <vt:lpstr>inherit</vt:lpstr>
      <vt:lpstr>Lato</vt:lpstr>
      <vt:lpstr>Segoe UI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</dc:creator>
  <cp:lastModifiedBy>lenovo</cp:lastModifiedBy>
  <cp:revision>171</cp:revision>
  <dcterms:created xsi:type="dcterms:W3CDTF">2026-04-25T11:38:35Z</dcterms:created>
  <dcterms:modified xsi:type="dcterms:W3CDTF">2026-04-25T21:29:25Z</dcterms:modified>
</cp:coreProperties>
</file>