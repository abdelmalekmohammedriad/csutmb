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69" r:id="rId2"/>
    <p:sldId id="258" r:id="rId3"/>
    <p:sldId id="265" r:id="rId4"/>
    <p:sldId id="271" r:id="rId5"/>
    <p:sldId id="263" r:id="rId6"/>
    <p:sldId id="264" r:id="rId7"/>
    <p:sldId id="273" r:id="rId8"/>
    <p:sldId id="260" r:id="rId9"/>
    <p:sldId id="268" r:id="rId10"/>
    <p:sldId id="274" r:id="rId11"/>
    <p:sldId id="257" r:id="rId12"/>
    <p:sldId id="272" r:id="rId13"/>
    <p:sldId id="276" r:id="rId14"/>
    <p:sldId id="267" r:id="rId15"/>
  </p:sldIdLst>
  <p:sldSz cx="18288000" cy="10287000"/>
  <p:notesSz cx="6858000" cy="9144000"/>
  <p:embeddedFontLst>
    <p:embeddedFont>
      <p:font typeface="Arabic Typesetting" panose="03020402040406030203" pitchFamily="66" charset="-78"/>
      <p:regular r:id="rId17"/>
    </p:embeddedFont>
    <p:embeddedFont>
      <p:font typeface="Arial Black" panose="020B0A04020102020204" pitchFamily="34" charset="0"/>
      <p:bold r:id="rId18"/>
    </p:embeddedFont>
    <p:embeddedFont>
      <p:font typeface="Garet" panose="020B0604020202020204" charset="0"/>
      <p:regular r:id="rId19"/>
    </p:embeddedFont>
    <p:embeddedFont>
      <p:font typeface="Garet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kri douaa" initials="bd" lastIdx="1" clrIdx="0">
    <p:extLst>
      <p:ext uri="{19B8F6BF-5375-455C-9EA6-DF929625EA0E}">
        <p15:presenceInfo xmlns:p15="http://schemas.microsoft.com/office/powerpoint/2012/main" userId="cabc572d6a17460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41" autoAdjust="0"/>
    <p:restoredTop sz="94622" autoAdjust="0"/>
  </p:normalViewPr>
  <p:slideViewPr>
    <p:cSldViewPr>
      <p:cViewPr>
        <p:scale>
          <a:sx n="50" d="100"/>
          <a:sy n="50" d="100"/>
        </p:scale>
        <p:origin x="-1522" y="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4-07T11:18:30.177" idx="1">
    <p:pos x="10" y="10"/>
    <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032D21-59AC-4A13-A568-8E63A1D1819A}" type="datetimeFigureOut">
              <a:rPr lang="en-US" smtClean="0"/>
              <a:t>4/9/2026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69C47-BABC-431B-91FF-4C04143BCCF2}" type="slidenum">
              <a:rPr lang="en-US" smtClean="0"/>
              <a:t>‹N°›</a:t>
            </a:fld>
            <a:endParaRPr lang="en-US"/>
          </a:p>
        </p:txBody>
      </p:sp>
    </p:spTree>
    <p:extLst>
      <p:ext uri="{BB962C8B-B14F-4D97-AF65-F5344CB8AC3E}">
        <p14:creationId xmlns:p14="http://schemas.microsoft.com/office/powerpoint/2010/main" val="417588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52169C47-BABC-431B-91FF-4C04143BCCF2}" type="slidenum">
              <a:rPr lang="en-US" smtClean="0"/>
              <a:t>1</a:t>
            </a:fld>
            <a:endParaRPr lang="en-US"/>
          </a:p>
        </p:txBody>
      </p:sp>
    </p:spTree>
    <p:extLst>
      <p:ext uri="{BB962C8B-B14F-4D97-AF65-F5344CB8AC3E}">
        <p14:creationId xmlns:p14="http://schemas.microsoft.com/office/powerpoint/2010/main" val="1274373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11.webp"/></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F88FAAB-E3D5-978D-D7EE-9714899CCEC7}"/>
              </a:ext>
            </a:extLst>
          </p:cNvPr>
          <p:cNvSpPr txBox="1"/>
          <p:nvPr/>
        </p:nvSpPr>
        <p:spPr>
          <a:xfrm>
            <a:off x="13106400" y="8572500"/>
            <a:ext cx="3913251" cy="1446550"/>
          </a:xfrm>
          <a:prstGeom prst="rect">
            <a:avLst/>
          </a:prstGeom>
          <a:noFill/>
        </p:spPr>
        <p:txBody>
          <a:bodyPr wrap="none" rtlCol="0">
            <a:spAutoFit/>
          </a:bodyPr>
          <a:lstStyle/>
          <a:p>
            <a:pPr marL="571500" indent="-571500">
              <a:buFont typeface="Arial" panose="020B0604020202020204" pitchFamily="34" charset="0"/>
              <a:buChar char="•"/>
            </a:pPr>
            <a:r>
              <a:rPr lang="en-US" sz="4400" b="1" dirty="0">
                <a:solidFill>
                  <a:schemeClr val="tx2">
                    <a:lumMod val="75000"/>
                  </a:schemeClr>
                </a:solidFill>
                <a:latin typeface="Arabic Typesetting" panose="03020402040406030203" pitchFamily="66" charset="-78"/>
                <a:cs typeface="Arabic Typesetting" panose="03020402040406030203" pitchFamily="66" charset="-78"/>
              </a:rPr>
              <a:t>Presented by : </a:t>
            </a:r>
          </a:p>
          <a:p>
            <a:r>
              <a:rPr lang="en-US" sz="4400" b="1" dirty="0">
                <a:solidFill>
                  <a:schemeClr val="tx2">
                    <a:lumMod val="75000"/>
                  </a:schemeClr>
                </a:solidFill>
                <a:latin typeface="Arabic Typesetting" panose="03020402040406030203" pitchFamily="66" charset="-78"/>
                <a:cs typeface="Arabic Typesetting" panose="03020402040406030203" pitchFamily="66" charset="-78"/>
              </a:rPr>
              <a:t>         BEKRI DOUAA </a:t>
            </a:r>
          </a:p>
        </p:txBody>
      </p:sp>
    </p:spTree>
    <p:extLst>
      <p:ext uri="{BB962C8B-B14F-4D97-AF65-F5344CB8AC3E}">
        <p14:creationId xmlns:p14="http://schemas.microsoft.com/office/powerpoint/2010/main" val="2864948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sp>
        <p:nvSpPr>
          <p:cNvPr id="3" name="Freeform 3"/>
          <p:cNvSpPr/>
          <p:nvPr/>
        </p:nvSpPr>
        <p:spPr>
          <a:xfrm>
            <a:off x="11244255" y="1272888"/>
            <a:ext cx="7039565" cy="8983203"/>
          </a:xfrm>
          <a:custGeom>
            <a:avLst/>
            <a:gdLst/>
            <a:ahLst/>
            <a:cxnLst/>
            <a:rect l="l" t="t" r="r" b="b"/>
            <a:pathLst>
              <a:path w="7039565" h="8983203">
                <a:moveTo>
                  <a:pt x="0" y="0"/>
                </a:moveTo>
                <a:lnTo>
                  <a:pt x="7039565" y="0"/>
                </a:lnTo>
                <a:lnTo>
                  <a:pt x="7039565" y="8983203"/>
                </a:lnTo>
                <a:lnTo>
                  <a:pt x="0" y="898320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143791" y="1625823"/>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sp>
      <p:sp>
        <p:nvSpPr>
          <p:cNvPr id="7" name="Freeform 7"/>
          <p:cNvSpPr/>
          <p:nvPr/>
        </p:nvSpPr>
        <p:spPr>
          <a:xfrm>
            <a:off x="14704355" y="2372410"/>
            <a:ext cx="3434020" cy="1798178"/>
          </a:xfrm>
          <a:custGeom>
            <a:avLst/>
            <a:gdLst/>
            <a:ahLst/>
            <a:cxnLst/>
            <a:rect l="l" t="t" r="r" b="b"/>
            <a:pathLst>
              <a:path w="3434020" h="1798178">
                <a:moveTo>
                  <a:pt x="0" y="0"/>
                </a:moveTo>
                <a:lnTo>
                  <a:pt x="3434020" y="0"/>
                </a:lnTo>
                <a:lnTo>
                  <a:pt x="3434020" y="1798178"/>
                </a:lnTo>
                <a:lnTo>
                  <a:pt x="0" y="179817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3523962" y="1272888"/>
            <a:ext cx="6153438" cy="1388842"/>
          </a:xfrm>
          <a:prstGeom prst="rect">
            <a:avLst/>
          </a:prstGeom>
        </p:spPr>
        <p:txBody>
          <a:bodyPr wrap="square" lIns="0" tIns="0" rIns="0" bIns="0" rtlCol="0" anchor="t">
            <a:spAutoFit/>
          </a:bodyPr>
          <a:lstStyle/>
          <a:p>
            <a:pPr>
              <a:lnSpc>
                <a:spcPts val="10574"/>
              </a:lnSpc>
              <a:spcBef>
                <a:spcPct val="0"/>
              </a:spcBef>
            </a:pPr>
            <a:r>
              <a:rPr lang="fr-FR" sz="9600" i="1" dirty="0">
                <a:solidFill>
                  <a:schemeClr val="tx2">
                    <a:lumMod val="50000"/>
                  </a:schemeClr>
                </a:solidFill>
              </a:rPr>
              <a:t>Introduction</a:t>
            </a:r>
            <a:endParaRPr lang="en-US" sz="9600" b="1" i="1" spc="-347" dirty="0">
              <a:solidFill>
                <a:schemeClr val="tx2">
                  <a:lumMod val="50000"/>
                </a:schemeClr>
              </a:solidFill>
              <a:latin typeface="Arabic Typesetting" panose="03020402040406030203" pitchFamily="66" charset="-78"/>
              <a:ea typeface="Garet Bold"/>
              <a:cs typeface="Arabic Typesetting" panose="03020402040406030203" pitchFamily="66" charset="-78"/>
              <a:sym typeface="Garet Bold"/>
            </a:endParaRPr>
          </a:p>
        </p:txBody>
      </p:sp>
      <p:sp>
        <p:nvSpPr>
          <p:cNvPr id="13" name="Freeform 13"/>
          <p:cNvSpPr/>
          <p:nvPr/>
        </p:nvSpPr>
        <p:spPr>
          <a:xfrm>
            <a:off x="12115800" y="901942"/>
            <a:ext cx="3434020" cy="1798178"/>
          </a:xfrm>
          <a:custGeom>
            <a:avLst/>
            <a:gdLst/>
            <a:ahLst/>
            <a:cxnLst/>
            <a:rect l="l" t="t" r="r" b="b"/>
            <a:pathLst>
              <a:path w="3434020" h="1798178">
                <a:moveTo>
                  <a:pt x="0" y="0"/>
                </a:moveTo>
                <a:lnTo>
                  <a:pt x="3434020" y="0"/>
                </a:lnTo>
                <a:lnTo>
                  <a:pt x="3434020" y="1798178"/>
                </a:lnTo>
                <a:lnTo>
                  <a:pt x="0" y="179817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655566" y="3314700"/>
            <a:ext cx="10564876" cy="5539978"/>
          </a:xfrm>
          <a:prstGeom prst="rect">
            <a:avLst/>
          </a:prstGeom>
        </p:spPr>
        <p:txBody>
          <a:bodyPr wrap="square" lIns="0" tIns="0" rIns="0" bIns="0" rtlCol="0" anchor="t">
            <a:spAutoFit/>
          </a:bodyPr>
          <a:lstStyle/>
          <a:p>
            <a:r>
              <a:rPr lang="en-US" sz="4000" b="1" dirty="0">
                <a:solidFill>
                  <a:schemeClr val="tx2">
                    <a:lumMod val="50000"/>
                  </a:schemeClr>
                </a:solidFill>
              </a:rPr>
              <a:t>Near Field Communication (NFC) </a:t>
            </a:r>
            <a:r>
              <a:rPr lang="en-US" sz="4000" dirty="0">
                <a:solidFill>
                  <a:schemeClr val="bg1"/>
                </a:solidFill>
              </a:rPr>
              <a:t>is a short-range wireless communication technology (</a:t>
            </a:r>
            <a:r>
              <a:rPr lang="fr-FR" sz="4000" dirty="0" err="1">
                <a:solidFill>
                  <a:schemeClr val="bg1"/>
                </a:solidFill>
              </a:rPr>
              <a:t>typically</a:t>
            </a:r>
            <a:r>
              <a:rPr lang="fr-FR" sz="4000" dirty="0">
                <a:solidFill>
                  <a:schemeClr val="bg1"/>
                </a:solidFill>
              </a:rPr>
              <a:t> a few </a:t>
            </a:r>
            <a:r>
              <a:rPr lang="fr-FR" sz="4000" dirty="0" err="1">
                <a:solidFill>
                  <a:schemeClr val="bg1"/>
                </a:solidFill>
              </a:rPr>
              <a:t>centimeters</a:t>
            </a:r>
            <a:r>
              <a:rPr lang="en-US" sz="4000" dirty="0">
                <a:solidFill>
                  <a:schemeClr val="bg1"/>
                </a:solidFill>
              </a:rPr>
              <a:t>), operating at 13.56 </a:t>
            </a:r>
            <a:r>
              <a:rPr lang="en-US" sz="4000" dirty="0" err="1">
                <a:solidFill>
                  <a:schemeClr val="bg1"/>
                </a:solidFill>
              </a:rPr>
              <a:t>MHz.</a:t>
            </a:r>
            <a:r>
              <a:rPr lang="en-US" sz="4000" dirty="0">
                <a:solidFill>
                  <a:schemeClr val="bg1"/>
                </a:solidFill>
              </a:rPr>
              <a:t> It enables fast, simple, and secure data exchange between devices without prior configuration, using RFID technology. Today, NFC is widely used in several fields such as mobile payments, transportation, access control, and interactive marketing.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3" name="Group 3"/>
          <p:cNvGrpSpPr/>
          <p:nvPr/>
        </p:nvGrpSpPr>
        <p:grpSpPr>
          <a:xfrm rot="548354">
            <a:off x="10695521" y="-42357"/>
            <a:ext cx="10371714" cy="1037171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3132137" y="1161423"/>
            <a:ext cx="12023723" cy="1388842"/>
          </a:xfrm>
          <a:prstGeom prst="rect">
            <a:avLst/>
          </a:prstGeom>
        </p:spPr>
        <p:txBody>
          <a:bodyPr wrap="square" lIns="0" tIns="0" rIns="0" bIns="0" rtlCol="0" anchor="t">
            <a:spAutoFit/>
          </a:bodyPr>
          <a:lstStyle/>
          <a:p>
            <a:pPr>
              <a:lnSpc>
                <a:spcPts val="10574"/>
              </a:lnSpc>
              <a:spcBef>
                <a:spcPct val="0"/>
              </a:spcBef>
            </a:pPr>
            <a:r>
              <a:rPr lang="fr-FR" sz="9600" dirty="0">
                <a:solidFill>
                  <a:schemeClr val="tx2">
                    <a:lumMod val="50000"/>
                  </a:schemeClr>
                </a:solidFill>
              </a:rPr>
              <a:t>How </a:t>
            </a:r>
            <a:r>
              <a:rPr lang="fr-FR" sz="9600" dirty="0" err="1">
                <a:solidFill>
                  <a:schemeClr val="tx2">
                    <a:lumMod val="50000"/>
                  </a:schemeClr>
                </a:solidFill>
              </a:rPr>
              <a:t>Does</a:t>
            </a:r>
            <a:r>
              <a:rPr lang="fr-FR" sz="9600" dirty="0">
                <a:solidFill>
                  <a:schemeClr val="tx2">
                    <a:lumMod val="50000"/>
                  </a:schemeClr>
                </a:solidFill>
              </a:rPr>
              <a:t> NFC Work?</a:t>
            </a:r>
            <a:endParaRPr lang="en-US" sz="9600" spc="-347" dirty="0">
              <a:solidFill>
                <a:schemeClr val="tx2">
                  <a:lumMod val="50000"/>
                </a:schemeClr>
              </a:solidFill>
              <a:latin typeface="Garet"/>
              <a:ea typeface="Garet"/>
              <a:cs typeface="Garet"/>
              <a:sym typeface="Garet"/>
            </a:endParaRPr>
          </a:p>
        </p:txBody>
      </p:sp>
      <p:sp>
        <p:nvSpPr>
          <p:cNvPr id="17" name="Freeform 6">
            <a:extLst>
              <a:ext uri="{FF2B5EF4-FFF2-40B4-BE49-F238E27FC236}">
                <a16:creationId xmlns:a16="http://schemas.microsoft.com/office/drawing/2014/main" id="{670956C0-CE9F-E578-12D7-F15BE48FE701}"/>
              </a:ext>
            </a:extLst>
          </p:cNvPr>
          <p:cNvSpPr/>
          <p:nvPr/>
        </p:nvSpPr>
        <p:spPr>
          <a:xfrm>
            <a:off x="-1345895" y="1731109"/>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2"/>
                </a:ext>
              </a:extLst>
            </a:blip>
            <a:stretch>
              <a:fillRect/>
            </a:stretch>
          </a:blipFill>
        </p:spPr>
      </p:sp>
      <p:sp>
        <p:nvSpPr>
          <p:cNvPr id="2" name="ZoneTexte 1">
            <a:extLst>
              <a:ext uri="{FF2B5EF4-FFF2-40B4-BE49-F238E27FC236}">
                <a16:creationId xmlns:a16="http://schemas.microsoft.com/office/drawing/2014/main" id="{C9121F8D-BF67-FB35-5A88-8C0BC16F4C7C}"/>
              </a:ext>
            </a:extLst>
          </p:cNvPr>
          <p:cNvSpPr txBox="1"/>
          <p:nvPr/>
        </p:nvSpPr>
        <p:spPr>
          <a:xfrm>
            <a:off x="1439047" y="3150900"/>
            <a:ext cx="12420600" cy="5509200"/>
          </a:xfrm>
          <a:prstGeom prst="rect">
            <a:avLst/>
          </a:prstGeom>
          <a:noFill/>
        </p:spPr>
        <p:txBody>
          <a:bodyPr wrap="square" rtlCol="0">
            <a:spAutoFit/>
          </a:bodyPr>
          <a:lstStyle/>
          <a:p>
            <a:pPr marL="571500" indent="-571500">
              <a:buFont typeface="Wingdings" panose="05000000000000000000" pitchFamily="2" charset="2"/>
              <a:buChar char="v"/>
            </a:pPr>
            <a:r>
              <a:rPr lang="en-US" sz="4400" dirty="0">
                <a:solidFill>
                  <a:schemeClr val="bg1"/>
                </a:solidFill>
              </a:rPr>
              <a:t>NFC uses </a:t>
            </a:r>
            <a:r>
              <a:rPr lang="en-US" sz="4400" b="1" dirty="0">
                <a:solidFill>
                  <a:schemeClr val="bg1"/>
                </a:solidFill>
              </a:rPr>
              <a:t>inductive coupling</a:t>
            </a:r>
            <a:r>
              <a:rPr lang="en-US" sz="4400" dirty="0">
                <a:solidFill>
                  <a:schemeClr val="bg1"/>
                </a:solidFill>
              </a:rPr>
              <a:t> between two devices </a:t>
            </a:r>
          </a:p>
          <a:p>
            <a:pPr marL="571500" indent="-571500">
              <a:buFont typeface="Wingdings" panose="05000000000000000000" pitchFamily="2" charset="2"/>
              <a:buChar char="v"/>
            </a:pPr>
            <a:r>
              <a:rPr lang="en-US" sz="4400" dirty="0">
                <a:solidFill>
                  <a:schemeClr val="bg1"/>
                </a:solidFill>
              </a:rPr>
              <a:t>It operates at a frequency of </a:t>
            </a:r>
            <a:r>
              <a:rPr lang="en-US" sz="4400" b="1" dirty="0">
                <a:solidFill>
                  <a:schemeClr val="bg1"/>
                </a:solidFill>
              </a:rPr>
              <a:t>13.56 MHz</a:t>
            </a:r>
            <a:r>
              <a:rPr lang="en-US" sz="4400" dirty="0">
                <a:solidFill>
                  <a:schemeClr val="bg1"/>
                </a:solidFill>
              </a:rPr>
              <a:t> </a:t>
            </a:r>
          </a:p>
          <a:p>
            <a:pPr marL="571500" indent="-571500">
              <a:buFont typeface="Wingdings" panose="05000000000000000000" pitchFamily="2" charset="2"/>
              <a:buChar char="v"/>
            </a:pPr>
            <a:r>
              <a:rPr lang="en-US" sz="4400" dirty="0">
                <a:solidFill>
                  <a:schemeClr val="bg1"/>
                </a:solidFill>
              </a:rPr>
              <a:t>Data transfer speed ranges from </a:t>
            </a:r>
            <a:r>
              <a:rPr lang="en-US" sz="4400" b="1" dirty="0">
                <a:solidFill>
                  <a:schemeClr val="bg1"/>
                </a:solidFill>
              </a:rPr>
              <a:t>106 to 424 kbit/s</a:t>
            </a:r>
            <a:r>
              <a:rPr lang="en-US" sz="4400" dirty="0">
                <a:solidFill>
                  <a:schemeClr val="bg1"/>
                </a:solidFill>
              </a:rPr>
              <a:t> </a:t>
            </a:r>
          </a:p>
          <a:p>
            <a:pPr marL="571500" indent="-571500">
              <a:buFont typeface="Wingdings" panose="05000000000000000000" pitchFamily="2" charset="2"/>
              <a:buChar char="v"/>
            </a:pPr>
            <a:r>
              <a:rPr lang="en-US" sz="4400" dirty="0">
                <a:solidFill>
                  <a:schemeClr val="bg1"/>
                </a:solidFill>
              </a:rPr>
              <a:t>NFC enables: </a:t>
            </a:r>
          </a:p>
          <a:p>
            <a:pPr marL="1028700" lvl="1" indent="-571500">
              <a:buFont typeface="Wingdings" panose="05000000000000000000" pitchFamily="2" charset="2"/>
              <a:buChar char="§"/>
            </a:pPr>
            <a:r>
              <a:rPr lang="en-US" sz="4400" dirty="0">
                <a:solidFill>
                  <a:schemeClr val="bg1"/>
                </a:solidFill>
              </a:rPr>
              <a:t>Contactless payments </a:t>
            </a:r>
          </a:p>
          <a:p>
            <a:pPr marL="1028700" lvl="1" indent="-571500">
              <a:buFont typeface="Wingdings" panose="05000000000000000000" pitchFamily="2" charset="2"/>
              <a:buChar char="§"/>
            </a:pPr>
            <a:r>
              <a:rPr lang="en-US" sz="4400" dirty="0">
                <a:solidFill>
                  <a:schemeClr val="bg1"/>
                </a:solidFill>
              </a:rPr>
              <a:t>Data exchange </a:t>
            </a:r>
          </a:p>
          <a:p>
            <a:pPr marL="1028700" lvl="1" indent="-571500">
              <a:buFont typeface="Wingdings" panose="05000000000000000000" pitchFamily="2" charset="2"/>
              <a:buChar char="§"/>
            </a:pPr>
            <a:r>
              <a:rPr lang="en-US" sz="4400" dirty="0">
                <a:solidFill>
                  <a:schemeClr val="bg1"/>
                </a:solidFill>
              </a:rPr>
              <a:t>Easy connection (e.g., Wi-Fi setup) </a:t>
            </a:r>
          </a:p>
          <a:p>
            <a:endParaRPr lang="en-US" sz="4400" dirty="0">
              <a:solidFill>
                <a:schemeClr val="bg1"/>
              </a:solidFill>
            </a:endParaRPr>
          </a:p>
        </p:txBody>
      </p:sp>
      <p:pic>
        <p:nvPicPr>
          <p:cNvPr id="6" name="Picture 2" descr="تحميل الصورة هنا">
            <a:extLst>
              <a:ext uri="{FF2B5EF4-FFF2-40B4-BE49-F238E27FC236}">
                <a16:creationId xmlns:a16="http://schemas.microsoft.com/office/drawing/2014/main" id="{377D4B13-E7A2-0899-9AF0-2BDF0F9B47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29153" y="5541693"/>
            <a:ext cx="6019800" cy="406849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a:extLst>
            <a:ext uri="{FF2B5EF4-FFF2-40B4-BE49-F238E27FC236}">
              <a16:creationId xmlns:a16="http://schemas.microsoft.com/office/drawing/2014/main" id="{AE535C90-DB5D-CF52-D17C-BAC90992898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04DB955-6C4C-1281-FD22-8A30195CF5A6}"/>
              </a:ext>
            </a:extLst>
          </p:cNvPr>
          <p:cNvGrpSpPr/>
          <p:nvPr/>
        </p:nvGrpSpPr>
        <p:grpSpPr>
          <a:xfrm rot="10517729">
            <a:off x="-2903692" y="-84714"/>
            <a:ext cx="10371714" cy="10371714"/>
            <a:chOff x="0" y="0"/>
            <a:chExt cx="812800" cy="812800"/>
          </a:xfrm>
        </p:grpSpPr>
        <p:sp>
          <p:nvSpPr>
            <p:cNvPr id="3" name="Freeform 3">
              <a:extLst>
                <a:ext uri="{FF2B5EF4-FFF2-40B4-BE49-F238E27FC236}">
                  <a16:creationId xmlns:a16="http://schemas.microsoft.com/office/drawing/2014/main" id="{F83EC302-CE6C-643A-B60A-45354391246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4" name="TextBox 4">
              <a:extLst>
                <a:ext uri="{FF2B5EF4-FFF2-40B4-BE49-F238E27FC236}">
                  <a16:creationId xmlns:a16="http://schemas.microsoft.com/office/drawing/2014/main" id="{83C64825-E3F4-3FF5-47BA-7287B2A41DF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pic>
        <p:nvPicPr>
          <p:cNvPr id="1026" name="Picture 2" descr="Knowledge Hub | ACI Worldwide">
            <a:extLst>
              <a:ext uri="{FF2B5EF4-FFF2-40B4-BE49-F238E27FC236}">
                <a16:creationId xmlns:a16="http://schemas.microsoft.com/office/drawing/2014/main" id="{EBD52B02-2207-2E93-CA6F-4E64558D4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843" y="2149793"/>
            <a:ext cx="4877014" cy="753892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grpSp>
        <p:nvGrpSpPr>
          <p:cNvPr id="57" name="Group 10">
            <a:extLst>
              <a:ext uri="{FF2B5EF4-FFF2-40B4-BE49-F238E27FC236}">
                <a16:creationId xmlns:a16="http://schemas.microsoft.com/office/drawing/2014/main" id="{155F192D-36A5-7C29-FA56-1E27A7B2A402}"/>
              </a:ext>
            </a:extLst>
          </p:cNvPr>
          <p:cNvGrpSpPr/>
          <p:nvPr/>
        </p:nvGrpSpPr>
        <p:grpSpPr>
          <a:xfrm>
            <a:off x="6096374" y="8130564"/>
            <a:ext cx="11353426" cy="1908952"/>
            <a:chOff x="0" y="0"/>
            <a:chExt cx="3365731" cy="406400"/>
          </a:xfrm>
        </p:grpSpPr>
        <p:sp>
          <p:nvSpPr>
            <p:cNvPr id="58" name="Freeform 11">
              <a:extLst>
                <a:ext uri="{FF2B5EF4-FFF2-40B4-BE49-F238E27FC236}">
                  <a16:creationId xmlns:a16="http://schemas.microsoft.com/office/drawing/2014/main" id="{6F6A4CF9-C519-3A09-3240-40E22E35DA0C}"/>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59" name="TextBox 12">
              <a:extLst>
                <a:ext uri="{FF2B5EF4-FFF2-40B4-BE49-F238E27FC236}">
                  <a16:creationId xmlns:a16="http://schemas.microsoft.com/office/drawing/2014/main" id="{8C37C930-9B40-E2F2-7B69-E1FABDFC573C}"/>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grpSp>
        <p:nvGrpSpPr>
          <p:cNvPr id="54" name="Group 10">
            <a:extLst>
              <a:ext uri="{FF2B5EF4-FFF2-40B4-BE49-F238E27FC236}">
                <a16:creationId xmlns:a16="http://schemas.microsoft.com/office/drawing/2014/main" id="{AC60AD81-C509-BE99-52D7-BA77EAFC47E8}"/>
              </a:ext>
            </a:extLst>
          </p:cNvPr>
          <p:cNvGrpSpPr/>
          <p:nvPr/>
        </p:nvGrpSpPr>
        <p:grpSpPr>
          <a:xfrm>
            <a:off x="6071793" y="5497338"/>
            <a:ext cx="11167842" cy="1908952"/>
            <a:chOff x="0" y="0"/>
            <a:chExt cx="3365731" cy="406400"/>
          </a:xfrm>
        </p:grpSpPr>
        <p:sp>
          <p:nvSpPr>
            <p:cNvPr id="55" name="Freeform 11">
              <a:extLst>
                <a:ext uri="{FF2B5EF4-FFF2-40B4-BE49-F238E27FC236}">
                  <a16:creationId xmlns:a16="http://schemas.microsoft.com/office/drawing/2014/main" id="{597B679F-3454-A9CA-F6AA-00F8C2D073F9}"/>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56" name="TextBox 12">
              <a:extLst>
                <a:ext uri="{FF2B5EF4-FFF2-40B4-BE49-F238E27FC236}">
                  <a16:creationId xmlns:a16="http://schemas.microsoft.com/office/drawing/2014/main" id="{50AAA4A1-196B-3F0F-80ED-06508295C389}"/>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grpSp>
        <p:nvGrpSpPr>
          <p:cNvPr id="10" name="Group 10">
            <a:extLst>
              <a:ext uri="{FF2B5EF4-FFF2-40B4-BE49-F238E27FC236}">
                <a16:creationId xmlns:a16="http://schemas.microsoft.com/office/drawing/2014/main" id="{F626EFD8-6704-9718-50A2-AD01D49362C9}"/>
              </a:ext>
            </a:extLst>
          </p:cNvPr>
          <p:cNvGrpSpPr/>
          <p:nvPr/>
        </p:nvGrpSpPr>
        <p:grpSpPr>
          <a:xfrm>
            <a:off x="5950666" y="2928704"/>
            <a:ext cx="11167842" cy="1908952"/>
            <a:chOff x="0" y="0"/>
            <a:chExt cx="3365731" cy="406400"/>
          </a:xfrm>
        </p:grpSpPr>
        <p:sp>
          <p:nvSpPr>
            <p:cNvPr id="11" name="Freeform 11">
              <a:extLst>
                <a:ext uri="{FF2B5EF4-FFF2-40B4-BE49-F238E27FC236}">
                  <a16:creationId xmlns:a16="http://schemas.microsoft.com/office/drawing/2014/main" id="{61A94FA4-18A0-6A15-336E-C09034D3FA27}"/>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2" name="TextBox 12">
              <a:extLst>
                <a:ext uri="{FF2B5EF4-FFF2-40B4-BE49-F238E27FC236}">
                  <a16:creationId xmlns:a16="http://schemas.microsoft.com/office/drawing/2014/main" id="{DAC978B6-AE98-4A67-AC96-D758919D7822}"/>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sp>
        <p:nvSpPr>
          <p:cNvPr id="17" name="TextBox 17">
            <a:extLst>
              <a:ext uri="{FF2B5EF4-FFF2-40B4-BE49-F238E27FC236}">
                <a16:creationId xmlns:a16="http://schemas.microsoft.com/office/drawing/2014/main" id="{BECA9AB8-5106-762D-2A46-2BACA807E317}"/>
              </a:ext>
            </a:extLst>
          </p:cNvPr>
          <p:cNvSpPr txBox="1"/>
          <p:nvPr/>
        </p:nvSpPr>
        <p:spPr>
          <a:xfrm>
            <a:off x="8664319" y="1146596"/>
            <a:ext cx="11845730" cy="1188787"/>
          </a:xfrm>
          <a:prstGeom prst="rect">
            <a:avLst/>
          </a:prstGeom>
        </p:spPr>
        <p:txBody>
          <a:bodyPr wrap="square" lIns="0" tIns="0" rIns="0" bIns="0" rtlCol="0" anchor="t">
            <a:spAutoFit/>
          </a:bodyPr>
          <a:lstStyle/>
          <a:p>
            <a:pPr>
              <a:lnSpc>
                <a:spcPts val="10574"/>
              </a:lnSpc>
              <a:spcBef>
                <a:spcPct val="0"/>
              </a:spcBef>
            </a:pPr>
            <a:r>
              <a:rPr lang="fr-FR" sz="4400" b="1" dirty="0">
                <a:solidFill>
                  <a:schemeClr val="bg1"/>
                </a:solidFill>
              </a:rPr>
              <a:t>NFC Modes of </a:t>
            </a:r>
            <a:r>
              <a:rPr lang="fr-FR" sz="4400" b="1" dirty="0" err="1">
                <a:solidFill>
                  <a:schemeClr val="bg1"/>
                </a:solidFill>
              </a:rPr>
              <a:t>Operation</a:t>
            </a:r>
            <a:endParaRPr lang="en-US" sz="4400" b="1" spc="-347" dirty="0">
              <a:solidFill>
                <a:schemeClr val="bg1"/>
              </a:solidFill>
              <a:latin typeface="Garet Bold"/>
              <a:ea typeface="Garet Bold"/>
              <a:cs typeface="Garet Bold"/>
              <a:sym typeface="Garet Bold"/>
            </a:endParaRPr>
          </a:p>
        </p:txBody>
      </p:sp>
      <p:grpSp>
        <p:nvGrpSpPr>
          <p:cNvPr id="31" name="Group 31">
            <a:extLst>
              <a:ext uri="{FF2B5EF4-FFF2-40B4-BE49-F238E27FC236}">
                <a16:creationId xmlns:a16="http://schemas.microsoft.com/office/drawing/2014/main" id="{CE2710CC-EAE3-DC26-308E-59E84EC56CEC}"/>
              </a:ext>
            </a:extLst>
          </p:cNvPr>
          <p:cNvGrpSpPr/>
          <p:nvPr/>
        </p:nvGrpSpPr>
        <p:grpSpPr>
          <a:xfrm>
            <a:off x="2627405" y="2400083"/>
            <a:ext cx="5038501" cy="1237893"/>
            <a:chOff x="0" y="0"/>
            <a:chExt cx="947074" cy="406400"/>
          </a:xfrm>
        </p:grpSpPr>
        <p:sp>
          <p:nvSpPr>
            <p:cNvPr id="32" name="Freeform 32">
              <a:extLst>
                <a:ext uri="{FF2B5EF4-FFF2-40B4-BE49-F238E27FC236}">
                  <a16:creationId xmlns:a16="http://schemas.microsoft.com/office/drawing/2014/main" id="{3BBDAA7A-D67E-B7C4-1AD7-29AE7B708782}"/>
                </a:ext>
              </a:extLst>
            </p:cNvPr>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33" name="TextBox 33">
              <a:extLst>
                <a:ext uri="{FF2B5EF4-FFF2-40B4-BE49-F238E27FC236}">
                  <a16:creationId xmlns:a16="http://schemas.microsoft.com/office/drawing/2014/main" id="{E65C37EB-CBF7-B6C7-69D2-BC1832EB72A7}"/>
                </a:ext>
              </a:extLst>
            </p:cNvPr>
            <p:cNvSpPr txBox="1"/>
            <p:nvPr/>
          </p:nvSpPr>
          <p:spPr>
            <a:xfrm>
              <a:off x="0" y="-28575"/>
              <a:ext cx="947074" cy="434975"/>
            </a:xfrm>
            <a:prstGeom prst="rect">
              <a:avLst/>
            </a:prstGeom>
          </p:spPr>
          <p:txBody>
            <a:bodyPr lIns="50800" tIns="50800" rIns="50800" bIns="50800" rtlCol="0" anchor="ctr"/>
            <a:lstStyle/>
            <a:p>
              <a:pPr algn="ctr">
                <a:lnSpc>
                  <a:spcPts val="2487"/>
                </a:lnSpc>
              </a:pPr>
              <a:endParaRPr/>
            </a:p>
          </p:txBody>
        </p:sp>
      </p:grpSp>
      <p:sp>
        <p:nvSpPr>
          <p:cNvPr id="27" name="TextBox 27">
            <a:extLst>
              <a:ext uri="{FF2B5EF4-FFF2-40B4-BE49-F238E27FC236}">
                <a16:creationId xmlns:a16="http://schemas.microsoft.com/office/drawing/2014/main" id="{FD47F5EA-F89F-7E96-3558-D38B3B1DE9BE}"/>
              </a:ext>
            </a:extLst>
          </p:cNvPr>
          <p:cNvSpPr txBox="1"/>
          <p:nvPr/>
        </p:nvSpPr>
        <p:spPr>
          <a:xfrm>
            <a:off x="3351414" y="2748624"/>
            <a:ext cx="3915005" cy="957313"/>
          </a:xfrm>
          <a:prstGeom prst="rect">
            <a:avLst/>
          </a:prstGeom>
        </p:spPr>
        <p:txBody>
          <a:bodyPr wrap="square" lIns="0" tIns="0" rIns="0" bIns="0" rtlCol="0" anchor="t">
            <a:spAutoFit/>
          </a:bodyPr>
          <a:lstStyle/>
          <a:p>
            <a:pPr>
              <a:lnSpc>
                <a:spcPts val="3711"/>
              </a:lnSpc>
              <a:spcBef>
                <a:spcPct val="0"/>
              </a:spcBef>
            </a:pPr>
            <a:r>
              <a:rPr lang="fr-FR" sz="3300" b="1" dirty="0">
                <a:solidFill>
                  <a:schemeClr val="bg1"/>
                </a:solidFill>
              </a:rPr>
              <a:t>Peer-to-Peer Mode:</a:t>
            </a:r>
            <a:br>
              <a:rPr lang="fr-FR" sz="3300" dirty="0">
                <a:solidFill>
                  <a:schemeClr val="bg1"/>
                </a:solidFill>
              </a:rPr>
            </a:br>
            <a:endParaRPr lang="en-US" sz="3300" b="1" spc="-121" dirty="0">
              <a:solidFill>
                <a:schemeClr val="bg1"/>
              </a:solidFill>
              <a:latin typeface="Garet Bold"/>
              <a:ea typeface="Garet Bold"/>
              <a:cs typeface="Garet Bold"/>
              <a:sym typeface="Garet Bold"/>
            </a:endParaRPr>
          </a:p>
        </p:txBody>
      </p:sp>
      <p:sp>
        <p:nvSpPr>
          <p:cNvPr id="47" name="ZoneTexte 46">
            <a:extLst>
              <a:ext uri="{FF2B5EF4-FFF2-40B4-BE49-F238E27FC236}">
                <a16:creationId xmlns:a16="http://schemas.microsoft.com/office/drawing/2014/main" id="{93C16D1D-6122-1990-7F25-12D500297EEC}"/>
              </a:ext>
            </a:extLst>
          </p:cNvPr>
          <p:cNvSpPr txBox="1"/>
          <p:nvPr/>
        </p:nvSpPr>
        <p:spPr>
          <a:xfrm>
            <a:off x="6326571" y="3640854"/>
            <a:ext cx="10416032" cy="630942"/>
          </a:xfrm>
          <a:prstGeom prst="rect">
            <a:avLst/>
          </a:prstGeom>
          <a:noFill/>
        </p:spPr>
        <p:txBody>
          <a:bodyPr wrap="square" rtlCol="0">
            <a:spAutoFit/>
          </a:bodyPr>
          <a:lstStyle/>
          <a:p>
            <a:r>
              <a:rPr lang="en-US" sz="3500" dirty="0">
                <a:solidFill>
                  <a:schemeClr val="tx2">
                    <a:lumMod val="50000"/>
                  </a:schemeClr>
                </a:solidFill>
              </a:rPr>
              <a:t>Data exchange between two devices (e.g., smartphones)</a:t>
            </a:r>
          </a:p>
        </p:txBody>
      </p:sp>
      <p:grpSp>
        <p:nvGrpSpPr>
          <p:cNvPr id="48" name="Group 31">
            <a:extLst>
              <a:ext uri="{FF2B5EF4-FFF2-40B4-BE49-F238E27FC236}">
                <a16:creationId xmlns:a16="http://schemas.microsoft.com/office/drawing/2014/main" id="{202CF094-8661-2F41-4081-25B2E0442668}"/>
              </a:ext>
            </a:extLst>
          </p:cNvPr>
          <p:cNvGrpSpPr/>
          <p:nvPr/>
        </p:nvGrpSpPr>
        <p:grpSpPr>
          <a:xfrm>
            <a:off x="2627404" y="7655146"/>
            <a:ext cx="5038501" cy="1237893"/>
            <a:chOff x="0" y="0"/>
            <a:chExt cx="947074" cy="406400"/>
          </a:xfrm>
        </p:grpSpPr>
        <p:sp>
          <p:nvSpPr>
            <p:cNvPr id="49" name="Freeform 32">
              <a:extLst>
                <a:ext uri="{FF2B5EF4-FFF2-40B4-BE49-F238E27FC236}">
                  <a16:creationId xmlns:a16="http://schemas.microsoft.com/office/drawing/2014/main" id="{77942E73-2167-86F9-B8DA-40510E51A074}"/>
                </a:ext>
              </a:extLst>
            </p:cNvPr>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50" name="TextBox 33">
              <a:extLst>
                <a:ext uri="{FF2B5EF4-FFF2-40B4-BE49-F238E27FC236}">
                  <a16:creationId xmlns:a16="http://schemas.microsoft.com/office/drawing/2014/main" id="{1BC5CEE2-4250-444F-0818-A6220782ABA8}"/>
                </a:ext>
              </a:extLst>
            </p:cNvPr>
            <p:cNvSpPr txBox="1"/>
            <p:nvPr/>
          </p:nvSpPr>
          <p:spPr>
            <a:xfrm>
              <a:off x="0" y="-28575"/>
              <a:ext cx="947074" cy="434975"/>
            </a:xfrm>
            <a:prstGeom prst="rect">
              <a:avLst/>
            </a:prstGeom>
          </p:spPr>
          <p:txBody>
            <a:bodyPr lIns="50800" tIns="50800" rIns="50800" bIns="50800" rtlCol="0" anchor="ctr"/>
            <a:lstStyle/>
            <a:p>
              <a:pPr algn="ctr">
                <a:lnSpc>
                  <a:spcPts val="2487"/>
                </a:lnSpc>
              </a:pPr>
              <a:endParaRPr/>
            </a:p>
          </p:txBody>
        </p:sp>
      </p:grpSp>
      <p:grpSp>
        <p:nvGrpSpPr>
          <p:cNvPr id="51" name="Group 31">
            <a:extLst>
              <a:ext uri="{FF2B5EF4-FFF2-40B4-BE49-F238E27FC236}">
                <a16:creationId xmlns:a16="http://schemas.microsoft.com/office/drawing/2014/main" id="{A34CF8F2-DAB2-A7DC-16E6-86B5D4A0AF9A}"/>
              </a:ext>
            </a:extLst>
          </p:cNvPr>
          <p:cNvGrpSpPr/>
          <p:nvPr/>
        </p:nvGrpSpPr>
        <p:grpSpPr>
          <a:xfrm>
            <a:off x="2537971" y="5045972"/>
            <a:ext cx="5038501" cy="1237893"/>
            <a:chOff x="0" y="0"/>
            <a:chExt cx="947074" cy="406400"/>
          </a:xfrm>
        </p:grpSpPr>
        <p:sp>
          <p:nvSpPr>
            <p:cNvPr id="52" name="Freeform 32">
              <a:extLst>
                <a:ext uri="{FF2B5EF4-FFF2-40B4-BE49-F238E27FC236}">
                  <a16:creationId xmlns:a16="http://schemas.microsoft.com/office/drawing/2014/main" id="{B14C7F86-E4E1-5DFA-A512-59CE8DC16BB4}"/>
                </a:ext>
              </a:extLst>
            </p:cNvPr>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53" name="TextBox 33">
              <a:extLst>
                <a:ext uri="{FF2B5EF4-FFF2-40B4-BE49-F238E27FC236}">
                  <a16:creationId xmlns:a16="http://schemas.microsoft.com/office/drawing/2014/main" id="{FAC70F16-D1F8-2F9E-3C20-3B815EA9B1AE}"/>
                </a:ext>
              </a:extLst>
            </p:cNvPr>
            <p:cNvSpPr txBox="1"/>
            <p:nvPr/>
          </p:nvSpPr>
          <p:spPr>
            <a:xfrm>
              <a:off x="0" y="-28575"/>
              <a:ext cx="947074" cy="434975"/>
            </a:xfrm>
            <a:prstGeom prst="rect">
              <a:avLst/>
            </a:prstGeom>
          </p:spPr>
          <p:txBody>
            <a:bodyPr lIns="50800" tIns="50800" rIns="50800" bIns="50800" rtlCol="0" anchor="ctr"/>
            <a:lstStyle/>
            <a:p>
              <a:pPr algn="ctr">
                <a:lnSpc>
                  <a:spcPts val="2487"/>
                </a:lnSpc>
              </a:pPr>
              <a:endParaRPr/>
            </a:p>
          </p:txBody>
        </p:sp>
      </p:grpSp>
      <p:sp>
        <p:nvSpPr>
          <p:cNvPr id="60" name="ZoneTexte 59">
            <a:extLst>
              <a:ext uri="{FF2B5EF4-FFF2-40B4-BE49-F238E27FC236}">
                <a16:creationId xmlns:a16="http://schemas.microsoft.com/office/drawing/2014/main" id="{C4724DB2-616B-C126-8C95-6E2B16C2E85B}"/>
              </a:ext>
            </a:extLst>
          </p:cNvPr>
          <p:cNvSpPr txBox="1"/>
          <p:nvPr/>
        </p:nvSpPr>
        <p:spPr>
          <a:xfrm>
            <a:off x="3364381" y="5319093"/>
            <a:ext cx="3696124" cy="600164"/>
          </a:xfrm>
          <a:prstGeom prst="rect">
            <a:avLst/>
          </a:prstGeom>
          <a:noFill/>
        </p:spPr>
        <p:txBody>
          <a:bodyPr wrap="square" rtlCol="0">
            <a:spAutoFit/>
          </a:bodyPr>
          <a:lstStyle/>
          <a:p>
            <a:r>
              <a:rPr lang="fr-FR" sz="3300" dirty="0">
                <a:solidFill>
                  <a:schemeClr val="bg1"/>
                </a:solidFill>
              </a:rPr>
              <a:t>Read/Write Mode:</a:t>
            </a:r>
            <a:endParaRPr lang="en-US" sz="3300" dirty="0">
              <a:solidFill>
                <a:schemeClr val="bg1"/>
              </a:solidFill>
            </a:endParaRPr>
          </a:p>
        </p:txBody>
      </p:sp>
      <p:sp>
        <p:nvSpPr>
          <p:cNvPr id="61" name="ZoneTexte 60">
            <a:extLst>
              <a:ext uri="{FF2B5EF4-FFF2-40B4-BE49-F238E27FC236}">
                <a16:creationId xmlns:a16="http://schemas.microsoft.com/office/drawing/2014/main" id="{61E34AD6-7DE4-EDE1-95BB-26F1BEBDA6DF}"/>
              </a:ext>
            </a:extLst>
          </p:cNvPr>
          <p:cNvSpPr txBox="1"/>
          <p:nvPr/>
        </p:nvSpPr>
        <p:spPr>
          <a:xfrm>
            <a:off x="3198707" y="7939632"/>
            <a:ext cx="4172700" cy="600164"/>
          </a:xfrm>
          <a:prstGeom prst="rect">
            <a:avLst/>
          </a:prstGeom>
          <a:noFill/>
        </p:spPr>
        <p:txBody>
          <a:bodyPr wrap="square" rtlCol="0">
            <a:spAutoFit/>
          </a:bodyPr>
          <a:lstStyle/>
          <a:p>
            <a:r>
              <a:rPr lang="fr-FR" sz="3300" dirty="0" err="1">
                <a:solidFill>
                  <a:schemeClr val="bg1"/>
                </a:solidFill>
              </a:rPr>
              <a:t>Card</a:t>
            </a:r>
            <a:r>
              <a:rPr lang="fr-FR" sz="3300" dirty="0">
                <a:solidFill>
                  <a:schemeClr val="bg1"/>
                </a:solidFill>
              </a:rPr>
              <a:t> Emulation Mode:</a:t>
            </a:r>
            <a:endParaRPr lang="en-US" sz="3300" dirty="0">
              <a:solidFill>
                <a:schemeClr val="bg1"/>
              </a:solidFill>
            </a:endParaRPr>
          </a:p>
        </p:txBody>
      </p:sp>
      <p:sp>
        <p:nvSpPr>
          <p:cNvPr id="62" name="ZoneTexte 61">
            <a:extLst>
              <a:ext uri="{FF2B5EF4-FFF2-40B4-BE49-F238E27FC236}">
                <a16:creationId xmlns:a16="http://schemas.microsoft.com/office/drawing/2014/main" id="{DFEBA0A8-2172-8EE8-F424-8DA75F97B9F4}"/>
              </a:ext>
            </a:extLst>
          </p:cNvPr>
          <p:cNvSpPr txBox="1"/>
          <p:nvPr/>
        </p:nvSpPr>
        <p:spPr>
          <a:xfrm>
            <a:off x="6553826" y="6316877"/>
            <a:ext cx="10411981" cy="677108"/>
          </a:xfrm>
          <a:prstGeom prst="rect">
            <a:avLst/>
          </a:prstGeom>
          <a:noFill/>
        </p:spPr>
        <p:txBody>
          <a:bodyPr wrap="square" rtlCol="0">
            <a:spAutoFit/>
          </a:bodyPr>
          <a:lstStyle/>
          <a:p>
            <a:r>
              <a:rPr lang="en-US" sz="3800" dirty="0">
                <a:solidFill>
                  <a:schemeClr val="tx2">
                    <a:lumMod val="50000"/>
                  </a:schemeClr>
                </a:solidFill>
              </a:rPr>
              <a:t>One device reads data from another (e.g., NFC tags)</a:t>
            </a:r>
          </a:p>
        </p:txBody>
      </p:sp>
      <p:sp>
        <p:nvSpPr>
          <p:cNvPr id="63" name="ZoneTexte 62">
            <a:extLst>
              <a:ext uri="{FF2B5EF4-FFF2-40B4-BE49-F238E27FC236}">
                <a16:creationId xmlns:a16="http://schemas.microsoft.com/office/drawing/2014/main" id="{F08C882E-80C0-F9D4-3E19-9046DB0E49A3}"/>
              </a:ext>
            </a:extLst>
          </p:cNvPr>
          <p:cNvSpPr txBox="1"/>
          <p:nvPr/>
        </p:nvSpPr>
        <p:spPr>
          <a:xfrm>
            <a:off x="6133245" y="8982778"/>
            <a:ext cx="11887200" cy="1261884"/>
          </a:xfrm>
          <a:prstGeom prst="rect">
            <a:avLst/>
          </a:prstGeom>
          <a:noFill/>
        </p:spPr>
        <p:txBody>
          <a:bodyPr wrap="square" rtlCol="0">
            <a:spAutoFit/>
          </a:bodyPr>
          <a:lstStyle/>
          <a:p>
            <a:r>
              <a:rPr lang="en-US" sz="3800" dirty="0"/>
              <a:t>Device acts like a smart card (e.g., payments, transport) </a:t>
            </a:r>
          </a:p>
          <a:p>
            <a:endParaRPr lang="en-US" sz="3800" dirty="0"/>
          </a:p>
        </p:txBody>
      </p:sp>
      <p:sp>
        <p:nvSpPr>
          <p:cNvPr id="6" name="ZoneTexte 5">
            <a:extLst>
              <a:ext uri="{FF2B5EF4-FFF2-40B4-BE49-F238E27FC236}">
                <a16:creationId xmlns:a16="http://schemas.microsoft.com/office/drawing/2014/main" id="{D47E4767-4595-B4FF-7CF9-AC8569B999A9}"/>
              </a:ext>
            </a:extLst>
          </p:cNvPr>
          <p:cNvSpPr txBox="1"/>
          <p:nvPr/>
        </p:nvSpPr>
        <p:spPr>
          <a:xfrm>
            <a:off x="5457522" y="151605"/>
            <a:ext cx="10597660" cy="1365758"/>
          </a:xfrm>
          <a:prstGeom prst="rect">
            <a:avLst/>
          </a:prstGeom>
          <a:noFill/>
        </p:spPr>
        <p:txBody>
          <a:bodyPr wrap="square">
            <a:spAutoFit/>
          </a:bodyPr>
          <a:lstStyle/>
          <a:p>
            <a:pPr>
              <a:lnSpc>
                <a:spcPts val="10574"/>
              </a:lnSpc>
              <a:spcBef>
                <a:spcPct val="0"/>
              </a:spcBef>
            </a:pPr>
            <a:r>
              <a:rPr lang="fr-FR" sz="6600" b="1" dirty="0">
                <a:solidFill>
                  <a:schemeClr val="tx2">
                    <a:lumMod val="50000"/>
                  </a:schemeClr>
                </a:solidFill>
              </a:rPr>
              <a:t>How </a:t>
            </a:r>
            <a:r>
              <a:rPr lang="fr-FR" sz="6600" b="1" dirty="0" err="1">
                <a:solidFill>
                  <a:schemeClr val="tx2">
                    <a:lumMod val="50000"/>
                  </a:schemeClr>
                </a:solidFill>
              </a:rPr>
              <a:t>Does</a:t>
            </a:r>
            <a:r>
              <a:rPr lang="fr-FR" sz="6600" b="1" dirty="0">
                <a:solidFill>
                  <a:schemeClr val="tx2">
                    <a:lumMod val="50000"/>
                  </a:schemeClr>
                </a:solidFill>
              </a:rPr>
              <a:t> NFC Work?</a:t>
            </a:r>
            <a:endParaRPr lang="en-US" sz="6600" b="1" spc="-347" dirty="0">
              <a:solidFill>
                <a:schemeClr val="tx2">
                  <a:lumMod val="50000"/>
                </a:schemeClr>
              </a:solidFill>
              <a:latin typeface="Garet"/>
              <a:ea typeface="Garet"/>
              <a:cs typeface="Garet"/>
              <a:sym typeface="Garet"/>
            </a:endParaRPr>
          </a:p>
        </p:txBody>
      </p:sp>
    </p:spTree>
    <p:extLst>
      <p:ext uri="{BB962C8B-B14F-4D97-AF65-F5344CB8AC3E}">
        <p14:creationId xmlns:p14="http://schemas.microsoft.com/office/powerpoint/2010/main" val="95874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pic>
        <p:nvPicPr>
          <p:cNvPr id="2054" name="Picture 6" descr="How To Use NFC On iPhone">
            <a:extLst>
              <a:ext uri="{FF2B5EF4-FFF2-40B4-BE49-F238E27FC236}">
                <a16:creationId xmlns:a16="http://schemas.microsoft.com/office/drawing/2014/main" id="{2B3303AE-22BC-C53A-A818-4C710EC3F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916720" y="3696649"/>
            <a:ext cx="8096250" cy="42624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Freeform 3"/>
          <p:cNvSpPr/>
          <p:nvPr/>
        </p:nvSpPr>
        <p:spPr>
          <a:xfrm>
            <a:off x="-941720" y="1127273"/>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8" name="TextBox 8"/>
          <p:cNvSpPr txBox="1"/>
          <p:nvPr/>
        </p:nvSpPr>
        <p:spPr>
          <a:xfrm>
            <a:off x="5670293" y="932579"/>
            <a:ext cx="6535166" cy="1090683"/>
          </a:xfrm>
          <a:prstGeom prst="rect">
            <a:avLst/>
          </a:prstGeom>
        </p:spPr>
        <p:txBody>
          <a:bodyPr lIns="0" tIns="0" rIns="0" bIns="0" rtlCol="0" anchor="t">
            <a:spAutoFit/>
          </a:bodyPr>
          <a:lstStyle/>
          <a:p>
            <a:pPr algn="ctr">
              <a:lnSpc>
                <a:spcPts val="8703"/>
              </a:lnSpc>
              <a:spcBef>
                <a:spcPct val="0"/>
              </a:spcBef>
            </a:pPr>
            <a:r>
              <a:rPr lang="fr-FR" sz="6600" b="1" i="1" dirty="0" err="1">
                <a:solidFill>
                  <a:schemeClr val="tx2">
                    <a:lumMod val="50000"/>
                  </a:schemeClr>
                </a:solidFill>
              </a:rPr>
              <a:t>Protocols</a:t>
            </a:r>
            <a:r>
              <a:rPr lang="fr-FR" sz="6600" b="1" i="1" dirty="0">
                <a:solidFill>
                  <a:schemeClr val="tx2">
                    <a:lumMod val="50000"/>
                  </a:schemeClr>
                </a:solidFill>
              </a:rPr>
              <a:t> </a:t>
            </a:r>
            <a:r>
              <a:rPr lang="fr-FR" sz="6600" b="1" i="1" dirty="0" err="1">
                <a:solidFill>
                  <a:schemeClr val="tx2">
                    <a:lumMod val="50000"/>
                  </a:schemeClr>
                </a:solidFill>
              </a:rPr>
              <a:t>Used</a:t>
            </a:r>
            <a:endParaRPr lang="en-US" sz="6217" b="1" i="1" spc="-285" dirty="0">
              <a:solidFill>
                <a:schemeClr val="tx2">
                  <a:lumMod val="50000"/>
                </a:schemeClr>
              </a:solidFill>
              <a:latin typeface="Garet Bold"/>
              <a:ea typeface="Garet Bold"/>
              <a:cs typeface="Garet Bold"/>
              <a:sym typeface="Garet Bold"/>
            </a:endParaRPr>
          </a:p>
        </p:txBody>
      </p:sp>
      <p:grpSp>
        <p:nvGrpSpPr>
          <p:cNvPr id="44" name="Group 11">
            <a:extLst>
              <a:ext uri="{FF2B5EF4-FFF2-40B4-BE49-F238E27FC236}">
                <a16:creationId xmlns:a16="http://schemas.microsoft.com/office/drawing/2014/main" id="{E1015D4D-D894-7B38-92E0-ACF84103374A}"/>
              </a:ext>
            </a:extLst>
          </p:cNvPr>
          <p:cNvGrpSpPr/>
          <p:nvPr/>
        </p:nvGrpSpPr>
        <p:grpSpPr>
          <a:xfrm>
            <a:off x="5788522" y="5067301"/>
            <a:ext cx="12266048" cy="2743199"/>
            <a:chOff x="0" y="-162503"/>
            <a:chExt cx="5041498" cy="568903"/>
          </a:xfrm>
        </p:grpSpPr>
        <p:sp>
          <p:nvSpPr>
            <p:cNvPr id="46" name="TextBox 13">
              <a:extLst>
                <a:ext uri="{FF2B5EF4-FFF2-40B4-BE49-F238E27FC236}">
                  <a16:creationId xmlns:a16="http://schemas.microsoft.com/office/drawing/2014/main" id="{A53528A7-7E10-F8BE-7B36-9B9157D51C28}"/>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sp>
          <p:nvSpPr>
            <p:cNvPr id="45" name="Freeform 12">
              <a:extLst>
                <a:ext uri="{FF2B5EF4-FFF2-40B4-BE49-F238E27FC236}">
                  <a16:creationId xmlns:a16="http://schemas.microsoft.com/office/drawing/2014/main" id="{EE7ACF66-0875-3904-95D9-962FC417C6EE}"/>
                </a:ext>
              </a:extLst>
            </p:cNvPr>
            <p:cNvSpPr/>
            <p:nvPr/>
          </p:nvSpPr>
          <p:spPr>
            <a:xfrm>
              <a:off x="0" y="-162503"/>
              <a:ext cx="5041498"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grpSp>
      <p:grpSp>
        <p:nvGrpSpPr>
          <p:cNvPr id="47" name="Group 25">
            <a:extLst>
              <a:ext uri="{FF2B5EF4-FFF2-40B4-BE49-F238E27FC236}">
                <a16:creationId xmlns:a16="http://schemas.microsoft.com/office/drawing/2014/main" id="{F11B94E6-F56C-5693-4F07-684A1DC6F872}"/>
              </a:ext>
            </a:extLst>
          </p:cNvPr>
          <p:cNvGrpSpPr/>
          <p:nvPr/>
        </p:nvGrpSpPr>
        <p:grpSpPr>
          <a:xfrm>
            <a:off x="233430" y="4610100"/>
            <a:ext cx="7310370" cy="1284688"/>
            <a:chOff x="0" y="-135438"/>
            <a:chExt cx="1749423" cy="541838"/>
          </a:xfrm>
        </p:grpSpPr>
        <p:sp>
          <p:nvSpPr>
            <p:cNvPr id="49" name="TextBox 27">
              <a:extLst>
                <a:ext uri="{FF2B5EF4-FFF2-40B4-BE49-F238E27FC236}">
                  <a16:creationId xmlns:a16="http://schemas.microsoft.com/office/drawing/2014/main" id="{FB0E3174-CCA7-5FB4-1B20-561A61EEBDFB}"/>
                </a:ext>
              </a:extLst>
            </p:cNvPr>
            <p:cNvSpPr txBox="1"/>
            <p:nvPr/>
          </p:nvSpPr>
          <p:spPr>
            <a:xfrm>
              <a:off x="0" y="-28575"/>
              <a:ext cx="947074" cy="434975"/>
            </a:xfrm>
            <a:prstGeom prst="rect">
              <a:avLst/>
            </a:prstGeom>
          </p:spPr>
          <p:txBody>
            <a:bodyPr lIns="50800" tIns="50800" rIns="50800" bIns="50800" rtlCol="0" anchor="ctr"/>
            <a:lstStyle/>
            <a:p>
              <a:pPr algn="ctr">
                <a:lnSpc>
                  <a:spcPts val="2487"/>
                </a:lnSpc>
              </a:pPr>
              <a:endParaRPr/>
            </a:p>
          </p:txBody>
        </p:sp>
        <p:sp>
          <p:nvSpPr>
            <p:cNvPr id="48" name="Freeform 26">
              <a:extLst>
                <a:ext uri="{FF2B5EF4-FFF2-40B4-BE49-F238E27FC236}">
                  <a16:creationId xmlns:a16="http://schemas.microsoft.com/office/drawing/2014/main" id="{D503A805-59ED-17F6-2FF3-6B44CC74E5EB}"/>
                </a:ext>
              </a:extLst>
            </p:cNvPr>
            <p:cNvSpPr/>
            <p:nvPr/>
          </p:nvSpPr>
          <p:spPr>
            <a:xfrm>
              <a:off x="802349" y="-135438"/>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grpSp>
      <p:sp>
        <p:nvSpPr>
          <p:cNvPr id="50" name="ZoneTexte 49">
            <a:extLst>
              <a:ext uri="{FF2B5EF4-FFF2-40B4-BE49-F238E27FC236}">
                <a16:creationId xmlns:a16="http://schemas.microsoft.com/office/drawing/2014/main" id="{BB25DB34-A8E5-8833-6CDA-1A0D898A52B1}"/>
              </a:ext>
            </a:extLst>
          </p:cNvPr>
          <p:cNvSpPr txBox="1"/>
          <p:nvPr/>
        </p:nvSpPr>
        <p:spPr>
          <a:xfrm>
            <a:off x="4267200" y="4762500"/>
            <a:ext cx="3429000" cy="584775"/>
          </a:xfrm>
          <a:prstGeom prst="rect">
            <a:avLst/>
          </a:prstGeom>
          <a:noFill/>
        </p:spPr>
        <p:txBody>
          <a:bodyPr wrap="square" rtlCol="0">
            <a:spAutoFit/>
          </a:bodyPr>
          <a:lstStyle/>
          <a:p>
            <a:r>
              <a:rPr lang="fr-FR" sz="3200" b="1" dirty="0">
                <a:solidFill>
                  <a:schemeClr val="bg1"/>
                </a:solidFill>
              </a:rPr>
              <a:t>ISO/IEC 18092</a:t>
            </a:r>
            <a:endParaRPr lang="en-US" sz="3200" b="1" dirty="0">
              <a:solidFill>
                <a:schemeClr val="bg1"/>
              </a:solidFill>
            </a:endParaRPr>
          </a:p>
        </p:txBody>
      </p:sp>
      <p:sp>
        <p:nvSpPr>
          <p:cNvPr id="51" name="ZoneTexte 50">
            <a:extLst>
              <a:ext uri="{FF2B5EF4-FFF2-40B4-BE49-F238E27FC236}">
                <a16:creationId xmlns:a16="http://schemas.microsoft.com/office/drawing/2014/main" id="{AAECBA47-D9B5-03DB-8528-43F72373AA49}"/>
              </a:ext>
            </a:extLst>
          </p:cNvPr>
          <p:cNvSpPr txBox="1"/>
          <p:nvPr/>
        </p:nvSpPr>
        <p:spPr>
          <a:xfrm>
            <a:off x="5934122" y="5676900"/>
            <a:ext cx="11744278" cy="1354217"/>
          </a:xfrm>
          <a:prstGeom prst="rect">
            <a:avLst/>
          </a:prstGeom>
          <a:noFill/>
        </p:spPr>
        <p:txBody>
          <a:bodyPr wrap="square" rtlCol="0">
            <a:spAutoFit/>
          </a:bodyPr>
          <a:lstStyle/>
          <a:p>
            <a:pPr marL="457200" indent="-457200">
              <a:buFont typeface="Wingdings" panose="05000000000000000000" pitchFamily="2" charset="2"/>
              <a:buChar char="§"/>
            </a:pPr>
            <a:r>
              <a:rPr lang="en-US" sz="3200" b="1" dirty="0">
                <a:solidFill>
                  <a:schemeClr val="tx2">
                    <a:lumMod val="50000"/>
                  </a:schemeClr>
                </a:solidFill>
              </a:rPr>
              <a:t>Defines peer-to-peer communication between NFC devices</a:t>
            </a:r>
          </a:p>
          <a:p>
            <a:pPr marL="457200" indent="-457200">
              <a:buFont typeface="Wingdings" panose="05000000000000000000" pitchFamily="2" charset="2"/>
              <a:buChar char="§"/>
            </a:pPr>
            <a:r>
              <a:rPr lang="en-US" sz="3200" b="1" dirty="0">
                <a:solidFill>
                  <a:schemeClr val="tx2">
                    <a:lumMod val="50000"/>
                  </a:schemeClr>
                </a:solidFill>
              </a:rPr>
              <a:t>Allows data exchange between two smartphones </a:t>
            </a:r>
          </a:p>
          <a:p>
            <a:endParaRPr lang="en-US" b="1" dirty="0">
              <a:solidFill>
                <a:schemeClr val="tx2">
                  <a:lumMod val="50000"/>
                </a:schemeClr>
              </a:solidFill>
            </a:endParaRPr>
          </a:p>
        </p:txBody>
      </p:sp>
      <p:grpSp>
        <p:nvGrpSpPr>
          <p:cNvPr id="53" name="Group 11">
            <a:extLst>
              <a:ext uri="{FF2B5EF4-FFF2-40B4-BE49-F238E27FC236}">
                <a16:creationId xmlns:a16="http://schemas.microsoft.com/office/drawing/2014/main" id="{5B2C680D-59EC-AEF4-1EBD-71E4BD0F7B88}"/>
              </a:ext>
            </a:extLst>
          </p:cNvPr>
          <p:cNvGrpSpPr/>
          <p:nvPr/>
        </p:nvGrpSpPr>
        <p:grpSpPr>
          <a:xfrm>
            <a:off x="5154340" y="7616595"/>
            <a:ext cx="13413878" cy="2022705"/>
            <a:chOff x="0" y="-28575"/>
            <a:chExt cx="3365731" cy="434975"/>
          </a:xfrm>
        </p:grpSpPr>
        <p:sp>
          <p:nvSpPr>
            <p:cNvPr id="54" name="Freeform 12">
              <a:extLst>
                <a:ext uri="{FF2B5EF4-FFF2-40B4-BE49-F238E27FC236}">
                  <a16:creationId xmlns:a16="http://schemas.microsoft.com/office/drawing/2014/main" id="{AD5ADA01-ED1E-D602-C7EB-838DD1BE65A4}"/>
                </a:ext>
              </a:extLst>
            </p:cNvPr>
            <p:cNvSpPr/>
            <p:nvPr/>
          </p:nvSpPr>
          <p:spPr>
            <a:xfrm>
              <a:off x="153629" y="-3263"/>
              <a:ext cx="308322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txBody>
            <a:bodyPr/>
            <a:lstStyle/>
            <a:p>
              <a:endParaRPr lang="en-US" dirty="0"/>
            </a:p>
          </p:txBody>
        </p:sp>
        <p:sp>
          <p:nvSpPr>
            <p:cNvPr id="55" name="TextBox 13">
              <a:extLst>
                <a:ext uri="{FF2B5EF4-FFF2-40B4-BE49-F238E27FC236}">
                  <a16:creationId xmlns:a16="http://schemas.microsoft.com/office/drawing/2014/main" id="{89F78043-4040-11CB-06EF-83AFC76F528E}"/>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dirty="0"/>
            </a:p>
          </p:txBody>
        </p:sp>
      </p:grpSp>
      <p:grpSp>
        <p:nvGrpSpPr>
          <p:cNvPr id="56" name="Group 25">
            <a:extLst>
              <a:ext uri="{FF2B5EF4-FFF2-40B4-BE49-F238E27FC236}">
                <a16:creationId xmlns:a16="http://schemas.microsoft.com/office/drawing/2014/main" id="{7447891A-836A-A37F-173A-576B024309C9}"/>
              </a:ext>
            </a:extLst>
          </p:cNvPr>
          <p:cNvGrpSpPr/>
          <p:nvPr/>
        </p:nvGrpSpPr>
        <p:grpSpPr>
          <a:xfrm>
            <a:off x="-990600" y="2647883"/>
            <a:ext cx="8686800" cy="5467417"/>
            <a:chOff x="0" y="-28575"/>
            <a:chExt cx="2078814" cy="2305970"/>
          </a:xfrm>
        </p:grpSpPr>
        <p:sp>
          <p:nvSpPr>
            <p:cNvPr id="57" name="Freeform 26">
              <a:extLst>
                <a:ext uri="{FF2B5EF4-FFF2-40B4-BE49-F238E27FC236}">
                  <a16:creationId xmlns:a16="http://schemas.microsoft.com/office/drawing/2014/main" id="{37D7EAF0-36C1-179F-D6D2-BABC6C300622}"/>
                </a:ext>
              </a:extLst>
            </p:cNvPr>
            <p:cNvSpPr/>
            <p:nvPr/>
          </p:nvSpPr>
          <p:spPr>
            <a:xfrm>
              <a:off x="1131740" y="1870995"/>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58" name="TextBox 27">
              <a:extLst>
                <a:ext uri="{FF2B5EF4-FFF2-40B4-BE49-F238E27FC236}">
                  <a16:creationId xmlns:a16="http://schemas.microsoft.com/office/drawing/2014/main" id="{018E247E-052B-4BF1-4706-CFD927A5893C}"/>
                </a:ext>
              </a:extLst>
            </p:cNvPr>
            <p:cNvSpPr txBox="1"/>
            <p:nvPr/>
          </p:nvSpPr>
          <p:spPr>
            <a:xfrm>
              <a:off x="0" y="-28575"/>
              <a:ext cx="947074" cy="434975"/>
            </a:xfrm>
            <a:prstGeom prst="rect">
              <a:avLst/>
            </a:prstGeom>
          </p:spPr>
          <p:txBody>
            <a:bodyPr lIns="50800" tIns="50800" rIns="50800" bIns="50800" rtlCol="0" anchor="ctr"/>
            <a:lstStyle/>
            <a:p>
              <a:pPr algn="ctr">
                <a:lnSpc>
                  <a:spcPts val="2487"/>
                </a:lnSpc>
              </a:pPr>
              <a:endParaRPr/>
            </a:p>
          </p:txBody>
        </p:sp>
      </p:grpSp>
      <p:sp>
        <p:nvSpPr>
          <p:cNvPr id="52" name="ZoneTexte 51">
            <a:extLst>
              <a:ext uri="{FF2B5EF4-FFF2-40B4-BE49-F238E27FC236}">
                <a16:creationId xmlns:a16="http://schemas.microsoft.com/office/drawing/2014/main" id="{F3135E76-03C4-4B51-BA2A-3BCBE68FC0D5}"/>
              </a:ext>
            </a:extLst>
          </p:cNvPr>
          <p:cNvSpPr txBox="1"/>
          <p:nvPr/>
        </p:nvSpPr>
        <p:spPr>
          <a:xfrm>
            <a:off x="5029200" y="7240369"/>
            <a:ext cx="2514600" cy="646331"/>
          </a:xfrm>
          <a:prstGeom prst="rect">
            <a:avLst/>
          </a:prstGeom>
          <a:noFill/>
        </p:spPr>
        <p:txBody>
          <a:bodyPr wrap="square" rtlCol="0">
            <a:spAutoFit/>
          </a:bodyPr>
          <a:lstStyle/>
          <a:p>
            <a:r>
              <a:rPr lang="fr-FR" sz="3600" b="1" dirty="0">
                <a:solidFill>
                  <a:schemeClr val="bg1"/>
                </a:solidFill>
              </a:rPr>
              <a:t>NDEF</a:t>
            </a:r>
            <a:endParaRPr lang="en-US" sz="3600" b="1" dirty="0">
              <a:solidFill>
                <a:schemeClr val="bg1"/>
              </a:solidFill>
            </a:endParaRPr>
          </a:p>
        </p:txBody>
      </p:sp>
      <p:sp>
        <p:nvSpPr>
          <p:cNvPr id="59" name="ZoneTexte 58">
            <a:extLst>
              <a:ext uri="{FF2B5EF4-FFF2-40B4-BE49-F238E27FC236}">
                <a16:creationId xmlns:a16="http://schemas.microsoft.com/office/drawing/2014/main" id="{AA2DC3A7-18CF-D8C5-A3A8-B16A0EB2B12B}"/>
              </a:ext>
            </a:extLst>
          </p:cNvPr>
          <p:cNvSpPr txBox="1"/>
          <p:nvPr/>
        </p:nvSpPr>
        <p:spPr>
          <a:xfrm>
            <a:off x="6019800" y="8254305"/>
            <a:ext cx="11430000" cy="1384995"/>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a:solidFill>
                  <a:schemeClr val="tx2">
                    <a:lumMod val="50000"/>
                  </a:schemeClr>
                </a:solidFill>
              </a:rPr>
              <a:t>Defines how data is structured and stored</a:t>
            </a:r>
          </a:p>
          <a:p>
            <a:pPr marL="457200" indent="-457200">
              <a:buFont typeface="Wingdings" panose="05000000000000000000" pitchFamily="2" charset="2"/>
              <a:buChar char="§"/>
            </a:pPr>
            <a:r>
              <a:rPr lang="en-US" sz="2800" b="1" dirty="0">
                <a:solidFill>
                  <a:schemeClr val="tx2">
                    <a:lumMod val="50000"/>
                  </a:schemeClr>
                </a:solidFill>
              </a:rPr>
              <a:t> Used for sharing text, URLs, or small data </a:t>
            </a:r>
          </a:p>
          <a:p>
            <a:endParaRPr lang="en-US" sz="2800" b="1" dirty="0">
              <a:solidFill>
                <a:schemeClr val="tx2">
                  <a:lumMod val="50000"/>
                </a:schemeClr>
              </a:solidFill>
            </a:endParaRPr>
          </a:p>
        </p:txBody>
      </p:sp>
      <p:sp>
        <p:nvSpPr>
          <p:cNvPr id="2" name="AutoShape 2" descr="5 Common NFC Tag Types for Your Business - RFIDTag™">
            <a:extLst>
              <a:ext uri="{FF2B5EF4-FFF2-40B4-BE49-F238E27FC236}">
                <a16:creationId xmlns:a16="http://schemas.microsoft.com/office/drawing/2014/main" id="{7C9355A5-5B30-2226-F26E-D6FC3923938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5 Common NFC Tag Types for Your Business - RFIDTag™">
            <a:extLst>
              <a:ext uri="{FF2B5EF4-FFF2-40B4-BE49-F238E27FC236}">
                <a16:creationId xmlns:a16="http://schemas.microsoft.com/office/drawing/2014/main" id="{2D642808-B660-6ED8-0D8C-E5BA3023E7C3}"/>
              </a:ext>
            </a:extLst>
          </p:cNvPr>
          <p:cNvSpPr>
            <a:spLocks noChangeAspect="1" noChangeArrowheads="1"/>
          </p:cNvSpPr>
          <p:nvPr/>
        </p:nvSpPr>
        <p:spPr bwMode="auto">
          <a:xfrm>
            <a:off x="9144000" y="52197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1" name="Group 11"/>
          <p:cNvGrpSpPr/>
          <p:nvPr/>
        </p:nvGrpSpPr>
        <p:grpSpPr>
          <a:xfrm>
            <a:off x="5638800" y="3009900"/>
            <a:ext cx="12449596" cy="1471434"/>
            <a:chOff x="0" y="0"/>
            <a:chExt cx="3365731" cy="406400"/>
          </a:xfrm>
        </p:grpSpPr>
        <p:sp>
          <p:nvSpPr>
            <p:cNvPr id="12" name="Freeform 12"/>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3" name="TextBox 13"/>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grpSp>
        <p:nvGrpSpPr>
          <p:cNvPr id="25" name="Group 25"/>
          <p:cNvGrpSpPr/>
          <p:nvPr/>
        </p:nvGrpSpPr>
        <p:grpSpPr>
          <a:xfrm>
            <a:off x="3581401" y="2207182"/>
            <a:ext cx="5862563" cy="1031318"/>
            <a:chOff x="-455881" y="-28575"/>
            <a:chExt cx="1402955" cy="434975"/>
          </a:xfrm>
        </p:grpSpPr>
        <p:sp>
          <p:nvSpPr>
            <p:cNvPr id="26" name="Freeform 26"/>
            <p:cNvSpPr/>
            <p:nvPr/>
          </p:nvSpPr>
          <p:spPr>
            <a:xfrm>
              <a:off x="-455881"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27" name="TextBox 27"/>
            <p:cNvSpPr txBox="1"/>
            <p:nvPr/>
          </p:nvSpPr>
          <p:spPr>
            <a:xfrm>
              <a:off x="0" y="-28575"/>
              <a:ext cx="947074" cy="434975"/>
            </a:xfrm>
            <a:prstGeom prst="rect">
              <a:avLst/>
            </a:prstGeom>
          </p:spPr>
          <p:txBody>
            <a:bodyPr lIns="50800" tIns="50800" rIns="50800" bIns="50800" rtlCol="0" anchor="ctr"/>
            <a:lstStyle/>
            <a:p>
              <a:pPr algn="ctr">
                <a:lnSpc>
                  <a:spcPts val="2487"/>
                </a:lnSpc>
              </a:pPr>
              <a:endParaRPr/>
            </a:p>
          </p:txBody>
        </p:sp>
      </p:grpSp>
      <p:sp>
        <p:nvSpPr>
          <p:cNvPr id="28" name="TextBox 28"/>
          <p:cNvSpPr txBox="1"/>
          <p:nvPr/>
        </p:nvSpPr>
        <p:spPr>
          <a:xfrm>
            <a:off x="3810000" y="2546312"/>
            <a:ext cx="3550393" cy="463588"/>
          </a:xfrm>
          <a:prstGeom prst="rect">
            <a:avLst/>
          </a:prstGeom>
        </p:spPr>
        <p:txBody>
          <a:bodyPr wrap="square" lIns="0" tIns="0" rIns="0" bIns="0" rtlCol="0" anchor="t">
            <a:spAutoFit/>
          </a:bodyPr>
          <a:lstStyle/>
          <a:p>
            <a:pPr algn="ctr">
              <a:lnSpc>
                <a:spcPts val="3711"/>
              </a:lnSpc>
              <a:spcBef>
                <a:spcPct val="0"/>
              </a:spcBef>
            </a:pPr>
            <a:r>
              <a:rPr lang="fr-FR" sz="2800" dirty="0">
                <a:solidFill>
                  <a:schemeClr val="bg1"/>
                </a:solidFill>
                <a:latin typeface="Garet Bold" panose="020B0604020202020204" charset="0"/>
              </a:rPr>
              <a:t>ISO/IEC 14443</a:t>
            </a:r>
            <a:endParaRPr lang="en-US" sz="2650" b="1" spc="-121" dirty="0">
              <a:solidFill>
                <a:schemeClr val="bg1"/>
              </a:solidFill>
              <a:latin typeface="Garet Bold" panose="020B0604020202020204" charset="0"/>
              <a:ea typeface="Garet Bold"/>
              <a:cs typeface="Garet Bold"/>
              <a:sym typeface="Garet Bold"/>
            </a:endParaRPr>
          </a:p>
        </p:txBody>
      </p:sp>
      <p:sp>
        <p:nvSpPr>
          <p:cNvPr id="24" name="TextBox 24"/>
          <p:cNvSpPr txBox="1"/>
          <p:nvPr/>
        </p:nvSpPr>
        <p:spPr>
          <a:xfrm>
            <a:off x="5838404" y="3309114"/>
            <a:ext cx="12449596" cy="1477328"/>
          </a:xfrm>
          <a:prstGeom prst="rect">
            <a:avLst/>
          </a:prstGeom>
        </p:spPr>
        <p:txBody>
          <a:bodyPr wrap="square" lIns="0" tIns="0" rIns="0" bIns="0" rtlCol="0" anchor="t">
            <a:spAutoFit/>
          </a:bodyPr>
          <a:lstStyle/>
          <a:p>
            <a:pPr marL="457200" indent="-457200">
              <a:buFont typeface="Wingdings" panose="05000000000000000000" pitchFamily="2" charset="2"/>
              <a:buChar char="§"/>
            </a:pPr>
            <a:r>
              <a:rPr lang="en-US" sz="3200" b="1" dirty="0">
                <a:solidFill>
                  <a:schemeClr val="tx2">
                    <a:lumMod val="50000"/>
                  </a:schemeClr>
                </a:solidFill>
              </a:rPr>
              <a:t>Used for contactless smart cards (e.g., bank cards, transport cards).</a:t>
            </a:r>
          </a:p>
          <a:p>
            <a:pPr marL="457200" indent="-457200">
              <a:buFont typeface="Wingdings" panose="05000000000000000000" pitchFamily="2" charset="2"/>
              <a:buChar char="§"/>
            </a:pPr>
            <a:r>
              <a:rPr lang="en-US" sz="3200" b="1" dirty="0">
                <a:solidFill>
                  <a:schemeClr val="tx2">
                    <a:lumMod val="50000"/>
                  </a:schemeClr>
                </a:solidFill>
              </a:rPr>
              <a:t>Defines communication between NFC devices and cards</a:t>
            </a:r>
            <a:br>
              <a:rPr lang="en-US" sz="3200" b="1" dirty="0">
                <a:solidFill>
                  <a:schemeClr val="tx2">
                    <a:lumMod val="50000"/>
                  </a:schemeClr>
                </a:solidFill>
              </a:rPr>
            </a:br>
            <a:endParaRPr lang="en-US" sz="3200" b="1" dirty="0">
              <a:solidFill>
                <a:schemeClr val="tx2">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sp>
        <p:nvSpPr>
          <p:cNvPr id="5" name="Freeform 5"/>
          <p:cNvSpPr/>
          <p:nvPr/>
        </p:nvSpPr>
        <p:spPr>
          <a:xfrm>
            <a:off x="-1627916" y="1264430"/>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11" name="TextBox 11"/>
          <p:cNvSpPr txBox="1"/>
          <p:nvPr/>
        </p:nvSpPr>
        <p:spPr>
          <a:xfrm>
            <a:off x="4419600" y="734618"/>
            <a:ext cx="9940121" cy="1231106"/>
          </a:xfrm>
          <a:prstGeom prst="rect">
            <a:avLst/>
          </a:prstGeom>
        </p:spPr>
        <p:txBody>
          <a:bodyPr wrap="square" lIns="0" tIns="0" rIns="0" bIns="0" rtlCol="0" anchor="t">
            <a:spAutoFit/>
          </a:bodyPr>
          <a:lstStyle/>
          <a:p>
            <a:r>
              <a:rPr lang="en-US" sz="8000" b="1" dirty="0">
                <a:solidFill>
                  <a:schemeClr val="tx2">
                    <a:lumMod val="50000"/>
                  </a:schemeClr>
                </a:solidFill>
              </a:rPr>
              <a:t>Types of NFC Devices</a:t>
            </a:r>
          </a:p>
        </p:txBody>
      </p:sp>
      <p:sp>
        <p:nvSpPr>
          <p:cNvPr id="29" name="TextBox 29"/>
          <p:cNvSpPr txBox="1"/>
          <p:nvPr/>
        </p:nvSpPr>
        <p:spPr>
          <a:xfrm>
            <a:off x="6318689" y="5807903"/>
            <a:ext cx="1797961" cy="825773"/>
          </a:xfrm>
          <a:prstGeom prst="rect">
            <a:avLst/>
          </a:prstGeom>
        </p:spPr>
        <p:txBody>
          <a:bodyPr lIns="50800" tIns="50800" rIns="50800" bIns="50800" rtlCol="0" anchor="ctr"/>
          <a:lstStyle/>
          <a:p>
            <a:pPr algn="ctr">
              <a:lnSpc>
                <a:spcPts val="2487"/>
              </a:lnSpc>
            </a:pPr>
            <a:endParaRPr/>
          </a:p>
        </p:txBody>
      </p:sp>
      <p:pic>
        <p:nvPicPr>
          <p:cNvPr id="3" name="Image 2">
            <a:extLst>
              <a:ext uri="{FF2B5EF4-FFF2-40B4-BE49-F238E27FC236}">
                <a16:creationId xmlns:a16="http://schemas.microsoft.com/office/drawing/2014/main" id="{CE577160-C7F5-FE36-2DE8-205CA4F5146A}"/>
              </a:ext>
            </a:extLst>
          </p:cNvPr>
          <p:cNvPicPr>
            <a:picLocks noChangeAspect="1"/>
          </p:cNvPicPr>
          <p:nvPr/>
        </p:nvPicPr>
        <p:blipFill>
          <a:blip r:embed="rId3"/>
          <a:stretch>
            <a:fillRect/>
          </a:stretch>
        </p:blipFill>
        <p:spPr>
          <a:xfrm>
            <a:off x="304800" y="2247900"/>
            <a:ext cx="17678400" cy="7591207"/>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a:extLst>
            <a:ext uri="{FF2B5EF4-FFF2-40B4-BE49-F238E27FC236}">
              <a16:creationId xmlns:a16="http://schemas.microsoft.com/office/drawing/2014/main" id="{5C182E10-43CE-C5E0-A8FE-90EF1D41448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4FED50C-19B4-5A49-3021-882C7C701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123731" y="4848569"/>
            <a:ext cx="7531608" cy="2202254"/>
          </a:xfrm>
          <a:prstGeom prst="rect">
            <a:avLst/>
          </a:prstGeom>
          <a:ln>
            <a:noFill/>
          </a:ln>
          <a:effectLst>
            <a:outerShdw blurRad="292100" dist="139700" dir="2700000" algn="tl" rotWithShape="0">
              <a:srgbClr val="333333">
                <a:alpha val="65000"/>
              </a:srgbClr>
            </a:outerShdw>
          </a:effectLst>
        </p:spPr>
      </p:pic>
      <p:sp>
        <p:nvSpPr>
          <p:cNvPr id="5" name="Freeform 5">
            <a:extLst>
              <a:ext uri="{FF2B5EF4-FFF2-40B4-BE49-F238E27FC236}">
                <a16:creationId xmlns:a16="http://schemas.microsoft.com/office/drawing/2014/main" id="{BACB25AE-1DB3-002C-CBFF-489B40BF1B1B}"/>
              </a:ext>
            </a:extLst>
          </p:cNvPr>
          <p:cNvSpPr/>
          <p:nvPr/>
        </p:nvSpPr>
        <p:spPr>
          <a:xfrm>
            <a:off x="-995411" y="1891753"/>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1" name="TextBox 11">
            <a:extLst>
              <a:ext uri="{FF2B5EF4-FFF2-40B4-BE49-F238E27FC236}">
                <a16:creationId xmlns:a16="http://schemas.microsoft.com/office/drawing/2014/main" id="{48C06E01-195B-0514-0DFA-7956B0D06970}"/>
              </a:ext>
            </a:extLst>
          </p:cNvPr>
          <p:cNvSpPr txBox="1"/>
          <p:nvPr/>
        </p:nvSpPr>
        <p:spPr>
          <a:xfrm>
            <a:off x="5665041" y="961337"/>
            <a:ext cx="10845980" cy="1327286"/>
          </a:xfrm>
          <a:prstGeom prst="rect">
            <a:avLst/>
          </a:prstGeom>
        </p:spPr>
        <p:txBody>
          <a:bodyPr wrap="square" lIns="0" tIns="0" rIns="0" bIns="0" rtlCol="0" anchor="t">
            <a:spAutoFit/>
          </a:bodyPr>
          <a:lstStyle/>
          <a:p>
            <a:pPr>
              <a:lnSpc>
                <a:spcPts val="10574"/>
              </a:lnSpc>
              <a:spcBef>
                <a:spcPct val="0"/>
              </a:spcBef>
            </a:pPr>
            <a:r>
              <a:rPr lang="fr-FR" sz="8000" dirty="0" err="1">
                <a:solidFill>
                  <a:schemeClr val="tx2">
                    <a:lumMod val="50000"/>
                  </a:schemeClr>
                </a:solidFill>
              </a:rPr>
              <a:t>Countermeasures</a:t>
            </a:r>
            <a:endParaRPr lang="en-US" sz="7552" spc="-347" dirty="0">
              <a:solidFill>
                <a:schemeClr val="tx2">
                  <a:lumMod val="50000"/>
                </a:schemeClr>
              </a:solidFill>
              <a:latin typeface="Garet"/>
              <a:ea typeface="Garet"/>
              <a:cs typeface="Garet"/>
              <a:sym typeface="Garet"/>
            </a:endParaRPr>
          </a:p>
        </p:txBody>
      </p:sp>
      <p:grpSp>
        <p:nvGrpSpPr>
          <p:cNvPr id="13" name="Group 13">
            <a:extLst>
              <a:ext uri="{FF2B5EF4-FFF2-40B4-BE49-F238E27FC236}">
                <a16:creationId xmlns:a16="http://schemas.microsoft.com/office/drawing/2014/main" id="{F6E21EBD-28E5-DD38-3DA1-A7B04B2CD00B}"/>
              </a:ext>
            </a:extLst>
          </p:cNvPr>
          <p:cNvGrpSpPr/>
          <p:nvPr/>
        </p:nvGrpSpPr>
        <p:grpSpPr>
          <a:xfrm>
            <a:off x="2101199" y="2788523"/>
            <a:ext cx="6966601" cy="1302945"/>
            <a:chOff x="0" y="0"/>
            <a:chExt cx="3365731" cy="406400"/>
          </a:xfrm>
        </p:grpSpPr>
        <p:sp>
          <p:nvSpPr>
            <p:cNvPr id="14" name="Freeform 14">
              <a:extLst>
                <a:ext uri="{FF2B5EF4-FFF2-40B4-BE49-F238E27FC236}">
                  <a16:creationId xmlns:a16="http://schemas.microsoft.com/office/drawing/2014/main" id="{1F171672-A765-240F-BE5F-8A6AE9130D5D}"/>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5" name="TextBox 15">
              <a:extLst>
                <a:ext uri="{FF2B5EF4-FFF2-40B4-BE49-F238E27FC236}">
                  <a16:creationId xmlns:a16="http://schemas.microsoft.com/office/drawing/2014/main" id="{661B52DA-A7B0-9FA5-D9C0-01D7B8C6861C}"/>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grpSp>
        <p:nvGrpSpPr>
          <p:cNvPr id="16" name="Group 16">
            <a:extLst>
              <a:ext uri="{FF2B5EF4-FFF2-40B4-BE49-F238E27FC236}">
                <a16:creationId xmlns:a16="http://schemas.microsoft.com/office/drawing/2014/main" id="{EE87E13B-2611-232D-6A6F-FE23CCD0DECA}"/>
              </a:ext>
            </a:extLst>
          </p:cNvPr>
          <p:cNvGrpSpPr/>
          <p:nvPr/>
        </p:nvGrpSpPr>
        <p:grpSpPr>
          <a:xfrm>
            <a:off x="2059903" y="4899270"/>
            <a:ext cx="7084097" cy="1366828"/>
            <a:chOff x="0" y="0"/>
            <a:chExt cx="3365731" cy="406400"/>
          </a:xfrm>
        </p:grpSpPr>
        <p:sp>
          <p:nvSpPr>
            <p:cNvPr id="17" name="Freeform 17">
              <a:extLst>
                <a:ext uri="{FF2B5EF4-FFF2-40B4-BE49-F238E27FC236}">
                  <a16:creationId xmlns:a16="http://schemas.microsoft.com/office/drawing/2014/main" id="{2C553A12-EA6E-D56D-AF8C-98BB7637EE91}"/>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8" name="TextBox 18">
              <a:extLst>
                <a:ext uri="{FF2B5EF4-FFF2-40B4-BE49-F238E27FC236}">
                  <a16:creationId xmlns:a16="http://schemas.microsoft.com/office/drawing/2014/main" id="{380E7028-FF9C-0523-F0B9-4822961862F9}"/>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grpSp>
        <p:nvGrpSpPr>
          <p:cNvPr id="19" name="Group 19">
            <a:extLst>
              <a:ext uri="{FF2B5EF4-FFF2-40B4-BE49-F238E27FC236}">
                <a16:creationId xmlns:a16="http://schemas.microsoft.com/office/drawing/2014/main" id="{7859B02B-3266-0948-4FB4-A6FCBB481115}"/>
              </a:ext>
            </a:extLst>
          </p:cNvPr>
          <p:cNvGrpSpPr/>
          <p:nvPr/>
        </p:nvGrpSpPr>
        <p:grpSpPr>
          <a:xfrm>
            <a:off x="804091" y="6993977"/>
            <a:ext cx="8263709" cy="2272525"/>
            <a:chOff x="0" y="-790650"/>
            <a:chExt cx="4011268" cy="1197050"/>
          </a:xfrm>
        </p:grpSpPr>
        <p:sp>
          <p:nvSpPr>
            <p:cNvPr id="20" name="Freeform 20">
              <a:extLst>
                <a:ext uri="{FF2B5EF4-FFF2-40B4-BE49-F238E27FC236}">
                  <a16:creationId xmlns:a16="http://schemas.microsoft.com/office/drawing/2014/main" id="{BABAF22B-1AEB-C1BE-C787-BB84A979B83E}"/>
                </a:ext>
              </a:extLst>
            </p:cNvPr>
            <p:cNvSpPr/>
            <p:nvPr/>
          </p:nvSpPr>
          <p:spPr>
            <a:xfrm>
              <a:off x="645537" y="-790650"/>
              <a:ext cx="3365731" cy="708228"/>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21" name="TextBox 21">
              <a:extLst>
                <a:ext uri="{FF2B5EF4-FFF2-40B4-BE49-F238E27FC236}">
                  <a16:creationId xmlns:a16="http://schemas.microsoft.com/office/drawing/2014/main" id="{956BA23D-1150-B092-6185-AE4D681C5193}"/>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sp>
        <p:nvSpPr>
          <p:cNvPr id="35" name="TextBox 35">
            <a:extLst>
              <a:ext uri="{FF2B5EF4-FFF2-40B4-BE49-F238E27FC236}">
                <a16:creationId xmlns:a16="http://schemas.microsoft.com/office/drawing/2014/main" id="{ADE88D0A-6E73-1237-3066-CBA288A25349}"/>
              </a:ext>
            </a:extLst>
          </p:cNvPr>
          <p:cNvSpPr txBox="1"/>
          <p:nvPr/>
        </p:nvSpPr>
        <p:spPr>
          <a:xfrm>
            <a:off x="2916183" y="3216723"/>
            <a:ext cx="6532617" cy="509755"/>
          </a:xfrm>
          <a:prstGeom prst="rect">
            <a:avLst/>
          </a:prstGeom>
        </p:spPr>
        <p:txBody>
          <a:bodyPr wrap="square" lIns="0" tIns="0" rIns="0" bIns="0" rtlCol="0" anchor="t">
            <a:spAutoFit/>
          </a:bodyPr>
          <a:lstStyle/>
          <a:p>
            <a:pPr>
              <a:lnSpc>
                <a:spcPts val="3711"/>
              </a:lnSpc>
              <a:spcBef>
                <a:spcPct val="0"/>
              </a:spcBef>
            </a:pPr>
            <a:r>
              <a:rPr lang="fr-FR" sz="4000" b="1" dirty="0">
                <a:solidFill>
                  <a:schemeClr val="tx2">
                    <a:lumMod val="50000"/>
                  </a:schemeClr>
                </a:solidFill>
              </a:rPr>
              <a:t>Use </a:t>
            </a:r>
            <a:r>
              <a:rPr lang="fr-FR" sz="4000" b="1" dirty="0" err="1">
                <a:solidFill>
                  <a:schemeClr val="tx2">
                    <a:lumMod val="50000"/>
                  </a:schemeClr>
                </a:solidFill>
              </a:rPr>
              <a:t>strong</a:t>
            </a:r>
            <a:r>
              <a:rPr lang="fr-FR" sz="4000" b="1" dirty="0">
                <a:solidFill>
                  <a:schemeClr val="tx2">
                    <a:lumMod val="50000"/>
                  </a:schemeClr>
                </a:solidFill>
              </a:rPr>
              <a:t> </a:t>
            </a:r>
            <a:r>
              <a:rPr lang="fr-FR" sz="4000" b="1" dirty="0" err="1">
                <a:solidFill>
                  <a:schemeClr val="tx2">
                    <a:lumMod val="50000"/>
                  </a:schemeClr>
                </a:solidFill>
              </a:rPr>
              <a:t>encryption</a:t>
            </a:r>
            <a:r>
              <a:rPr lang="fr-FR" sz="4000" b="1" dirty="0">
                <a:solidFill>
                  <a:schemeClr val="tx2">
                    <a:lumMod val="50000"/>
                  </a:schemeClr>
                </a:solidFill>
              </a:rPr>
              <a:t> (AES)</a:t>
            </a:r>
            <a:endParaRPr lang="en-US" sz="3600" b="1" spc="-121" dirty="0">
              <a:solidFill>
                <a:schemeClr val="tx2">
                  <a:lumMod val="50000"/>
                </a:schemeClr>
              </a:solidFill>
              <a:latin typeface="Garet Bold"/>
              <a:ea typeface="Garet Bold"/>
              <a:cs typeface="Garet Bold"/>
              <a:sym typeface="Garet Bold"/>
            </a:endParaRPr>
          </a:p>
        </p:txBody>
      </p:sp>
      <p:sp>
        <p:nvSpPr>
          <p:cNvPr id="36" name="TextBox 36">
            <a:extLst>
              <a:ext uri="{FF2B5EF4-FFF2-40B4-BE49-F238E27FC236}">
                <a16:creationId xmlns:a16="http://schemas.microsoft.com/office/drawing/2014/main" id="{A51C85AA-B67F-8DF8-1C74-F95844DC9AC4}"/>
              </a:ext>
            </a:extLst>
          </p:cNvPr>
          <p:cNvSpPr txBox="1"/>
          <p:nvPr/>
        </p:nvSpPr>
        <p:spPr>
          <a:xfrm>
            <a:off x="3273073" y="5157091"/>
            <a:ext cx="4880327" cy="984244"/>
          </a:xfrm>
          <a:prstGeom prst="rect">
            <a:avLst/>
          </a:prstGeom>
        </p:spPr>
        <p:txBody>
          <a:bodyPr wrap="square" lIns="0" tIns="0" rIns="0" bIns="0" rtlCol="0" anchor="t">
            <a:spAutoFit/>
          </a:bodyPr>
          <a:lstStyle/>
          <a:p>
            <a:pPr algn="ctr">
              <a:lnSpc>
                <a:spcPts val="3711"/>
              </a:lnSpc>
              <a:spcBef>
                <a:spcPct val="0"/>
              </a:spcBef>
            </a:pPr>
            <a:r>
              <a:rPr lang="fr-FR" sz="4000" b="1" dirty="0">
                <a:solidFill>
                  <a:schemeClr val="tx2">
                    <a:lumMod val="50000"/>
                  </a:schemeClr>
                </a:solidFill>
              </a:rPr>
              <a:t>Enable </a:t>
            </a:r>
            <a:r>
              <a:rPr lang="fr-FR" sz="4000" b="1" dirty="0" err="1">
                <a:solidFill>
                  <a:schemeClr val="tx2">
                    <a:lumMod val="50000"/>
                  </a:schemeClr>
                </a:solidFill>
              </a:rPr>
              <a:t>authentication</a:t>
            </a:r>
            <a:r>
              <a:rPr lang="fr-FR" sz="4000" b="1" dirty="0">
                <a:solidFill>
                  <a:schemeClr val="tx2">
                    <a:lumMod val="50000"/>
                  </a:schemeClr>
                </a:solidFill>
              </a:rPr>
              <a:t> </a:t>
            </a:r>
            <a:r>
              <a:rPr lang="fr-FR" sz="4000" b="1" dirty="0" err="1">
                <a:solidFill>
                  <a:schemeClr val="tx2">
                    <a:lumMod val="50000"/>
                  </a:schemeClr>
                </a:solidFill>
              </a:rPr>
              <a:t>mechanisms</a:t>
            </a:r>
            <a:endParaRPr lang="en-US" sz="3600" b="1" spc="-121" dirty="0">
              <a:solidFill>
                <a:schemeClr val="tx2">
                  <a:lumMod val="50000"/>
                </a:schemeClr>
              </a:solidFill>
              <a:latin typeface="Garet Bold"/>
              <a:ea typeface="Garet Bold"/>
              <a:cs typeface="Garet Bold"/>
              <a:sym typeface="Garet Bold"/>
            </a:endParaRPr>
          </a:p>
        </p:txBody>
      </p:sp>
      <p:sp>
        <p:nvSpPr>
          <p:cNvPr id="37" name="TextBox 37">
            <a:extLst>
              <a:ext uri="{FF2B5EF4-FFF2-40B4-BE49-F238E27FC236}">
                <a16:creationId xmlns:a16="http://schemas.microsoft.com/office/drawing/2014/main" id="{9FEA31F1-2E75-5BD1-9594-1CEEDB657130}"/>
              </a:ext>
            </a:extLst>
          </p:cNvPr>
          <p:cNvSpPr txBox="1"/>
          <p:nvPr/>
        </p:nvSpPr>
        <p:spPr>
          <a:xfrm>
            <a:off x="2209800" y="7207256"/>
            <a:ext cx="6892831" cy="984244"/>
          </a:xfrm>
          <a:prstGeom prst="rect">
            <a:avLst/>
          </a:prstGeom>
        </p:spPr>
        <p:txBody>
          <a:bodyPr wrap="square" lIns="0" tIns="0" rIns="0" bIns="0" rtlCol="0" anchor="t">
            <a:spAutoFit/>
          </a:bodyPr>
          <a:lstStyle/>
          <a:p>
            <a:pPr algn="ctr">
              <a:lnSpc>
                <a:spcPts val="3711"/>
              </a:lnSpc>
              <a:spcBef>
                <a:spcPct val="0"/>
              </a:spcBef>
            </a:pPr>
            <a:r>
              <a:rPr lang="en-US" sz="4000" b="1" dirty="0">
                <a:solidFill>
                  <a:schemeClr val="tx2">
                    <a:lumMod val="50000"/>
                  </a:schemeClr>
                </a:solidFill>
              </a:rPr>
              <a:t>Keep devices very close </a:t>
            </a:r>
          </a:p>
          <a:p>
            <a:pPr algn="ctr">
              <a:lnSpc>
                <a:spcPts val="3711"/>
              </a:lnSpc>
              <a:spcBef>
                <a:spcPct val="0"/>
              </a:spcBef>
            </a:pPr>
            <a:r>
              <a:rPr lang="en-US" sz="4000" b="1" dirty="0">
                <a:solidFill>
                  <a:schemeClr val="tx2">
                    <a:lumMod val="50000"/>
                  </a:schemeClr>
                </a:solidFill>
              </a:rPr>
              <a:t>(short range)</a:t>
            </a:r>
            <a:endParaRPr lang="en-US" sz="3600" b="1" spc="-121" dirty="0">
              <a:solidFill>
                <a:schemeClr val="tx2">
                  <a:lumMod val="50000"/>
                </a:schemeClr>
              </a:solidFill>
              <a:latin typeface="Garet Bold"/>
              <a:ea typeface="Garet Bold"/>
              <a:cs typeface="Garet Bold"/>
              <a:sym typeface="Garet Bold"/>
            </a:endParaRPr>
          </a:p>
        </p:txBody>
      </p:sp>
      <p:sp>
        <p:nvSpPr>
          <p:cNvPr id="2" name="AutoShape 2" descr="Cyber Security Data Protection Business Technology Privacy Concept ...">
            <a:extLst>
              <a:ext uri="{FF2B5EF4-FFF2-40B4-BE49-F238E27FC236}">
                <a16:creationId xmlns:a16="http://schemas.microsoft.com/office/drawing/2014/main" id="{1485642E-BE73-EE01-0672-5B5FF790AC8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45" name="Group 16">
            <a:extLst>
              <a:ext uri="{FF2B5EF4-FFF2-40B4-BE49-F238E27FC236}">
                <a16:creationId xmlns:a16="http://schemas.microsoft.com/office/drawing/2014/main" id="{9D33C995-79CF-356D-872C-C6DB9ADB8392}"/>
              </a:ext>
            </a:extLst>
          </p:cNvPr>
          <p:cNvGrpSpPr/>
          <p:nvPr/>
        </p:nvGrpSpPr>
        <p:grpSpPr>
          <a:xfrm>
            <a:off x="10394926" y="3735270"/>
            <a:ext cx="6389629" cy="1560630"/>
            <a:chOff x="0" y="0"/>
            <a:chExt cx="3365731" cy="406400"/>
          </a:xfrm>
        </p:grpSpPr>
        <p:sp>
          <p:nvSpPr>
            <p:cNvPr id="47" name="TextBox 18">
              <a:extLst>
                <a:ext uri="{FF2B5EF4-FFF2-40B4-BE49-F238E27FC236}">
                  <a16:creationId xmlns:a16="http://schemas.microsoft.com/office/drawing/2014/main" id="{B0AF87A1-2C28-4AF1-366D-EA80E50EC45D}"/>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sp>
          <p:nvSpPr>
            <p:cNvPr id="46" name="Freeform 17">
              <a:extLst>
                <a:ext uri="{FF2B5EF4-FFF2-40B4-BE49-F238E27FC236}">
                  <a16:creationId xmlns:a16="http://schemas.microsoft.com/office/drawing/2014/main" id="{93431C10-1B4E-B016-2C3C-111C437DD3BB}"/>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grpSp>
      <p:grpSp>
        <p:nvGrpSpPr>
          <p:cNvPr id="42" name="Group 16">
            <a:extLst>
              <a:ext uri="{FF2B5EF4-FFF2-40B4-BE49-F238E27FC236}">
                <a16:creationId xmlns:a16="http://schemas.microsoft.com/office/drawing/2014/main" id="{8C5FBEDF-0E2D-AE5A-629B-A7AC380D52E3}"/>
              </a:ext>
            </a:extLst>
          </p:cNvPr>
          <p:cNvGrpSpPr/>
          <p:nvPr/>
        </p:nvGrpSpPr>
        <p:grpSpPr>
          <a:xfrm>
            <a:off x="10363200" y="6240049"/>
            <a:ext cx="6389629" cy="1786859"/>
            <a:chOff x="0" y="0"/>
            <a:chExt cx="3365731" cy="406400"/>
          </a:xfrm>
        </p:grpSpPr>
        <p:sp>
          <p:nvSpPr>
            <p:cNvPr id="43" name="Freeform 17">
              <a:extLst>
                <a:ext uri="{FF2B5EF4-FFF2-40B4-BE49-F238E27FC236}">
                  <a16:creationId xmlns:a16="http://schemas.microsoft.com/office/drawing/2014/main" id="{BE8283A4-64FB-AC5A-F770-4C95120BD907}"/>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44" name="TextBox 18">
              <a:extLst>
                <a:ext uri="{FF2B5EF4-FFF2-40B4-BE49-F238E27FC236}">
                  <a16:creationId xmlns:a16="http://schemas.microsoft.com/office/drawing/2014/main" id="{962213DF-B8E0-293B-F2ED-E4E3AD7B5431}"/>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sp>
        <p:nvSpPr>
          <p:cNvPr id="41" name="ZoneTexte 40">
            <a:extLst>
              <a:ext uri="{FF2B5EF4-FFF2-40B4-BE49-F238E27FC236}">
                <a16:creationId xmlns:a16="http://schemas.microsoft.com/office/drawing/2014/main" id="{17B687C0-BE4A-E9A7-2597-FDD25FE4ED4A}"/>
              </a:ext>
            </a:extLst>
          </p:cNvPr>
          <p:cNvSpPr txBox="1"/>
          <p:nvPr/>
        </p:nvSpPr>
        <p:spPr>
          <a:xfrm>
            <a:off x="11049000" y="3924300"/>
            <a:ext cx="4861884" cy="1754326"/>
          </a:xfrm>
          <a:prstGeom prst="rect">
            <a:avLst/>
          </a:prstGeom>
          <a:noFill/>
        </p:spPr>
        <p:txBody>
          <a:bodyPr wrap="square" rtlCol="0">
            <a:spAutoFit/>
          </a:bodyPr>
          <a:lstStyle/>
          <a:p>
            <a:pPr algn="ctr"/>
            <a:r>
              <a:rPr lang="en-US" sz="4000" b="1" dirty="0"/>
              <a:t>Disable NFC when not in use </a:t>
            </a:r>
          </a:p>
          <a:p>
            <a:pPr algn="ctr"/>
            <a:endParaRPr lang="en-US" sz="2800" b="1" dirty="0"/>
          </a:p>
        </p:txBody>
      </p:sp>
      <p:sp>
        <p:nvSpPr>
          <p:cNvPr id="39" name="ZoneTexte 38">
            <a:extLst>
              <a:ext uri="{FF2B5EF4-FFF2-40B4-BE49-F238E27FC236}">
                <a16:creationId xmlns:a16="http://schemas.microsoft.com/office/drawing/2014/main" id="{9BB9B3C2-9776-C600-29C6-636B18A54223}"/>
              </a:ext>
            </a:extLst>
          </p:cNvPr>
          <p:cNvSpPr txBox="1"/>
          <p:nvPr/>
        </p:nvSpPr>
        <p:spPr>
          <a:xfrm>
            <a:off x="10839861" y="6497136"/>
            <a:ext cx="5499757" cy="1323439"/>
          </a:xfrm>
          <a:prstGeom prst="rect">
            <a:avLst/>
          </a:prstGeom>
          <a:noFill/>
        </p:spPr>
        <p:txBody>
          <a:bodyPr wrap="square" rtlCol="0">
            <a:spAutoFit/>
          </a:bodyPr>
          <a:lstStyle/>
          <a:p>
            <a:pPr algn="ctr"/>
            <a:r>
              <a:rPr lang="en-US" sz="4000" b="1" dirty="0"/>
              <a:t>Use secure elements in devices</a:t>
            </a:r>
          </a:p>
        </p:txBody>
      </p:sp>
    </p:spTree>
    <p:extLst>
      <p:ext uri="{BB962C8B-B14F-4D97-AF65-F5344CB8AC3E}">
        <p14:creationId xmlns:p14="http://schemas.microsoft.com/office/powerpoint/2010/main" val="3362294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9" name="Group 13">
            <a:extLst>
              <a:ext uri="{FF2B5EF4-FFF2-40B4-BE49-F238E27FC236}">
                <a16:creationId xmlns:a16="http://schemas.microsoft.com/office/drawing/2014/main" id="{08E4AFD9-BB65-AE75-416F-740376D87DA7}"/>
              </a:ext>
            </a:extLst>
          </p:cNvPr>
          <p:cNvGrpSpPr/>
          <p:nvPr/>
        </p:nvGrpSpPr>
        <p:grpSpPr>
          <a:xfrm>
            <a:off x="8594648" y="7412735"/>
            <a:ext cx="6389629" cy="1302945"/>
            <a:chOff x="0" y="0"/>
            <a:chExt cx="3365731" cy="406400"/>
          </a:xfrm>
        </p:grpSpPr>
        <p:sp>
          <p:nvSpPr>
            <p:cNvPr id="10" name="Freeform 14">
              <a:extLst>
                <a:ext uri="{FF2B5EF4-FFF2-40B4-BE49-F238E27FC236}">
                  <a16:creationId xmlns:a16="http://schemas.microsoft.com/office/drawing/2014/main" id="{F123D081-FD89-1A5E-99EF-755DEF8065B7}"/>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1" name="TextBox 15">
              <a:extLst>
                <a:ext uri="{FF2B5EF4-FFF2-40B4-BE49-F238E27FC236}">
                  <a16:creationId xmlns:a16="http://schemas.microsoft.com/office/drawing/2014/main" id="{A2CB4656-B012-9B93-3155-F35278506304}"/>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grpSp>
        <p:nvGrpSpPr>
          <p:cNvPr id="6" name="Group 13">
            <a:extLst>
              <a:ext uri="{FF2B5EF4-FFF2-40B4-BE49-F238E27FC236}">
                <a16:creationId xmlns:a16="http://schemas.microsoft.com/office/drawing/2014/main" id="{33DE32B2-6977-D71E-D74D-F1BB9B3EF859}"/>
              </a:ext>
            </a:extLst>
          </p:cNvPr>
          <p:cNvGrpSpPr/>
          <p:nvPr/>
        </p:nvGrpSpPr>
        <p:grpSpPr>
          <a:xfrm>
            <a:off x="5365673" y="5186550"/>
            <a:ext cx="6389629" cy="1302945"/>
            <a:chOff x="0" y="0"/>
            <a:chExt cx="3365731" cy="406400"/>
          </a:xfrm>
        </p:grpSpPr>
        <p:sp>
          <p:nvSpPr>
            <p:cNvPr id="7" name="Freeform 14">
              <a:extLst>
                <a:ext uri="{FF2B5EF4-FFF2-40B4-BE49-F238E27FC236}">
                  <a16:creationId xmlns:a16="http://schemas.microsoft.com/office/drawing/2014/main" id="{3B40D4C5-989E-EDE1-8DDE-124CB5917F0C}"/>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8" name="TextBox 15">
              <a:extLst>
                <a:ext uri="{FF2B5EF4-FFF2-40B4-BE49-F238E27FC236}">
                  <a16:creationId xmlns:a16="http://schemas.microsoft.com/office/drawing/2014/main" id="{6EFA6DB6-A5DC-E752-E8F4-D42A5BDE221A}"/>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grpSp>
        <p:nvGrpSpPr>
          <p:cNvPr id="2" name="Group 13">
            <a:extLst>
              <a:ext uri="{FF2B5EF4-FFF2-40B4-BE49-F238E27FC236}">
                <a16:creationId xmlns:a16="http://schemas.microsoft.com/office/drawing/2014/main" id="{A4096D6B-83AB-0785-EC79-69EF00D6C44C}"/>
              </a:ext>
            </a:extLst>
          </p:cNvPr>
          <p:cNvGrpSpPr/>
          <p:nvPr/>
        </p:nvGrpSpPr>
        <p:grpSpPr>
          <a:xfrm>
            <a:off x="1534111" y="3204297"/>
            <a:ext cx="6389629" cy="1302945"/>
            <a:chOff x="0" y="0"/>
            <a:chExt cx="3365731" cy="406400"/>
          </a:xfrm>
        </p:grpSpPr>
        <p:sp>
          <p:nvSpPr>
            <p:cNvPr id="4" name="Freeform 14">
              <a:extLst>
                <a:ext uri="{FF2B5EF4-FFF2-40B4-BE49-F238E27FC236}">
                  <a16:creationId xmlns:a16="http://schemas.microsoft.com/office/drawing/2014/main" id="{F4F13A4D-AB70-7C2D-F6B9-930D9B59D7A3}"/>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5" name="TextBox 15">
              <a:extLst>
                <a:ext uri="{FF2B5EF4-FFF2-40B4-BE49-F238E27FC236}">
                  <a16:creationId xmlns:a16="http://schemas.microsoft.com/office/drawing/2014/main" id="{1D9CFE4B-548D-05BA-16DB-95CA3CCACEE3}"/>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sp>
        <p:nvSpPr>
          <p:cNvPr id="3" name="Freeform 3"/>
          <p:cNvSpPr/>
          <p:nvPr/>
        </p:nvSpPr>
        <p:spPr>
          <a:xfrm>
            <a:off x="-1066800" y="1752294"/>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15" name="ZoneTexte 14">
            <a:extLst>
              <a:ext uri="{FF2B5EF4-FFF2-40B4-BE49-F238E27FC236}">
                <a16:creationId xmlns:a16="http://schemas.microsoft.com/office/drawing/2014/main" id="{C2AB10CF-92BF-AEFB-A85C-BED74C178E14}"/>
              </a:ext>
            </a:extLst>
          </p:cNvPr>
          <p:cNvSpPr txBox="1"/>
          <p:nvPr/>
        </p:nvSpPr>
        <p:spPr>
          <a:xfrm>
            <a:off x="5582369" y="1375959"/>
            <a:ext cx="11277600" cy="769441"/>
          </a:xfrm>
          <a:prstGeom prst="rect">
            <a:avLst/>
          </a:prstGeom>
          <a:noFill/>
        </p:spPr>
        <p:txBody>
          <a:bodyPr wrap="square" rtlCol="0">
            <a:spAutoFit/>
          </a:bodyPr>
          <a:lstStyle/>
          <a:p>
            <a:r>
              <a:rPr lang="fr-FR" sz="4400" b="1" dirty="0" err="1">
                <a:solidFill>
                  <a:schemeClr val="tx2">
                    <a:lumMod val="50000"/>
                  </a:schemeClr>
                </a:solidFill>
                <a:latin typeface="Arial Black" panose="020B0A04020102020204" pitchFamily="34" charset="0"/>
              </a:rPr>
              <a:t>Cryptographic</a:t>
            </a:r>
            <a:r>
              <a:rPr lang="fr-FR" sz="4400" b="1" dirty="0">
                <a:solidFill>
                  <a:schemeClr val="tx2">
                    <a:lumMod val="50000"/>
                  </a:schemeClr>
                </a:solidFill>
                <a:latin typeface="Arial Black" panose="020B0A04020102020204" pitchFamily="34" charset="0"/>
              </a:rPr>
              <a:t> </a:t>
            </a:r>
            <a:r>
              <a:rPr lang="fr-FR" sz="4400" b="1" dirty="0" err="1">
                <a:solidFill>
                  <a:schemeClr val="tx2">
                    <a:lumMod val="50000"/>
                  </a:schemeClr>
                </a:solidFill>
                <a:latin typeface="Arial Black" panose="020B0A04020102020204" pitchFamily="34" charset="0"/>
              </a:rPr>
              <a:t>Algorithms</a:t>
            </a:r>
            <a:endParaRPr lang="en-US" sz="4400" b="1" dirty="0">
              <a:solidFill>
                <a:schemeClr val="tx2">
                  <a:lumMod val="50000"/>
                </a:schemeClr>
              </a:solidFill>
              <a:latin typeface="Arial Black" panose="020B0A04020102020204" pitchFamily="34" charset="0"/>
            </a:endParaRPr>
          </a:p>
        </p:txBody>
      </p:sp>
      <p:sp>
        <p:nvSpPr>
          <p:cNvPr id="16" name="ZoneTexte 15">
            <a:extLst>
              <a:ext uri="{FF2B5EF4-FFF2-40B4-BE49-F238E27FC236}">
                <a16:creationId xmlns:a16="http://schemas.microsoft.com/office/drawing/2014/main" id="{194CD4A8-8D31-6B4B-CA24-C15286097DC6}"/>
              </a:ext>
            </a:extLst>
          </p:cNvPr>
          <p:cNvSpPr txBox="1"/>
          <p:nvPr/>
        </p:nvSpPr>
        <p:spPr>
          <a:xfrm>
            <a:off x="2127610" y="3482065"/>
            <a:ext cx="5181600" cy="1200329"/>
          </a:xfrm>
          <a:prstGeom prst="rect">
            <a:avLst/>
          </a:prstGeom>
          <a:noFill/>
        </p:spPr>
        <p:txBody>
          <a:bodyPr wrap="square" rtlCol="0">
            <a:spAutoFit/>
          </a:bodyPr>
          <a:lstStyle/>
          <a:p>
            <a:pPr algn="ctr"/>
            <a:r>
              <a:rPr lang="en-US" sz="3600" b="1" dirty="0">
                <a:solidFill>
                  <a:schemeClr val="bg1"/>
                </a:solidFill>
              </a:rPr>
              <a:t>AES (128-bit encryption)</a:t>
            </a:r>
            <a:endParaRPr lang="en-US" sz="3600" dirty="0">
              <a:solidFill>
                <a:schemeClr val="bg1"/>
              </a:solidFill>
            </a:endParaRPr>
          </a:p>
          <a:p>
            <a:pPr algn="ctr"/>
            <a:endParaRPr lang="en-US" sz="3600" dirty="0">
              <a:solidFill>
                <a:schemeClr val="bg1"/>
              </a:solidFill>
            </a:endParaRPr>
          </a:p>
        </p:txBody>
      </p:sp>
      <p:sp>
        <p:nvSpPr>
          <p:cNvPr id="18" name="ZoneTexte 17">
            <a:extLst>
              <a:ext uri="{FF2B5EF4-FFF2-40B4-BE49-F238E27FC236}">
                <a16:creationId xmlns:a16="http://schemas.microsoft.com/office/drawing/2014/main" id="{2C1D6896-823C-3196-4F94-469B66A4DABA}"/>
              </a:ext>
            </a:extLst>
          </p:cNvPr>
          <p:cNvSpPr txBox="1"/>
          <p:nvPr/>
        </p:nvSpPr>
        <p:spPr>
          <a:xfrm>
            <a:off x="5279948" y="5490614"/>
            <a:ext cx="6629400" cy="646331"/>
          </a:xfrm>
          <a:prstGeom prst="rect">
            <a:avLst/>
          </a:prstGeom>
          <a:noFill/>
        </p:spPr>
        <p:txBody>
          <a:bodyPr wrap="square" rtlCol="0">
            <a:spAutoFit/>
          </a:bodyPr>
          <a:lstStyle/>
          <a:p>
            <a:pPr algn="ctr"/>
            <a:r>
              <a:rPr lang="en-US" sz="3600" b="1" dirty="0">
                <a:solidFill>
                  <a:schemeClr val="bg1"/>
                </a:solidFill>
              </a:rPr>
              <a:t>DES (Data Encryption Standard)</a:t>
            </a:r>
            <a:endParaRPr lang="en-US" sz="3600" dirty="0">
              <a:solidFill>
                <a:schemeClr val="bg1"/>
              </a:solidFill>
            </a:endParaRPr>
          </a:p>
        </p:txBody>
      </p:sp>
      <p:sp>
        <p:nvSpPr>
          <p:cNvPr id="19" name="ZoneTexte 18">
            <a:extLst>
              <a:ext uri="{FF2B5EF4-FFF2-40B4-BE49-F238E27FC236}">
                <a16:creationId xmlns:a16="http://schemas.microsoft.com/office/drawing/2014/main" id="{231F0BE9-9958-303A-F505-580F5F17DABD}"/>
              </a:ext>
            </a:extLst>
          </p:cNvPr>
          <p:cNvSpPr txBox="1"/>
          <p:nvPr/>
        </p:nvSpPr>
        <p:spPr>
          <a:xfrm>
            <a:off x="9163050" y="7692722"/>
            <a:ext cx="4724400" cy="1200329"/>
          </a:xfrm>
          <a:prstGeom prst="rect">
            <a:avLst/>
          </a:prstGeom>
          <a:noFill/>
        </p:spPr>
        <p:txBody>
          <a:bodyPr wrap="square" rtlCol="0">
            <a:spAutoFit/>
          </a:bodyPr>
          <a:lstStyle/>
          <a:p>
            <a:pPr algn="ctr"/>
            <a:r>
              <a:rPr lang="en-US" sz="3600" b="1" dirty="0">
                <a:solidFill>
                  <a:schemeClr val="bg1"/>
                </a:solidFill>
              </a:rPr>
              <a:t>3DES (Triple DES)</a:t>
            </a:r>
            <a:endParaRPr lang="en-US" sz="3600" dirty="0">
              <a:solidFill>
                <a:schemeClr val="bg1"/>
              </a:solidFill>
            </a:endParaRPr>
          </a:p>
          <a:p>
            <a:pPr algn="ctr"/>
            <a:endParaRPr lang="en-US" sz="3600" dirty="0">
              <a:solidFill>
                <a:schemeClr val="bg1"/>
              </a:solidFill>
            </a:endParaRPr>
          </a:p>
        </p:txBody>
      </p:sp>
      <p:sp>
        <p:nvSpPr>
          <p:cNvPr id="25" name="TextBox 12">
            <a:extLst>
              <a:ext uri="{FF2B5EF4-FFF2-40B4-BE49-F238E27FC236}">
                <a16:creationId xmlns:a16="http://schemas.microsoft.com/office/drawing/2014/main" id="{72CA7B13-5851-6881-C80C-096E1DBA220C}"/>
              </a:ext>
            </a:extLst>
          </p:cNvPr>
          <p:cNvSpPr txBox="1"/>
          <p:nvPr/>
        </p:nvSpPr>
        <p:spPr>
          <a:xfrm>
            <a:off x="8194870" y="4643356"/>
            <a:ext cx="6389629" cy="825773"/>
          </a:xfrm>
          <a:prstGeom prst="rect">
            <a:avLst/>
          </a:prstGeom>
        </p:spPr>
        <p:txBody>
          <a:bodyPr lIns="50800" tIns="50800" rIns="50800" bIns="50800" rtlCol="0" anchor="ctr"/>
          <a:lstStyle/>
          <a:p>
            <a:pPr algn="ctr">
              <a:lnSpc>
                <a:spcPts val="2487"/>
              </a:lnSpc>
            </a:pPr>
            <a:endParaRPr/>
          </a:p>
        </p:txBody>
      </p:sp>
      <p:pic>
        <p:nvPicPr>
          <p:cNvPr id="4098" name="Picture 2" descr="Waste Vision: Improved Waste Separation and Optimized Logistics">
            <a:extLst>
              <a:ext uri="{FF2B5EF4-FFF2-40B4-BE49-F238E27FC236}">
                <a16:creationId xmlns:a16="http://schemas.microsoft.com/office/drawing/2014/main" id="{7A518F14-8084-6EF7-BEA9-DE8717FBD9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0343" y="3324858"/>
            <a:ext cx="4648311" cy="34041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2" name="Image 11">
            <a:extLst>
              <a:ext uri="{FF2B5EF4-FFF2-40B4-BE49-F238E27FC236}">
                <a16:creationId xmlns:a16="http://schemas.microsoft.com/office/drawing/2014/main" id="{5F1D99C1-31C5-4E88-4336-21B6566CD5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6487" y="5336804"/>
            <a:ext cx="4657835" cy="340417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a:extLst>
            <a:ext uri="{FF2B5EF4-FFF2-40B4-BE49-F238E27FC236}">
              <a16:creationId xmlns:a16="http://schemas.microsoft.com/office/drawing/2014/main" id="{BBFDA9A8-89A4-BFDA-72B4-E83E1051AC4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C5452F-1403-A847-9FC0-19D90F5D8506}"/>
              </a:ext>
            </a:extLst>
          </p:cNvPr>
          <p:cNvGrpSpPr/>
          <p:nvPr/>
        </p:nvGrpSpPr>
        <p:grpSpPr>
          <a:xfrm>
            <a:off x="11228009" y="53333"/>
            <a:ext cx="10371714" cy="10371714"/>
            <a:chOff x="0" y="0"/>
            <a:chExt cx="812800" cy="812800"/>
          </a:xfrm>
        </p:grpSpPr>
        <p:sp>
          <p:nvSpPr>
            <p:cNvPr id="3" name="Freeform 3">
              <a:extLst>
                <a:ext uri="{FF2B5EF4-FFF2-40B4-BE49-F238E27FC236}">
                  <a16:creationId xmlns:a16="http://schemas.microsoft.com/office/drawing/2014/main" id="{58B36E26-FE16-B7F8-BB12-8F980C0ABD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txBody>
            <a:bodyPr/>
            <a:lstStyle/>
            <a:p>
              <a:endParaRPr lang="en-US" dirty="0"/>
            </a:p>
          </p:txBody>
        </p:sp>
        <p:sp>
          <p:nvSpPr>
            <p:cNvPr id="4" name="TextBox 4">
              <a:extLst>
                <a:ext uri="{FF2B5EF4-FFF2-40B4-BE49-F238E27FC236}">
                  <a16:creationId xmlns:a16="http://schemas.microsoft.com/office/drawing/2014/main" id="{EA9CD92B-8DBF-6176-994C-AD3470BAD62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5DB0A04B-35FD-3AA7-2B23-76DD1E6D0734}"/>
              </a:ext>
            </a:extLst>
          </p:cNvPr>
          <p:cNvGrpSpPr/>
          <p:nvPr/>
        </p:nvGrpSpPr>
        <p:grpSpPr>
          <a:xfrm rot="10407285">
            <a:off x="-5710435" y="-188170"/>
            <a:ext cx="10371714" cy="10371714"/>
            <a:chOff x="0" y="0"/>
            <a:chExt cx="812800" cy="812800"/>
          </a:xfrm>
        </p:grpSpPr>
        <p:sp>
          <p:nvSpPr>
            <p:cNvPr id="7" name="Freeform 7">
              <a:extLst>
                <a:ext uri="{FF2B5EF4-FFF2-40B4-BE49-F238E27FC236}">
                  <a16:creationId xmlns:a16="http://schemas.microsoft.com/office/drawing/2014/main" id="{7FF05569-8B19-456B-CAE7-56A1EB5DDD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8" name="TextBox 8">
              <a:extLst>
                <a:ext uri="{FF2B5EF4-FFF2-40B4-BE49-F238E27FC236}">
                  <a16:creationId xmlns:a16="http://schemas.microsoft.com/office/drawing/2014/main" id="{1446E371-542F-F4BF-AC0C-CEAA6F68A08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D452AB1B-6914-2903-F9E8-DD2C9EBB6B5B}"/>
              </a:ext>
            </a:extLst>
          </p:cNvPr>
          <p:cNvSpPr txBox="1"/>
          <p:nvPr/>
        </p:nvSpPr>
        <p:spPr>
          <a:xfrm>
            <a:off x="4710115" y="449094"/>
            <a:ext cx="16718566" cy="1579278"/>
          </a:xfrm>
          <a:prstGeom prst="rect">
            <a:avLst/>
          </a:prstGeom>
        </p:spPr>
        <p:txBody>
          <a:bodyPr wrap="square" lIns="0" tIns="0" rIns="0" bIns="0" rtlCol="0" anchor="t">
            <a:spAutoFit/>
          </a:bodyPr>
          <a:lstStyle/>
          <a:p>
            <a:pPr>
              <a:lnSpc>
                <a:spcPts val="14469"/>
              </a:lnSpc>
              <a:spcBef>
                <a:spcPct val="0"/>
              </a:spcBef>
            </a:pPr>
            <a:r>
              <a:rPr lang="fr-FR" sz="4800" b="1" dirty="0" err="1">
                <a:solidFill>
                  <a:schemeClr val="tx2">
                    <a:lumMod val="50000"/>
                  </a:schemeClr>
                </a:solidFill>
              </a:rPr>
              <a:t>Known</a:t>
            </a:r>
            <a:r>
              <a:rPr lang="fr-FR" sz="4800" b="1" dirty="0">
                <a:solidFill>
                  <a:schemeClr val="tx2">
                    <a:lumMod val="50000"/>
                  </a:schemeClr>
                </a:solidFill>
              </a:rPr>
              <a:t> </a:t>
            </a:r>
            <a:r>
              <a:rPr lang="fr-FR" sz="4800" b="1" dirty="0" err="1">
                <a:solidFill>
                  <a:schemeClr val="tx2">
                    <a:lumMod val="50000"/>
                  </a:schemeClr>
                </a:solidFill>
              </a:rPr>
              <a:t>Vulnerabilities</a:t>
            </a:r>
            <a:r>
              <a:rPr lang="fr-FR" sz="4800" b="1" dirty="0">
                <a:solidFill>
                  <a:schemeClr val="tx2">
                    <a:lumMod val="50000"/>
                  </a:schemeClr>
                </a:solidFill>
              </a:rPr>
              <a:t> (</a:t>
            </a:r>
            <a:r>
              <a:rPr lang="fr-FR" sz="4800" b="1" dirty="0" err="1">
                <a:solidFill>
                  <a:schemeClr val="tx2">
                    <a:lumMod val="50000"/>
                  </a:schemeClr>
                </a:solidFill>
              </a:rPr>
              <a:t>Attacks</a:t>
            </a:r>
            <a:r>
              <a:rPr lang="fr-FR" sz="4800" b="1" dirty="0">
                <a:solidFill>
                  <a:schemeClr val="tx2">
                    <a:lumMod val="50000"/>
                  </a:schemeClr>
                </a:solidFill>
              </a:rPr>
              <a:t>)</a:t>
            </a:r>
            <a:endParaRPr lang="en-US" sz="4800" b="1" spc="-475" dirty="0">
              <a:solidFill>
                <a:schemeClr val="tx2">
                  <a:lumMod val="50000"/>
                </a:schemeClr>
              </a:solidFill>
              <a:latin typeface="Garet Bold"/>
              <a:ea typeface="Garet Bold"/>
              <a:cs typeface="Garet Bold"/>
              <a:sym typeface="Garet Bold"/>
            </a:endParaRPr>
          </a:p>
        </p:txBody>
      </p:sp>
      <p:sp>
        <p:nvSpPr>
          <p:cNvPr id="16" name="AutoShape 2" descr="Image générée">
            <a:extLst>
              <a:ext uri="{FF2B5EF4-FFF2-40B4-BE49-F238E27FC236}">
                <a16:creationId xmlns:a16="http://schemas.microsoft.com/office/drawing/2014/main" id="{17346FCA-04FD-D6F7-80AE-B3AB3F4852C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 name="Image 16">
            <a:extLst>
              <a:ext uri="{FF2B5EF4-FFF2-40B4-BE49-F238E27FC236}">
                <a16:creationId xmlns:a16="http://schemas.microsoft.com/office/drawing/2014/main" id="{B0E4CF53-7503-86A2-64DC-09B8862897E2}"/>
              </a:ext>
            </a:extLst>
          </p:cNvPr>
          <p:cNvPicPr>
            <a:picLocks noChangeAspect="1"/>
          </p:cNvPicPr>
          <p:nvPr/>
        </p:nvPicPr>
        <p:blipFill>
          <a:blip r:embed="rId2"/>
          <a:srcRect l="2101" t="2737" r="1975" b="26758"/>
          <a:stretch>
            <a:fillRect/>
          </a:stretch>
        </p:blipFill>
        <p:spPr>
          <a:xfrm>
            <a:off x="990600" y="2303117"/>
            <a:ext cx="16306800" cy="772289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839969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a:extLst>
            <a:ext uri="{FF2B5EF4-FFF2-40B4-BE49-F238E27FC236}">
              <a16:creationId xmlns:a16="http://schemas.microsoft.com/office/drawing/2014/main" id="{CC3BCB41-9BEF-05BA-AF4C-7D200EFBDF4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C899A70-83A0-6F39-E870-9C7CFB191F1C}"/>
              </a:ext>
            </a:extLst>
          </p:cNvPr>
          <p:cNvGrpSpPr/>
          <p:nvPr/>
        </p:nvGrpSpPr>
        <p:grpSpPr>
          <a:xfrm>
            <a:off x="11228009" y="53333"/>
            <a:ext cx="10371714" cy="10371714"/>
            <a:chOff x="0" y="0"/>
            <a:chExt cx="812800" cy="812800"/>
          </a:xfrm>
        </p:grpSpPr>
        <p:sp>
          <p:nvSpPr>
            <p:cNvPr id="3" name="Freeform 3">
              <a:extLst>
                <a:ext uri="{FF2B5EF4-FFF2-40B4-BE49-F238E27FC236}">
                  <a16:creationId xmlns:a16="http://schemas.microsoft.com/office/drawing/2014/main" id="{834277FE-18B7-44A0-75CE-0B37676482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txBody>
            <a:bodyPr/>
            <a:lstStyle/>
            <a:p>
              <a:endParaRPr lang="en-US" dirty="0"/>
            </a:p>
          </p:txBody>
        </p:sp>
        <p:sp>
          <p:nvSpPr>
            <p:cNvPr id="4" name="TextBox 4">
              <a:extLst>
                <a:ext uri="{FF2B5EF4-FFF2-40B4-BE49-F238E27FC236}">
                  <a16:creationId xmlns:a16="http://schemas.microsoft.com/office/drawing/2014/main" id="{4DA95EB2-CEC0-3BAA-ACBE-7BAF30E3D4B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E7F004D4-84CF-7B28-F322-5CCA2D562330}"/>
              </a:ext>
            </a:extLst>
          </p:cNvPr>
          <p:cNvGrpSpPr/>
          <p:nvPr/>
        </p:nvGrpSpPr>
        <p:grpSpPr>
          <a:xfrm rot="10407285">
            <a:off x="-5710435" y="-188170"/>
            <a:ext cx="10371714" cy="10371714"/>
            <a:chOff x="0" y="0"/>
            <a:chExt cx="812800" cy="812800"/>
          </a:xfrm>
        </p:grpSpPr>
        <p:sp>
          <p:nvSpPr>
            <p:cNvPr id="7" name="Freeform 7">
              <a:extLst>
                <a:ext uri="{FF2B5EF4-FFF2-40B4-BE49-F238E27FC236}">
                  <a16:creationId xmlns:a16="http://schemas.microsoft.com/office/drawing/2014/main" id="{39153B9C-ADED-F748-FFA7-A94AB5EFE1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8" name="TextBox 8">
              <a:extLst>
                <a:ext uri="{FF2B5EF4-FFF2-40B4-BE49-F238E27FC236}">
                  <a16:creationId xmlns:a16="http://schemas.microsoft.com/office/drawing/2014/main" id="{DC6FA91D-4401-0EB3-71C6-CF4CB75330F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5ADC7ABB-B403-B0E6-8AEB-769A1DA26AD6}"/>
              </a:ext>
            </a:extLst>
          </p:cNvPr>
          <p:cNvSpPr txBox="1"/>
          <p:nvPr/>
        </p:nvSpPr>
        <p:spPr>
          <a:xfrm>
            <a:off x="5638800" y="291827"/>
            <a:ext cx="16718566" cy="1625445"/>
          </a:xfrm>
          <a:prstGeom prst="rect">
            <a:avLst/>
          </a:prstGeom>
        </p:spPr>
        <p:txBody>
          <a:bodyPr wrap="square" lIns="0" tIns="0" rIns="0" bIns="0" rtlCol="0" anchor="t">
            <a:spAutoFit/>
          </a:bodyPr>
          <a:lstStyle/>
          <a:p>
            <a:pPr>
              <a:lnSpc>
                <a:spcPts val="14469"/>
              </a:lnSpc>
              <a:spcBef>
                <a:spcPct val="0"/>
              </a:spcBef>
            </a:pPr>
            <a:r>
              <a:rPr lang="fr-FR" sz="6000" b="1" dirty="0">
                <a:solidFill>
                  <a:schemeClr val="tx2">
                    <a:lumMod val="50000"/>
                  </a:schemeClr>
                </a:solidFill>
              </a:rPr>
              <a:t>Applications of NFC</a:t>
            </a:r>
            <a:endParaRPr lang="en-US" sz="6000" b="1" spc="-475" dirty="0">
              <a:solidFill>
                <a:schemeClr val="tx2">
                  <a:lumMod val="50000"/>
                </a:schemeClr>
              </a:solidFill>
              <a:latin typeface="Garet Bold"/>
              <a:ea typeface="Garet Bold"/>
              <a:cs typeface="Garet Bold"/>
              <a:sym typeface="Garet Bold"/>
            </a:endParaRPr>
          </a:p>
        </p:txBody>
      </p:sp>
      <p:sp>
        <p:nvSpPr>
          <p:cNvPr id="16" name="AutoShape 2" descr="Image générée">
            <a:extLst>
              <a:ext uri="{FF2B5EF4-FFF2-40B4-BE49-F238E27FC236}">
                <a16:creationId xmlns:a16="http://schemas.microsoft.com/office/drawing/2014/main" id="{6F33FC44-3A69-790A-5B50-426C5891F2D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Image 8">
            <a:extLst>
              <a:ext uri="{FF2B5EF4-FFF2-40B4-BE49-F238E27FC236}">
                <a16:creationId xmlns:a16="http://schemas.microsoft.com/office/drawing/2014/main" id="{46BBD04D-AE5A-0C76-9DEF-A77A5E783B06}"/>
              </a:ext>
            </a:extLst>
          </p:cNvPr>
          <p:cNvPicPr>
            <a:picLocks noChangeAspect="1"/>
          </p:cNvPicPr>
          <p:nvPr/>
        </p:nvPicPr>
        <p:blipFill>
          <a:blip r:embed="rId2"/>
          <a:stretch>
            <a:fillRect/>
          </a:stretch>
        </p:blipFill>
        <p:spPr>
          <a:xfrm>
            <a:off x="685800" y="2164952"/>
            <a:ext cx="16916400" cy="779069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8176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sp>
        <p:nvSpPr>
          <p:cNvPr id="3" name="Freeform 3"/>
          <p:cNvSpPr/>
          <p:nvPr/>
        </p:nvSpPr>
        <p:spPr>
          <a:xfrm>
            <a:off x="-1104900" y="2621180"/>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5250385" y="7709520"/>
            <a:ext cx="4017831" cy="701294"/>
          </a:xfrm>
          <a:custGeom>
            <a:avLst/>
            <a:gdLst/>
            <a:ahLst/>
            <a:cxnLst/>
            <a:rect l="l" t="t" r="r" b="b"/>
            <a:pathLst>
              <a:path w="4017831" h="701294">
                <a:moveTo>
                  <a:pt x="0" y="0"/>
                </a:moveTo>
                <a:lnTo>
                  <a:pt x="4017830" y="0"/>
                </a:lnTo>
                <a:lnTo>
                  <a:pt x="4017830" y="701294"/>
                </a:lnTo>
                <a:lnTo>
                  <a:pt x="0" y="701294"/>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sp>
      <p:sp>
        <p:nvSpPr>
          <p:cNvPr id="5" name="Freeform 5"/>
          <p:cNvSpPr/>
          <p:nvPr/>
        </p:nvSpPr>
        <p:spPr>
          <a:xfrm>
            <a:off x="14442603" y="534607"/>
            <a:ext cx="4444454" cy="2230308"/>
          </a:xfrm>
          <a:custGeom>
            <a:avLst/>
            <a:gdLst/>
            <a:ahLst/>
            <a:cxnLst/>
            <a:rect l="l" t="t" r="r" b="b"/>
            <a:pathLst>
              <a:path w="4444454" h="2230308">
                <a:moveTo>
                  <a:pt x="0" y="0"/>
                </a:moveTo>
                <a:lnTo>
                  <a:pt x="4444454" y="0"/>
                </a:lnTo>
                <a:lnTo>
                  <a:pt x="4444454" y="2230308"/>
                </a:lnTo>
                <a:lnTo>
                  <a:pt x="0" y="22303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0" name="TextBox 10"/>
          <p:cNvSpPr txBox="1"/>
          <p:nvPr/>
        </p:nvSpPr>
        <p:spPr>
          <a:xfrm>
            <a:off x="3244159" y="4026565"/>
            <a:ext cx="16040099" cy="4985980"/>
          </a:xfrm>
          <a:prstGeom prst="rect">
            <a:avLst/>
          </a:prstGeom>
        </p:spPr>
        <p:txBody>
          <a:bodyPr wrap="square" lIns="0" tIns="0" rIns="0" bIns="0" rtlCol="0" anchor="t">
            <a:spAutoFit/>
          </a:bodyPr>
          <a:lstStyle/>
          <a:p>
            <a:pPr marL="685800" indent="-685800">
              <a:buFont typeface="Wingdings" panose="05000000000000000000" pitchFamily="2" charset="2"/>
              <a:buChar char="§"/>
            </a:pPr>
            <a:r>
              <a:rPr lang="en-US" sz="5400" dirty="0">
                <a:solidFill>
                  <a:schemeClr val="bg1"/>
                </a:solidFill>
              </a:rPr>
              <a:t>Easy payments with smartphones </a:t>
            </a:r>
          </a:p>
          <a:p>
            <a:pPr marL="685800" indent="-685800">
              <a:buFont typeface="Wingdings" panose="05000000000000000000" pitchFamily="2" charset="2"/>
              <a:buChar char="§"/>
            </a:pPr>
            <a:r>
              <a:rPr lang="en-US" sz="5400" dirty="0">
                <a:solidFill>
                  <a:schemeClr val="bg1"/>
                </a:solidFill>
              </a:rPr>
              <a:t>Used in banking, tickets, and access control </a:t>
            </a:r>
          </a:p>
          <a:p>
            <a:pPr marL="685800" indent="-685800">
              <a:buFont typeface="Wingdings" panose="05000000000000000000" pitchFamily="2" charset="2"/>
              <a:buChar char="§"/>
            </a:pPr>
            <a:r>
              <a:rPr lang="en-US" sz="5400" dirty="0">
                <a:solidFill>
                  <a:schemeClr val="bg1"/>
                </a:solidFill>
              </a:rPr>
              <a:t>Secure (PIN + encryption) </a:t>
            </a:r>
          </a:p>
          <a:p>
            <a:pPr marL="685800" indent="-685800">
              <a:buFont typeface="Wingdings" panose="05000000000000000000" pitchFamily="2" charset="2"/>
              <a:buChar char="§"/>
            </a:pPr>
            <a:r>
              <a:rPr lang="en-US" sz="5400" dirty="0">
                <a:solidFill>
                  <a:schemeClr val="bg1"/>
                </a:solidFill>
              </a:rPr>
              <a:t>No pairing required </a:t>
            </a:r>
          </a:p>
          <a:p>
            <a:pPr marL="685800" indent="-685800">
              <a:buFont typeface="Wingdings" panose="05000000000000000000" pitchFamily="2" charset="2"/>
              <a:buChar char="§"/>
            </a:pPr>
            <a:r>
              <a:rPr lang="en-US" sz="5400" dirty="0">
                <a:solidFill>
                  <a:schemeClr val="bg1"/>
                </a:solidFill>
              </a:rPr>
              <a:t>Works without extra setup </a:t>
            </a:r>
          </a:p>
          <a:p>
            <a:pPr marL="685800" indent="-685800">
              <a:buFont typeface="Wingdings" panose="05000000000000000000" pitchFamily="2" charset="2"/>
              <a:buChar char="§"/>
            </a:pPr>
            <a:r>
              <a:rPr lang="en-US" sz="5400" dirty="0">
                <a:solidFill>
                  <a:schemeClr val="bg1"/>
                </a:solidFill>
              </a:rPr>
              <a:t>Compatible with RFID systems </a:t>
            </a:r>
          </a:p>
        </p:txBody>
      </p:sp>
      <p:sp>
        <p:nvSpPr>
          <p:cNvPr id="11" name="Freeform 11"/>
          <p:cNvSpPr/>
          <p:nvPr/>
        </p:nvSpPr>
        <p:spPr>
          <a:xfrm flipH="1">
            <a:off x="-495207" y="1856673"/>
            <a:ext cx="4444454" cy="2230308"/>
          </a:xfrm>
          <a:custGeom>
            <a:avLst/>
            <a:gdLst/>
            <a:ahLst/>
            <a:cxnLst/>
            <a:rect l="l" t="t" r="r" b="b"/>
            <a:pathLst>
              <a:path w="4444454" h="2230308">
                <a:moveTo>
                  <a:pt x="4444454" y="0"/>
                </a:moveTo>
                <a:lnTo>
                  <a:pt x="0" y="0"/>
                </a:lnTo>
                <a:lnTo>
                  <a:pt x="0" y="2230308"/>
                </a:lnTo>
                <a:lnTo>
                  <a:pt x="4444454" y="2230308"/>
                </a:lnTo>
                <a:lnTo>
                  <a:pt x="4444454"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ZoneTexte 15">
            <a:extLst>
              <a:ext uri="{FF2B5EF4-FFF2-40B4-BE49-F238E27FC236}">
                <a16:creationId xmlns:a16="http://schemas.microsoft.com/office/drawing/2014/main" id="{79CE8267-7946-3167-1B19-BEC527B9A052}"/>
              </a:ext>
            </a:extLst>
          </p:cNvPr>
          <p:cNvSpPr txBox="1"/>
          <p:nvPr/>
        </p:nvSpPr>
        <p:spPr>
          <a:xfrm>
            <a:off x="6400800" y="1368354"/>
            <a:ext cx="9296400" cy="1015663"/>
          </a:xfrm>
          <a:prstGeom prst="rect">
            <a:avLst/>
          </a:prstGeom>
          <a:noFill/>
        </p:spPr>
        <p:txBody>
          <a:bodyPr wrap="square" rtlCol="0">
            <a:spAutoFit/>
          </a:bodyPr>
          <a:lstStyle/>
          <a:p>
            <a:r>
              <a:rPr lang="fr-FR" sz="6000" b="1" dirty="0" err="1">
                <a:solidFill>
                  <a:schemeClr val="tx2">
                    <a:lumMod val="50000"/>
                  </a:schemeClr>
                </a:solidFill>
              </a:rPr>
              <a:t>Benefits</a:t>
            </a:r>
            <a:r>
              <a:rPr lang="fr-FR" sz="6000" b="1" dirty="0">
                <a:solidFill>
                  <a:schemeClr val="tx2">
                    <a:lumMod val="50000"/>
                  </a:schemeClr>
                </a:solidFill>
              </a:rPr>
              <a:t> of NFC</a:t>
            </a:r>
            <a:endParaRPr lang="en-US" sz="6000" b="1" dirty="0">
              <a:solidFill>
                <a:schemeClr val="tx2">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a:extLst>
            <a:ext uri="{FF2B5EF4-FFF2-40B4-BE49-F238E27FC236}">
              <a16:creationId xmlns:a16="http://schemas.microsoft.com/office/drawing/2014/main" id="{E7356B2C-A25A-7AB9-A488-FA08879B027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5F721666-0681-EE20-6446-8322C0A798E6}"/>
              </a:ext>
            </a:extLst>
          </p:cNvPr>
          <p:cNvSpPr/>
          <p:nvPr/>
        </p:nvSpPr>
        <p:spPr>
          <a:xfrm>
            <a:off x="-1104900" y="2621180"/>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010C9017-5C79-6EAF-1239-545C72D3B681}"/>
              </a:ext>
            </a:extLst>
          </p:cNvPr>
          <p:cNvSpPr/>
          <p:nvPr/>
        </p:nvSpPr>
        <p:spPr>
          <a:xfrm>
            <a:off x="15250385" y="7709520"/>
            <a:ext cx="4017831" cy="701294"/>
          </a:xfrm>
          <a:custGeom>
            <a:avLst/>
            <a:gdLst/>
            <a:ahLst/>
            <a:cxnLst/>
            <a:rect l="l" t="t" r="r" b="b"/>
            <a:pathLst>
              <a:path w="4017831" h="701294">
                <a:moveTo>
                  <a:pt x="0" y="0"/>
                </a:moveTo>
                <a:lnTo>
                  <a:pt x="4017830" y="0"/>
                </a:lnTo>
                <a:lnTo>
                  <a:pt x="4017830" y="701294"/>
                </a:lnTo>
                <a:lnTo>
                  <a:pt x="0" y="701294"/>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97B775FB-3962-1507-5832-06108C01480A}"/>
              </a:ext>
            </a:extLst>
          </p:cNvPr>
          <p:cNvSpPr/>
          <p:nvPr/>
        </p:nvSpPr>
        <p:spPr>
          <a:xfrm>
            <a:off x="14442603" y="534607"/>
            <a:ext cx="4444454" cy="2230308"/>
          </a:xfrm>
          <a:custGeom>
            <a:avLst/>
            <a:gdLst/>
            <a:ahLst/>
            <a:cxnLst/>
            <a:rect l="l" t="t" r="r" b="b"/>
            <a:pathLst>
              <a:path w="4444454" h="2230308">
                <a:moveTo>
                  <a:pt x="0" y="0"/>
                </a:moveTo>
                <a:lnTo>
                  <a:pt x="4444454" y="0"/>
                </a:lnTo>
                <a:lnTo>
                  <a:pt x="4444454" y="2230308"/>
                </a:lnTo>
                <a:lnTo>
                  <a:pt x="0" y="22303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0" name="TextBox 10">
            <a:extLst>
              <a:ext uri="{FF2B5EF4-FFF2-40B4-BE49-F238E27FC236}">
                <a16:creationId xmlns:a16="http://schemas.microsoft.com/office/drawing/2014/main" id="{B9D8B65F-341D-3211-261C-774CEE76DCF5}"/>
              </a:ext>
            </a:extLst>
          </p:cNvPr>
          <p:cNvSpPr txBox="1"/>
          <p:nvPr/>
        </p:nvSpPr>
        <p:spPr>
          <a:xfrm>
            <a:off x="1371600" y="4125081"/>
            <a:ext cx="16040099" cy="4154984"/>
          </a:xfrm>
          <a:prstGeom prst="rect">
            <a:avLst/>
          </a:prstGeom>
        </p:spPr>
        <p:txBody>
          <a:bodyPr wrap="square" lIns="0" tIns="0" rIns="0" bIns="0" rtlCol="0" anchor="t">
            <a:spAutoFit/>
          </a:bodyPr>
          <a:lstStyle/>
          <a:p>
            <a:pPr marL="571500" indent="-571500">
              <a:buFont typeface="Wingdings" panose="05000000000000000000" pitchFamily="2" charset="2"/>
              <a:buChar char="§"/>
            </a:pPr>
            <a:r>
              <a:rPr lang="en-US" sz="5400" dirty="0">
                <a:solidFill>
                  <a:schemeClr val="bg1"/>
                </a:solidFill>
              </a:rPr>
              <a:t>Short operating range  </a:t>
            </a:r>
          </a:p>
          <a:p>
            <a:pPr marL="571500" indent="-571500">
              <a:buFont typeface="Wingdings" panose="05000000000000000000" pitchFamily="2" charset="2"/>
              <a:buChar char="§"/>
            </a:pPr>
            <a:r>
              <a:rPr lang="en-US" sz="5400" dirty="0">
                <a:solidFill>
                  <a:schemeClr val="bg1"/>
                </a:solidFill>
              </a:rPr>
              <a:t>Low data transfer rates (106, 212, 424 Kbps) </a:t>
            </a:r>
          </a:p>
          <a:p>
            <a:pPr marL="571500" indent="-571500">
              <a:buFont typeface="Wingdings" panose="05000000000000000000" pitchFamily="2" charset="2"/>
              <a:buChar char="§"/>
            </a:pPr>
            <a:r>
              <a:rPr lang="en-US" sz="5400" dirty="0">
                <a:solidFill>
                  <a:schemeClr val="bg1"/>
                </a:solidFill>
              </a:rPr>
              <a:t>Costly for companies to adopt </a:t>
            </a:r>
          </a:p>
          <a:p>
            <a:pPr marL="571500" indent="-571500">
              <a:buFont typeface="Wingdings" panose="05000000000000000000" pitchFamily="2" charset="2"/>
              <a:buChar char="§"/>
            </a:pPr>
            <a:r>
              <a:rPr lang="en-US" sz="5400" dirty="0">
                <a:solidFill>
                  <a:schemeClr val="bg1"/>
                </a:solidFill>
              </a:rPr>
              <a:t>Can be relatively complex to use compared to simpler technologies </a:t>
            </a:r>
          </a:p>
        </p:txBody>
      </p:sp>
      <p:sp>
        <p:nvSpPr>
          <p:cNvPr id="11" name="Freeform 11">
            <a:extLst>
              <a:ext uri="{FF2B5EF4-FFF2-40B4-BE49-F238E27FC236}">
                <a16:creationId xmlns:a16="http://schemas.microsoft.com/office/drawing/2014/main" id="{0219A86D-1F53-DE8E-49BE-7BE07DC807A5}"/>
              </a:ext>
            </a:extLst>
          </p:cNvPr>
          <p:cNvSpPr/>
          <p:nvPr/>
        </p:nvSpPr>
        <p:spPr>
          <a:xfrm flipH="1">
            <a:off x="-495207" y="1856673"/>
            <a:ext cx="4444454" cy="2230308"/>
          </a:xfrm>
          <a:custGeom>
            <a:avLst/>
            <a:gdLst/>
            <a:ahLst/>
            <a:cxnLst/>
            <a:rect l="l" t="t" r="r" b="b"/>
            <a:pathLst>
              <a:path w="4444454" h="2230308">
                <a:moveTo>
                  <a:pt x="4444454" y="0"/>
                </a:moveTo>
                <a:lnTo>
                  <a:pt x="0" y="0"/>
                </a:lnTo>
                <a:lnTo>
                  <a:pt x="0" y="2230308"/>
                </a:lnTo>
                <a:lnTo>
                  <a:pt x="4444454" y="2230308"/>
                </a:lnTo>
                <a:lnTo>
                  <a:pt x="4444454"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ZoneTexte 15">
            <a:extLst>
              <a:ext uri="{FF2B5EF4-FFF2-40B4-BE49-F238E27FC236}">
                <a16:creationId xmlns:a16="http://schemas.microsoft.com/office/drawing/2014/main" id="{64AA4E14-5796-9CD8-9610-CB7F108EB3DF}"/>
              </a:ext>
            </a:extLst>
          </p:cNvPr>
          <p:cNvSpPr txBox="1"/>
          <p:nvPr/>
        </p:nvSpPr>
        <p:spPr>
          <a:xfrm>
            <a:off x="5791200" y="1610279"/>
            <a:ext cx="9296400" cy="1015663"/>
          </a:xfrm>
          <a:prstGeom prst="rect">
            <a:avLst/>
          </a:prstGeom>
          <a:noFill/>
        </p:spPr>
        <p:txBody>
          <a:bodyPr wrap="square" rtlCol="0">
            <a:spAutoFit/>
          </a:bodyPr>
          <a:lstStyle/>
          <a:p>
            <a:r>
              <a:rPr lang="fr-FR" sz="6000" b="1" dirty="0"/>
              <a:t>Limitations of NFC</a:t>
            </a:r>
            <a:endParaRPr lang="en-US" sz="6000" b="1" dirty="0">
              <a:solidFill>
                <a:schemeClr val="tx2">
                  <a:lumMod val="50000"/>
                </a:schemeClr>
              </a:solidFill>
            </a:endParaRPr>
          </a:p>
        </p:txBody>
      </p:sp>
    </p:spTree>
    <p:extLst>
      <p:ext uri="{BB962C8B-B14F-4D97-AF65-F5344CB8AC3E}">
        <p14:creationId xmlns:p14="http://schemas.microsoft.com/office/powerpoint/2010/main" val="4090491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a:extLst>
            <a:ext uri="{FF2B5EF4-FFF2-40B4-BE49-F238E27FC236}">
              <a16:creationId xmlns:a16="http://schemas.microsoft.com/office/drawing/2014/main" id="{A5375FC7-9115-DE07-587A-4DD40880264B}"/>
            </a:ext>
          </a:extLst>
        </p:cNvPr>
        <p:cNvGrpSpPr/>
        <p:nvPr/>
      </p:nvGrpSpPr>
      <p:grpSpPr>
        <a:xfrm>
          <a:off x="0" y="0"/>
          <a:ext cx="0" cy="0"/>
          <a:chOff x="0" y="0"/>
          <a:chExt cx="0" cy="0"/>
        </a:xfrm>
      </p:grpSpPr>
      <p:pic>
        <p:nvPicPr>
          <p:cNvPr id="16" name="Image 15">
            <a:extLst>
              <a:ext uri="{FF2B5EF4-FFF2-40B4-BE49-F238E27FC236}">
                <a16:creationId xmlns:a16="http://schemas.microsoft.com/office/drawing/2014/main" id="{574051E7-4013-1E2A-7542-7979B1824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90500"/>
            <a:ext cx="7543800" cy="10744200"/>
          </a:xfrm>
          <a:prstGeom prst="rect">
            <a:avLst/>
          </a:prstGeom>
          <a:ln>
            <a:noFill/>
          </a:ln>
          <a:effectLst>
            <a:softEdge rad="112500"/>
          </a:effectLst>
        </p:spPr>
      </p:pic>
      <p:sp>
        <p:nvSpPr>
          <p:cNvPr id="5" name="Freeform 5">
            <a:extLst>
              <a:ext uri="{FF2B5EF4-FFF2-40B4-BE49-F238E27FC236}">
                <a16:creationId xmlns:a16="http://schemas.microsoft.com/office/drawing/2014/main" id="{6EE95383-44FC-B6CE-503D-92128A2F803A}"/>
              </a:ext>
            </a:extLst>
          </p:cNvPr>
          <p:cNvSpPr/>
          <p:nvPr/>
        </p:nvSpPr>
        <p:spPr>
          <a:xfrm>
            <a:off x="-1104900" y="2621180"/>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sp>
      <p:grpSp>
        <p:nvGrpSpPr>
          <p:cNvPr id="17" name="Group 13">
            <a:extLst>
              <a:ext uri="{FF2B5EF4-FFF2-40B4-BE49-F238E27FC236}">
                <a16:creationId xmlns:a16="http://schemas.microsoft.com/office/drawing/2014/main" id="{D7F110BB-29EF-B25E-09FF-2EC63DD21FF7}"/>
              </a:ext>
            </a:extLst>
          </p:cNvPr>
          <p:cNvGrpSpPr/>
          <p:nvPr/>
        </p:nvGrpSpPr>
        <p:grpSpPr>
          <a:xfrm rot="10800000">
            <a:off x="5645014" y="4533901"/>
            <a:ext cx="11571230" cy="4016251"/>
            <a:chOff x="0" y="0"/>
            <a:chExt cx="3365731" cy="406400"/>
          </a:xfrm>
        </p:grpSpPr>
        <p:sp>
          <p:nvSpPr>
            <p:cNvPr id="18" name="Freeform 14">
              <a:extLst>
                <a:ext uri="{FF2B5EF4-FFF2-40B4-BE49-F238E27FC236}">
                  <a16:creationId xmlns:a16="http://schemas.microsoft.com/office/drawing/2014/main" id="{C81DAF9C-23EA-D76B-EEA4-2B1A3A792636}"/>
                </a:ext>
              </a:extLst>
            </p:cNvPr>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9" name="TextBox 15">
              <a:extLst>
                <a:ext uri="{FF2B5EF4-FFF2-40B4-BE49-F238E27FC236}">
                  <a16:creationId xmlns:a16="http://schemas.microsoft.com/office/drawing/2014/main" id="{9976E3C9-829B-ED9D-F269-FC452CDED63B}"/>
                </a:ext>
              </a:extLst>
            </p:cNvPr>
            <p:cNvSpPr txBox="1"/>
            <p:nvPr/>
          </p:nvSpPr>
          <p:spPr>
            <a:xfrm>
              <a:off x="0" y="-28575"/>
              <a:ext cx="3365731" cy="434975"/>
            </a:xfrm>
            <a:prstGeom prst="rect">
              <a:avLst/>
            </a:prstGeom>
          </p:spPr>
          <p:txBody>
            <a:bodyPr lIns="50800" tIns="50800" rIns="50800" bIns="50800" rtlCol="0" anchor="ctr"/>
            <a:lstStyle/>
            <a:p>
              <a:pPr algn="ctr">
                <a:lnSpc>
                  <a:spcPts val="2487"/>
                </a:lnSpc>
              </a:pPr>
              <a:endParaRPr/>
            </a:p>
          </p:txBody>
        </p:sp>
      </p:grpSp>
      <p:sp>
        <p:nvSpPr>
          <p:cNvPr id="13" name="TextBox 13">
            <a:extLst>
              <a:ext uri="{FF2B5EF4-FFF2-40B4-BE49-F238E27FC236}">
                <a16:creationId xmlns:a16="http://schemas.microsoft.com/office/drawing/2014/main" id="{2A5CF444-894F-60C3-CFAA-D45356633A0C}"/>
              </a:ext>
            </a:extLst>
          </p:cNvPr>
          <p:cNvSpPr txBox="1"/>
          <p:nvPr/>
        </p:nvSpPr>
        <p:spPr>
          <a:xfrm>
            <a:off x="6477000" y="5269111"/>
            <a:ext cx="9907259" cy="2769989"/>
          </a:xfrm>
          <a:prstGeom prst="rect">
            <a:avLst/>
          </a:prstGeom>
        </p:spPr>
        <p:txBody>
          <a:bodyPr wrap="square" lIns="0" tIns="0" rIns="0" bIns="0" rtlCol="0" anchor="t">
            <a:spAutoFit/>
          </a:bodyPr>
          <a:lstStyle/>
          <a:p>
            <a:r>
              <a:rPr lang="en-US" sz="3600" dirty="0">
                <a:solidFill>
                  <a:schemeClr val="bg1"/>
                </a:solidFill>
              </a:rPr>
              <a:t>Near Field Communication (NFC) is a short-range wireless technology that enables fast and secure communication. It is widely used in mobile payments and data transfer. Despite its short range and low speed, NFC remains simple, secure, and widely used.</a:t>
            </a:r>
          </a:p>
        </p:txBody>
      </p:sp>
      <p:grpSp>
        <p:nvGrpSpPr>
          <p:cNvPr id="20" name="Group 23">
            <a:extLst>
              <a:ext uri="{FF2B5EF4-FFF2-40B4-BE49-F238E27FC236}">
                <a16:creationId xmlns:a16="http://schemas.microsoft.com/office/drawing/2014/main" id="{0DD60A37-1996-F532-1851-A64AA0FA4BD3}"/>
              </a:ext>
            </a:extLst>
          </p:cNvPr>
          <p:cNvGrpSpPr/>
          <p:nvPr/>
        </p:nvGrpSpPr>
        <p:grpSpPr>
          <a:xfrm>
            <a:off x="6197177" y="3690647"/>
            <a:ext cx="5620038" cy="1332472"/>
            <a:chOff x="0" y="0"/>
            <a:chExt cx="947074" cy="406400"/>
          </a:xfrm>
        </p:grpSpPr>
        <p:sp>
          <p:nvSpPr>
            <p:cNvPr id="21" name="Freeform 24">
              <a:extLst>
                <a:ext uri="{FF2B5EF4-FFF2-40B4-BE49-F238E27FC236}">
                  <a16:creationId xmlns:a16="http://schemas.microsoft.com/office/drawing/2014/main" id="{CCC30844-3D5A-0061-AA9E-910397FC5620}"/>
                </a:ext>
              </a:extLst>
            </p:cNvPr>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22" name="TextBox 25">
              <a:extLst>
                <a:ext uri="{FF2B5EF4-FFF2-40B4-BE49-F238E27FC236}">
                  <a16:creationId xmlns:a16="http://schemas.microsoft.com/office/drawing/2014/main" id="{F5933CDC-C910-C6BD-0FD6-BFCE655410FD}"/>
                </a:ext>
              </a:extLst>
            </p:cNvPr>
            <p:cNvSpPr txBox="1"/>
            <p:nvPr/>
          </p:nvSpPr>
          <p:spPr>
            <a:xfrm>
              <a:off x="0" y="-28575"/>
              <a:ext cx="947074" cy="434975"/>
            </a:xfrm>
            <a:prstGeom prst="rect">
              <a:avLst/>
            </a:prstGeom>
          </p:spPr>
          <p:txBody>
            <a:bodyPr lIns="50800" tIns="50800" rIns="50800" bIns="50800" rtlCol="0" anchor="ctr"/>
            <a:lstStyle/>
            <a:p>
              <a:pPr algn="ctr">
                <a:lnSpc>
                  <a:spcPts val="2487"/>
                </a:lnSpc>
              </a:pPr>
              <a:endParaRPr/>
            </a:p>
          </p:txBody>
        </p:sp>
      </p:grpSp>
      <p:sp>
        <p:nvSpPr>
          <p:cNvPr id="12" name="TextBox 12">
            <a:extLst>
              <a:ext uri="{FF2B5EF4-FFF2-40B4-BE49-F238E27FC236}">
                <a16:creationId xmlns:a16="http://schemas.microsoft.com/office/drawing/2014/main" id="{00C5D081-D4DD-6779-7739-1ED1F11E9DD3}"/>
              </a:ext>
            </a:extLst>
          </p:cNvPr>
          <p:cNvSpPr txBox="1"/>
          <p:nvPr/>
        </p:nvSpPr>
        <p:spPr>
          <a:xfrm>
            <a:off x="6477000" y="3663814"/>
            <a:ext cx="5620038" cy="1327286"/>
          </a:xfrm>
          <a:prstGeom prst="rect">
            <a:avLst/>
          </a:prstGeom>
        </p:spPr>
        <p:txBody>
          <a:bodyPr lIns="0" tIns="0" rIns="0" bIns="0" rtlCol="0" anchor="t">
            <a:spAutoFit/>
          </a:bodyPr>
          <a:lstStyle/>
          <a:p>
            <a:pPr>
              <a:lnSpc>
                <a:spcPts val="10574"/>
              </a:lnSpc>
              <a:spcBef>
                <a:spcPct val="0"/>
              </a:spcBef>
            </a:pPr>
            <a:r>
              <a:rPr lang="fr-FR" sz="8000" dirty="0"/>
              <a:t>Conclusion</a:t>
            </a:r>
            <a:endParaRPr lang="en-US" sz="7552" b="1" spc="-347" dirty="0">
              <a:solidFill>
                <a:srgbClr val="EBF5FE"/>
              </a:solidFill>
              <a:latin typeface="Garet Bold"/>
              <a:ea typeface="Garet Bold"/>
              <a:cs typeface="Garet Bold"/>
              <a:sym typeface="Garet Bold"/>
            </a:endParaRPr>
          </a:p>
        </p:txBody>
      </p:sp>
    </p:spTree>
    <p:extLst>
      <p:ext uri="{BB962C8B-B14F-4D97-AF65-F5344CB8AC3E}">
        <p14:creationId xmlns:p14="http://schemas.microsoft.com/office/powerpoint/2010/main" val="4020082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10407285">
            <a:off x="3958143" y="-42357"/>
            <a:ext cx="10371714" cy="1037171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10407285">
            <a:off x="5363810" y="1434956"/>
            <a:ext cx="7560380" cy="756038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1858376"/>
            <a:ext cx="6442371" cy="6726915"/>
          </a:xfrm>
          <a:custGeom>
            <a:avLst/>
            <a:gdLst/>
            <a:ahLst/>
            <a:cxnLst/>
            <a:rect l="l" t="t" r="r" b="b"/>
            <a:pathLst>
              <a:path w="6442371" h="6726915">
                <a:moveTo>
                  <a:pt x="0" y="0"/>
                </a:moveTo>
                <a:lnTo>
                  <a:pt x="6442371" y="0"/>
                </a:lnTo>
                <a:lnTo>
                  <a:pt x="6442371" y="6726915"/>
                </a:lnTo>
                <a:lnTo>
                  <a:pt x="0" y="6726915"/>
                </a:lnTo>
                <a:lnTo>
                  <a:pt x="0" y="0"/>
                </a:lnTo>
                <a:close/>
              </a:path>
            </a:pathLst>
          </a:custGeom>
          <a:blipFill>
            <a:blip>
              <a:alphaModFix amt="34000"/>
              <a:extLst>
                <a:ext uri="{96DAC541-7B7A-43D3-8B79-37D633B846F1}">
                  <asvg:svgBlip xmlns:asvg="http://schemas.microsoft.com/office/drawing/2016/SVG/main" r:embed="rId2"/>
                </a:ext>
              </a:extLst>
            </a:blip>
            <a:stretch>
              <a:fillRect/>
            </a:stretch>
          </a:blipFill>
        </p:spPr>
      </p:sp>
      <p:sp>
        <p:nvSpPr>
          <p:cNvPr id="12" name="TextBox 12"/>
          <p:cNvSpPr txBox="1"/>
          <p:nvPr/>
        </p:nvSpPr>
        <p:spPr>
          <a:xfrm>
            <a:off x="5298760" y="4198005"/>
            <a:ext cx="7690481" cy="1756780"/>
          </a:xfrm>
          <a:prstGeom prst="rect">
            <a:avLst/>
          </a:prstGeom>
        </p:spPr>
        <p:txBody>
          <a:bodyPr lIns="0" tIns="0" rIns="0" bIns="0" rtlCol="0" anchor="t">
            <a:spAutoFit/>
          </a:bodyPr>
          <a:lstStyle/>
          <a:p>
            <a:pPr algn="ctr">
              <a:lnSpc>
                <a:spcPts val="14469"/>
              </a:lnSpc>
              <a:spcBef>
                <a:spcPct val="0"/>
              </a:spcBef>
            </a:pPr>
            <a:r>
              <a:rPr lang="en-US" sz="10335" spc="-475">
                <a:solidFill>
                  <a:srgbClr val="EBF5FE"/>
                </a:solidFill>
                <a:latin typeface="Garet"/>
                <a:ea typeface="Garet"/>
                <a:cs typeface="Garet"/>
                <a:sym typeface="Garet"/>
              </a:rPr>
              <a:t>THANK</a:t>
            </a:r>
          </a:p>
        </p:txBody>
      </p:sp>
      <p:sp>
        <p:nvSpPr>
          <p:cNvPr id="13" name="TextBox 13"/>
          <p:cNvSpPr txBox="1"/>
          <p:nvPr/>
        </p:nvSpPr>
        <p:spPr>
          <a:xfrm>
            <a:off x="5298760" y="5472877"/>
            <a:ext cx="7690481" cy="1756780"/>
          </a:xfrm>
          <a:prstGeom prst="rect">
            <a:avLst/>
          </a:prstGeom>
        </p:spPr>
        <p:txBody>
          <a:bodyPr lIns="0" tIns="0" rIns="0" bIns="0" rtlCol="0" anchor="t">
            <a:spAutoFit/>
          </a:bodyPr>
          <a:lstStyle/>
          <a:p>
            <a:pPr algn="ctr">
              <a:lnSpc>
                <a:spcPts val="14469"/>
              </a:lnSpc>
              <a:spcBef>
                <a:spcPct val="0"/>
              </a:spcBef>
            </a:pPr>
            <a:r>
              <a:rPr lang="en-US" sz="10335" b="1" spc="-475">
                <a:solidFill>
                  <a:srgbClr val="EBF5FE"/>
                </a:solidFill>
                <a:latin typeface="Garet Bold"/>
                <a:ea typeface="Garet Bold"/>
                <a:cs typeface="Garet Bold"/>
                <a:sym typeface="Garet Bold"/>
              </a:rPr>
              <a:t>YOU.</a:t>
            </a:r>
          </a:p>
        </p:txBody>
      </p:sp>
      <p:sp>
        <p:nvSpPr>
          <p:cNvPr id="15" name="Freeform 15"/>
          <p:cNvSpPr/>
          <p:nvPr/>
        </p:nvSpPr>
        <p:spPr>
          <a:xfrm flipH="1">
            <a:off x="12361310" y="1699773"/>
            <a:ext cx="6442371" cy="6726915"/>
          </a:xfrm>
          <a:custGeom>
            <a:avLst/>
            <a:gdLst/>
            <a:ahLst/>
            <a:cxnLst/>
            <a:rect l="l" t="t" r="r" b="b"/>
            <a:pathLst>
              <a:path w="6442371" h="6726915">
                <a:moveTo>
                  <a:pt x="6442371" y="0"/>
                </a:moveTo>
                <a:lnTo>
                  <a:pt x="0" y="0"/>
                </a:lnTo>
                <a:lnTo>
                  <a:pt x="0" y="6726915"/>
                </a:lnTo>
                <a:lnTo>
                  <a:pt x="6442371" y="6726915"/>
                </a:lnTo>
                <a:lnTo>
                  <a:pt x="6442371" y="0"/>
                </a:lnTo>
                <a:close/>
              </a:path>
            </a:pathLst>
          </a:custGeom>
          <a:blipFill>
            <a:blip>
              <a:alphaModFix amt="34000"/>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938</TotalTime>
  <Words>426</Words>
  <Application>Microsoft Office PowerPoint</Application>
  <PresentationFormat>Personnalisé</PresentationFormat>
  <Paragraphs>61</Paragraphs>
  <Slides>14</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14</vt:i4>
      </vt:variant>
    </vt:vector>
  </HeadingPairs>
  <TitlesOfParts>
    <vt:vector size="22" baseType="lpstr">
      <vt:lpstr>Calibri</vt:lpstr>
      <vt:lpstr>Arabic Typesetting</vt:lpstr>
      <vt:lpstr>Arial</vt:lpstr>
      <vt:lpstr>Arial Black</vt:lpstr>
      <vt:lpstr>Garet</vt:lpstr>
      <vt:lpstr>Wingdings</vt:lpstr>
      <vt:lpstr>Garet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Gradient Futuristic Computer Science Presentation</dc:title>
  <cp:lastModifiedBy>bekri douaa</cp:lastModifiedBy>
  <cp:revision>24</cp:revision>
  <dcterms:created xsi:type="dcterms:W3CDTF">2006-08-16T00:00:00Z</dcterms:created>
  <dcterms:modified xsi:type="dcterms:W3CDTF">2026-04-09T13:29:56Z</dcterms:modified>
  <dc:identifier>DAHDLMLYvvs</dc:identifier>
</cp:coreProperties>
</file>