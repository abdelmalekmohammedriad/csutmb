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8288000" cy="10287000"/>
  <p:notesSz cx="6858000" cy="9144000"/>
  <p:embeddedFontLst>
    <p:embeddedFont>
      <p:font typeface="Etna Sans Serif" panose="020B0604020202020204" charset="0"/>
      <p:regular r:id="rId19"/>
    </p:embeddedFont>
    <p:embeddedFont>
      <p:font typeface="TT Fors Bold Italics" panose="020B0604020202020204" charset="0"/>
      <p:regular r:id="rId20"/>
    </p:embeddedFont>
    <p:embeddedFont>
      <p:font typeface="TT Fors Bold" panose="020B0604020202020204" charset="0"/>
      <p:regular r:id="rId21"/>
    </p:embeddedFont>
    <p:embeddedFont>
      <p:font typeface="Calibri" panose="020F0502020204030204" pitchFamily="34" charset="0"/>
      <p:regular r:id="rId22"/>
      <p:bold r:id="rId23"/>
      <p:italic r:id="rId24"/>
      <p:boldItalic r:id="rId25"/>
    </p:embeddedFont>
    <p:embeddedFont>
      <p:font typeface="Glacial Indifference" panose="020B0604020202020204" charset="0"/>
      <p:regular r:id="rId26"/>
    </p:embeddedFont>
    <p:embeddedFont>
      <p:font typeface="TT Fors" panose="020B0604020202020204" charset="0"/>
      <p:regular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26" d="100"/>
          <a:sy n="26" d="100"/>
        </p:scale>
        <p:origin x="76" y="55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8.fntdata"/><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7.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1.fntdata"/><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font" Target="fonts/font9.fntdata"/><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4/7/2026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4/7/2026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4/7/2026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4/7/2026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4/7/2026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4/7/2026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4/7/2026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svg"/><Relationship Id="rId7"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svg"/><Relationship Id="rId11" Type="http://schemas.openxmlformats.org/officeDocument/2006/relationships/image" Target="../media/image6.png"/><Relationship Id="rId5" Type="http://schemas.openxmlformats.org/officeDocument/2006/relationships/image" Target="../media/image3.png"/><Relationship Id="rId10" Type="http://schemas.openxmlformats.org/officeDocument/2006/relationships/image" Target="../media/image9.svg"/><Relationship Id="rId4" Type="http://schemas.openxmlformats.org/officeDocument/2006/relationships/image" Target="../media/image2.png"/><Relationship Id="rId9" Type="http://schemas.openxmlformats.org/officeDocument/2006/relationships/image" Target="../media/image5.png"/></Relationships>
</file>

<file path=ppt/slides/_rels/slide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7.svg"/><Relationship Id="rId5" Type="http://schemas.openxmlformats.org/officeDocument/2006/relationships/image" Target="../media/image4.png"/><Relationship Id="rId4" Type="http://schemas.openxmlformats.org/officeDocument/2006/relationships/image" Target="../media/image5.svg"/></Relationships>
</file>

<file path=ppt/slides/_rels/slide3.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png"/><Relationship Id="rId7" Type="http://schemas.openxmlformats.org/officeDocument/2006/relationships/image" Target="../media/image7.svg"/><Relationship Id="rId2" Type="http://schemas.openxmlformats.org/officeDocument/2006/relationships/image" Target="../media/image8.png"/><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5.sv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3.png"/><Relationship Id="rId7" Type="http://schemas.openxmlformats.org/officeDocument/2006/relationships/image" Target="../media/image9.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7.svg"/><Relationship Id="rId5" Type="http://schemas.openxmlformats.org/officeDocument/2006/relationships/image" Target="../media/image4.png"/><Relationship Id="rId4" Type="http://schemas.openxmlformats.org/officeDocument/2006/relationships/image" Target="../media/image5.sv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7.svg"/><Relationship Id="rId5" Type="http://schemas.openxmlformats.org/officeDocument/2006/relationships/image" Target="../media/image4.png"/><Relationship Id="rId4" Type="http://schemas.openxmlformats.org/officeDocument/2006/relationships/image" Target="../media/image5.svg"/></Relationships>
</file>

<file path=ppt/slides/_rels/slide6.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2.png"/><Relationship Id="rId7" Type="http://schemas.openxmlformats.org/officeDocument/2006/relationships/image" Target="../media/image7.sv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5.sv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3.png"/><Relationship Id="rId7" Type="http://schemas.openxmlformats.org/officeDocument/2006/relationships/image" Target="../media/image12.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7.svg"/><Relationship Id="rId5" Type="http://schemas.openxmlformats.org/officeDocument/2006/relationships/image" Target="../media/image4.png"/><Relationship Id="rId4" Type="http://schemas.openxmlformats.org/officeDocument/2006/relationships/image" Target="../media/image5.svg"/></Relationships>
</file>

<file path=ppt/slides/_rels/slide8.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3.png"/><Relationship Id="rId7" Type="http://schemas.openxmlformats.org/officeDocument/2006/relationships/image" Target="../media/image1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7.svg"/><Relationship Id="rId5" Type="http://schemas.openxmlformats.org/officeDocument/2006/relationships/image" Target="../media/image4.png"/><Relationship Id="rId4" Type="http://schemas.openxmlformats.org/officeDocument/2006/relationships/image" Target="../media/image5.svg"/><Relationship Id="rId9" Type="http://schemas.openxmlformats.org/officeDocument/2006/relationships/image" Target="../media/image11.png"/></Relationships>
</file>

<file path=ppt/slides/_rels/slide9.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3.png"/><Relationship Id="rId7" Type="http://schemas.openxmlformats.org/officeDocument/2006/relationships/image" Target="../media/image15.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7.svg"/><Relationship Id="rId5" Type="http://schemas.openxmlformats.org/officeDocument/2006/relationships/image" Target="../media/image4.png"/><Relationship Id="rId10" Type="http://schemas.openxmlformats.org/officeDocument/2006/relationships/image" Target="../media/image22.svg"/><Relationship Id="rId4" Type="http://schemas.openxmlformats.org/officeDocument/2006/relationships/image" Target="../media/image5.svg"/><Relationship Id="rId9" Type="http://schemas.openxmlformats.org/officeDocument/2006/relationships/image" Target="../media/image17.png"/></Relationships>
</file>

<file path=ppt/slides/_rels/slide10.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3.png"/><Relationship Id="rId7" Type="http://schemas.openxmlformats.org/officeDocument/2006/relationships/image" Target="../media/image18.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7.svg"/><Relationship Id="rId5" Type="http://schemas.openxmlformats.org/officeDocument/2006/relationships/image" Target="../media/image4.png"/><Relationship Id="rId10" Type="http://schemas.openxmlformats.org/officeDocument/2006/relationships/image" Target="../media/image15.png"/><Relationship Id="rId4" Type="http://schemas.openxmlformats.org/officeDocument/2006/relationships/image" Target="../media/image5.svg"/><Relationship Id="rId9" Type="http://schemas.openxmlformats.org/officeDocument/2006/relationships/image" Target="../media/image25.svg"/></Relationships>
</file>

<file path=ppt/slides/_rels/slide11.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3.png"/><Relationship Id="rId7" Type="http://schemas.openxmlformats.org/officeDocument/2006/relationships/image" Target="../media/image15.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7.svg"/><Relationship Id="rId5" Type="http://schemas.openxmlformats.org/officeDocument/2006/relationships/image" Target="../media/image4.png"/><Relationship Id="rId4" Type="http://schemas.openxmlformats.org/officeDocument/2006/relationships/image" Target="../media/image5.svg"/><Relationship Id="rId9" Type="http://schemas.openxmlformats.org/officeDocument/2006/relationships/image" Target="../media/image21.png"/></Relationships>
</file>

<file path=ppt/slides/_rels/slide12.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png"/><Relationship Id="rId7" Type="http://schemas.openxmlformats.org/officeDocument/2006/relationships/image" Target="../media/image4.png"/><Relationship Id="rId2" Type="http://schemas.openxmlformats.org/officeDocument/2006/relationships/image" Target="../media/image22.png"/><Relationship Id="rId1" Type="http://schemas.openxmlformats.org/officeDocument/2006/relationships/slideLayout" Target="../slideLayouts/slideLayout7.xml"/><Relationship Id="rId6" Type="http://schemas.openxmlformats.org/officeDocument/2006/relationships/image" Target="../media/image23.png"/><Relationship Id="rId11" Type="http://schemas.openxmlformats.org/officeDocument/2006/relationships/image" Target="../media/image15.png"/><Relationship Id="rId5" Type="http://schemas.openxmlformats.org/officeDocument/2006/relationships/image" Target="../media/image5.svg"/><Relationship Id="rId10" Type="http://schemas.openxmlformats.org/officeDocument/2006/relationships/image" Target="../media/image25.png"/><Relationship Id="rId4" Type="http://schemas.openxmlformats.org/officeDocument/2006/relationships/image" Target="../media/image3.png"/><Relationship Id="rId9" Type="http://schemas.openxmlformats.org/officeDocument/2006/relationships/image" Target="../media/image24.png"/></Relationships>
</file>

<file path=ppt/slides/_rels/slide13.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7.png"/><Relationship Id="rId7" Type="http://schemas.openxmlformats.org/officeDocument/2006/relationships/image" Target="../media/image4.png"/><Relationship Id="rId2" Type="http://schemas.openxmlformats.org/officeDocument/2006/relationships/image" Target="../media/image26.pn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6.png"/></Relationships>
</file>

<file path=ppt/slides/_rels/slide14.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png"/><Relationship Id="rId7" Type="http://schemas.openxmlformats.org/officeDocument/2006/relationships/image" Target="../media/image7.svg"/><Relationship Id="rId2" Type="http://schemas.openxmlformats.org/officeDocument/2006/relationships/image" Target="../media/image28.png"/><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5.sv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3.png"/><Relationship Id="rId7" Type="http://schemas.openxmlformats.org/officeDocument/2006/relationships/image" Target="../media/image29.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7.svg"/><Relationship Id="rId5" Type="http://schemas.openxmlformats.org/officeDocument/2006/relationships/image" Target="../media/image4.png"/><Relationship Id="rId4" Type="http://schemas.openxmlformats.org/officeDocument/2006/relationships/image" Target="../media/image5.svg"/></Relationships>
</file>

<file path=ppt/slides/_rels/slide16.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3.png"/><Relationship Id="rId7"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7.svg"/><Relationship Id="rId5" Type="http://schemas.openxmlformats.org/officeDocument/2006/relationships/image" Target="../media/image4.png"/><Relationship Id="rId4" Type="http://schemas.openxmlformats.org/officeDocument/2006/relationships/image" Target="../media/image5.svg"/><Relationship Id="rId9" Type="http://schemas.openxmlformats.org/officeDocument/2006/relationships/image" Target="../media/image36.svg"/></Relationships>
</file>

<file path=ppt/slides/_rels/slide17.xml.rels><?xml version="1.0" encoding="UTF-8" standalone="yes"?>
<Relationships xmlns="http://schemas.openxmlformats.org/package/2006/relationships"><Relationship Id="rId8" Type="http://schemas.openxmlformats.org/officeDocument/2006/relationships/image" Target="../media/image38.svg"/><Relationship Id="rId3" Type="http://schemas.openxmlformats.org/officeDocument/2006/relationships/image" Target="../media/image3.png"/><Relationship Id="rId7" Type="http://schemas.openxmlformats.org/officeDocument/2006/relationships/image" Target="../media/image30.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7.svg"/><Relationship Id="rId11" Type="http://schemas.openxmlformats.org/officeDocument/2006/relationships/image" Target="../media/image6.png"/><Relationship Id="rId5" Type="http://schemas.openxmlformats.org/officeDocument/2006/relationships/image" Target="../media/image4.png"/><Relationship Id="rId10" Type="http://schemas.openxmlformats.org/officeDocument/2006/relationships/image" Target="../media/image40.svg"/><Relationship Id="rId4" Type="http://schemas.openxmlformats.org/officeDocument/2006/relationships/image" Target="../media/image5.svg"/><Relationship Id="rId9" Type="http://schemas.openxmlformats.org/officeDocument/2006/relationships/image" Target="../media/image3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p:cNvGrpSpPr/>
        <p:nvPr/>
      </p:nvGrpSpPr>
      <p:grpSpPr>
        <a:xfrm>
          <a:off x="0" y="0"/>
          <a:ext cx="0" cy="0"/>
          <a:chOff x="0" y="0"/>
          <a:chExt cx="0" cy="0"/>
        </a:xfrm>
      </p:grpSpPr>
      <p:sp>
        <p:nvSpPr>
          <p:cNvPr id="2" name="Freeform 2"/>
          <p:cNvSpPr/>
          <p:nvPr/>
        </p:nvSpPr>
        <p:spPr>
          <a:xfrm>
            <a:off x="8063017" y="6938410"/>
            <a:ext cx="9196283" cy="1037777"/>
          </a:xfrm>
          <a:custGeom>
            <a:avLst/>
            <a:gdLst/>
            <a:ahLst/>
            <a:cxnLst/>
            <a:rect l="l" t="t" r="r" b="b"/>
            <a:pathLst>
              <a:path w="9196283" h="1037777">
                <a:moveTo>
                  <a:pt x="0" y="0"/>
                </a:moveTo>
                <a:lnTo>
                  <a:pt x="9196283" y="0"/>
                </a:lnTo>
                <a:lnTo>
                  <a:pt x="9196283" y="1037777"/>
                </a:lnTo>
                <a:lnTo>
                  <a:pt x="0" y="1037777"/>
                </a:lnTo>
                <a:lnTo>
                  <a:pt x="0" y="0"/>
                </a:lnTo>
                <a:close/>
              </a:path>
            </a:pathLst>
          </a:custGeom>
          <a:blipFill>
            <a:blip r:embed="rId2">
              <a:extLst>
                <a:ext uri="{96DAC541-7B7A-43D3-8B79-37D633B846F1}">
                  <asvg:svgBlip xmlns:asvg="http://schemas.microsoft.com/office/drawing/2016/SVG/main" xmlns="" r:embed="rId3"/>
                </a:ext>
              </a:extLst>
            </a:blip>
            <a:stretch>
              <a:fillRect l="-5" r="-5"/>
            </a:stretch>
          </a:blipFill>
        </p:spPr>
      </p:sp>
      <p:grpSp>
        <p:nvGrpSpPr>
          <p:cNvPr id="3" name="Group 3"/>
          <p:cNvGrpSpPr/>
          <p:nvPr/>
        </p:nvGrpSpPr>
        <p:grpSpPr>
          <a:xfrm>
            <a:off x="17259300" y="900322"/>
            <a:ext cx="2486501" cy="2486501"/>
            <a:chOff x="0" y="0"/>
            <a:chExt cx="3315335" cy="3315335"/>
          </a:xfrm>
        </p:grpSpPr>
        <p:sp>
          <p:nvSpPr>
            <p:cNvPr id="4" name="Freeform 4"/>
            <p:cNvSpPr/>
            <p:nvPr/>
          </p:nvSpPr>
          <p:spPr>
            <a:xfrm>
              <a:off x="0" y="0"/>
              <a:ext cx="3315335" cy="3315335"/>
            </a:xfrm>
            <a:custGeom>
              <a:avLst/>
              <a:gdLst/>
              <a:ahLst/>
              <a:cxnLst/>
              <a:rect l="l" t="t" r="r" b="b"/>
              <a:pathLst>
                <a:path w="3315335" h="3315335">
                  <a:moveTo>
                    <a:pt x="0" y="0"/>
                  </a:moveTo>
                  <a:lnTo>
                    <a:pt x="3315335" y="0"/>
                  </a:lnTo>
                  <a:lnTo>
                    <a:pt x="3315335" y="3315335"/>
                  </a:lnTo>
                  <a:lnTo>
                    <a:pt x="0" y="3315335"/>
                  </a:lnTo>
                  <a:lnTo>
                    <a:pt x="0" y="0"/>
                  </a:lnTo>
                  <a:close/>
                </a:path>
              </a:pathLst>
            </a:custGeom>
            <a:blipFill>
              <a:blip r:embed="rId4"/>
              <a:stretch>
                <a:fillRect/>
              </a:stretch>
            </a:blipFill>
          </p:spPr>
        </p:sp>
      </p:grpSp>
      <p:sp>
        <p:nvSpPr>
          <p:cNvPr id="5" name="TextBox 5"/>
          <p:cNvSpPr txBox="1"/>
          <p:nvPr/>
        </p:nvSpPr>
        <p:spPr>
          <a:xfrm>
            <a:off x="8682304" y="4510783"/>
            <a:ext cx="10088842" cy="1082021"/>
          </a:xfrm>
          <a:prstGeom prst="rect">
            <a:avLst/>
          </a:prstGeom>
        </p:spPr>
        <p:txBody>
          <a:bodyPr lIns="0" tIns="0" rIns="0" bIns="0" rtlCol="0" anchor="t">
            <a:spAutoFit/>
          </a:bodyPr>
          <a:lstStyle/>
          <a:p>
            <a:pPr algn="l">
              <a:lnSpc>
                <a:spcPts val="9680"/>
              </a:lnSpc>
            </a:pPr>
            <a:r>
              <a:rPr lang="en-US" sz="9980" spc="-98">
                <a:solidFill>
                  <a:srgbClr val="2657C1"/>
                </a:solidFill>
                <a:latin typeface="Etna Sans Serif"/>
                <a:ea typeface="Etna Sans Serif"/>
                <a:cs typeface="Etna Sans Serif"/>
                <a:sym typeface="Etna Sans Serif"/>
              </a:rPr>
              <a:t>RFID Security</a:t>
            </a:r>
          </a:p>
        </p:txBody>
      </p:sp>
      <p:grpSp>
        <p:nvGrpSpPr>
          <p:cNvPr id="6" name="Group 6"/>
          <p:cNvGrpSpPr/>
          <p:nvPr/>
        </p:nvGrpSpPr>
        <p:grpSpPr>
          <a:xfrm>
            <a:off x="-1686630" y="8759895"/>
            <a:ext cx="4029551" cy="4029551"/>
            <a:chOff x="0" y="0"/>
            <a:chExt cx="5372735" cy="5372735"/>
          </a:xfrm>
        </p:grpSpPr>
        <p:sp>
          <p:nvSpPr>
            <p:cNvPr id="7" name="Freeform 7"/>
            <p:cNvSpPr/>
            <p:nvPr/>
          </p:nvSpPr>
          <p:spPr>
            <a:xfrm>
              <a:off x="0" y="0"/>
              <a:ext cx="5372735" cy="5372735"/>
            </a:xfrm>
            <a:custGeom>
              <a:avLst/>
              <a:gdLst/>
              <a:ahLst/>
              <a:cxnLst/>
              <a:rect l="l" t="t" r="r" b="b"/>
              <a:pathLst>
                <a:path w="5372735" h="5372735">
                  <a:moveTo>
                    <a:pt x="0" y="0"/>
                  </a:moveTo>
                  <a:lnTo>
                    <a:pt x="5372735" y="0"/>
                  </a:lnTo>
                  <a:lnTo>
                    <a:pt x="5372735" y="5372735"/>
                  </a:lnTo>
                  <a:lnTo>
                    <a:pt x="0" y="5372735"/>
                  </a:lnTo>
                  <a:lnTo>
                    <a:pt x="0" y="0"/>
                  </a:lnTo>
                  <a:close/>
                </a:path>
              </a:pathLst>
            </a:custGeom>
            <a:blipFill>
              <a:blip r:embed="rId4"/>
              <a:stretch>
                <a:fillRect/>
              </a:stretch>
            </a:blipFill>
          </p:spPr>
        </p:sp>
      </p:grpSp>
      <p:sp>
        <p:nvSpPr>
          <p:cNvPr id="8" name="Freeform 8"/>
          <p:cNvSpPr/>
          <p:nvPr/>
        </p:nvSpPr>
        <p:spPr>
          <a:xfrm>
            <a:off x="16053187" y="3386833"/>
            <a:ext cx="776373" cy="776373"/>
          </a:xfrm>
          <a:custGeom>
            <a:avLst/>
            <a:gdLst/>
            <a:ahLst/>
            <a:cxnLst/>
            <a:rect l="l" t="t" r="r" b="b"/>
            <a:pathLst>
              <a:path w="776373" h="776373">
                <a:moveTo>
                  <a:pt x="0" y="0"/>
                </a:moveTo>
                <a:lnTo>
                  <a:pt x="776374" y="0"/>
                </a:lnTo>
                <a:lnTo>
                  <a:pt x="776374" y="776373"/>
                </a:lnTo>
                <a:lnTo>
                  <a:pt x="0" y="776373"/>
                </a:lnTo>
                <a:lnTo>
                  <a:pt x="0" y="0"/>
                </a:lnTo>
                <a:close/>
              </a:path>
            </a:pathLst>
          </a:custGeom>
          <a:blipFill>
            <a:blip r:embed="rId5">
              <a:extLst>
                <a:ext uri="{96DAC541-7B7A-43D3-8B79-37D633B846F1}">
                  <asvg:svgBlip xmlns:asvg="http://schemas.microsoft.com/office/drawing/2016/SVG/main" xmlns="" r:embed="rId6"/>
                </a:ext>
              </a:extLst>
            </a:blip>
            <a:stretch>
              <a:fillRect/>
            </a:stretch>
          </a:blipFill>
        </p:spPr>
      </p:sp>
      <p:sp>
        <p:nvSpPr>
          <p:cNvPr id="9" name="Freeform 9"/>
          <p:cNvSpPr/>
          <p:nvPr/>
        </p:nvSpPr>
        <p:spPr>
          <a:xfrm>
            <a:off x="16527494" y="8569309"/>
            <a:ext cx="3521002" cy="3521002"/>
          </a:xfrm>
          <a:custGeom>
            <a:avLst/>
            <a:gdLst/>
            <a:ahLst/>
            <a:cxnLst/>
            <a:rect l="l" t="t" r="r" b="b"/>
            <a:pathLst>
              <a:path w="3521002" h="3521002">
                <a:moveTo>
                  <a:pt x="0" y="0"/>
                </a:moveTo>
                <a:lnTo>
                  <a:pt x="3521002" y="0"/>
                </a:lnTo>
                <a:lnTo>
                  <a:pt x="3521002" y="3521002"/>
                </a:lnTo>
                <a:lnTo>
                  <a:pt x="0" y="3521002"/>
                </a:lnTo>
                <a:lnTo>
                  <a:pt x="0" y="0"/>
                </a:lnTo>
                <a:close/>
              </a:path>
            </a:pathLst>
          </a:custGeom>
          <a:blipFill>
            <a:blip r:embed="rId5">
              <a:extLst>
                <a:ext uri="{96DAC541-7B7A-43D3-8B79-37D633B846F1}">
                  <asvg:svgBlip xmlns:asvg="http://schemas.microsoft.com/office/drawing/2016/SVG/main" xmlns="" r:embed="rId6"/>
                </a:ext>
              </a:extLst>
            </a:blip>
            <a:stretch>
              <a:fillRect/>
            </a:stretch>
          </a:blipFill>
        </p:spPr>
      </p:sp>
      <p:sp>
        <p:nvSpPr>
          <p:cNvPr id="10" name="Freeform 10"/>
          <p:cNvSpPr/>
          <p:nvPr/>
        </p:nvSpPr>
        <p:spPr>
          <a:xfrm>
            <a:off x="0" y="-180823"/>
            <a:ext cx="18288000" cy="393830"/>
          </a:xfrm>
          <a:custGeom>
            <a:avLst/>
            <a:gdLst/>
            <a:ahLst/>
            <a:cxnLst/>
            <a:rect l="l" t="t" r="r" b="b"/>
            <a:pathLst>
              <a:path w="18288000" h="393830">
                <a:moveTo>
                  <a:pt x="0" y="0"/>
                </a:moveTo>
                <a:lnTo>
                  <a:pt x="18288000" y="0"/>
                </a:lnTo>
                <a:lnTo>
                  <a:pt x="18288000" y="393831"/>
                </a:lnTo>
                <a:lnTo>
                  <a:pt x="0" y="393831"/>
                </a:lnTo>
                <a:lnTo>
                  <a:pt x="0" y="0"/>
                </a:lnTo>
                <a:close/>
              </a:path>
            </a:pathLst>
          </a:custGeom>
          <a:blipFill>
            <a:blip r:embed="rId7">
              <a:extLst>
                <a:ext uri="{96DAC541-7B7A-43D3-8B79-37D633B846F1}">
                  <asvg:svgBlip xmlns:asvg="http://schemas.microsoft.com/office/drawing/2016/SVG/main" xmlns="" r:embed="rId8"/>
                </a:ext>
              </a:extLst>
            </a:blip>
            <a:stretch>
              <a:fillRect t="-788" b="-790"/>
            </a:stretch>
          </a:blipFill>
        </p:spPr>
      </p:sp>
      <p:sp>
        <p:nvSpPr>
          <p:cNvPr id="11" name="TextBox 11"/>
          <p:cNvSpPr txBox="1"/>
          <p:nvPr/>
        </p:nvSpPr>
        <p:spPr>
          <a:xfrm>
            <a:off x="9144000" y="536353"/>
            <a:ext cx="1662551" cy="485737"/>
          </a:xfrm>
          <a:prstGeom prst="rect">
            <a:avLst/>
          </a:prstGeom>
        </p:spPr>
        <p:txBody>
          <a:bodyPr lIns="0" tIns="0" rIns="0" bIns="0" rtlCol="0" anchor="t">
            <a:spAutoFit/>
          </a:bodyPr>
          <a:lstStyle/>
          <a:p>
            <a:pPr algn="l">
              <a:lnSpc>
                <a:spcPts val="3149"/>
              </a:lnSpc>
            </a:pPr>
            <a:r>
              <a:rPr lang="en-US" sz="2250" b="1">
                <a:solidFill>
                  <a:srgbClr val="2657C1"/>
                </a:solidFill>
                <a:latin typeface="TT Fors Bold"/>
                <a:ea typeface="TT Fors Bold"/>
                <a:cs typeface="TT Fors Bold"/>
                <a:sym typeface="TT Fors Bold"/>
              </a:rPr>
              <a:t>Home</a:t>
            </a:r>
          </a:p>
        </p:txBody>
      </p:sp>
      <p:sp>
        <p:nvSpPr>
          <p:cNvPr id="12" name="TextBox 12"/>
          <p:cNvSpPr txBox="1"/>
          <p:nvPr/>
        </p:nvSpPr>
        <p:spPr>
          <a:xfrm>
            <a:off x="11362449" y="538563"/>
            <a:ext cx="1907086" cy="485737"/>
          </a:xfrm>
          <a:prstGeom prst="rect">
            <a:avLst/>
          </a:prstGeom>
        </p:spPr>
        <p:txBody>
          <a:bodyPr lIns="0" tIns="0" rIns="0" bIns="0" rtlCol="0" anchor="t">
            <a:spAutoFit/>
          </a:bodyPr>
          <a:lstStyle/>
          <a:p>
            <a:pPr algn="l">
              <a:lnSpc>
                <a:spcPts val="3149"/>
              </a:lnSpc>
            </a:pPr>
            <a:r>
              <a:rPr lang="en-US" sz="2250">
                <a:solidFill>
                  <a:srgbClr val="2657C1"/>
                </a:solidFill>
                <a:latin typeface="TT Fors"/>
                <a:ea typeface="TT Fors"/>
                <a:cs typeface="TT Fors"/>
                <a:sym typeface="TT Fors"/>
              </a:rPr>
              <a:t>Discussion</a:t>
            </a:r>
          </a:p>
        </p:txBody>
      </p:sp>
      <p:sp>
        <p:nvSpPr>
          <p:cNvPr id="13" name="TextBox 13"/>
          <p:cNvSpPr txBox="1"/>
          <p:nvPr/>
        </p:nvSpPr>
        <p:spPr>
          <a:xfrm>
            <a:off x="13726725" y="536353"/>
            <a:ext cx="1916878" cy="485737"/>
          </a:xfrm>
          <a:prstGeom prst="rect">
            <a:avLst/>
          </a:prstGeom>
        </p:spPr>
        <p:txBody>
          <a:bodyPr lIns="0" tIns="0" rIns="0" bIns="0" rtlCol="0" anchor="t">
            <a:spAutoFit/>
          </a:bodyPr>
          <a:lstStyle/>
          <a:p>
            <a:pPr algn="l">
              <a:lnSpc>
                <a:spcPts val="3149"/>
              </a:lnSpc>
            </a:pPr>
            <a:r>
              <a:rPr lang="en-US" sz="2250">
                <a:solidFill>
                  <a:srgbClr val="2657C1"/>
                </a:solidFill>
                <a:latin typeface="TT Fors"/>
                <a:ea typeface="TT Fors"/>
                <a:cs typeface="TT Fors"/>
                <a:sym typeface="TT Fors"/>
              </a:rPr>
              <a:t>Conclusion</a:t>
            </a:r>
          </a:p>
        </p:txBody>
      </p:sp>
      <p:sp>
        <p:nvSpPr>
          <p:cNvPr id="14" name="TextBox 14"/>
          <p:cNvSpPr txBox="1"/>
          <p:nvPr/>
        </p:nvSpPr>
        <p:spPr>
          <a:xfrm>
            <a:off x="16053187" y="538563"/>
            <a:ext cx="1206113" cy="485737"/>
          </a:xfrm>
          <a:prstGeom prst="rect">
            <a:avLst/>
          </a:prstGeom>
        </p:spPr>
        <p:txBody>
          <a:bodyPr lIns="0" tIns="0" rIns="0" bIns="0" rtlCol="0" anchor="t">
            <a:spAutoFit/>
          </a:bodyPr>
          <a:lstStyle/>
          <a:p>
            <a:pPr algn="l">
              <a:lnSpc>
                <a:spcPts val="3149"/>
              </a:lnSpc>
            </a:pPr>
            <a:r>
              <a:rPr lang="en-US" sz="2250">
                <a:solidFill>
                  <a:srgbClr val="2657C1"/>
                </a:solidFill>
                <a:latin typeface="TT Fors"/>
                <a:ea typeface="TT Fors"/>
                <a:cs typeface="TT Fors"/>
                <a:sym typeface="TT Fors"/>
              </a:rPr>
              <a:t>Contact</a:t>
            </a:r>
          </a:p>
        </p:txBody>
      </p:sp>
      <p:sp>
        <p:nvSpPr>
          <p:cNvPr id="15" name="TextBox 15"/>
          <p:cNvSpPr txBox="1"/>
          <p:nvPr/>
        </p:nvSpPr>
        <p:spPr>
          <a:xfrm>
            <a:off x="7882033" y="7188327"/>
            <a:ext cx="9558252" cy="595093"/>
          </a:xfrm>
          <a:prstGeom prst="rect">
            <a:avLst/>
          </a:prstGeom>
        </p:spPr>
        <p:txBody>
          <a:bodyPr lIns="0" tIns="0" rIns="0" bIns="0" rtlCol="0" anchor="t">
            <a:spAutoFit/>
          </a:bodyPr>
          <a:lstStyle/>
          <a:p>
            <a:pPr algn="ctr">
              <a:lnSpc>
                <a:spcPts val="4470"/>
              </a:lnSpc>
            </a:pPr>
            <a:r>
              <a:rPr lang="en-US" sz="3194" b="1">
                <a:solidFill>
                  <a:srgbClr val="F7F7F7"/>
                </a:solidFill>
                <a:latin typeface="TT Fors Bold"/>
                <a:ea typeface="TT Fors Bold"/>
                <a:cs typeface="TT Fors Bold"/>
                <a:sym typeface="TT Fors Bold"/>
              </a:rPr>
              <a:t>RFID Security and the Risk of Cloning</a:t>
            </a:r>
          </a:p>
        </p:txBody>
      </p:sp>
      <p:sp>
        <p:nvSpPr>
          <p:cNvPr id="16" name="TextBox 16"/>
          <p:cNvSpPr txBox="1"/>
          <p:nvPr/>
        </p:nvSpPr>
        <p:spPr>
          <a:xfrm>
            <a:off x="12909947" y="8889568"/>
            <a:ext cx="5273050" cy="1327566"/>
          </a:xfrm>
          <a:prstGeom prst="rect">
            <a:avLst/>
          </a:prstGeom>
        </p:spPr>
        <p:txBody>
          <a:bodyPr lIns="0" tIns="0" rIns="0" bIns="0" rtlCol="0" anchor="t">
            <a:spAutoFit/>
          </a:bodyPr>
          <a:lstStyle/>
          <a:p>
            <a:pPr algn="l">
              <a:lnSpc>
                <a:spcPts val="3485"/>
              </a:lnSpc>
            </a:pPr>
            <a:r>
              <a:rPr lang="en-US" sz="2490" b="1">
                <a:solidFill>
                  <a:srgbClr val="182D88"/>
                </a:solidFill>
                <a:latin typeface="TT Fors Bold"/>
                <a:ea typeface="TT Fors Bold"/>
                <a:cs typeface="TT Fors Bold"/>
                <a:sym typeface="TT Fors Bold"/>
              </a:rPr>
              <a:t>Prepared by:</a:t>
            </a:r>
          </a:p>
          <a:p>
            <a:pPr algn="l">
              <a:lnSpc>
                <a:spcPts val="3485"/>
              </a:lnSpc>
            </a:pPr>
            <a:r>
              <a:rPr lang="en-US" sz="2490" b="1">
                <a:solidFill>
                  <a:srgbClr val="182D88"/>
                </a:solidFill>
                <a:latin typeface="TT Fors Bold"/>
                <a:ea typeface="TT Fors Bold"/>
                <a:cs typeface="TT Fors Bold"/>
                <a:sym typeface="TT Fors Bold"/>
              </a:rPr>
              <a:t>Mamouni Khouloud</a:t>
            </a:r>
          </a:p>
          <a:p>
            <a:pPr algn="l">
              <a:lnSpc>
                <a:spcPts val="3485"/>
              </a:lnSpc>
            </a:pPr>
            <a:endParaRPr lang="en-US" sz="2490" b="1">
              <a:solidFill>
                <a:srgbClr val="182D88"/>
              </a:solidFill>
              <a:latin typeface="TT Fors Bold"/>
              <a:ea typeface="TT Fors Bold"/>
              <a:cs typeface="TT Fors Bold"/>
              <a:sym typeface="TT Fors Bold"/>
            </a:endParaRPr>
          </a:p>
        </p:txBody>
      </p:sp>
      <p:sp>
        <p:nvSpPr>
          <p:cNvPr id="17" name="Freeform 17"/>
          <p:cNvSpPr/>
          <p:nvPr/>
        </p:nvSpPr>
        <p:spPr>
          <a:xfrm>
            <a:off x="457086" y="1583150"/>
            <a:ext cx="7259098" cy="7619286"/>
          </a:xfrm>
          <a:custGeom>
            <a:avLst/>
            <a:gdLst/>
            <a:ahLst/>
            <a:cxnLst/>
            <a:rect l="l" t="t" r="r" b="b"/>
            <a:pathLst>
              <a:path w="7259098" h="7619286">
                <a:moveTo>
                  <a:pt x="0" y="0"/>
                </a:moveTo>
                <a:lnTo>
                  <a:pt x="7259097" y="0"/>
                </a:lnTo>
                <a:lnTo>
                  <a:pt x="7259097" y="7619286"/>
                </a:lnTo>
                <a:lnTo>
                  <a:pt x="0" y="7619286"/>
                </a:lnTo>
                <a:lnTo>
                  <a:pt x="0" y="0"/>
                </a:lnTo>
                <a:close/>
              </a:path>
            </a:pathLst>
          </a:custGeom>
          <a:blipFill>
            <a:blip r:embed="rId9">
              <a:extLst>
                <a:ext uri="{96DAC541-7B7A-43D3-8B79-37D633B846F1}">
                  <asvg:svgBlip xmlns:asvg="http://schemas.microsoft.com/office/drawing/2016/SVG/main" xmlns="" r:embed="rId10"/>
                </a:ext>
              </a:extLst>
            </a:blip>
            <a:stretch>
              <a:fillRect t="-8" b="-8"/>
            </a:stretch>
          </a:blipFill>
        </p:spPr>
      </p:sp>
      <p:grpSp>
        <p:nvGrpSpPr>
          <p:cNvPr id="18" name="Group 18"/>
          <p:cNvGrpSpPr/>
          <p:nvPr/>
        </p:nvGrpSpPr>
        <p:grpSpPr>
          <a:xfrm>
            <a:off x="446094" y="633813"/>
            <a:ext cx="582606" cy="577129"/>
            <a:chOff x="0" y="0"/>
            <a:chExt cx="776808" cy="769506"/>
          </a:xfrm>
        </p:grpSpPr>
        <p:sp>
          <p:nvSpPr>
            <p:cNvPr id="19" name="Freeform 19"/>
            <p:cNvSpPr/>
            <p:nvPr/>
          </p:nvSpPr>
          <p:spPr>
            <a:xfrm>
              <a:off x="0" y="0"/>
              <a:ext cx="776859" cy="769493"/>
            </a:xfrm>
            <a:custGeom>
              <a:avLst/>
              <a:gdLst/>
              <a:ahLst/>
              <a:cxnLst/>
              <a:rect l="l" t="t" r="r" b="b"/>
              <a:pathLst>
                <a:path w="776859" h="769493">
                  <a:moveTo>
                    <a:pt x="0" y="0"/>
                  </a:moveTo>
                  <a:lnTo>
                    <a:pt x="776859" y="0"/>
                  </a:lnTo>
                  <a:lnTo>
                    <a:pt x="776859" y="769493"/>
                  </a:lnTo>
                  <a:lnTo>
                    <a:pt x="0" y="769493"/>
                  </a:lnTo>
                  <a:lnTo>
                    <a:pt x="0" y="0"/>
                  </a:lnTo>
                  <a:close/>
                </a:path>
              </a:pathLst>
            </a:custGeom>
            <a:blipFill>
              <a:blip r:embed="rId11"/>
              <a:stretch>
                <a:fillRect t="-158" r="6" b="-161"/>
              </a:stretch>
            </a:blipFill>
          </p:spPr>
        </p:sp>
      </p:grpSp>
      <p:sp>
        <p:nvSpPr>
          <p:cNvPr id="20" name="TextBox 20"/>
          <p:cNvSpPr txBox="1"/>
          <p:nvPr/>
        </p:nvSpPr>
        <p:spPr>
          <a:xfrm>
            <a:off x="1421378" y="515112"/>
            <a:ext cx="921544" cy="632993"/>
          </a:xfrm>
          <a:prstGeom prst="rect">
            <a:avLst/>
          </a:prstGeom>
        </p:spPr>
        <p:txBody>
          <a:bodyPr lIns="0" tIns="0" rIns="0" bIns="0" rtlCol="0" anchor="t">
            <a:spAutoFit/>
          </a:bodyPr>
          <a:lstStyle/>
          <a:p>
            <a:pPr algn="l">
              <a:lnSpc>
                <a:spcPts val="2665"/>
              </a:lnSpc>
            </a:pPr>
            <a:r>
              <a:rPr lang="en-US" sz="2750" b="1">
                <a:solidFill>
                  <a:srgbClr val="2657C1"/>
                </a:solidFill>
                <a:latin typeface="TT Fors Bold"/>
                <a:ea typeface="TT Fors Bold"/>
                <a:cs typeface="TT Fors Bold"/>
                <a:sym typeface="TT Fors Bold"/>
              </a:rPr>
              <a:t> RFID</a:t>
            </a:r>
          </a:p>
          <a:p>
            <a:pPr algn="l">
              <a:lnSpc>
                <a:spcPts val="2665"/>
              </a:lnSpc>
            </a:pPr>
            <a:endParaRPr lang="en-US" sz="2750" b="1">
              <a:solidFill>
                <a:srgbClr val="2657C1"/>
              </a:solidFill>
              <a:latin typeface="TT Fors Bold"/>
              <a:ea typeface="TT Fors Bold"/>
              <a:cs typeface="TT Fors Bold"/>
              <a:sym typeface="TT Fors Bold"/>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7432607" y="1073629"/>
            <a:ext cx="2313242" cy="2313242"/>
            <a:chOff x="0" y="0"/>
            <a:chExt cx="3084322" cy="3084322"/>
          </a:xfrm>
        </p:grpSpPr>
        <p:sp>
          <p:nvSpPr>
            <p:cNvPr id="3" name="Freeform 3"/>
            <p:cNvSpPr/>
            <p:nvPr/>
          </p:nvSpPr>
          <p:spPr>
            <a:xfrm>
              <a:off x="0" y="0"/>
              <a:ext cx="3084322" cy="3084322"/>
            </a:xfrm>
            <a:custGeom>
              <a:avLst/>
              <a:gdLst/>
              <a:ahLst/>
              <a:cxnLst/>
              <a:rect l="l" t="t" r="r" b="b"/>
              <a:pathLst>
                <a:path w="3084322" h="3084322">
                  <a:moveTo>
                    <a:pt x="0" y="0"/>
                  </a:moveTo>
                  <a:lnTo>
                    <a:pt x="3084322" y="0"/>
                  </a:lnTo>
                  <a:lnTo>
                    <a:pt x="3084322" y="3084322"/>
                  </a:lnTo>
                  <a:lnTo>
                    <a:pt x="0" y="3084322"/>
                  </a:lnTo>
                  <a:lnTo>
                    <a:pt x="0" y="0"/>
                  </a:lnTo>
                  <a:close/>
                </a:path>
              </a:pathLst>
            </a:custGeom>
            <a:blipFill>
              <a:blip r:embed="rId2"/>
              <a:stretch>
                <a:fillRect/>
              </a:stretch>
            </a:blipFill>
          </p:spPr>
        </p:sp>
      </p:grpSp>
      <p:grpSp>
        <p:nvGrpSpPr>
          <p:cNvPr id="4" name="Group 4"/>
          <p:cNvGrpSpPr/>
          <p:nvPr/>
        </p:nvGrpSpPr>
        <p:grpSpPr>
          <a:xfrm>
            <a:off x="-2229517" y="8831828"/>
            <a:ext cx="4841462" cy="4841462"/>
            <a:chOff x="0" y="0"/>
            <a:chExt cx="6455283" cy="6455283"/>
          </a:xfrm>
        </p:grpSpPr>
        <p:sp>
          <p:nvSpPr>
            <p:cNvPr id="5" name="Freeform 5"/>
            <p:cNvSpPr/>
            <p:nvPr/>
          </p:nvSpPr>
          <p:spPr>
            <a:xfrm>
              <a:off x="0" y="0"/>
              <a:ext cx="6455283" cy="6455283"/>
            </a:xfrm>
            <a:custGeom>
              <a:avLst/>
              <a:gdLst/>
              <a:ahLst/>
              <a:cxnLst/>
              <a:rect l="l" t="t" r="r" b="b"/>
              <a:pathLst>
                <a:path w="6455283" h="6455283">
                  <a:moveTo>
                    <a:pt x="0" y="0"/>
                  </a:moveTo>
                  <a:lnTo>
                    <a:pt x="6455283" y="0"/>
                  </a:lnTo>
                  <a:lnTo>
                    <a:pt x="6455283" y="6455283"/>
                  </a:lnTo>
                  <a:lnTo>
                    <a:pt x="0" y="6455283"/>
                  </a:lnTo>
                  <a:lnTo>
                    <a:pt x="0" y="0"/>
                  </a:lnTo>
                  <a:close/>
                </a:path>
              </a:pathLst>
            </a:custGeom>
            <a:blipFill>
              <a:blip r:embed="rId2"/>
              <a:stretch>
                <a:fillRect/>
              </a:stretch>
            </a:blipFill>
          </p:spPr>
        </p:sp>
      </p:grpSp>
      <p:sp>
        <p:nvSpPr>
          <p:cNvPr id="6" name="Freeform 6"/>
          <p:cNvSpPr/>
          <p:nvPr/>
        </p:nvSpPr>
        <p:spPr>
          <a:xfrm>
            <a:off x="16871118" y="6677244"/>
            <a:ext cx="776373" cy="776373"/>
          </a:xfrm>
          <a:custGeom>
            <a:avLst/>
            <a:gdLst/>
            <a:ahLst/>
            <a:cxnLst/>
            <a:rect l="l" t="t" r="r" b="b"/>
            <a:pathLst>
              <a:path w="776373" h="776373">
                <a:moveTo>
                  <a:pt x="0" y="0"/>
                </a:moveTo>
                <a:lnTo>
                  <a:pt x="776373" y="0"/>
                </a:lnTo>
                <a:lnTo>
                  <a:pt x="776373" y="776373"/>
                </a:lnTo>
                <a:lnTo>
                  <a:pt x="0" y="776373"/>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sp>
        <p:nvSpPr>
          <p:cNvPr id="7" name="Freeform 7"/>
          <p:cNvSpPr/>
          <p:nvPr/>
        </p:nvSpPr>
        <p:spPr>
          <a:xfrm>
            <a:off x="15166677" y="8165716"/>
            <a:ext cx="4185237" cy="4185237"/>
          </a:xfrm>
          <a:custGeom>
            <a:avLst/>
            <a:gdLst/>
            <a:ahLst/>
            <a:cxnLst/>
            <a:rect l="l" t="t" r="r" b="b"/>
            <a:pathLst>
              <a:path w="4185237" h="4185237">
                <a:moveTo>
                  <a:pt x="0" y="0"/>
                </a:moveTo>
                <a:lnTo>
                  <a:pt x="4185237" y="0"/>
                </a:lnTo>
                <a:lnTo>
                  <a:pt x="4185237" y="4185237"/>
                </a:lnTo>
                <a:lnTo>
                  <a:pt x="0" y="4185237"/>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sp>
        <p:nvSpPr>
          <p:cNvPr id="8" name="Freeform 8"/>
          <p:cNvSpPr/>
          <p:nvPr/>
        </p:nvSpPr>
        <p:spPr>
          <a:xfrm>
            <a:off x="0" y="-180823"/>
            <a:ext cx="18288000" cy="393830"/>
          </a:xfrm>
          <a:custGeom>
            <a:avLst/>
            <a:gdLst/>
            <a:ahLst/>
            <a:cxnLst/>
            <a:rect l="l" t="t" r="r" b="b"/>
            <a:pathLst>
              <a:path w="18288000" h="393830">
                <a:moveTo>
                  <a:pt x="0" y="0"/>
                </a:moveTo>
                <a:lnTo>
                  <a:pt x="18288000" y="0"/>
                </a:lnTo>
                <a:lnTo>
                  <a:pt x="18288000" y="393831"/>
                </a:lnTo>
                <a:lnTo>
                  <a:pt x="0" y="393831"/>
                </a:lnTo>
                <a:lnTo>
                  <a:pt x="0" y="0"/>
                </a:lnTo>
                <a:close/>
              </a:path>
            </a:pathLst>
          </a:custGeom>
          <a:blipFill>
            <a:blip r:embed="rId5">
              <a:extLst>
                <a:ext uri="{96DAC541-7B7A-43D3-8B79-37D633B846F1}">
                  <asvg:svgBlip xmlns:asvg="http://schemas.microsoft.com/office/drawing/2016/SVG/main" xmlns="" r:embed="rId6"/>
                </a:ext>
              </a:extLst>
            </a:blip>
            <a:stretch>
              <a:fillRect t="-788" b="-790"/>
            </a:stretch>
          </a:blipFill>
        </p:spPr>
      </p:sp>
      <p:sp>
        <p:nvSpPr>
          <p:cNvPr id="9" name="TextBox 9"/>
          <p:cNvSpPr txBox="1"/>
          <p:nvPr/>
        </p:nvSpPr>
        <p:spPr>
          <a:xfrm>
            <a:off x="9144000" y="536353"/>
            <a:ext cx="1662551" cy="485737"/>
          </a:xfrm>
          <a:prstGeom prst="rect">
            <a:avLst/>
          </a:prstGeom>
        </p:spPr>
        <p:txBody>
          <a:bodyPr lIns="0" tIns="0" rIns="0" bIns="0" rtlCol="0" anchor="t">
            <a:spAutoFit/>
          </a:bodyPr>
          <a:lstStyle/>
          <a:p>
            <a:pPr algn="l">
              <a:lnSpc>
                <a:spcPts val="3149"/>
              </a:lnSpc>
            </a:pPr>
            <a:r>
              <a:rPr lang="en-US" sz="2250">
                <a:solidFill>
                  <a:srgbClr val="2657C1"/>
                </a:solidFill>
                <a:latin typeface="TT Fors"/>
                <a:ea typeface="TT Fors"/>
                <a:cs typeface="TT Fors"/>
                <a:sym typeface="TT Fors"/>
              </a:rPr>
              <a:t>Home</a:t>
            </a:r>
          </a:p>
        </p:txBody>
      </p:sp>
      <p:sp>
        <p:nvSpPr>
          <p:cNvPr id="10" name="TextBox 10"/>
          <p:cNvSpPr txBox="1"/>
          <p:nvPr/>
        </p:nvSpPr>
        <p:spPr>
          <a:xfrm>
            <a:off x="619125" y="2554081"/>
            <a:ext cx="15024487" cy="820941"/>
          </a:xfrm>
          <a:prstGeom prst="rect">
            <a:avLst/>
          </a:prstGeom>
        </p:spPr>
        <p:txBody>
          <a:bodyPr lIns="0" tIns="0" rIns="0" bIns="0" rtlCol="0" anchor="t">
            <a:spAutoFit/>
          </a:bodyPr>
          <a:lstStyle/>
          <a:p>
            <a:pPr algn="l">
              <a:lnSpc>
                <a:spcPts val="7335"/>
              </a:lnSpc>
            </a:pPr>
            <a:r>
              <a:rPr lang="en-US" sz="7560" spc="-75">
                <a:solidFill>
                  <a:srgbClr val="2657C1"/>
                </a:solidFill>
                <a:latin typeface="Etna Sans Serif"/>
                <a:ea typeface="Etna Sans Serif"/>
                <a:cs typeface="Etna Sans Serif"/>
                <a:sym typeface="Etna Sans Serif"/>
              </a:rPr>
              <a:t>Introduction to RFID</a:t>
            </a:r>
          </a:p>
        </p:txBody>
      </p:sp>
      <p:sp>
        <p:nvSpPr>
          <p:cNvPr id="11" name="TextBox 11"/>
          <p:cNvSpPr txBox="1"/>
          <p:nvPr/>
        </p:nvSpPr>
        <p:spPr>
          <a:xfrm>
            <a:off x="13726725" y="536353"/>
            <a:ext cx="1916878" cy="485737"/>
          </a:xfrm>
          <a:prstGeom prst="rect">
            <a:avLst/>
          </a:prstGeom>
        </p:spPr>
        <p:txBody>
          <a:bodyPr lIns="0" tIns="0" rIns="0" bIns="0" rtlCol="0" anchor="t">
            <a:spAutoFit/>
          </a:bodyPr>
          <a:lstStyle/>
          <a:p>
            <a:pPr algn="l">
              <a:lnSpc>
                <a:spcPts val="3149"/>
              </a:lnSpc>
            </a:pPr>
            <a:r>
              <a:rPr lang="en-US" sz="2250">
                <a:solidFill>
                  <a:srgbClr val="2657C1"/>
                </a:solidFill>
                <a:latin typeface="TT Fors"/>
                <a:ea typeface="TT Fors"/>
                <a:cs typeface="TT Fors"/>
                <a:sym typeface="TT Fors"/>
              </a:rPr>
              <a:t>Conclusion</a:t>
            </a:r>
          </a:p>
        </p:txBody>
      </p:sp>
      <p:sp>
        <p:nvSpPr>
          <p:cNvPr id="12" name="TextBox 12"/>
          <p:cNvSpPr txBox="1"/>
          <p:nvPr/>
        </p:nvSpPr>
        <p:spPr>
          <a:xfrm>
            <a:off x="16053187" y="538563"/>
            <a:ext cx="1206113" cy="485737"/>
          </a:xfrm>
          <a:prstGeom prst="rect">
            <a:avLst/>
          </a:prstGeom>
        </p:spPr>
        <p:txBody>
          <a:bodyPr lIns="0" tIns="0" rIns="0" bIns="0" rtlCol="0" anchor="t">
            <a:spAutoFit/>
          </a:bodyPr>
          <a:lstStyle/>
          <a:p>
            <a:pPr algn="l">
              <a:lnSpc>
                <a:spcPts val="3149"/>
              </a:lnSpc>
            </a:pPr>
            <a:r>
              <a:rPr lang="en-US" sz="2250">
                <a:solidFill>
                  <a:srgbClr val="2657C1"/>
                </a:solidFill>
                <a:latin typeface="TT Fors"/>
                <a:ea typeface="TT Fors"/>
                <a:cs typeface="TT Fors"/>
                <a:sym typeface="TT Fors"/>
              </a:rPr>
              <a:t>Contact</a:t>
            </a:r>
          </a:p>
        </p:txBody>
      </p:sp>
      <p:sp>
        <p:nvSpPr>
          <p:cNvPr id="13" name="TextBox 13"/>
          <p:cNvSpPr txBox="1"/>
          <p:nvPr/>
        </p:nvSpPr>
        <p:spPr>
          <a:xfrm>
            <a:off x="11362449" y="538563"/>
            <a:ext cx="1907086" cy="485737"/>
          </a:xfrm>
          <a:prstGeom prst="rect">
            <a:avLst/>
          </a:prstGeom>
        </p:spPr>
        <p:txBody>
          <a:bodyPr lIns="0" tIns="0" rIns="0" bIns="0" rtlCol="0" anchor="t">
            <a:spAutoFit/>
          </a:bodyPr>
          <a:lstStyle/>
          <a:p>
            <a:pPr algn="l">
              <a:lnSpc>
                <a:spcPts val="3149"/>
              </a:lnSpc>
            </a:pPr>
            <a:r>
              <a:rPr lang="en-US" sz="2250" b="1">
                <a:solidFill>
                  <a:srgbClr val="2657C1"/>
                </a:solidFill>
                <a:latin typeface="TT Fors Bold"/>
                <a:ea typeface="TT Fors Bold"/>
                <a:cs typeface="TT Fors Bold"/>
                <a:sym typeface="TT Fors Bold"/>
              </a:rPr>
              <a:t>Discussion</a:t>
            </a:r>
          </a:p>
        </p:txBody>
      </p:sp>
      <p:sp>
        <p:nvSpPr>
          <p:cNvPr id="14" name="Freeform 14"/>
          <p:cNvSpPr/>
          <p:nvPr/>
        </p:nvSpPr>
        <p:spPr>
          <a:xfrm>
            <a:off x="9144000" y="8592188"/>
            <a:ext cx="1332224" cy="1332224"/>
          </a:xfrm>
          <a:custGeom>
            <a:avLst/>
            <a:gdLst/>
            <a:ahLst/>
            <a:cxnLst/>
            <a:rect l="l" t="t" r="r" b="b"/>
            <a:pathLst>
              <a:path w="1332224" h="1332224">
                <a:moveTo>
                  <a:pt x="0" y="0"/>
                </a:moveTo>
                <a:lnTo>
                  <a:pt x="1332224" y="0"/>
                </a:lnTo>
                <a:lnTo>
                  <a:pt x="1332224" y="1332224"/>
                </a:lnTo>
                <a:lnTo>
                  <a:pt x="0" y="1332224"/>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grpSp>
        <p:nvGrpSpPr>
          <p:cNvPr id="15" name="Group 15"/>
          <p:cNvGrpSpPr/>
          <p:nvPr/>
        </p:nvGrpSpPr>
        <p:grpSpPr>
          <a:xfrm>
            <a:off x="9521057" y="2587657"/>
            <a:ext cx="7135187" cy="5578059"/>
            <a:chOff x="0" y="0"/>
            <a:chExt cx="9513583" cy="7437412"/>
          </a:xfrm>
        </p:grpSpPr>
        <p:sp>
          <p:nvSpPr>
            <p:cNvPr id="16" name="Freeform 16"/>
            <p:cNvSpPr/>
            <p:nvPr/>
          </p:nvSpPr>
          <p:spPr>
            <a:xfrm>
              <a:off x="0" y="0"/>
              <a:ext cx="9513570" cy="7437374"/>
            </a:xfrm>
            <a:custGeom>
              <a:avLst/>
              <a:gdLst/>
              <a:ahLst/>
              <a:cxnLst/>
              <a:rect l="l" t="t" r="r" b="b"/>
              <a:pathLst>
                <a:path w="9513570" h="7437374">
                  <a:moveTo>
                    <a:pt x="0" y="0"/>
                  </a:moveTo>
                  <a:lnTo>
                    <a:pt x="9513570" y="0"/>
                  </a:lnTo>
                  <a:lnTo>
                    <a:pt x="9513570" y="7437374"/>
                  </a:lnTo>
                  <a:lnTo>
                    <a:pt x="0" y="7437374"/>
                  </a:lnTo>
                  <a:lnTo>
                    <a:pt x="0" y="0"/>
                  </a:lnTo>
                  <a:close/>
                </a:path>
              </a:pathLst>
            </a:custGeom>
            <a:blipFill>
              <a:blip r:embed="rId7"/>
              <a:stretch>
                <a:fillRect/>
              </a:stretch>
            </a:blipFill>
          </p:spPr>
        </p:sp>
      </p:grpSp>
      <p:sp>
        <p:nvSpPr>
          <p:cNvPr id="17" name="TextBox 17"/>
          <p:cNvSpPr txBox="1"/>
          <p:nvPr/>
        </p:nvSpPr>
        <p:spPr>
          <a:xfrm>
            <a:off x="895350" y="3741068"/>
            <a:ext cx="8115300" cy="5033645"/>
          </a:xfrm>
          <a:prstGeom prst="rect">
            <a:avLst/>
          </a:prstGeom>
        </p:spPr>
        <p:txBody>
          <a:bodyPr lIns="0" tIns="0" rIns="0" bIns="0" rtlCol="0" anchor="t">
            <a:spAutoFit/>
          </a:bodyPr>
          <a:lstStyle/>
          <a:p>
            <a:pPr algn="ctr">
              <a:lnSpc>
                <a:spcPts val="4480"/>
              </a:lnSpc>
            </a:pPr>
            <a:r>
              <a:rPr lang="en-US" sz="3200">
                <a:solidFill>
                  <a:srgbClr val="2657C1"/>
                </a:solidFill>
                <a:latin typeface="TT Fors"/>
                <a:ea typeface="TT Fors"/>
                <a:cs typeface="TT Fors"/>
                <a:sym typeface="TT Fors"/>
              </a:rPr>
              <a:t>RFID (Radio Frequency Identification) is a wireless technology that uses radio waves to identify objects without physical contact. It works by sending data between a tag and a reader, which makes identification fast and easy. RFID is used in many areas such as access cards, public transport, payment systems, and product tracking.</a:t>
            </a:r>
          </a:p>
        </p:txBody>
      </p:sp>
      <p:sp>
        <p:nvSpPr>
          <p:cNvPr id="18" name="TextBox 18"/>
          <p:cNvSpPr txBox="1"/>
          <p:nvPr/>
        </p:nvSpPr>
        <p:spPr>
          <a:xfrm>
            <a:off x="1336423" y="577948"/>
            <a:ext cx="921544" cy="632993"/>
          </a:xfrm>
          <a:prstGeom prst="rect">
            <a:avLst/>
          </a:prstGeom>
        </p:spPr>
        <p:txBody>
          <a:bodyPr lIns="0" tIns="0" rIns="0" bIns="0" rtlCol="0" anchor="t">
            <a:spAutoFit/>
          </a:bodyPr>
          <a:lstStyle/>
          <a:p>
            <a:pPr algn="l">
              <a:lnSpc>
                <a:spcPts val="2665"/>
              </a:lnSpc>
            </a:pPr>
            <a:r>
              <a:rPr lang="en-US" sz="2750" b="1">
                <a:solidFill>
                  <a:srgbClr val="2657C1"/>
                </a:solidFill>
                <a:latin typeface="TT Fors Bold"/>
                <a:ea typeface="TT Fors Bold"/>
                <a:cs typeface="TT Fors Bold"/>
                <a:sym typeface="TT Fors Bold"/>
              </a:rPr>
              <a:t> RFID</a:t>
            </a:r>
          </a:p>
          <a:p>
            <a:pPr algn="l">
              <a:lnSpc>
                <a:spcPts val="2665"/>
              </a:lnSpc>
            </a:pPr>
            <a:endParaRPr lang="en-US" sz="2750" b="1">
              <a:solidFill>
                <a:srgbClr val="2657C1"/>
              </a:solidFill>
              <a:latin typeface="TT Fors Bold"/>
              <a:ea typeface="TT Fors Bold"/>
              <a:cs typeface="TT Fors Bold"/>
              <a:sym typeface="TT Fors Bold"/>
            </a:endParaRPr>
          </a:p>
        </p:txBody>
      </p:sp>
      <p:grpSp>
        <p:nvGrpSpPr>
          <p:cNvPr id="19" name="Group 19"/>
          <p:cNvGrpSpPr/>
          <p:nvPr/>
        </p:nvGrpSpPr>
        <p:grpSpPr>
          <a:xfrm>
            <a:off x="446094" y="633813"/>
            <a:ext cx="582606" cy="577129"/>
            <a:chOff x="0" y="0"/>
            <a:chExt cx="776808" cy="769506"/>
          </a:xfrm>
        </p:grpSpPr>
        <p:sp>
          <p:nvSpPr>
            <p:cNvPr id="20" name="Freeform 20"/>
            <p:cNvSpPr/>
            <p:nvPr/>
          </p:nvSpPr>
          <p:spPr>
            <a:xfrm>
              <a:off x="0" y="0"/>
              <a:ext cx="776859" cy="769493"/>
            </a:xfrm>
            <a:custGeom>
              <a:avLst/>
              <a:gdLst/>
              <a:ahLst/>
              <a:cxnLst/>
              <a:rect l="l" t="t" r="r" b="b"/>
              <a:pathLst>
                <a:path w="776859" h="769493">
                  <a:moveTo>
                    <a:pt x="0" y="0"/>
                  </a:moveTo>
                  <a:lnTo>
                    <a:pt x="776859" y="0"/>
                  </a:lnTo>
                  <a:lnTo>
                    <a:pt x="776859" y="769493"/>
                  </a:lnTo>
                  <a:lnTo>
                    <a:pt x="0" y="769493"/>
                  </a:lnTo>
                  <a:lnTo>
                    <a:pt x="0" y="0"/>
                  </a:lnTo>
                  <a:close/>
                </a:path>
              </a:pathLst>
            </a:custGeom>
            <a:blipFill>
              <a:blip r:embed="rId8"/>
              <a:stretch>
                <a:fillRect t="-158" r="6" b="-161"/>
              </a:stretch>
            </a:blipFill>
          </p:spPr>
        </p:sp>
      </p:gr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838200" y="2628900"/>
            <a:ext cx="16801462" cy="7267575"/>
            <a:chOff x="0" y="0"/>
            <a:chExt cx="22401949" cy="9690100"/>
          </a:xfrm>
        </p:grpSpPr>
        <p:sp>
          <p:nvSpPr>
            <p:cNvPr id="3" name="Freeform 3"/>
            <p:cNvSpPr/>
            <p:nvPr/>
          </p:nvSpPr>
          <p:spPr>
            <a:xfrm>
              <a:off x="0" y="0"/>
              <a:ext cx="22401912" cy="9690100"/>
            </a:xfrm>
            <a:custGeom>
              <a:avLst/>
              <a:gdLst/>
              <a:ahLst/>
              <a:cxnLst/>
              <a:rect l="l" t="t" r="r" b="b"/>
              <a:pathLst>
                <a:path w="22401912" h="9690100">
                  <a:moveTo>
                    <a:pt x="0" y="0"/>
                  </a:moveTo>
                  <a:lnTo>
                    <a:pt x="22401912" y="0"/>
                  </a:lnTo>
                  <a:lnTo>
                    <a:pt x="22401912" y="9690100"/>
                  </a:lnTo>
                  <a:lnTo>
                    <a:pt x="0" y="9690100"/>
                  </a:lnTo>
                  <a:lnTo>
                    <a:pt x="0" y="0"/>
                  </a:lnTo>
                  <a:close/>
                </a:path>
              </a:pathLst>
            </a:custGeom>
            <a:blipFill>
              <a:blip r:embed="rId2"/>
              <a:stretch>
                <a:fillRect/>
              </a:stretch>
            </a:blipFill>
          </p:spPr>
        </p:sp>
      </p:grpSp>
      <p:grpSp>
        <p:nvGrpSpPr>
          <p:cNvPr id="4" name="Group 4"/>
          <p:cNvGrpSpPr/>
          <p:nvPr/>
        </p:nvGrpSpPr>
        <p:grpSpPr>
          <a:xfrm>
            <a:off x="17569720" y="1476127"/>
            <a:ext cx="1874901" cy="1874901"/>
            <a:chOff x="0" y="0"/>
            <a:chExt cx="2499868" cy="2499868"/>
          </a:xfrm>
        </p:grpSpPr>
        <p:sp>
          <p:nvSpPr>
            <p:cNvPr id="5" name="Freeform 5"/>
            <p:cNvSpPr/>
            <p:nvPr/>
          </p:nvSpPr>
          <p:spPr>
            <a:xfrm>
              <a:off x="0" y="0"/>
              <a:ext cx="2499868" cy="2499868"/>
            </a:xfrm>
            <a:custGeom>
              <a:avLst/>
              <a:gdLst/>
              <a:ahLst/>
              <a:cxnLst/>
              <a:rect l="l" t="t" r="r" b="b"/>
              <a:pathLst>
                <a:path w="2499868" h="2499868">
                  <a:moveTo>
                    <a:pt x="0" y="0"/>
                  </a:moveTo>
                  <a:lnTo>
                    <a:pt x="2499868" y="0"/>
                  </a:lnTo>
                  <a:lnTo>
                    <a:pt x="2499868" y="2499868"/>
                  </a:lnTo>
                  <a:lnTo>
                    <a:pt x="0" y="2499868"/>
                  </a:lnTo>
                  <a:lnTo>
                    <a:pt x="0" y="0"/>
                  </a:lnTo>
                  <a:close/>
                </a:path>
              </a:pathLst>
            </a:custGeom>
            <a:blipFill>
              <a:blip r:embed="rId3"/>
              <a:stretch>
                <a:fillRect/>
              </a:stretch>
            </a:blipFill>
          </p:spPr>
        </p:sp>
      </p:grpSp>
      <p:grpSp>
        <p:nvGrpSpPr>
          <p:cNvPr id="6" name="Group 6"/>
          <p:cNvGrpSpPr/>
          <p:nvPr/>
        </p:nvGrpSpPr>
        <p:grpSpPr>
          <a:xfrm>
            <a:off x="-2285876" y="8101765"/>
            <a:ext cx="4841462" cy="4841462"/>
            <a:chOff x="0" y="0"/>
            <a:chExt cx="6455283" cy="6455283"/>
          </a:xfrm>
        </p:grpSpPr>
        <p:sp>
          <p:nvSpPr>
            <p:cNvPr id="7" name="Freeform 7"/>
            <p:cNvSpPr/>
            <p:nvPr/>
          </p:nvSpPr>
          <p:spPr>
            <a:xfrm>
              <a:off x="0" y="0"/>
              <a:ext cx="6455283" cy="6455283"/>
            </a:xfrm>
            <a:custGeom>
              <a:avLst/>
              <a:gdLst/>
              <a:ahLst/>
              <a:cxnLst/>
              <a:rect l="l" t="t" r="r" b="b"/>
              <a:pathLst>
                <a:path w="6455283" h="6455283">
                  <a:moveTo>
                    <a:pt x="0" y="0"/>
                  </a:moveTo>
                  <a:lnTo>
                    <a:pt x="6455283" y="0"/>
                  </a:lnTo>
                  <a:lnTo>
                    <a:pt x="6455283" y="6455283"/>
                  </a:lnTo>
                  <a:lnTo>
                    <a:pt x="0" y="6455283"/>
                  </a:lnTo>
                  <a:lnTo>
                    <a:pt x="0" y="0"/>
                  </a:lnTo>
                  <a:close/>
                </a:path>
              </a:pathLst>
            </a:custGeom>
            <a:blipFill>
              <a:blip r:embed="rId3"/>
              <a:stretch>
                <a:fillRect/>
              </a:stretch>
            </a:blipFill>
          </p:spPr>
        </p:sp>
      </p:grpSp>
      <p:sp>
        <p:nvSpPr>
          <p:cNvPr id="8" name="Freeform 8"/>
          <p:cNvSpPr/>
          <p:nvPr/>
        </p:nvSpPr>
        <p:spPr>
          <a:xfrm>
            <a:off x="685800" y="2400033"/>
            <a:ext cx="776373" cy="776373"/>
          </a:xfrm>
          <a:custGeom>
            <a:avLst/>
            <a:gdLst/>
            <a:ahLst/>
            <a:cxnLst/>
            <a:rect l="l" t="t" r="r" b="b"/>
            <a:pathLst>
              <a:path w="776373" h="776373">
                <a:moveTo>
                  <a:pt x="0" y="0"/>
                </a:moveTo>
                <a:lnTo>
                  <a:pt x="776373" y="0"/>
                </a:lnTo>
                <a:lnTo>
                  <a:pt x="776373" y="776374"/>
                </a:lnTo>
                <a:lnTo>
                  <a:pt x="0" y="776374"/>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9" name="Freeform 9"/>
          <p:cNvSpPr/>
          <p:nvPr/>
        </p:nvSpPr>
        <p:spPr>
          <a:xfrm>
            <a:off x="16053187" y="8429387"/>
            <a:ext cx="4185237" cy="4185237"/>
          </a:xfrm>
          <a:custGeom>
            <a:avLst/>
            <a:gdLst/>
            <a:ahLst/>
            <a:cxnLst/>
            <a:rect l="l" t="t" r="r" b="b"/>
            <a:pathLst>
              <a:path w="4185237" h="4185237">
                <a:moveTo>
                  <a:pt x="0" y="0"/>
                </a:moveTo>
                <a:lnTo>
                  <a:pt x="4185238" y="0"/>
                </a:lnTo>
                <a:lnTo>
                  <a:pt x="4185238" y="4185237"/>
                </a:lnTo>
                <a:lnTo>
                  <a:pt x="0" y="4185237"/>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10" name="Freeform 10"/>
          <p:cNvSpPr/>
          <p:nvPr/>
        </p:nvSpPr>
        <p:spPr>
          <a:xfrm>
            <a:off x="0" y="-180823"/>
            <a:ext cx="18288000" cy="393830"/>
          </a:xfrm>
          <a:custGeom>
            <a:avLst/>
            <a:gdLst/>
            <a:ahLst/>
            <a:cxnLst/>
            <a:rect l="l" t="t" r="r" b="b"/>
            <a:pathLst>
              <a:path w="18288000" h="393830">
                <a:moveTo>
                  <a:pt x="0" y="0"/>
                </a:moveTo>
                <a:lnTo>
                  <a:pt x="18288000" y="0"/>
                </a:lnTo>
                <a:lnTo>
                  <a:pt x="18288000" y="393831"/>
                </a:lnTo>
                <a:lnTo>
                  <a:pt x="0" y="393831"/>
                </a:lnTo>
                <a:lnTo>
                  <a:pt x="0" y="0"/>
                </a:lnTo>
                <a:close/>
              </a:path>
            </a:pathLst>
          </a:custGeom>
          <a:blipFill>
            <a:blip r:embed="rId6">
              <a:extLst>
                <a:ext uri="{96DAC541-7B7A-43D3-8B79-37D633B846F1}">
                  <asvg:svgBlip xmlns:asvg="http://schemas.microsoft.com/office/drawing/2016/SVG/main" xmlns="" r:embed="rId7"/>
                </a:ext>
              </a:extLst>
            </a:blip>
            <a:stretch>
              <a:fillRect t="-788" b="-790"/>
            </a:stretch>
          </a:blipFill>
        </p:spPr>
      </p:sp>
      <p:sp>
        <p:nvSpPr>
          <p:cNvPr id="11" name="TextBox 11"/>
          <p:cNvSpPr txBox="1"/>
          <p:nvPr/>
        </p:nvSpPr>
        <p:spPr>
          <a:xfrm>
            <a:off x="9144000" y="536353"/>
            <a:ext cx="1662551" cy="485737"/>
          </a:xfrm>
          <a:prstGeom prst="rect">
            <a:avLst/>
          </a:prstGeom>
        </p:spPr>
        <p:txBody>
          <a:bodyPr lIns="0" tIns="0" rIns="0" bIns="0" rtlCol="0" anchor="t">
            <a:spAutoFit/>
          </a:bodyPr>
          <a:lstStyle/>
          <a:p>
            <a:pPr algn="l">
              <a:lnSpc>
                <a:spcPts val="3149"/>
              </a:lnSpc>
            </a:pPr>
            <a:r>
              <a:rPr lang="en-US" sz="2250">
                <a:solidFill>
                  <a:srgbClr val="2657C1"/>
                </a:solidFill>
                <a:latin typeface="TT Fors"/>
                <a:ea typeface="TT Fors"/>
                <a:cs typeface="TT Fors"/>
                <a:sym typeface="TT Fors"/>
              </a:rPr>
              <a:t>Home</a:t>
            </a:r>
          </a:p>
        </p:txBody>
      </p:sp>
      <p:sp>
        <p:nvSpPr>
          <p:cNvPr id="12" name="TextBox 12"/>
          <p:cNvSpPr txBox="1"/>
          <p:nvPr/>
        </p:nvSpPr>
        <p:spPr>
          <a:xfrm>
            <a:off x="3962400" y="1171575"/>
            <a:ext cx="13681072" cy="1120778"/>
          </a:xfrm>
          <a:prstGeom prst="rect">
            <a:avLst/>
          </a:prstGeom>
        </p:spPr>
        <p:txBody>
          <a:bodyPr lIns="0" tIns="0" rIns="0" bIns="0" rtlCol="0" anchor="t">
            <a:spAutoFit/>
          </a:bodyPr>
          <a:lstStyle/>
          <a:p>
            <a:pPr algn="l">
              <a:lnSpc>
                <a:spcPts val="8075"/>
              </a:lnSpc>
            </a:pPr>
            <a:r>
              <a:rPr lang="en-US" sz="6000" spc="-83">
                <a:solidFill>
                  <a:srgbClr val="2657C1"/>
                </a:solidFill>
                <a:latin typeface="Etna Sans Serif"/>
                <a:ea typeface="Etna Sans Serif"/>
                <a:cs typeface="Etna Sans Serif"/>
                <a:sym typeface="Etna Sans Serif"/>
              </a:rPr>
              <a:t>Common Application of RFID</a:t>
            </a:r>
          </a:p>
        </p:txBody>
      </p:sp>
      <p:sp>
        <p:nvSpPr>
          <p:cNvPr id="13" name="TextBox 13"/>
          <p:cNvSpPr txBox="1"/>
          <p:nvPr/>
        </p:nvSpPr>
        <p:spPr>
          <a:xfrm>
            <a:off x="13726725" y="536353"/>
            <a:ext cx="1916878" cy="485737"/>
          </a:xfrm>
          <a:prstGeom prst="rect">
            <a:avLst/>
          </a:prstGeom>
        </p:spPr>
        <p:txBody>
          <a:bodyPr lIns="0" tIns="0" rIns="0" bIns="0" rtlCol="0" anchor="t">
            <a:spAutoFit/>
          </a:bodyPr>
          <a:lstStyle/>
          <a:p>
            <a:pPr algn="l">
              <a:lnSpc>
                <a:spcPts val="3149"/>
              </a:lnSpc>
            </a:pPr>
            <a:r>
              <a:rPr lang="en-US" sz="2250">
                <a:solidFill>
                  <a:srgbClr val="2657C1"/>
                </a:solidFill>
                <a:latin typeface="TT Fors"/>
                <a:ea typeface="TT Fors"/>
                <a:cs typeface="TT Fors"/>
                <a:sym typeface="TT Fors"/>
              </a:rPr>
              <a:t>Conclusion</a:t>
            </a:r>
          </a:p>
        </p:txBody>
      </p:sp>
      <p:sp>
        <p:nvSpPr>
          <p:cNvPr id="14" name="TextBox 14"/>
          <p:cNvSpPr txBox="1"/>
          <p:nvPr/>
        </p:nvSpPr>
        <p:spPr>
          <a:xfrm>
            <a:off x="16053187" y="538563"/>
            <a:ext cx="1206113" cy="485737"/>
          </a:xfrm>
          <a:prstGeom prst="rect">
            <a:avLst/>
          </a:prstGeom>
        </p:spPr>
        <p:txBody>
          <a:bodyPr lIns="0" tIns="0" rIns="0" bIns="0" rtlCol="0" anchor="t">
            <a:spAutoFit/>
          </a:bodyPr>
          <a:lstStyle/>
          <a:p>
            <a:pPr algn="l">
              <a:lnSpc>
                <a:spcPts val="3149"/>
              </a:lnSpc>
            </a:pPr>
            <a:r>
              <a:rPr lang="en-US" sz="2250">
                <a:solidFill>
                  <a:srgbClr val="2657C1"/>
                </a:solidFill>
                <a:latin typeface="TT Fors"/>
                <a:ea typeface="TT Fors"/>
                <a:cs typeface="TT Fors"/>
                <a:sym typeface="TT Fors"/>
              </a:rPr>
              <a:t>Contact</a:t>
            </a:r>
          </a:p>
        </p:txBody>
      </p:sp>
      <p:sp>
        <p:nvSpPr>
          <p:cNvPr id="15" name="TextBox 15"/>
          <p:cNvSpPr txBox="1"/>
          <p:nvPr/>
        </p:nvSpPr>
        <p:spPr>
          <a:xfrm>
            <a:off x="11362449" y="538563"/>
            <a:ext cx="1907086" cy="485737"/>
          </a:xfrm>
          <a:prstGeom prst="rect">
            <a:avLst/>
          </a:prstGeom>
        </p:spPr>
        <p:txBody>
          <a:bodyPr lIns="0" tIns="0" rIns="0" bIns="0" rtlCol="0" anchor="t">
            <a:spAutoFit/>
          </a:bodyPr>
          <a:lstStyle/>
          <a:p>
            <a:pPr algn="l">
              <a:lnSpc>
                <a:spcPts val="3149"/>
              </a:lnSpc>
            </a:pPr>
            <a:r>
              <a:rPr lang="en-US" sz="2250" b="1">
                <a:solidFill>
                  <a:srgbClr val="2657C1"/>
                </a:solidFill>
                <a:latin typeface="TT Fors Bold"/>
                <a:ea typeface="TT Fors Bold"/>
                <a:cs typeface="TT Fors Bold"/>
                <a:sym typeface="TT Fors Bold"/>
              </a:rPr>
              <a:t>Discussion</a:t>
            </a:r>
          </a:p>
        </p:txBody>
      </p:sp>
      <p:sp>
        <p:nvSpPr>
          <p:cNvPr id="16" name="TextBox 16"/>
          <p:cNvSpPr txBox="1"/>
          <p:nvPr/>
        </p:nvSpPr>
        <p:spPr>
          <a:xfrm>
            <a:off x="1462173" y="515112"/>
            <a:ext cx="921544" cy="632993"/>
          </a:xfrm>
          <a:prstGeom prst="rect">
            <a:avLst/>
          </a:prstGeom>
        </p:spPr>
        <p:txBody>
          <a:bodyPr lIns="0" tIns="0" rIns="0" bIns="0" rtlCol="0" anchor="t">
            <a:spAutoFit/>
          </a:bodyPr>
          <a:lstStyle/>
          <a:p>
            <a:pPr algn="l">
              <a:lnSpc>
                <a:spcPts val="2665"/>
              </a:lnSpc>
            </a:pPr>
            <a:r>
              <a:rPr lang="en-US" sz="2750" b="1">
                <a:solidFill>
                  <a:srgbClr val="2657C1"/>
                </a:solidFill>
                <a:latin typeface="TT Fors Bold"/>
                <a:ea typeface="TT Fors Bold"/>
                <a:cs typeface="TT Fors Bold"/>
                <a:sym typeface="TT Fors Bold"/>
              </a:rPr>
              <a:t> RFID</a:t>
            </a:r>
          </a:p>
          <a:p>
            <a:pPr algn="l">
              <a:lnSpc>
                <a:spcPts val="2665"/>
              </a:lnSpc>
            </a:pPr>
            <a:endParaRPr lang="en-US" sz="2750" b="1">
              <a:solidFill>
                <a:srgbClr val="2657C1"/>
              </a:solidFill>
              <a:latin typeface="TT Fors Bold"/>
              <a:ea typeface="TT Fors Bold"/>
              <a:cs typeface="TT Fors Bold"/>
              <a:sym typeface="TT Fors Bold"/>
            </a:endParaRPr>
          </a:p>
        </p:txBody>
      </p:sp>
      <p:grpSp>
        <p:nvGrpSpPr>
          <p:cNvPr id="17" name="Group 17"/>
          <p:cNvGrpSpPr/>
          <p:nvPr/>
        </p:nvGrpSpPr>
        <p:grpSpPr>
          <a:xfrm>
            <a:off x="446094" y="633813"/>
            <a:ext cx="582606" cy="577129"/>
            <a:chOff x="0" y="0"/>
            <a:chExt cx="776808" cy="769506"/>
          </a:xfrm>
        </p:grpSpPr>
        <p:sp>
          <p:nvSpPr>
            <p:cNvPr id="18" name="Freeform 18"/>
            <p:cNvSpPr/>
            <p:nvPr/>
          </p:nvSpPr>
          <p:spPr>
            <a:xfrm>
              <a:off x="0" y="0"/>
              <a:ext cx="776859" cy="769493"/>
            </a:xfrm>
            <a:custGeom>
              <a:avLst/>
              <a:gdLst/>
              <a:ahLst/>
              <a:cxnLst/>
              <a:rect l="l" t="t" r="r" b="b"/>
              <a:pathLst>
                <a:path w="776859" h="769493">
                  <a:moveTo>
                    <a:pt x="0" y="0"/>
                  </a:moveTo>
                  <a:lnTo>
                    <a:pt x="776859" y="0"/>
                  </a:lnTo>
                  <a:lnTo>
                    <a:pt x="776859" y="769493"/>
                  </a:lnTo>
                  <a:lnTo>
                    <a:pt x="0" y="769493"/>
                  </a:lnTo>
                  <a:lnTo>
                    <a:pt x="0" y="0"/>
                  </a:lnTo>
                  <a:close/>
                </a:path>
              </a:pathLst>
            </a:custGeom>
            <a:blipFill>
              <a:blip r:embed="rId8"/>
              <a:stretch>
                <a:fillRect t="-158" r="6" b="-161"/>
              </a:stretch>
            </a:blipFill>
          </p:spPr>
        </p:sp>
      </p:gr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7569720" y="1476127"/>
            <a:ext cx="1874901" cy="1874901"/>
            <a:chOff x="0" y="0"/>
            <a:chExt cx="2499868" cy="2499868"/>
          </a:xfrm>
        </p:grpSpPr>
        <p:sp>
          <p:nvSpPr>
            <p:cNvPr id="3" name="Freeform 3"/>
            <p:cNvSpPr/>
            <p:nvPr/>
          </p:nvSpPr>
          <p:spPr>
            <a:xfrm>
              <a:off x="0" y="0"/>
              <a:ext cx="2499868" cy="2499868"/>
            </a:xfrm>
            <a:custGeom>
              <a:avLst/>
              <a:gdLst/>
              <a:ahLst/>
              <a:cxnLst/>
              <a:rect l="l" t="t" r="r" b="b"/>
              <a:pathLst>
                <a:path w="2499868" h="2499868">
                  <a:moveTo>
                    <a:pt x="0" y="0"/>
                  </a:moveTo>
                  <a:lnTo>
                    <a:pt x="2499868" y="0"/>
                  </a:lnTo>
                  <a:lnTo>
                    <a:pt x="2499868" y="2499868"/>
                  </a:lnTo>
                  <a:lnTo>
                    <a:pt x="0" y="2499868"/>
                  </a:lnTo>
                  <a:lnTo>
                    <a:pt x="0" y="0"/>
                  </a:lnTo>
                  <a:close/>
                </a:path>
              </a:pathLst>
            </a:custGeom>
            <a:blipFill>
              <a:blip r:embed="rId2"/>
              <a:stretch>
                <a:fillRect/>
              </a:stretch>
            </a:blipFill>
          </p:spPr>
        </p:sp>
      </p:grpSp>
      <p:grpSp>
        <p:nvGrpSpPr>
          <p:cNvPr id="4" name="Group 4"/>
          <p:cNvGrpSpPr/>
          <p:nvPr/>
        </p:nvGrpSpPr>
        <p:grpSpPr>
          <a:xfrm>
            <a:off x="-2660533" y="8870118"/>
            <a:ext cx="4841462" cy="4841462"/>
            <a:chOff x="0" y="0"/>
            <a:chExt cx="6455283" cy="6455283"/>
          </a:xfrm>
        </p:grpSpPr>
        <p:sp>
          <p:nvSpPr>
            <p:cNvPr id="5" name="Freeform 5"/>
            <p:cNvSpPr/>
            <p:nvPr/>
          </p:nvSpPr>
          <p:spPr>
            <a:xfrm>
              <a:off x="0" y="0"/>
              <a:ext cx="6455283" cy="6455283"/>
            </a:xfrm>
            <a:custGeom>
              <a:avLst/>
              <a:gdLst/>
              <a:ahLst/>
              <a:cxnLst/>
              <a:rect l="l" t="t" r="r" b="b"/>
              <a:pathLst>
                <a:path w="6455283" h="6455283">
                  <a:moveTo>
                    <a:pt x="0" y="0"/>
                  </a:moveTo>
                  <a:lnTo>
                    <a:pt x="6455283" y="0"/>
                  </a:lnTo>
                  <a:lnTo>
                    <a:pt x="6455283" y="6455283"/>
                  </a:lnTo>
                  <a:lnTo>
                    <a:pt x="0" y="6455283"/>
                  </a:lnTo>
                  <a:lnTo>
                    <a:pt x="0" y="0"/>
                  </a:lnTo>
                  <a:close/>
                </a:path>
              </a:pathLst>
            </a:custGeom>
            <a:blipFill>
              <a:blip r:embed="rId2"/>
              <a:stretch>
                <a:fillRect/>
              </a:stretch>
            </a:blipFill>
          </p:spPr>
        </p:sp>
      </p:grpSp>
      <p:sp>
        <p:nvSpPr>
          <p:cNvPr id="6" name="Freeform 6"/>
          <p:cNvSpPr/>
          <p:nvPr/>
        </p:nvSpPr>
        <p:spPr>
          <a:xfrm>
            <a:off x="1028700" y="2025386"/>
            <a:ext cx="776373" cy="776373"/>
          </a:xfrm>
          <a:custGeom>
            <a:avLst/>
            <a:gdLst/>
            <a:ahLst/>
            <a:cxnLst/>
            <a:rect l="l" t="t" r="r" b="b"/>
            <a:pathLst>
              <a:path w="776373" h="776373">
                <a:moveTo>
                  <a:pt x="0" y="0"/>
                </a:moveTo>
                <a:lnTo>
                  <a:pt x="776373" y="0"/>
                </a:lnTo>
                <a:lnTo>
                  <a:pt x="776373" y="776374"/>
                </a:lnTo>
                <a:lnTo>
                  <a:pt x="0" y="776374"/>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sp>
        <p:nvSpPr>
          <p:cNvPr id="7" name="Freeform 7"/>
          <p:cNvSpPr/>
          <p:nvPr/>
        </p:nvSpPr>
        <p:spPr>
          <a:xfrm>
            <a:off x="16053187" y="8429387"/>
            <a:ext cx="4185237" cy="4185237"/>
          </a:xfrm>
          <a:custGeom>
            <a:avLst/>
            <a:gdLst/>
            <a:ahLst/>
            <a:cxnLst/>
            <a:rect l="l" t="t" r="r" b="b"/>
            <a:pathLst>
              <a:path w="4185237" h="4185237">
                <a:moveTo>
                  <a:pt x="0" y="0"/>
                </a:moveTo>
                <a:lnTo>
                  <a:pt x="4185238" y="0"/>
                </a:lnTo>
                <a:lnTo>
                  <a:pt x="4185238" y="4185237"/>
                </a:lnTo>
                <a:lnTo>
                  <a:pt x="0" y="4185237"/>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sp>
        <p:nvSpPr>
          <p:cNvPr id="8" name="Freeform 8"/>
          <p:cNvSpPr/>
          <p:nvPr/>
        </p:nvSpPr>
        <p:spPr>
          <a:xfrm>
            <a:off x="0" y="-180823"/>
            <a:ext cx="18288000" cy="393830"/>
          </a:xfrm>
          <a:custGeom>
            <a:avLst/>
            <a:gdLst/>
            <a:ahLst/>
            <a:cxnLst/>
            <a:rect l="l" t="t" r="r" b="b"/>
            <a:pathLst>
              <a:path w="18288000" h="393830">
                <a:moveTo>
                  <a:pt x="0" y="0"/>
                </a:moveTo>
                <a:lnTo>
                  <a:pt x="18288000" y="0"/>
                </a:lnTo>
                <a:lnTo>
                  <a:pt x="18288000" y="393831"/>
                </a:lnTo>
                <a:lnTo>
                  <a:pt x="0" y="393831"/>
                </a:lnTo>
                <a:lnTo>
                  <a:pt x="0" y="0"/>
                </a:lnTo>
                <a:close/>
              </a:path>
            </a:pathLst>
          </a:custGeom>
          <a:blipFill>
            <a:blip r:embed="rId5">
              <a:extLst>
                <a:ext uri="{96DAC541-7B7A-43D3-8B79-37D633B846F1}">
                  <asvg:svgBlip xmlns:asvg="http://schemas.microsoft.com/office/drawing/2016/SVG/main" xmlns="" r:embed="rId6"/>
                </a:ext>
              </a:extLst>
            </a:blip>
            <a:stretch>
              <a:fillRect t="-788" b="-790"/>
            </a:stretch>
          </a:blipFill>
        </p:spPr>
      </p:sp>
      <p:sp>
        <p:nvSpPr>
          <p:cNvPr id="9" name="TextBox 9"/>
          <p:cNvSpPr txBox="1"/>
          <p:nvPr/>
        </p:nvSpPr>
        <p:spPr>
          <a:xfrm>
            <a:off x="9144000" y="536353"/>
            <a:ext cx="1662551" cy="485737"/>
          </a:xfrm>
          <a:prstGeom prst="rect">
            <a:avLst/>
          </a:prstGeom>
        </p:spPr>
        <p:txBody>
          <a:bodyPr lIns="0" tIns="0" rIns="0" bIns="0" rtlCol="0" anchor="t">
            <a:spAutoFit/>
          </a:bodyPr>
          <a:lstStyle/>
          <a:p>
            <a:pPr algn="l">
              <a:lnSpc>
                <a:spcPts val="3149"/>
              </a:lnSpc>
            </a:pPr>
            <a:r>
              <a:rPr lang="en-US" sz="2250">
                <a:solidFill>
                  <a:srgbClr val="2657C1"/>
                </a:solidFill>
                <a:latin typeface="TT Fors"/>
                <a:ea typeface="TT Fors"/>
                <a:cs typeface="TT Fors"/>
                <a:sym typeface="TT Fors"/>
              </a:rPr>
              <a:t>Home</a:t>
            </a:r>
          </a:p>
        </p:txBody>
      </p:sp>
      <p:sp>
        <p:nvSpPr>
          <p:cNvPr id="10" name="TextBox 10"/>
          <p:cNvSpPr txBox="1"/>
          <p:nvPr/>
        </p:nvSpPr>
        <p:spPr>
          <a:xfrm>
            <a:off x="4548664" y="2159146"/>
            <a:ext cx="9190672" cy="642604"/>
          </a:xfrm>
          <a:prstGeom prst="rect">
            <a:avLst/>
          </a:prstGeom>
        </p:spPr>
        <p:txBody>
          <a:bodyPr lIns="0" tIns="0" rIns="0" bIns="0" rtlCol="0" anchor="t">
            <a:spAutoFit/>
          </a:bodyPr>
          <a:lstStyle/>
          <a:p>
            <a:pPr algn="ctr">
              <a:lnSpc>
                <a:spcPts val="5840"/>
              </a:lnSpc>
            </a:pPr>
            <a:r>
              <a:rPr lang="en-US" sz="6020" spc="-60">
                <a:solidFill>
                  <a:srgbClr val="2657C1"/>
                </a:solidFill>
                <a:latin typeface="Etna Sans Serif"/>
                <a:ea typeface="Etna Sans Serif"/>
                <a:cs typeface="Etna Sans Serif"/>
                <a:sym typeface="Etna Sans Serif"/>
              </a:rPr>
              <a:t>How RFID works ?</a:t>
            </a:r>
          </a:p>
        </p:txBody>
      </p:sp>
      <p:sp>
        <p:nvSpPr>
          <p:cNvPr id="11" name="TextBox 11"/>
          <p:cNvSpPr txBox="1"/>
          <p:nvPr/>
        </p:nvSpPr>
        <p:spPr>
          <a:xfrm>
            <a:off x="13726725" y="536353"/>
            <a:ext cx="1916878" cy="485737"/>
          </a:xfrm>
          <a:prstGeom prst="rect">
            <a:avLst/>
          </a:prstGeom>
        </p:spPr>
        <p:txBody>
          <a:bodyPr lIns="0" tIns="0" rIns="0" bIns="0" rtlCol="0" anchor="t">
            <a:spAutoFit/>
          </a:bodyPr>
          <a:lstStyle/>
          <a:p>
            <a:pPr algn="l">
              <a:lnSpc>
                <a:spcPts val="3149"/>
              </a:lnSpc>
            </a:pPr>
            <a:r>
              <a:rPr lang="en-US" sz="2250">
                <a:solidFill>
                  <a:srgbClr val="2657C1"/>
                </a:solidFill>
                <a:latin typeface="TT Fors"/>
                <a:ea typeface="TT Fors"/>
                <a:cs typeface="TT Fors"/>
                <a:sym typeface="TT Fors"/>
              </a:rPr>
              <a:t>Conclusion</a:t>
            </a:r>
          </a:p>
        </p:txBody>
      </p:sp>
      <p:sp>
        <p:nvSpPr>
          <p:cNvPr id="12" name="TextBox 12"/>
          <p:cNvSpPr txBox="1"/>
          <p:nvPr/>
        </p:nvSpPr>
        <p:spPr>
          <a:xfrm>
            <a:off x="16053187" y="538563"/>
            <a:ext cx="1206113" cy="485737"/>
          </a:xfrm>
          <a:prstGeom prst="rect">
            <a:avLst/>
          </a:prstGeom>
        </p:spPr>
        <p:txBody>
          <a:bodyPr lIns="0" tIns="0" rIns="0" bIns="0" rtlCol="0" anchor="t">
            <a:spAutoFit/>
          </a:bodyPr>
          <a:lstStyle/>
          <a:p>
            <a:pPr algn="l">
              <a:lnSpc>
                <a:spcPts val="3149"/>
              </a:lnSpc>
            </a:pPr>
            <a:r>
              <a:rPr lang="en-US" sz="2250">
                <a:solidFill>
                  <a:srgbClr val="2657C1"/>
                </a:solidFill>
                <a:latin typeface="TT Fors"/>
                <a:ea typeface="TT Fors"/>
                <a:cs typeface="TT Fors"/>
                <a:sym typeface="TT Fors"/>
              </a:rPr>
              <a:t>Contact</a:t>
            </a:r>
          </a:p>
        </p:txBody>
      </p:sp>
      <p:sp>
        <p:nvSpPr>
          <p:cNvPr id="13" name="TextBox 13"/>
          <p:cNvSpPr txBox="1"/>
          <p:nvPr/>
        </p:nvSpPr>
        <p:spPr>
          <a:xfrm>
            <a:off x="11362449" y="538563"/>
            <a:ext cx="1907086" cy="485737"/>
          </a:xfrm>
          <a:prstGeom prst="rect">
            <a:avLst/>
          </a:prstGeom>
        </p:spPr>
        <p:txBody>
          <a:bodyPr lIns="0" tIns="0" rIns="0" bIns="0" rtlCol="0" anchor="t">
            <a:spAutoFit/>
          </a:bodyPr>
          <a:lstStyle/>
          <a:p>
            <a:pPr algn="l">
              <a:lnSpc>
                <a:spcPts val="3149"/>
              </a:lnSpc>
            </a:pPr>
            <a:r>
              <a:rPr lang="en-US" sz="2250" b="1">
                <a:solidFill>
                  <a:srgbClr val="2657C1"/>
                </a:solidFill>
                <a:latin typeface="TT Fors Bold"/>
                <a:ea typeface="TT Fors Bold"/>
                <a:cs typeface="TT Fors Bold"/>
                <a:sym typeface="TT Fors Bold"/>
              </a:rPr>
              <a:t>Discussion</a:t>
            </a:r>
          </a:p>
        </p:txBody>
      </p:sp>
      <p:grpSp>
        <p:nvGrpSpPr>
          <p:cNvPr id="14" name="Group 14"/>
          <p:cNvGrpSpPr/>
          <p:nvPr/>
        </p:nvGrpSpPr>
        <p:grpSpPr>
          <a:xfrm>
            <a:off x="2924194" y="3173225"/>
            <a:ext cx="12385729" cy="6068358"/>
            <a:chOff x="0" y="0"/>
            <a:chExt cx="16514305" cy="8091145"/>
          </a:xfrm>
        </p:grpSpPr>
        <p:sp>
          <p:nvSpPr>
            <p:cNvPr id="15" name="Freeform 15"/>
            <p:cNvSpPr/>
            <p:nvPr/>
          </p:nvSpPr>
          <p:spPr>
            <a:xfrm>
              <a:off x="0" y="0"/>
              <a:ext cx="16514318" cy="8091133"/>
            </a:xfrm>
            <a:custGeom>
              <a:avLst/>
              <a:gdLst/>
              <a:ahLst/>
              <a:cxnLst/>
              <a:rect l="l" t="t" r="r" b="b"/>
              <a:pathLst>
                <a:path w="16514318" h="8091133">
                  <a:moveTo>
                    <a:pt x="0" y="0"/>
                  </a:moveTo>
                  <a:lnTo>
                    <a:pt x="16514318" y="0"/>
                  </a:lnTo>
                  <a:lnTo>
                    <a:pt x="16514318" y="8091133"/>
                  </a:lnTo>
                  <a:lnTo>
                    <a:pt x="0" y="8091133"/>
                  </a:lnTo>
                  <a:lnTo>
                    <a:pt x="0" y="0"/>
                  </a:lnTo>
                  <a:close/>
                </a:path>
              </a:pathLst>
            </a:custGeom>
            <a:blipFill>
              <a:blip r:embed="rId7"/>
              <a:stretch>
                <a:fillRect t="-13317" b="-13317"/>
              </a:stretch>
            </a:blipFill>
          </p:spPr>
        </p:sp>
      </p:grpSp>
      <p:sp>
        <p:nvSpPr>
          <p:cNvPr id="16" name="TextBox 16"/>
          <p:cNvSpPr txBox="1"/>
          <p:nvPr/>
        </p:nvSpPr>
        <p:spPr>
          <a:xfrm>
            <a:off x="1259386" y="577948"/>
            <a:ext cx="921544" cy="632993"/>
          </a:xfrm>
          <a:prstGeom prst="rect">
            <a:avLst/>
          </a:prstGeom>
        </p:spPr>
        <p:txBody>
          <a:bodyPr lIns="0" tIns="0" rIns="0" bIns="0" rtlCol="0" anchor="t">
            <a:spAutoFit/>
          </a:bodyPr>
          <a:lstStyle/>
          <a:p>
            <a:pPr algn="l">
              <a:lnSpc>
                <a:spcPts val="2665"/>
              </a:lnSpc>
            </a:pPr>
            <a:r>
              <a:rPr lang="en-US" sz="2750" b="1">
                <a:solidFill>
                  <a:srgbClr val="2657C1"/>
                </a:solidFill>
                <a:latin typeface="TT Fors Bold"/>
                <a:ea typeface="TT Fors Bold"/>
                <a:cs typeface="TT Fors Bold"/>
                <a:sym typeface="TT Fors Bold"/>
              </a:rPr>
              <a:t> RFID</a:t>
            </a:r>
          </a:p>
          <a:p>
            <a:pPr algn="l">
              <a:lnSpc>
                <a:spcPts val="2665"/>
              </a:lnSpc>
            </a:pPr>
            <a:endParaRPr lang="en-US" sz="2750" b="1">
              <a:solidFill>
                <a:srgbClr val="2657C1"/>
              </a:solidFill>
              <a:latin typeface="TT Fors Bold"/>
              <a:ea typeface="TT Fors Bold"/>
              <a:cs typeface="TT Fors Bold"/>
              <a:sym typeface="TT Fors Bold"/>
            </a:endParaRPr>
          </a:p>
        </p:txBody>
      </p:sp>
      <p:grpSp>
        <p:nvGrpSpPr>
          <p:cNvPr id="17" name="Group 17"/>
          <p:cNvGrpSpPr/>
          <p:nvPr/>
        </p:nvGrpSpPr>
        <p:grpSpPr>
          <a:xfrm>
            <a:off x="446094" y="633813"/>
            <a:ext cx="582606" cy="577129"/>
            <a:chOff x="0" y="0"/>
            <a:chExt cx="776808" cy="769506"/>
          </a:xfrm>
        </p:grpSpPr>
        <p:sp>
          <p:nvSpPr>
            <p:cNvPr id="18" name="Freeform 18"/>
            <p:cNvSpPr/>
            <p:nvPr/>
          </p:nvSpPr>
          <p:spPr>
            <a:xfrm>
              <a:off x="0" y="0"/>
              <a:ext cx="776859" cy="769493"/>
            </a:xfrm>
            <a:custGeom>
              <a:avLst/>
              <a:gdLst/>
              <a:ahLst/>
              <a:cxnLst/>
              <a:rect l="l" t="t" r="r" b="b"/>
              <a:pathLst>
                <a:path w="776859" h="769493">
                  <a:moveTo>
                    <a:pt x="0" y="0"/>
                  </a:moveTo>
                  <a:lnTo>
                    <a:pt x="776859" y="0"/>
                  </a:lnTo>
                  <a:lnTo>
                    <a:pt x="776859" y="769493"/>
                  </a:lnTo>
                  <a:lnTo>
                    <a:pt x="0" y="769493"/>
                  </a:lnTo>
                  <a:lnTo>
                    <a:pt x="0" y="0"/>
                  </a:lnTo>
                  <a:close/>
                </a:path>
              </a:pathLst>
            </a:custGeom>
            <a:blipFill>
              <a:blip r:embed="rId8"/>
              <a:stretch>
                <a:fillRect t="-158" r="6" b="-161"/>
              </a:stretch>
            </a:blipFill>
          </p:spPr>
        </p:sp>
      </p:gr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7569720" y="1476127"/>
            <a:ext cx="1874901" cy="1874901"/>
            <a:chOff x="0" y="0"/>
            <a:chExt cx="2499868" cy="2499868"/>
          </a:xfrm>
        </p:grpSpPr>
        <p:sp>
          <p:nvSpPr>
            <p:cNvPr id="3" name="Freeform 3"/>
            <p:cNvSpPr/>
            <p:nvPr/>
          </p:nvSpPr>
          <p:spPr>
            <a:xfrm>
              <a:off x="0" y="0"/>
              <a:ext cx="2499868" cy="2499868"/>
            </a:xfrm>
            <a:custGeom>
              <a:avLst/>
              <a:gdLst/>
              <a:ahLst/>
              <a:cxnLst/>
              <a:rect l="l" t="t" r="r" b="b"/>
              <a:pathLst>
                <a:path w="2499868" h="2499868">
                  <a:moveTo>
                    <a:pt x="0" y="0"/>
                  </a:moveTo>
                  <a:lnTo>
                    <a:pt x="2499868" y="0"/>
                  </a:lnTo>
                  <a:lnTo>
                    <a:pt x="2499868" y="2499868"/>
                  </a:lnTo>
                  <a:lnTo>
                    <a:pt x="0" y="2499868"/>
                  </a:lnTo>
                  <a:lnTo>
                    <a:pt x="0" y="0"/>
                  </a:lnTo>
                  <a:close/>
                </a:path>
              </a:pathLst>
            </a:custGeom>
            <a:blipFill>
              <a:blip r:embed="rId2"/>
              <a:stretch>
                <a:fillRect/>
              </a:stretch>
            </a:blipFill>
          </p:spPr>
        </p:sp>
      </p:grpSp>
      <p:grpSp>
        <p:nvGrpSpPr>
          <p:cNvPr id="4" name="Group 4"/>
          <p:cNvGrpSpPr/>
          <p:nvPr/>
        </p:nvGrpSpPr>
        <p:grpSpPr>
          <a:xfrm>
            <a:off x="-2660533" y="8870118"/>
            <a:ext cx="4841462" cy="4841462"/>
            <a:chOff x="0" y="0"/>
            <a:chExt cx="6455283" cy="6455283"/>
          </a:xfrm>
        </p:grpSpPr>
        <p:sp>
          <p:nvSpPr>
            <p:cNvPr id="5" name="Freeform 5"/>
            <p:cNvSpPr/>
            <p:nvPr/>
          </p:nvSpPr>
          <p:spPr>
            <a:xfrm>
              <a:off x="0" y="0"/>
              <a:ext cx="6455283" cy="6455283"/>
            </a:xfrm>
            <a:custGeom>
              <a:avLst/>
              <a:gdLst/>
              <a:ahLst/>
              <a:cxnLst/>
              <a:rect l="l" t="t" r="r" b="b"/>
              <a:pathLst>
                <a:path w="6455283" h="6455283">
                  <a:moveTo>
                    <a:pt x="0" y="0"/>
                  </a:moveTo>
                  <a:lnTo>
                    <a:pt x="6455283" y="0"/>
                  </a:lnTo>
                  <a:lnTo>
                    <a:pt x="6455283" y="6455283"/>
                  </a:lnTo>
                  <a:lnTo>
                    <a:pt x="0" y="6455283"/>
                  </a:lnTo>
                  <a:lnTo>
                    <a:pt x="0" y="0"/>
                  </a:lnTo>
                  <a:close/>
                </a:path>
              </a:pathLst>
            </a:custGeom>
            <a:blipFill>
              <a:blip r:embed="rId2"/>
              <a:stretch>
                <a:fillRect/>
              </a:stretch>
            </a:blipFill>
          </p:spPr>
        </p:sp>
      </p:grpSp>
      <p:sp>
        <p:nvSpPr>
          <p:cNvPr id="6" name="Freeform 6"/>
          <p:cNvSpPr/>
          <p:nvPr/>
        </p:nvSpPr>
        <p:spPr>
          <a:xfrm>
            <a:off x="16053187" y="8429387"/>
            <a:ext cx="4185237" cy="4185237"/>
          </a:xfrm>
          <a:custGeom>
            <a:avLst/>
            <a:gdLst/>
            <a:ahLst/>
            <a:cxnLst/>
            <a:rect l="l" t="t" r="r" b="b"/>
            <a:pathLst>
              <a:path w="4185237" h="4185237">
                <a:moveTo>
                  <a:pt x="0" y="0"/>
                </a:moveTo>
                <a:lnTo>
                  <a:pt x="4185238" y="0"/>
                </a:lnTo>
                <a:lnTo>
                  <a:pt x="4185238" y="4185237"/>
                </a:lnTo>
                <a:lnTo>
                  <a:pt x="0" y="4185237"/>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sp>
        <p:nvSpPr>
          <p:cNvPr id="7" name="Freeform 7"/>
          <p:cNvSpPr/>
          <p:nvPr/>
        </p:nvSpPr>
        <p:spPr>
          <a:xfrm>
            <a:off x="0" y="-180823"/>
            <a:ext cx="18288000" cy="393830"/>
          </a:xfrm>
          <a:custGeom>
            <a:avLst/>
            <a:gdLst/>
            <a:ahLst/>
            <a:cxnLst/>
            <a:rect l="l" t="t" r="r" b="b"/>
            <a:pathLst>
              <a:path w="18288000" h="393830">
                <a:moveTo>
                  <a:pt x="0" y="0"/>
                </a:moveTo>
                <a:lnTo>
                  <a:pt x="18288000" y="0"/>
                </a:lnTo>
                <a:lnTo>
                  <a:pt x="18288000" y="393831"/>
                </a:lnTo>
                <a:lnTo>
                  <a:pt x="0" y="393831"/>
                </a:lnTo>
                <a:lnTo>
                  <a:pt x="0" y="0"/>
                </a:lnTo>
                <a:close/>
              </a:path>
            </a:pathLst>
          </a:custGeom>
          <a:blipFill>
            <a:blip r:embed="rId5">
              <a:extLst>
                <a:ext uri="{96DAC541-7B7A-43D3-8B79-37D633B846F1}">
                  <asvg:svgBlip xmlns:asvg="http://schemas.microsoft.com/office/drawing/2016/SVG/main" xmlns="" r:embed="rId6"/>
                </a:ext>
              </a:extLst>
            </a:blip>
            <a:stretch>
              <a:fillRect t="-788" b="-790"/>
            </a:stretch>
          </a:blipFill>
        </p:spPr>
      </p:sp>
      <p:sp>
        <p:nvSpPr>
          <p:cNvPr id="8" name="TextBox 8"/>
          <p:cNvSpPr txBox="1"/>
          <p:nvPr/>
        </p:nvSpPr>
        <p:spPr>
          <a:xfrm>
            <a:off x="9144000" y="536353"/>
            <a:ext cx="1662551" cy="485737"/>
          </a:xfrm>
          <a:prstGeom prst="rect">
            <a:avLst/>
          </a:prstGeom>
        </p:spPr>
        <p:txBody>
          <a:bodyPr lIns="0" tIns="0" rIns="0" bIns="0" rtlCol="0" anchor="t">
            <a:spAutoFit/>
          </a:bodyPr>
          <a:lstStyle/>
          <a:p>
            <a:pPr algn="l">
              <a:lnSpc>
                <a:spcPts val="3149"/>
              </a:lnSpc>
            </a:pPr>
            <a:r>
              <a:rPr lang="en-US" sz="2250">
                <a:solidFill>
                  <a:srgbClr val="2657C1"/>
                </a:solidFill>
                <a:latin typeface="TT Fors"/>
                <a:ea typeface="TT Fors"/>
                <a:cs typeface="TT Fors"/>
                <a:sym typeface="TT Fors"/>
              </a:rPr>
              <a:t>Home</a:t>
            </a:r>
          </a:p>
        </p:txBody>
      </p:sp>
      <p:sp>
        <p:nvSpPr>
          <p:cNvPr id="9" name="TextBox 9"/>
          <p:cNvSpPr txBox="1"/>
          <p:nvPr/>
        </p:nvSpPr>
        <p:spPr>
          <a:xfrm>
            <a:off x="4476045" y="1831658"/>
            <a:ext cx="9190672" cy="896322"/>
          </a:xfrm>
          <a:prstGeom prst="rect">
            <a:avLst/>
          </a:prstGeom>
        </p:spPr>
        <p:txBody>
          <a:bodyPr lIns="0" tIns="0" rIns="0" bIns="0" rtlCol="0" anchor="t">
            <a:spAutoFit/>
          </a:bodyPr>
          <a:lstStyle/>
          <a:p>
            <a:pPr algn="ctr">
              <a:lnSpc>
                <a:spcPts val="5745"/>
              </a:lnSpc>
            </a:pPr>
            <a:r>
              <a:rPr lang="en-US" sz="5920" spc="-52">
                <a:solidFill>
                  <a:srgbClr val="2657C1"/>
                </a:solidFill>
                <a:latin typeface="Etna Sans Serif"/>
                <a:ea typeface="Etna Sans Serif"/>
                <a:cs typeface="Etna Sans Serif"/>
                <a:sym typeface="Etna Sans Serif"/>
              </a:rPr>
              <a:t> The Step Cycle</a:t>
            </a:r>
          </a:p>
          <a:p>
            <a:pPr algn="l">
              <a:lnSpc>
                <a:spcPts val="2960"/>
              </a:lnSpc>
            </a:pPr>
            <a:endParaRPr lang="en-US" sz="5920" spc="-52">
              <a:solidFill>
                <a:srgbClr val="2657C1"/>
              </a:solidFill>
              <a:latin typeface="Etna Sans Serif"/>
              <a:ea typeface="Etna Sans Serif"/>
              <a:cs typeface="Etna Sans Serif"/>
              <a:sym typeface="Etna Sans Serif"/>
            </a:endParaRPr>
          </a:p>
        </p:txBody>
      </p:sp>
      <p:sp>
        <p:nvSpPr>
          <p:cNvPr id="10" name="TextBox 10"/>
          <p:cNvSpPr txBox="1"/>
          <p:nvPr/>
        </p:nvSpPr>
        <p:spPr>
          <a:xfrm>
            <a:off x="13726725" y="536353"/>
            <a:ext cx="1916878" cy="485737"/>
          </a:xfrm>
          <a:prstGeom prst="rect">
            <a:avLst/>
          </a:prstGeom>
        </p:spPr>
        <p:txBody>
          <a:bodyPr lIns="0" tIns="0" rIns="0" bIns="0" rtlCol="0" anchor="t">
            <a:spAutoFit/>
          </a:bodyPr>
          <a:lstStyle/>
          <a:p>
            <a:pPr algn="l">
              <a:lnSpc>
                <a:spcPts val="3149"/>
              </a:lnSpc>
            </a:pPr>
            <a:r>
              <a:rPr lang="en-US" sz="2250">
                <a:solidFill>
                  <a:srgbClr val="2657C1"/>
                </a:solidFill>
                <a:latin typeface="TT Fors"/>
                <a:ea typeface="TT Fors"/>
                <a:cs typeface="TT Fors"/>
                <a:sym typeface="TT Fors"/>
              </a:rPr>
              <a:t>Conclusion</a:t>
            </a:r>
          </a:p>
        </p:txBody>
      </p:sp>
      <p:sp>
        <p:nvSpPr>
          <p:cNvPr id="11" name="TextBox 11"/>
          <p:cNvSpPr txBox="1"/>
          <p:nvPr/>
        </p:nvSpPr>
        <p:spPr>
          <a:xfrm>
            <a:off x="16053187" y="538563"/>
            <a:ext cx="1206113" cy="485737"/>
          </a:xfrm>
          <a:prstGeom prst="rect">
            <a:avLst/>
          </a:prstGeom>
        </p:spPr>
        <p:txBody>
          <a:bodyPr lIns="0" tIns="0" rIns="0" bIns="0" rtlCol="0" anchor="t">
            <a:spAutoFit/>
          </a:bodyPr>
          <a:lstStyle/>
          <a:p>
            <a:pPr algn="l">
              <a:lnSpc>
                <a:spcPts val="3149"/>
              </a:lnSpc>
            </a:pPr>
            <a:r>
              <a:rPr lang="en-US" sz="2250">
                <a:solidFill>
                  <a:srgbClr val="2657C1"/>
                </a:solidFill>
                <a:latin typeface="TT Fors"/>
                <a:ea typeface="TT Fors"/>
                <a:cs typeface="TT Fors"/>
                <a:sym typeface="TT Fors"/>
              </a:rPr>
              <a:t>Contact</a:t>
            </a:r>
          </a:p>
        </p:txBody>
      </p:sp>
      <p:sp>
        <p:nvSpPr>
          <p:cNvPr id="12" name="TextBox 12"/>
          <p:cNvSpPr txBox="1"/>
          <p:nvPr/>
        </p:nvSpPr>
        <p:spPr>
          <a:xfrm>
            <a:off x="11362449" y="538563"/>
            <a:ext cx="1907086" cy="485737"/>
          </a:xfrm>
          <a:prstGeom prst="rect">
            <a:avLst/>
          </a:prstGeom>
        </p:spPr>
        <p:txBody>
          <a:bodyPr lIns="0" tIns="0" rIns="0" bIns="0" rtlCol="0" anchor="t">
            <a:spAutoFit/>
          </a:bodyPr>
          <a:lstStyle/>
          <a:p>
            <a:pPr algn="l">
              <a:lnSpc>
                <a:spcPts val="3149"/>
              </a:lnSpc>
            </a:pPr>
            <a:r>
              <a:rPr lang="en-US" sz="2250" b="1">
                <a:solidFill>
                  <a:srgbClr val="2657C1"/>
                </a:solidFill>
                <a:latin typeface="TT Fors Bold"/>
                <a:ea typeface="TT Fors Bold"/>
                <a:cs typeface="TT Fors Bold"/>
                <a:sym typeface="TT Fors Bold"/>
              </a:rPr>
              <a:t>Discussion</a:t>
            </a:r>
          </a:p>
        </p:txBody>
      </p:sp>
      <p:sp>
        <p:nvSpPr>
          <p:cNvPr id="13" name="Freeform 13"/>
          <p:cNvSpPr/>
          <p:nvPr/>
        </p:nvSpPr>
        <p:spPr>
          <a:xfrm>
            <a:off x="1234197" y="2939915"/>
            <a:ext cx="1332224" cy="1332224"/>
          </a:xfrm>
          <a:custGeom>
            <a:avLst/>
            <a:gdLst/>
            <a:ahLst/>
            <a:cxnLst/>
            <a:rect l="l" t="t" r="r" b="b"/>
            <a:pathLst>
              <a:path w="1332224" h="1332224">
                <a:moveTo>
                  <a:pt x="0" y="0"/>
                </a:moveTo>
                <a:lnTo>
                  <a:pt x="1332224" y="0"/>
                </a:lnTo>
                <a:lnTo>
                  <a:pt x="1332224" y="1332223"/>
                </a:lnTo>
                <a:lnTo>
                  <a:pt x="0" y="1332223"/>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sp>
        <p:nvSpPr>
          <p:cNvPr id="14" name="Freeform 14"/>
          <p:cNvSpPr/>
          <p:nvPr/>
        </p:nvSpPr>
        <p:spPr>
          <a:xfrm>
            <a:off x="4756214" y="5669709"/>
            <a:ext cx="1332224" cy="1332224"/>
          </a:xfrm>
          <a:custGeom>
            <a:avLst/>
            <a:gdLst/>
            <a:ahLst/>
            <a:cxnLst/>
            <a:rect l="l" t="t" r="r" b="b"/>
            <a:pathLst>
              <a:path w="1332224" h="1332224">
                <a:moveTo>
                  <a:pt x="0" y="0"/>
                </a:moveTo>
                <a:lnTo>
                  <a:pt x="1332223" y="0"/>
                </a:lnTo>
                <a:lnTo>
                  <a:pt x="1332223" y="1332223"/>
                </a:lnTo>
                <a:lnTo>
                  <a:pt x="0" y="1332223"/>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sp>
        <p:nvSpPr>
          <p:cNvPr id="15" name="Freeform 15"/>
          <p:cNvSpPr/>
          <p:nvPr/>
        </p:nvSpPr>
        <p:spPr>
          <a:xfrm>
            <a:off x="8477888" y="3089167"/>
            <a:ext cx="1332224" cy="1332224"/>
          </a:xfrm>
          <a:custGeom>
            <a:avLst/>
            <a:gdLst/>
            <a:ahLst/>
            <a:cxnLst/>
            <a:rect l="l" t="t" r="r" b="b"/>
            <a:pathLst>
              <a:path w="1332224" h="1332224">
                <a:moveTo>
                  <a:pt x="0" y="0"/>
                </a:moveTo>
                <a:lnTo>
                  <a:pt x="1332224" y="0"/>
                </a:lnTo>
                <a:lnTo>
                  <a:pt x="1332224" y="1332224"/>
                </a:lnTo>
                <a:lnTo>
                  <a:pt x="0" y="1332224"/>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sp>
        <p:nvSpPr>
          <p:cNvPr id="16" name="Freeform 16"/>
          <p:cNvSpPr/>
          <p:nvPr/>
        </p:nvSpPr>
        <p:spPr>
          <a:xfrm>
            <a:off x="12054326" y="5885717"/>
            <a:ext cx="1332224" cy="1332224"/>
          </a:xfrm>
          <a:custGeom>
            <a:avLst/>
            <a:gdLst/>
            <a:ahLst/>
            <a:cxnLst/>
            <a:rect l="l" t="t" r="r" b="b"/>
            <a:pathLst>
              <a:path w="1332224" h="1332224">
                <a:moveTo>
                  <a:pt x="0" y="0"/>
                </a:moveTo>
                <a:lnTo>
                  <a:pt x="1332223" y="0"/>
                </a:lnTo>
                <a:lnTo>
                  <a:pt x="1332223" y="1332223"/>
                </a:lnTo>
                <a:lnTo>
                  <a:pt x="0" y="1332223"/>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sp>
        <p:nvSpPr>
          <p:cNvPr id="17" name="TextBox 17"/>
          <p:cNvSpPr txBox="1"/>
          <p:nvPr/>
        </p:nvSpPr>
        <p:spPr>
          <a:xfrm>
            <a:off x="8671084" y="3514735"/>
            <a:ext cx="945832" cy="534029"/>
          </a:xfrm>
          <a:prstGeom prst="rect">
            <a:avLst/>
          </a:prstGeom>
        </p:spPr>
        <p:txBody>
          <a:bodyPr lIns="0" tIns="0" rIns="0" bIns="0" rtlCol="0" anchor="t">
            <a:spAutoFit/>
          </a:bodyPr>
          <a:lstStyle/>
          <a:p>
            <a:pPr algn="ctr">
              <a:lnSpc>
                <a:spcPts val="4764"/>
              </a:lnSpc>
            </a:pPr>
            <a:r>
              <a:rPr lang="en-US" sz="4915" spc="-49">
                <a:solidFill>
                  <a:srgbClr val="2657C1"/>
                </a:solidFill>
                <a:latin typeface="Etna Sans Serif"/>
                <a:ea typeface="Etna Sans Serif"/>
                <a:cs typeface="Etna Sans Serif"/>
                <a:sym typeface="Etna Sans Serif"/>
              </a:rPr>
              <a:t>3</a:t>
            </a:r>
          </a:p>
        </p:txBody>
      </p:sp>
      <p:sp>
        <p:nvSpPr>
          <p:cNvPr id="18" name="TextBox 18"/>
          <p:cNvSpPr txBox="1"/>
          <p:nvPr/>
        </p:nvSpPr>
        <p:spPr>
          <a:xfrm>
            <a:off x="4949409" y="6095267"/>
            <a:ext cx="945832" cy="534029"/>
          </a:xfrm>
          <a:prstGeom prst="rect">
            <a:avLst/>
          </a:prstGeom>
        </p:spPr>
        <p:txBody>
          <a:bodyPr lIns="0" tIns="0" rIns="0" bIns="0" rtlCol="0" anchor="t">
            <a:spAutoFit/>
          </a:bodyPr>
          <a:lstStyle/>
          <a:p>
            <a:pPr algn="ctr">
              <a:lnSpc>
                <a:spcPts val="4764"/>
              </a:lnSpc>
            </a:pPr>
            <a:r>
              <a:rPr lang="en-US" sz="4915" spc="-49">
                <a:solidFill>
                  <a:srgbClr val="2657C1"/>
                </a:solidFill>
                <a:latin typeface="Etna Sans Serif"/>
                <a:ea typeface="Etna Sans Serif"/>
                <a:cs typeface="Etna Sans Serif"/>
                <a:sym typeface="Etna Sans Serif"/>
              </a:rPr>
              <a:t>2</a:t>
            </a:r>
          </a:p>
        </p:txBody>
      </p:sp>
      <p:sp>
        <p:nvSpPr>
          <p:cNvPr id="19" name="TextBox 19"/>
          <p:cNvSpPr txBox="1"/>
          <p:nvPr/>
        </p:nvSpPr>
        <p:spPr>
          <a:xfrm>
            <a:off x="1453662" y="3409312"/>
            <a:ext cx="945832" cy="534029"/>
          </a:xfrm>
          <a:prstGeom prst="rect">
            <a:avLst/>
          </a:prstGeom>
        </p:spPr>
        <p:txBody>
          <a:bodyPr lIns="0" tIns="0" rIns="0" bIns="0" rtlCol="0" anchor="t">
            <a:spAutoFit/>
          </a:bodyPr>
          <a:lstStyle/>
          <a:p>
            <a:pPr algn="ctr">
              <a:lnSpc>
                <a:spcPts val="4764"/>
              </a:lnSpc>
            </a:pPr>
            <a:r>
              <a:rPr lang="en-US" sz="4915" spc="-49" dirty="0">
                <a:solidFill>
                  <a:srgbClr val="2657C1"/>
                </a:solidFill>
                <a:latin typeface="Etna Sans Serif"/>
                <a:ea typeface="Etna Sans Serif"/>
                <a:cs typeface="Etna Sans Serif"/>
                <a:sym typeface="Etna Sans Serif"/>
              </a:rPr>
              <a:t>1</a:t>
            </a:r>
          </a:p>
        </p:txBody>
      </p:sp>
      <p:sp>
        <p:nvSpPr>
          <p:cNvPr id="20" name="TextBox 20"/>
          <p:cNvSpPr txBox="1"/>
          <p:nvPr/>
        </p:nvSpPr>
        <p:spPr>
          <a:xfrm>
            <a:off x="12247521" y="6389599"/>
            <a:ext cx="945832" cy="534029"/>
          </a:xfrm>
          <a:prstGeom prst="rect">
            <a:avLst/>
          </a:prstGeom>
        </p:spPr>
        <p:txBody>
          <a:bodyPr lIns="0" tIns="0" rIns="0" bIns="0" rtlCol="0" anchor="t">
            <a:spAutoFit/>
          </a:bodyPr>
          <a:lstStyle/>
          <a:p>
            <a:pPr algn="ctr">
              <a:lnSpc>
                <a:spcPts val="4764"/>
              </a:lnSpc>
            </a:pPr>
            <a:r>
              <a:rPr lang="en-US" sz="4915" spc="-49">
                <a:solidFill>
                  <a:srgbClr val="2657C1"/>
                </a:solidFill>
                <a:latin typeface="Etna Sans Serif"/>
                <a:ea typeface="Etna Sans Serif"/>
                <a:cs typeface="Etna Sans Serif"/>
                <a:sym typeface="Etna Sans Serif"/>
              </a:rPr>
              <a:t>4</a:t>
            </a:r>
          </a:p>
        </p:txBody>
      </p:sp>
      <p:sp>
        <p:nvSpPr>
          <p:cNvPr id="21" name="Freeform 21"/>
          <p:cNvSpPr/>
          <p:nvPr/>
        </p:nvSpPr>
        <p:spPr>
          <a:xfrm>
            <a:off x="15842908" y="3056851"/>
            <a:ext cx="1332224" cy="1332224"/>
          </a:xfrm>
          <a:custGeom>
            <a:avLst/>
            <a:gdLst/>
            <a:ahLst/>
            <a:cxnLst/>
            <a:rect l="l" t="t" r="r" b="b"/>
            <a:pathLst>
              <a:path w="1332224" h="1332224">
                <a:moveTo>
                  <a:pt x="0" y="0"/>
                </a:moveTo>
                <a:lnTo>
                  <a:pt x="1332224" y="0"/>
                </a:lnTo>
                <a:lnTo>
                  <a:pt x="1332224" y="1332224"/>
                </a:lnTo>
                <a:lnTo>
                  <a:pt x="0" y="1332224"/>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sp>
        <p:nvSpPr>
          <p:cNvPr id="22" name="TextBox 22"/>
          <p:cNvSpPr txBox="1"/>
          <p:nvPr/>
        </p:nvSpPr>
        <p:spPr>
          <a:xfrm>
            <a:off x="16045977" y="3495465"/>
            <a:ext cx="945832" cy="534029"/>
          </a:xfrm>
          <a:prstGeom prst="rect">
            <a:avLst/>
          </a:prstGeom>
        </p:spPr>
        <p:txBody>
          <a:bodyPr lIns="0" tIns="0" rIns="0" bIns="0" rtlCol="0" anchor="t">
            <a:spAutoFit/>
          </a:bodyPr>
          <a:lstStyle/>
          <a:p>
            <a:pPr algn="ctr">
              <a:lnSpc>
                <a:spcPts val="4764"/>
              </a:lnSpc>
            </a:pPr>
            <a:r>
              <a:rPr lang="en-US" sz="4915" spc="-49" dirty="0">
                <a:solidFill>
                  <a:srgbClr val="2657C1"/>
                </a:solidFill>
                <a:latin typeface="Etna Sans Serif"/>
                <a:ea typeface="Etna Sans Serif"/>
                <a:cs typeface="Etna Sans Serif"/>
                <a:sym typeface="Etna Sans Serif"/>
              </a:rPr>
              <a:t>5</a:t>
            </a:r>
          </a:p>
        </p:txBody>
      </p:sp>
      <p:sp>
        <p:nvSpPr>
          <p:cNvPr id="23" name="TextBox 23"/>
          <p:cNvSpPr txBox="1"/>
          <p:nvPr/>
        </p:nvSpPr>
        <p:spPr>
          <a:xfrm>
            <a:off x="159668" y="4407246"/>
            <a:ext cx="3300012" cy="570271"/>
          </a:xfrm>
          <a:prstGeom prst="rect">
            <a:avLst/>
          </a:prstGeom>
        </p:spPr>
        <p:txBody>
          <a:bodyPr lIns="0" tIns="0" rIns="0" bIns="0" rtlCol="0" anchor="t">
            <a:spAutoFit/>
          </a:bodyPr>
          <a:lstStyle/>
          <a:p>
            <a:pPr algn="ctr">
              <a:lnSpc>
                <a:spcPts val="4270"/>
              </a:lnSpc>
            </a:pPr>
            <a:r>
              <a:rPr lang="en-US" sz="3050" b="1" i="1">
                <a:solidFill>
                  <a:srgbClr val="2657C1"/>
                </a:solidFill>
                <a:latin typeface="TT Fors Bold Italics"/>
                <a:ea typeface="TT Fors Bold Italics"/>
                <a:cs typeface="TT Fors Bold Italics"/>
                <a:sym typeface="TT Fors Bold Italics"/>
              </a:rPr>
              <a:t>Field Generation</a:t>
            </a:r>
          </a:p>
        </p:txBody>
      </p:sp>
      <p:sp>
        <p:nvSpPr>
          <p:cNvPr id="24" name="TextBox 24"/>
          <p:cNvSpPr txBox="1"/>
          <p:nvPr/>
        </p:nvSpPr>
        <p:spPr>
          <a:xfrm>
            <a:off x="3703110" y="7168334"/>
            <a:ext cx="3639045" cy="586788"/>
          </a:xfrm>
          <a:prstGeom prst="rect">
            <a:avLst/>
          </a:prstGeom>
        </p:spPr>
        <p:txBody>
          <a:bodyPr lIns="0" tIns="0" rIns="0" bIns="0" rtlCol="0" anchor="t">
            <a:spAutoFit/>
          </a:bodyPr>
          <a:lstStyle/>
          <a:p>
            <a:pPr algn="ctr">
              <a:lnSpc>
                <a:spcPts val="4409"/>
              </a:lnSpc>
            </a:pPr>
            <a:r>
              <a:rPr lang="en-US" sz="3150" b="1" i="1">
                <a:solidFill>
                  <a:srgbClr val="2657C1"/>
                </a:solidFill>
                <a:latin typeface="TT Fors Bold Italics"/>
                <a:ea typeface="TT Fors Bold Italics"/>
                <a:cs typeface="TT Fors Bold Italics"/>
                <a:sym typeface="TT Fors Bold Italics"/>
              </a:rPr>
              <a:t>Power Harvesting</a:t>
            </a:r>
          </a:p>
        </p:txBody>
      </p:sp>
      <p:sp>
        <p:nvSpPr>
          <p:cNvPr id="25" name="TextBox 25"/>
          <p:cNvSpPr txBox="1"/>
          <p:nvPr/>
        </p:nvSpPr>
        <p:spPr>
          <a:xfrm>
            <a:off x="7780191" y="4556712"/>
            <a:ext cx="2727627" cy="586788"/>
          </a:xfrm>
          <a:prstGeom prst="rect">
            <a:avLst/>
          </a:prstGeom>
        </p:spPr>
        <p:txBody>
          <a:bodyPr lIns="0" tIns="0" rIns="0" bIns="0" rtlCol="0" anchor="t">
            <a:spAutoFit/>
          </a:bodyPr>
          <a:lstStyle/>
          <a:p>
            <a:pPr algn="ctr">
              <a:lnSpc>
                <a:spcPts val="4409"/>
              </a:lnSpc>
            </a:pPr>
            <a:r>
              <a:rPr lang="en-US" sz="3150" b="1" i="1">
                <a:solidFill>
                  <a:srgbClr val="2657C1"/>
                </a:solidFill>
                <a:latin typeface="TT Fors Bold Italics"/>
                <a:ea typeface="TT Fors Bold Italics"/>
                <a:cs typeface="TT Fors Bold Italics"/>
                <a:sym typeface="TT Fors Bold Italics"/>
              </a:rPr>
              <a:t>Command TX</a:t>
            </a:r>
          </a:p>
        </p:txBody>
      </p:sp>
      <p:sp>
        <p:nvSpPr>
          <p:cNvPr id="26" name="TextBox 26"/>
          <p:cNvSpPr txBox="1"/>
          <p:nvPr/>
        </p:nvSpPr>
        <p:spPr>
          <a:xfrm>
            <a:off x="10984306" y="7404583"/>
            <a:ext cx="3472263" cy="586788"/>
          </a:xfrm>
          <a:prstGeom prst="rect">
            <a:avLst/>
          </a:prstGeom>
        </p:spPr>
        <p:txBody>
          <a:bodyPr lIns="0" tIns="0" rIns="0" bIns="0" rtlCol="0" anchor="t">
            <a:spAutoFit/>
          </a:bodyPr>
          <a:lstStyle/>
          <a:p>
            <a:pPr algn="ctr">
              <a:lnSpc>
                <a:spcPts val="4409"/>
              </a:lnSpc>
            </a:pPr>
            <a:r>
              <a:rPr lang="en-US" sz="3150" b="1" i="1">
                <a:solidFill>
                  <a:srgbClr val="2657C1"/>
                </a:solidFill>
                <a:latin typeface="TT Fors Bold Italics"/>
                <a:ea typeface="TT Fors Bold Italics"/>
                <a:cs typeface="TT Fors Bold Italics"/>
                <a:sym typeface="TT Fors Bold Italics"/>
              </a:rPr>
              <a:t>Load Modulation</a:t>
            </a:r>
          </a:p>
        </p:txBody>
      </p:sp>
      <p:sp>
        <p:nvSpPr>
          <p:cNvPr id="27" name="TextBox 27"/>
          <p:cNvSpPr txBox="1"/>
          <p:nvPr/>
        </p:nvSpPr>
        <p:spPr>
          <a:xfrm>
            <a:off x="13873696" y="4556712"/>
            <a:ext cx="4449080" cy="586788"/>
          </a:xfrm>
          <a:prstGeom prst="rect">
            <a:avLst/>
          </a:prstGeom>
        </p:spPr>
        <p:txBody>
          <a:bodyPr lIns="0" tIns="0" rIns="0" bIns="0" rtlCol="0" anchor="t">
            <a:spAutoFit/>
          </a:bodyPr>
          <a:lstStyle/>
          <a:p>
            <a:pPr algn="ctr">
              <a:lnSpc>
                <a:spcPts val="4409"/>
              </a:lnSpc>
            </a:pPr>
            <a:r>
              <a:rPr lang="en-US" sz="3150" b="1" i="1" dirty="0">
                <a:solidFill>
                  <a:srgbClr val="2657C1"/>
                </a:solidFill>
                <a:latin typeface="TT Fors Bold Italics"/>
                <a:ea typeface="TT Fors Bold Italics"/>
                <a:cs typeface="TT Fors Bold Italics"/>
                <a:sym typeface="TT Fors Bold Italics"/>
              </a:rPr>
              <a:t>Decode &amp; </a:t>
            </a:r>
            <a:r>
              <a:rPr lang="en-US" sz="3150" b="1" i="1" dirty="0" err="1">
                <a:solidFill>
                  <a:srgbClr val="2657C1"/>
                </a:solidFill>
                <a:latin typeface="TT Fors Bold Italics"/>
                <a:ea typeface="TT Fors Bold Italics"/>
                <a:cs typeface="TT Fors Bold Italics"/>
                <a:sym typeface="TT Fors Bold Italics"/>
              </a:rPr>
              <a:t>Foraward</a:t>
            </a:r>
            <a:endParaRPr lang="en-US" sz="3150" b="1" i="1" dirty="0">
              <a:solidFill>
                <a:srgbClr val="2657C1"/>
              </a:solidFill>
              <a:latin typeface="TT Fors Bold Italics"/>
              <a:ea typeface="TT Fors Bold Italics"/>
              <a:cs typeface="TT Fors Bold Italics"/>
              <a:sym typeface="TT Fors Bold Italics"/>
            </a:endParaRPr>
          </a:p>
        </p:txBody>
      </p:sp>
      <p:sp>
        <p:nvSpPr>
          <p:cNvPr id="28" name="TextBox 28"/>
          <p:cNvSpPr txBox="1"/>
          <p:nvPr/>
        </p:nvSpPr>
        <p:spPr>
          <a:xfrm>
            <a:off x="154857" y="5543760"/>
            <a:ext cx="3543443" cy="1987591"/>
          </a:xfrm>
          <a:prstGeom prst="rect">
            <a:avLst/>
          </a:prstGeom>
        </p:spPr>
        <p:txBody>
          <a:bodyPr lIns="0" tIns="0" rIns="0" bIns="0" rtlCol="0" anchor="t">
            <a:spAutoFit/>
          </a:bodyPr>
          <a:lstStyle/>
          <a:p>
            <a:pPr algn="ctr">
              <a:lnSpc>
                <a:spcPts val="3850"/>
              </a:lnSpc>
            </a:pPr>
            <a:r>
              <a:rPr lang="en-US" sz="2750">
                <a:solidFill>
                  <a:srgbClr val="2657C1"/>
                </a:solidFill>
                <a:latin typeface="TT Fors"/>
                <a:ea typeface="TT Fors"/>
                <a:cs typeface="TT Fors"/>
                <a:sym typeface="TT Fors"/>
              </a:rPr>
              <a:t>Reader broadcasts carrier wave</a:t>
            </a:r>
          </a:p>
          <a:p>
            <a:pPr algn="ctr">
              <a:lnSpc>
                <a:spcPts val="3850"/>
              </a:lnSpc>
            </a:pPr>
            <a:r>
              <a:rPr lang="en-US" sz="2750">
                <a:solidFill>
                  <a:srgbClr val="2657C1"/>
                </a:solidFill>
                <a:latin typeface="TT Fors"/>
                <a:ea typeface="TT Fors"/>
                <a:cs typeface="TT Fors"/>
                <a:sym typeface="TT Fors"/>
              </a:rPr>
              <a:t>13.56 MHz (HF) or 125 kHz (LF)</a:t>
            </a:r>
          </a:p>
        </p:txBody>
      </p:sp>
      <p:sp>
        <p:nvSpPr>
          <p:cNvPr id="29" name="TextBox 29"/>
          <p:cNvSpPr txBox="1"/>
          <p:nvPr/>
        </p:nvSpPr>
        <p:spPr>
          <a:xfrm>
            <a:off x="3864235" y="8286617"/>
            <a:ext cx="3220288" cy="1987591"/>
          </a:xfrm>
          <a:prstGeom prst="rect">
            <a:avLst/>
          </a:prstGeom>
        </p:spPr>
        <p:txBody>
          <a:bodyPr lIns="0" tIns="0" rIns="0" bIns="0" rtlCol="0" anchor="t">
            <a:spAutoFit/>
          </a:bodyPr>
          <a:lstStyle/>
          <a:p>
            <a:pPr algn="ctr">
              <a:lnSpc>
                <a:spcPts val="3850"/>
              </a:lnSpc>
            </a:pPr>
            <a:r>
              <a:rPr lang="en-US" sz="2750">
                <a:solidFill>
                  <a:srgbClr val="2657C1"/>
                </a:solidFill>
                <a:latin typeface="TT Fors"/>
                <a:ea typeface="TT Fors"/>
                <a:cs typeface="TT Fors"/>
                <a:sym typeface="TT Fors"/>
              </a:rPr>
              <a:t>Tag antenna absorbs RF energy</a:t>
            </a:r>
          </a:p>
          <a:p>
            <a:pPr algn="ctr">
              <a:lnSpc>
                <a:spcPts val="3850"/>
              </a:lnSpc>
            </a:pPr>
            <a:r>
              <a:rPr lang="en-US" sz="2750">
                <a:solidFill>
                  <a:srgbClr val="2657C1"/>
                </a:solidFill>
                <a:latin typeface="TT Fors"/>
                <a:ea typeface="TT Fors"/>
                <a:cs typeface="TT Fors"/>
                <a:sym typeface="TT Fors"/>
              </a:rPr>
              <a:t>Powers chip — no battery needed</a:t>
            </a:r>
          </a:p>
        </p:txBody>
      </p:sp>
      <p:sp>
        <p:nvSpPr>
          <p:cNvPr id="30" name="TextBox 30"/>
          <p:cNvSpPr txBox="1"/>
          <p:nvPr/>
        </p:nvSpPr>
        <p:spPr>
          <a:xfrm>
            <a:off x="7146246" y="5603024"/>
            <a:ext cx="3974735" cy="1501816"/>
          </a:xfrm>
          <a:prstGeom prst="rect">
            <a:avLst/>
          </a:prstGeom>
        </p:spPr>
        <p:txBody>
          <a:bodyPr lIns="0" tIns="0" rIns="0" bIns="0" rtlCol="0" anchor="t">
            <a:spAutoFit/>
          </a:bodyPr>
          <a:lstStyle/>
          <a:p>
            <a:pPr algn="ctr">
              <a:lnSpc>
                <a:spcPts val="3850"/>
              </a:lnSpc>
            </a:pPr>
            <a:r>
              <a:rPr lang="en-US" sz="2750" dirty="0">
                <a:solidFill>
                  <a:srgbClr val="2657C1"/>
                </a:solidFill>
                <a:latin typeface="TT Fors"/>
                <a:ea typeface="TT Fors"/>
                <a:cs typeface="TT Fors"/>
                <a:sym typeface="TT Fors"/>
              </a:rPr>
              <a:t>Reader modulates wave</a:t>
            </a:r>
          </a:p>
          <a:p>
            <a:pPr algn="ctr">
              <a:lnSpc>
                <a:spcPts val="3850"/>
              </a:lnSpc>
            </a:pPr>
            <a:r>
              <a:rPr lang="en-US" sz="2750" dirty="0">
                <a:solidFill>
                  <a:srgbClr val="2657C1"/>
                </a:solidFill>
                <a:latin typeface="TT Fors"/>
                <a:ea typeface="TT Fors"/>
                <a:cs typeface="TT Fors"/>
                <a:sym typeface="TT Fors"/>
              </a:rPr>
              <a:t>Sends SELECT command (ISO 144a43)</a:t>
            </a:r>
          </a:p>
        </p:txBody>
      </p:sp>
      <p:sp>
        <p:nvSpPr>
          <p:cNvPr id="31" name="TextBox 31"/>
          <p:cNvSpPr txBox="1"/>
          <p:nvPr/>
        </p:nvSpPr>
        <p:spPr>
          <a:xfrm>
            <a:off x="10439362" y="8439045"/>
            <a:ext cx="4358830" cy="1501816"/>
          </a:xfrm>
          <a:prstGeom prst="rect">
            <a:avLst/>
          </a:prstGeom>
        </p:spPr>
        <p:txBody>
          <a:bodyPr lIns="0" tIns="0" rIns="0" bIns="0" rtlCol="0" anchor="t">
            <a:spAutoFit/>
          </a:bodyPr>
          <a:lstStyle/>
          <a:p>
            <a:pPr algn="ctr">
              <a:lnSpc>
                <a:spcPts val="3850"/>
              </a:lnSpc>
            </a:pPr>
            <a:r>
              <a:rPr lang="en-US" sz="2750">
                <a:solidFill>
                  <a:srgbClr val="2657C1"/>
                </a:solidFill>
                <a:latin typeface="TT Fors"/>
                <a:ea typeface="TT Fors"/>
                <a:cs typeface="TT Fors"/>
                <a:sym typeface="TT Fors"/>
              </a:rPr>
              <a:t>Tag switches resistive load</a:t>
            </a:r>
          </a:p>
          <a:p>
            <a:pPr algn="ctr">
              <a:lnSpc>
                <a:spcPts val="3850"/>
              </a:lnSpc>
            </a:pPr>
            <a:r>
              <a:rPr lang="en-US" sz="2750">
                <a:solidFill>
                  <a:srgbClr val="2657C1"/>
                </a:solidFill>
                <a:latin typeface="TT Fors"/>
                <a:ea typeface="TT Fors"/>
                <a:cs typeface="TT Fors"/>
                <a:sym typeface="TT Fors"/>
              </a:rPr>
              <a:t>Encodes bits via field fluctuations</a:t>
            </a:r>
          </a:p>
        </p:txBody>
      </p:sp>
      <p:sp>
        <p:nvSpPr>
          <p:cNvPr id="32" name="TextBox 32"/>
          <p:cNvSpPr txBox="1"/>
          <p:nvPr/>
        </p:nvSpPr>
        <p:spPr>
          <a:xfrm>
            <a:off x="14319999" y="5295043"/>
            <a:ext cx="4027684" cy="1987591"/>
          </a:xfrm>
          <a:prstGeom prst="rect">
            <a:avLst/>
          </a:prstGeom>
        </p:spPr>
        <p:txBody>
          <a:bodyPr lIns="0" tIns="0" rIns="0" bIns="0" rtlCol="0" anchor="t">
            <a:spAutoFit/>
          </a:bodyPr>
          <a:lstStyle/>
          <a:p>
            <a:pPr algn="ctr">
              <a:lnSpc>
                <a:spcPts val="3850"/>
              </a:lnSpc>
            </a:pPr>
            <a:r>
              <a:rPr lang="en-US" sz="2750">
                <a:solidFill>
                  <a:srgbClr val="2657C1"/>
                </a:solidFill>
                <a:latin typeface="TT Fors"/>
                <a:ea typeface="TT Fors"/>
                <a:cs typeface="TT Fors"/>
                <a:sym typeface="TT Fors"/>
              </a:rPr>
              <a:t>Reader detects fluctuations</a:t>
            </a:r>
          </a:p>
          <a:p>
            <a:pPr algn="ctr">
              <a:lnSpc>
                <a:spcPts val="3850"/>
              </a:lnSpc>
            </a:pPr>
            <a:r>
              <a:rPr lang="en-US" sz="2750">
                <a:solidFill>
                  <a:srgbClr val="2657C1"/>
                </a:solidFill>
                <a:latin typeface="TT Fors"/>
                <a:ea typeface="TT Fors"/>
                <a:cs typeface="TT Fors"/>
                <a:sym typeface="TT Fors"/>
              </a:rPr>
              <a:t>Extracts UID → sends to backend</a:t>
            </a:r>
          </a:p>
        </p:txBody>
      </p:sp>
      <p:sp>
        <p:nvSpPr>
          <p:cNvPr id="41" name="TextBox 41"/>
          <p:cNvSpPr txBox="1"/>
          <p:nvPr/>
        </p:nvSpPr>
        <p:spPr>
          <a:xfrm>
            <a:off x="1336758" y="577948"/>
            <a:ext cx="921544" cy="632993"/>
          </a:xfrm>
          <a:prstGeom prst="rect">
            <a:avLst/>
          </a:prstGeom>
        </p:spPr>
        <p:txBody>
          <a:bodyPr lIns="0" tIns="0" rIns="0" bIns="0" rtlCol="0" anchor="t">
            <a:spAutoFit/>
          </a:bodyPr>
          <a:lstStyle/>
          <a:p>
            <a:pPr algn="l">
              <a:lnSpc>
                <a:spcPts val="2665"/>
              </a:lnSpc>
            </a:pPr>
            <a:r>
              <a:rPr lang="en-US" sz="2750" b="1">
                <a:solidFill>
                  <a:srgbClr val="2657C1"/>
                </a:solidFill>
                <a:latin typeface="TT Fors Bold"/>
                <a:ea typeface="TT Fors Bold"/>
                <a:cs typeface="TT Fors Bold"/>
                <a:sym typeface="TT Fors Bold"/>
              </a:rPr>
              <a:t> RFID</a:t>
            </a:r>
          </a:p>
          <a:p>
            <a:pPr algn="l">
              <a:lnSpc>
                <a:spcPts val="2665"/>
              </a:lnSpc>
            </a:pPr>
            <a:endParaRPr lang="en-US" sz="2750" b="1">
              <a:solidFill>
                <a:srgbClr val="2657C1"/>
              </a:solidFill>
              <a:latin typeface="TT Fors Bold"/>
              <a:ea typeface="TT Fors Bold"/>
              <a:cs typeface="TT Fors Bold"/>
              <a:sym typeface="TT Fors Bold"/>
            </a:endParaRPr>
          </a:p>
        </p:txBody>
      </p:sp>
      <p:grpSp>
        <p:nvGrpSpPr>
          <p:cNvPr id="42" name="Group 42"/>
          <p:cNvGrpSpPr/>
          <p:nvPr/>
        </p:nvGrpSpPr>
        <p:grpSpPr>
          <a:xfrm>
            <a:off x="446094" y="633813"/>
            <a:ext cx="582606" cy="577129"/>
            <a:chOff x="0" y="0"/>
            <a:chExt cx="776808" cy="769506"/>
          </a:xfrm>
        </p:grpSpPr>
        <p:sp>
          <p:nvSpPr>
            <p:cNvPr id="43" name="Freeform 43"/>
            <p:cNvSpPr/>
            <p:nvPr/>
          </p:nvSpPr>
          <p:spPr>
            <a:xfrm>
              <a:off x="0" y="0"/>
              <a:ext cx="776859" cy="769493"/>
            </a:xfrm>
            <a:custGeom>
              <a:avLst/>
              <a:gdLst/>
              <a:ahLst/>
              <a:cxnLst/>
              <a:rect l="l" t="t" r="r" b="b"/>
              <a:pathLst>
                <a:path w="776859" h="769493">
                  <a:moveTo>
                    <a:pt x="0" y="0"/>
                  </a:moveTo>
                  <a:lnTo>
                    <a:pt x="776859" y="0"/>
                  </a:lnTo>
                  <a:lnTo>
                    <a:pt x="776859" y="769493"/>
                  </a:lnTo>
                  <a:lnTo>
                    <a:pt x="0" y="769493"/>
                  </a:lnTo>
                  <a:lnTo>
                    <a:pt x="0" y="0"/>
                  </a:lnTo>
                  <a:close/>
                </a:path>
              </a:pathLst>
            </a:custGeom>
            <a:blipFill>
              <a:blip r:embed="rId7"/>
              <a:stretch>
                <a:fillRect t="-158" r="6" b="-161"/>
              </a:stretch>
            </a:blipFill>
          </p:spPr>
        </p:sp>
      </p:grpSp>
      <p:cxnSp>
        <p:nvCxnSpPr>
          <p:cNvPr id="45" name="Connecteur en arc 44"/>
          <p:cNvCxnSpPr/>
          <p:nvPr/>
        </p:nvCxnSpPr>
        <p:spPr>
          <a:xfrm>
            <a:off x="2590800" y="3696862"/>
            <a:ext cx="2503823" cy="2056238"/>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Connecteur en arc 45"/>
          <p:cNvCxnSpPr/>
          <p:nvPr/>
        </p:nvCxnSpPr>
        <p:spPr>
          <a:xfrm flipV="1">
            <a:off x="5960347" y="3549396"/>
            <a:ext cx="2479926" cy="2304055"/>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4" name="Connecteur en arc 53"/>
          <p:cNvCxnSpPr/>
          <p:nvPr/>
        </p:nvCxnSpPr>
        <p:spPr>
          <a:xfrm>
            <a:off x="9847727" y="3781749"/>
            <a:ext cx="2459153" cy="2160176"/>
          </a:xfrm>
          <a:prstGeom prst="curved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0" name="Connecteur en arc 59"/>
          <p:cNvCxnSpPr/>
          <p:nvPr/>
        </p:nvCxnSpPr>
        <p:spPr>
          <a:xfrm flipV="1">
            <a:off x="12997371" y="3648241"/>
            <a:ext cx="2723860" cy="2427191"/>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447800" y="2552700"/>
            <a:ext cx="15767685" cy="7909560"/>
            <a:chOff x="0" y="0"/>
            <a:chExt cx="21023580" cy="10546080"/>
          </a:xfrm>
        </p:grpSpPr>
        <p:sp>
          <p:nvSpPr>
            <p:cNvPr id="3" name="Freeform 3"/>
            <p:cNvSpPr/>
            <p:nvPr/>
          </p:nvSpPr>
          <p:spPr>
            <a:xfrm>
              <a:off x="0" y="0"/>
              <a:ext cx="21023580" cy="10546080"/>
            </a:xfrm>
            <a:custGeom>
              <a:avLst/>
              <a:gdLst/>
              <a:ahLst/>
              <a:cxnLst/>
              <a:rect l="l" t="t" r="r" b="b"/>
              <a:pathLst>
                <a:path w="21023580" h="10546080">
                  <a:moveTo>
                    <a:pt x="0" y="0"/>
                  </a:moveTo>
                  <a:lnTo>
                    <a:pt x="21023580" y="0"/>
                  </a:lnTo>
                  <a:lnTo>
                    <a:pt x="21023580" y="10546080"/>
                  </a:lnTo>
                  <a:lnTo>
                    <a:pt x="0" y="10546080"/>
                  </a:lnTo>
                  <a:lnTo>
                    <a:pt x="0" y="0"/>
                  </a:lnTo>
                  <a:close/>
                </a:path>
              </a:pathLst>
            </a:custGeom>
            <a:blipFill>
              <a:blip r:embed="rId2"/>
              <a:stretch>
                <a:fillRect/>
              </a:stretch>
            </a:blipFill>
          </p:spPr>
        </p:sp>
      </p:grpSp>
      <p:grpSp>
        <p:nvGrpSpPr>
          <p:cNvPr id="4" name="Group 4"/>
          <p:cNvGrpSpPr/>
          <p:nvPr/>
        </p:nvGrpSpPr>
        <p:grpSpPr>
          <a:xfrm>
            <a:off x="17053960" y="1105976"/>
            <a:ext cx="2313242" cy="2313242"/>
            <a:chOff x="0" y="0"/>
            <a:chExt cx="3084322" cy="3084322"/>
          </a:xfrm>
        </p:grpSpPr>
        <p:sp>
          <p:nvSpPr>
            <p:cNvPr id="5" name="Freeform 5"/>
            <p:cNvSpPr/>
            <p:nvPr/>
          </p:nvSpPr>
          <p:spPr>
            <a:xfrm>
              <a:off x="0" y="0"/>
              <a:ext cx="3084322" cy="3084322"/>
            </a:xfrm>
            <a:custGeom>
              <a:avLst/>
              <a:gdLst/>
              <a:ahLst/>
              <a:cxnLst/>
              <a:rect l="l" t="t" r="r" b="b"/>
              <a:pathLst>
                <a:path w="3084322" h="3084322">
                  <a:moveTo>
                    <a:pt x="0" y="0"/>
                  </a:moveTo>
                  <a:lnTo>
                    <a:pt x="3084322" y="0"/>
                  </a:lnTo>
                  <a:lnTo>
                    <a:pt x="3084322" y="3084322"/>
                  </a:lnTo>
                  <a:lnTo>
                    <a:pt x="0" y="3084322"/>
                  </a:lnTo>
                  <a:lnTo>
                    <a:pt x="0" y="0"/>
                  </a:lnTo>
                  <a:close/>
                </a:path>
              </a:pathLst>
            </a:custGeom>
            <a:blipFill>
              <a:blip r:embed="rId3"/>
              <a:stretch>
                <a:fillRect/>
              </a:stretch>
            </a:blipFill>
          </p:spPr>
        </p:sp>
      </p:grpSp>
      <p:grpSp>
        <p:nvGrpSpPr>
          <p:cNvPr id="6" name="Group 6"/>
          <p:cNvGrpSpPr/>
          <p:nvPr/>
        </p:nvGrpSpPr>
        <p:grpSpPr>
          <a:xfrm>
            <a:off x="-1895208" y="9131827"/>
            <a:ext cx="3457289" cy="3457289"/>
            <a:chOff x="0" y="0"/>
            <a:chExt cx="4609719" cy="4609719"/>
          </a:xfrm>
        </p:grpSpPr>
        <p:sp>
          <p:nvSpPr>
            <p:cNvPr id="7" name="Freeform 7"/>
            <p:cNvSpPr/>
            <p:nvPr/>
          </p:nvSpPr>
          <p:spPr>
            <a:xfrm>
              <a:off x="0" y="0"/>
              <a:ext cx="4609719" cy="4609719"/>
            </a:xfrm>
            <a:custGeom>
              <a:avLst/>
              <a:gdLst/>
              <a:ahLst/>
              <a:cxnLst/>
              <a:rect l="l" t="t" r="r" b="b"/>
              <a:pathLst>
                <a:path w="4609719" h="4609719">
                  <a:moveTo>
                    <a:pt x="0" y="0"/>
                  </a:moveTo>
                  <a:lnTo>
                    <a:pt x="4609719" y="0"/>
                  </a:lnTo>
                  <a:lnTo>
                    <a:pt x="4609719" y="4609719"/>
                  </a:lnTo>
                  <a:lnTo>
                    <a:pt x="0" y="4609719"/>
                  </a:lnTo>
                  <a:lnTo>
                    <a:pt x="0" y="0"/>
                  </a:lnTo>
                  <a:close/>
                </a:path>
              </a:pathLst>
            </a:custGeom>
            <a:blipFill>
              <a:blip r:embed="rId3"/>
              <a:stretch>
                <a:fillRect/>
              </a:stretch>
            </a:blipFill>
          </p:spPr>
        </p:sp>
      </p:grpSp>
      <p:sp>
        <p:nvSpPr>
          <p:cNvPr id="8" name="Freeform 8"/>
          <p:cNvSpPr/>
          <p:nvPr/>
        </p:nvSpPr>
        <p:spPr>
          <a:xfrm>
            <a:off x="15643612" y="1985924"/>
            <a:ext cx="776373" cy="776373"/>
          </a:xfrm>
          <a:custGeom>
            <a:avLst/>
            <a:gdLst/>
            <a:ahLst/>
            <a:cxnLst/>
            <a:rect l="l" t="t" r="r" b="b"/>
            <a:pathLst>
              <a:path w="776373" h="776373">
                <a:moveTo>
                  <a:pt x="0" y="0"/>
                </a:moveTo>
                <a:lnTo>
                  <a:pt x="776374" y="0"/>
                </a:lnTo>
                <a:lnTo>
                  <a:pt x="776374" y="776374"/>
                </a:lnTo>
                <a:lnTo>
                  <a:pt x="0" y="776374"/>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9" name="Freeform 9"/>
          <p:cNvSpPr/>
          <p:nvPr/>
        </p:nvSpPr>
        <p:spPr>
          <a:xfrm>
            <a:off x="16763762" y="8877319"/>
            <a:ext cx="3070508" cy="3070508"/>
          </a:xfrm>
          <a:custGeom>
            <a:avLst/>
            <a:gdLst/>
            <a:ahLst/>
            <a:cxnLst/>
            <a:rect l="l" t="t" r="r" b="b"/>
            <a:pathLst>
              <a:path w="3070508" h="3070508">
                <a:moveTo>
                  <a:pt x="0" y="0"/>
                </a:moveTo>
                <a:lnTo>
                  <a:pt x="3070507" y="0"/>
                </a:lnTo>
                <a:lnTo>
                  <a:pt x="3070507" y="3070508"/>
                </a:lnTo>
                <a:lnTo>
                  <a:pt x="0" y="3070508"/>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10" name="Freeform 10"/>
          <p:cNvSpPr/>
          <p:nvPr/>
        </p:nvSpPr>
        <p:spPr>
          <a:xfrm>
            <a:off x="0" y="-180823"/>
            <a:ext cx="18288000" cy="393830"/>
          </a:xfrm>
          <a:custGeom>
            <a:avLst/>
            <a:gdLst/>
            <a:ahLst/>
            <a:cxnLst/>
            <a:rect l="l" t="t" r="r" b="b"/>
            <a:pathLst>
              <a:path w="18288000" h="393830">
                <a:moveTo>
                  <a:pt x="0" y="0"/>
                </a:moveTo>
                <a:lnTo>
                  <a:pt x="18288000" y="0"/>
                </a:lnTo>
                <a:lnTo>
                  <a:pt x="18288000" y="393831"/>
                </a:lnTo>
                <a:lnTo>
                  <a:pt x="0" y="393831"/>
                </a:lnTo>
                <a:lnTo>
                  <a:pt x="0" y="0"/>
                </a:lnTo>
                <a:close/>
              </a:path>
            </a:pathLst>
          </a:custGeom>
          <a:blipFill>
            <a:blip r:embed="rId6">
              <a:extLst>
                <a:ext uri="{96DAC541-7B7A-43D3-8B79-37D633B846F1}">
                  <asvg:svgBlip xmlns:asvg="http://schemas.microsoft.com/office/drawing/2016/SVG/main" xmlns="" r:embed="rId7"/>
                </a:ext>
              </a:extLst>
            </a:blip>
            <a:stretch>
              <a:fillRect t="-788" b="-790"/>
            </a:stretch>
          </a:blipFill>
        </p:spPr>
      </p:sp>
      <p:sp>
        <p:nvSpPr>
          <p:cNvPr id="11" name="TextBox 11"/>
          <p:cNvSpPr txBox="1"/>
          <p:nvPr/>
        </p:nvSpPr>
        <p:spPr>
          <a:xfrm>
            <a:off x="9144000" y="536353"/>
            <a:ext cx="1662551" cy="485737"/>
          </a:xfrm>
          <a:prstGeom prst="rect">
            <a:avLst/>
          </a:prstGeom>
        </p:spPr>
        <p:txBody>
          <a:bodyPr lIns="0" tIns="0" rIns="0" bIns="0" rtlCol="0" anchor="t">
            <a:spAutoFit/>
          </a:bodyPr>
          <a:lstStyle/>
          <a:p>
            <a:pPr algn="l">
              <a:lnSpc>
                <a:spcPts val="3149"/>
              </a:lnSpc>
            </a:pPr>
            <a:r>
              <a:rPr lang="en-US" sz="2250">
                <a:solidFill>
                  <a:srgbClr val="2657C1"/>
                </a:solidFill>
                <a:latin typeface="TT Fors"/>
                <a:ea typeface="TT Fors"/>
                <a:cs typeface="TT Fors"/>
                <a:sym typeface="TT Fors"/>
              </a:rPr>
              <a:t>Home</a:t>
            </a:r>
          </a:p>
        </p:txBody>
      </p:sp>
      <p:sp>
        <p:nvSpPr>
          <p:cNvPr id="12" name="TextBox 12"/>
          <p:cNvSpPr txBox="1"/>
          <p:nvPr/>
        </p:nvSpPr>
        <p:spPr>
          <a:xfrm>
            <a:off x="5710552" y="1745618"/>
            <a:ext cx="9943462" cy="1288418"/>
          </a:xfrm>
          <a:prstGeom prst="rect">
            <a:avLst/>
          </a:prstGeom>
        </p:spPr>
        <p:txBody>
          <a:bodyPr lIns="0" tIns="0" rIns="0" bIns="0" rtlCol="0" anchor="t">
            <a:spAutoFit/>
          </a:bodyPr>
          <a:lstStyle/>
          <a:p>
            <a:pPr algn="l">
              <a:lnSpc>
                <a:spcPts val="5734"/>
              </a:lnSpc>
            </a:pPr>
            <a:r>
              <a:rPr lang="en-US" sz="5920" spc="-52">
                <a:solidFill>
                  <a:srgbClr val="2657C1"/>
                </a:solidFill>
                <a:latin typeface="Etna Sans Serif"/>
                <a:ea typeface="Etna Sans Serif"/>
                <a:cs typeface="Etna Sans Serif"/>
                <a:sym typeface="Etna Sans Serif"/>
              </a:rPr>
              <a:t>Types of RFID Tags</a:t>
            </a:r>
          </a:p>
          <a:p>
            <a:pPr algn="l">
              <a:lnSpc>
                <a:spcPts val="5355"/>
              </a:lnSpc>
            </a:pPr>
            <a:endParaRPr lang="en-US" sz="5920" spc="-52">
              <a:solidFill>
                <a:srgbClr val="2657C1"/>
              </a:solidFill>
              <a:latin typeface="Etna Sans Serif"/>
              <a:ea typeface="Etna Sans Serif"/>
              <a:cs typeface="Etna Sans Serif"/>
              <a:sym typeface="Etna Sans Serif"/>
            </a:endParaRPr>
          </a:p>
        </p:txBody>
      </p:sp>
      <p:sp>
        <p:nvSpPr>
          <p:cNvPr id="13" name="TextBox 13"/>
          <p:cNvSpPr txBox="1"/>
          <p:nvPr/>
        </p:nvSpPr>
        <p:spPr>
          <a:xfrm>
            <a:off x="13726725" y="536353"/>
            <a:ext cx="1916878" cy="485737"/>
          </a:xfrm>
          <a:prstGeom prst="rect">
            <a:avLst/>
          </a:prstGeom>
        </p:spPr>
        <p:txBody>
          <a:bodyPr lIns="0" tIns="0" rIns="0" bIns="0" rtlCol="0" anchor="t">
            <a:spAutoFit/>
          </a:bodyPr>
          <a:lstStyle/>
          <a:p>
            <a:pPr algn="l">
              <a:lnSpc>
                <a:spcPts val="3149"/>
              </a:lnSpc>
            </a:pPr>
            <a:r>
              <a:rPr lang="en-US" sz="2250">
                <a:solidFill>
                  <a:srgbClr val="2657C1"/>
                </a:solidFill>
                <a:latin typeface="TT Fors"/>
                <a:ea typeface="TT Fors"/>
                <a:cs typeface="TT Fors"/>
                <a:sym typeface="TT Fors"/>
              </a:rPr>
              <a:t>Conclusion</a:t>
            </a:r>
          </a:p>
        </p:txBody>
      </p:sp>
      <p:sp>
        <p:nvSpPr>
          <p:cNvPr id="14" name="TextBox 14"/>
          <p:cNvSpPr txBox="1"/>
          <p:nvPr/>
        </p:nvSpPr>
        <p:spPr>
          <a:xfrm>
            <a:off x="16053187" y="538563"/>
            <a:ext cx="1206113" cy="485737"/>
          </a:xfrm>
          <a:prstGeom prst="rect">
            <a:avLst/>
          </a:prstGeom>
        </p:spPr>
        <p:txBody>
          <a:bodyPr lIns="0" tIns="0" rIns="0" bIns="0" rtlCol="0" anchor="t">
            <a:spAutoFit/>
          </a:bodyPr>
          <a:lstStyle/>
          <a:p>
            <a:pPr algn="l">
              <a:lnSpc>
                <a:spcPts val="3149"/>
              </a:lnSpc>
            </a:pPr>
            <a:r>
              <a:rPr lang="en-US" sz="2250">
                <a:solidFill>
                  <a:srgbClr val="2657C1"/>
                </a:solidFill>
                <a:latin typeface="TT Fors"/>
                <a:ea typeface="TT Fors"/>
                <a:cs typeface="TT Fors"/>
                <a:sym typeface="TT Fors"/>
              </a:rPr>
              <a:t>Contact</a:t>
            </a:r>
          </a:p>
        </p:txBody>
      </p:sp>
      <p:sp>
        <p:nvSpPr>
          <p:cNvPr id="15" name="TextBox 15"/>
          <p:cNvSpPr txBox="1"/>
          <p:nvPr/>
        </p:nvSpPr>
        <p:spPr>
          <a:xfrm>
            <a:off x="11362449" y="538563"/>
            <a:ext cx="1907086" cy="485737"/>
          </a:xfrm>
          <a:prstGeom prst="rect">
            <a:avLst/>
          </a:prstGeom>
        </p:spPr>
        <p:txBody>
          <a:bodyPr lIns="0" tIns="0" rIns="0" bIns="0" rtlCol="0" anchor="t">
            <a:spAutoFit/>
          </a:bodyPr>
          <a:lstStyle/>
          <a:p>
            <a:pPr algn="l">
              <a:lnSpc>
                <a:spcPts val="3149"/>
              </a:lnSpc>
            </a:pPr>
            <a:r>
              <a:rPr lang="en-US" sz="2250" b="1">
                <a:solidFill>
                  <a:srgbClr val="2657C1"/>
                </a:solidFill>
                <a:latin typeface="TT Fors Bold"/>
                <a:ea typeface="TT Fors Bold"/>
                <a:cs typeface="TT Fors Bold"/>
                <a:sym typeface="TT Fors Bold"/>
              </a:rPr>
              <a:t>Discussion</a:t>
            </a:r>
          </a:p>
        </p:txBody>
      </p:sp>
      <p:grpSp>
        <p:nvGrpSpPr>
          <p:cNvPr id="16" name="Group 16"/>
          <p:cNvGrpSpPr/>
          <p:nvPr/>
        </p:nvGrpSpPr>
        <p:grpSpPr>
          <a:xfrm>
            <a:off x="597713" y="393735"/>
            <a:ext cx="664312" cy="741655"/>
            <a:chOff x="0" y="0"/>
            <a:chExt cx="885749" cy="988873"/>
          </a:xfrm>
        </p:grpSpPr>
        <p:sp>
          <p:nvSpPr>
            <p:cNvPr id="17" name="Freeform 17"/>
            <p:cNvSpPr/>
            <p:nvPr/>
          </p:nvSpPr>
          <p:spPr>
            <a:xfrm>
              <a:off x="0" y="0"/>
              <a:ext cx="885698" cy="988822"/>
            </a:xfrm>
            <a:custGeom>
              <a:avLst/>
              <a:gdLst/>
              <a:ahLst/>
              <a:cxnLst/>
              <a:rect l="l" t="t" r="r" b="b"/>
              <a:pathLst>
                <a:path w="885698" h="988822">
                  <a:moveTo>
                    <a:pt x="0" y="0"/>
                  </a:moveTo>
                  <a:lnTo>
                    <a:pt x="885698" y="0"/>
                  </a:lnTo>
                  <a:lnTo>
                    <a:pt x="885698" y="988822"/>
                  </a:lnTo>
                  <a:lnTo>
                    <a:pt x="0" y="988822"/>
                  </a:lnTo>
                  <a:lnTo>
                    <a:pt x="0" y="0"/>
                  </a:lnTo>
                  <a:close/>
                </a:path>
              </a:pathLst>
            </a:custGeom>
            <a:blipFill>
              <a:blip r:embed="rId8"/>
              <a:stretch>
                <a:fillRect t="-37" r="-5" b="-41"/>
              </a:stretch>
            </a:blipFill>
          </p:spPr>
        </p:sp>
      </p:grpSp>
      <p:sp>
        <p:nvSpPr>
          <p:cNvPr id="18" name="TextBox 18"/>
          <p:cNvSpPr txBox="1"/>
          <p:nvPr/>
        </p:nvSpPr>
        <p:spPr>
          <a:xfrm>
            <a:off x="1371886" y="596922"/>
            <a:ext cx="2527706" cy="538420"/>
          </a:xfrm>
          <a:prstGeom prst="rect">
            <a:avLst/>
          </a:prstGeom>
        </p:spPr>
        <p:txBody>
          <a:bodyPr lIns="0" tIns="0" rIns="0" bIns="0" rtlCol="0" anchor="t">
            <a:spAutoFit/>
          </a:bodyPr>
          <a:lstStyle/>
          <a:p>
            <a:pPr algn="l" rtl="1">
              <a:lnSpc>
                <a:spcPts val="3924"/>
              </a:lnSpc>
            </a:pPr>
            <a:r>
              <a:rPr lang="en-US" sz="2799">
                <a:solidFill>
                  <a:srgbClr val="2D5986"/>
                </a:solidFill>
                <a:latin typeface="Glacial Indifference"/>
                <a:ea typeface="Glacial Indifference"/>
                <a:cs typeface="Glacial Indifference"/>
                <a:sym typeface="Glacial Indifference"/>
              </a:rPr>
              <a:t>RFID Security</a:t>
            </a:r>
            <a:r>
              <a:rPr lang="ar-EG" sz="2799">
                <a:solidFill>
                  <a:srgbClr val="2D5986"/>
                </a:solidFill>
                <a:latin typeface="Glacial Indifference"/>
                <a:ea typeface="Glacial Indifference"/>
                <a:cs typeface="Glacial Indifference"/>
                <a:sym typeface="Glacial Indifference"/>
                <a:rtl/>
              </a:rPr>
              <a:t>  </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7432607" y="1073629"/>
            <a:ext cx="2313242" cy="2313242"/>
            <a:chOff x="0" y="0"/>
            <a:chExt cx="3084322" cy="3084322"/>
          </a:xfrm>
        </p:grpSpPr>
        <p:sp>
          <p:nvSpPr>
            <p:cNvPr id="3" name="Freeform 3"/>
            <p:cNvSpPr/>
            <p:nvPr/>
          </p:nvSpPr>
          <p:spPr>
            <a:xfrm>
              <a:off x="0" y="0"/>
              <a:ext cx="3084322" cy="3084322"/>
            </a:xfrm>
            <a:custGeom>
              <a:avLst/>
              <a:gdLst/>
              <a:ahLst/>
              <a:cxnLst/>
              <a:rect l="l" t="t" r="r" b="b"/>
              <a:pathLst>
                <a:path w="3084322" h="3084322">
                  <a:moveTo>
                    <a:pt x="0" y="0"/>
                  </a:moveTo>
                  <a:lnTo>
                    <a:pt x="3084322" y="0"/>
                  </a:lnTo>
                  <a:lnTo>
                    <a:pt x="3084322" y="3084322"/>
                  </a:lnTo>
                  <a:lnTo>
                    <a:pt x="0" y="3084322"/>
                  </a:lnTo>
                  <a:lnTo>
                    <a:pt x="0" y="0"/>
                  </a:lnTo>
                  <a:close/>
                </a:path>
              </a:pathLst>
            </a:custGeom>
            <a:blipFill>
              <a:blip r:embed="rId2"/>
              <a:stretch>
                <a:fillRect/>
              </a:stretch>
            </a:blipFill>
          </p:spPr>
        </p:sp>
      </p:grpSp>
      <p:grpSp>
        <p:nvGrpSpPr>
          <p:cNvPr id="4" name="Group 4"/>
          <p:cNvGrpSpPr/>
          <p:nvPr/>
        </p:nvGrpSpPr>
        <p:grpSpPr>
          <a:xfrm>
            <a:off x="-976303" y="9443371"/>
            <a:ext cx="2005032" cy="2005032"/>
            <a:chOff x="0" y="0"/>
            <a:chExt cx="2673375" cy="2673375"/>
          </a:xfrm>
        </p:grpSpPr>
        <p:sp>
          <p:nvSpPr>
            <p:cNvPr id="5" name="Freeform 5"/>
            <p:cNvSpPr/>
            <p:nvPr/>
          </p:nvSpPr>
          <p:spPr>
            <a:xfrm>
              <a:off x="0" y="0"/>
              <a:ext cx="2673350" cy="2673350"/>
            </a:xfrm>
            <a:custGeom>
              <a:avLst/>
              <a:gdLst/>
              <a:ahLst/>
              <a:cxnLst/>
              <a:rect l="l" t="t" r="r" b="b"/>
              <a:pathLst>
                <a:path w="2673350" h="2673350">
                  <a:moveTo>
                    <a:pt x="0" y="0"/>
                  </a:moveTo>
                  <a:lnTo>
                    <a:pt x="2673350" y="0"/>
                  </a:lnTo>
                  <a:lnTo>
                    <a:pt x="2673350" y="2673350"/>
                  </a:lnTo>
                  <a:lnTo>
                    <a:pt x="0" y="2673350"/>
                  </a:lnTo>
                  <a:lnTo>
                    <a:pt x="0" y="0"/>
                  </a:lnTo>
                  <a:close/>
                </a:path>
              </a:pathLst>
            </a:custGeom>
            <a:blipFill>
              <a:blip r:embed="rId2"/>
              <a:stretch>
                <a:fillRect/>
              </a:stretch>
            </a:blipFill>
          </p:spPr>
        </p:sp>
      </p:grpSp>
      <p:sp>
        <p:nvSpPr>
          <p:cNvPr id="6" name="Freeform 6"/>
          <p:cNvSpPr/>
          <p:nvPr/>
        </p:nvSpPr>
        <p:spPr>
          <a:xfrm>
            <a:off x="16261242" y="5240017"/>
            <a:ext cx="1171375" cy="1171375"/>
          </a:xfrm>
          <a:custGeom>
            <a:avLst/>
            <a:gdLst/>
            <a:ahLst/>
            <a:cxnLst/>
            <a:rect l="l" t="t" r="r" b="b"/>
            <a:pathLst>
              <a:path w="1171375" h="1171375">
                <a:moveTo>
                  <a:pt x="0" y="0"/>
                </a:moveTo>
                <a:lnTo>
                  <a:pt x="1171375" y="0"/>
                </a:lnTo>
                <a:lnTo>
                  <a:pt x="1171375" y="1171375"/>
                </a:lnTo>
                <a:lnTo>
                  <a:pt x="0" y="1171375"/>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sp>
        <p:nvSpPr>
          <p:cNvPr id="7" name="Freeform 7"/>
          <p:cNvSpPr/>
          <p:nvPr/>
        </p:nvSpPr>
        <p:spPr>
          <a:xfrm>
            <a:off x="16656244" y="9848850"/>
            <a:ext cx="2695356" cy="2695356"/>
          </a:xfrm>
          <a:custGeom>
            <a:avLst/>
            <a:gdLst/>
            <a:ahLst/>
            <a:cxnLst/>
            <a:rect l="l" t="t" r="r" b="b"/>
            <a:pathLst>
              <a:path w="2695356" h="2695356">
                <a:moveTo>
                  <a:pt x="0" y="0"/>
                </a:moveTo>
                <a:lnTo>
                  <a:pt x="2695356" y="0"/>
                </a:lnTo>
                <a:lnTo>
                  <a:pt x="2695356" y="2695356"/>
                </a:lnTo>
                <a:lnTo>
                  <a:pt x="0" y="2695356"/>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sp>
        <p:nvSpPr>
          <p:cNvPr id="8" name="Freeform 8"/>
          <p:cNvSpPr/>
          <p:nvPr/>
        </p:nvSpPr>
        <p:spPr>
          <a:xfrm>
            <a:off x="0" y="-180823"/>
            <a:ext cx="18288000" cy="393830"/>
          </a:xfrm>
          <a:custGeom>
            <a:avLst/>
            <a:gdLst/>
            <a:ahLst/>
            <a:cxnLst/>
            <a:rect l="l" t="t" r="r" b="b"/>
            <a:pathLst>
              <a:path w="18288000" h="393830">
                <a:moveTo>
                  <a:pt x="0" y="0"/>
                </a:moveTo>
                <a:lnTo>
                  <a:pt x="18288000" y="0"/>
                </a:lnTo>
                <a:lnTo>
                  <a:pt x="18288000" y="393831"/>
                </a:lnTo>
                <a:lnTo>
                  <a:pt x="0" y="393831"/>
                </a:lnTo>
                <a:lnTo>
                  <a:pt x="0" y="0"/>
                </a:lnTo>
                <a:close/>
              </a:path>
            </a:pathLst>
          </a:custGeom>
          <a:blipFill>
            <a:blip r:embed="rId5">
              <a:extLst>
                <a:ext uri="{96DAC541-7B7A-43D3-8B79-37D633B846F1}">
                  <asvg:svgBlip xmlns:asvg="http://schemas.microsoft.com/office/drawing/2016/SVG/main" xmlns="" r:embed="rId6"/>
                </a:ext>
              </a:extLst>
            </a:blip>
            <a:stretch>
              <a:fillRect t="-788" b="-790"/>
            </a:stretch>
          </a:blipFill>
        </p:spPr>
      </p:sp>
      <p:sp>
        <p:nvSpPr>
          <p:cNvPr id="9" name="Freeform 9"/>
          <p:cNvSpPr/>
          <p:nvPr/>
        </p:nvSpPr>
        <p:spPr>
          <a:xfrm>
            <a:off x="16261242" y="2355790"/>
            <a:ext cx="776373" cy="776373"/>
          </a:xfrm>
          <a:custGeom>
            <a:avLst/>
            <a:gdLst/>
            <a:ahLst/>
            <a:cxnLst/>
            <a:rect l="l" t="t" r="r" b="b"/>
            <a:pathLst>
              <a:path w="776373" h="776373">
                <a:moveTo>
                  <a:pt x="0" y="0"/>
                </a:moveTo>
                <a:lnTo>
                  <a:pt x="776373" y="0"/>
                </a:lnTo>
                <a:lnTo>
                  <a:pt x="776373" y="776373"/>
                </a:lnTo>
                <a:lnTo>
                  <a:pt x="0" y="776373"/>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grpSp>
        <p:nvGrpSpPr>
          <p:cNvPr id="10" name="Group 10"/>
          <p:cNvGrpSpPr/>
          <p:nvPr/>
        </p:nvGrpSpPr>
        <p:grpSpPr>
          <a:xfrm>
            <a:off x="26203" y="3721646"/>
            <a:ext cx="18563015" cy="5536654"/>
            <a:chOff x="0" y="0"/>
            <a:chExt cx="24750687" cy="7382205"/>
          </a:xfrm>
        </p:grpSpPr>
        <p:sp>
          <p:nvSpPr>
            <p:cNvPr id="11" name="Freeform 11"/>
            <p:cNvSpPr/>
            <p:nvPr/>
          </p:nvSpPr>
          <p:spPr>
            <a:xfrm>
              <a:off x="0" y="0"/>
              <a:ext cx="24750649" cy="7382256"/>
            </a:xfrm>
            <a:custGeom>
              <a:avLst/>
              <a:gdLst/>
              <a:ahLst/>
              <a:cxnLst/>
              <a:rect l="l" t="t" r="r" b="b"/>
              <a:pathLst>
                <a:path w="24750649" h="7382256">
                  <a:moveTo>
                    <a:pt x="0" y="0"/>
                  </a:moveTo>
                  <a:lnTo>
                    <a:pt x="24750649" y="0"/>
                  </a:lnTo>
                  <a:lnTo>
                    <a:pt x="24750649" y="7382256"/>
                  </a:lnTo>
                  <a:lnTo>
                    <a:pt x="0" y="7382256"/>
                  </a:lnTo>
                  <a:lnTo>
                    <a:pt x="0" y="0"/>
                  </a:lnTo>
                  <a:close/>
                </a:path>
              </a:pathLst>
            </a:custGeom>
            <a:blipFill>
              <a:blip r:embed="rId7"/>
              <a:stretch>
                <a:fillRect l="-779" r="-779"/>
              </a:stretch>
            </a:blipFill>
          </p:spPr>
        </p:sp>
      </p:grpSp>
      <p:sp>
        <p:nvSpPr>
          <p:cNvPr id="12" name="TextBox 12"/>
          <p:cNvSpPr txBox="1"/>
          <p:nvPr/>
        </p:nvSpPr>
        <p:spPr>
          <a:xfrm>
            <a:off x="1322289" y="577948"/>
            <a:ext cx="921544" cy="632993"/>
          </a:xfrm>
          <a:prstGeom prst="rect">
            <a:avLst/>
          </a:prstGeom>
        </p:spPr>
        <p:txBody>
          <a:bodyPr lIns="0" tIns="0" rIns="0" bIns="0" rtlCol="0" anchor="t">
            <a:spAutoFit/>
          </a:bodyPr>
          <a:lstStyle/>
          <a:p>
            <a:pPr algn="l">
              <a:lnSpc>
                <a:spcPts val="2665"/>
              </a:lnSpc>
            </a:pPr>
            <a:r>
              <a:rPr lang="en-US" sz="2750" b="1">
                <a:solidFill>
                  <a:srgbClr val="2657C1"/>
                </a:solidFill>
                <a:latin typeface="TT Fors Bold"/>
                <a:ea typeface="TT Fors Bold"/>
                <a:cs typeface="TT Fors Bold"/>
                <a:sym typeface="TT Fors Bold"/>
              </a:rPr>
              <a:t> RFID</a:t>
            </a:r>
          </a:p>
          <a:p>
            <a:pPr algn="l">
              <a:lnSpc>
                <a:spcPts val="2665"/>
              </a:lnSpc>
            </a:pPr>
            <a:endParaRPr lang="en-US" sz="2750" b="1">
              <a:solidFill>
                <a:srgbClr val="2657C1"/>
              </a:solidFill>
              <a:latin typeface="TT Fors Bold"/>
              <a:ea typeface="TT Fors Bold"/>
              <a:cs typeface="TT Fors Bold"/>
              <a:sym typeface="TT Fors Bold"/>
            </a:endParaRPr>
          </a:p>
        </p:txBody>
      </p:sp>
      <p:sp>
        <p:nvSpPr>
          <p:cNvPr id="13" name="TextBox 13"/>
          <p:cNvSpPr txBox="1"/>
          <p:nvPr/>
        </p:nvSpPr>
        <p:spPr>
          <a:xfrm>
            <a:off x="9144000" y="536353"/>
            <a:ext cx="1662551" cy="485737"/>
          </a:xfrm>
          <a:prstGeom prst="rect">
            <a:avLst/>
          </a:prstGeom>
        </p:spPr>
        <p:txBody>
          <a:bodyPr lIns="0" tIns="0" rIns="0" bIns="0" rtlCol="0" anchor="t">
            <a:spAutoFit/>
          </a:bodyPr>
          <a:lstStyle/>
          <a:p>
            <a:pPr algn="l">
              <a:lnSpc>
                <a:spcPts val="3149"/>
              </a:lnSpc>
            </a:pPr>
            <a:r>
              <a:rPr lang="en-US" sz="2250">
                <a:solidFill>
                  <a:srgbClr val="2657C1"/>
                </a:solidFill>
                <a:latin typeface="TT Fors"/>
                <a:ea typeface="TT Fors"/>
                <a:cs typeface="TT Fors"/>
                <a:sym typeface="TT Fors"/>
              </a:rPr>
              <a:t>Home</a:t>
            </a:r>
          </a:p>
        </p:txBody>
      </p:sp>
      <p:sp>
        <p:nvSpPr>
          <p:cNvPr id="14" name="TextBox 14"/>
          <p:cNvSpPr txBox="1"/>
          <p:nvPr/>
        </p:nvSpPr>
        <p:spPr>
          <a:xfrm>
            <a:off x="2628176" y="2404139"/>
            <a:ext cx="13015436" cy="1417310"/>
          </a:xfrm>
          <a:prstGeom prst="rect">
            <a:avLst/>
          </a:prstGeom>
        </p:spPr>
        <p:txBody>
          <a:bodyPr lIns="0" tIns="0" rIns="0" bIns="0" rtlCol="0" anchor="t">
            <a:spAutoFit/>
          </a:bodyPr>
          <a:lstStyle/>
          <a:p>
            <a:pPr algn="ctr">
              <a:lnSpc>
                <a:spcPts val="5739"/>
              </a:lnSpc>
            </a:pPr>
            <a:r>
              <a:rPr lang="en-US" sz="5914" spc="-53">
                <a:solidFill>
                  <a:srgbClr val="2657C1"/>
                </a:solidFill>
                <a:latin typeface="Etna Sans Serif"/>
                <a:ea typeface="Etna Sans Serif"/>
                <a:cs typeface="Etna Sans Serif"/>
                <a:sym typeface="Etna Sans Serif"/>
              </a:rPr>
              <a:t>RFID Frequency Bands</a:t>
            </a:r>
          </a:p>
          <a:p>
            <a:pPr algn="ctr">
              <a:lnSpc>
                <a:spcPts val="6155"/>
              </a:lnSpc>
            </a:pPr>
            <a:endParaRPr lang="en-US" sz="5914" spc="-53">
              <a:solidFill>
                <a:srgbClr val="2657C1"/>
              </a:solidFill>
              <a:latin typeface="Etna Sans Serif"/>
              <a:ea typeface="Etna Sans Serif"/>
              <a:cs typeface="Etna Sans Serif"/>
              <a:sym typeface="Etna Sans Serif"/>
            </a:endParaRPr>
          </a:p>
        </p:txBody>
      </p:sp>
      <p:sp>
        <p:nvSpPr>
          <p:cNvPr id="15" name="TextBox 15"/>
          <p:cNvSpPr txBox="1"/>
          <p:nvPr/>
        </p:nvSpPr>
        <p:spPr>
          <a:xfrm>
            <a:off x="13726725" y="536353"/>
            <a:ext cx="1916878" cy="485737"/>
          </a:xfrm>
          <a:prstGeom prst="rect">
            <a:avLst/>
          </a:prstGeom>
        </p:spPr>
        <p:txBody>
          <a:bodyPr lIns="0" tIns="0" rIns="0" bIns="0" rtlCol="0" anchor="t">
            <a:spAutoFit/>
          </a:bodyPr>
          <a:lstStyle/>
          <a:p>
            <a:pPr algn="l">
              <a:lnSpc>
                <a:spcPts val="3149"/>
              </a:lnSpc>
            </a:pPr>
            <a:r>
              <a:rPr lang="en-US" sz="2250">
                <a:solidFill>
                  <a:srgbClr val="2657C1"/>
                </a:solidFill>
                <a:latin typeface="TT Fors"/>
                <a:ea typeface="TT Fors"/>
                <a:cs typeface="TT Fors"/>
                <a:sym typeface="TT Fors"/>
              </a:rPr>
              <a:t>Conclusion</a:t>
            </a:r>
          </a:p>
        </p:txBody>
      </p:sp>
      <p:sp>
        <p:nvSpPr>
          <p:cNvPr id="16" name="TextBox 16"/>
          <p:cNvSpPr txBox="1"/>
          <p:nvPr/>
        </p:nvSpPr>
        <p:spPr>
          <a:xfrm>
            <a:off x="16053187" y="538563"/>
            <a:ext cx="1206113" cy="485737"/>
          </a:xfrm>
          <a:prstGeom prst="rect">
            <a:avLst/>
          </a:prstGeom>
        </p:spPr>
        <p:txBody>
          <a:bodyPr lIns="0" tIns="0" rIns="0" bIns="0" rtlCol="0" anchor="t">
            <a:spAutoFit/>
          </a:bodyPr>
          <a:lstStyle/>
          <a:p>
            <a:pPr algn="l">
              <a:lnSpc>
                <a:spcPts val="3149"/>
              </a:lnSpc>
            </a:pPr>
            <a:r>
              <a:rPr lang="en-US" sz="2250">
                <a:solidFill>
                  <a:srgbClr val="2657C1"/>
                </a:solidFill>
                <a:latin typeface="TT Fors"/>
                <a:ea typeface="TT Fors"/>
                <a:cs typeface="TT Fors"/>
                <a:sym typeface="TT Fors"/>
              </a:rPr>
              <a:t>Contact</a:t>
            </a:r>
          </a:p>
        </p:txBody>
      </p:sp>
      <p:sp>
        <p:nvSpPr>
          <p:cNvPr id="17" name="TextBox 17"/>
          <p:cNvSpPr txBox="1"/>
          <p:nvPr/>
        </p:nvSpPr>
        <p:spPr>
          <a:xfrm>
            <a:off x="11362449" y="538563"/>
            <a:ext cx="1907086" cy="485737"/>
          </a:xfrm>
          <a:prstGeom prst="rect">
            <a:avLst/>
          </a:prstGeom>
        </p:spPr>
        <p:txBody>
          <a:bodyPr lIns="0" tIns="0" rIns="0" bIns="0" rtlCol="0" anchor="t">
            <a:spAutoFit/>
          </a:bodyPr>
          <a:lstStyle/>
          <a:p>
            <a:pPr algn="l">
              <a:lnSpc>
                <a:spcPts val="3149"/>
              </a:lnSpc>
            </a:pPr>
            <a:r>
              <a:rPr lang="en-US" sz="2250" b="1">
                <a:solidFill>
                  <a:srgbClr val="2657C1"/>
                </a:solidFill>
                <a:latin typeface="TT Fors Bold"/>
                <a:ea typeface="TT Fors Bold"/>
                <a:cs typeface="TT Fors Bold"/>
                <a:sym typeface="TT Fors Bold"/>
              </a:rPr>
              <a:t>Discussion</a:t>
            </a:r>
          </a:p>
        </p:txBody>
      </p:sp>
      <p:grpSp>
        <p:nvGrpSpPr>
          <p:cNvPr id="18" name="Group 18"/>
          <p:cNvGrpSpPr/>
          <p:nvPr/>
        </p:nvGrpSpPr>
        <p:grpSpPr>
          <a:xfrm>
            <a:off x="446094" y="633813"/>
            <a:ext cx="582606" cy="577129"/>
            <a:chOff x="0" y="0"/>
            <a:chExt cx="776808" cy="769506"/>
          </a:xfrm>
        </p:grpSpPr>
        <p:sp>
          <p:nvSpPr>
            <p:cNvPr id="19" name="Freeform 19"/>
            <p:cNvSpPr/>
            <p:nvPr/>
          </p:nvSpPr>
          <p:spPr>
            <a:xfrm>
              <a:off x="0" y="0"/>
              <a:ext cx="776859" cy="769493"/>
            </a:xfrm>
            <a:custGeom>
              <a:avLst/>
              <a:gdLst/>
              <a:ahLst/>
              <a:cxnLst/>
              <a:rect l="l" t="t" r="r" b="b"/>
              <a:pathLst>
                <a:path w="776859" h="769493">
                  <a:moveTo>
                    <a:pt x="0" y="0"/>
                  </a:moveTo>
                  <a:lnTo>
                    <a:pt x="776859" y="0"/>
                  </a:lnTo>
                  <a:lnTo>
                    <a:pt x="776859" y="769493"/>
                  </a:lnTo>
                  <a:lnTo>
                    <a:pt x="0" y="769493"/>
                  </a:lnTo>
                  <a:lnTo>
                    <a:pt x="0" y="0"/>
                  </a:lnTo>
                  <a:close/>
                </a:path>
              </a:pathLst>
            </a:custGeom>
            <a:blipFill>
              <a:blip r:embed="rId8"/>
              <a:stretch>
                <a:fillRect t="-158" r="6" b="-161"/>
              </a:stretch>
            </a:blipFill>
          </p:spPr>
        </p:sp>
      </p:gr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7432607" y="1073629"/>
            <a:ext cx="2313242" cy="2313242"/>
            <a:chOff x="0" y="0"/>
            <a:chExt cx="3084322" cy="3084322"/>
          </a:xfrm>
        </p:grpSpPr>
        <p:sp>
          <p:nvSpPr>
            <p:cNvPr id="3" name="Freeform 3"/>
            <p:cNvSpPr/>
            <p:nvPr/>
          </p:nvSpPr>
          <p:spPr>
            <a:xfrm>
              <a:off x="0" y="0"/>
              <a:ext cx="3084322" cy="3084322"/>
            </a:xfrm>
            <a:custGeom>
              <a:avLst/>
              <a:gdLst/>
              <a:ahLst/>
              <a:cxnLst/>
              <a:rect l="l" t="t" r="r" b="b"/>
              <a:pathLst>
                <a:path w="3084322" h="3084322">
                  <a:moveTo>
                    <a:pt x="0" y="0"/>
                  </a:moveTo>
                  <a:lnTo>
                    <a:pt x="3084322" y="0"/>
                  </a:lnTo>
                  <a:lnTo>
                    <a:pt x="3084322" y="3084322"/>
                  </a:lnTo>
                  <a:lnTo>
                    <a:pt x="0" y="3084322"/>
                  </a:lnTo>
                  <a:lnTo>
                    <a:pt x="0" y="0"/>
                  </a:lnTo>
                  <a:close/>
                </a:path>
              </a:pathLst>
            </a:custGeom>
            <a:blipFill>
              <a:blip r:embed="rId2"/>
              <a:stretch>
                <a:fillRect/>
              </a:stretch>
            </a:blipFill>
          </p:spPr>
        </p:sp>
      </p:grpSp>
      <p:grpSp>
        <p:nvGrpSpPr>
          <p:cNvPr id="4" name="Group 4"/>
          <p:cNvGrpSpPr/>
          <p:nvPr/>
        </p:nvGrpSpPr>
        <p:grpSpPr>
          <a:xfrm>
            <a:off x="-976303" y="8861327"/>
            <a:ext cx="2587085" cy="2587085"/>
            <a:chOff x="0" y="0"/>
            <a:chExt cx="3449447" cy="3449447"/>
          </a:xfrm>
        </p:grpSpPr>
        <p:sp>
          <p:nvSpPr>
            <p:cNvPr id="5" name="Freeform 5"/>
            <p:cNvSpPr/>
            <p:nvPr/>
          </p:nvSpPr>
          <p:spPr>
            <a:xfrm>
              <a:off x="0" y="0"/>
              <a:ext cx="3449447" cy="3449447"/>
            </a:xfrm>
            <a:custGeom>
              <a:avLst/>
              <a:gdLst/>
              <a:ahLst/>
              <a:cxnLst/>
              <a:rect l="l" t="t" r="r" b="b"/>
              <a:pathLst>
                <a:path w="3449447" h="3449447">
                  <a:moveTo>
                    <a:pt x="0" y="0"/>
                  </a:moveTo>
                  <a:lnTo>
                    <a:pt x="3449447" y="0"/>
                  </a:lnTo>
                  <a:lnTo>
                    <a:pt x="3449447" y="3449447"/>
                  </a:lnTo>
                  <a:lnTo>
                    <a:pt x="0" y="3449447"/>
                  </a:lnTo>
                  <a:lnTo>
                    <a:pt x="0" y="0"/>
                  </a:lnTo>
                  <a:close/>
                </a:path>
              </a:pathLst>
            </a:custGeom>
            <a:blipFill>
              <a:blip r:embed="rId2"/>
              <a:stretch>
                <a:fillRect/>
              </a:stretch>
            </a:blipFill>
          </p:spPr>
        </p:sp>
      </p:grpSp>
      <p:sp>
        <p:nvSpPr>
          <p:cNvPr id="6" name="Freeform 6"/>
          <p:cNvSpPr/>
          <p:nvPr/>
        </p:nvSpPr>
        <p:spPr>
          <a:xfrm>
            <a:off x="15166677" y="8062236"/>
            <a:ext cx="4185237" cy="4185237"/>
          </a:xfrm>
          <a:custGeom>
            <a:avLst/>
            <a:gdLst/>
            <a:ahLst/>
            <a:cxnLst/>
            <a:rect l="l" t="t" r="r" b="b"/>
            <a:pathLst>
              <a:path w="4185237" h="4185237">
                <a:moveTo>
                  <a:pt x="0" y="0"/>
                </a:moveTo>
                <a:lnTo>
                  <a:pt x="4185237" y="0"/>
                </a:lnTo>
                <a:lnTo>
                  <a:pt x="4185237" y="4185238"/>
                </a:lnTo>
                <a:lnTo>
                  <a:pt x="0" y="4185238"/>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sp>
        <p:nvSpPr>
          <p:cNvPr id="7" name="Freeform 7"/>
          <p:cNvSpPr/>
          <p:nvPr/>
        </p:nvSpPr>
        <p:spPr>
          <a:xfrm>
            <a:off x="0" y="-180823"/>
            <a:ext cx="18288000" cy="393830"/>
          </a:xfrm>
          <a:custGeom>
            <a:avLst/>
            <a:gdLst/>
            <a:ahLst/>
            <a:cxnLst/>
            <a:rect l="l" t="t" r="r" b="b"/>
            <a:pathLst>
              <a:path w="18288000" h="393830">
                <a:moveTo>
                  <a:pt x="0" y="0"/>
                </a:moveTo>
                <a:lnTo>
                  <a:pt x="18288000" y="0"/>
                </a:lnTo>
                <a:lnTo>
                  <a:pt x="18288000" y="393831"/>
                </a:lnTo>
                <a:lnTo>
                  <a:pt x="0" y="393831"/>
                </a:lnTo>
                <a:lnTo>
                  <a:pt x="0" y="0"/>
                </a:lnTo>
                <a:close/>
              </a:path>
            </a:pathLst>
          </a:custGeom>
          <a:blipFill>
            <a:blip r:embed="rId5">
              <a:extLst>
                <a:ext uri="{96DAC541-7B7A-43D3-8B79-37D633B846F1}">
                  <asvg:svgBlip xmlns:asvg="http://schemas.microsoft.com/office/drawing/2016/SVG/main" xmlns="" r:embed="rId6"/>
                </a:ext>
              </a:extLst>
            </a:blip>
            <a:stretch>
              <a:fillRect t="-788" b="-790"/>
            </a:stretch>
          </a:blipFill>
        </p:spPr>
      </p:sp>
      <p:sp>
        <p:nvSpPr>
          <p:cNvPr id="8" name="Freeform 8"/>
          <p:cNvSpPr/>
          <p:nvPr/>
        </p:nvSpPr>
        <p:spPr>
          <a:xfrm>
            <a:off x="9414700" y="8861327"/>
            <a:ext cx="776373" cy="776373"/>
          </a:xfrm>
          <a:custGeom>
            <a:avLst/>
            <a:gdLst/>
            <a:ahLst/>
            <a:cxnLst/>
            <a:rect l="l" t="t" r="r" b="b"/>
            <a:pathLst>
              <a:path w="776373" h="776373">
                <a:moveTo>
                  <a:pt x="0" y="0"/>
                </a:moveTo>
                <a:lnTo>
                  <a:pt x="776374" y="0"/>
                </a:lnTo>
                <a:lnTo>
                  <a:pt x="776374" y="776373"/>
                </a:lnTo>
                <a:lnTo>
                  <a:pt x="0" y="776373"/>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grpSp>
        <p:nvGrpSpPr>
          <p:cNvPr id="9" name="Group 9"/>
          <p:cNvGrpSpPr/>
          <p:nvPr/>
        </p:nvGrpSpPr>
        <p:grpSpPr>
          <a:xfrm>
            <a:off x="-457057" y="3573523"/>
            <a:ext cx="19058334" cy="6290567"/>
            <a:chOff x="0" y="0"/>
            <a:chExt cx="25411112" cy="8387423"/>
          </a:xfrm>
        </p:grpSpPr>
        <p:sp>
          <p:nvSpPr>
            <p:cNvPr id="10" name="Freeform 10"/>
            <p:cNvSpPr/>
            <p:nvPr/>
          </p:nvSpPr>
          <p:spPr>
            <a:xfrm>
              <a:off x="0" y="0"/>
              <a:ext cx="25411176" cy="8387461"/>
            </a:xfrm>
            <a:custGeom>
              <a:avLst/>
              <a:gdLst/>
              <a:ahLst/>
              <a:cxnLst/>
              <a:rect l="l" t="t" r="r" b="b"/>
              <a:pathLst>
                <a:path w="25411176" h="8387461">
                  <a:moveTo>
                    <a:pt x="0" y="0"/>
                  </a:moveTo>
                  <a:lnTo>
                    <a:pt x="25411176" y="0"/>
                  </a:lnTo>
                  <a:lnTo>
                    <a:pt x="25411176" y="8387461"/>
                  </a:lnTo>
                  <a:lnTo>
                    <a:pt x="0" y="8387461"/>
                  </a:lnTo>
                  <a:lnTo>
                    <a:pt x="0" y="0"/>
                  </a:lnTo>
                  <a:close/>
                </a:path>
              </a:pathLst>
            </a:custGeom>
            <a:blipFill>
              <a:blip r:embed="rId7"/>
              <a:stretch>
                <a:fillRect l="-214" r="-214"/>
              </a:stretch>
            </a:blipFill>
          </p:spPr>
        </p:sp>
      </p:grpSp>
      <p:sp>
        <p:nvSpPr>
          <p:cNvPr id="11" name="TextBox 11"/>
          <p:cNvSpPr txBox="1"/>
          <p:nvPr/>
        </p:nvSpPr>
        <p:spPr>
          <a:xfrm>
            <a:off x="9144000" y="536353"/>
            <a:ext cx="1662551" cy="485737"/>
          </a:xfrm>
          <a:prstGeom prst="rect">
            <a:avLst/>
          </a:prstGeom>
        </p:spPr>
        <p:txBody>
          <a:bodyPr lIns="0" tIns="0" rIns="0" bIns="0" rtlCol="0" anchor="t">
            <a:spAutoFit/>
          </a:bodyPr>
          <a:lstStyle/>
          <a:p>
            <a:pPr algn="l">
              <a:lnSpc>
                <a:spcPts val="3149"/>
              </a:lnSpc>
            </a:pPr>
            <a:r>
              <a:rPr lang="en-US" sz="2250">
                <a:solidFill>
                  <a:srgbClr val="2657C1"/>
                </a:solidFill>
                <a:latin typeface="TT Fors"/>
                <a:ea typeface="TT Fors"/>
                <a:cs typeface="TT Fors"/>
                <a:sym typeface="TT Fors"/>
              </a:rPr>
              <a:t>Home</a:t>
            </a:r>
          </a:p>
        </p:txBody>
      </p:sp>
      <p:sp>
        <p:nvSpPr>
          <p:cNvPr id="12" name="TextBox 12"/>
          <p:cNvSpPr txBox="1"/>
          <p:nvPr/>
        </p:nvSpPr>
        <p:spPr>
          <a:xfrm>
            <a:off x="2438486" y="2228964"/>
            <a:ext cx="17029490" cy="1076773"/>
          </a:xfrm>
          <a:prstGeom prst="rect">
            <a:avLst/>
          </a:prstGeom>
        </p:spPr>
        <p:txBody>
          <a:bodyPr lIns="0" tIns="0" rIns="0" bIns="0" rtlCol="0" anchor="t">
            <a:spAutoFit/>
          </a:bodyPr>
          <a:lstStyle/>
          <a:p>
            <a:pPr algn="l">
              <a:lnSpc>
                <a:spcPts val="5749"/>
              </a:lnSpc>
            </a:pPr>
            <a:r>
              <a:rPr lang="en-US" sz="5925" spc="-52">
                <a:solidFill>
                  <a:srgbClr val="2657C1"/>
                </a:solidFill>
                <a:latin typeface="Etna Sans Serif"/>
                <a:ea typeface="Etna Sans Serif"/>
                <a:cs typeface="Etna Sans Serif"/>
                <a:sym typeface="Etna Sans Serif"/>
              </a:rPr>
              <a:t>Protocols &amp; Cryptographic Algorithms</a:t>
            </a:r>
          </a:p>
          <a:p>
            <a:pPr algn="l">
              <a:lnSpc>
                <a:spcPts val="3770"/>
              </a:lnSpc>
            </a:pPr>
            <a:endParaRPr lang="en-US" sz="5925" spc="-52">
              <a:solidFill>
                <a:srgbClr val="2657C1"/>
              </a:solidFill>
              <a:latin typeface="Etna Sans Serif"/>
              <a:ea typeface="Etna Sans Serif"/>
              <a:cs typeface="Etna Sans Serif"/>
              <a:sym typeface="Etna Sans Serif"/>
            </a:endParaRPr>
          </a:p>
        </p:txBody>
      </p:sp>
      <p:sp>
        <p:nvSpPr>
          <p:cNvPr id="13" name="TextBox 13"/>
          <p:cNvSpPr txBox="1"/>
          <p:nvPr/>
        </p:nvSpPr>
        <p:spPr>
          <a:xfrm>
            <a:off x="13726725" y="536353"/>
            <a:ext cx="1916878" cy="485737"/>
          </a:xfrm>
          <a:prstGeom prst="rect">
            <a:avLst/>
          </a:prstGeom>
        </p:spPr>
        <p:txBody>
          <a:bodyPr lIns="0" tIns="0" rIns="0" bIns="0" rtlCol="0" anchor="t">
            <a:spAutoFit/>
          </a:bodyPr>
          <a:lstStyle/>
          <a:p>
            <a:pPr algn="l">
              <a:lnSpc>
                <a:spcPts val="3149"/>
              </a:lnSpc>
            </a:pPr>
            <a:r>
              <a:rPr lang="en-US" sz="2250">
                <a:solidFill>
                  <a:srgbClr val="2657C1"/>
                </a:solidFill>
                <a:latin typeface="TT Fors"/>
                <a:ea typeface="TT Fors"/>
                <a:cs typeface="TT Fors"/>
                <a:sym typeface="TT Fors"/>
              </a:rPr>
              <a:t>Conclusion</a:t>
            </a:r>
          </a:p>
        </p:txBody>
      </p:sp>
      <p:sp>
        <p:nvSpPr>
          <p:cNvPr id="14" name="TextBox 14"/>
          <p:cNvSpPr txBox="1"/>
          <p:nvPr/>
        </p:nvSpPr>
        <p:spPr>
          <a:xfrm>
            <a:off x="16053187" y="538563"/>
            <a:ext cx="1206113" cy="485737"/>
          </a:xfrm>
          <a:prstGeom prst="rect">
            <a:avLst/>
          </a:prstGeom>
        </p:spPr>
        <p:txBody>
          <a:bodyPr lIns="0" tIns="0" rIns="0" bIns="0" rtlCol="0" anchor="t">
            <a:spAutoFit/>
          </a:bodyPr>
          <a:lstStyle/>
          <a:p>
            <a:pPr algn="l">
              <a:lnSpc>
                <a:spcPts val="3149"/>
              </a:lnSpc>
            </a:pPr>
            <a:r>
              <a:rPr lang="en-US" sz="2250">
                <a:solidFill>
                  <a:srgbClr val="2657C1"/>
                </a:solidFill>
                <a:latin typeface="TT Fors"/>
                <a:ea typeface="TT Fors"/>
                <a:cs typeface="TT Fors"/>
                <a:sym typeface="TT Fors"/>
              </a:rPr>
              <a:t>Contact</a:t>
            </a:r>
          </a:p>
        </p:txBody>
      </p:sp>
      <p:sp>
        <p:nvSpPr>
          <p:cNvPr id="15" name="TextBox 15"/>
          <p:cNvSpPr txBox="1"/>
          <p:nvPr/>
        </p:nvSpPr>
        <p:spPr>
          <a:xfrm>
            <a:off x="11362449" y="538563"/>
            <a:ext cx="1907086" cy="485737"/>
          </a:xfrm>
          <a:prstGeom prst="rect">
            <a:avLst/>
          </a:prstGeom>
        </p:spPr>
        <p:txBody>
          <a:bodyPr lIns="0" tIns="0" rIns="0" bIns="0" rtlCol="0" anchor="t">
            <a:spAutoFit/>
          </a:bodyPr>
          <a:lstStyle/>
          <a:p>
            <a:pPr algn="l">
              <a:lnSpc>
                <a:spcPts val="3149"/>
              </a:lnSpc>
            </a:pPr>
            <a:r>
              <a:rPr lang="en-US" sz="2250" b="1">
                <a:solidFill>
                  <a:srgbClr val="2657C1"/>
                </a:solidFill>
                <a:latin typeface="TT Fors Bold"/>
                <a:ea typeface="TT Fors Bold"/>
                <a:cs typeface="TT Fors Bold"/>
                <a:sym typeface="TT Fors Bold"/>
              </a:rPr>
              <a:t>Discussion</a:t>
            </a:r>
          </a:p>
        </p:txBody>
      </p:sp>
      <p:grpSp>
        <p:nvGrpSpPr>
          <p:cNvPr id="16" name="Group 16"/>
          <p:cNvGrpSpPr/>
          <p:nvPr/>
        </p:nvGrpSpPr>
        <p:grpSpPr>
          <a:xfrm>
            <a:off x="914552" y="1790814"/>
            <a:ext cx="1166127" cy="1199759"/>
            <a:chOff x="0" y="0"/>
            <a:chExt cx="1554836" cy="1599679"/>
          </a:xfrm>
        </p:grpSpPr>
        <p:sp>
          <p:nvSpPr>
            <p:cNvPr id="17" name="Freeform 17"/>
            <p:cNvSpPr/>
            <p:nvPr/>
          </p:nvSpPr>
          <p:spPr>
            <a:xfrm>
              <a:off x="0" y="0"/>
              <a:ext cx="1554861" cy="1599692"/>
            </a:xfrm>
            <a:custGeom>
              <a:avLst/>
              <a:gdLst/>
              <a:ahLst/>
              <a:cxnLst/>
              <a:rect l="l" t="t" r="r" b="b"/>
              <a:pathLst>
                <a:path w="1554861" h="1599692">
                  <a:moveTo>
                    <a:pt x="0" y="0"/>
                  </a:moveTo>
                  <a:lnTo>
                    <a:pt x="1554861" y="0"/>
                  </a:lnTo>
                  <a:lnTo>
                    <a:pt x="1554861" y="1599692"/>
                  </a:lnTo>
                  <a:lnTo>
                    <a:pt x="0" y="1599692"/>
                  </a:lnTo>
                  <a:lnTo>
                    <a:pt x="0" y="0"/>
                  </a:lnTo>
                  <a:close/>
                </a:path>
              </a:pathLst>
            </a:custGeom>
            <a:blipFill>
              <a:blip r:embed="rId8"/>
              <a:stretch>
                <a:fillRect l="-109" r="-107"/>
              </a:stretch>
            </a:blipFill>
          </p:spPr>
        </p:sp>
      </p:grpSp>
      <p:grpSp>
        <p:nvGrpSpPr>
          <p:cNvPr id="18" name="Group 18"/>
          <p:cNvGrpSpPr/>
          <p:nvPr/>
        </p:nvGrpSpPr>
        <p:grpSpPr>
          <a:xfrm>
            <a:off x="597713" y="393735"/>
            <a:ext cx="664312" cy="741655"/>
            <a:chOff x="0" y="0"/>
            <a:chExt cx="885749" cy="988873"/>
          </a:xfrm>
        </p:grpSpPr>
        <p:sp>
          <p:nvSpPr>
            <p:cNvPr id="19" name="Freeform 19"/>
            <p:cNvSpPr/>
            <p:nvPr/>
          </p:nvSpPr>
          <p:spPr>
            <a:xfrm>
              <a:off x="0" y="0"/>
              <a:ext cx="885698" cy="988822"/>
            </a:xfrm>
            <a:custGeom>
              <a:avLst/>
              <a:gdLst/>
              <a:ahLst/>
              <a:cxnLst/>
              <a:rect l="l" t="t" r="r" b="b"/>
              <a:pathLst>
                <a:path w="885698" h="988822">
                  <a:moveTo>
                    <a:pt x="0" y="0"/>
                  </a:moveTo>
                  <a:lnTo>
                    <a:pt x="885698" y="0"/>
                  </a:lnTo>
                  <a:lnTo>
                    <a:pt x="885698" y="988822"/>
                  </a:lnTo>
                  <a:lnTo>
                    <a:pt x="0" y="988822"/>
                  </a:lnTo>
                  <a:lnTo>
                    <a:pt x="0" y="0"/>
                  </a:lnTo>
                  <a:close/>
                </a:path>
              </a:pathLst>
            </a:custGeom>
            <a:blipFill>
              <a:blip r:embed="rId9"/>
              <a:stretch>
                <a:fillRect t="-37" r="-5" b="-41"/>
              </a:stretch>
            </a:blipFill>
          </p:spPr>
        </p:sp>
      </p:grpSp>
      <p:sp>
        <p:nvSpPr>
          <p:cNvPr id="20" name="TextBox 20"/>
          <p:cNvSpPr txBox="1"/>
          <p:nvPr/>
        </p:nvSpPr>
        <p:spPr>
          <a:xfrm>
            <a:off x="1369343" y="650262"/>
            <a:ext cx="2527706" cy="538420"/>
          </a:xfrm>
          <a:prstGeom prst="rect">
            <a:avLst/>
          </a:prstGeom>
        </p:spPr>
        <p:txBody>
          <a:bodyPr lIns="0" tIns="0" rIns="0" bIns="0" rtlCol="0" anchor="t">
            <a:spAutoFit/>
          </a:bodyPr>
          <a:lstStyle/>
          <a:p>
            <a:pPr algn="l" rtl="1">
              <a:lnSpc>
                <a:spcPts val="3924"/>
              </a:lnSpc>
            </a:pPr>
            <a:r>
              <a:rPr lang="en-US" sz="2799">
                <a:solidFill>
                  <a:srgbClr val="2D5986"/>
                </a:solidFill>
                <a:latin typeface="Glacial Indifference"/>
                <a:ea typeface="Glacial Indifference"/>
                <a:cs typeface="Glacial Indifference"/>
                <a:sym typeface="Glacial Indifference"/>
              </a:rPr>
              <a:t>RFID Security</a:t>
            </a:r>
            <a:r>
              <a:rPr lang="ar-EG" sz="2799">
                <a:solidFill>
                  <a:srgbClr val="2D5986"/>
                </a:solidFill>
                <a:latin typeface="Glacial Indifference"/>
                <a:ea typeface="Glacial Indifference"/>
                <a:cs typeface="Glacial Indifference"/>
                <a:sym typeface="Glacial Indifference"/>
                <a:rtl/>
              </a:rPr>
              <a:t>  </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7432607" y="1073629"/>
            <a:ext cx="2313242" cy="2313242"/>
            <a:chOff x="0" y="0"/>
            <a:chExt cx="3084322" cy="3084322"/>
          </a:xfrm>
        </p:grpSpPr>
        <p:sp>
          <p:nvSpPr>
            <p:cNvPr id="3" name="Freeform 3"/>
            <p:cNvSpPr/>
            <p:nvPr/>
          </p:nvSpPr>
          <p:spPr>
            <a:xfrm>
              <a:off x="0" y="0"/>
              <a:ext cx="3084322" cy="3084322"/>
            </a:xfrm>
            <a:custGeom>
              <a:avLst/>
              <a:gdLst/>
              <a:ahLst/>
              <a:cxnLst/>
              <a:rect l="l" t="t" r="r" b="b"/>
              <a:pathLst>
                <a:path w="3084322" h="3084322">
                  <a:moveTo>
                    <a:pt x="0" y="0"/>
                  </a:moveTo>
                  <a:lnTo>
                    <a:pt x="3084322" y="0"/>
                  </a:lnTo>
                  <a:lnTo>
                    <a:pt x="3084322" y="3084322"/>
                  </a:lnTo>
                  <a:lnTo>
                    <a:pt x="0" y="3084322"/>
                  </a:lnTo>
                  <a:lnTo>
                    <a:pt x="0" y="0"/>
                  </a:lnTo>
                  <a:close/>
                </a:path>
              </a:pathLst>
            </a:custGeom>
            <a:blipFill>
              <a:blip r:embed="rId2"/>
              <a:stretch>
                <a:fillRect/>
              </a:stretch>
            </a:blipFill>
          </p:spPr>
        </p:sp>
      </p:grpSp>
      <p:grpSp>
        <p:nvGrpSpPr>
          <p:cNvPr id="4" name="Group 4"/>
          <p:cNvGrpSpPr/>
          <p:nvPr/>
        </p:nvGrpSpPr>
        <p:grpSpPr>
          <a:xfrm>
            <a:off x="-761476" y="9258300"/>
            <a:ext cx="2587085" cy="2587085"/>
            <a:chOff x="0" y="0"/>
            <a:chExt cx="3449447" cy="3449447"/>
          </a:xfrm>
        </p:grpSpPr>
        <p:sp>
          <p:nvSpPr>
            <p:cNvPr id="5" name="Freeform 5"/>
            <p:cNvSpPr/>
            <p:nvPr/>
          </p:nvSpPr>
          <p:spPr>
            <a:xfrm>
              <a:off x="0" y="0"/>
              <a:ext cx="3449447" cy="3449447"/>
            </a:xfrm>
            <a:custGeom>
              <a:avLst/>
              <a:gdLst/>
              <a:ahLst/>
              <a:cxnLst/>
              <a:rect l="l" t="t" r="r" b="b"/>
              <a:pathLst>
                <a:path w="3449447" h="3449447">
                  <a:moveTo>
                    <a:pt x="0" y="0"/>
                  </a:moveTo>
                  <a:lnTo>
                    <a:pt x="3449447" y="0"/>
                  </a:lnTo>
                  <a:lnTo>
                    <a:pt x="3449447" y="3449447"/>
                  </a:lnTo>
                  <a:lnTo>
                    <a:pt x="0" y="3449447"/>
                  </a:lnTo>
                  <a:lnTo>
                    <a:pt x="0" y="0"/>
                  </a:lnTo>
                  <a:close/>
                </a:path>
              </a:pathLst>
            </a:custGeom>
            <a:blipFill>
              <a:blip r:embed="rId2"/>
              <a:stretch>
                <a:fillRect/>
              </a:stretch>
            </a:blipFill>
          </p:spPr>
        </p:sp>
      </p:grpSp>
      <p:sp>
        <p:nvSpPr>
          <p:cNvPr id="6" name="Freeform 6"/>
          <p:cNvSpPr/>
          <p:nvPr/>
        </p:nvSpPr>
        <p:spPr>
          <a:xfrm>
            <a:off x="14685169" y="1950234"/>
            <a:ext cx="1171375" cy="1171375"/>
          </a:xfrm>
          <a:custGeom>
            <a:avLst/>
            <a:gdLst/>
            <a:ahLst/>
            <a:cxnLst/>
            <a:rect l="l" t="t" r="r" b="b"/>
            <a:pathLst>
              <a:path w="1171375" h="1171375">
                <a:moveTo>
                  <a:pt x="0" y="0"/>
                </a:moveTo>
                <a:lnTo>
                  <a:pt x="1171375" y="0"/>
                </a:lnTo>
                <a:lnTo>
                  <a:pt x="1171375" y="1171375"/>
                </a:lnTo>
                <a:lnTo>
                  <a:pt x="0" y="1171375"/>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sp>
        <p:nvSpPr>
          <p:cNvPr id="7" name="Freeform 7"/>
          <p:cNvSpPr/>
          <p:nvPr/>
        </p:nvSpPr>
        <p:spPr>
          <a:xfrm>
            <a:off x="14685169" y="8585102"/>
            <a:ext cx="4185237" cy="4185237"/>
          </a:xfrm>
          <a:custGeom>
            <a:avLst/>
            <a:gdLst/>
            <a:ahLst/>
            <a:cxnLst/>
            <a:rect l="l" t="t" r="r" b="b"/>
            <a:pathLst>
              <a:path w="4185237" h="4185237">
                <a:moveTo>
                  <a:pt x="0" y="0"/>
                </a:moveTo>
                <a:lnTo>
                  <a:pt x="4185237" y="0"/>
                </a:lnTo>
                <a:lnTo>
                  <a:pt x="4185237" y="4185237"/>
                </a:lnTo>
                <a:lnTo>
                  <a:pt x="0" y="4185237"/>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sp>
        <p:nvSpPr>
          <p:cNvPr id="8" name="Freeform 8"/>
          <p:cNvSpPr/>
          <p:nvPr/>
        </p:nvSpPr>
        <p:spPr>
          <a:xfrm>
            <a:off x="0" y="-180823"/>
            <a:ext cx="18288000" cy="393830"/>
          </a:xfrm>
          <a:custGeom>
            <a:avLst/>
            <a:gdLst/>
            <a:ahLst/>
            <a:cxnLst/>
            <a:rect l="l" t="t" r="r" b="b"/>
            <a:pathLst>
              <a:path w="18288000" h="393830">
                <a:moveTo>
                  <a:pt x="0" y="0"/>
                </a:moveTo>
                <a:lnTo>
                  <a:pt x="18288000" y="0"/>
                </a:lnTo>
                <a:lnTo>
                  <a:pt x="18288000" y="393831"/>
                </a:lnTo>
                <a:lnTo>
                  <a:pt x="0" y="393831"/>
                </a:lnTo>
                <a:lnTo>
                  <a:pt x="0" y="0"/>
                </a:lnTo>
                <a:close/>
              </a:path>
            </a:pathLst>
          </a:custGeom>
          <a:blipFill>
            <a:blip r:embed="rId5">
              <a:extLst>
                <a:ext uri="{96DAC541-7B7A-43D3-8B79-37D633B846F1}">
                  <asvg:svgBlip xmlns:asvg="http://schemas.microsoft.com/office/drawing/2016/SVG/main" xmlns="" r:embed="rId6"/>
                </a:ext>
              </a:extLst>
            </a:blip>
            <a:stretch>
              <a:fillRect t="-788" b="-790"/>
            </a:stretch>
          </a:blipFill>
        </p:spPr>
      </p:sp>
      <p:sp>
        <p:nvSpPr>
          <p:cNvPr id="9" name="TextBox 9"/>
          <p:cNvSpPr txBox="1"/>
          <p:nvPr/>
        </p:nvSpPr>
        <p:spPr>
          <a:xfrm>
            <a:off x="1181462" y="2824982"/>
            <a:ext cx="7957556" cy="2057190"/>
          </a:xfrm>
          <a:prstGeom prst="rect">
            <a:avLst/>
          </a:prstGeom>
        </p:spPr>
        <p:txBody>
          <a:bodyPr lIns="0" tIns="0" rIns="0" bIns="0" rtlCol="0" anchor="t">
            <a:spAutoFit/>
          </a:bodyPr>
          <a:lstStyle/>
          <a:p>
            <a:pPr algn="l">
              <a:lnSpc>
                <a:spcPts val="5840"/>
              </a:lnSpc>
            </a:pPr>
            <a:r>
              <a:rPr lang="en-US" sz="6020" spc="-54">
                <a:solidFill>
                  <a:srgbClr val="2657C1"/>
                </a:solidFill>
                <a:latin typeface="Etna Sans Serif"/>
                <a:ea typeface="Etna Sans Serif"/>
                <a:cs typeface="Etna Sans Serif"/>
                <a:sym typeface="Etna Sans Serif"/>
              </a:rPr>
              <a:t>Security Challenges</a:t>
            </a:r>
          </a:p>
          <a:p>
            <a:pPr algn="l">
              <a:lnSpc>
                <a:spcPts val="10595"/>
              </a:lnSpc>
            </a:pPr>
            <a:endParaRPr lang="en-US" sz="6020" spc="-54">
              <a:solidFill>
                <a:srgbClr val="2657C1"/>
              </a:solidFill>
              <a:latin typeface="Etna Sans Serif"/>
              <a:ea typeface="Etna Sans Serif"/>
              <a:cs typeface="Etna Sans Serif"/>
              <a:sym typeface="Etna Sans Serif"/>
            </a:endParaRPr>
          </a:p>
        </p:txBody>
      </p:sp>
      <p:sp>
        <p:nvSpPr>
          <p:cNvPr id="10" name="Freeform 10"/>
          <p:cNvSpPr/>
          <p:nvPr/>
        </p:nvSpPr>
        <p:spPr>
          <a:xfrm>
            <a:off x="7025088" y="1422683"/>
            <a:ext cx="776373" cy="776373"/>
          </a:xfrm>
          <a:custGeom>
            <a:avLst/>
            <a:gdLst/>
            <a:ahLst/>
            <a:cxnLst/>
            <a:rect l="l" t="t" r="r" b="b"/>
            <a:pathLst>
              <a:path w="776373" h="776373">
                <a:moveTo>
                  <a:pt x="0" y="0"/>
                </a:moveTo>
                <a:lnTo>
                  <a:pt x="776373" y="0"/>
                </a:lnTo>
                <a:lnTo>
                  <a:pt x="776373" y="776373"/>
                </a:lnTo>
                <a:lnTo>
                  <a:pt x="0" y="776373"/>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grpSp>
        <p:nvGrpSpPr>
          <p:cNvPr id="11" name="Group 11"/>
          <p:cNvGrpSpPr/>
          <p:nvPr/>
        </p:nvGrpSpPr>
        <p:grpSpPr>
          <a:xfrm>
            <a:off x="659501" y="583978"/>
            <a:ext cx="1166108" cy="1235612"/>
            <a:chOff x="0" y="0"/>
            <a:chExt cx="1554810" cy="1647482"/>
          </a:xfrm>
        </p:grpSpPr>
        <p:sp>
          <p:nvSpPr>
            <p:cNvPr id="12" name="Freeform 12"/>
            <p:cNvSpPr/>
            <p:nvPr/>
          </p:nvSpPr>
          <p:spPr>
            <a:xfrm>
              <a:off x="0" y="0"/>
              <a:ext cx="1554861" cy="1647444"/>
            </a:xfrm>
            <a:custGeom>
              <a:avLst/>
              <a:gdLst/>
              <a:ahLst/>
              <a:cxnLst/>
              <a:rect l="l" t="t" r="r" b="b"/>
              <a:pathLst>
                <a:path w="1554861" h="1647444">
                  <a:moveTo>
                    <a:pt x="0" y="0"/>
                  </a:moveTo>
                  <a:lnTo>
                    <a:pt x="1554861" y="0"/>
                  </a:lnTo>
                  <a:lnTo>
                    <a:pt x="1554861" y="1647444"/>
                  </a:lnTo>
                  <a:lnTo>
                    <a:pt x="0" y="1647444"/>
                  </a:lnTo>
                  <a:lnTo>
                    <a:pt x="0" y="0"/>
                  </a:lnTo>
                  <a:close/>
                </a:path>
              </a:pathLst>
            </a:custGeom>
            <a:blipFill>
              <a:blip r:embed="rId7"/>
              <a:stretch>
                <a:fillRect l="-69" r="-66" b="-2"/>
              </a:stretch>
            </a:blipFill>
          </p:spPr>
        </p:sp>
      </p:grpSp>
      <p:grpSp>
        <p:nvGrpSpPr>
          <p:cNvPr id="13" name="Group 13"/>
          <p:cNvGrpSpPr/>
          <p:nvPr/>
        </p:nvGrpSpPr>
        <p:grpSpPr>
          <a:xfrm>
            <a:off x="13515832" y="1650778"/>
            <a:ext cx="3510048" cy="2541346"/>
            <a:chOff x="0" y="0"/>
            <a:chExt cx="4680064" cy="3388462"/>
          </a:xfrm>
        </p:grpSpPr>
        <p:sp>
          <p:nvSpPr>
            <p:cNvPr id="14" name="Freeform 14"/>
            <p:cNvSpPr/>
            <p:nvPr/>
          </p:nvSpPr>
          <p:spPr>
            <a:xfrm>
              <a:off x="0" y="0"/>
              <a:ext cx="4680077" cy="3388487"/>
            </a:xfrm>
            <a:custGeom>
              <a:avLst/>
              <a:gdLst/>
              <a:ahLst/>
              <a:cxnLst/>
              <a:rect l="l" t="t" r="r" b="b"/>
              <a:pathLst>
                <a:path w="4680077" h="3388487">
                  <a:moveTo>
                    <a:pt x="0" y="0"/>
                  </a:moveTo>
                  <a:lnTo>
                    <a:pt x="4680077" y="0"/>
                  </a:lnTo>
                  <a:lnTo>
                    <a:pt x="4680077" y="3388487"/>
                  </a:lnTo>
                  <a:lnTo>
                    <a:pt x="0" y="3388487"/>
                  </a:lnTo>
                  <a:lnTo>
                    <a:pt x="0" y="0"/>
                  </a:lnTo>
                  <a:close/>
                </a:path>
              </a:pathLst>
            </a:custGeom>
            <a:blipFill>
              <a:blip r:embed="rId8"/>
              <a:stretch>
                <a:fillRect l="-42" r="-42"/>
              </a:stretch>
            </a:blipFill>
          </p:spPr>
        </p:sp>
      </p:grpSp>
      <p:sp>
        <p:nvSpPr>
          <p:cNvPr id="15" name="Freeform 15"/>
          <p:cNvSpPr/>
          <p:nvPr/>
        </p:nvSpPr>
        <p:spPr>
          <a:xfrm>
            <a:off x="1283513" y="4184599"/>
            <a:ext cx="516969" cy="522665"/>
          </a:xfrm>
          <a:custGeom>
            <a:avLst/>
            <a:gdLst/>
            <a:ahLst/>
            <a:cxnLst/>
            <a:rect l="l" t="t" r="r" b="b"/>
            <a:pathLst>
              <a:path w="516969" h="522665">
                <a:moveTo>
                  <a:pt x="0" y="0"/>
                </a:moveTo>
                <a:lnTo>
                  <a:pt x="516969" y="0"/>
                </a:lnTo>
                <a:lnTo>
                  <a:pt x="516969" y="522666"/>
                </a:lnTo>
                <a:lnTo>
                  <a:pt x="0" y="522666"/>
                </a:lnTo>
                <a:lnTo>
                  <a:pt x="0" y="0"/>
                </a:lnTo>
                <a:close/>
              </a:path>
            </a:pathLst>
          </a:custGeom>
          <a:blipFill>
            <a:blip r:embed="rId9">
              <a:extLst>
                <a:ext uri="{96DAC541-7B7A-43D3-8B79-37D633B846F1}">
                  <asvg:svgBlip xmlns:asvg="http://schemas.microsoft.com/office/drawing/2016/SVG/main" xmlns="" r:embed="rId10"/>
                </a:ext>
              </a:extLst>
            </a:blip>
            <a:stretch>
              <a:fillRect l="-550" r="-550"/>
            </a:stretch>
          </a:blipFill>
        </p:spPr>
      </p:sp>
      <p:sp>
        <p:nvSpPr>
          <p:cNvPr id="16" name="TextBox 16"/>
          <p:cNvSpPr txBox="1"/>
          <p:nvPr/>
        </p:nvSpPr>
        <p:spPr>
          <a:xfrm>
            <a:off x="9144000" y="536353"/>
            <a:ext cx="1662551" cy="485737"/>
          </a:xfrm>
          <a:prstGeom prst="rect">
            <a:avLst/>
          </a:prstGeom>
        </p:spPr>
        <p:txBody>
          <a:bodyPr lIns="0" tIns="0" rIns="0" bIns="0" rtlCol="0" anchor="t">
            <a:spAutoFit/>
          </a:bodyPr>
          <a:lstStyle/>
          <a:p>
            <a:pPr algn="l">
              <a:lnSpc>
                <a:spcPts val="3149"/>
              </a:lnSpc>
            </a:pPr>
            <a:r>
              <a:rPr lang="en-US" sz="2250">
                <a:solidFill>
                  <a:srgbClr val="2657C1"/>
                </a:solidFill>
                <a:latin typeface="TT Fors"/>
                <a:ea typeface="TT Fors"/>
                <a:cs typeface="TT Fors"/>
                <a:sym typeface="TT Fors"/>
              </a:rPr>
              <a:t>Home</a:t>
            </a:r>
          </a:p>
        </p:txBody>
      </p:sp>
      <p:sp>
        <p:nvSpPr>
          <p:cNvPr id="17" name="TextBox 17"/>
          <p:cNvSpPr txBox="1"/>
          <p:nvPr/>
        </p:nvSpPr>
        <p:spPr>
          <a:xfrm>
            <a:off x="2007279" y="4243159"/>
            <a:ext cx="6858076" cy="2389508"/>
          </a:xfrm>
          <a:prstGeom prst="rect">
            <a:avLst/>
          </a:prstGeom>
        </p:spPr>
        <p:txBody>
          <a:bodyPr lIns="0" tIns="0" rIns="0" bIns="0" rtlCol="0" anchor="t">
            <a:spAutoFit/>
          </a:bodyPr>
          <a:lstStyle/>
          <a:p>
            <a:pPr algn="just">
              <a:lnSpc>
                <a:spcPts val="3220"/>
              </a:lnSpc>
            </a:pPr>
            <a:r>
              <a:rPr lang="en-US" sz="2300" b="1">
                <a:solidFill>
                  <a:srgbClr val="2657C1"/>
                </a:solidFill>
                <a:latin typeface="TT Fors Bold"/>
                <a:ea typeface="TT Fors Bold"/>
                <a:cs typeface="TT Fors Bold"/>
                <a:sym typeface="TT Fors Bold"/>
              </a:rPr>
              <a:t>No reader authentication</a:t>
            </a:r>
          </a:p>
          <a:p>
            <a:pPr marL="525780" lvl="2" indent="-175260" algn="just">
              <a:lnSpc>
                <a:spcPts val="3220"/>
              </a:lnSpc>
              <a:buFont typeface="Arial"/>
              <a:buChar char="⚬"/>
            </a:pPr>
            <a:r>
              <a:rPr lang="en-US" sz="2300">
                <a:solidFill>
                  <a:srgbClr val="2657C1"/>
                </a:solidFill>
                <a:latin typeface="TT Fors"/>
                <a:ea typeface="TT Fors"/>
                <a:cs typeface="TT Fors"/>
                <a:sym typeface="TT Fors"/>
              </a:rPr>
              <a:t> The card does not verify the reader soany device even a malicious one can read it.</a:t>
            </a:r>
          </a:p>
          <a:p>
            <a:pPr marL="525780" lvl="2" indent="-175260" algn="just">
              <a:lnSpc>
                <a:spcPts val="2940"/>
              </a:lnSpc>
            </a:pPr>
            <a:endParaRPr lang="en-US" sz="2300">
              <a:solidFill>
                <a:srgbClr val="2657C1"/>
              </a:solidFill>
              <a:latin typeface="TT Fors"/>
              <a:ea typeface="TT Fors"/>
              <a:cs typeface="TT Fors"/>
              <a:sym typeface="TT Fors"/>
            </a:endParaRPr>
          </a:p>
          <a:p>
            <a:pPr marL="525780" lvl="2" indent="-175260" algn="just" rtl="1">
              <a:lnSpc>
                <a:spcPts val="3220"/>
              </a:lnSpc>
            </a:pPr>
            <a:endParaRPr lang="en-US" sz="2300">
              <a:solidFill>
                <a:srgbClr val="2657C1"/>
              </a:solidFill>
              <a:latin typeface="TT Fors"/>
              <a:ea typeface="TT Fors"/>
              <a:cs typeface="TT Fors"/>
              <a:sym typeface="TT Fors"/>
            </a:endParaRPr>
          </a:p>
          <a:p>
            <a:pPr marL="525780" lvl="2" indent="-175260" algn="just" rtl="1">
              <a:lnSpc>
                <a:spcPts val="3220"/>
              </a:lnSpc>
            </a:pPr>
            <a:endParaRPr lang="en-US" sz="2300">
              <a:solidFill>
                <a:srgbClr val="2657C1"/>
              </a:solidFill>
              <a:latin typeface="TT Fors"/>
              <a:ea typeface="TT Fors"/>
              <a:cs typeface="TT Fors"/>
              <a:sym typeface="TT Fors"/>
            </a:endParaRPr>
          </a:p>
        </p:txBody>
      </p:sp>
      <p:sp>
        <p:nvSpPr>
          <p:cNvPr id="18" name="TextBox 18"/>
          <p:cNvSpPr txBox="1"/>
          <p:nvPr/>
        </p:nvSpPr>
        <p:spPr>
          <a:xfrm>
            <a:off x="13726725" y="536353"/>
            <a:ext cx="1916878" cy="485737"/>
          </a:xfrm>
          <a:prstGeom prst="rect">
            <a:avLst/>
          </a:prstGeom>
        </p:spPr>
        <p:txBody>
          <a:bodyPr lIns="0" tIns="0" rIns="0" bIns="0" rtlCol="0" anchor="t">
            <a:spAutoFit/>
          </a:bodyPr>
          <a:lstStyle/>
          <a:p>
            <a:pPr algn="l">
              <a:lnSpc>
                <a:spcPts val="3149"/>
              </a:lnSpc>
            </a:pPr>
            <a:r>
              <a:rPr lang="en-US" sz="2250">
                <a:solidFill>
                  <a:srgbClr val="2657C1"/>
                </a:solidFill>
                <a:latin typeface="TT Fors"/>
                <a:ea typeface="TT Fors"/>
                <a:cs typeface="TT Fors"/>
                <a:sym typeface="TT Fors"/>
              </a:rPr>
              <a:t>Conclusion</a:t>
            </a:r>
          </a:p>
        </p:txBody>
      </p:sp>
      <p:sp>
        <p:nvSpPr>
          <p:cNvPr id="19" name="TextBox 19"/>
          <p:cNvSpPr txBox="1"/>
          <p:nvPr/>
        </p:nvSpPr>
        <p:spPr>
          <a:xfrm>
            <a:off x="16053187" y="538563"/>
            <a:ext cx="1206113" cy="485737"/>
          </a:xfrm>
          <a:prstGeom prst="rect">
            <a:avLst/>
          </a:prstGeom>
        </p:spPr>
        <p:txBody>
          <a:bodyPr lIns="0" tIns="0" rIns="0" bIns="0" rtlCol="0" anchor="t">
            <a:spAutoFit/>
          </a:bodyPr>
          <a:lstStyle/>
          <a:p>
            <a:pPr algn="l">
              <a:lnSpc>
                <a:spcPts val="3149"/>
              </a:lnSpc>
            </a:pPr>
            <a:r>
              <a:rPr lang="en-US" sz="2250">
                <a:solidFill>
                  <a:srgbClr val="2657C1"/>
                </a:solidFill>
                <a:latin typeface="TT Fors"/>
                <a:ea typeface="TT Fors"/>
                <a:cs typeface="TT Fors"/>
                <a:sym typeface="TT Fors"/>
              </a:rPr>
              <a:t>Contact</a:t>
            </a:r>
          </a:p>
        </p:txBody>
      </p:sp>
      <p:sp>
        <p:nvSpPr>
          <p:cNvPr id="20" name="TextBox 20"/>
          <p:cNvSpPr txBox="1"/>
          <p:nvPr/>
        </p:nvSpPr>
        <p:spPr>
          <a:xfrm>
            <a:off x="11362449" y="538563"/>
            <a:ext cx="1907086" cy="485737"/>
          </a:xfrm>
          <a:prstGeom prst="rect">
            <a:avLst/>
          </a:prstGeom>
        </p:spPr>
        <p:txBody>
          <a:bodyPr lIns="0" tIns="0" rIns="0" bIns="0" rtlCol="0" anchor="t">
            <a:spAutoFit/>
          </a:bodyPr>
          <a:lstStyle/>
          <a:p>
            <a:pPr algn="l">
              <a:lnSpc>
                <a:spcPts val="3149"/>
              </a:lnSpc>
            </a:pPr>
            <a:r>
              <a:rPr lang="en-US" sz="2250" b="1">
                <a:solidFill>
                  <a:srgbClr val="2657C1"/>
                </a:solidFill>
                <a:latin typeface="TT Fors Bold"/>
                <a:ea typeface="TT Fors Bold"/>
                <a:cs typeface="TT Fors Bold"/>
                <a:sym typeface="TT Fors Bold"/>
              </a:rPr>
              <a:t>Discussion</a:t>
            </a:r>
          </a:p>
        </p:txBody>
      </p:sp>
      <p:sp>
        <p:nvSpPr>
          <p:cNvPr id="21" name="TextBox 21"/>
          <p:cNvSpPr txBox="1"/>
          <p:nvPr/>
        </p:nvSpPr>
        <p:spPr>
          <a:xfrm>
            <a:off x="1544869" y="755294"/>
            <a:ext cx="2527706" cy="538353"/>
          </a:xfrm>
          <a:prstGeom prst="rect">
            <a:avLst/>
          </a:prstGeom>
        </p:spPr>
        <p:txBody>
          <a:bodyPr lIns="0" tIns="0" rIns="0" bIns="0" rtlCol="0" anchor="t">
            <a:spAutoFit/>
          </a:bodyPr>
          <a:lstStyle/>
          <a:p>
            <a:pPr algn="just">
              <a:lnSpc>
                <a:spcPts val="3924"/>
              </a:lnSpc>
            </a:pPr>
            <a:r>
              <a:rPr lang="en-US" sz="2804">
                <a:solidFill>
                  <a:srgbClr val="2D5986"/>
                </a:solidFill>
                <a:latin typeface="Glacial Indifference"/>
                <a:ea typeface="Glacial Indifference"/>
                <a:cs typeface="Glacial Indifference"/>
                <a:sym typeface="Glacial Indifference"/>
              </a:rPr>
              <a:t>RFID Security</a:t>
            </a:r>
          </a:p>
        </p:txBody>
      </p:sp>
      <p:sp>
        <p:nvSpPr>
          <p:cNvPr id="22" name="Freeform 22"/>
          <p:cNvSpPr/>
          <p:nvPr/>
        </p:nvSpPr>
        <p:spPr>
          <a:xfrm>
            <a:off x="1181462" y="6314704"/>
            <a:ext cx="516969" cy="522665"/>
          </a:xfrm>
          <a:custGeom>
            <a:avLst/>
            <a:gdLst/>
            <a:ahLst/>
            <a:cxnLst/>
            <a:rect l="l" t="t" r="r" b="b"/>
            <a:pathLst>
              <a:path w="516969" h="522665">
                <a:moveTo>
                  <a:pt x="0" y="0"/>
                </a:moveTo>
                <a:lnTo>
                  <a:pt x="516969" y="0"/>
                </a:lnTo>
                <a:lnTo>
                  <a:pt x="516969" y="522665"/>
                </a:lnTo>
                <a:lnTo>
                  <a:pt x="0" y="522665"/>
                </a:lnTo>
                <a:lnTo>
                  <a:pt x="0" y="0"/>
                </a:lnTo>
                <a:close/>
              </a:path>
            </a:pathLst>
          </a:custGeom>
          <a:blipFill>
            <a:blip r:embed="rId9">
              <a:extLst>
                <a:ext uri="{96DAC541-7B7A-43D3-8B79-37D633B846F1}">
                  <asvg:svgBlip xmlns:asvg="http://schemas.microsoft.com/office/drawing/2016/SVG/main" xmlns="" r:embed="rId10"/>
                </a:ext>
              </a:extLst>
            </a:blip>
            <a:stretch>
              <a:fillRect l="-550" r="-550"/>
            </a:stretch>
          </a:blipFill>
        </p:spPr>
      </p:sp>
      <p:sp>
        <p:nvSpPr>
          <p:cNvPr id="23" name="Freeform 23"/>
          <p:cNvSpPr/>
          <p:nvPr/>
        </p:nvSpPr>
        <p:spPr>
          <a:xfrm>
            <a:off x="9072162" y="4192133"/>
            <a:ext cx="516969" cy="522665"/>
          </a:xfrm>
          <a:custGeom>
            <a:avLst/>
            <a:gdLst/>
            <a:ahLst/>
            <a:cxnLst/>
            <a:rect l="l" t="t" r="r" b="b"/>
            <a:pathLst>
              <a:path w="516969" h="522665">
                <a:moveTo>
                  <a:pt x="0" y="0"/>
                </a:moveTo>
                <a:lnTo>
                  <a:pt x="516970" y="0"/>
                </a:lnTo>
                <a:lnTo>
                  <a:pt x="516970" y="522666"/>
                </a:lnTo>
                <a:lnTo>
                  <a:pt x="0" y="522666"/>
                </a:lnTo>
                <a:lnTo>
                  <a:pt x="0" y="0"/>
                </a:lnTo>
                <a:close/>
              </a:path>
            </a:pathLst>
          </a:custGeom>
          <a:blipFill>
            <a:blip r:embed="rId9">
              <a:extLst>
                <a:ext uri="{96DAC541-7B7A-43D3-8B79-37D633B846F1}">
                  <asvg:svgBlip xmlns:asvg="http://schemas.microsoft.com/office/drawing/2016/SVG/main" xmlns="" r:embed="rId10"/>
                </a:ext>
              </a:extLst>
            </a:blip>
            <a:stretch>
              <a:fillRect l="-550" r="-550"/>
            </a:stretch>
          </a:blipFill>
        </p:spPr>
      </p:sp>
      <p:sp>
        <p:nvSpPr>
          <p:cNvPr id="24" name="Freeform 24"/>
          <p:cNvSpPr/>
          <p:nvPr/>
        </p:nvSpPr>
        <p:spPr>
          <a:xfrm>
            <a:off x="9072162" y="6371330"/>
            <a:ext cx="516969" cy="522665"/>
          </a:xfrm>
          <a:custGeom>
            <a:avLst/>
            <a:gdLst/>
            <a:ahLst/>
            <a:cxnLst/>
            <a:rect l="l" t="t" r="r" b="b"/>
            <a:pathLst>
              <a:path w="516969" h="522665">
                <a:moveTo>
                  <a:pt x="0" y="0"/>
                </a:moveTo>
                <a:lnTo>
                  <a:pt x="516970" y="0"/>
                </a:lnTo>
                <a:lnTo>
                  <a:pt x="516970" y="522665"/>
                </a:lnTo>
                <a:lnTo>
                  <a:pt x="0" y="522665"/>
                </a:lnTo>
                <a:lnTo>
                  <a:pt x="0" y="0"/>
                </a:lnTo>
                <a:close/>
              </a:path>
            </a:pathLst>
          </a:custGeom>
          <a:blipFill>
            <a:blip r:embed="rId9">
              <a:extLst>
                <a:ext uri="{96DAC541-7B7A-43D3-8B79-37D633B846F1}">
                  <asvg:svgBlip xmlns:asvg="http://schemas.microsoft.com/office/drawing/2016/SVG/main" xmlns="" r:embed="rId10"/>
                </a:ext>
              </a:extLst>
            </a:blip>
            <a:stretch>
              <a:fillRect l="-550" r="-550"/>
            </a:stretch>
          </a:blipFill>
        </p:spPr>
      </p:sp>
      <p:sp>
        <p:nvSpPr>
          <p:cNvPr id="25" name="TextBox 25"/>
          <p:cNvSpPr txBox="1"/>
          <p:nvPr/>
        </p:nvSpPr>
        <p:spPr>
          <a:xfrm>
            <a:off x="2032787" y="6372673"/>
            <a:ext cx="5768673" cy="1654959"/>
          </a:xfrm>
          <a:prstGeom prst="rect">
            <a:avLst/>
          </a:prstGeom>
        </p:spPr>
        <p:txBody>
          <a:bodyPr lIns="0" tIns="0" rIns="0" bIns="0" rtlCol="0" anchor="t">
            <a:spAutoFit/>
          </a:bodyPr>
          <a:lstStyle/>
          <a:p>
            <a:pPr algn="l">
              <a:lnSpc>
                <a:spcPts val="3290"/>
              </a:lnSpc>
            </a:pPr>
            <a:r>
              <a:rPr lang="en-US" sz="2350" b="1">
                <a:solidFill>
                  <a:srgbClr val="2657C1"/>
                </a:solidFill>
                <a:latin typeface="TT Fors Bold"/>
                <a:ea typeface="TT Fors Bold"/>
                <a:cs typeface="TT Fors Bold"/>
                <a:sym typeface="TT Fors Bold"/>
              </a:rPr>
              <a:t>Wireless attacks</a:t>
            </a:r>
          </a:p>
          <a:p>
            <a:pPr marL="536893" lvl="2" indent="-178964" algn="l">
              <a:lnSpc>
                <a:spcPts val="3290"/>
              </a:lnSpc>
              <a:buFont typeface="Arial"/>
              <a:buChar char="⚬"/>
            </a:pPr>
            <a:r>
              <a:rPr lang="en-US" sz="2350">
                <a:solidFill>
                  <a:srgbClr val="2657C1"/>
                </a:solidFill>
                <a:latin typeface="TT Fors"/>
                <a:ea typeface="TT Fors"/>
                <a:cs typeface="TT Fors"/>
                <a:sym typeface="TT Fors"/>
              </a:rPr>
              <a:t> Attacks can happen remotely without physical contact and without the user noticing.</a:t>
            </a:r>
          </a:p>
        </p:txBody>
      </p:sp>
      <p:sp>
        <p:nvSpPr>
          <p:cNvPr id="26" name="TextBox 26"/>
          <p:cNvSpPr txBox="1"/>
          <p:nvPr/>
        </p:nvSpPr>
        <p:spPr>
          <a:xfrm>
            <a:off x="9893932" y="6372796"/>
            <a:ext cx="6333334" cy="1654835"/>
          </a:xfrm>
          <a:prstGeom prst="rect">
            <a:avLst/>
          </a:prstGeom>
        </p:spPr>
        <p:txBody>
          <a:bodyPr lIns="0" tIns="0" rIns="0" bIns="0" rtlCol="0" anchor="t">
            <a:spAutoFit/>
          </a:bodyPr>
          <a:lstStyle/>
          <a:p>
            <a:pPr algn="l">
              <a:lnSpc>
                <a:spcPts val="3290"/>
              </a:lnSpc>
            </a:pPr>
            <a:r>
              <a:rPr lang="en-US" sz="2350" b="1">
                <a:solidFill>
                  <a:srgbClr val="2657C1"/>
                </a:solidFill>
                <a:latin typeface="TT Fors Bold"/>
                <a:ea typeface="TT Fors Bold"/>
                <a:cs typeface="TT Fors Bold"/>
                <a:sym typeface="TT Fors Bold"/>
              </a:rPr>
              <a:t>Old systems still used</a:t>
            </a:r>
          </a:p>
          <a:p>
            <a:pPr marL="536893" lvl="2" indent="-178964" algn="l">
              <a:lnSpc>
                <a:spcPts val="3290"/>
              </a:lnSpc>
              <a:buFont typeface="Arial"/>
              <a:buChar char="⚬"/>
            </a:pPr>
            <a:r>
              <a:rPr lang="en-US" sz="2350">
                <a:solidFill>
                  <a:srgbClr val="2657C1"/>
                </a:solidFill>
                <a:latin typeface="TT Fors"/>
                <a:ea typeface="TT Fors"/>
                <a:cs typeface="TT Fors"/>
                <a:sym typeface="TT Fors"/>
              </a:rPr>
              <a:t> Many old and insecure cards are still in use because replacing them is expensive and difficult.</a:t>
            </a:r>
          </a:p>
        </p:txBody>
      </p:sp>
      <p:sp>
        <p:nvSpPr>
          <p:cNvPr id="27" name="TextBox 27"/>
          <p:cNvSpPr txBox="1"/>
          <p:nvPr/>
        </p:nvSpPr>
        <p:spPr>
          <a:xfrm>
            <a:off x="9975275" y="4221432"/>
            <a:ext cx="7811691" cy="1245260"/>
          </a:xfrm>
          <a:prstGeom prst="rect">
            <a:avLst/>
          </a:prstGeom>
        </p:spPr>
        <p:txBody>
          <a:bodyPr lIns="0" tIns="0" rIns="0" bIns="0" rtlCol="0" anchor="t">
            <a:spAutoFit/>
          </a:bodyPr>
          <a:lstStyle/>
          <a:p>
            <a:pPr algn="l">
              <a:lnSpc>
                <a:spcPts val="3290"/>
              </a:lnSpc>
            </a:pPr>
            <a:r>
              <a:rPr lang="en-US" sz="2350" b="1">
                <a:solidFill>
                  <a:srgbClr val="2657C1"/>
                </a:solidFill>
                <a:latin typeface="TT Fors Bold"/>
                <a:ea typeface="TT Fors Bold"/>
                <a:cs typeface="TT Fors Bold"/>
                <a:sym typeface="TT Fors Bold"/>
              </a:rPr>
              <a:t>No user awareness</a:t>
            </a:r>
          </a:p>
          <a:p>
            <a:pPr marL="536893" lvl="2" indent="-178964" algn="l">
              <a:lnSpc>
                <a:spcPts val="3290"/>
              </a:lnSpc>
              <a:buFont typeface="Arial"/>
              <a:buChar char="⚬"/>
            </a:pPr>
            <a:r>
              <a:rPr lang="en-US" sz="2350">
                <a:solidFill>
                  <a:srgbClr val="2657C1"/>
                </a:solidFill>
                <a:latin typeface="TT Fors"/>
                <a:ea typeface="TT Fors"/>
                <a:cs typeface="TT Fors"/>
                <a:sym typeface="TT Fors"/>
              </a:rPr>
              <a:t> Users cannot see or feel what is happening, since communication occurs silently in their pocket.</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7432607" y="1073629"/>
            <a:ext cx="2313242" cy="2313242"/>
            <a:chOff x="0" y="0"/>
            <a:chExt cx="3084322" cy="3084322"/>
          </a:xfrm>
        </p:grpSpPr>
        <p:sp>
          <p:nvSpPr>
            <p:cNvPr id="3" name="Freeform 3"/>
            <p:cNvSpPr/>
            <p:nvPr/>
          </p:nvSpPr>
          <p:spPr>
            <a:xfrm>
              <a:off x="0" y="0"/>
              <a:ext cx="3084322" cy="3084322"/>
            </a:xfrm>
            <a:custGeom>
              <a:avLst/>
              <a:gdLst/>
              <a:ahLst/>
              <a:cxnLst/>
              <a:rect l="l" t="t" r="r" b="b"/>
              <a:pathLst>
                <a:path w="3084322" h="3084322">
                  <a:moveTo>
                    <a:pt x="0" y="0"/>
                  </a:moveTo>
                  <a:lnTo>
                    <a:pt x="3084322" y="0"/>
                  </a:lnTo>
                  <a:lnTo>
                    <a:pt x="3084322" y="3084322"/>
                  </a:lnTo>
                  <a:lnTo>
                    <a:pt x="0" y="3084322"/>
                  </a:lnTo>
                  <a:lnTo>
                    <a:pt x="0" y="0"/>
                  </a:lnTo>
                  <a:close/>
                </a:path>
              </a:pathLst>
            </a:custGeom>
            <a:blipFill>
              <a:blip r:embed="rId2"/>
              <a:stretch>
                <a:fillRect/>
              </a:stretch>
            </a:blipFill>
          </p:spPr>
        </p:sp>
      </p:grpSp>
      <p:grpSp>
        <p:nvGrpSpPr>
          <p:cNvPr id="4" name="Group 4"/>
          <p:cNvGrpSpPr/>
          <p:nvPr/>
        </p:nvGrpSpPr>
        <p:grpSpPr>
          <a:xfrm>
            <a:off x="-976303" y="8861327"/>
            <a:ext cx="2587085" cy="2587085"/>
            <a:chOff x="0" y="0"/>
            <a:chExt cx="3449447" cy="3449447"/>
          </a:xfrm>
        </p:grpSpPr>
        <p:sp>
          <p:nvSpPr>
            <p:cNvPr id="5" name="Freeform 5"/>
            <p:cNvSpPr/>
            <p:nvPr/>
          </p:nvSpPr>
          <p:spPr>
            <a:xfrm>
              <a:off x="0" y="0"/>
              <a:ext cx="3449447" cy="3449447"/>
            </a:xfrm>
            <a:custGeom>
              <a:avLst/>
              <a:gdLst/>
              <a:ahLst/>
              <a:cxnLst/>
              <a:rect l="l" t="t" r="r" b="b"/>
              <a:pathLst>
                <a:path w="3449447" h="3449447">
                  <a:moveTo>
                    <a:pt x="0" y="0"/>
                  </a:moveTo>
                  <a:lnTo>
                    <a:pt x="3449447" y="0"/>
                  </a:lnTo>
                  <a:lnTo>
                    <a:pt x="3449447" y="3449447"/>
                  </a:lnTo>
                  <a:lnTo>
                    <a:pt x="0" y="3449447"/>
                  </a:lnTo>
                  <a:lnTo>
                    <a:pt x="0" y="0"/>
                  </a:lnTo>
                  <a:close/>
                </a:path>
              </a:pathLst>
            </a:custGeom>
            <a:blipFill>
              <a:blip r:embed="rId2"/>
              <a:stretch>
                <a:fillRect/>
              </a:stretch>
            </a:blipFill>
          </p:spPr>
        </p:sp>
      </p:grpSp>
      <p:sp>
        <p:nvSpPr>
          <p:cNvPr id="6" name="Freeform 6"/>
          <p:cNvSpPr/>
          <p:nvPr/>
        </p:nvSpPr>
        <p:spPr>
          <a:xfrm>
            <a:off x="15643612" y="2245604"/>
            <a:ext cx="1171375" cy="1171375"/>
          </a:xfrm>
          <a:custGeom>
            <a:avLst/>
            <a:gdLst/>
            <a:ahLst/>
            <a:cxnLst/>
            <a:rect l="l" t="t" r="r" b="b"/>
            <a:pathLst>
              <a:path w="1171375" h="1171375">
                <a:moveTo>
                  <a:pt x="0" y="0"/>
                </a:moveTo>
                <a:lnTo>
                  <a:pt x="1171375" y="0"/>
                </a:lnTo>
                <a:lnTo>
                  <a:pt x="1171375" y="1171375"/>
                </a:lnTo>
                <a:lnTo>
                  <a:pt x="0" y="1171375"/>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sp>
        <p:nvSpPr>
          <p:cNvPr id="7" name="Freeform 7"/>
          <p:cNvSpPr/>
          <p:nvPr/>
        </p:nvSpPr>
        <p:spPr>
          <a:xfrm>
            <a:off x="16053187" y="8447180"/>
            <a:ext cx="4185237" cy="4185237"/>
          </a:xfrm>
          <a:custGeom>
            <a:avLst/>
            <a:gdLst/>
            <a:ahLst/>
            <a:cxnLst/>
            <a:rect l="l" t="t" r="r" b="b"/>
            <a:pathLst>
              <a:path w="4185237" h="4185237">
                <a:moveTo>
                  <a:pt x="0" y="0"/>
                </a:moveTo>
                <a:lnTo>
                  <a:pt x="4185238" y="0"/>
                </a:lnTo>
                <a:lnTo>
                  <a:pt x="4185238" y="4185237"/>
                </a:lnTo>
                <a:lnTo>
                  <a:pt x="0" y="4185237"/>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sp>
        <p:nvSpPr>
          <p:cNvPr id="8" name="Freeform 8"/>
          <p:cNvSpPr/>
          <p:nvPr/>
        </p:nvSpPr>
        <p:spPr>
          <a:xfrm>
            <a:off x="0" y="-180823"/>
            <a:ext cx="18288000" cy="393830"/>
          </a:xfrm>
          <a:custGeom>
            <a:avLst/>
            <a:gdLst/>
            <a:ahLst/>
            <a:cxnLst/>
            <a:rect l="l" t="t" r="r" b="b"/>
            <a:pathLst>
              <a:path w="18288000" h="393830">
                <a:moveTo>
                  <a:pt x="0" y="0"/>
                </a:moveTo>
                <a:lnTo>
                  <a:pt x="18288000" y="0"/>
                </a:lnTo>
                <a:lnTo>
                  <a:pt x="18288000" y="393831"/>
                </a:lnTo>
                <a:lnTo>
                  <a:pt x="0" y="393831"/>
                </a:lnTo>
                <a:lnTo>
                  <a:pt x="0" y="0"/>
                </a:lnTo>
                <a:close/>
              </a:path>
            </a:pathLst>
          </a:custGeom>
          <a:blipFill>
            <a:blip r:embed="rId5">
              <a:extLst>
                <a:ext uri="{96DAC541-7B7A-43D3-8B79-37D633B846F1}">
                  <asvg:svgBlip xmlns:asvg="http://schemas.microsoft.com/office/drawing/2016/SVG/main" xmlns="" r:embed="rId6"/>
                </a:ext>
              </a:extLst>
            </a:blip>
            <a:stretch>
              <a:fillRect t="-788" b="-790"/>
            </a:stretch>
          </a:blipFill>
        </p:spPr>
      </p:sp>
      <p:grpSp>
        <p:nvGrpSpPr>
          <p:cNvPr id="9" name="Group 9"/>
          <p:cNvGrpSpPr/>
          <p:nvPr/>
        </p:nvGrpSpPr>
        <p:grpSpPr>
          <a:xfrm>
            <a:off x="4336828" y="826846"/>
            <a:ext cx="2313946" cy="2395804"/>
            <a:chOff x="0" y="0"/>
            <a:chExt cx="3085262" cy="3194406"/>
          </a:xfrm>
        </p:grpSpPr>
        <p:sp>
          <p:nvSpPr>
            <p:cNvPr id="10" name="Freeform 10"/>
            <p:cNvSpPr/>
            <p:nvPr/>
          </p:nvSpPr>
          <p:spPr>
            <a:xfrm>
              <a:off x="0" y="0"/>
              <a:ext cx="3085211" cy="3194431"/>
            </a:xfrm>
            <a:custGeom>
              <a:avLst/>
              <a:gdLst/>
              <a:ahLst/>
              <a:cxnLst/>
              <a:rect l="l" t="t" r="r" b="b"/>
              <a:pathLst>
                <a:path w="3085211" h="3194431">
                  <a:moveTo>
                    <a:pt x="0" y="0"/>
                  </a:moveTo>
                  <a:lnTo>
                    <a:pt x="3085211" y="0"/>
                  </a:lnTo>
                  <a:lnTo>
                    <a:pt x="3085211" y="3194431"/>
                  </a:lnTo>
                  <a:lnTo>
                    <a:pt x="0" y="3194431"/>
                  </a:lnTo>
                  <a:lnTo>
                    <a:pt x="0" y="0"/>
                  </a:lnTo>
                  <a:close/>
                </a:path>
              </a:pathLst>
            </a:custGeom>
            <a:blipFill>
              <a:blip r:embed="rId7"/>
              <a:stretch>
                <a:fillRect t="-37" r="-1" b="-36"/>
              </a:stretch>
            </a:blipFill>
          </p:spPr>
        </p:sp>
      </p:grpSp>
      <p:sp>
        <p:nvSpPr>
          <p:cNvPr id="11" name="TextBox 11"/>
          <p:cNvSpPr txBox="1"/>
          <p:nvPr/>
        </p:nvSpPr>
        <p:spPr>
          <a:xfrm>
            <a:off x="9144000" y="536353"/>
            <a:ext cx="1662551" cy="485737"/>
          </a:xfrm>
          <a:prstGeom prst="rect">
            <a:avLst/>
          </a:prstGeom>
        </p:spPr>
        <p:txBody>
          <a:bodyPr lIns="0" tIns="0" rIns="0" bIns="0" rtlCol="0" anchor="t">
            <a:spAutoFit/>
          </a:bodyPr>
          <a:lstStyle/>
          <a:p>
            <a:pPr algn="l">
              <a:lnSpc>
                <a:spcPts val="3149"/>
              </a:lnSpc>
            </a:pPr>
            <a:r>
              <a:rPr lang="en-US" sz="2250">
                <a:solidFill>
                  <a:srgbClr val="2657C1"/>
                </a:solidFill>
                <a:latin typeface="TT Fors"/>
                <a:ea typeface="TT Fors"/>
                <a:cs typeface="TT Fors"/>
                <a:sym typeface="TT Fors"/>
              </a:rPr>
              <a:t>Home</a:t>
            </a:r>
          </a:p>
        </p:txBody>
      </p:sp>
      <p:sp>
        <p:nvSpPr>
          <p:cNvPr id="12" name="TextBox 12"/>
          <p:cNvSpPr txBox="1"/>
          <p:nvPr/>
        </p:nvSpPr>
        <p:spPr>
          <a:xfrm>
            <a:off x="7107974" y="2364000"/>
            <a:ext cx="6253191" cy="642604"/>
          </a:xfrm>
          <a:prstGeom prst="rect">
            <a:avLst/>
          </a:prstGeom>
        </p:spPr>
        <p:txBody>
          <a:bodyPr lIns="0" tIns="0" rIns="0" bIns="0" rtlCol="0" anchor="t">
            <a:spAutoFit/>
          </a:bodyPr>
          <a:lstStyle/>
          <a:p>
            <a:pPr algn="l">
              <a:lnSpc>
                <a:spcPts val="5840"/>
              </a:lnSpc>
            </a:pPr>
            <a:r>
              <a:rPr lang="en-US" sz="6020" spc="-60">
                <a:solidFill>
                  <a:srgbClr val="2657C1"/>
                </a:solidFill>
                <a:latin typeface="Etna Sans Serif"/>
                <a:ea typeface="Etna Sans Serif"/>
                <a:cs typeface="Etna Sans Serif"/>
                <a:sym typeface="Etna Sans Serif"/>
              </a:rPr>
              <a:t>Common Attack</a:t>
            </a:r>
          </a:p>
        </p:txBody>
      </p:sp>
      <p:sp>
        <p:nvSpPr>
          <p:cNvPr id="13" name="TextBox 13"/>
          <p:cNvSpPr txBox="1"/>
          <p:nvPr/>
        </p:nvSpPr>
        <p:spPr>
          <a:xfrm>
            <a:off x="13726725" y="536353"/>
            <a:ext cx="1916878" cy="485737"/>
          </a:xfrm>
          <a:prstGeom prst="rect">
            <a:avLst/>
          </a:prstGeom>
        </p:spPr>
        <p:txBody>
          <a:bodyPr lIns="0" tIns="0" rIns="0" bIns="0" rtlCol="0" anchor="t">
            <a:spAutoFit/>
          </a:bodyPr>
          <a:lstStyle/>
          <a:p>
            <a:pPr algn="l">
              <a:lnSpc>
                <a:spcPts val="3149"/>
              </a:lnSpc>
            </a:pPr>
            <a:r>
              <a:rPr lang="en-US" sz="2250">
                <a:solidFill>
                  <a:srgbClr val="2657C1"/>
                </a:solidFill>
                <a:latin typeface="TT Fors"/>
                <a:ea typeface="TT Fors"/>
                <a:cs typeface="TT Fors"/>
                <a:sym typeface="TT Fors"/>
              </a:rPr>
              <a:t>Conclusion</a:t>
            </a:r>
          </a:p>
        </p:txBody>
      </p:sp>
      <p:sp>
        <p:nvSpPr>
          <p:cNvPr id="14" name="TextBox 14"/>
          <p:cNvSpPr txBox="1"/>
          <p:nvPr/>
        </p:nvSpPr>
        <p:spPr>
          <a:xfrm>
            <a:off x="16053187" y="538563"/>
            <a:ext cx="1206113" cy="485737"/>
          </a:xfrm>
          <a:prstGeom prst="rect">
            <a:avLst/>
          </a:prstGeom>
        </p:spPr>
        <p:txBody>
          <a:bodyPr lIns="0" tIns="0" rIns="0" bIns="0" rtlCol="0" anchor="t">
            <a:spAutoFit/>
          </a:bodyPr>
          <a:lstStyle/>
          <a:p>
            <a:pPr algn="l">
              <a:lnSpc>
                <a:spcPts val="3149"/>
              </a:lnSpc>
            </a:pPr>
            <a:r>
              <a:rPr lang="en-US" sz="2250">
                <a:solidFill>
                  <a:srgbClr val="2657C1"/>
                </a:solidFill>
                <a:latin typeface="TT Fors"/>
                <a:ea typeface="TT Fors"/>
                <a:cs typeface="TT Fors"/>
                <a:sym typeface="TT Fors"/>
              </a:rPr>
              <a:t>Contact</a:t>
            </a:r>
          </a:p>
        </p:txBody>
      </p:sp>
      <p:sp>
        <p:nvSpPr>
          <p:cNvPr id="15" name="TextBox 15"/>
          <p:cNvSpPr txBox="1"/>
          <p:nvPr/>
        </p:nvSpPr>
        <p:spPr>
          <a:xfrm>
            <a:off x="11362449" y="538563"/>
            <a:ext cx="1907086" cy="485737"/>
          </a:xfrm>
          <a:prstGeom prst="rect">
            <a:avLst/>
          </a:prstGeom>
        </p:spPr>
        <p:txBody>
          <a:bodyPr lIns="0" tIns="0" rIns="0" bIns="0" rtlCol="0" anchor="t">
            <a:spAutoFit/>
          </a:bodyPr>
          <a:lstStyle/>
          <a:p>
            <a:pPr algn="l">
              <a:lnSpc>
                <a:spcPts val="3149"/>
              </a:lnSpc>
            </a:pPr>
            <a:r>
              <a:rPr lang="en-US" sz="2250" b="1">
                <a:solidFill>
                  <a:srgbClr val="2657C1"/>
                </a:solidFill>
                <a:latin typeface="TT Fors Bold"/>
                <a:ea typeface="TT Fors Bold"/>
                <a:cs typeface="TT Fors Bold"/>
                <a:sym typeface="TT Fors Bold"/>
              </a:rPr>
              <a:t>Discussion</a:t>
            </a:r>
          </a:p>
        </p:txBody>
      </p:sp>
      <p:sp>
        <p:nvSpPr>
          <p:cNvPr id="16" name="Freeform 16"/>
          <p:cNvSpPr/>
          <p:nvPr/>
        </p:nvSpPr>
        <p:spPr>
          <a:xfrm>
            <a:off x="834371" y="2230231"/>
            <a:ext cx="776373" cy="776373"/>
          </a:xfrm>
          <a:custGeom>
            <a:avLst/>
            <a:gdLst/>
            <a:ahLst/>
            <a:cxnLst/>
            <a:rect l="l" t="t" r="r" b="b"/>
            <a:pathLst>
              <a:path w="776373" h="776373">
                <a:moveTo>
                  <a:pt x="0" y="0"/>
                </a:moveTo>
                <a:lnTo>
                  <a:pt x="776373" y="0"/>
                </a:lnTo>
                <a:lnTo>
                  <a:pt x="776373" y="776373"/>
                </a:lnTo>
                <a:lnTo>
                  <a:pt x="0" y="776373"/>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sp>
        <p:nvSpPr>
          <p:cNvPr id="17" name="Freeform 17"/>
          <p:cNvSpPr/>
          <p:nvPr/>
        </p:nvSpPr>
        <p:spPr>
          <a:xfrm>
            <a:off x="1146915" y="3895430"/>
            <a:ext cx="4936007" cy="2703795"/>
          </a:xfrm>
          <a:custGeom>
            <a:avLst/>
            <a:gdLst/>
            <a:ahLst/>
            <a:cxnLst/>
            <a:rect l="l" t="t" r="r" b="b"/>
            <a:pathLst>
              <a:path w="4936007" h="2703795">
                <a:moveTo>
                  <a:pt x="0" y="0"/>
                </a:moveTo>
                <a:lnTo>
                  <a:pt x="4936007" y="0"/>
                </a:lnTo>
                <a:lnTo>
                  <a:pt x="4936007" y="2703795"/>
                </a:lnTo>
                <a:lnTo>
                  <a:pt x="0" y="2703795"/>
                </a:lnTo>
                <a:lnTo>
                  <a:pt x="0" y="0"/>
                </a:lnTo>
                <a:close/>
              </a:path>
            </a:pathLst>
          </a:custGeom>
          <a:blipFill>
            <a:blip r:embed="rId8">
              <a:extLst>
                <a:ext uri="{96DAC541-7B7A-43D3-8B79-37D633B846F1}">
                  <asvg:svgBlip xmlns:asvg="http://schemas.microsoft.com/office/drawing/2016/SVG/main" xmlns="" r:embed="rId9"/>
                </a:ext>
              </a:extLst>
            </a:blip>
            <a:stretch>
              <a:fillRect/>
            </a:stretch>
          </a:blipFill>
        </p:spPr>
      </p:sp>
      <p:sp>
        <p:nvSpPr>
          <p:cNvPr id="18" name="TextBox 18"/>
          <p:cNvSpPr txBox="1"/>
          <p:nvPr/>
        </p:nvSpPr>
        <p:spPr>
          <a:xfrm>
            <a:off x="1222553" y="4273906"/>
            <a:ext cx="4784712" cy="2064458"/>
          </a:xfrm>
          <a:prstGeom prst="rect">
            <a:avLst/>
          </a:prstGeom>
        </p:spPr>
        <p:txBody>
          <a:bodyPr lIns="0" tIns="0" rIns="0" bIns="0" rtlCol="0" anchor="t">
            <a:spAutoFit/>
          </a:bodyPr>
          <a:lstStyle/>
          <a:p>
            <a:pPr algn="ctr">
              <a:lnSpc>
                <a:spcPts val="3290"/>
              </a:lnSpc>
            </a:pPr>
            <a:r>
              <a:rPr lang="en-US" sz="2350" b="1">
                <a:solidFill>
                  <a:srgbClr val="2657C1"/>
                </a:solidFill>
                <a:latin typeface="TT Fors Bold"/>
                <a:ea typeface="TT Fors Bold"/>
                <a:cs typeface="TT Fors Bold"/>
                <a:sym typeface="TT Fors Bold"/>
              </a:rPr>
              <a:t>Eavesdropping</a:t>
            </a:r>
          </a:p>
          <a:p>
            <a:pPr algn="ctr">
              <a:lnSpc>
                <a:spcPts val="3290"/>
              </a:lnSpc>
            </a:pPr>
            <a:r>
              <a:rPr lang="en-US" sz="2350">
                <a:solidFill>
                  <a:srgbClr val="2657C1"/>
                </a:solidFill>
                <a:latin typeface="TT Fors"/>
                <a:ea typeface="TT Fors"/>
                <a:cs typeface="TT Fors"/>
                <a:sym typeface="TT Fors"/>
              </a:rPr>
              <a:t> The attacker secretly listens to the communication between the card and the reader using a hidden antenna.</a:t>
            </a:r>
          </a:p>
        </p:txBody>
      </p:sp>
      <p:sp>
        <p:nvSpPr>
          <p:cNvPr id="19" name="TextBox 19"/>
          <p:cNvSpPr txBox="1"/>
          <p:nvPr/>
        </p:nvSpPr>
        <p:spPr>
          <a:xfrm>
            <a:off x="6769275" y="4368117"/>
            <a:ext cx="4788027" cy="1654835"/>
          </a:xfrm>
          <a:prstGeom prst="rect">
            <a:avLst/>
          </a:prstGeom>
        </p:spPr>
        <p:txBody>
          <a:bodyPr lIns="0" tIns="0" rIns="0" bIns="0" rtlCol="0" anchor="t">
            <a:spAutoFit/>
          </a:bodyPr>
          <a:lstStyle/>
          <a:p>
            <a:pPr algn="ctr">
              <a:lnSpc>
                <a:spcPts val="3290"/>
              </a:lnSpc>
            </a:pPr>
            <a:r>
              <a:rPr lang="en-US" sz="2350" b="1">
                <a:solidFill>
                  <a:srgbClr val="2657C1"/>
                </a:solidFill>
                <a:latin typeface="TT Fors Bold"/>
                <a:ea typeface="TT Fors Bold"/>
                <a:cs typeface="TT Fors Bold"/>
                <a:sym typeface="TT Fors Bold"/>
              </a:rPr>
              <a:t>Replay Attack</a:t>
            </a:r>
          </a:p>
          <a:p>
            <a:pPr algn="ctr">
              <a:lnSpc>
                <a:spcPts val="3290"/>
              </a:lnSpc>
            </a:pPr>
            <a:r>
              <a:rPr lang="en-US" sz="2350">
                <a:solidFill>
                  <a:srgbClr val="2657C1"/>
                </a:solidFill>
                <a:latin typeface="TT Fors"/>
                <a:ea typeface="TT Fors"/>
                <a:cs typeface="TT Fors"/>
                <a:sym typeface="TT Fors"/>
              </a:rPr>
              <a:t> The attacker records a valid signal and reuses it later to gain access.</a:t>
            </a:r>
          </a:p>
        </p:txBody>
      </p:sp>
      <p:sp>
        <p:nvSpPr>
          <p:cNvPr id="20" name="TextBox 20"/>
          <p:cNvSpPr txBox="1"/>
          <p:nvPr/>
        </p:nvSpPr>
        <p:spPr>
          <a:xfrm>
            <a:off x="12797257" y="7149379"/>
            <a:ext cx="4635360" cy="1654835"/>
          </a:xfrm>
          <a:prstGeom prst="rect">
            <a:avLst/>
          </a:prstGeom>
        </p:spPr>
        <p:txBody>
          <a:bodyPr lIns="0" tIns="0" rIns="0" bIns="0" rtlCol="0" anchor="t">
            <a:spAutoFit/>
          </a:bodyPr>
          <a:lstStyle/>
          <a:p>
            <a:pPr algn="ctr">
              <a:lnSpc>
                <a:spcPts val="3290"/>
              </a:lnSpc>
            </a:pPr>
            <a:r>
              <a:rPr lang="en-US" sz="2350" b="1">
                <a:solidFill>
                  <a:srgbClr val="2657C1"/>
                </a:solidFill>
                <a:latin typeface="TT Fors Bold"/>
                <a:ea typeface="TT Fors Bold"/>
                <a:cs typeface="TT Fors Bold"/>
                <a:sym typeface="TT Fors Bold"/>
              </a:rPr>
              <a:t>Cloning</a:t>
            </a:r>
          </a:p>
          <a:p>
            <a:pPr algn="ctr">
              <a:lnSpc>
                <a:spcPts val="3290"/>
              </a:lnSpc>
            </a:pPr>
            <a:r>
              <a:rPr lang="en-US" sz="2350">
                <a:solidFill>
                  <a:srgbClr val="2657C1"/>
                </a:solidFill>
                <a:latin typeface="TT Fors"/>
                <a:ea typeface="TT Fors"/>
                <a:cs typeface="TT Fors"/>
                <a:sym typeface="TT Fors"/>
              </a:rPr>
              <a:t> The attacker copies all the card data to another card, creating an exact duplicate.</a:t>
            </a:r>
          </a:p>
        </p:txBody>
      </p:sp>
      <p:sp>
        <p:nvSpPr>
          <p:cNvPr id="21" name="TextBox 21"/>
          <p:cNvSpPr txBox="1"/>
          <p:nvPr/>
        </p:nvSpPr>
        <p:spPr>
          <a:xfrm>
            <a:off x="12623940" y="4273944"/>
            <a:ext cx="4829185" cy="2064410"/>
          </a:xfrm>
          <a:prstGeom prst="rect">
            <a:avLst/>
          </a:prstGeom>
        </p:spPr>
        <p:txBody>
          <a:bodyPr lIns="0" tIns="0" rIns="0" bIns="0" rtlCol="0" anchor="t">
            <a:spAutoFit/>
          </a:bodyPr>
          <a:lstStyle/>
          <a:p>
            <a:pPr algn="ctr">
              <a:lnSpc>
                <a:spcPts val="3290"/>
              </a:lnSpc>
            </a:pPr>
            <a:r>
              <a:rPr lang="en-US" sz="2350" b="1">
                <a:solidFill>
                  <a:srgbClr val="2657C1"/>
                </a:solidFill>
                <a:latin typeface="TT Fors Bold"/>
                <a:ea typeface="TT Fors Bold"/>
                <a:cs typeface="TT Fors Bold"/>
                <a:sym typeface="TT Fors Bold"/>
              </a:rPr>
              <a:t>Relay Attack</a:t>
            </a:r>
          </a:p>
          <a:p>
            <a:pPr algn="ctr">
              <a:lnSpc>
                <a:spcPts val="3290"/>
              </a:lnSpc>
            </a:pPr>
            <a:r>
              <a:rPr lang="en-US" sz="2350">
                <a:solidFill>
                  <a:srgbClr val="2657C1"/>
                </a:solidFill>
                <a:latin typeface="TT Fors"/>
                <a:ea typeface="TT Fors"/>
                <a:cs typeface="TT Fors"/>
                <a:sym typeface="TT Fors"/>
              </a:rPr>
              <a:t> The attacker uses two devices to extend the signal between the card and the reader over a long distance.</a:t>
            </a:r>
          </a:p>
        </p:txBody>
      </p:sp>
      <p:sp>
        <p:nvSpPr>
          <p:cNvPr id="22" name="TextBox 22"/>
          <p:cNvSpPr txBox="1"/>
          <p:nvPr/>
        </p:nvSpPr>
        <p:spPr>
          <a:xfrm>
            <a:off x="1638471" y="7149379"/>
            <a:ext cx="4025894" cy="1654835"/>
          </a:xfrm>
          <a:prstGeom prst="rect">
            <a:avLst/>
          </a:prstGeom>
        </p:spPr>
        <p:txBody>
          <a:bodyPr lIns="0" tIns="0" rIns="0" bIns="0" rtlCol="0" anchor="t">
            <a:spAutoFit/>
          </a:bodyPr>
          <a:lstStyle/>
          <a:p>
            <a:pPr algn="ctr">
              <a:lnSpc>
                <a:spcPts val="3290"/>
              </a:lnSpc>
            </a:pPr>
            <a:r>
              <a:rPr lang="en-US" sz="2350" b="1">
                <a:solidFill>
                  <a:srgbClr val="2657C1"/>
                </a:solidFill>
                <a:latin typeface="TT Fors Bold"/>
                <a:ea typeface="TT Fors Bold"/>
                <a:cs typeface="TT Fors Bold"/>
                <a:sym typeface="TT Fors Bold"/>
              </a:rPr>
              <a:t>Key Recovery</a:t>
            </a:r>
          </a:p>
          <a:p>
            <a:pPr algn="ctr">
              <a:lnSpc>
                <a:spcPts val="3290"/>
              </a:lnSpc>
            </a:pPr>
            <a:r>
              <a:rPr lang="en-US" sz="2350">
                <a:solidFill>
                  <a:srgbClr val="2657C1"/>
                </a:solidFill>
                <a:latin typeface="TT Fors"/>
                <a:ea typeface="TT Fors"/>
                <a:cs typeface="TT Fors"/>
                <a:sym typeface="TT Fors"/>
              </a:rPr>
              <a:t> The attacker breaks weak encryption to find the secret key in a short time.</a:t>
            </a:r>
          </a:p>
        </p:txBody>
      </p:sp>
      <p:sp>
        <p:nvSpPr>
          <p:cNvPr id="23" name="TextBox 23"/>
          <p:cNvSpPr txBox="1"/>
          <p:nvPr/>
        </p:nvSpPr>
        <p:spPr>
          <a:xfrm>
            <a:off x="7107974" y="7084590"/>
            <a:ext cx="4421648" cy="2064410"/>
          </a:xfrm>
          <a:prstGeom prst="rect">
            <a:avLst/>
          </a:prstGeom>
        </p:spPr>
        <p:txBody>
          <a:bodyPr lIns="0" tIns="0" rIns="0" bIns="0" rtlCol="0" anchor="t">
            <a:spAutoFit/>
          </a:bodyPr>
          <a:lstStyle/>
          <a:p>
            <a:pPr algn="ctr">
              <a:lnSpc>
                <a:spcPts val="3290"/>
              </a:lnSpc>
            </a:pPr>
            <a:r>
              <a:rPr lang="en-US" sz="2350" b="1">
                <a:solidFill>
                  <a:srgbClr val="2657C1"/>
                </a:solidFill>
                <a:latin typeface="TT Fors Bold"/>
                <a:ea typeface="TT Fors Bold"/>
                <a:cs typeface="TT Fors Bold"/>
                <a:sym typeface="TT Fors Bold"/>
              </a:rPr>
              <a:t>DoS / Jamming</a:t>
            </a:r>
          </a:p>
          <a:p>
            <a:pPr algn="ctr">
              <a:lnSpc>
                <a:spcPts val="3290"/>
              </a:lnSpc>
            </a:pPr>
            <a:r>
              <a:rPr lang="en-US" sz="2350">
                <a:solidFill>
                  <a:srgbClr val="2657C1"/>
                </a:solidFill>
                <a:latin typeface="TT Fors"/>
                <a:ea typeface="TT Fors"/>
                <a:cs typeface="TT Fors"/>
                <a:sym typeface="TT Fors"/>
              </a:rPr>
              <a:t> The attacker blocks communication by sending noise, so the system stops working.</a:t>
            </a:r>
          </a:p>
        </p:txBody>
      </p:sp>
      <p:sp>
        <p:nvSpPr>
          <p:cNvPr id="24" name="Freeform 24"/>
          <p:cNvSpPr/>
          <p:nvPr/>
        </p:nvSpPr>
        <p:spPr>
          <a:xfrm>
            <a:off x="6696942" y="3895430"/>
            <a:ext cx="4936007" cy="2703795"/>
          </a:xfrm>
          <a:custGeom>
            <a:avLst/>
            <a:gdLst/>
            <a:ahLst/>
            <a:cxnLst/>
            <a:rect l="l" t="t" r="r" b="b"/>
            <a:pathLst>
              <a:path w="4936007" h="2703795">
                <a:moveTo>
                  <a:pt x="0" y="0"/>
                </a:moveTo>
                <a:lnTo>
                  <a:pt x="4936007" y="0"/>
                </a:lnTo>
                <a:lnTo>
                  <a:pt x="4936007" y="2703795"/>
                </a:lnTo>
                <a:lnTo>
                  <a:pt x="0" y="2703795"/>
                </a:lnTo>
                <a:lnTo>
                  <a:pt x="0" y="0"/>
                </a:lnTo>
                <a:close/>
              </a:path>
            </a:pathLst>
          </a:custGeom>
          <a:blipFill>
            <a:blip r:embed="rId8">
              <a:extLst>
                <a:ext uri="{96DAC541-7B7A-43D3-8B79-37D633B846F1}">
                  <asvg:svgBlip xmlns:asvg="http://schemas.microsoft.com/office/drawing/2016/SVG/main" xmlns="" r:embed="rId9"/>
                </a:ext>
              </a:extLst>
            </a:blip>
            <a:stretch>
              <a:fillRect/>
            </a:stretch>
          </a:blipFill>
        </p:spPr>
      </p:sp>
      <p:sp>
        <p:nvSpPr>
          <p:cNvPr id="25" name="Freeform 25"/>
          <p:cNvSpPr/>
          <p:nvPr/>
        </p:nvSpPr>
        <p:spPr>
          <a:xfrm>
            <a:off x="12568942" y="6801336"/>
            <a:ext cx="4936007" cy="2703795"/>
          </a:xfrm>
          <a:custGeom>
            <a:avLst/>
            <a:gdLst/>
            <a:ahLst/>
            <a:cxnLst/>
            <a:rect l="l" t="t" r="r" b="b"/>
            <a:pathLst>
              <a:path w="4936007" h="2703795">
                <a:moveTo>
                  <a:pt x="0" y="0"/>
                </a:moveTo>
                <a:lnTo>
                  <a:pt x="4936008" y="0"/>
                </a:lnTo>
                <a:lnTo>
                  <a:pt x="4936008" y="2703795"/>
                </a:lnTo>
                <a:lnTo>
                  <a:pt x="0" y="2703795"/>
                </a:lnTo>
                <a:lnTo>
                  <a:pt x="0" y="0"/>
                </a:lnTo>
                <a:close/>
              </a:path>
            </a:pathLst>
          </a:custGeom>
          <a:blipFill>
            <a:blip r:embed="rId8">
              <a:extLst>
                <a:ext uri="{96DAC541-7B7A-43D3-8B79-37D633B846F1}">
                  <asvg:svgBlip xmlns:asvg="http://schemas.microsoft.com/office/drawing/2016/SVG/main" xmlns="" r:embed="rId9"/>
                </a:ext>
              </a:extLst>
            </a:blip>
            <a:stretch>
              <a:fillRect/>
            </a:stretch>
          </a:blipFill>
        </p:spPr>
      </p:sp>
      <p:sp>
        <p:nvSpPr>
          <p:cNvPr id="26" name="Freeform 26"/>
          <p:cNvSpPr/>
          <p:nvPr/>
        </p:nvSpPr>
        <p:spPr>
          <a:xfrm>
            <a:off x="1183424" y="6801336"/>
            <a:ext cx="4936007" cy="2703795"/>
          </a:xfrm>
          <a:custGeom>
            <a:avLst/>
            <a:gdLst/>
            <a:ahLst/>
            <a:cxnLst/>
            <a:rect l="l" t="t" r="r" b="b"/>
            <a:pathLst>
              <a:path w="4936007" h="2703795">
                <a:moveTo>
                  <a:pt x="0" y="0"/>
                </a:moveTo>
                <a:lnTo>
                  <a:pt x="4936008" y="0"/>
                </a:lnTo>
                <a:lnTo>
                  <a:pt x="4936008" y="2703795"/>
                </a:lnTo>
                <a:lnTo>
                  <a:pt x="0" y="2703795"/>
                </a:lnTo>
                <a:lnTo>
                  <a:pt x="0" y="0"/>
                </a:lnTo>
                <a:close/>
              </a:path>
            </a:pathLst>
          </a:custGeom>
          <a:blipFill>
            <a:blip r:embed="rId8">
              <a:extLst>
                <a:ext uri="{96DAC541-7B7A-43D3-8B79-37D633B846F1}">
                  <asvg:svgBlip xmlns:asvg="http://schemas.microsoft.com/office/drawing/2016/SVG/main" xmlns="" r:embed="rId9"/>
                </a:ext>
              </a:extLst>
            </a:blip>
            <a:stretch>
              <a:fillRect/>
            </a:stretch>
          </a:blipFill>
        </p:spPr>
      </p:sp>
      <p:sp>
        <p:nvSpPr>
          <p:cNvPr id="27" name="Freeform 27"/>
          <p:cNvSpPr/>
          <p:nvPr/>
        </p:nvSpPr>
        <p:spPr>
          <a:xfrm>
            <a:off x="12570533" y="3895430"/>
            <a:ext cx="4936007" cy="2703795"/>
          </a:xfrm>
          <a:custGeom>
            <a:avLst/>
            <a:gdLst/>
            <a:ahLst/>
            <a:cxnLst/>
            <a:rect l="l" t="t" r="r" b="b"/>
            <a:pathLst>
              <a:path w="4936007" h="2703795">
                <a:moveTo>
                  <a:pt x="0" y="0"/>
                </a:moveTo>
                <a:lnTo>
                  <a:pt x="4936007" y="0"/>
                </a:lnTo>
                <a:lnTo>
                  <a:pt x="4936007" y="2703795"/>
                </a:lnTo>
                <a:lnTo>
                  <a:pt x="0" y="2703795"/>
                </a:lnTo>
                <a:lnTo>
                  <a:pt x="0" y="0"/>
                </a:lnTo>
                <a:close/>
              </a:path>
            </a:pathLst>
          </a:custGeom>
          <a:blipFill>
            <a:blip r:embed="rId8">
              <a:extLst>
                <a:ext uri="{96DAC541-7B7A-43D3-8B79-37D633B846F1}">
                  <asvg:svgBlip xmlns:asvg="http://schemas.microsoft.com/office/drawing/2016/SVG/main" xmlns="" r:embed="rId9"/>
                </a:ext>
              </a:extLst>
            </a:blip>
            <a:stretch>
              <a:fillRect/>
            </a:stretch>
          </a:blipFill>
        </p:spPr>
      </p:sp>
      <p:sp>
        <p:nvSpPr>
          <p:cNvPr id="28" name="Freeform 28"/>
          <p:cNvSpPr/>
          <p:nvPr/>
        </p:nvSpPr>
        <p:spPr>
          <a:xfrm>
            <a:off x="6696942" y="6766836"/>
            <a:ext cx="4936007" cy="2703795"/>
          </a:xfrm>
          <a:custGeom>
            <a:avLst/>
            <a:gdLst/>
            <a:ahLst/>
            <a:cxnLst/>
            <a:rect l="l" t="t" r="r" b="b"/>
            <a:pathLst>
              <a:path w="4936007" h="2703795">
                <a:moveTo>
                  <a:pt x="0" y="0"/>
                </a:moveTo>
                <a:lnTo>
                  <a:pt x="4936007" y="0"/>
                </a:lnTo>
                <a:lnTo>
                  <a:pt x="4936007" y="2703795"/>
                </a:lnTo>
                <a:lnTo>
                  <a:pt x="0" y="2703795"/>
                </a:lnTo>
                <a:lnTo>
                  <a:pt x="0" y="0"/>
                </a:lnTo>
                <a:close/>
              </a:path>
            </a:pathLst>
          </a:custGeom>
          <a:blipFill>
            <a:blip r:embed="rId8">
              <a:extLst>
                <a:ext uri="{96DAC541-7B7A-43D3-8B79-37D633B846F1}">
                  <asvg:svgBlip xmlns:asvg="http://schemas.microsoft.com/office/drawing/2016/SVG/main" xmlns="" r:embed="rId9"/>
                </a:ext>
              </a:extLst>
            </a:blip>
            <a:stretch>
              <a:fillRect/>
            </a:stretch>
          </a:blipFill>
        </p:spPr>
      </p:sp>
      <p:grpSp>
        <p:nvGrpSpPr>
          <p:cNvPr id="29" name="Group 29"/>
          <p:cNvGrpSpPr/>
          <p:nvPr/>
        </p:nvGrpSpPr>
        <p:grpSpPr>
          <a:xfrm>
            <a:off x="609495" y="603494"/>
            <a:ext cx="1166108" cy="1235612"/>
            <a:chOff x="0" y="0"/>
            <a:chExt cx="1554810" cy="1647482"/>
          </a:xfrm>
        </p:grpSpPr>
        <p:sp>
          <p:nvSpPr>
            <p:cNvPr id="30" name="Freeform 30"/>
            <p:cNvSpPr/>
            <p:nvPr/>
          </p:nvSpPr>
          <p:spPr>
            <a:xfrm>
              <a:off x="0" y="0"/>
              <a:ext cx="1554861" cy="1647444"/>
            </a:xfrm>
            <a:custGeom>
              <a:avLst/>
              <a:gdLst/>
              <a:ahLst/>
              <a:cxnLst/>
              <a:rect l="l" t="t" r="r" b="b"/>
              <a:pathLst>
                <a:path w="1554861" h="1647444">
                  <a:moveTo>
                    <a:pt x="0" y="0"/>
                  </a:moveTo>
                  <a:lnTo>
                    <a:pt x="1554861" y="0"/>
                  </a:lnTo>
                  <a:lnTo>
                    <a:pt x="1554861" y="1647444"/>
                  </a:lnTo>
                  <a:lnTo>
                    <a:pt x="0" y="1647444"/>
                  </a:lnTo>
                  <a:lnTo>
                    <a:pt x="0" y="0"/>
                  </a:lnTo>
                  <a:close/>
                </a:path>
              </a:pathLst>
            </a:custGeom>
            <a:blipFill>
              <a:blip r:embed="rId10"/>
              <a:stretch>
                <a:fillRect l="-69" r="-66" b="-2"/>
              </a:stretch>
            </a:blipFill>
          </p:spPr>
        </p:sp>
      </p:grpSp>
      <p:sp>
        <p:nvSpPr>
          <p:cNvPr id="31" name="TextBox 31"/>
          <p:cNvSpPr txBox="1"/>
          <p:nvPr/>
        </p:nvSpPr>
        <p:spPr>
          <a:xfrm>
            <a:off x="1447714" y="774344"/>
            <a:ext cx="2527706" cy="538353"/>
          </a:xfrm>
          <a:prstGeom prst="rect">
            <a:avLst/>
          </a:prstGeom>
        </p:spPr>
        <p:txBody>
          <a:bodyPr lIns="0" tIns="0" rIns="0" bIns="0" rtlCol="0" anchor="t">
            <a:spAutoFit/>
          </a:bodyPr>
          <a:lstStyle/>
          <a:p>
            <a:pPr algn="just">
              <a:lnSpc>
                <a:spcPts val="3924"/>
              </a:lnSpc>
            </a:pPr>
            <a:r>
              <a:rPr lang="en-US" sz="2804">
                <a:solidFill>
                  <a:srgbClr val="2D5986"/>
                </a:solidFill>
                <a:latin typeface="Glacial Indifference"/>
                <a:ea typeface="Glacial Indifference"/>
                <a:cs typeface="Glacial Indifference"/>
                <a:sym typeface="Glacial Indifference"/>
              </a:rPr>
              <a:t>RFID Security</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7259300" y="1170832"/>
            <a:ext cx="1765364" cy="1765364"/>
            <a:chOff x="0" y="0"/>
            <a:chExt cx="2353818" cy="2353818"/>
          </a:xfrm>
        </p:grpSpPr>
        <p:sp>
          <p:nvSpPr>
            <p:cNvPr id="3" name="Freeform 3"/>
            <p:cNvSpPr/>
            <p:nvPr/>
          </p:nvSpPr>
          <p:spPr>
            <a:xfrm>
              <a:off x="0" y="0"/>
              <a:ext cx="2353818" cy="2353818"/>
            </a:xfrm>
            <a:custGeom>
              <a:avLst/>
              <a:gdLst/>
              <a:ahLst/>
              <a:cxnLst/>
              <a:rect l="l" t="t" r="r" b="b"/>
              <a:pathLst>
                <a:path w="2353818" h="2353818">
                  <a:moveTo>
                    <a:pt x="0" y="0"/>
                  </a:moveTo>
                  <a:lnTo>
                    <a:pt x="2353818" y="0"/>
                  </a:lnTo>
                  <a:lnTo>
                    <a:pt x="2353818" y="2353818"/>
                  </a:lnTo>
                  <a:lnTo>
                    <a:pt x="0" y="2353818"/>
                  </a:lnTo>
                  <a:lnTo>
                    <a:pt x="0" y="0"/>
                  </a:lnTo>
                  <a:close/>
                </a:path>
              </a:pathLst>
            </a:custGeom>
            <a:blipFill>
              <a:blip r:embed="rId2"/>
              <a:stretch>
                <a:fillRect/>
              </a:stretch>
            </a:blipFill>
          </p:spPr>
        </p:sp>
      </p:grpSp>
      <p:grpSp>
        <p:nvGrpSpPr>
          <p:cNvPr id="4" name="Group 4"/>
          <p:cNvGrpSpPr/>
          <p:nvPr/>
        </p:nvGrpSpPr>
        <p:grpSpPr>
          <a:xfrm>
            <a:off x="-1483604" y="8803396"/>
            <a:ext cx="2967228" cy="2967228"/>
            <a:chOff x="0" y="0"/>
            <a:chExt cx="3956304" cy="3956304"/>
          </a:xfrm>
        </p:grpSpPr>
        <p:sp>
          <p:nvSpPr>
            <p:cNvPr id="5" name="Freeform 5"/>
            <p:cNvSpPr/>
            <p:nvPr/>
          </p:nvSpPr>
          <p:spPr>
            <a:xfrm>
              <a:off x="0" y="0"/>
              <a:ext cx="3956304" cy="3956304"/>
            </a:xfrm>
            <a:custGeom>
              <a:avLst/>
              <a:gdLst/>
              <a:ahLst/>
              <a:cxnLst/>
              <a:rect l="l" t="t" r="r" b="b"/>
              <a:pathLst>
                <a:path w="3956304" h="3956304">
                  <a:moveTo>
                    <a:pt x="0" y="0"/>
                  </a:moveTo>
                  <a:lnTo>
                    <a:pt x="3956304" y="0"/>
                  </a:lnTo>
                  <a:lnTo>
                    <a:pt x="3956304" y="3956304"/>
                  </a:lnTo>
                  <a:lnTo>
                    <a:pt x="0" y="3956304"/>
                  </a:lnTo>
                  <a:lnTo>
                    <a:pt x="0" y="0"/>
                  </a:lnTo>
                  <a:close/>
                </a:path>
              </a:pathLst>
            </a:custGeom>
            <a:blipFill>
              <a:blip r:embed="rId2"/>
              <a:stretch>
                <a:fillRect/>
              </a:stretch>
            </a:blipFill>
          </p:spPr>
        </p:sp>
      </p:grpSp>
      <p:sp>
        <p:nvSpPr>
          <p:cNvPr id="6" name="Freeform 6"/>
          <p:cNvSpPr/>
          <p:nvPr/>
        </p:nvSpPr>
        <p:spPr>
          <a:xfrm>
            <a:off x="16687552" y="8496205"/>
            <a:ext cx="3369164" cy="3369164"/>
          </a:xfrm>
          <a:custGeom>
            <a:avLst/>
            <a:gdLst/>
            <a:ahLst/>
            <a:cxnLst/>
            <a:rect l="l" t="t" r="r" b="b"/>
            <a:pathLst>
              <a:path w="3369164" h="3369164">
                <a:moveTo>
                  <a:pt x="0" y="0"/>
                </a:moveTo>
                <a:lnTo>
                  <a:pt x="3369164" y="0"/>
                </a:lnTo>
                <a:lnTo>
                  <a:pt x="3369164" y="3369164"/>
                </a:lnTo>
                <a:lnTo>
                  <a:pt x="0" y="3369164"/>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sp>
        <p:nvSpPr>
          <p:cNvPr id="7" name="Freeform 7"/>
          <p:cNvSpPr/>
          <p:nvPr/>
        </p:nvSpPr>
        <p:spPr>
          <a:xfrm>
            <a:off x="0" y="-180823"/>
            <a:ext cx="18288000" cy="393830"/>
          </a:xfrm>
          <a:custGeom>
            <a:avLst/>
            <a:gdLst/>
            <a:ahLst/>
            <a:cxnLst/>
            <a:rect l="l" t="t" r="r" b="b"/>
            <a:pathLst>
              <a:path w="18288000" h="393830">
                <a:moveTo>
                  <a:pt x="0" y="0"/>
                </a:moveTo>
                <a:lnTo>
                  <a:pt x="18288000" y="0"/>
                </a:lnTo>
                <a:lnTo>
                  <a:pt x="18288000" y="393831"/>
                </a:lnTo>
                <a:lnTo>
                  <a:pt x="0" y="393831"/>
                </a:lnTo>
                <a:lnTo>
                  <a:pt x="0" y="0"/>
                </a:lnTo>
                <a:close/>
              </a:path>
            </a:pathLst>
          </a:custGeom>
          <a:blipFill>
            <a:blip r:embed="rId5">
              <a:extLst>
                <a:ext uri="{96DAC541-7B7A-43D3-8B79-37D633B846F1}">
                  <asvg:svgBlip xmlns:asvg="http://schemas.microsoft.com/office/drawing/2016/SVG/main" xmlns="" r:embed="rId6"/>
                </a:ext>
              </a:extLst>
            </a:blip>
            <a:stretch>
              <a:fillRect t="-788" b="-790"/>
            </a:stretch>
          </a:blipFill>
        </p:spPr>
      </p:sp>
      <p:grpSp>
        <p:nvGrpSpPr>
          <p:cNvPr id="8" name="Group 8"/>
          <p:cNvGrpSpPr/>
          <p:nvPr/>
        </p:nvGrpSpPr>
        <p:grpSpPr>
          <a:xfrm>
            <a:off x="609600" y="723900"/>
            <a:ext cx="975360" cy="996953"/>
            <a:chOff x="0" y="0"/>
            <a:chExt cx="1300480" cy="1329271"/>
          </a:xfrm>
        </p:grpSpPr>
        <p:sp>
          <p:nvSpPr>
            <p:cNvPr id="9" name="Freeform 9"/>
            <p:cNvSpPr/>
            <p:nvPr/>
          </p:nvSpPr>
          <p:spPr>
            <a:xfrm>
              <a:off x="0" y="0"/>
              <a:ext cx="1300480" cy="1329309"/>
            </a:xfrm>
            <a:custGeom>
              <a:avLst/>
              <a:gdLst/>
              <a:ahLst/>
              <a:cxnLst/>
              <a:rect l="l" t="t" r="r" b="b"/>
              <a:pathLst>
                <a:path w="1300480" h="1329309">
                  <a:moveTo>
                    <a:pt x="0" y="0"/>
                  </a:moveTo>
                  <a:lnTo>
                    <a:pt x="1300480" y="0"/>
                  </a:lnTo>
                  <a:lnTo>
                    <a:pt x="1300480" y="1329309"/>
                  </a:lnTo>
                  <a:lnTo>
                    <a:pt x="0" y="1329309"/>
                  </a:lnTo>
                  <a:lnTo>
                    <a:pt x="0" y="0"/>
                  </a:lnTo>
                  <a:close/>
                </a:path>
              </a:pathLst>
            </a:custGeom>
            <a:blipFill>
              <a:blip r:embed="rId7"/>
              <a:stretch>
                <a:fillRect t="-1760" b="-1757"/>
              </a:stretch>
            </a:blipFill>
          </p:spPr>
        </p:sp>
      </p:grpSp>
      <p:sp>
        <p:nvSpPr>
          <p:cNvPr id="10" name="Freeform 10"/>
          <p:cNvSpPr/>
          <p:nvPr/>
        </p:nvSpPr>
        <p:spPr>
          <a:xfrm>
            <a:off x="9514490" y="3088596"/>
            <a:ext cx="7990852" cy="4597984"/>
          </a:xfrm>
          <a:custGeom>
            <a:avLst/>
            <a:gdLst/>
            <a:ahLst/>
            <a:cxnLst/>
            <a:rect l="l" t="t" r="r" b="b"/>
            <a:pathLst>
              <a:path w="7990852" h="4597984">
                <a:moveTo>
                  <a:pt x="0" y="0"/>
                </a:moveTo>
                <a:lnTo>
                  <a:pt x="7990852" y="0"/>
                </a:lnTo>
                <a:lnTo>
                  <a:pt x="7990852" y="4597984"/>
                </a:lnTo>
                <a:lnTo>
                  <a:pt x="0" y="4597984"/>
                </a:lnTo>
                <a:lnTo>
                  <a:pt x="0" y="0"/>
                </a:lnTo>
                <a:close/>
              </a:path>
            </a:pathLst>
          </a:custGeom>
          <a:blipFill>
            <a:blip r:embed="rId8"/>
            <a:stretch>
              <a:fillRect/>
            </a:stretch>
          </a:blipFill>
        </p:spPr>
      </p:sp>
      <p:sp>
        <p:nvSpPr>
          <p:cNvPr id="11" name="Freeform 11"/>
          <p:cNvSpPr/>
          <p:nvPr/>
        </p:nvSpPr>
        <p:spPr>
          <a:xfrm>
            <a:off x="957259" y="1614200"/>
            <a:ext cx="8166706" cy="8672800"/>
          </a:xfrm>
          <a:custGeom>
            <a:avLst/>
            <a:gdLst/>
            <a:ahLst/>
            <a:cxnLst/>
            <a:rect l="l" t="t" r="r" b="b"/>
            <a:pathLst>
              <a:path w="8166706" h="8672800">
                <a:moveTo>
                  <a:pt x="0" y="0"/>
                </a:moveTo>
                <a:lnTo>
                  <a:pt x="8166706" y="0"/>
                </a:lnTo>
                <a:lnTo>
                  <a:pt x="8166706" y="8672800"/>
                </a:lnTo>
                <a:lnTo>
                  <a:pt x="0" y="8672800"/>
                </a:lnTo>
                <a:lnTo>
                  <a:pt x="0" y="0"/>
                </a:lnTo>
                <a:close/>
              </a:path>
            </a:pathLst>
          </a:custGeom>
          <a:blipFill>
            <a:blip r:embed="rId9"/>
            <a:stretch>
              <a:fillRect l="-1430" t="-417" b="-417"/>
            </a:stretch>
          </a:blipFill>
        </p:spPr>
      </p:sp>
      <p:sp>
        <p:nvSpPr>
          <p:cNvPr id="12" name="TextBox 12"/>
          <p:cNvSpPr txBox="1"/>
          <p:nvPr/>
        </p:nvSpPr>
        <p:spPr>
          <a:xfrm>
            <a:off x="9144000" y="536353"/>
            <a:ext cx="1662551" cy="485737"/>
          </a:xfrm>
          <a:prstGeom prst="rect">
            <a:avLst/>
          </a:prstGeom>
        </p:spPr>
        <p:txBody>
          <a:bodyPr lIns="0" tIns="0" rIns="0" bIns="0" rtlCol="0" anchor="t">
            <a:spAutoFit/>
          </a:bodyPr>
          <a:lstStyle/>
          <a:p>
            <a:pPr algn="l">
              <a:lnSpc>
                <a:spcPts val="3149"/>
              </a:lnSpc>
            </a:pPr>
            <a:r>
              <a:rPr lang="en-US" sz="2250">
                <a:solidFill>
                  <a:srgbClr val="2657C1"/>
                </a:solidFill>
                <a:latin typeface="TT Fors"/>
                <a:ea typeface="TT Fors"/>
                <a:cs typeface="TT Fors"/>
                <a:sym typeface="TT Fors"/>
              </a:rPr>
              <a:t>Home</a:t>
            </a:r>
          </a:p>
        </p:txBody>
      </p:sp>
      <p:sp>
        <p:nvSpPr>
          <p:cNvPr id="13" name="TextBox 13"/>
          <p:cNvSpPr txBox="1"/>
          <p:nvPr/>
        </p:nvSpPr>
        <p:spPr>
          <a:xfrm>
            <a:off x="10117988" y="1798887"/>
            <a:ext cx="6783857" cy="642604"/>
          </a:xfrm>
          <a:prstGeom prst="rect">
            <a:avLst/>
          </a:prstGeom>
        </p:spPr>
        <p:txBody>
          <a:bodyPr lIns="0" tIns="0" rIns="0" bIns="0" rtlCol="0" anchor="t">
            <a:spAutoFit/>
          </a:bodyPr>
          <a:lstStyle/>
          <a:p>
            <a:pPr algn="ctr">
              <a:lnSpc>
                <a:spcPts val="5840"/>
              </a:lnSpc>
            </a:pPr>
            <a:r>
              <a:rPr lang="en-US" sz="6020" spc="-60">
                <a:solidFill>
                  <a:srgbClr val="2657C1"/>
                </a:solidFill>
                <a:latin typeface="Etna Sans Serif"/>
                <a:ea typeface="Etna Sans Serif"/>
                <a:cs typeface="Etna Sans Serif"/>
                <a:sym typeface="Etna Sans Serif"/>
              </a:rPr>
              <a:t>Cloning Attack</a:t>
            </a:r>
          </a:p>
        </p:txBody>
      </p:sp>
      <p:sp>
        <p:nvSpPr>
          <p:cNvPr id="14" name="TextBox 14"/>
          <p:cNvSpPr txBox="1"/>
          <p:nvPr/>
        </p:nvSpPr>
        <p:spPr>
          <a:xfrm>
            <a:off x="13726725" y="536353"/>
            <a:ext cx="1916878" cy="485737"/>
          </a:xfrm>
          <a:prstGeom prst="rect">
            <a:avLst/>
          </a:prstGeom>
        </p:spPr>
        <p:txBody>
          <a:bodyPr lIns="0" tIns="0" rIns="0" bIns="0" rtlCol="0" anchor="t">
            <a:spAutoFit/>
          </a:bodyPr>
          <a:lstStyle/>
          <a:p>
            <a:pPr algn="l">
              <a:lnSpc>
                <a:spcPts val="3149"/>
              </a:lnSpc>
            </a:pPr>
            <a:r>
              <a:rPr lang="en-US" sz="2250">
                <a:solidFill>
                  <a:srgbClr val="2657C1"/>
                </a:solidFill>
                <a:latin typeface="TT Fors"/>
                <a:ea typeface="TT Fors"/>
                <a:cs typeface="TT Fors"/>
                <a:sym typeface="TT Fors"/>
              </a:rPr>
              <a:t>Conclusion</a:t>
            </a:r>
          </a:p>
        </p:txBody>
      </p:sp>
      <p:sp>
        <p:nvSpPr>
          <p:cNvPr id="15" name="TextBox 15"/>
          <p:cNvSpPr txBox="1"/>
          <p:nvPr/>
        </p:nvSpPr>
        <p:spPr>
          <a:xfrm>
            <a:off x="16053187" y="538563"/>
            <a:ext cx="1206113" cy="485737"/>
          </a:xfrm>
          <a:prstGeom prst="rect">
            <a:avLst/>
          </a:prstGeom>
        </p:spPr>
        <p:txBody>
          <a:bodyPr lIns="0" tIns="0" rIns="0" bIns="0" rtlCol="0" anchor="t">
            <a:spAutoFit/>
          </a:bodyPr>
          <a:lstStyle/>
          <a:p>
            <a:pPr algn="l">
              <a:lnSpc>
                <a:spcPts val="3149"/>
              </a:lnSpc>
            </a:pPr>
            <a:r>
              <a:rPr lang="en-US" sz="2250">
                <a:solidFill>
                  <a:srgbClr val="2657C1"/>
                </a:solidFill>
                <a:latin typeface="TT Fors"/>
                <a:ea typeface="TT Fors"/>
                <a:cs typeface="TT Fors"/>
                <a:sym typeface="TT Fors"/>
              </a:rPr>
              <a:t>Contact</a:t>
            </a:r>
          </a:p>
        </p:txBody>
      </p:sp>
      <p:sp>
        <p:nvSpPr>
          <p:cNvPr id="16" name="TextBox 16"/>
          <p:cNvSpPr txBox="1"/>
          <p:nvPr/>
        </p:nvSpPr>
        <p:spPr>
          <a:xfrm>
            <a:off x="11362449" y="538563"/>
            <a:ext cx="1907086" cy="485737"/>
          </a:xfrm>
          <a:prstGeom prst="rect">
            <a:avLst/>
          </a:prstGeom>
        </p:spPr>
        <p:txBody>
          <a:bodyPr lIns="0" tIns="0" rIns="0" bIns="0" rtlCol="0" anchor="t">
            <a:spAutoFit/>
          </a:bodyPr>
          <a:lstStyle/>
          <a:p>
            <a:pPr algn="l">
              <a:lnSpc>
                <a:spcPts val="3149"/>
              </a:lnSpc>
            </a:pPr>
            <a:r>
              <a:rPr lang="en-US" sz="2250" b="1">
                <a:solidFill>
                  <a:srgbClr val="2657C1"/>
                </a:solidFill>
                <a:latin typeface="TT Fors Bold"/>
                <a:ea typeface="TT Fors Bold"/>
                <a:cs typeface="TT Fors Bold"/>
                <a:sym typeface="TT Fors Bold"/>
              </a:rPr>
              <a:t>Discussion</a:t>
            </a:r>
          </a:p>
        </p:txBody>
      </p:sp>
      <p:sp>
        <p:nvSpPr>
          <p:cNvPr id="17" name="TextBox 17"/>
          <p:cNvSpPr txBox="1"/>
          <p:nvPr/>
        </p:nvSpPr>
        <p:spPr>
          <a:xfrm>
            <a:off x="1447714" y="774344"/>
            <a:ext cx="2527706" cy="538353"/>
          </a:xfrm>
          <a:prstGeom prst="rect">
            <a:avLst/>
          </a:prstGeom>
        </p:spPr>
        <p:txBody>
          <a:bodyPr lIns="0" tIns="0" rIns="0" bIns="0" rtlCol="0" anchor="t">
            <a:spAutoFit/>
          </a:bodyPr>
          <a:lstStyle/>
          <a:p>
            <a:pPr algn="just">
              <a:lnSpc>
                <a:spcPts val="3924"/>
              </a:lnSpc>
            </a:pPr>
            <a:r>
              <a:rPr lang="en-US" sz="2804">
                <a:solidFill>
                  <a:srgbClr val="2D5986"/>
                </a:solidFill>
                <a:latin typeface="Glacial Indifference"/>
                <a:ea typeface="Glacial Indifference"/>
                <a:cs typeface="Glacial Indifference"/>
                <a:sym typeface="Glacial Indifference"/>
              </a:rPr>
              <a:t>RFID Security</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987229" y="2568940"/>
            <a:ext cx="14261030" cy="1818284"/>
            <a:chOff x="0" y="0"/>
            <a:chExt cx="19014707" cy="2424379"/>
          </a:xfrm>
        </p:grpSpPr>
        <p:sp>
          <p:nvSpPr>
            <p:cNvPr id="3" name="Freeform 3"/>
            <p:cNvSpPr/>
            <p:nvPr/>
          </p:nvSpPr>
          <p:spPr>
            <a:xfrm>
              <a:off x="0" y="0"/>
              <a:ext cx="19014694" cy="2424430"/>
            </a:xfrm>
            <a:custGeom>
              <a:avLst/>
              <a:gdLst/>
              <a:ahLst/>
              <a:cxnLst/>
              <a:rect l="l" t="t" r="r" b="b"/>
              <a:pathLst>
                <a:path w="19014694" h="2424430">
                  <a:moveTo>
                    <a:pt x="0" y="0"/>
                  </a:moveTo>
                  <a:lnTo>
                    <a:pt x="19014694" y="0"/>
                  </a:lnTo>
                  <a:lnTo>
                    <a:pt x="19014694" y="2424430"/>
                  </a:lnTo>
                  <a:lnTo>
                    <a:pt x="0" y="2424430"/>
                  </a:lnTo>
                  <a:lnTo>
                    <a:pt x="0" y="0"/>
                  </a:lnTo>
                  <a:close/>
                </a:path>
              </a:pathLst>
            </a:custGeom>
            <a:blipFill>
              <a:blip r:embed="rId2"/>
              <a:stretch>
                <a:fillRect t="-122" b="-120"/>
              </a:stretch>
            </a:blipFill>
          </p:spPr>
        </p:sp>
      </p:grpSp>
      <p:grpSp>
        <p:nvGrpSpPr>
          <p:cNvPr id="4" name="Group 4"/>
          <p:cNvGrpSpPr/>
          <p:nvPr/>
        </p:nvGrpSpPr>
        <p:grpSpPr>
          <a:xfrm>
            <a:off x="16557203" y="2074021"/>
            <a:ext cx="2313242" cy="2313242"/>
            <a:chOff x="0" y="0"/>
            <a:chExt cx="3084322" cy="3084322"/>
          </a:xfrm>
        </p:grpSpPr>
        <p:sp>
          <p:nvSpPr>
            <p:cNvPr id="5" name="Freeform 5"/>
            <p:cNvSpPr/>
            <p:nvPr/>
          </p:nvSpPr>
          <p:spPr>
            <a:xfrm>
              <a:off x="0" y="0"/>
              <a:ext cx="3084322" cy="3084322"/>
            </a:xfrm>
            <a:custGeom>
              <a:avLst/>
              <a:gdLst/>
              <a:ahLst/>
              <a:cxnLst/>
              <a:rect l="l" t="t" r="r" b="b"/>
              <a:pathLst>
                <a:path w="3084322" h="3084322">
                  <a:moveTo>
                    <a:pt x="0" y="0"/>
                  </a:moveTo>
                  <a:lnTo>
                    <a:pt x="3084322" y="0"/>
                  </a:lnTo>
                  <a:lnTo>
                    <a:pt x="3084322" y="3084322"/>
                  </a:lnTo>
                  <a:lnTo>
                    <a:pt x="0" y="3084322"/>
                  </a:lnTo>
                  <a:lnTo>
                    <a:pt x="0" y="0"/>
                  </a:lnTo>
                  <a:close/>
                </a:path>
              </a:pathLst>
            </a:custGeom>
            <a:blipFill>
              <a:blip r:embed="rId3"/>
              <a:stretch>
                <a:fillRect/>
              </a:stretch>
            </a:blipFill>
          </p:spPr>
        </p:sp>
      </p:grpSp>
      <p:grpSp>
        <p:nvGrpSpPr>
          <p:cNvPr id="6" name="Group 6"/>
          <p:cNvGrpSpPr/>
          <p:nvPr/>
        </p:nvGrpSpPr>
        <p:grpSpPr>
          <a:xfrm>
            <a:off x="-772297" y="8742007"/>
            <a:ext cx="2587085" cy="2587085"/>
            <a:chOff x="0" y="0"/>
            <a:chExt cx="3449447" cy="3449447"/>
          </a:xfrm>
        </p:grpSpPr>
        <p:sp>
          <p:nvSpPr>
            <p:cNvPr id="7" name="Freeform 7"/>
            <p:cNvSpPr/>
            <p:nvPr/>
          </p:nvSpPr>
          <p:spPr>
            <a:xfrm>
              <a:off x="0" y="0"/>
              <a:ext cx="3449447" cy="3449447"/>
            </a:xfrm>
            <a:custGeom>
              <a:avLst/>
              <a:gdLst/>
              <a:ahLst/>
              <a:cxnLst/>
              <a:rect l="l" t="t" r="r" b="b"/>
              <a:pathLst>
                <a:path w="3449447" h="3449447">
                  <a:moveTo>
                    <a:pt x="0" y="0"/>
                  </a:moveTo>
                  <a:lnTo>
                    <a:pt x="3449447" y="0"/>
                  </a:lnTo>
                  <a:lnTo>
                    <a:pt x="3449447" y="3449447"/>
                  </a:lnTo>
                  <a:lnTo>
                    <a:pt x="0" y="3449447"/>
                  </a:lnTo>
                  <a:lnTo>
                    <a:pt x="0" y="0"/>
                  </a:lnTo>
                  <a:close/>
                </a:path>
              </a:pathLst>
            </a:custGeom>
            <a:blipFill>
              <a:blip r:embed="rId3"/>
              <a:stretch>
                <a:fillRect/>
              </a:stretch>
            </a:blipFill>
          </p:spPr>
        </p:sp>
      </p:grpSp>
      <p:sp>
        <p:nvSpPr>
          <p:cNvPr id="8" name="Freeform 8"/>
          <p:cNvSpPr/>
          <p:nvPr/>
        </p:nvSpPr>
        <p:spPr>
          <a:xfrm>
            <a:off x="15057920" y="1940709"/>
            <a:ext cx="1171375" cy="1171375"/>
          </a:xfrm>
          <a:custGeom>
            <a:avLst/>
            <a:gdLst/>
            <a:ahLst/>
            <a:cxnLst/>
            <a:rect l="l" t="t" r="r" b="b"/>
            <a:pathLst>
              <a:path w="1171375" h="1171375">
                <a:moveTo>
                  <a:pt x="0" y="0"/>
                </a:moveTo>
                <a:lnTo>
                  <a:pt x="1171375" y="0"/>
                </a:lnTo>
                <a:lnTo>
                  <a:pt x="1171375" y="1171375"/>
                </a:lnTo>
                <a:lnTo>
                  <a:pt x="0" y="1171375"/>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grpSp>
        <p:nvGrpSpPr>
          <p:cNvPr id="9" name="Group 9"/>
          <p:cNvGrpSpPr/>
          <p:nvPr/>
        </p:nvGrpSpPr>
        <p:grpSpPr>
          <a:xfrm>
            <a:off x="1987229" y="8094564"/>
            <a:ext cx="14242066" cy="1887074"/>
            <a:chOff x="0" y="0"/>
            <a:chExt cx="18989421" cy="2516099"/>
          </a:xfrm>
        </p:grpSpPr>
        <p:sp>
          <p:nvSpPr>
            <p:cNvPr id="10" name="Freeform 10"/>
            <p:cNvSpPr/>
            <p:nvPr/>
          </p:nvSpPr>
          <p:spPr>
            <a:xfrm>
              <a:off x="0" y="0"/>
              <a:ext cx="18989421" cy="2516124"/>
            </a:xfrm>
            <a:custGeom>
              <a:avLst/>
              <a:gdLst/>
              <a:ahLst/>
              <a:cxnLst/>
              <a:rect l="l" t="t" r="r" b="b"/>
              <a:pathLst>
                <a:path w="18989421" h="2516124">
                  <a:moveTo>
                    <a:pt x="0" y="0"/>
                  </a:moveTo>
                  <a:lnTo>
                    <a:pt x="18989421" y="0"/>
                  </a:lnTo>
                  <a:lnTo>
                    <a:pt x="18989421" y="2516124"/>
                  </a:lnTo>
                  <a:lnTo>
                    <a:pt x="0" y="2516124"/>
                  </a:lnTo>
                  <a:lnTo>
                    <a:pt x="0" y="0"/>
                  </a:lnTo>
                  <a:close/>
                </a:path>
              </a:pathLst>
            </a:custGeom>
            <a:blipFill>
              <a:blip r:embed="rId6"/>
              <a:stretch>
                <a:fillRect l="-167" r="-167" b="1"/>
              </a:stretch>
            </a:blipFill>
          </p:spPr>
        </p:sp>
      </p:grpSp>
      <p:sp>
        <p:nvSpPr>
          <p:cNvPr id="11" name="Freeform 11"/>
          <p:cNvSpPr/>
          <p:nvPr/>
        </p:nvSpPr>
        <p:spPr>
          <a:xfrm>
            <a:off x="14685169" y="8585102"/>
            <a:ext cx="4185237" cy="4185237"/>
          </a:xfrm>
          <a:custGeom>
            <a:avLst/>
            <a:gdLst/>
            <a:ahLst/>
            <a:cxnLst/>
            <a:rect l="l" t="t" r="r" b="b"/>
            <a:pathLst>
              <a:path w="4185237" h="4185237">
                <a:moveTo>
                  <a:pt x="0" y="0"/>
                </a:moveTo>
                <a:lnTo>
                  <a:pt x="4185237" y="0"/>
                </a:lnTo>
                <a:lnTo>
                  <a:pt x="4185237" y="4185237"/>
                </a:lnTo>
                <a:lnTo>
                  <a:pt x="0" y="4185237"/>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12" name="Freeform 12"/>
          <p:cNvSpPr/>
          <p:nvPr/>
        </p:nvSpPr>
        <p:spPr>
          <a:xfrm>
            <a:off x="0" y="-180823"/>
            <a:ext cx="18288000" cy="393830"/>
          </a:xfrm>
          <a:custGeom>
            <a:avLst/>
            <a:gdLst/>
            <a:ahLst/>
            <a:cxnLst/>
            <a:rect l="l" t="t" r="r" b="b"/>
            <a:pathLst>
              <a:path w="18288000" h="393830">
                <a:moveTo>
                  <a:pt x="0" y="0"/>
                </a:moveTo>
                <a:lnTo>
                  <a:pt x="18288000" y="0"/>
                </a:lnTo>
                <a:lnTo>
                  <a:pt x="18288000" y="393831"/>
                </a:lnTo>
                <a:lnTo>
                  <a:pt x="0" y="393831"/>
                </a:lnTo>
                <a:lnTo>
                  <a:pt x="0" y="0"/>
                </a:lnTo>
                <a:close/>
              </a:path>
            </a:pathLst>
          </a:custGeom>
          <a:blipFill>
            <a:blip r:embed="rId7">
              <a:extLst>
                <a:ext uri="{96DAC541-7B7A-43D3-8B79-37D633B846F1}">
                  <asvg:svgBlip xmlns:asvg="http://schemas.microsoft.com/office/drawing/2016/SVG/main" xmlns="" r:embed="rId8"/>
                </a:ext>
              </a:extLst>
            </a:blip>
            <a:stretch>
              <a:fillRect t="-788" b="-790"/>
            </a:stretch>
          </a:blipFill>
        </p:spPr>
      </p:sp>
      <p:grpSp>
        <p:nvGrpSpPr>
          <p:cNvPr id="13" name="Group 13"/>
          <p:cNvGrpSpPr/>
          <p:nvPr/>
        </p:nvGrpSpPr>
        <p:grpSpPr>
          <a:xfrm>
            <a:off x="1987229" y="4475836"/>
            <a:ext cx="14261030" cy="1853936"/>
            <a:chOff x="0" y="0"/>
            <a:chExt cx="19014707" cy="2471915"/>
          </a:xfrm>
        </p:grpSpPr>
        <p:sp>
          <p:nvSpPr>
            <p:cNvPr id="14" name="Freeform 14"/>
            <p:cNvSpPr/>
            <p:nvPr/>
          </p:nvSpPr>
          <p:spPr>
            <a:xfrm>
              <a:off x="0" y="0"/>
              <a:ext cx="19014694" cy="2471928"/>
            </a:xfrm>
            <a:custGeom>
              <a:avLst/>
              <a:gdLst/>
              <a:ahLst/>
              <a:cxnLst/>
              <a:rect l="l" t="t" r="r" b="b"/>
              <a:pathLst>
                <a:path w="19014694" h="2471928">
                  <a:moveTo>
                    <a:pt x="0" y="0"/>
                  </a:moveTo>
                  <a:lnTo>
                    <a:pt x="19014694" y="0"/>
                  </a:lnTo>
                  <a:lnTo>
                    <a:pt x="19014694" y="2471928"/>
                  </a:lnTo>
                  <a:lnTo>
                    <a:pt x="0" y="2471928"/>
                  </a:lnTo>
                  <a:lnTo>
                    <a:pt x="0" y="0"/>
                  </a:lnTo>
                  <a:close/>
                </a:path>
              </a:pathLst>
            </a:custGeom>
            <a:blipFill>
              <a:blip r:embed="rId9"/>
              <a:stretch>
                <a:fillRect l="-194" r="-194"/>
              </a:stretch>
            </a:blipFill>
          </p:spPr>
        </p:sp>
      </p:grpSp>
      <p:grpSp>
        <p:nvGrpSpPr>
          <p:cNvPr id="15" name="Group 15"/>
          <p:cNvGrpSpPr/>
          <p:nvPr/>
        </p:nvGrpSpPr>
        <p:grpSpPr>
          <a:xfrm>
            <a:off x="1968275" y="6329763"/>
            <a:ext cx="14261030" cy="1764802"/>
            <a:chOff x="0" y="0"/>
            <a:chExt cx="19014707" cy="2353069"/>
          </a:xfrm>
        </p:grpSpPr>
        <p:sp>
          <p:nvSpPr>
            <p:cNvPr id="16" name="Freeform 16"/>
            <p:cNvSpPr/>
            <p:nvPr/>
          </p:nvSpPr>
          <p:spPr>
            <a:xfrm>
              <a:off x="0" y="0"/>
              <a:ext cx="19014694" cy="2353056"/>
            </a:xfrm>
            <a:custGeom>
              <a:avLst/>
              <a:gdLst/>
              <a:ahLst/>
              <a:cxnLst/>
              <a:rect l="l" t="t" r="r" b="b"/>
              <a:pathLst>
                <a:path w="19014694" h="2353056">
                  <a:moveTo>
                    <a:pt x="0" y="0"/>
                  </a:moveTo>
                  <a:lnTo>
                    <a:pt x="19014694" y="0"/>
                  </a:lnTo>
                  <a:lnTo>
                    <a:pt x="19014694" y="2353056"/>
                  </a:lnTo>
                  <a:lnTo>
                    <a:pt x="0" y="2353056"/>
                  </a:lnTo>
                  <a:lnTo>
                    <a:pt x="0" y="0"/>
                  </a:lnTo>
                  <a:close/>
                </a:path>
              </a:pathLst>
            </a:custGeom>
            <a:blipFill>
              <a:blip r:embed="rId10"/>
              <a:stretch>
                <a:fillRect t="-68" b="-69"/>
              </a:stretch>
            </a:blipFill>
          </p:spPr>
        </p:sp>
      </p:grpSp>
      <p:sp>
        <p:nvSpPr>
          <p:cNvPr id="17" name="TextBox 17"/>
          <p:cNvSpPr txBox="1"/>
          <p:nvPr/>
        </p:nvSpPr>
        <p:spPr>
          <a:xfrm>
            <a:off x="9144000" y="536353"/>
            <a:ext cx="1662551" cy="485737"/>
          </a:xfrm>
          <a:prstGeom prst="rect">
            <a:avLst/>
          </a:prstGeom>
        </p:spPr>
        <p:txBody>
          <a:bodyPr lIns="0" tIns="0" rIns="0" bIns="0" rtlCol="0" anchor="t">
            <a:spAutoFit/>
          </a:bodyPr>
          <a:lstStyle/>
          <a:p>
            <a:pPr algn="l">
              <a:lnSpc>
                <a:spcPts val="3149"/>
              </a:lnSpc>
            </a:pPr>
            <a:r>
              <a:rPr lang="en-US" sz="2250">
                <a:solidFill>
                  <a:srgbClr val="2657C1"/>
                </a:solidFill>
                <a:latin typeface="TT Fors"/>
                <a:ea typeface="TT Fors"/>
                <a:cs typeface="TT Fors"/>
                <a:sym typeface="TT Fors"/>
              </a:rPr>
              <a:t>Home</a:t>
            </a:r>
          </a:p>
        </p:txBody>
      </p:sp>
      <p:sp>
        <p:nvSpPr>
          <p:cNvPr id="18" name="TextBox 18"/>
          <p:cNvSpPr txBox="1"/>
          <p:nvPr/>
        </p:nvSpPr>
        <p:spPr>
          <a:xfrm>
            <a:off x="4195220" y="1752752"/>
            <a:ext cx="9719443" cy="642604"/>
          </a:xfrm>
          <a:prstGeom prst="rect">
            <a:avLst/>
          </a:prstGeom>
        </p:spPr>
        <p:txBody>
          <a:bodyPr lIns="0" tIns="0" rIns="0" bIns="0" rtlCol="0" anchor="t">
            <a:spAutoFit/>
          </a:bodyPr>
          <a:lstStyle/>
          <a:p>
            <a:pPr algn="ctr">
              <a:lnSpc>
                <a:spcPts val="5840"/>
              </a:lnSpc>
            </a:pPr>
            <a:r>
              <a:rPr lang="en-US" sz="6020" spc="-60">
                <a:solidFill>
                  <a:srgbClr val="2657C1"/>
                </a:solidFill>
                <a:latin typeface="Etna Sans Serif"/>
                <a:ea typeface="Etna Sans Serif"/>
                <a:cs typeface="Etna Sans Serif"/>
                <a:sym typeface="Etna Sans Serif"/>
              </a:rPr>
              <a:t>Risks of RFID Cloning </a:t>
            </a:r>
          </a:p>
        </p:txBody>
      </p:sp>
      <p:sp>
        <p:nvSpPr>
          <p:cNvPr id="19" name="TextBox 19"/>
          <p:cNvSpPr txBox="1"/>
          <p:nvPr/>
        </p:nvSpPr>
        <p:spPr>
          <a:xfrm>
            <a:off x="13726725" y="536353"/>
            <a:ext cx="1916878" cy="485737"/>
          </a:xfrm>
          <a:prstGeom prst="rect">
            <a:avLst/>
          </a:prstGeom>
        </p:spPr>
        <p:txBody>
          <a:bodyPr lIns="0" tIns="0" rIns="0" bIns="0" rtlCol="0" anchor="t">
            <a:spAutoFit/>
          </a:bodyPr>
          <a:lstStyle/>
          <a:p>
            <a:pPr algn="l">
              <a:lnSpc>
                <a:spcPts val="3149"/>
              </a:lnSpc>
            </a:pPr>
            <a:r>
              <a:rPr lang="en-US" sz="2250">
                <a:solidFill>
                  <a:srgbClr val="2657C1"/>
                </a:solidFill>
                <a:latin typeface="TT Fors"/>
                <a:ea typeface="TT Fors"/>
                <a:cs typeface="TT Fors"/>
                <a:sym typeface="TT Fors"/>
              </a:rPr>
              <a:t>Conclusion</a:t>
            </a:r>
          </a:p>
        </p:txBody>
      </p:sp>
      <p:sp>
        <p:nvSpPr>
          <p:cNvPr id="20" name="TextBox 20"/>
          <p:cNvSpPr txBox="1"/>
          <p:nvPr/>
        </p:nvSpPr>
        <p:spPr>
          <a:xfrm>
            <a:off x="16053187" y="538563"/>
            <a:ext cx="1206113" cy="485737"/>
          </a:xfrm>
          <a:prstGeom prst="rect">
            <a:avLst/>
          </a:prstGeom>
        </p:spPr>
        <p:txBody>
          <a:bodyPr lIns="0" tIns="0" rIns="0" bIns="0" rtlCol="0" anchor="t">
            <a:spAutoFit/>
          </a:bodyPr>
          <a:lstStyle/>
          <a:p>
            <a:pPr algn="l">
              <a:lnSpc>
                <a:spcPts val="3149"/>
              </a:lnSpc>
            </a:pPr>
            <a:r>
              <a:rPr lang="en-US" sz="2250">
                <a:solidFill>
                  <a:srgbClr val="2657C1"/>
                </a:solidFill>
                <a:latin typeface="TT Fors"/>
                <a:ea typeface="TT Fors"/>
                <a:cs typeface="TT Fors"/>
                <a:sym typeface="TT Fors"/>
              </a:rPr>
              <a:t>Contact</a:t>
            </a:r>
          </a:p>
        </p:txBody>
      </p:sp>
      <p:sp>
        <p:nvSpPr>
          <p:cNvPr id="21" name="TextBox 21"/>
          <p:cNvSpPr txBox="1"/>
          <p:nvPr/>
        </p:nvSpPr>
        <p:spPr>
          <a:xfrm>
            <a:off x="11362449" y="538563"/>
            <a:ext cx="1907086" cy="485737"/>
          </a:xfrm>
          <a:prstGeom prst="rect">
            <a:avLst/>
          </a:prstGeom>
        </p:spPr>
        <p:txBody>
          <a:bodyPr lIns="0" tIns="0" rIns="0" bIns="0" rtlCol="0" anchor="t">
            <a:spAutoFit/>
          </a:bodyPr>
          <a:lstStyle/>
          <a:p>
            <a:pPr algn="l">
              <a:lnSpc>
                <a:spcPts val="3149"/>
              </a:lnSpc>
            </a:pPr>
            <a:r>
              <a:rPr lang="en-US" sz="2250" b="1">
                <a:solidFill>
                  <a:srgbClr val="2657C1"/>
                </a:solidFill>
                <a:latin typeface="TT Fors Bold"/>
                <a:ea typeface="TT Fors Bold"/>
                <a:cs typeface="TT Fors Bold"/>
                <a:sym typeface="TT Fors Bold"/>
              </a:rPr>
              <a:t>Discussion</a:t>
            </a:r>
          </a:p>
        </p:txBody>
      </p:sp>
      <p:grpSp>
        <p:nvGrpSpPr>
          <p:cNvPr id="22" name="Group 22"/>
          <p:cNvGrpSpPr/>
          <p:nvPr/>
        </p:nvGrpSpPr>
        <p:grpSpPr>
          <a:xfrm>
            <a:off x="609495" y="603494"/>
            <a:ext cx="1166108" cy="1235612"/>
            <a:chOff x="0" y="0"/>
            <a:chExt cx="1554810" cy="1647482"/>
          </a:xfrm>
        </p:grpSpPr>
        <p:sp>
          <p:nvSpPr>
            <p:cNvPr id="23" name="Freeform 23"/>
            <p:cNvSpPr/>
            <p:nvPr/>
          </p:nvSpPr>
          <p:spPr>
            <a:xfrm>
              <a:off x="0" y="0"/>
              <a:ext cx="1554861" cy="1647444"/>
            </a:xfrm>
            <a:custGeom>
              <a:avLst/>
              <a:gdLst/>
              <a:ahLst/>
              <a:cxnLst/>
              <a:rect l="l" t="t" r="r" b="b"/>
              <a:pathLst>
                <a:path w="1554861" h="1647444">
                  <a:moveTo>
                    <a:pt x="0" y="0"/>
                  </a:moveTo>
                  <a:lnTo>
                    <a:pt x="1554861" y="0"/>
                  </a:lnTo>
                  <a:lnTo>
                    <a:pt x="1554861" y="1647444"/>
                  </a:lnTo>
                  <a:lnTo>
                    <a:pt x="0" y="1647444"/>
                  </a:lnTo>
                  <a:lnTo>
                    <a:pt x="0" y="0"/>
                  </a:lnTo>
                  <a:close/>
                </a:path>
              </a:pathLst>
            </a:custGeom>
            <a:blipFill>
              <a:blip r:embed="rId11"/>
              <a:stretch>
                <a:fillRect l="-69" r="-66" b="-2"/>
              </a:stretch>
            </a:blipFill>
          </p:spPr>
        </p:sp>
      </p:grpSp>
      <p:sp>
        <p:nvSpPr>
          <p:cNvPr id="24" name="TextBox 24"/>
          <p:cNvSpPr txBox="1"/>
          <p:nvPr/>
        </p:nvSpPr>
        <p:spPr>
          <a:xfrm>
            <a:off x="1447714" y="774344"/>
            <a:ext cx="2527706" cy="538353"/>
          </a:xfrm>
          <a:prstGeom prst="rect">
            <a:avLst/>
          </a:prstGeom>
        </p:spPr>
        <p:txBody>
          <a:bodyPr lIns="0" tIns="0" rIns="0" bIns="0" rtlCol="0" anchor="t">
            <a:spAutoFit/>
          </a:bodyPr>
          <a:lstStyle/>
          <a:p>
            <a:pPr algn="just">
              <a:lnSpc>
                <a:spcPts val="3924"/>
              </a:lnSpc>
            </a:pPr>
            <a:r>
              <a:rPr lang="en-US" sz="2804">
                <a:solidFill>
                  <a:srgbClr val="2D5986"/>
                </a:solidFill>
                <a:latin typeface="Glacial Indifference"/>
                <a:ea typeface="Glacial Indifference"/>
                <a:cs typeface="Glacial Indifference"/>
                <a:sym typeface="Glacial Indifference"/>
              </a:rPr>
              <a:t>RFID Security</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345568" y="2678430"/>
            <a:ext cx="7040880" cy="7481573"/>
            <a:chOff x="0" y="0"/>
            <a:chExt cx="9387840" cy="9975431"/>
          </a:xfrm>
        </p:grpSpPr>
        <p:sp>
          <p:nvSpPr>
            <p:cNvPr id="3" name="Freeform 3"/>
            <p:cNvSpPr/>
            <p:nvPr/>
          </p:nvSpPr>
          <p:spPr>
            <a:xfrm>
              <a:off x="0" y="0"/>
              <a:ext cx="9387840" cy="9975469"/>
            </a:xfrm>
            <a:custGeom>
              <a:avLst/>
              <a:gdLst/>
              <a:ahLst/>
              <a:cxnLst/>
              <a:rect l="l" t="t" r="r" b="b"/>
              <a:pathLst>
                <a:path w="9387840" h="9975469">
                  <a:moveTo>
                    <a:pt x="0" y="0"/>
                  </a:moveTo>
                  <a:lnTo>
                    <a:pt x="9387840" y="0"/>
                  </a:lnTo>
                  <a:lnTo>
                    <a:pt x="9387840" y="9975469"/>
                  </a:lnTo>
                  <a:lnTo>
                    <a:pt x="0" y="9975469"/>
                  </a:lnTo>
                  <a:lnTo>
                    <a:pt x="0" y="0"/>
                  </a:lnTo>
                  <a:close/>
                </a:path>
              </a:pathLst>
            </a:custGeom>
            <a:blipFill>
              <a:blip r:embed="rId2"/>
              <a:stretch>
                <a:fillRect l="-4" r="-4"/>
              </a:stretch>
            </a:blipFill>
          </p:spPr>
        </p:sp>
      </p:grpSp>
      <p:grpSp>
        <p:nvGrpSpPr>
          <p:cNvPr id="4" name="Group 4"/>
          <p:cNvGrpSpPr/>
          <p:nvPr/>
        </p:nvGrpSpPr>
        <p:grpSpPr>
          <a:xfrm>
            <a:off x="8686800" y="2600325"/>
            <a:ext cx="6870697" cy="7290435"/>
            <a:chOff x="0" y="0"/>
            <a:chExt cx="9160929" cy="9720580"/>
          </a:xfrm>
        </p:grpSpPr>
        <p:sp>
          <p:nvSpPr>
            <p:cNvPr id="5" name="Freeform 5"/>
            <p:cNvSpPr/>
            <p:nvPr/>
          </p:nvSpPr>
          <p:spPr>
            <a:xfrm>
              <a:off x="0" y="0"/>
              <a:ext cx="9160891" cy="9720580"/>
            </a:xfrm>
            <a:custGeom>
              <a:avLst/>
              <a:gdLst/>
              <a:ahLst/>
              <a:cxnLst/>
              <a:rect l="l" t="t" r="r" b="b"/>
              <a:pathLst>
                <a:path w="9160891" h="9720580">
                  <a:moveTo>
                    <a:pt x="0" y="0"/>
                  </a:moveTo>
                  <a:lnTo>
                    <a:pt x="9160891" y="0"/>
                  </a:lnTo>
                  <a:lnTo>
                    <a:pt x="9160891" y="9720580"/>
                  </a:lnTo>
                  <a:lnTo>
                    <a:pt x="0" y="9720580"/>
                  </a:lnTo>
                  <a:lnTo>
                    <a:pt x="0" y="0"/>
                  </a:lnTo>
                  <a:close/>
                </a:path>
              </a:pathLst>
            </a:custGeom>
            <a:blipFill>
              <a:blip r:embed="rId3"/>
              <a:stretch>
                <a:fillRect/>
              </a:stretch>
            </a:blipFill>
          </p:spPr>
        </p:sp>
      </p:grpSp>
      <p:grpSp>
        <p:nvGrpSpPr>
          <p:cNvPr id="6" name="Group 6"/>
          <p:cNvGrpSpPr/>
          <p:nvPr/>
        </p:nvGrpSpPr>
        <p:grpSpPr>
          <a:xfrm>
            <a:off x="17259300" y="1677724"/>
            <a:ext cx="1765364" cy="1765364"/>
            <a:chOff x="0" y="0"/>
            <a:chExt cx="2353818" cy="2353818"/>
          </a:xfrm>
        </p:grpSpPr>
        <p:sp>
          <p:nvSpPr>
            <p:cNvPr id="7" name="Freeform 7"/>
            <p:cNvSpPr/>
            <p:nvPr/>
          </p:nvSpPr>
          <p:spPr>
            <a:xfrm>
              <a:off x="0" y="0"/>
              <a:ext cx="2353818" cy="2353818"/>
            </a:xfrm>
            <a:custGeom>
              <a:avLst/>
              <a:gdLst/>
              <a:ahLst/>
              <a:cxnLst/>
              <a:rect l="l" t="t" r="r" b="b"/>
              <a:pathLst>
                <a:path w="2353818" h="2353818">
                  <a:moveTo>
                    <a:pt x="0" y="0"/>
                  </a:moveTo>
                  <a:lnTo>
                    <a:pt x="2353818" y="0"/>
                  </a:lnTo>
                  <a:lnTo>
                    <a:pt x="2353818" y="2353818"/>
                  </a:lnTo>
                  <a:lnTo>
                    <a:pt x="0" y="2353818"/>
                  </a:lnTo>
                  <a:lnTo>
                    <a:pt x="0" y="0"/>
                  </a:lnTo>
                  <a:close/>
                </a:path>
              </a:pathLst>
            </a:custGeom>
            <a:blipFill>
              <a:blip r:embed="rId4"/>
              <a:stretch>
                <a:fillRect/>
              </a:stretch>
            </a:blipFill>
          </p:spPr>
        </p:sp>
      </p:grpSp>
      <p:grpSp>
        <p:nvGrpSpPr>
          <p:cNvPr id="8" name="Group 8"/>
          <p:cNvGrpSpPr/>
          <p:nvPr/>
        </p:nvGrpSpPr>
        <p:grpSpPr>
          <a:xfrm>
            <a:off x="-1483604" y="8908952"/>
            <a:ext cx="2967228" cy="2967228"/>
            <a:chOff x="0" y="0"/>
            <a:chExt cx="3956304" cy="3956304"/>
          </a:xfrm>
        </p:grpSpPr>
        <p:sp>
          <p:nvSpPr>
            <p:cNvPr id="9" name="Freeform 9"/>
            <p:cNvSpPr/>
            <p:nvPr/>
          </p:nvSpPr>
          <p:spPr>
            <a:xfrm>
              <a:off x="0" y="0"/>
              <a:ext cx="3956304" cy="3956304"/>
            </a:xfrm>
            <a:custGeom>
              <a:avLst/>
              <a:gdLst/>
              <a:ahLst/>
              <a:cxnLst/>
              <a:rect l="l" t="t" r="r" b="b"/>
              <a:pathLst>
                <a:path w="3956304" h="3956304">
                  <a:moveTo>
                    <a:pt x="0" y="0"/>
                  </a:moveTo>
                  <a:lnTo>
                    <a:pt x="3956304" y="0"/>
                  </a:lnTo>
                  <a:lnTo>
                    <a:pt x="3956304" y="3956304"/>
                  </a:lnTo>
                  <a:lnTo>
                    <a:pt x="0" y="3956304"/>
                  </a:lnTo>
                  <a:lnTo>
                    <a:pt x="0" y="0"/>
                  </a:lnTo>
                  <a:close/>
                </a:path>
              </a:pathLst>
            </a:custGeom>
            <a:blipFill>
              <a:blip r:embed="rId4"/>
              <a:stretch>
                <a:fillRect/>
              </a:stretch>
            </a:blipFill>
          </p:spPr>
        </p:sp>
      </p:grpSp>
      <p:sp>
        <p:nvSpPr>
          <p:cNvPr id="10" name="Freeform 10"/>
          <p:cNvSpPr/>
          <p:nvPr/>
        </p:nvSpPr>
        <p:spPr>
          <a:xfrm>
            <a:off x="15011152" y="8877205"/>
            <a:ext cx="3369164" cy="3369164"/>
          </a:xfrm>
          <a:custGeom>
            <a:avLst/>
            <a:gdLst/>
            <a:ahLst/>
            <a:cxnLst/>
            <a:rect l="l" t="t" r="r" b="b"/>
            <a:pathLst>
              <a:path w="3369164" h="3369164">
                <a:moveTo>
                  <a:pt x="0" y="0"/>
                </a:moveTo>
                <a:lnTo>
                  <a:pt x="3369164" y="0"/>
                </a:lnTo>
                <a:lnTo>
                  <a:pt x="3369164" y="3369164"/>
                </a:lnTo>
                <a:lnTo>
                  <a:pt x="0" y="3369164"/>
                </a:lnTo>
                <a:lnTo>
                  <a:pt x="0" y="0"/>
                </a:lnTo>
                <a:close/>
              </a:path>
            </a:pathLst>
          </a:custGeom>
          <a:blipFill>
            <a:blip r:embed="rId5">
              <a:extLst>
                <a:ext uri="{96DAC541-7B7A-43D3-8B79-37D633B846F1}">
                  <asvg:svgBlip xmlns:asvg="http://schemas.microsoft.com/office/drawing/2016/SVG/main" xmlns="" r:embed="rId6"/>
                </a:ext>
              </a:extLst>
            </a:blip>
            <a:stretch>
              <a:fillRect/>
            </a:stretch>
          </a:blipFill>
        </p:spPr>
      </p:sp>
      <p:sp>
        <p:nvSpPr>
          <p:cNvPr id="11" name="Freeform 11"/>
          <p:cNvSpPr/>
          <p:nvPr/>
        </p:nvSpPr>
        <p:spPr>
          <a:xfrm>
            <a:off x="0" y="-180823"/>
            <a:ext cx="18288000" cy="393830"/>
          </a:xfrm>
          <a:custGeom>
            <a:avLst/>
            <a:gdLst/>
            <a:ahLst/>
            <a:cxnLst/>
            <a:rect l="l" t="t" r="r" b="b"/>
            <a:pathLst>
              <a:path w="18288000" h="393830">
                <a:moveTo>
                  <a:pt x="0" y="0"/>
                </a:moveTo>
                <a:lnTo>
                  <a:pt x="18288000" y="0"/>
                </a:lnTo>
                <a:lnTo>
                  <a:pt x="18288000" y="393831"/>
                </a:lnTo>
                <a:lnTo>
                  <a:pt x="0" y="393831"/>
                </a:lnTo>
                <a:lnTo>
                  <a:pt x="0" y="0"/>
                </a:lnTo>
                <a:close/>
              </a:path>
            </a:pathLst>
          </a:custGeom>
          <a:blipFill>
            <a:blip r:embed="rId7">
              <a:extLst>
                <a:ext uri="{96DAC541-7B7A-43D3-8B79-37D633B846F1}">
                  <asvg:svgBlip xmlns:asvg="http://schemas.microsoft.com/office/drawing/2016/SVG/main" xmlns="" r:embed="rId8"/>
                </a:ext>
              </a:extLst>
            </a:blip>
            <a:stretch>
              <a:fillRect t="-788" b="-790"/>
            </a:stretch>
          </a:blipFill>
        </p:spPr>
      </p:sp>
      <p:sp>
        <p:nvSpPr>
          <p:cNvPr id="12" name="TextBox 12"/>
          <p:cNvSpPr txBox="1"/>
          <p:nvPr/>
        </p:nvSpPr>
        <p:spPr>
          <a:xfrm>
            <a:off x="9144000" y="536353"/>
            <a:ext cx="1662551" cy="485737"/>
          </a:xfrm>
          <a:prstGeom prst="rect">
            <a:avLst/>
          </a:prstGeom>
        </p:spPr>
        <p:txBody>
          <a:bodyPr lIns="0" tIns="0" rIns="0" bIns="0" rtlCol="0" anchor="t">
            <a:spAutoFit/>
          </a:bodyPr>
          <a:lstStyle/>
          <a:p>
            <a:pPr algn="l">
              <a:lnSpc>
                <a:spcPts val="3149"/>
              </a:lnSpc>
            </a:pPr>
            <a:r>
              <a:rPr lang="en-US" sz="2250">
                <a:solidFill>
                  <a:srgbClr val="2657C1"/>
                </a:solidFill>
                <a:latin typeface="TT Fors"/>
                <a:ea typeface="TT Fors"/>
                <a:cs typeface="TT Fors"/>
                <a:sym typeface="TT Fors"/>
              </a:rPr>
              <a:t>Home</a:t>
            </a:r>
          </a:p>
        </p:txBody>
      </p:sp>
      <p:sp>
        <p:nvSpPr>
          <p:cNvPr id="13" name="TextBox 13"/>
          <p:cNvSpPr txBox="1"/>
          <p:nvPr/>
        </p:nvSpPr>
        <p:spPr>
          <a:xfrm>
            <a:off x="2743200" y="1149982"/>
            <a:ext cx="11741153" cy="2354580"/>
          </a:xfrm>
          <a:prstGeom prst="rect">
            <a:avLst/>
          </a:prstGeom>
        </p:spPr>
        <p:txBody>
          <a:bodyPr lIns="0" tIns="0" rIns="0" bIns="0" rtlCol="0" anchor="t">
            <a:spAutoFit/>
          </a:bodyPr>
          <a:lstStyle/>
          <a:p>
            <a:pPr algn="ctr">
              <a:lnSpc>
                <a:spcPts val="8625"/>
              </a:lnSpc>
            </a:pPr>
            <a:r>
              <a:rPr lang="en-US" sz="6000" spc="-87">
                <a:solidFill>
                  <a:srgbClr val="2657C1"/>
                </a:solidFill>
                <a:latin typeface="Etna Sans Serif"/>
                <a:ea typeface="Etna Sans Serif"/>
                <a:cs typeface="Etna Sans Serif"/>
                <a:sym typeface="Etna Sans Serif"/>
              </a:rPr>
              <a:t>Advantages &amp; Limitations</a:t>
            </a:r>
          </a:p>
          <a:p>
            <a:pPr algn="l">
              <a:lnSpc>
                <a:spcPts val="8625"/>
              </a:lnSpc>
            </a:pPr>
            <a:endParaRPr lang="en-US" sz="6000" spc="-87">
              <a:solidFill>
                <a:srgbClr val="2657C1"/>
              </a:solidFill>
              <a:latin typeface="Etna Sans Serif"/>
              <a:ea typeface="Etna Sans Serif"/>
              <a:cs typeface="Etna Sans Serif"/>
              <a:sym typeface="Etna Sans Serif"/>
            </a:endParaRPr>
          </a:p>
        </p:txBody>
      </p:sp>
      <p:sp>
        <p:nvSpPr>
          <p:cNvPr id="14" name="TextBox 14"/>
          <p:cNvSpPr txBox="1"/>
          <p:nvPr/>
        </p:nvSpPr>
        <p:spPr>
          <a:xfrm>
            <a:off x="13726725" y="536353"/>
            <a:ext cx="1916878" cy="485737"/>
          </a:xfrm>
          <a:prstGeom prst="rect">
            <a:avLst/>
          </a:prstGeom>
        </p:spPr>
        <p:txBody>
          <a:bodyPr lIns="0" tIns="0" rIns="0" bIns="0" rtlCol="0" anchor="t">
            <a:spAutoFit/>
          </a:bodyPr>
          <a:lstStyle/>
          <a:p>
            <a:pPr algn="l">
              <a:lnSpc>
                <a:spcPts val="3149"/>
              </a:lnSpc>
            </a:pPr>
            <a:r>
              <a:rPr lang="en-US" sz="2250">
                <a:solidFill>
                  <a:srgbClr val="2657C1"/>
                </a:solidFill>
                <a:latin typeface="TT Fors"/>
                <a:ea typeface="TT Fors"/>
                <a:cs typeface="TT Fors"/>
                <a:sym typeface="TT Fors"/>
              </a:rPr>
              <a:t>Conclusion</a:t>
            </a:r>
          </a:p>
        </p:txBody>
      </p:sp>
      <p:sp>
        <p:nvSpPr>
          <p:cNvPr id="15" name="TextBox 15"/>
          <p:cNvSpPr txBox="1"/>
          <p:nvPr/>
        </p:nvSpPr>
        <p:spPr>
          <a:xfrm>
            <a:off x="16053187" y="538563"/>
            <a:ext cx="1206113" cy="485737"/>
          </a:xfrm>
          <a:prstGeom prst="rect">
            <a:avLst/>
          </a:prstGeom>
        </p:spPr>
        <p:txBody>
          <a:bodyPr lIns="0" tIns="0" rIns="0" bIns="0" rtlCol="0" anchor="t">
            <a:spAutoFit/>
          </a:bodyPr>
          <a:lstStyle/>
          <a:p>
            <a:pPr algn="l">
              <a:lnSpc>
                <a:spcPts val="3149"/>
              </a:lnSpc>
            </a:pPr>
            <a:r>
              <a:rPr lang="en-US" sz="2250">
                <a:solidFill>
                  <a:srgbClr val="2657C1"/>
                </a:solidFill>
                <a:latin typeface="TT Fors"/>
                <a:ea typeface="TT Fors"/>
                <a:cs typeface="TT Fors"/>
                <a:sym typeface="TT Fors"/>
              </a:rPr>
              <a:t>Contact</a:t>
            </a:r>
          </a:p>
        </p:txBody>
      </p:sp>
      <p:sp>
        <p:nvSpPr>
          <p:cNvPr id="16" name="TextBox 16"/>
          <p:cNvSpPr txBox="1"/>
          <p:nvPr/>
        </p:nvSpPr>
        <p:spPr>
          <a:xfrm>
            <a:off x="11362449" y="538563"/>
            <a:ext cx="1907086" cy="485737"/>
          </a:xfrm>
          <a:prstGeom prst="rect">
            <a:avLst/>
          </a:prstGeom>
        </p:spPr>
        <p:txBody>
          <a:bodyPr lIns="0" tIns="0" rIns="0" bIns="0" rtlCol="0" anchor="t">
            <a:spAutoFit/>
          </a:bodyPr>
          <a:lstStyle/>
          <a:p>
            <a:pPr algn="l">
              <a:lnSpc>
                <a:spcPts val="3149"/>
              </a:lnSpc>
            </a:pPr>
            <a:r>
              <a:rPr lang="en-US" sz="2250" b="1">
                <a:solidFill>
                  <a:srgbClr val="2657C1"/>
                </a:solidFill>
                <a:latin typeface="TT Fors Bold"/>
                <a:ea typeface="TT Fors Bold"/>
                <a:cs typeface="TT Fors Bold"/>
                <a:sym typeface="TT Fors Bold"/>
              </a:rPr>
              <a:t>Discussion</a:t>
            </a:r>
          </a:p>
        </p:txBody>
      </p:sp>
      <p:sp>
        <p:nvSpPr>
          <p:cNvPr id="17" name="Freeform 17"/>
          <p:cNvSpPr/>
          <p:nvPr/>
        </p:nvSpPr>
        <p:spPr>
          <a:xfrm>
            <a:off x="304848" y="2857595"/>
            <a:ext cx="776373" cy="776373"/>
          </a:xfrm>
          <a:custGeom>
            <a:avLst/>
            <a:gdLst/>
            <a:ahLst/>
            <a:cxnLst/>
            <a:rect l="l" t="t" r="r" b="b"/>
            <a:pathLst>
              <a:path w="776373" h="776373">
                <a:moveTo>
                  <a:pt x="0" y="0"/>
                </a:moveTo>
                <a:lnTo>
                  <a:pt x="776373" y="0"/>
                </a:lnTo>
                <a:lnTo>
                  <a:pt x="776373" y="776373"/>
                </a:lnTo>
                <a:lnTo>
                  <a:pt x="0" y="776373"/>
                </a:lnTo>
                <a:lnTo>
                  <a:pt x="0" y="0"/>
                </a:lnTo>
                <a:close/>
              </a:path>
            </a:pathLst>
          </a:custGeom>
          <a:blipFill>
            <a:blip r:embed="rId5">
              <a:extLst>
                <a:ext uri="{96DAC541-7B7A-43D3-8B79-37D633B846F1}">
                  <asvg:svgBlip xmlns:asvg="http://schemas.microsoft.com/office/drawing/2016/SVG/main" xmlns="" r:embed="rId6"/>
                </a:ext>
              </a:extLst>
            </a:blip>
            <a:stretch>
              <a:fillRect/>
            </a:stretch>
          </a:blipFill>
        </p:spPr>
      </p:sp>
      <p:sp>
        <p:nvSpPr>
          <p:cNvPr id="18" name="TextBox 18"/>
          <p:cNvSpPr txBox="1"/>
          <p:nvPr/>
        </p:nvSpPr>
        <p:spPr>
          <a:xfrm>
            <a:off x="1278893" y="517322"/>
            <a:ext cx="921544" cy="632993"/>
          </a:xfrm>
          <a:prstGeom prst="rect">
            <a:avLst/>
          </a:prstGeom>
        </p:spPr>
        <p:txBody>
          <a:bodyPr lIns="0" tIns="0" rIns="0" bIns="0" rtlCol="0" anchor="t">
            <a:spAutoFit/>
          </a:bodyPr>
          <a:lstStyle/>
          <a:p>
            <a:pPr algn="l">
              <a:lnSpc>
                <a:spcPts val="2665"/>
              </a:lnSpc>
            </a:pPr>
            <a:r>
              <a:rPr lang="en-US" sz="2750" b="1">
                <a:solidFill>
                  <a:srgbClr val="2657C1"/>
                </a:solidFill>
                <a:latin typeface="TT Fors Bold"/>
                <a:ea typeface="TT Fors Bold"/>
                <a:cs typeface="TT Fors Bold"/>
                <a:sym typeface="TT Fors Bold"/>
              </a:rPr>
              <a:t> RFID</a:t>
            </a:r>
          </a:p>
          <a:p>
            <a:pPr algn="l">
              <a:lnSpc>
                <a:spcPts val="2665"/>
              </a:lnSpc>
            </a:pPr>
            <a:endParaRPr lang="en-US" sz="2750" b="1">
              <a:solidFill>
                <a:srgbClr val="2657C1"/>
              </a:solidFill>
              <a:latin typeface="TT Fors Bold"/>
              <a:ea typeface="TT Fors Bold"/>
              <a:cs typeface="TT Fors Bold"/>
              <a:sym typeface="TT Fors Bold"/>
            </a:endParaRPr>
          </a:p>
        </p:txBody>
      </p:sp>
      <p:grpSp>
        <p:nvGrpSpPr>
          <p:cNvPr id="19" name="Group 19"/>
          <p:cNvGrpSpPr/>
          <p:nvPr/>
        </p:nvGrpSpPr>
        <p:grpSpPr>
          <a:xfrm>
            <a:off x="446094" y="633813"/>
            <a:ext cx="582606" cy="577129"/>
            <a:chOff x="0" y="0"/>
            <a:chExt cx="776808" cy="769506"/>
          </a:xfrm>
        </p:grpSpPr>
        <p:sp>
          <p:nvSpPr>
            <p:cNvPr id="20" name="Freeform 20"/>
            <p:cNvSpPr/>
            <p:nvPr/>
          </p:nvSpPr>
          <p:spPr>
            <a:xfrm>
              <a:off x="0" y="0"/>
              <a:ext cx="776859" cy="769493"/>
            </a:xfrm>
            <a:custGeom>
              <a:avLst/>
              <a:gdLst/>
              <a:ahLst/>
              <a:cxnLst/>
              <a:rect l="l" t="t" r="r" b="b"/>
              <a:pathLst>
                <a:path w="776859" h="769493">
                  <a:moveTo>
                    <a:pt x="0" y="0"/>
                  </a:moveTo>
                  <a:lnTo>
                    <a:pt x="776859" y="0"/>
                  </a:lnTo>
                  <a:lnTo>
                    <a:pt x="776859" y="769493"/>
                  </a:lnTo>
                  <a:lnTo>
                    <a:pt x="0" y="769493"/>
                  </a:lnTo>
                  <a:lnTo>
                    <a:pt x="0" y="0"/>
                  </a:lnTo>
                  <a:close/>
                </a:path>
              </a:pathLst>
            </a:custGeom>
            <a:blipFill>
              <a:blip r:embed="rId9"/>
              <a:stretch>
                <a:fillRect t="-158" r="6" b="-161"/>
              </a:stretch>
            </a:blipFill>
          </p:spPr>
        </p:sp>
      </p:gr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143000" y="2552700"/>
            <a:ext cx="16278225" cy="7536818"/>
            <a:chOff x="0" y="0"/>
            <a:chExt cx="21704300" cy="10049091"/>
          </a:xfrm>
        </p:grpSpPr>
        <p:sp>
          <p:nvSpPr>
            <p:cNvPr id="3" name="Freeform 3"/>
            <p:cNvSpPr/>
            <p:nvPr/>
          </p:nvSpPr>
          <p:spPr>
            <a:xfrm>
              <a:off x="0" y="0"/>
              <a:ext cx="21704300" cy="10049129"/>
            </a:xfrm>
            <a:custGeom>
              <a:avLst/>
              <a:gdLst/>
              <a:ahLst/>
              <a:cxnLst/>
              <a:rect l="l" t="t" r="r" b="b"/>
              <a:pathLst>
                <a:path w="21704300" h="10049129">
                  <a:moveTo>
                    <a:pt x="0" y="0"/>
                  </a:moveTo>
                  <a:lnTo>
                    <a:pt x="21704300" y="0"/>
                  </a:lnTo>
                  <a:lnTo>
                    <a:pt x="21704300" y="10049129"/>
                  </a:lnTo>
                  <a:lnTo>
                    <a:pt x="0" y="10049129"/>
                  </a:lnTo>
                  <a:lnTo>
                    <a:pt x="0" y="0"/>
                  </a:lnTo>
                  <a:close/>
                </a:path>
              </a:pathLst>
            </a:custGeom>
            <a:blipFill>
              <a:blip r:embed="rId2"/>
              <a:stretch>
                <a:fillRect t="-4818" b="-4818"/>
              </a:stretch>
            </a:blipFill>
          </p:spPr>
        </p:sp>
      </p:grpSp>
      <p:grpSp>
        <p:nvGrpSpPr>
          <p:cNvPr id="4" name="Group 4"/>
          <p:cNvGrpSpPr/>
          <p:nvPr/>
        </p:nvGrpSpPr>
        <p:grpSpPr>
          <a:xfrm>
            <a:off x="16535229" y="1181071"/>
            <a:ext cx="2761488" cy="2761488"/>
            <a:chOff x="0" y="0"/>
            <a:chExt cx="3681984" cy="3681984"/>
          </a:xfrm>
        </p:grpSpPr>
        <p:sp>
          <p:nvSpPr>
            <p:cNvPr id="5" name="Freeform 5"/>
            <p:cNvSpPr/>
            <p:nvPr/>
          </p:nvSpPr>
          <p:spPr>
            <a:xfrm>
              <a:off x="0" y="0"/>
              <a:ext cx="3681984" cy="3681984"/>
            </a:xfrm>
            <a:custGeom>
              <a:avLst/>
              <a:gdLst/>
              <a:ahLst/>
              <a:cxnLst/>
              <a:rect l="l" t="t" r="r" b="b"/>
              <a:pathLst>
                <a:path w="3681984" h="3681984">
                  <a:moveTo>
                    <a:pt x="0" y="0"/>
                  </a:moveTo>
                  <a:lnTo>
                    <a:pt x="3681984" y="0"/>
                  </a:lnTo>
                  <a:lnTo>
                    <a:pt x="3681984" y="3681984"/>
                  </a:lnTo>
                  <a:lnTo>
                    <a:pt x="0" y="3681984"/>
                  </a:lnTo>
                  <a:lnTo>
                    <a:pt x="0" y="0"/>
                  </a:lnTo>
                  <a:close/>
                </a:path>
              </a:pathLst>
            </a:custGeom>
            <a:blipFill>
              <a:blip r:embed="rId3"/>
              <a:stretch>
                <a:fillRect/>
              </a:stretch>
            </a:blipFill>
          </p:spPr>
        </p:sp>
      </p:grpSp>
      <p:grpSp>
        <p:nvGrpSpPr>
          <p:cNvPr id="6" name="Group 6"/>
          <p:cNvGrpSpPr/>
          <p:nvPr/>
        </p:nvGrpSpPr>
        <p:grpSpPr>
          <a:xfrm>
            <a:off x="-772297" y="8742007"/>
            <a:ext cx="2587085" cy="2587085"/>
            <a:chOff x="0" y="0"/>
            <a:chExt cx="3449447" cy="3449447"/>
          </a:xfrm>
        </p:grpSpPr>
        <p:sp>
          <p:nvSpPr>
            <p:cNvPr id="7" name="Freeform 7"/>
            <p:cNvSpPr/>
            <p:nvPr/>
          </p:nvSpPr>
          <p:spPr>
            <a:xfrm>
              <a:off x="0" y="0"/>
              <a:ext cx="3449447" cy="3449447"/>
            </a:xfrm>
            <a:custGeom>
              <a:avLst/>
              <a:gdLst/>
              <a:ahLst/>
              <a:cxnLst/>
              <a:rect l="l" t="t" r="r" b="b"/>
              <a:pathLst>
                <a:path w="3449447" h="3449447">
                  <a:moveTo>
                    <a:pt x="0" y="0"/>
                  </a:moveTo>
                  <a:lnTo>
                    <a:pt x="3449447" y="0"/>
                  </a:lnTo>
                  <a:lnTo>
                    <a:pt x="3449447" y="3449447"/>
                  </a:lnTo>
                  <a:lnTo>
                    <a:pt x="0" y="3449447"/>
                  </a:lnTo>
                  <a:lnTo>
                    <a:pt x="0" y="0"/>
                  </a:lnTo>
                  <a:close/>
                </a:path>
              </a:pathLst>
            </a:custGeom>
            <a:blipFill>
              <a:blip r:embed="rId3"/>
              <a:stretch>
                <a:fillRect/>
              </a:stretch>
            </a:blipFill>
          </p:spPr>
        </p:sp>
      </p:grpSp>
      <p:sp>
        <p:nvSpPr>
          <p:cNvPr id="8" name="Freeform 8"/>
          <p:cNvSpPr/>
          <p:nvPr/>
        </p:nvSpPr>
        <p:spPr>
          <a:xfrm>
            <a:off x="16611552" y="5676681"/>
            <a:ext cx="1171375" cy="1171375"/>
          </a:xfrm>
          <a:custGeom>
            <a:avLst/>
            <a:gdLst/>
            <a:ahLst/>
            <a:cxnLst/>
            <a:rect l="l" t="t" r="r" b="b"/>
            <a:pathLst>
              <a:path w="1171375" h="1171375">
                <a:moveTo>
                  <a:pt x="0" y="0"/>
                </a:moveTo>
                <a:lnTo>
                  <a:pt x="1171375" y="0"/>
                </a:lnTo>
                <a:lnTo>
                  <a:pt x="1171375" y="1171375"/>
                </a:lnTo>
                <a:lnTo>
                  <a:pt x="0" y="1171375"/>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9" name="Freeform 9"/>
          <p:cNvSpPr/>
          <p:nvPr/>
        </p:nvSpPr>
        <p:spPr>
          <a:xfrm>
            <a:off x="15842913" y="8742007"/>
            <a:ext cx="4185237" cy="4185237"/>
          </a:xfrm>
          <a:custGeom>
            <a:avLst/>
            <a:gdLst/>
            <a:ahLst/>
            <a:cxnLst/>
            <a:rect l="l" t="t" r="r" b="b"/>
            <a:pathLst>
              <a:path w="4185237" h="4185237">
                <a:moveTo>
                  <a:pt x="0" y="0"/>
                </a:moveTo>
                <a:lnTo>
                  <a:pt x="4185238" y="0"/>
                </a:lnTo>
                <a:lnTo>
                  <a:pt x="4185238" y="4185237"/>
                </a:lnTo>
                <a:lnTo>
                  <a:pt x="0" y="4185237"/>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10" name="Freeform 10"/>
          <p:cNvSpPr/>
          <p:nvPr/>
        </p:nvSpPr>
        <p:spPr>
          <a:xfrm>
            <a:off x="0" y="-180823"/>
            <a:ext cx="18288000" cy="393830"/>
          </a:xfrm>
          <a:custGeom>
            <a:avLst/>
            <a:gdLst/>
            <a:ahLst/>
            <a:cxnLst/>
            <a:rect l="l" t="t" r="r" b="b"/>
            <a:pathLst>
              <a:path w="18288000" h="393830">
                <a:moveTo>
                  <a:pt x="0" y="0"/>
                </a:moveTo>
                <a:lnTo>
                  <a:pt x="18288000" y="0"/>
                </a:lnTo>
                <a:lnTo>
                  <a:pt x="18288000" y="393831"/>
                </a:lnTo>
                <a:lnTo>
                  <a:pt x="0" y="393831"/>
                </a:lnTo>
                <a:lnTo>
                  <a:pt x="0" y="0"/>
                </a:lnTo>
                <a:close/>
              </a:path>
            </a:pathLst>
          </a:custGeom>
          <a:blipFill>
            <a:blip r:embed="rId6">
              <a:extLst>
                <a:ext uri="{96DAC541-7B7A-43D3-8B79-37D633B846F1}">
                  <asvg:svgBlip xmlns:asvg="http://schemas.microsoft.com/office/drawing/2016/SVG/main" xmlns="" r:embed="rId7"/>
                </a:ext>
              </a:extLst>
            </a:blip>
            <a:stretch>
              <a:fillRect t="-788" b="-790"/>
            </a:stretch>
          </a:blipFill>
        </p:spPr>
      </p:sp>
      <p:sp>
        <p:nvSpPr>
          <p:cNvPr id="11" name="Freeform 11"/>
          <p:cNvSpPr/>
          <p:nvPr/>
        </p:nvSpPr>
        <p:spPr>
          <a:xfrm>
            <a:off x="533114" y="2011651"/>
            <a:ext cx="776373" cy="776373"/>
          </a:xfrm>
          <a:custGeom>
            <a:avLst/>
            <a:gdLst/>
            <a:ahLst/>
            <a:cxnLst/>
            <a:rect l="l" t="t" r="r" b="b"/>
            <a:pathLst>
              <a:path w="776373" h="776373">
                <a:moveTo>
                  <a:pt x="0" y="0"/>
                </a:moveTo>
                <a:lnTo>
                  <a:pt x="776373" y="0"/>
                </a:lnTo>
                <a:lnTo>
                  <a:pt x="776373" y="776374"/>
                </a:lnTo>
                <a:lnTo>
                  <a:pt x="0" y="776374"/>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12" name="TextBox 12"/>
          <p:cNvSpPr txBox="1"/>
          <p:nvPr/>
        </p:nvSpPr>
        <p:spPr>
          <a:xfrm>
            <a:off x="9144000" y="536353"/>
            <a:ext cx="1662551" cy="485737"/>
          </a:xfrm>
          <a:prstGeom prst="rect">
            <a:avLst/>
          </a:prstGeom>
        </p:spPr>
        <p:txBody>
          <a:bodyPr lIns="0" tIns="0" rIns="0" bIns="0" rtlCol="0" anchor="t">
            <a:spAutoFit/>
          </a:bodyPr>
          <a:lstStyle/>
          <a:p>
            <a:pPr algn="l">
              <a:lnSpc>
                <a:spcPts val="3149"/>
              </a:lnSpc>
            </a:pPr>
            <a:r>
              <a:rPr lang="en-US" sz="2250">
                <a:solidFill>
                  <a:srgbClr val="2657C1"/>
                </a:solidFill>
                <a:latin typeface="TT Fors"/>
                <a:ea typeface="TT Fors"/>
                <a:cs typeface="TT Fors"/>
                <a:sym typeface="TT Fors"/>
              </a:rPr>
              <a:t>Home</a:t>
            </a:r>
          </a:p>
        </p:txBody>
      </p:sp>
      <p:sp>
        <p:nvSpPr>
          <p:cNvPr id="13" name="TextBox 13"/>
          <p:cNvSpPr txBox="1"/>
          <p:nvPr/>
        </p:nvSpPr>
        <p:spPr>
          <a:xfrm>
            <a:off x="2971600" y="1771831"/>
            <a:ext cx="12920291" cy="642604"/>
          </a:xfrm>
          <a:prstGeom prst="rect">
            <a:avLst/>
          </a:prstGeom>
        </p:spPr>
        <p:txBody>
          <a:bodyPr lIns="0" tIns="0" rIns="0" bIns="0" rtlCol="0" anchor="t">
            <a:spAutoFit/>
          </a:bodyPr>
          <a:lstStyle/>
          <a:p>
            <a:pPr algn="l">
              <a:lnSpc>
                <a:spcPts val="5840"/>
              </a:lnSpc>
            </a:pPr>
            <a:r>
              <a:rPr lang="en-US" sz="6020" spc="-60">
                <a:solidFill>
                  <a:srgbClr val="2657C1"/>
                </a:solidFill>
                <a:latin typeface="Etna Sans Serif"/>
                <a:ea typeface="Etna Sans Serif"/>
                <a:cs typeface="Etna Sans Serif"/>
                <a:sym typeface="Etna Sans Serif"/>
              </a:rPr>
              <a:t>How to Protect Yourself</a:t>
            </a:r>
          </a:p>
        </p:txBody>
      </p:sp>
      <p:sp>
        <p:nvSpPr>
          <p:cNvPr id="14" name="TextBox 14"/>
          <p:cNvSpPr txBox="1"/>
          <p:nvPr/>
        </p:nvSpPr>
        <p:spPr>
          <a:xfrm>
            <a:off x="13726725" y="536353"/>
            <a:ext cx="1916878" cy="485737"/>
          </a:xfrm>
          <a:prstGeom prst="rect">
            <a:avLst/>
          </a:prstGeom>
        </p:spPr>
        <p:txBody>
          <a:bodyPr lIns="0" tIns="0" rIns="0" bIns="0" rtlCol="0" anchor="t">
            <a:spAutoFit/>
          </a:bodyPr>
          <a:lstStyle/>
          <a:p>
            <a:pPr algn="l">
              <a:lnSpc>
                <a:spcPts val="3149"/>
              </a:lnSpc>
            </a:pPr>
            <a:r>
              <a:rPr lang="en-US" sz="2250">
                <a:solidFill>
                  <a:srgbClr val="2657C1"/>
                </a:solidFill>
                <a:latin typeface="TT Fors"/>
                <a:ea typeface="TT Fors"/>
                <a:cs typeface="TT Fors"/>
                <a:sym typeface="TT Fors"/>
              </a:rPr>
              <a:t>Conclusion</a:t>
            </a:r>
          </a:p>
        </p:txBody>
      </p:sp>
      <p:sp>
        <p:nvSpPr>
          <p:cNvPr id="15" name="TextBox 15"/>
          <p:cNvSpPr txBox="1"/>
          <p:nvPr/>
        </p:nvSpPr>
        <p:spPr>
          <a:xfrm>
            <a:off x="16053187" y="538563"/>
            <a:ext cx="1206113" cy="485737"/>
          </a:xfrm>
          <a:prstGeom prst="rect">
            <a:avLst/>
          </a:prstGeom>
        </p:spPr>
        <p:txBody>
          <a:bodyPr lIns="0" tIns="0" rIns="0" bIns="0" rtlCol="0" anchor="t">
            <a:spAutoFit/>
          </a:bodyPr>
          <a:lstStyle/>
          <a:p>
            <a:pPr algn="l">
              <a:lnSpc>
                <a:spcPts val="3149"/>
              </a:lnSpc>
            </a:pPr>
            <a:r>
              <a:rPr lang="en-US" sz="2250">
                <a:solidFill>
                  <a:srgbClr val="2657C1"/>
                </a:solidFill>
                <a:latin typeface="TT Fors"/>
                <a:ea typeface="TT Fors"/>
                <a:cs typeface="TT Fors"/>
                <a:sym typeface="TT Fors"/>
              </a:rPr>
              <a:t>Contact</a:t>
            </a:r>
          </a:p>
        </p:txBody>
      </p:sp>
      <p:sp>
        <p:nvSpPr>
          <p:cNvPr id="16" name="TextBox 16"/>
          <p:cNvSpPr txBox="1"/>
          <p:nvPr/>
        </p:nvSpPr>
        <p:spPr>
          <a:xfrm>
            <a:off x="11362449" y="538563"/>
            <a:ext cx="1907086" cy="485737"/>
          </a:xfrm>
          <a:prstGeom prst="rect">
            <a:avLst/>
          </a:prstGeom>
        </p:spPr>
        <p:txBody>
          <a:bodyPr lIns="0" tIns="0" rIns="0" bIns="0" rtlCol="0" anchor="t">
            <a:spAutoFit/>
          </a:bodyPr>
          <a:lstStyle/>
          <a:p>
            <a:pPr algn="l">
              <a:lnSpc>
                <a:spcPts val="3149"/>
              </a:lnSpc>
            </a:pPr>
            <a:r>
              <a:rPr lang="en-US" sz="2250" b="1">
                <a:solidFill>
                  <a:srgbClr val="2657C1"/>
                </a:solidFill>
                <a:latin typeface="TT Fors Bold"/>
                <a:ea typeface="TT Fors Bold"/>
                <a:cs typeface="TT Fors Bold"/>
                <a:sym typeface="TT Fors Bold"/>
              </a:rPr>
              <a:t>Discussion</a:t>
            </a:r>
          </a:p>
        </p:txBody>
      </p:sp>
      <p:sp>
        <p:nvSpPr>
          <p:cNvPr id="17" name="TextBox 17"/>
          <p:cNvSpPr txBox="1"/>
          <p:nvPr/>
        </p:nvSpPr>
        <p:spPr>
          <a:xfrm>
            <a:off x="1309487" y="577948"/>
            <a:ext cx="921544" cy="632993"/>
          </a:xfrm>
          <a:prstGeom prst="rect">
            <a:avLst/>
          </a:prstGeom>
        </p:spPr>
        <p:txBody>
          <a:bodyPr lIns="0" tIns="0" rIns="0" bIns="0" rtlCol="0" anchor="t">
            <a:spAutoFit/>
          </a:bodyPr>
          <a:lstStyle/>
          <a:p>
            <a:pPr algn="l">
              <a:lnSpc>
                <a:spcPts val="2665"/>
              </a:lnSpc>
            </a:pPr>
            <a:r>
              <a:rPr lang="en-US" sz="2750" b="1">
                <a:solidFill>
                  <a:srgbClr val="2657C1"/>
                </a:solidFill>
                <a:latin typeface="TT Fors Bold"/>
                <a:ea typeface="TT Fors Bold"/>
                <a:cs typeface="TT Fors Bold"/>
                <a:sym typeface="TT Fors Bold"/>
              </a:rPr>
              <a:t> RFID</a:t>
            </a:r>
          </a:p>
          <a:p>
            <a:pPr algn="l">
              <a:lnSpc>
                <a:spcPts val="2665"/>
              </a:lnSpc>
            </a:pPr>
            <a:endParaRPr lang="en-US" sz="2750" b="1">
              <a:solidFill>
                <a:srgbClr val="2657C1"/>
              </a:solidFill>
              <a:latin typeface="TT Fors Bold"/>
              <a:ea typeface="TT Fors Bold"/>
              <a:cs typeface="TT Fors Bold"/>
              <a:sym typeface="TT Fors Bold"/>
            </a:endParaRPr>
          </a:p>
        </p:txBody>
      </p:sp>
      <p:grpSp>
        <p:nvGrpSpPr>
          <p:cNvPr id="18" name="Group 18"/>
          <p:cNvGrpSpPr/>
          <p:nvPr/>
        </p:nvGrpSpPr>
        <p:grpSpPr>
          <a:xfrm>
            <a:off x="446094" y="633813"/>
            <a:ext cx="582606" cy="577129"/>
            <a:chOff x="0" y="0"/>
            <a:chExt cx="776808" cy="769506"/>
          </a:xfrm>
        </p:grpSpPr>
        <p:sp>
          <p:nvSpPr>
            <p:cNvPr id="19" name="Freeform 19"/>
            <p:cNvSpPr/>
            <p:nvPr/>
          </p:nvSpPr>
          <p:spPr>
            <a:xfrm>
              <a:off x="0" y="0"/>
              <a:ext cx="776859" cy="769493"/>
            </a:xfrm>
            <a:custGeom>
              <a:avLst/>
              <a:gdLst/>
              <a:ahLst/>
              <a:cxnLst/>
              <a:rect l="l" t="t" r="r" b="b"/>
              <a:pathLst>
                <a:path w="776859" h="769493">
                  <a:moveTo>
                    <a:pt x="0" y="0"/>
                  </a:moveTo>
                  <a:lnTo>
                    <a:pt x="776859" y="0"/>
                  </a:lnTo>
                  <a:lnTo>
                    <a:pt x="776859" y="769493"/>
                  </a:lnTo>
                  <a:lnTo>
                    <a:pt x="0" y="769493"/>
                  </a:lnTo>
                  <a:lnTo>
                    <a:pt x="0" y="0"/>
                  </a:lnTo>
                  <a:close/>
                </a:path>
              </a:pathLst>
            </a:custGeom>
            <a:blipFill>
              <a:blip r:embed="rId8"/>
              <a:stretch>
                <a:fillRect t="-158" r="6" b="-161"/>
              </a:stretch>
            </a:blipFill>
          </p:spPr>
        </p:sp>
      </p:gr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7259300" y="1677724"/>
            <a:ext cx="1765364" cy="1765364"/>
            <a:chOff x="0" y="0"/>
            <a:chExt cx="2353818" cy="2353818"/>
          </a:xfrm>
        </p:grpSpPr>
        <p:sp>
          <p:nvSpPr>
            <p:cNvPr id="3" name="Freeform 3"/>
            <p:cNvSpPr/>
            <p:nvPr/>
          </p:nvSpPr>
          <p:spPr>
            <a:xfrm>
              <a:off x="0" y="0"/>
              <a:ext cx="2353818" cy="2353818"/>
            </a:xfrm>
            <a:custGeom>
              <a:avLst/>
              <a:gdLst/>
              <a:ahLst/>
              <a:cxnLst/>
              <a:rect l="l" t="t" r="r" b="b"/>
              <a:pathLst>
                <a:path w="2353818" h="2353818">
                  <a:moveTo>
                    <a:pt x="0" y="0"/>
                  </a:moveTo>
                  <a:lnTo>
                    <a:pt x="2353818" y="0"/>
                  </a:lnTo>
                  <a:lnTo>
                    <a:pt x="2353818" y="2353818"/>
                  </a:lnTo>
                  <a:lnTo>
                    <a:pt x="0" y="2353818"/>
                  </a:lnTo>
                  <a:lnTo>
                    <a:pt x="0" y="0"/>
                  </a:lnTo>
                  <a:close/>
                </a:path>
              </a:pathLst>
            </a:custGeom>
            <a:blipFill>
              <a:blip r:embed="rId2"/>
              <a:stretch>
                <a:fillRect/>
              </a:stretch>
            </a:blipFill>
          </p:spPr>
        </p:sp>
      </p:grpSp>
      <p:grpSp>
        <p:nvGrpSpPr>
          <p:cNvPr id="4" name="Group 4"/>
          <p:cNvGrpSpPr/>
          <p:nvPr/>
        </p:nvGrpSpPr>
        <p:grpSpPr>
          <a:xfrm>
            <a:off x="-1483604" y="8908952"/>
            <a:ext cx="2967228" cy="2967228"/>
            <a:chOff x="0" y="0"/>
            <a:chExt cx="3956304" cy="3956304"/>
          </a:xfrm>
        </p:grpSpPr>
        <p:sp>
          <p:nvSpPr>
            <p:cNvPr id="5" name="Freeform 5"/>
            <p:cNvSpPr/>
            <p:nvPr/>
          </p:nvSpPr>
          <p:spPr>
            <a:xfrm>
              <a:off x="0" y="0"/>
              <a:ext cx="3956304" cy="3956304"/>
            </a:xfrm>
            <a:custGeom>
              <a:avLst/>
              <a:gdLst/>
              <a:ahLst/>
              <a:cxnLst/>
              <a:rect l="l" t="t" r="r" b="b"/>
              <a:pathLst>
                <a:path w="3956304" h="3956304">
                  <a:moveTo>
                    <a:pt x="0" y="0"/>
                  </a:moveTo>
                  <a:lnTo>
                    <a:pt x="3956304" y="0"/>
                  </a:lnTo>
                  <a:lnTo>
                    <a:pt x="3956304" y="3956304"/>
                  </a:lnTo>
                  <a:lnTo>
                    <a:pt x="0" y="3956304"/>
                  </a:lnTo>
                  <a:lnTo>
                    <a:pt x="0" y="0"/>
                  </a:lnTo>
                  <a:close/>
                </a:path>
              </a:pathLst>
            </a:custGeom>
            <a:blipFill>
              <a:blip r:embed="rId2"/>
              <a:stretch>
                <a:fillRect/>
              </a:stretch>
            </a:blipFill>
          </p:spPr>
        </p:sp>
      </p:grpSp>
      <p:sp>
        <p:nvSpPr>
          <p:cNvPr id="6" name="Freeform 6"/>
          <p:cNvSpPr/>
          <p:nvPr/>
        </p:nvSpPr>
        <p:spPr>
          <a:xfrm>
            <a:off x="16053187" y="8908952"/>
            <a:ext cx="3369164" cy="3369164"/>
          </a:xfrm>
          <a:custGeom>
            <a:avLst/>
            <a:gdLst/>
            <a:ahLst/>
            <a:cxnLst/>
            <a:rect l="l" t="t" r="r" b="b"/>
            <a:pathLst>
              <a:path w="3369164" h="3369164">
                <a:moveTo>
                  <a:pt x="0" y="0"/>
                </a:moveTo>
                <a:lnTo>
                  <a:pt x="3369164" y="0"/>
                </a:lnTo>
                <a:lnTo>
                  <a:pt x="3369164" y="3369164"/>
                </a:lnTo>
                <a:lnTo>
                  <a:pt x="0" y="3369164"/>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sp>
        <p:nvSpPr>
          <p:cNvPr id="7" name="Freeform 7"/>
          <p:cNvSpPr/>
          <p:nvPr/>
        </p:nvSpPr>
        <p:spPr>
          <a:xfrm>
            <a:off x="0" y="-180823"/>
            <a:ext cx="18288000" cy="393830"/>
          </a:xfrm>
          <a:custGeom>
            <a:avLst/>
            <a:gdLst/>
            <a:ahLst/>
            <a:cxnLst/>
            <a:rect l="l" t="t" r="r" b="b"/>
            <a:pathLst>
              <a:path w="18288000" h="393830">
                <a:moveTo>
                  <a:pt x="0" y="0"/>
                </a:moveTo>
                <a:lnTo>
                  <a:pt x="18288000" y="0"/>
                </a:lnTo>
                <a:lnTo>
                  <a:pt x="18288000" y="393831"/>
                </a:lnTo>
                <a:lnTo>
                  <a:pt x="0" y="393831"/>
                </a:lnTo>
                <a:lnTo>
                  <a:pt x="0" y="0"/>
                </a:lnTo>
                <a:close/>
              </a:path>
            </a:pathLst>
          </a:custGeom>
          <a:blipFill>
            <a:blip r:embed="rId5">
              <a:extLst>
                <a:ext uri="{96DAC541-7B7A-43D3-8B79-37D633B846F1}">
                  <asvg:svgBlip xmlns:asvg="http://schemas.microsoft.com/office/drawing/2016/SVG/main" xmlns="" r:embed="rId6"/>
                </a:ext>
              </a:extLst>
            </a:blip>
            <a:stretch>
              <a:fillRect t="-788" b="-790"/>
            </a:stretch>
          </a:blipFill>
        </p:spPr>
      </p:sp>
      <p:grpSp>
        <p:nvGrpSpPr>
          <p:cNvPr id="8" name="Group 8"/>
          <p:cNvGrpSpPr/>
          <p:nvPr/>
        </p:nvGrpSpPr>
        <p:grpSpPr>
          <a:xfrm>
            <a:off x="8955062" y="2560382"/>
            <a:ext cx="8855774" cy="6903815"/>
            <a:chOff x="0" y="0"/>
            <a:chExt cx="11807698" cy="9205087"/>
          </a:xfrm>
        </p:grpSpPr>
        <p:sp>
          <p:nvSpPr>
            <p:cNvPr id="9" name="Freeform 9"/>
            <p:cNvSpPr/>
            <p:nvPr/>
          </p:nvSpPr>
          <p:spPr>
            <a:xfrm>
              <a:off x="0" y="0"/>
              <a:ext cx="11807698" cy="9205087"/>
            </a:xfrm>
            <a:custGeom>
              <a:avLst/>
              <a:gdLst/>
              <a:ahLst/>
              <a:cxnLst/>
              <a:rect l="l" t="t" r="r" b="b"/>
              <a:pathLst>
                <a:path w="11807698" h="9205087">
                  <a:moveTo>
                    <a:pt x="0" y="0"/>
                  </a:moveTo>
                  <a:lnTo>
                    <a:pt x="11807698" y="0"/>
                  </a:lnTo>
                  <a:lnTo>
                    <a:pt x="11807698" y="9205087"/>
                  </a:lnTo>
                  <a:lnTo>
                    <a:pt x="0" y="9205087"/>
                  </a:lnTo>
                  <a:lnTo>
                    <a:pt x="0" y="0"/>
                  </a:lnTo>
                  <a:close/>
                </a:path>
              </a:pathLst>
            </a:custGeom>
            <a:blipFill>
              <a:blip r:embed="rId7"/>
              <a:stretch>
                <a:fillRect t="-41" b="-41"/>
              </a:stretch>
            </a:blipFill>
          </p:spPr>
        </p:sp>
      </p:grpSp>
      <p:sp>
        <p:nvSpPr>
          <p:cNvPr id="10" name="TextBox 10"/>
          <p:cNvSpPr txBox="1"/>
          <p:nvPr/>
        </p:nvSpPr>
        <p:spPr>
          <a:xfrm>
            <a:off x="9144000" y="536353"/>
            <a:ext cx="1662551" cy="485737"/>
          </a:xfrm>
          <a:prstGeom prst="rect">
            <a:avLst/>
          </a:prstGeom>
        </p:spPr>
        <p:txBody>
          <a:bodyPr lIns="0" tIns="0" rIns="0" bIns="0" rtlCol="0" anchor="t">
            <a:spAutoFit/>
          </a:bodyPr>
          <a:lstStyle/>
          <a:p>
            <a:pPr algn="l">
              <a:lnSpc>
                <a:spcPts val="3149"/>
              </a:lnSpc>
            </a:pPr>
            <a:r>
              <a:rPr lang="en-US" sz="2250">
                <a:solidFill>
                  <a:srgbClr val="2657C1"/>
                </a:solidFill>
                <a:latin typeface="TT Fors"/>
                <a:ea typeface="TT Fors"/>
                <a:cs typeface="TT Fors"/>
                <a:sym typeface="TT Fors"/>
              </a:rPr>
              <a:t>Home</a:t>
            </a:r>
          </a:p>
        </p:txBody>
      </p:sp>
      <p:sp>
        <p:nvSpPr>
          <p:cNvPr id="11" name="TextBox 11"/>
          <p:cNvSpPr txBox="1"/>
          <p:nvPr/>
        </p:nvSpPr>
        <p:spPr>
          <a:xfrm>
            <a:off x="1028700" y="3106179"/>
            <a:ext cx="6783857" cy="921468"/>
          </a:xfrm>
          <a:prstGeom prst="rect">
            <a:avLst/>
          </a:prstGeom>
        </p:spPr>
        <p:txBody>
          <a:bodyPr lIns="0" tIns="0" rIns="0" bIns="0" rtlCol="0" anchor="t">
            <a:spAutoFit/>
          </a:bodyPr>
          <a:lstStyle/>
          <a:p>
            <a:pPr algn="l">
              <a:lnSpc>
                <a:spcPts val="10594"/>
              </a:lnSpc>
            </a:pPr>
            <a:r>
              <a:rPr lang="en-US" sz="10919" spc="-107">
                <a:solidFill>
                  <a:srgbClr val="2657C1"/>
                </a:solidFill>
                <a:latin typeface="Etna Sans Serif"/>
                <a:ea typeface="Etna Sans Serif"/>
                <a:cs typeface="Etna Sans Serif"/>
                <a:sym typeface="Etna Sans Serif"/>
              </a:rPr>
              <a:t>Conclusion</a:t>
            </a:r>
          </a:p>
        </p:txBody>
      </p:sp>
      <p:sp>
        <p:nvSpPr>
          <p:cNvPr id="12" name="TextBox 12"/>
          <p:cNvSpPr txBox="1"/>
          <p:nvPr/>
        </p:nvSpPr>
        <p:spPr>
          <a:xfrm>
            <a:off x="364170" y="4389596"/>
            <a:ext cx="8590892" cy="5117862"/>
          </a:xfrm>
          <a:prstGeom prst="rect">
            <a:avLst/>
          </a:prstGeom>
        </p:spPr>
        <p:txBody>
          <a:bodyPr lIns="0" tIns="0" rIns="0" bIns="0" rtlCol="0" anchor="t">
            <a:spAutoFit/>
          </a:bodyPr>
          <a:lstStyle/>
          <a:p>
            <a:pPr algn="ctr" rtl="1">
              <a:lnSpc>
                <a:spcPts val="4563"/>
              </a:lnSpc>
            </a:pPr>
            <a:endParaRPr/>
          </a:p>
          <a:p>
            <a:pPr algn="ctr">
              <a:lnSpc>
                <a:spcPts val="4563"/>
              </a:lnSpc>
            </a:pPr>
            <a:r>
              <a:rPr lang="en-US" sz="3259">
                <a:solidFill>
                  <a:srgbClr val="2657C1"/>
                </a:solidFill>
                <a:latin typeface="TT Fors"/>
                <a:ea typeface="TT Fors"/>
                <a:cs typeface="TT Fors"/>
                <a:sym typeface="TT Fors"/>
              </a:rPr>
              <a:t>RFID is widely used in many areas, but its security depends on the system used. Old cards are not secure and can be easily cloned, while modern encrypted systems are safer. Strong security requires multiple layers like updated hardware, monitoring, and user awareness.</a:t>
            </a:r>
          </a:p>
          <a:p>
            <a:pPr algn="ctr">
              <a:lnSpc>
                <a:spcPts val="4563"/>
              </a:lnSpc>
            </a:pPr>
            <a:endParaRPr lang="en-US" sz="3259">
              <a:solidFill>
                <a:srgbClr val="2657C1"/>
              </a:solidFill>
              <a:latin typeface="TT Fors"/>
              <a:ea typeface="TT Fors"/>
              <a:cs typeface="TT Fors"/>
              <a:sym typeface="TT Fors"/>
            </a:endParaRPr>
          </a:p>
        </p:txBody>
      </p:sp>
      <p:sp>
        <p:nvSpPr>
          <p:cNvPr id="13" name="TextBox 13"/>
          <p:cNvSpPr txBox="1"/>
          <p:nvPr/>
        </p:nvSpPr>
        <p:spPr>
          <a:xfrm>
            <a:off x="13726725" y="536353"/>
            <a:ext cx="1916878" cy="485737"/>
          </a:xfrm>
          <a:prstGeom prst="rect">
            <a:avLst/>
          </a:prstGeom>
        </p:spPr>
        <p:txBody>
          <a:bodyPr lIns="0" tIns="0" rIns="0" bIns="0" rtlCol="0" anchor="t">
            <a:spAutoFit/>
          </a:bodyPr>
          <a:lstStyle/>
          <a:p>
            <a:pPr algn="l">
              <a:lnSpc>
                <a:spcPts val="3149"/>
              </a:lnSpc>
            </a:pPr>
            <a:r>
              <a:rPr lang="en-US" sz="2250" b="1">
                <a:solidFill>
                  <a:srgbClr val="2657C1"/>
                </a:solidFill>
                <a:latin typeface="TT Fors Bold"/>
                <a:ea typeface="TT Fors Bold"/>
                <a:cs typeface="TT Fors Bold"/>
                <a:sym typeface="TT Fors Bold"/>
              </a:rPr>
              <a:t>Conclusion</a:t>
            </a:r>
          </a:p>
        </p:txBody>
      </p:sp>
      <p:sp>
        <p:nvSpPr>
          <p:cNvPr id="14" name="TextBox 14"/>
          <p:cNvSpPr txBox="1"/>
          <p:nvPr/>
        </p:nvSpPr>
        <p:spPr>
          <a:xfrm>
            <a:off x="16053187" y="538563"/>
            <a:ext cx="1206113" cy="485737"/>
          </a:xfrm>
          <a:prstGeom prst="rect">
            <a:avLst/>
          </a:prstGeom>
        </p:spPr>
        <p:txBody>
          <a:bodyPr lIns="0" tIns="0" rIns="0" bIns="0" rtlCol="0" anchor="t">
            <a:spAutoFit/>
          </a:bodyPr>
          <a:lstStyle/>
          <a:p>
            <a:pPr algn="l">
              <a:lnSpc>
                <a:spcPts val="3149"/>
              </a:lnSpc>
            </a:pPr>
            <a:r>
              <a:rPr lang="en-US" sz="2250">
                <a:solidFill>
                  <a:srgbClr val="2657C1"/>
                </a:solidFill>
                <a:latin typeface="TT Fors"/>
                <a:ea typeface="TT Fors"/>
                <a:cs typeface="TT Fors"/>
                <a:sym typeface="TT Fors"/>
              </a:rPr>
              <a:t>Contact</a:t>
            </a:r>
          </a:p>
        </p:txBody>
      </p:sp>
      <p:sp>
        <p:nvSpPr>
          <p:cNvPr id="15" name="TextBox 15"/>
          <p:cNvSpPr txBox="1"/>
          <p:nvPr/>
        </p:nvSpPr>
        <p:spPr>
          <a:xfrm>
            <a:off x="11362449" y="538563"/>
            <a:ext cx="1907086" cy="485737"/>
          </a:xfrm>
          <a:prstGeom prst="rect">
            <a:avLst/>
          </a:prstGeom>
        </p:spPr>
        <p:txBody>
          <a:bodyPr lIns="0" tIns="0" rIns="0" bIns="0" rtlCol="0" anchor="t">
            <a:spAutoFit/>
          </a:bodyPr>
          <a:lstStyle/>
          <a:p>
            <a:pPr algn="l">
              <a:lnSpc>
                <a:spcPts val="3149"/>
              </a:lnSpc>
            </a:pPr>
            <a:r>
              <a:rPr lang="en-US" sz="2250">
                <a:solidFill>
                  <a:srgbClr val="2657C1"/>
                </a:solidFill>
                <a:latin typeface="TT Fors"/>
                <a:ea typeface="TT Fors"/>
                <a:cs typeface="TT Fors"/>
                <a:sym typeface="TT Fors"/>
              </a:rPr>
              <a:t>Discussion</a:t>
            </a:r>
          </a:p>
        </p:txBody>
      </p:sp>
      <p:sp>
        <p:nvSpPr>
          <p:cNvPr id="16" name="Freeform 16"/>
          <p:cNvSpPr/>
          <p:nvPr/>
        </p:nvSpPr>
        <p:spPr>
          <a:xfrm>
            <a:off x="7880594" y="2172195"/>
            <a:ext cx="776373" cy="776373"/>
          </a:xfrm>
          <a:custGeom>
            <a:avLst/>
            <a:gdLst/>
            <a:ahLst/>
            <a:cxnLst/>
            <a:rect l="l" t="t" r="r" b="b"/>
            <a:pathLst>
              <a:path w="776373" h="776373">
                <a:moveTo>
                  <a:pt x="0" y="0"/>
                </a:moveTo>
                <a:lnTo>
                  <a:pt x="776374" y="0"/>
                </a:lnTo>
                <a:lnTo>
                  <a:pt x="776374" y="776374"/>
                </a:lnTo>
                <a:lnTo>
                  <a:pt x="0" y="776374"/>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sp>
        <p:nvSpPr>
          <p:cNvPr id="17" name="TextBox 17"/>
          <p:cNvSpPr txBox="1"/>
          <p:nvPr/>
        </p:nvSpPr>
        <p:spPr>
          <a:xfrm>
            <a:off x="1284518" y="515112"/>
            <a:ext cx="921544" cy="632993"/>
          </a:xfrm>
          <a:prstGeom prst="rect">
            <a:avLst/>
          </a:prstGeom>
        </p:spPr>
        <p:txBody>
          <a:bodyPr lIns="0" tIns="0" rIns="0" bIns="0" rtlCol="0" anchor="t">
            <a:spAutoFit/>
          </a:bodyPr>
          <a:lstStyle/>
          <a:p>
            <a:pPr algn="l">
              <a:lnSpc>
                <a:spcPts val="2665"/>
              </a:lnSpc>
            </a:pPr>
            <a:r>
              <a:rPr lang="en-US" sz="2750" b="1">
                <a:solidFill>
                  <a:srgbClr val="2657C1"/>
                </a:solidFill>
                <a:latin typeface="TT Fors Bold"/>
                <a:ea typeface="TT Fors Bold"/>
                <a:cs typeface="TT Fors Bold"/>
                <a:sym typeface="TT Fors Bold"/>
              </a:rPr>
              <a:t> RFID</a:t>
            </a:r>
          </a:p>
          <a:p>
            <a:pPr algn="l">
              <a:lnSpc>
                <a:spcPts val="2665"/>
              </a:lnSpc>
            </a:pPr>
            <a:endParaRPr lang="en-US" sz="2750" b="1">
              <a:solidFill>
                <a:srgbClr val="2657C1"/>
              </a:solidFill>
              <a:latin typeface="TT Fors Bold"/>
              <a:ea typeface="TT Fors Bold"/>
              <a:cs typeface="TT Fors Bold"/>
              <a:sym typeface="TT Fors Bold"/>
            </a:endParaRPr>
          </a:p>
        </p:txBody>
      </p:sp>
      <p:grpSp>
        <p:nvGrpSpPr>
          <p:cNvPr id="18" name="Group 18"/>
          <p:cNvGrpSpPr/>
          <p:nvPr/>
        </p:nvGrpSpPr>
        <p:grpSpPr>
          <a:xfrm>
            <a:off x="446094" y="633813"/>
            <a:ext cx="582606" cy="577129"/>
            <a:chOff x="0" y="0"/>
            <a:chExt cx="776808" cy="769506"/>
          </a:xfrm>
        </p:grpSpPr>
        <p:sp>
          <p:nvSpPr>
            <p:cNvPr id="19" name="Freeform 19"/>
            <p:cNvSpPr/>
            <p:nvPr/>
          </p:nvSpPr>
          <p:spPr>
            <a:xfrm>
              <a:off x="0" y="0"/>
              <a:ext cx="776859" cy="769493"/>
            </a:xfrm>
            <a:custGeom>
              <a:avLst/>
              <a:gdLst/>
              <a:ahLst/>
              <a:cxnLst/>
              <a:rect l="l" t="t" r="r" b="b"/>
              <a:pathLst>
                <a:path w="776859" h="769493">
                  <a:moveTo>
                    <a:pt x="0" y="0"/>
                  </a:moveTo>
                  <a:lnTo>
                    <a:pt x="776859" y="0"/>
                  </a:lnTo>
                  <a:lnTo>
                    <a:pt x="776859" y="769493"/>
                  </a:lnTo>
                  <a:lnTo>
                    <a:pt x="0" y="769493"/>
                  </a:lnTo>
                  <a:lnTo>
                    <a:pt x="0" y="0"/>
                  </a:lnTo>
                  <a:close/>
                </a:path>
              </a:pathLst>
            </a:custGeom>
            <a:blipFill>
              <a:blip r:embed="rId8"/>
              <a:stretch>
                <a:fillRect t="-158" r="6" b="-161"/>
              </a:stretch>
            </a:blipFill>
          </p:spPr>
        </p:sp>
      </p:gr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329489" y="2011651"/>
            <a:ext cx="2761488" cy="2761488"/>
            <a:chOff x="0" y="0"/>
            <a:chExt cx="3681984" cy="3681984"/>
          </a:xfrm>
        </p:grpSpPr>
        <p:sp>
          <p:nvSpPr>
            <p:cNvPr id="3" name="Freeform 3"/>
            <p:cNvSpPr/>
            <p:nvPr/>
          </p:nvSpPr>
          <p:spPr>
            <a:xfrm>
              <a:off x="0" y="0"/>
              <a:ext cx="3681984" cy="3681984"/>
            </a:xfrm>
            <a:custGeom>
              <a:avLst/>
              <a:gdLst/>
              <a:ahLst/>
              <a:cxnLst/>
              <a:rect l="l" t="t" r="r" b="b"/>
              <a:pathLst>
                <a:path w="3681984" h="3681984">
                  <a:moveTo>
                    <a:pt x="0" y="0"/>
                  </a:moveTo>
                  <a:lnTo>
                    <a:pt x="3681984" y="0"/>
                  </a:lnTo>
                  <a:lnTo>
                    <a:pt x="3681984" y="3681984"/>
                  </a:lnTo>
                  <a:lnTo>
                    <a:pt x="0" y="3681984"/>
                  </a:lnTo>
                  <a:lnTo>
                    <a:pt x="0" y="0"/>
                  </a:lnTo>
                  <a:close/>
                </a:path>
              </a:pathLst>
            </a:custGeom>
            <a:blipFill>
              <a:blip r:embed="rId2"/>
              <a:stretch>
                <a:fillRect/>
              </a:stretch>
            </a:blipFill>
          </p:spPr>
        </p:sp>
      </p:grpSp>
      <p:grpSp>
        <p:nvGrpSpPr>
          <p:cNvPr id="4" name="Group 4"/>
          <p:cNvGrpSpPr/>
          <p:nvPr/>
        </p:nvGrpSpPr>
        <p:grpSpPr>
          <a:xfrm>
            <a:off x="-772297" y="8742007"/>
            <a:ext cx="2587085" cy="2587085"/>
            <a:chOff x="0" y="0"/>
            <a:chExt cx="3449447" cy="3449447"/>
          </a:xfrm>
        </p:grpSpPr>
        <p:sp>
          <p:nvSpPr>
            <p:cNvPr id="5" name="Freeform 5"/>
            <p:cNvSpPr/>
            <p:nvPr/>
          </p:nvSpPr>
          <p:spPr>
            <a:xfrm>
              <a:off x="0" y="0"/>
              <a:ext cx="3449447" cy="3449447"/>
            </a:xfrm>
            <a:custGeom>
              <a:avLst/>
              <a:gdLst/>
              <a:ahLst/>
              <a:cxnLst/>
              <a:rect l="l" t="t" r="r" b="b"/>
              <a:pathLst>
                <a:path w="3449447" h="3449447">
                  <a:moveTo>
                    <a:pt x="0" y="0"/>
                  </a:moveTo>
                  <a:lnTo>
                    <a:pt x="3449447" y="0"/>
                  </a:lnTo>
                  <a:lnTo>
                    <a:pt x="3449447" y="3449447"/>
                  </a:lnTo>
                  <a:lnTo>
                    <a:pt x="0" y="3449447"/>
                  </a:lnTo>
                  <a:lnTo>
                    <a:pt x="0" y="0"/>
                  </a:lnTo>
                  <a:close/>
                </a:path>
              </a:pathLst>
            </a:custGeom>
            <a:blipFill>
              <a:blip r:embed="rId2"/>
              <a:stretch>
                <a:fillRect/>
              </a:stretch>
            </a:blipFill>
          </p:spPr>
        </p:sp>
      </p:grpSp>
      <p:sp>
        <p:nvSpPr>
          <p:cNvPr id="6" name="Freeform 6"/>
          <p:cNvSpPr/>
          <p:nvPr/>
        </p:nvSpPr>
        <p:spPr>
          <a:xfrm>
            <a:off x="15842913" y="8742007"/>
            <a:ext cx="4185237" cy="4185237"/>
          </a:xfrm>
          <a:custGeom>
            <a:avLst/>
            <a:gdLst/>
            <a:ahLst/>
            <a:cxnLst/>
            <a:rect l="l" t="t" r="r" b="b"/>
            <a:pathLst>
              <a:path w="4185237" h="4185237">
                <a:moveTo>
                  <a:pt x="0" y="0"/>
                </a:moveTo>
                <a:lnTo>
                  <a:pt x="4185238" y="0"/>
                </a:lnTo>
                <a:lnTo>
                  <a:pt x="4185238" y="4185237"/>
                </a:lnTo>
                <a:lnTo>
                  <a:pt x="0" y="4185237"/>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sp>
        <p:nvSpPr>
          <p:cNvPr id="7" name="Freeform 7"/>
          <p:cNvSpPr/>
          <p:nvPr/>
        </p:nvSpPr>
        <p:spPr>
          <a:xfrm>
            <a:off x="0" y="-180823"/>
            <a:ext cx="18288000" cy="393830"/>
          </a:xfrm>
          <a:custGeom>
            <a:avLst/>
            <a:gdLst/>
            <a:ahLst/>
            <a:cxnLst/>
            <a:rect l="l" t="t" r="r" b="b"/>
            <a:pathLst>
              <a:path w="18288000" h="393830">
                <a:moveTo>
                  <a:pt x="0" y="0"/>
                </a:moveTo>
                <a:lnTo>
                  <a:pt x="18288000" y="0"/>
                </a:lnTo>
                <a:lnTo>
                  <a:pt x="18288000" y="393831"/>
                </a:lnTo>
                <a:lnTo>
                  <a:pt x="0" y="393831"/>
                </a:lnTo>
                <a:lnTo>
                  <a:pt x="0" y="0"/>
                </a:lnTo>
                <a:close/>
              </a:path>
            </a:pathLst>
          </a:custGeom>
          <a:blipFill>
            <a:blip r:embed="rId5">
              <a:extLst>
                <a:ext uri="{96DAC541-7B7A-43D3-8B79-37D633B846F1}">
                  <asvg:svgBlip xmlns:asvg="http://schemas.microsoft.com/office/drawing/2016/SVG/main" xmlns="" r:embed="rId6"/>
                </a:ext>
              </a:extLst>
            </a:blip>
            <a:stretch>
              <a:fillRect t="-788" b="-790"/>
            </a:stretch>
          </a:blipFill>
        </p:spPr>
      </p:sp>
      <p:sp>
        <p:nvSpPr>
          <p:cNvPr id="8" name="Freeform 8"/>
          <p:cNvSpPr/>
          <p:nvPr/>
        </p:nvSpPr>
        <p:spPr>
          <a:xfrm>
            <a:off x="1426559" y="2011651"/>
            <a:ext cx="776373" cy="776373"/>
          </a:xfrm>
          <a:custGeom>
            <a:avLst/>
            <a:gdLst/>
            <a:ahLst/>
            <a:cxnLst/>
            <a:rect l="l" t="t" r="r" b="b"/>
            <a:pathLst>
              <a:path w="776373" h="776373">
                <a:moveTo>
                  <a:pt x="0" y="0"/>
                </a:moveTo>
                <a:lnTo>
                  <a:pt x="776373" y="0"/>
                </a:lnTo>
                <a:lnTo>
                  <a:pt x="776373" y="776374"/>
                </a:lnTo>
                <a:lnTo>
                  <a:pt x="0" y="776374"/>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sp>
        <p:nvSpPr>
          <p:cNvPr id="9" name="TextBox 9"/>
          <p:cNvSpPr txBox="1"/>
          <p:nvPr/>
        </p:nvSpPr>
        <p:spPr>
          <a:xfrm>
            <a:off x="9144000" y="536353"/>
            <a:ext cx="1662551" cy="485737"/>
          </a:xfrm>
          <a:prstGeom prst="rect">
            <a:avLst/>
          </a:prstGeom>
        </p:spPr>
        <p:txBody>
          <a:bodyPr lIns="0" tIns="0" rIns="0" bIns="0" rtlCol="0" anchor="t">
            <a:spAutoFit/>
          </a:bodyPr>
          <a:lstStyle/>
          <a:p>
            <a:pPr algn="l">
              <a:lnSpc>
                <a:spcPts val="3149"/>
              </a:lnSpc>
            </a:pPr>
            <a:r>
              <a:rPr lang="en-US" sz="2250">
                <a:solidFill>
                  <a:srgbClr val="2657C1"/>
                </a:solidFill>
                <a:latin typeface="TT Fors"/>
                <a:ea typeface="TT Fors"/>
                <a:cs typeface="TT Fors"/>
                <a:sym typeface="TT Fors"/>
              </a:rPr>
              <a:t>Home</a:t>
            </a:r>
          </a:p>
        </p:txBody>
      </p:sp>
      <p:sp>
        <p:nvSpPr>
          <p:cNvPr id="10" name="TextBox 10"/>
          <p:cNvSpPr txBox="1"/>
          <p:nvPr/>
        </p:nvSpPr>
        <p:spPr>
          <a:xfrm>
            <a:off x="3132887" y="2211886"/>
            <a:ext cx="12920291" cy="615315"/>
          </a:xfrm>
          <a:prstGeom prst="rect">
            <a:avLst/>
          </a:prstGeom>
        </p:spPr>
        <p:txBody>
          <a:bodyPr lIns="0" tIns="0" rIns="0" bIns="0" rtlCol="0" anchor="t">
            <a:spAutoFit/>
          </a:bodyPr>
          <a:lstStyle/>
          <a:p>
            <a:pPr algn="l">
              <a:lnSpc>
                <a:spcPts val="5840"/>
              </a:lnSpc>
            </a:pPr>
            <a:r>
              <a:rPr lang="en-US" sz="6020" spc="-60">
                <a:solidFill>
                  <a:srgbClr val="2657C1"/>
                </a:solidFill>
                <a:latin typeface="Etna Sans Serif"/>
                <a:ea typeface="Etna Sans Serif"/>
                <a:cs typeface="Etna Sans Serif"/>
                <a:sym typeface="Etna Sans Serif"/>
              </a:rPr>
              <a:t>References</a:t>
            </a:r>
          </a:p>
        </p:txBody>
      </p:sp>
      <p:sp>
        <p:nvSpPr>
          <p:cNvPr id="11" name="TextBox 11"/>
          <p:cNvSpPr txBox="1"/>
          <p:nvPr/>
        </p:nvSpPr>
        <p:spPr>
          <a:xfrm>
            <a:off x="13726725" y="536353"/>
            <a:ext cx="1916878" cy="485737"/>
          </a:xfrm>
          <a:prstGeom prst="rect">
            <a:avLst/>
          </a:prstGeom>
        </p:spPr>
        <p:txBody>
          <a:bodyPr lIns="0" tIns="0" rIns="0" bIns="0" rtlCol="0" anchor="t">
            <a:spAutoFit/>
          </a:bodyPr>
          <a:lstStyle/>
          <a:p>
            <a:pPr algn="l">
              <a:lnSpc>
                <a:spcPts val="3149"/>
              </a:lnSpc>
            </a:pPr>
            <a:r>
              <a:rPr lang="en-US" sz="2250">
                <a:solidFill>
                  <a:srgbClr val="2657C1"/>
                </a:solidFill>
                <a:latin typeface="TT Fors"/>
                <a:ea typeface="TT Fors"/>
                <a:cs typeface="TT Fors"/>
                <a:sym typeface="TT Fors"/>
              </a:rPr>
              <a:t>Conclusion</a:t>
            </a:r>
          </a:p>
        </p:txBody>
      </p:sp>
      <p:sp>
        <p:nvSpPr>
          <p:cNvPr id="12" name="TextBox 12"/>
          <p:cNvSpPr txBox="1"/>
          <p:nvPr/>
        </p:nvSpPr>
        <p:spPr>
          <a:xfrm>
            <a:off x="16053187" y="538563"/>
            <a:ext cx="1206113" cy="485737"/>
          </a:xfrm>
          <a:prstGeom prst="rect">
            <a:avLst/>
          </a:prstGeom>
        </p:spPr>
        <p:txBody>
          <a:bodyPr lIns="0" tIns="0" rIns="0" bIns="0" rtlCol="0" anchor="t">
            <a:spAutoFit/>
          </a:bodyPr>
          <a:lstStyle/>
          <a:p>
            <a:pPr algn="l">
              <a:lnSpc>
                <a:spcPts val="3149"/>
              </a:lnSpc>
            </a:pPr>
            <a:r>
              <a:rPr lang="en-US" sz="2250">
                <a:solidFill>
                  <a:srgbClr val="2657C1"/>
                </a:solidFill>
                <a:latin typeface="TT Fors"/>
                <a:ea typeface="TT Fors"/>
                <a:cs typeface="TT Fors"/>
                <a:sym typeface="TT Fors"/>
              </a:rPr>
              <a:t>Contact</a:t>
            </a:r>
          </a:p>
        </p:txBody>
      </p:sp>
      <p:sp>
        <p:nvSpPr>
          <p:cNvPr id="13" name="TextBox 13"/>
          <p:cNvSpPr txBox="1"/>
          <p:nvPr/>
        </p:nvSpPr>
        <p:spPr>
          <a:xfrm>
            <a:off x="11362449" y="538563"/>
            <a:ext cx="1907086" cy="485737"/>
          </a:xfrm>
          <a:prstGeom prst="rect">
            <a:avLst/>
          </a:prstGeom>
        </p:spPr>
        <p:txBody>
          <a:bodyPr lIns="0" tIns="0" rIns="0" bIns="0" rtlCol="0" anchor="t">
            <a:spAutoFit/>
          </a:bodyPr>
          <a:lstStyle/>
          <a:p>
            <a:pPr algn="l">
              <a:lnSpc>
                <a:spcPts val="3149"/>
              </a:lnSpc>
            </a:pPr>
            <a:r>
              <a:rPr lang="en-US" sz="2250" b="1">
                <a:solidFill>
                  <a:srgbClr val="2657C1"/>
                </a:solidFill>
                <a:latin typeface="TT Fors Bold"/>
                <a:ea typeface="TT Fors Bold"/>
                <a:cs typeface="TT Fors Bold"/>
                <a:sym typeface="TT Fors Bold"/>
              </a:rPr>
              <a:t>Discussion</a:t>
            </a:r>
          </a:p>
        </p:txBody>
      </p:sp>
      <p:sp>
        <p:nvSpPr>
          <p:cNvPr id="14" name="TextBox 14"/>
          <p:cNvSpPr txBox="1"/>
          <p:nvPr/>
        </p:nvSpPr>
        <p:spPr>
          <a:xfrm>
            <a:off x="3657600" y="3517268"/>
            <a:ext cx="9986648" cy="5029200"/>
          </a:xfrm>
          <a:prstGeom prst="rect">
            <a:avLst/>
          </a:prstGeom>
        </p:spPr>
        <p:txBody>
          <a:bodyPr lIns="0" tIns="0" rIns="0" bIns="0" rtlCol="0" anchor="t">
            <a:spAutoFit/>
          </a:bodyPr>
          <a:lstStyle/>
          <a:p>
            <a:pPr marL="253365" lvl="1" indent="-126682" algn="l">
              <a:lnSpc>
                <a:spcPts val="2520"/>
              </a:lnSpc>
              <a:buFont typeface="Arial"/>
              <a:buChar char="•"/>
            </a:pPr>
            <a:r>
              <a:rPr lang="en-US" sz="2100">
                <a:solidFill>
                  <a:srgbClr val="2657C1"/>
                </a:solidFill>
                <a:latin typeface="TT Fors"/>
                <a:ea typeface="TT Fors"/>
                <a:cs typeface="TT Fors"/>
                <a:sym typeface="TT Fors"/>
              </a:rPr>
              <a:t>Nohl, K., Evans, D., Starbug &amp; Plötz, H. (2008). Reverse-Engineering a Cryptographic RFID Tag. USENIX Security Symposium</a:t>
            </a:r>
          </a:p>
          <a:p>
            <a:pPr marL="253365" lvl="1" indent="-126682" algn="l">
              <a:lnSpc>
                <a:spcPts val="2520"/>
              </a:lnSpc>
            </a:pPr>
            <a:endParaRPr lang="en-US" sz="2100">
              <a:solidFill>
                <a:srgbClr val="2657C1"/>
              </a:solidFill>
              <a:latin typeface="TT Fors"/>
              <a:ea typeface="TT Fors"/>
              <a:cs typeface="TT Fors"/>
              <a:sym typeface="TT Fors"/>
            </a:endParaRPr>
          </a:p>
          <a:p>
            <a:pPr marL="253365" lvl="1" indent="-126682" algn="l">
              <a:lnSpc>
                <a:spcPts val="2520"/>
              </a:lnSpc>
              <a:buFont typeface="Arial"/>
              <a:buChar char="•"/>
            </a:pPr>
            <a:r>
              <a:rPr lang="en-US" sz="2100">
                <a:solidFill>
                  <a:srgbClr val="2657C1"/>
                </a:solidFill>
                <a:latin typeface="TT Fors"/>
                <a:ea typeface="TT Fors"/>
                <a:cs typeface="TT Fors"/>
                <a:sym typeface="TT Fors"/>
              </a:rPr>
              <a:t>Garcia, F. et al. (2008). Dismantling MIFARE Classic. ESORICS</a:t>
            </a:r>
          </a:p>
          <a:p>
            <a:pPr marL="253365" lvl="1" indent="-126682" algn="l">
              <a:lnSpc>
                <a:spcPts val="2520"/>
              </a:lnSpc>
            </a:pPr>
            <a:endParaRPr lang="en-US" sz="2100">
              <a:solidFill>
                <a:srgbClr val="2657C1"/>
              </a:solidFill>
              <a:latin typeface="TT Fors"/>
              <a:ea typeface="TT Fors"/>
              <a:cs typeface="TT Fors"/>
              <a:sym typeface="TT Fors"/>
            </a:endParaRPr>
          </a:p>
          <a:p>
            <a:pPr marL="253365" lvl="1" indent="-126682" algn="l">
              <a:lnSpc>
                <a:spcPts val="2520"/>
              </a:lnSpc>
              <a:buFont typeface="Arial"/>
              <a:buChar char="•"/>
            </a:pPr>
            <a:r>
              <a:rPr lang="en-US" sz="2100">
                <a:solidFill>
                  <a:srgbClr val="2657C1"/>
                </a:solidFill>
                <a:latin typeface="TT Fors"/>
                <a:ea typeface="TT Fors"/>
                <a:cs typeface="TT Fors"/>
                <a:sym typeface="TT Fors"/>
              </a:rPr>
              <a:t>ISO/IEC 14443 — Identification cards: Contactless integrated circuit cards — Proximity cards</a:t>
            </a:r>
          </a:p>
          <a:p>
            <a:pPr marL="253365" lvl="1" indent="-126682" algn="l">
              <a:lnSpc>
                <a:spcPts val="2520"/>
              </a:lnSpc>
            </a:pPr>
            <a:endParaRPr lang="en-US" sz="2100">
              <a:solidFill>
                <a:srgbClr val="2657C1"/>
              </a:solidFill>
              <a:latin typeface="TT Fors"/>
              <a:ea typeface="TT Fors"/>
              <a:cs typeface="TT Fors"/>
              <a:sym typeface="TT Fors"/>
            </a:endParaRPr>
          </a:p>
          <a:p>
            <a:pPr marL="253365" lvl="1" indent="-126682" algn="l">
              <a:lnSpc>
                <a:spcPts val="2520"/>
              </a:lnSpc>
              <a:buFont typeface="Arial"/>
              <a:buChar char="•"/>
            </a:pPr>
            <a:r>
              <a:rPr lang="en-US" sz="2100">
                <a:solidFill>
                  <a:srgbClr val="2657C1"/>
                </a:solidFill>
                <a:latin typeface="TT Fors"/>
                <a:ea typeface="TT Fors"/>
                <a:cs typeface="TT Fors"/>
                <a:sym typeface="TT Fors"/>
              </a:rPr>
              <a:t>ISO/IEC 15693 — Vicinity cards</a:t>
            </a:r>
          </a:p>
          <a:p>
            <a:pPr marL="253365" lvl="1" indent="-126682" algn="l">
              <a:lnSpc>
                <a:spcPts val="2520"/>
              </a:lnSpc>
            </a:pPr>
            <a:endParaRPr lang="en-US" sz="2100">
              <a:solidFill>
                <a:srgbClr val="2657C1"/>
              </a:solidFill>
              <a:latin typeface="TT Fors"/>
              <a:ea typeface="TT Fors"/>
              <a:cs typeface="TT Fors"/>
              <a:sym typeface="TT Fors"/>
            </a:endParaRPr>
          </a:p>
          <a:p>
            <a:pPr marL="253365" lvl="1" indent="-126682" algn="l">
              <a:lnSpc>
                <a:spcPts val="2520"/>
              </a:lnSpc>
              <a:buFont typeface="Arial"/>
              <a:buChar char="•"/>
            </a:pPr>
            <a:r>
              <a:rPr lang="en-US" sz="2100">
                <a:solidFill>
                  <a:srgbClr val="2657C1"/>
                </a:solidFill>
                <a:latin typeface="TT Fors"/>
                <a:ea typeface="TT Fors"/>
                <a:cs typeface="TT Fors"/>
                <a:sym typeface="TT Fors"/>
              </a:rPr>
              <a:t>NXP Semiconductors — MIFARE DESFire EV3 Product Brief (2020)</a:t>
            </a:r>
          </a:p>
          <a:p>
            <a:pPr marL="253365" lvl="1" indent="-126682" algn="l">
              <a:lnSpc>
                <a:spcPts val="2520"/>
              </a:lnSpc>
            </a:pPr>
            <a:endParaRPr lang="en-US" sz="2100">
              <a:solidFill>
                <a:srgbClr val="2657C1"/>
              </a:solidFill>
              <a:latin typeface="TT Fors"/>
              <a:ea typeface="TT Fors"/>
              <a:cs typeface="TT Fors"/>
              <a:sym typeface="TT Fors"/>
            </a:endParaRPr>
          </a:p>
          <a:p>
            <a:pPr marL="253365" lvl="1" indent="-126682" algn="l">
              <a:lnSpc>
                <a:spcPts val="2520"/>
              </a:lnSpc>
              <a:buFont typeface="Arial"/>
              <a:buChar char="•"/>
            </a:pPr>
            <a:r>
              <a:rPr lang="en-US" sz="2100">
                <a:solidFill>
                  <a:srgbClr val="2657C1"/>
                </a:solidFill>
                <a:latin typeface="TT Fors"/>
                <a:ea typeface="TT Fors"/>
                <a:cs typeface="TT Fors"/>
                <a:sym typeface="TT Fors"/>
              </a:rPr>
              <a:t>Juels, A. (2006). RFID Security and Privacy: A Research Survey. IEEE Journal on Selected Areas in Communications</a:t>
            </a:r>
          </a:p>
          <a:p>
            <a:pPr marL="253365" lvl="1" indent="-126682" algn="l">
              <a:lnSpc>
                <a:spcPts val="2520"/>
              </a:lnSpc>
            </a:pPr>
            <a:endParaRPr lang="en-US" sz="2100">
              <a:solidFill>
                <a:srgbClr val="2657C1"/>
              </a:solidFill>
              <a:latin typeface="TT Fors"/>
              <a:ea typeface="TT Fors"/>
              <a:cs typeface="TT Fors"/>
              <a:sym typeface="TT Fors"/>
            </a:endParaRPr>
          </a:p>
          <a:p>
            <a:pPr marL="253365" lvl="1" indent="-126682" algn="l">
              <a:lnSpc>
                <a:spcPts val="2520"/>
              </a:lnSpc>
              <a:buFont typeface="Arial"/>
              <a:buChar char="•"/>
            </a:pPr>
            <a:r>
              <a:rPr lang="en-US" sz="2100">
                <a:solidFill>
                  <a:srgbClr val="2657C1"/>
                </a:solidFill>
                <a:latin typeface="TT Fors"/>
                <a:ea typeface="TT Fors"/>
                <a:cs typeface="TT Fors"/>
                <a:sym typeface="TT Fors"/>
              </a:rPr>
              <a:t>Hancke, G. (2005). A Practical Relay Attack on ISO 14443 Proximity Cards</a:t>
            </a:r>
          </a:p>
        </p:txBody>
      </p:sp>
      <p:sp>
        <p:nvSpPr>
          <p:cNvPr id="15" name="TextBox 15"/>
          <p:cNvSpPr txBox="1"/>
          <p:nvPr/>
        </p:nvSpPr>
        <p:spPr>
          <a:xfrm>
            <a:off x="1281389" y="634455"/>
            <a:ext cx="921544" cy="632993"/>
          </a:xfrm>
          <a:prstGeom prst="rect">
            <a:avLst/>
          </a:prstGeom>
        </p:spPr>
        <p:txBody>
          <a:bodyPr lIns="0" tIns="0" rIns="0" bIns="0" rtlCol="0" anchor="t">
            <a:spAutoFit/>
          </a:bodyPr>
          <a:lstStyle/>
          <a:p>
            <a:pPr algn="l">
              <a:lnSpc>
                <a:spcPts val="2665"/>
              </a:lnSpc>
            </a:pPr>
            <a:r>
              <a:rPr lang="en-US" sz="2750" b="1">
                <a:solidFill>
                  <a:srgbClr val="2657C1"/>
                </a:solidFill>
                <a:latin typeface="TT Fors Bold"/>
                <a:ea typeface="TT Fors Bold"/>
                <a:cs typeface="TT Fors Bold"/>
                <a:sym typeface="TT Fors Bold"/>
              </a:rPr>
              <a:t> RFID</a:t>
            </a:r>
          </a:p>
          <a:p>
            <a:pPr algn="l">
              <a:lnSpc>
                <a:spcPts val="2665"/>
              </a:lnSpc>
            </a:pPr>
            <a:endParaRPr lang="en-US" sz="2750" b="1">
              <a:solidFill>
                <a:srgbClr val="2657C1"/>
              </a:solidFill>
              <a:latin typeface="TT Fors Bold"/>
              <a:ea typeface="TT Fors Bold"/>
              <a:cs typeface="TT Fors Bold"/>
              <a:sym typeface="TT Fors Bold"/>
            </a:endParaRPr>
          </a:p>
        </p:txBody>
      </p:sp>
      <p:grpSp>
        <p:nvGrpSpPr>
          <p:cNvPr id="16" name="Group 16"/>
          <p:cNvGrpSpPr/>
          <p:nvPr/>
        </p:nvGrpSpPr>
        <p:grpSpPr>
          <a:xfrm>
            <a:off x="446094" y="633813"/>
            <a:ext cx="582606" cy="577129"/>
            <a:chOff x="0" y="0"/>
            <a:chExt cx="776808" cy="769506"/>
          </a:xfrm>
        </p:grpSpPr>
        <p:sp>
          <p:nvSpPr>
            <p:cNvPr id="17" name="Freeform 17"/>
            <p:cNvSpPr/>
            <p:nvPr/>
          </p:nvSpPr>
          <p:spPr>
            <a:xfrm>
              <a:off x="0" y="0"/>
              <a:ext cx="776859" cy="769493"/>
            </a:xfrm>
            <a:custGeom>
              <a:avLst/>
              <a:gdLst/>
              <a:ahLst/>
              <a:cxnLst/>
              <a:rect l="l" t="t" r="r" b="b"/>
              <a:pathLst>
                <a:path w="776859" h="769493">
                  <a:moveTo>
                    <a:pt x="0" y="0"/>
                  </a:moveTo>
                  <a:lnTo>
                    <a:pt x="776859" y="0"/>
                  </a:lnTo>
                  <a:lnTo>
                    <a:pt x="776859" y="769493"/>
                  </a:lnTo>
                  <a:lnTo>
                    <a:pt x="0" y="769493"/>
                  </a:lnTo>
                  <a:lnTo>
                    <a:pt x="0" y="0"/>
                  </a:lnTo>
                  <a:close/>
                </a:path>
              </a:pathLst>
            </a:custGeom>
            <a:blipFill>
              <a:blip r:embed="rId7"/>
              <a:stretch>
                <a:fillRect t="-158" r="6" b="-161"/>
              </a:stretch>
            </a:blipFill>
          </p:spPr>
        </p:sp>
      </p:grpSp>
      <p:sp>
        <p:nvSpPr>
          <p:cNvPr id="18" name="Freeform 18"/>
          <p:cNvSpPr/>
          <p:nvPr/>
        </p:nvSpPr>
        <p:spPr>
          <a:xfrm>
            <a:off x="3351214" y="3517268"/>
            <a:ext cx="305858" cy="309231"/>
          </a:xfrm>
          <a:custGeom>
            <a:avLst/>
            <a:gdLst/>
            <a:ahLst/>
            <a:cxnLst/>
            <a:rect l="l" t="t" r="r" b="b"/>
            <a:pathLst>
              <a:path w="305858" h="309231">
                <a:moveTo>
                  <a:pt x="0" y="0"/>
                </a:moveTo>
                <a:lnTo>
                  <a:pt x="305857" y="0"/>
                </a:lnTo>
                <a:lnTo>
                  <a:pt x="305857" y="309231"/>
                </a:lnTo>
                <a:lnTo>
                  <a:pt x="0" y="309231"/>
                </a:lnTo>
                <a:lnTo>
                  <a:pt x="0" y="0"/>
                </a:lnTo>
                <a:close/>
              </a:path>
            </a:pathLst>
          </a:custGeom>
          <a:blipFill>
            <a:blip r:embed="rId8">
              <a:extLst>
                <a:ext uri="{96DAC541-7B7A-43D3-8B79-37D633B846F1}">
                  <asvg:svgBlip xmlns:asvg="http://schemas.microsoft.com/office/drawing/2016/SVG/main" xmlns="" r:embed="rId9"/>
                </a:ext>
              </a:extLst>
            </a:blip>
            <a:stretch>
              <a:fillRect l="-551" r="-551"/>
            </a:stretch>
          </a:blipFill>
        </p:spPr>
      </p:sp>
      <p:sp>
        <p:nvSpPr>
          <p:cNvPr id="19" name="Freeform 19"/>
          <p:cNvSpPr/>
          <p:nvPr/>
        </p:nvSpPr>
        <p:spPr>
          <a:xfrm>
            <a:off x="3351214" y="4463908"/>
            <a:ext cx="305858" cy="309231"/>
          </a:xfrm>
          <a:custGeom>
            <a:avLst/>
            <a:gdLst/>
            <a:ahLst/>
            <a:cxnLst/>
            <a:rect l="l" t="t" r="r" b="b"/>
            <a:pathLst>
              <a:path w="305858" h="309231">
                <a:moveTo>
                  <a:pt x="0" y="0"/>
                </a:moveTo>
                <a:lnTo>
                  <a:pt x="305857" y="0"/>
                </a:lnTo>
                <a:lnTo>
                  <a:pt x="305857" y="309231"/>
                </a:lnTo>
                <a:lnTo>
                  <a:pt x="0" y="309231"/>
                </a:lnTo>
                <a:lnTo>
                  <a:pt x="0" y="0"/>
                </a:lnTo>
                <a:close/>
              </a:path>
            </a:pathLst>
          </a:custGeom>
          <a:blipFill>
            <a:blip r:embed="rId8">
              <a:extLst>
                <a:ext uri="{96DAC541-7B7A-43D3-8B79-37D633B846F1}">
                  <asvg:svgBlip xmlns:asvg="http://schemas.microsoft.com/office/drawing/2016/SVG/main" xmlns="" r:embed="rId9"/>
                </a:ext>
              </a:extLst>
            </a:blip>
            <a:stretch>
              <a:fillRect l="-551" r="-551"/>
            </a:stretch>
          </a:blipFill>
        </p:spPr>
      </p:sp>
      <p:sp>
        <p:nvSpPr>
          <p:cNvPr id="20" name="Freeform 20"/>
          <p:cNvSpPr/>
          <p:nvPr/>
        </p:nvSpPr>
        <p:spPr>
          <a:xfrm>
            <a:off x="3351214" y="5052845"/>
            <a:ext cx="305858" cy="309231"/>
          </a:xfrm>
          <a:custGeom>
            <a:avLst/>
            <a:gdLst/>
            <a:ahLst/>
            <a:cxnLst/>
            <a:rect l="l" t="t" r="r" b="b"/>
            <a:pathLst>
              <a:path w="305858" h="309231">
                <a:moveTo>
                  <a:pt x="0" y="0"/>
                </a:moveTo>
                <a:lnTo>
                  <a:pt x="305857" y="0"/>
                </a:lnTo>
                <a:lnTo>
                  <a:pt x="305857" y="309231"/>
                </a:lnTo>
                <a:lnTo>
                  <a:pt x="0" y="309231"/>
                </a:lnTo>
                <a:lnTo>
                  <a:pt x="0" y="0"/>
                </a:lnTo>
                <a:close/>
              </a:path>
            </a:pathLst>
          </a:custGeom>
          <a:blipFill>
            <a:blip r:embed="rId8">
              <a:extLst>
                <a:ext uri="{96DAC541-7B7A-43D3-8B79-37D633B846F1}">
                  <asvg:svgBlip xmlns:asvg="http://schemas.microsoft.com/office/drawing/2016/SVG/main" xmlns="" r:embed="rId9"/>
                </a:ext>
              </a:extLst>
            </a:blip>
            <a:stretch>
              <a:fillRect l="-551" r="-551"/>
            </a:stretch>
          </a:blipFill>
        </p:spPr>
      </p:sp>
      <p:sp>
        <p:nvSpPr>
          <p:cNvPr id="21" name="Freeform 21"/>
          <p:cNvSpPr/>
          <p:nvPr/>
        </p:nvSpPr>
        <p:spPr>
          <a:xfrm>
            <a:off x="3351214" y="6000251"/>
            <a:ext cx="305858" cy="309231"/>
          </a:xfrm>
          <a:custGeom>
            <a:avLst/>
            <a:gdLst/>
            <a:ahLst/>
            <a:cxnLst/>
            <a:rect l="l" t="t" r="r" b="b"/>
            <a:pathLst>
              <a:path w="305858" h="309231">
                <a:moveTo>
                  <a:pt x="0" y="0"/>
                </a:moveTo>
                <a:lnTo>
                  <a:pt x="305857" y="0"/>
                </a:lnTo>
                <a:lnTo>
                  <a:pt x="305857" y="309231"/>
                </a:lnTo>
                <a:lnTo>
                  <a:pt x="0" y="309231"/>
                </a:lnTo>
                <a:lnTo>
                  <a:pt x="0" y="0"/>
                </a:lnTo>
                <a:close/>
              </a:path>
            </a:pathLst>
          </a:custGeom>
          <a:blipFill>
            <a:blip r:embed="rId8">
              <a:extLst>
                <a:ext uri="{96DAC541-7B7A-43D3-8B79-37D633B846F1}">
                  <asvg:svgBlip xmlns:asvg="http://schemas.microsoft.com/office/drawing/2016/SVG/main" xmlns="" r:embed="rId9"/>
                </a:ext>
              </a:extLst>
            </a:blip>
            <a:stretch>
              <a:fillRect l="-551" r="-551"/>
            </a:stretch>
          </a:blipFill>
        </p:spPr>
      </p:sp>
      <p:sp>
        <p:nvSpPr>
          <p:cNvPr id="22" name="Freeform 22"/>
          <p:cNvSpPr/>
          <p:nvPr/>
        </p:nvSpPr>
        <p:spPr>
          <a:xfrm>
            <a:off x="3351214" y="7316752"/>
            <a:ext cx="305858" cy="309231"/>
          </a:xfrm>
          <a:custGeom>
            <a:avLst/>
            <a:gdLst/>
            <a:ahLst/>
            <a:cxnLst/>
            <a:rect l="l" t="t" r="r" b="b"/>
            <a:pathLst>
              <a:path w="305858" h="309231">
                <a:moveTo>
                  <a:pt x="0" y="0"/>
                </a:moveTo>
                <a:lnTo>
                  <a:pt x="305857" y="0"/>
                </a:lnTo>
                <a:lnTo>
                  <a:pt x="305857" y="309231"/>
                </a:lnTo>
                <a:lnTo>
                  <a:pt x="0" y="309231"/>
                </a:lnTo>
                <a:lnTo>
                  <a:pt x="0" y="0"/>
                </a:lnTo>
                <a:close/>
              </a:path>
            </a:pathLst>
          </a:custGeom>
          <a:blipFill>
            <a:blip r:embed="rId8">
              <a:extLst>
                <a:ext uri="{96DAC541-7B7A-43D3-8B79-37D633B846F1}">
                  <asvg:svgBlip xmlns:asvg="http://schemas.microsoft.com/office/drawing/2016/SVG/main" xmlns="" r:embed="rId9"/>
                </a:ext>
              </a:extLst>
            </a:blip>
            <a:stretch>
              <a:fillRect l="-551" r="-551"/>
            </a:stretch>
          </a:blipFill>
        </p:spPr>
      </p:sp>
      <p:sp>
        <p:nvSpPr>
          <p:cNvPr id="23" name="Freeform 23"/>
          <p:cNvSpPr/>
          <p:nvPr/>
        </p:nvSpPr>
        <p:spPr>
          <a:xfrm>
            <a:off x="3351214" y="6658502"/>
            <a:ext cx="305858" cy="309231"/>
          </a:xfrm>
          <a:custGeom>
            <a:avLst/>
            <a:gdLst/>
            <a:ahLst/>
            <a:cxnLst/>
            <a:rect l="l" t="t" r="r" b="b"/>
            <a:pathLst>
              <a:path w="305858" h="309231">
                <a:moveTo>
                  <a:pt x="0" y="0"/>
                </a:moveTo>
                <a:lnTo>
                  <a:pt x="305857" y="0"/>
                </a:lnTo>
                <a:lnTo>
                  <a:pt x="305857" y="309231"/>
                </a:lnTo>
                <a:lnTo>
                  <a:pt x="0" y="309231"/>
                </a:lnTo>
                <a:lnTo>
                  <a:pt x="0" y="0"/>
                </a:lnTo>
                <a:close/>
              </a:path>
            </a:pathLst>
          </a:custGeom>
          <a:blipFill>
            <a:blip r:embed="rId8">
              <a:extLst>
                <a:ext uri="{96DAC541-7B7A-43D3-8B79-37D633B846F1}">
                  <asvg:svgBlip xmlns:asvg="http://schemas.microsoft.com/office/drawing/2016/SVG/main" xmlns="" r:embed="rId9"/>
                </a:ext>
              </a:extLst>
            </a:blip>
            <a:stretch>
              <a:fillRect l="-551" r="-551"/>
            </a:stretch>
          </a:blipFill>
        </p:spPr>
      </p:sp>
      <p:sp>
        <p:nvSpPr>
          <p:cNvPr id="24" name="Freeform 24"/>
          <p:cNvSpPr/>
          <p:nvPr/>
        </p:nvSpPr>
        <p:spPr>
          <a:xfrm>
            <a:off x="3351214" y="8237237"/>
            <a:ext cx="305858" cy="309231"/>
          </a:xfrm>
          <a:custGeom>
            <a:avLst/>
            <a:gdLst/>
            <a:ahLst/>
            <a:cxnLst/>
            <a:rect l="l" t="t" r="r" b="b"/>
            <a:pathLst>
              <a:path w="305858" h="309231">
                <a:moveTo>
                  <a:pt x="0" y="0"/>
                </a:moveTo>
                <a:lnTo>
                  <a:pt x="305857" y="0"/>
                </a:lnTo>
                <a:lnTo>
                  <a:pt x="305857" y="309231"/>
                </a:lnTo>
                <a:lnTo>
                  <a:pt x="0" y="309231"/>
                </a:lnTo>
                <a:lnTo>
                  <a:pt x="0" y="0"/>
                </a:lnTo>
                <a:close/>
              </a:path>
            </a:pathLst>
          </a:custGeom>
          <a:blipFill>
            <a:blip r:embed="rId8">
              <a:extLst>
                <a:ext uri="{96DAC541-7B7A-43D3-8B79-37D633B846F1}">
                  <asvg:svgBlip xmlns:asvg="http://schemas.microsoft.com/office/drawing/2016/SVG/main" xmlns="" r:embed="rId9"/>
                </a:ext>
              </a:extLst>
            </a:blip>
            <a:stretch>
              <a:fillRect l="-551" r="-551"/>
            </a:stretch>
          </a:blipFill>
        </p:spPr>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5927857" y="4643237"/>
            <a:ext cx="1765364" cy="1765364"/>
            <a:chOff x="0" y="0"/>
            <a:chExt cx="2353818" cy="2353818"/>
          </a:xfrm>
        </p:grpSpPr>
        <p:sp>
          <p:nvSpPr>
            <p:cNvPr id="3" name="Freeform 3"/>
            <p:cNvSpPr/>
            <p:nvPr/>
          </p:nvSpPr>
          <p:spPr>
            <a:xfrm>
              <a:off x="0" y="0"/>
              <a:ext cx="2353818" cy="2353818"/>
            </a:xfrm>
            <a:custGeom>
              <a:avLst/>
              <a:gdLst/>
              <a:ahLst/>
              <a:cxnLst/>
              <a:rect l="l" t="t" r="r" b="b"/>
              <a:pathLst>
                <a:path w="2353818" h="2353818">
                  <a:moveTo>
                    <a:pt x="0" y="0"/>
                  </a:moveTo>
                  <a:lnTo>
                    <a:pt x="2353818" y="0"/>
                  </a:lnTo>
                  <a:lnTo>
                    <a:pt x="2353818" y="2353818"/>
                  </a:lnTo>
                  <a:lnTo>
                    <a:pt x="0" y="2353818"/>
                  </a:lnTo>
                  <a:lnTo>
                    <a:pt x="0" y="0"/>
                  </a:lnTo>
                  <a:close/>
                </a:path>
              </a:pathLst>
            </a:custGeom>
            <a:blipFill>
              <a:blip r:embed="rId2"/>
              <a:stretch>
                <a:fillRect/>
              </a:stretch>
            </a:blipFill>
          </p:spPr>
        </p:sp>
      </p:grpSp>
      <p:grpSp>
        <p:nvGrpSpPr>
          <p:cNvPr id="4" name="Group 4"/>
          <p:cNvGrpSpPr/>
          <p:nvPr/>
        </p:nvGrpSpPr>
        <p:grpSpPr>
          <a:xfrm>
            <a:off x="-1483604" y="8908952"/>
            <a:ext cx="2967228" cy="2967228"/>
            <a:chOff x="0" y="0"/>
            <a:chExt cx="3956304" cy="3956304"/>
          </a:xfrm>
        </p:grpSpPr>
        <p:sp>
          <p:nvSpPr>
            <p:cNvPr id="5" name="Freeform 5"/>
            <p:cNvSpPr/>
            <p:nvPr/>
          </p:nvSpPr>
          <p:spPr>
            <a:xfrm>
              <a:off x="0" y="0"/>
              <a:ext cx="3956304" cy="3956304"/>
            </a:xfrm>
            <a:custGeom>
              <a:avLst/>
              <a:gdLst/>
              <a:ahLst/>
              <a:cxnLst/>
              <a:rect l="l" t="t" r="r" b="b"/>
              <a:pathLst>
                <a:path w="3956304" h="3956304">
                  <a:moveTo>
                    <a:pt x="0" y="0"/>
                  </a:moveTo>
                  <a:lnTo>
                    <a:pt x="3956304" y="0"/>
                  </a:lnTo>
                  <a:lnTo>
                    <a:pt x="3956304" y="3956304"/>
                  </a:lnTo>
                  <a:lnTo>
                    <a:pt x="0" y="3956304"/>
                  </a:lnTo>
                  <a:lnTo>
                    <a:pt x="0" y="0"/>
                  </a:lnTo>
                  <a:close/>
                </a:path>
              </a:pathLst>
            </a:custGeom>
            <a:blipFill>
              <a:blip r:embed="rId2"/>
              <a:stretch>
                <a:fillRect/>
              </a:stretch>
            </a:blipFill>
          </p:spPr>
        </p:sp>
      </p:grpSp>
      <p:sp>
        <p:nvSpPr>
          <p:cNvPr id="6" name="Freeform 6"/>
          <p:cNvSpPr/>
          <p:nvPr/>
        </p:nvSpPr>
        <p:spPr>
          <a:xfrm>
            <a:off x="16053187" y="8908952"/>
            <a:ext cx="3369164" cy="3369164"/>
          </a:xfrm>
          <a:custGeom>
            <a:avLst/>
            <a:gdLst/>
            <a:ahLst/>
            <a:cxnLst/>
            <a:rect l="l" t="t" r="r" b="b"/>
            <a:pathLst>
              <a:path w="3369164" h="3369164">
                <a:moveTo>
                  <a:pt x="0" y="0"/>
                </a:moveTo>
                <a:lnTo>
                  <a:pt x="3369164" y="0"/>
                </a:lnTo>
                <a:lnTo>
                  <a:pt x="3369164" y="3369164"/>
                </a:lnTo>
                <a:lnTo>
                  <a:pt x="0" y="3369164"/>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sp>
        <p:nvSpPr>
          <p:cNvPr id="7" name="Freeform 7"/>
          <p:cNvSpPr/>
          <p:nvPr/>
        </p:nvSpPr>
        <p:spPr>
          <a:xfrm>
            <a:off x="0" y="-180823"/>
            <a:ext cx="18288000" cy="393830"/>
          </a:xfrm>
          <a:custGeom>
            <a:avLst/>
            <a:gdLst/>
            <a:ahLst/>
            <a:cxnLst/>
            <a:rect l="l" t="t" r="r" b="b"/>
            <a:pathLst>
              <a:path w="18288000" h="393830">
                <a:moveTo>
                  <a:pt x="0" y="0"/>
                </a:moveTo>
                <a:lnTo>
                  <a:pt x="18288000" y="0"/>
                </a:lnTo>
                <a:lnTo>
                  <a:pt x="18288000" y="393831"/>
                </a:lnTo>
                <a:lnTo>
                  <a:pt x="0" y="393831"/>
                </a:lnTo>
                <a:lnTo>
                  <a:pt x="0" y="0"/>
                </a:lnTo>
                <a:close/>
              </a:path>
            </a:pathLst>
          </a:custGeom>
          <a:blipFill>
            <a:blip r:embed="rId5">
              <a:extLst>
                <a:ext uri="{96DAC541-7B7A-43D3-8B79-37D633B846F1}">
                  <asvg:svgBlip xmlns:asvg="http://schemas.microsoft.com/office/drawing/2016/SVG/main" xmlns="" r:embed="rId6"/>
                </a:ext>
              </a:extLst>
            </a:blip>
            <a:stretch>
              <a:fillRect t="-788" b="-790"/>
            </a:stretch>
          </a:blipFill>
        </p:spPr>
      </p:sp>
      <p:sp>
        <p:nvSpPr>
          <p:cNvPr id="8" name="TextBox 8"/>
          <p:cNvSpPr txBox="1"/>
          <p:nvPr/>
        </p:nvSpPr>
        <p:spPr>
          <a:xfrm>
            <a:off x="9144000" y="536353"/>
            <a:ext cx="1662551" cy="485737"/>
          </a:xfrm>
          <a:prstGeom prst="rect">
            <a:avLst/>
          </a:prstGeom>
        </p:spPr>
        <p:txBody>
          <a:bodyPr lIns="0" tIns="0" rIns="0" bIns="0" rtlCol="0" anchor="t">
            <a:spAutoFit/>
          </a:bodyPr>
          <a:lstStyle/>
          <a:p>
            <a:pPr algn="l">
              <a:lnSpc>
                <a:spcPts val="3149"/>
              </a:lnSpc>
            </a:pPr>
            <a:r>
              <a:rPr lang="en-US" sz="2250">
                <a:solidFill>
                  <a:srgbClr val="2657C1"/>
                </a:solidFill>
                <a:latin typeface="TT Fors"/>
                <a:ea typeface="TT Fors"/>
                <a:cs typeface="TT Fors"/>
                <a:sym typeface="TT Fors"/>
              </a:rPr>
              <a:t>Home</a:t>
            </a:r>
          </a:p>
        </p:txBody>
      </p:sp>
      <p:sp>
        <p:nvSpPr>
          <p:cNvPr id="9" name="TextBox 9"/>
          <p:cNvSpPr txBox="1"/>
          <p:nvPr/>
        </p:nvSpPr>
        <p:spPr>
          <a:xfrm>
            <a:off x="8915400" y="3638664"/>
            <a:ext cx="6783857" cy="1110615"/>
          </a:xfrm>
          <a:prstGeom prst="rect">
            <a:avLst/>
          </a:prstGeom>
        </p:spPr>
        <p:txBody>
          <a:bodyPr lIns="0" tIns="0" rIns="0" bIns="0" rtlCol="0" anchor="t">
            <a:spAutoFit/>
          </a:bodyPr>
          <a:lstStyle/>
          <a:p>
            <a:pPr algn="l">
              <a:lnSpc>
                <a:spcPts val="10594"/>
              </a:lnSpc>
            </a:pPr>
            <a:r>
              <a:rPr lang="en-US" sz="10919" spc="-107">
                <a:solidFill>
                  <a:srgbClr val="2657C1"/>
                </a:solidFill>
                <a:latin typeface="Etna Sans Serif"/>
                <a:ea typeface="Etna Sans Serif"/>
                <a:cs typeface="Etna Sans Serif"/>
                <a:sym typeface="Etna Sans Serif"/>
              </a:rPr>
              <a:t>Thank You</a:t>
            </a:r>
          </a:p>
        </p:txBody>
      </p:sp>
      <p:sp>
        <p:nvSpPr>
          <p:cNvPr id="10" name="TextBox 10"/>
          <p:cNvSpPr txBox="1"/>
          <p:nvPr/>
        </p:nvSpPr>
        <p:spPr>
          <a:xfrm>
            <a:off x="13726725" y="536353"/>
            <a:ext cx="1916878" cy="485737"/>
          </a:xfrm>
          <a:prstGeom prst="rect">
            <a:avLst/>
          </a:prstGeom>
        </p:spPr>
        <p:txBody>
          <a:bodyPr lIns="0" tIns="0" rIns="0" bIns="0" rtlCol="0" anchor="t">
            <a:spAutoFit/>
          </a:bodyPr>
          <a:lstStyle/>
          <a:p>
            <a:pPr algn="l">
              <a:lnSpc>
                <a:spcPts val="3149"/>
              </a:lnSpc>
            </a:pPr>
            <a:r>
              <a:rPr lang="en-US" sz="2250">
                <a:solidFill>
                  <a:srgbClr val="2657C1"/>
                </a:solidFill>
                <a:latin typeface="TT Fors"/>
                <a:ea typeface="TT Fors"/>
                <a:cs typeface="TT Fors"/>
                <a:sym typeface="TT Fors"/>
              </a:rPr>
              <a:t>Conclusion</a:t>
            </a:r>
          </a:p>
        </p:txBody>
      </p:sp>
      <p:sp>
        <p:nvSpPr>
          <p:cNvPr id="11" name="TextBox 11"/>
          <p:cNvSpPr txBox="1"/>
          <p:nvPr/>
        </p:nvSpPr>
        <p:spPr>
          <a:xfrm>
            <a:off x="16053187" y="538563"/>
            <a:ext cx="1684582" cy="485737"/>
          </a:xfrm>
          <a:prstGeom prst="rect">
            <a:avLst/>
          </a:prstGeom>
        </p:spPr>
        <p:txBody>
          <a:bodyPr lIns="0" tIns="0" rIns="0" bIns="0" rtlCol="0" anchor="t">
            <a:spAutoFit/>
          </a:bodyPr>
          <a:lstStyle/>
          <a:p>
            <a:pPr algn="l">
              <a:lnSpc>
                <a:spcPts val="3149"/>
              </a:lnSpc>
            </a:pPr>
            <a:r>
              <a:rPr lang="en-US" sz="2250" b="1">
                <a:solidFill>
                  <a:srgbClr val="2657C1"/>
                </a:solidFill>
                <a:latin typeface="TT Fors Bold"/>
                <a:ea typeface="TT Fors Bold"/>
                <a:cs typeface="TT Fors Bold"/>
                <a:sym typeface="TT Fors Bold"/>
              </a:rPr>
              <a:t>Contact</a:t>
            </a:r>
          </a:p>
        </p:txBody>
      </p:sp>
      <p:sp>
        <p:nvSpPr>
          <p:cNvPr id="12" name="TextBox 12"/>
          <p:cNvSpPr txBox="1"/>
          <p:nvPr/>
        </p:nvSpPr>
        <p:spPr>
          <a:xfrm>
            <a:off x="11362449" y="538563"/>
            <a:ext cx="1907086" cy="485737"/>
          </a:xfrm>
          <a:prstGeom prst="rect">
            <a:avLst/>
          </a:prstGeom>
        </p:spPr>
        <p:txBody>
          <a:bodyPr lIns="0" tIns="0" rIns="0" bIns="0" rtlCol="0" anchor="t">
            <a:spAutoFit/>
          </a:bodyPr>
          <a:lstStyle/>
          <a:p>
            <a:pPr algn="l">
              <a:lnSpc>
                <a:spcPts val="3149"/>
              </a:lnSpc>
            </a:pPr>
            <a:r>
              <a:rPr lang="en-US" sz="2250">
                <a:solidFill>
                  <a:srgbClr val="2657C1"/>
                </a:solidFill>
                <a:latin typeface="TT Fors"/>
                <a:ea typeface="TT Fors"/>
                <a:cs typeface="TT Fors"/>
                <a:sym typeface="TT Fors"/>
              </a:rPr>
              <a:t>Discussion</a:t>
            </a:r>
          </a:p>
        </p:txBody>
      </p:sp>
      <p:sp>
        <p:nvSpPr>
          <p:cNvPr id="13" name="TextBox 13"/>
          <p:cNvSpPr txBox="1"/>
          <p:nvPr/>
        </p:nvSpPr>
        <p:spPr>
          <a:xfrm>
            <a:off x="9978247" y="5503774"/>
            <a:ext cx="5721010" cy="1010682"/>
          </a:xfrm>
          <a:prstGeom prst="rect">
            <a:avLst/>
          </a:prstGeom>
        </p:spPr>
        <p:txBody>
          <a:bodyPr lIns="0" tIns="0" rIns="0" bIns="0" rtlCol="0" anchor="t">
            <a:spAutoFit/>
          </a:bodyPr>
          <a:lstStyle/>
          <a:p>
            <a:pPr algn="l">
              <a:lnSpc>
                <a:spcPts val="4118"/>
              </a:lnSpc>
            </a:pPr>
            <a:r>
              <a:rPr lang="en-US" sz="2939" b="1">
                <a:solidFill>
                  <a:srgbClr val="2657C1"/>
                </a:solidFill>
                <a:latin typeface="TT Fors Bold"/>
                <a:ea typeface="TT Fors Bold"/>
                <a:cs typeface="TT Fors Bold"/>
                <a:sym typeface="TT Fors Bold"/>
              </a:rPr>
              <a:t>Do you have any questions?</a:t>
            </a:r>
          </a:p>
          <a:p>
            <a:pPr algn="l">
              <a:lnSpc>
                <a:spcPts val="4120"/>
              </a:lnSpc>
            </a:pPr>
            <a:endParaRPr lang="en-US" sz="2939" b="1">
              <a:solidFill>
                <a:srgbClr val="2657C1"/>
              </a:solidFill>
              <a:latin typeface="TT Fors Bold"/>
              <a:ea typeface="TT Fors Bold"/>
              <a:cs typeface="TT Fors Bold"/>
              <a:sym typeface="TT Fors Bold"/>
            </a:endParaRPr>
          </a:p>
        </p:txBody>
      </p:sp>
      <p:sp>
        <p:nvSpPr>
          <p:cNvPr id="14" name="Freeform 14"/>
          <p:cNvSpPr/>
          <p:nvPr/>
        </p:nvSpPr>
        <p:spPr>
          <a:xfrm>
            <a:off x="8915400" y="7236676"/>
            <a:ext cx="460029" cy="460029"/>
          </a:xfrm>
          <a:custGeom>
            <a:avLst/>
            <a:gdLst/>
            <a:ahLst/>
            <a:cxnLst/>
            <a:rect l="l" t="t" r="r" b="b"/>
            <a:pathLst>
              <a:path w="460029" h="460029">
                <a:moveTo>
                  <a:pt x="0" y="0"/>
                </a:moveTo>
                <a:lnTo>
                  <a:pt x="460029" y="0"/>
                </a:lnTo>
                <a:lnTo>
                  <a:pt x="460029" y="460029"/>
                </a:lnTo>
                <a:lnTo>
                  <a:pt x="0" y="460029"/>
                </a:lnTo>
                <a:lnTo>
                  <a:pt x="0" y="0"/>
                </a:lnTo>
                <a:close/>
              </a:path>
            </a:pathLst>
          </a:custGeom>
          <a:blipFill>
            <a:blip r:embed="rId7">
              <a:extLst>
                <a:ext uri="{96DAC541-7B7A-43D3-8B79-37D633B846F1}">
                  <asvg:svgBlip xmlns:asvg="http://schemas.microsoft.com/office/drawing/2016/SVG/main" xmlns="" r:embed="rId8"/>
                </a:ext>
              </a:extLst>
            </a:blip>
            <a:stretch>
              <a:fillRect/>
            </a:stretch>
          </a:blipFill>
        </p:spPr>
      </p:sp>
      <p:sp>
        <p:nvSpPr>
          <p:cNvPr id="15" name="TextBox 15"/>
          <p:cNvSpPr txBox="1"/>
          <p:nvPr/>
        </p:nvSpPr>
        <p:spPr>
          <a:xfrm>
            <a:off x="9679589" y="7235995"/>
            <a:ext cx="4574600" cy="413766"/>
          </a:xfrm>
          <a:prstGeom prst="rect">
            <a:avLst/>
          </a:prstGeom>
        </p:spPr>
        <p:txBody>
          <a:bodyPr lIns="0" tIns="0" rIns="0" bIns="0" rtlCol="0" anchor="t">
            <a:spAutoFit/>
          </a:bodyPr>
          <a:lstStyle/>
          <a:p>
            <a:pPr algn="l">
              <a:lnSpc>
                <a:spcPts val="3420"/>
              </a:lnSpc>
            </a:pPr>
            <a:r>
              <a:rPr lang="en-US" sz="2440">
                <a:solidFill>
                  <a:srgbClr val="2657C1"/>
                </a:solidFill>
                <a:latin typeface="TT Fors"/>
                <a:ea typeface="TT Fors"/>
                <a:cs typeface="TT Fors"/>
                <a:sym typeface="TT Fors"/>
              </a:rPr>
              <a:t>kholoud09726@gmail.com</a:t>
            </a:r>
          </a:p>
        </p:txBody>
      </p:sp>
      <p:sp>
        <p:nvSpPr>
          <p:cNvPr id="16" name="Freeform 16"/>
          <p:cNvSpPr/>
          <p:nvPr/>
        </p:nvSpPr>
        <p:spPr>
          <a:xfrm>
            <a:off x="1483604" y="1487900"/>
            <a:ext cx="6454969" cy="8076000"/>
          </a:xfrm>
          <a:custGeom>
            <a:avLst/>
            <a:gdLst/>
            <a:ahLst/>
            <a:cxnLst/>
            <a:rect l="l" t="t" r="r" b="b"/>
            <a:pathLst>
              <a:path w="6454969" h="8076000">
                <a:moveTo>
                  <a:pt x="0" y="0"/>
                </a:moveTo>
                <a:lnTo>
                  <a:pt x="6454969" y="0"/>
                </a:lnTo>
                <a:lnTo>
                  <a:pt x="6454969" y="8076000"/>
                </a:lnTo>
                <a:lnTo>
                  <a:pt x="0" y="8076000"/>
                </a:lnTo>
                <a:lnTo>
                  <a:pt x="0" y="0"/>
                </a:lnTo>
                <a:close/>
              </a:path>
            </a:pathLst>
          </a:custGeom>
          <a:blipFill>
            <a:blip r:embed="rId9">
              <a:extLst>
                <a:ext uri="{96DAC541-7B7A-43D3-8B79-37D633B846F1}">
                  <asvg:svgBlip xmlns:asvg="http://schemas.microsoft.com/office/drawing/2016/SVG/main" xmlns="" r:embed="rId10"/>
                </a:ext>
              </a:extLst>
            </a:blip>
            <a:stretch>
              <a:fillRect t="-43" b="-43"/>
            </a:stretch>
          </a:blipFill>
        </p:spPr>
      </p:sp>
      <p:sp>
        <p:nvSpPr>
          <p:cNvPr id="17" name="TextBox 17"/>
          <p:cNvSpPr txBox="1"/>
          <p:nvPr/>
        </p:nvSpPr>
        <p:spPr>
          <a:xfrm>
            <a:off x="1321679" y="562532"/>
            <a:ext cx="921544" cy="1023620"/>
          </a:xfrm>
          <a:prstGeom prst="rect">
            <a:avLst/>
          </a:prstGeom>
        </p:spPr>
        <p:txBody>
          <a:bodyPr lIns="0" tIns="0" rIns="0" bIns="0" rtlCol="0" anchor="t">
            <a:spAutoFit/>
          </a:bodyPr>
          <a:lstStyle/>
          <a:p>
            <a:pPr algn="l">
              <a:lnSpc>
                <a:spcPts val="2665"/>
              </a:lnSpc>
            </a:pPr>
            <a:r>
              <a:rPr lang="en-US" sz="2750" b="1">
                <a:solidFill>
                  <a:srgbClr val="2657C1"/>
                </a:solidFill>
                <a:latin typeface="TT Fors Bold"/>
                <a:ea typeface="TT Fors Bold"/>
                <a:cs typeface="TT Fors Bold"/>
                <a:sym typeface="TT Fors Bold"/>
              </a:rPr>
              <a:t> RFID</a:t>
            </a:r>
          </a:p>
          <a:p>
            <a:pPr algn="l">
              <a:lnSpc>
                <a:spcPts val="2665"/>
              </a:lnSpc>
            </a:pPr>
            <a:endParaRPr lang="en-US" sz="2750" b="1">
              <a:solidFill>
                <a:srgbClr val="2657C1"/>
              </a:solidFill>
              <a:latin typeface="TT Fors Bold"/>
              <a:ea typeface="TT Fors Bold"/>
              <a:cs typeface="TT Fors Bold"/>
              <a:sym typeface="TT Fors Bold"/>
            </a:endParaRPr>
          </a:p>
        </p:txBody>
      </p:sp>
      <p:grpSp>
        <p:nvGrpSpPr>
          <p:cNvPr id="18" name="Group 18"/>
          <p:cNvGrpSpPr/>
          <p:nvPr/>
        </p:nvGrpSpPr>
        <p:grpSpPr>
          <a:xfrm>
            <a:off x="446094" y="633813"/>
            <a:ext cx="582606" cy="577129"/>
            <a:chOff x="0" y="0"/>
            <a:chExt cx="776808" cy="769506"/>
          </a:xfrm>
        </p:grpSpPr>
        <p:sp>
          <p:nvSpPr>
            <p:cNvPr id="19" name="Freeform 19"/>
            <p:cNvSpPr/>
            <p:nvPr/>
          </p:nvSpPr>
          <p:spPr>
            <a:xfrm>
              <a:off x="0" y="0"/>
              <a:ext cx="776859" cy="769493"/>
            </a:xfrm>
            <a:custGeom>
              <a:avLst/>
              <a:gdLst/>
              <a:ahLst/>
              <a:cxnLst/>
              <a:rect l="l" t="t" r="r" b="b"/>
              <a:pathLst>
                <a:path w="776859" h="769493">
                  <a:moveTo>
                    <a:pt x="0" y="0"/>
                  </a:moveTo>
                  <a:lnTo>
                    <a:pt x="776859" y="0"/>
                  </a:lnTo>
                  <a:lnTo>
                    <a:pt x="776859" y="769493"/>
                  </a:lnTo>
                  <a:lnTo>
                    <a:pt x="0" y="769493"/>
                  </a:lnTo>
                  <a:lnTo>
                    <a:pt x="0" y="0"/>
                  </a:lnTo>
                  <a:close/>
                </a:path>
              </a:pathLst>
            </a:custGeom>
            <a:blipFill>
              <a:blip r:embed="rId11"/>
              <a:stretch>
                <a:fillRect t="-158" r="6" b="-161"/>
              </a:stretch>
            </a:blipFill>
          </p:spPr>
        </p:sp>
      </p:gr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830</TotalTime>
  <Words>654</Words>
  <Application>Microsoft Office PowerPoint</Application>
  <PresentationFormat>Personnalisé</PresentationFormat>
  <Paragraphs>164</Paragraphs>
  <Slides>17</Slides>
  <Notes>0</Notes>
  <HiddenSlides>0</HiddenSlides>
  <MMClips>0</MMClips>
  <ScaleCrop>false</ScaleCrop>
  <HeadingPairs>
    <vt:vector size="6" baseType="variant">
      <vt:variant>
        <vt:lpstr>Polices utilisées</vt:lpstr>
      </vt:variant>
      <vt:variant>
        <vt:i4>7</vt:i4>
      </vt:variant>
      <vt:variant>
        <vt:lpstr>Thème</vt:lpstr>
      </vt:variant>
      <vt:variant>
        <vt:i4>1</vt:i4>
      </vt:variant>
      <vt:variant>
        <vt:lpstr>Titres des diapositives</vt:lpstr>
      </vt:variant>
      <vt:variant>
        <vt:i4>17</vt:i4>
      </vt:variant>
    </vt:vector>
  </HeadingPairs>
  <TitlesOfParts>
    <vt:vector size="25" baseType="lpstr">
      <vt:lpstr>Etna Sans Serif</vt:lpstr>
      <vt:lpstr>TT Fors Bold Italics</vt:lpstr>
      <vt:lpstr>TT Fors Bold</vt:lpstr>
      <vt:lpstr>Calibri</vt:lpstr>
      <vt:lpstr>Glacial Indifference</vt:lpstr>
      <vt:lpstr>TT Fors</vt:lpstr>
      <vt:lpstr>Arial</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Blue and White Illustrative Cyber Security Presentation.pptx.pptx</dc:title>
  <dc:creator>user</dc:creator>
  <cp:lastModifiedBy>user</cp:lastModifiedBy>
  <cp:revision>4</cp:revision>
  <dcterms:created xsi:type="dcterms:W3CDTF">2006-08-16T00:00:00Z</dcterms:created>
  <dcterms:modified xsi:type="dcterms:W3CDTF">2026-04-08T08:57:44Z</dcterms:modified>
  <dc:identifier>DAHGMgBn0R0</dc:identifier>
</cp:coreProperties>
</file>