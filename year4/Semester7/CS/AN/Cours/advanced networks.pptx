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handoutMasterIdLst>
    <p:handoutMasterId r:id="rId79"/>
  </p:handoutMasterIdLst>
  <p:sldIdLst>
    <p:sldId id="256" r:id="rId2"/>
    <p:sldId id="273" r:id="rId3"/>
    <p:sldId id="267" r:id="rId4"/>
    <p:sldId id="258" r:id="rId5"/>
    <p:sldId id="268" r:id="rId6"/>
    <p:sldId id="274" r:id="rId7"/>
    <p:sldId id="269" r:id="rId8"/>
    <p:sldId id="275" r:id="rId9"/>
    <p:sldId id="276" r:id="rId10"/>
    <p:sldId id="277" r:id="rId11"/>
    <p:sldId id="260" r:id="rId12"/>
    <p:sldId id="289" r:id="rId13"/>
    <p:sldId id="278" r:id="rId14"/>
    <p:sldId id="261" r:id="rId15"/>
    <p:sldId id="279" r:id="rId16"/>
    <p:sldId id="271" r:id="rId17"/>
    <p:sldId id="280" r:id="rId18"/>
    <p:sldId id="272" r:id="rId19"/>
    <p:sldId id="264" r:id="rId20"/>
    <p:sldId id="262" r:id="rId21"/>
    <p:sldId id="281" r:id="rId22"/>
    <p:sldId id="285" r:id="rId23"/>
    <p:sldId id="282" r:id="rId24"/>
    <p:sldId id="286" r:id="rId25"/>
    <p:sldId id="283" r:id="rId26"/>
    <p:sldId id="287" r:id="rId27"/>
    <p:sldId id="284" r:id="rId28"/>
    <p:sldId id="288" r:id="rId29"/>
    <p:sldId id="290" r:id="rId30"/>
    <p:sldId id="294" r:id="rId31"/>
    <p:sldId id="295" r:id="rId32"/>
    <p:sldId id="296" r:id="rId33"/>
    <p:sldId id="297" r:id="rId34"/>
    <p:sldId id="298" r:id="rId35"/>
    <p:sldId id="299" r:id="rId36"/>
    <p:sldId id="301" r:id="rId37"/>
    <p:sldId id="302" r:id="rId38"/>
    <p:sldId id="303" r:id="rId39"/>
    <p:sldId id="304" r:id="rId40"/>
    <p:sldId id="305" r:id="rId41"/>
    <p:sldId id="306" r:id="rId42"/>
    <p:sldId id="307" r:id="rId43"/>
    <p:sldId id="308" r:id="rId44"/>
    <p:sldId id="292" r:id="rId45"/>
    <p:sldId id="309" r:id="rId46"/>
    <p:sldId id="310" r:id="rId47"/>
    <p:sldId id="293" r:id="rId48"/>
    <p:sldId id="312" r:id="rId49"/>
    <p:sldId id="313" r:id="rId50"/>
    <p:sldId id="328" r:id="rId51"/>
    <p:sldId id="329" r:id="rId52"/>
    <p:sldId id="330" r:id="rId53"/>
    <p:sldId id="315" r:id="rId54"/>
    <p:sldId id="316" r:id="rId55"/>
    <p:sldId id="317" r:id="rId56"/>
    <p:sldId id="318" r:id="rId57"/>
    <p:sldId id="320" r:id="rId58"/>
    <p:sldId id="323" r:id="rId59"/>
    <p:sldId id="324" r:id="rId60"/>
    <p:sldId id="325" r:id="rId61"/>
    <p:sldId id="326" r:id="rId62"/>
    <p:sldId id="327" r:id="rId63"/>
    <p:sldId id="321" r:id="rId64"/>
    <p:sldId id="322" r:id="rId65"/>
    <p:sldId id="331" r:id="rId66"/>
    <p:sldId id="332" r:id="rId67"/>
    <p:sldId id="333" r:id="rId68"/>
    <p:sldId id="335" r:id="rId69"/>
    <p:sldId id="334" r:id="rId70"/>
    <p:sldId id="311" r:id="rId71"/>
    <p:sldId id="336" r:id="rId72"/>
    <p:sldId id="337" r:id="rId73"/>
    <p:sldId id="338" r:id="rId74"/>
    <p:sldId id="339" r:id="rId75"/>
    <p:sldId id="340" r:id="rId76"/>
    <p:sldId id="341" r:id="rId7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ouha selena" initials="ns" lastIdx="2" clrIdx="0">
    <p:extLst>
      <p:ext uri="{19B8F6BF-5375-455C-9EA6-DF929625EA0E}">
        <p15:presenceInfo xmlns:p15="http://schemas.microsoft.com/office/powerpoint/2012/main" userId="6b054cda531ed4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7D40"/>
    <a:srgbClr val="08191A"/>
    <a:srgbClr val="0F3133"/>
    <a:srgbClr val="F967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529" autoAdjust="0"/>
  </p:normalViewPr>
  <p:slideViewPr>
    <p:cSldViewPr showGuides="1">
      <p:cViewPr varScale="1">
        <p:scale>
          <a:sx n="80" d="100"/>
          <a:sy n="80" d="100"/>
        </p:scale>
        <p:origin x="120" y="666"/>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0-17T11:26:19.450" idx="1">
    <p:pos x="7398" y="2073"/>
    <p:text>**Example Use Case**: An HTTP proxy can implement policies to block requests directed at known malicious domains or filter based on specific keywords to prevent undesirable content access.</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10-26T02:12:19.437" idx="2">
    <p:pos x="2049" y="2945"/>
    <p:text>2^6=64</p:text>
    <p:extLst>
      <p:ext uri="{C676402C-5697-4E1C-873F-D02D1690AC5C}">
        <p15:threadingInfo xmlns:p15="http://schemas.microsoft.com/office/powerpoint/2012/main" timeZoneBias="-6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1/10/2026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CISCO </a:t>
            </a:r>
            <a:r>
              <a:rPr lang="fr-FR" dirty="0" err="1"/>
              <a:t>allow</a:t>
            </a:r>
            <a:r>
              <a:rPr lang="fr-FR" dirty="0"/>
              <a:t> to </a:t>
            </a:r>
            <a:r>
              <a:rPr lang="fr-FR" dirty="0" err="1"/>
              <a:t>creat</a:t>
            </a:r>
            <a:r>
              <a:rPr lang="fr-FR" dirty="0"/>
              <a:t> 11 class of </a:t>
            </a:r>
            <a:r>
              <a:rPr lang="fr-FR" dirty="0" err="1"/>
              <a:t>priority</a:t>
            </a:r>
            <a:r>
              <a:rPr lang="fr-FR" dirty="0"/>
              <a:t>, and </a:t>
            </a:r>
            <a:r>
              <a:rPr lang="fr-FR" dirty="0" err="1"/>
              <a:t>give</a:t>
            </a:r>
            <a:r>
              <a:rPr lang="fr-FR" dirty="0"/>
              <a:t> us </a:t>
            </a:r>
            <a:r>
              <a:rPr lang="fr-FR" dirty="0" err="1"/>
              <a:t>only</a:t>
            </a:r>
            <a:r>
              <a:rPr lang="fr-FR" dirty="0"/>
              <a:t> 3 bit in the </a:t>
            </a:r>
            <a:r>
              <a:rPr lang="fr-FR" dirty="0" err="1"/>
              <a:t>ipp</a:t>
            </a:r>
            <a:r>
              <a:rPr lang="fr-FR" dirty="0"/>
              <a:t> ==== </a:t>
            </a:r>
            <a:r>
              <a:rPr lang="fr-FR" dirty="0" err="1"/>
              <a:t>creat</a:t>
            </a:r>
            <a:r>
              <a:rPr lang="fr-FR" dirty="0"/>
              <a:t> </a:t>
            </a:r>
            <a:r>
              <a:rPr lang="fr-FR" dirty="0" err="1"/>
              <a:t>dscp</a:t>
            </a:r>
            <a:r>
              <a:rPr lang="fr-FR" dirty="0"/>
              <a:t> </a:t>
            </a:r>
            <a:r>
              <a:rPr lang="fr-FR" dirty="0" err="1"/>
              <a:t>with</a:t>
            </a:r>
            <a:r>
              <a:rPr lang="fr-FR" dirty="0"/>
              <a:t> 6bit</a:t>
            </a:r>
          </a:p>
          <a:p>
            <a:r>
              <a:rPr lang="fr-FR" dirty="0" err="1"/>
              <a:t>Ask</a:t>
            </a:r>
            <a:r>
              <a:rPr lang="fr-FR" dirty="0"/>
              <a:t> </a:t>
            </a:r>
            <a:r>
              <a:rPr lang="fr-FR" dirty="0" err="1"/>
              <a:t>student</a:t>
            </a:r>
            <a:r>
              <a:rPr lang="fr-FR" dirty="0"/>
              <a:t> about 2^6=64</a:t>
            </a:r>
          </a:p>
          <a:p>
            <a:r>
              <a:rPr lang="fr-FR" dirty="0" err="1"/>
              <a:t>We</a:t>
            </a:r>
            <a:r>
              <a:rPr lang="fr-FR" dirty="0"/>
              <a:t> have a lot of classes </a:t>
            </a:r>
            <a:r>
              <a:rPr lang="fr-FR" dirty="0" err="1"/>
              <a:t>without</a:t>
            </a:r>
            <a:r>
              <a:rPr lang="fr-FR" dirty="0"/>
              <a:t> </a:t>
            </a:r>
            <a:r>
              <a:rPr lang="fr-FR" dirty="0" err="1"/>
              <a:t>any</a:t>
            </a:r>
            <a:r>
              <a:rPr lang="fr-FR" dirty="0"/>
              <a:t> </a:t>
            </a:r>
            <a:r>
              <a:rPr lang="fr-FR" dirty="0" err="1"/>
              <a:t>reference</a:t>
            </a:r>
            <a:r>
              <a:rPr lang="fr-FR" dirty="0"/>
              <a:t> to prioritise data, router 26 the best </a:t>
            </a:r>
            <a:r>
              <a:rPr lang="fr-FR" dirty="0" err="1"/>
              <a:t>priority</a:t>
            </a:r>
            <a:r>
              <a:rPr lang="fr-FR" dirty="0"/>
              <a:t> </a:t>
            </a:r>
            <a:r>
              <a:rPr lang="fr-FR" dirty="0" err="1"/>
              <a:t>other</a:t>
            </a:r>
            <a:r>
              <a:rPr lang="fr-FR" dirty="0"/>
              <a:t> do not</a:t>
            </a:r>
          </a:p>
          <a:p>
            <a:r>
              <a:rPr lang="fr-FR" dirty="0"/>
              <a:t>IETF </a:t>
            </a:r>
            <a:r>
              <a:rPr lang="fr-FR" dirty="0" err="1"/>
              <a:t>Creats</a:t>
            </a:r>
            <a:r>
              <a:rPr lang="fr-FR" dirty="0"/>
              <a:t> 21 </a:t>
            </a:r>
            <a:r>
              <a:rPr lang="fr-FR" dirty="0" err="1"/>
              <a:t>preselected</a:t>
            </a:r>
            <a:r>
              <a:rPr lang="fr-FR" dirty="0"/>
              <a:t> values</a:t>
            </a:r>
          </a:p>
          <a:p>
            <a:endParaRPr lang="fr-DZ"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60</a:t>
            </a:fld>
            <a:endParaRPr lang="en-US"/>
          </a:p>
        </p:txBody>
      </p:sp>
    </p:spTree>
    <p:extLst>
      <p:ext uri="{BB962C8B-B14F-4D97-AF65-F5344CB8AC3E}">
        <p14:creationId xmlns:p14="http://schemas.microsoft.com/office/powerpoint/2010/main" val="47610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1" name="Rectangle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2" name="Rectangle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3" name="Straight Connector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5" name="Straight Connector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anchor="t" anchorCtr="0" compatLnSpc="1">
            <a:prstTxWarp prst="textNoShape">
              <a:avLst/>
            </a:prstTxWarp>
          </a:bodyPr>
          <a:lstStyle/>
          <a:p>
            <a:endParaRPr/>
          </a:p>
        </p:txBody>
      </p:sp>
      <p:sp>
        <p:nvSpPr>
          <p:cNvPr id="2" name="Title 1"/>
          <p:cNvSpPr>
            <a:spLocks noGrp="1"/>
          </p:cNvSpPr>
          <p:nvPr>
            <p:ph type="ctrTitle"/>
          </p:nvPr>
        </p:nvSpPr>
        <p:spPr>
          <a:xfrm>
            <a:off x="2428669" y="1600200"/>
            <a:ext cx="8329031" cy="2680127"/>
          </a:xfrm>
        </p:spPr>
        <p:txBody>
          <a:bodyPr>
            <a:no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1/10/2026</a:t>
            </a:fld>
            <a:endParaRPr lang="en-US" dirty="0"/>
          </a:p>
        </p:txBody>
      </p:sp>
      <p:sp>
        <p:nvSpPr>
          <p:cNvPr id="5" name="Footer Placeholder 4"/>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6" name="Slide Number Placeholder 5"/>
          <p:cNvSpPr>
            <a:spLocks noGrp="1"/>
          </p:cNvSpPr>
          <p:nvPr>
            <p:ph type="sldNum" sz="quarter" idx="12"/>
          </p:nvPr>
        </p:nvSpPr>
        <p:spPr>
          <a:xfrm>
            <a:off x="10666412" y="6356351"/>
            <a:ext cx="609441" cy="365125"/>
          </a:xfrm>
        </p:spPr>
        <p:txBody>
          <a:bodyPr/>
          <a:lstStyle>
            <a:lvl1pPr>
              <a:defRPr baseline="0">
                <a:solidFill>
                  <a:schemeClr val="tx2"/>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2C6F8EA-316C-41DE-B9A4-EDCC3A85ED9A}" type="datetimeFigureOut">
              <a:rPr lang="en-US"/>
              <a:t>1/10/2026</a:t>
            </a:fld>
            <a:endParaRPr dirty="0"/>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0" name="Rectangle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4" name="Rectangle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1" name="Rectangle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22" name="Straight Connector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anchor="t" anchorCtr="0" compatLnSpc="1">
            <a:prstTxWarp prst="textNoShape">
              <a:avLst/>
            </a:prstTxWarp>
          </a:bodyPr>
          <a:lstStyle/>
          <a:p>
            <a:endParaRPr/>
          </a:p>
        </p:txBody>
      </p:sp>
      <p:cxnSp>
        <p:nvCxnSpPr>
          <p:cNvPr id="23" name="Straight Connector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7" name="Rectangle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8" name="Rectangle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9" name="Rectangle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30" name="Rectangle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31" name="Straight Connector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33" name="Straight Connector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98613" y="1600201"/>
            <a:ext cx="8283272" cy="2654064"/>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598613" y="4259996"/>
            <a:ext cx="7264623" cy="1150203"/>
          </a:xfrm>
        </p:spPr>
        <p:txBody>
          <a:bodyPr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1/10/2026</a:t>
            </a:fld>
            <a:endParaRPr lang="en-US" dirty="0"/>
          </a:p>
        </p:txBody>
      </p:sp>
      <p:sp>
        <p:nvSpPr>
          <p:cNvPr id="5" name="Footer Placeholder 4"/>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6" name="Slide Number Placeholder 5"/>
          <p:cNvSpPr>
            <a:spLocks noGrp="1"/>
          </p:cNvSpPr>
          <p:nvPr>
            <p:ph type="sldNum" sz="quarter" idx="12"/>
          </p:nvPr>
        </p:nvSpPr>
        <p:spPr>
          <a:xfrm>
            <a:off x="10666571" y="6356351"/>
            <a:ext cx="609441" cy="365125"/>
          </a:xfrm>
        </p:spPr>
        <p:txBody>
          <a:bodyPr/>
          <a:lstStyle>
            <a:lvl1pPr>
              <a:defRPr baseline="0">
                <a:solidFill>
                  <a:schemeClr val="tx2"/>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93436" y="1600200"/>
            <a:ext cx="4814586"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61651" y="1600200"/>
            <a:ext cx="4814586" cy="4572000"/>
          </a:xfrm>
        </p:spPr>
        <p:txBody>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C2C6F8EA-316C-41DE-B9A4-EDCC3A85ED9A}" type="datetimeFigureOut">
              <a:rPr lang="en-US"/>
              <a:t>1/10/2026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93436" y="1499616"/>
            <a:ext cx="4818888" cy="938784"/>
          </a:xfrm>
        </p:spPr>
        <p:txBody>
          <a:bodyPr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93436" y="2514706"/>
            <a:ext cx="4814586" cy="365749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557349" y="1499616"/>
            <a:ext cx="4818888" cy="938784"/>
          </a:xfrm>
        </p:spPr>
        <p:txBody>
          <a:bodyPr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7349" y="2514600"/>
            <a:ext cx="4818888" cy="365556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C2C6F8EA-316C-41DE-B9A4-EDCC3A85ED9A}" type="datetimeFigureOut">
              <a:rPr lang="en-US"/>
              <a:t>1/10/2026</a:t>
            </a:fld>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9" name="Slide Number Placeholder 8"/>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C2C6F8EA-316C-41DE-B9A4-EDCC3A85ED9A}" type="datetimeFigureOut">
              <a:rPr lang="en-US"/>
              <a:t>1/10/2026</a:t>
            </a:fld>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5" name="Slide Number Placeholder 4"/>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6" name="Rectangle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cxnSp>
        <p:nvCxnSpPr>
          <p:cNvPr id="7" name="Straight Connector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Date Placeholder 1"/>
          <p:cNvSpPr>
            <a:spLocks noGrp="1"/>
          </p:cNvSpPr>
          <p:nvPr>
            <p:ph type="dt" sz="half" idx="10"/>
          </p:nvPr>
        </p:nvSpPr>
        <p:spPr/>
        <p:txBody>
          <a:bodyPr/>
          <a:lstStyle/>
          <a:p>
            <a:fld id="{C2C6F8EA-316C-41DE-B9A4-EDCC3A85ED9A}" type="datetimeFigureOut">
              <a:rPr lang="en-US"/>
              <a:t>1/10/2026</a:t>
            </a:fld>
            <a:endParaRPr/>
          </a:p>
        </p:txBody>
      </p:sp>
      <p:sp>
        <p:nvSpPr>
          <p:cNvPr id="3" name="Footer Placeholder 2"/>
          <p:cNvSpPr>
            <a:spLocks noGrp="1"/>
          </p:cNvSpPr>
          <p:nvPr>
            <p:ph type="ftr" sz="quarter" idx="11"/>
          </p:nvPr>
        </p:nvSpPr>
        <p:spPr/>
        <p:txBody>
          <a:bodyPr/>
          <a:lstStyle/>
          <a:p>
            <a:r>
              <a:rPr lang="en-US" dirty="0"/>
              <a:t>Add a footer</a:t>
            </a:r>
            <a:endParaRPr dirty="0"/>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7DC1BBB0-96F0-4077-A278-0F3FB5C104D3}" type="slidenum">
              <a:rPr/>
              <a:pPr/>
              <a:t>‹#›</a:t>
            </a:fld>
            <a:endParaRPr/>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cxnSp>
        <p:nvCxnSpPr>
          <p:cNvPr id="10" name="Straight Connector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Title 1"/>
          <p:cNvSpPr>
            <a:spLocks noGrp="1"/>
          </p:cNvSpPr>
          <p:nvPr>
            <p:ph type="title"/>
          </p:nvPr>
        </p:nvSpPr>
        <p:spPr bwMode="white">
          <a:xfrm>
            <a:off x="1074240" y="381000"/>
            <a:ext cx="3293422" cy="1371600"/>
          </a:xfrm>
        </p:spPr>
        <p:txBody>
          <a:bodyPr anchor="b">
            <a:normAutofit/>
          </a:bodyPr>
          <a:lstStyle>
            <a:lvl1pPr algn="l">
              <a:defRPr sz="2800" b="0" cap="all" baseline="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5180251" y="482600"/>
            <a:ext cx="6195986" cy="56896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bwMode="white">
          <a:xfrm>
            <a:off x="1074240" y="1828800"/>
            <a:ext cx="3293422" cy="4343400"/>
          </a:xfrm>
        </p:spPr>
        <p:txBody>
          <a:bodyPr>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C6F8EA-316C-41DE-B9A4-EDCC3A85ED9A}" type="datetimeFigureOut">
              <a:rPr lang="en-US"/>
              <a:t>1/10/2026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Title 1"/>
          <p:cNvSpPr>
            <a:spLocks noGrp="1"/>
          </p:cNvSpPr>
          <p:nvPr>
            <p:ph type="title"/>
          </p:nvPr>
        </p:nvSpPr>
        <p:spPr>
          <a:xfrm>
            <a:off x="1074240" y="381000"/>
            <a:ext cx="3293422" cy="1371600"/>
          </a:xfrm>
        </p:spPr>
        <p:txBody>
          <a:bodyPr anchor="b">
            <a:normAutofit/>
          </a:bodyPr>
          <a:lstStyle>
            <a:lvl1pPr algn="l">
              <a:defRPr sz="2800" b="0" cap="all" baseline="0">
                <a:solidFill>
                  <a:schemeClr val="tx1">
                    <a:lumMod val="75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bwMode="auto">
          <a:xfrm>
            <a:off x="5180251" y="482600"/>
            <a:ext cx="6195986" cy="5689600"/>
          </a:xfrm>
          <a:ln w="19050">
            <a:solidFill>
              <a:schemeClr val="bg1"/>
            </a:solidFill>
          </a:ln>
        </p:spPr>
        <p:txBody>
          <a:bodyPr>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74240" y="1828800"/>
            <a:ext cx="3293422"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1/10/2026</a:t>
            </a:fld>
            <a:endParaRPr lang="en-US" dirty="0"/>
          </a:p>
        </p:txBody>
      </p:sp>
      <p:sp>
        <p:nvSpPr>
          <p:cNvPr id="6" name="Footer Placeholder 5"/>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7" name="Slide Number Placeholder 6"/>
          <p:cNvSpPr>
            <a:spLocks noGrp="1"/>
          </p:cNvSpPr>
          <p:nvPr>
            <p:ph type="sldNum" sz="quarter" idx="12"/>
          </p:nvPr>
        </p:nvSpPr>
        <p:spPr/>
        <p:txBody>
          <a:bodyPr/>
          <a:lstStyle>
            <a:lvl1pPr>
              <a:defRPr baseline="0">
                <a:solidFill>
                  <a:schemeClr val="tx2"/>
                </a:solidFill>
              </a:defRPr>
            </a:lvl1pPr>
          </a:lstStyle>
          <a:p>
            <a:fld id="{7DC1BBB0-96F0-4077-A278-0F3FB5C104D3}" type="slidenum">
              <a:rPr lang="en-US" smtClean="0"/>
              <a:pPr/>
              <a:t>‹#›</a:t>
            </a:fld>
            <a:endParaRPr lang="en-US"/>
          </a:p>
        </p:txBody>
      </p:sp>
      <p:cxnSp>
        <p:nvCxnSpPr>
          <p:cNvPr id="10" name="Straight Connector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2C6F8EA-316C-41DE-B9A4-EDCC3A85ED9A}" type="datetimeFigureOut">
              <a:rPr lang="en-US"/>
              <a:t>1/10/2026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1" name="Straight Connector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a:p>
        </p:txBody>
      </p:sp>
      <p:cxnSp>
        <p:nvCxnSpPr>
          <p:cNvPr id="14" name="Straight Connector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9599612" y="685800"/>
            <a:ext cx="1787526"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98613" y="685800"/>
            <a:ext cx="7848599"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2C6F8EA-316C-41DE-B9A4-EDCC3A85ED9A}" type="datetimeFigureOut">
              <a:rPr lang="en-US"/>
              <a:t>1/10/2026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3" name="Rectangle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4" name="Straight Connector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a:p>
        </p:txBody>
      </p:sp>
      <p:cxnSp>
        <p:nvCxnSpPr>
          <p:cNvPr id="16" name="Straight Connector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fld id="{C2C6F8EA-316C-41DE-B9A4-EDCC3A85ED9A}" type="datetimeFigureOut">
              <a:rPr lang="en-US" smtClean="0"/>
              <a:pPr/>
              <a:t>1/10/2026</a:t>
            </a:fld>
            <a:endParaRPr lang="en-US" dirty="0"/>
          </a:p>
        </p:txBody>
      </p:sp>
      <p:sp>
        <p:nvSpPr>
          <p:cNvPr id="5" name="Footer Placeholder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omments" Target="../comments/commen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7E23B91-71F3-4C00-0372-65D7F710ACE3}"/>
              </a:ext>
            </a:extLst>
          </p:cNvPr>
          <p:cNvPicPr>
            <a:picLocks noChangeAspect="1"/>
          </p:cNvPicPr>
          <p:nvPr/>
        </p:nvPicPr>
        <p:blipFill>
          <a:blip r:embed="rId2"/>
          <a:srcRect t="18900" b="19151"/>
          <a:stretch>
            <a:fillRect/>
          </a:stretch>
        </p:blipFill>
        <p:spPr>
          <a:xfrm>
            <a:off x="2926060" y="116632"/>
            <a:ext cx="8181528" cy="5068386"/>
          </a:xfrm>
          <a:prstGeom prst="rect">
            <a:avLst/>
          </a:prstGeom>
        </p:spPr>
      </p:pic>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135E-2ABD-A139-8A06-A2DEAEEB5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26FCC-731B-1604-C53D-DECBEB6851DF}"/>
              </a:ext>
            </a:extLst>
          </p:cNvPr>
          <p:cNvSpPr>
            <a:spLocks noGrp="1"/>
          </p:cNvSpPr>
          <p:nvPr>
            <p:ph type="ctrTitle"/>
          </p:nvPr>
        </p:nvSpPr>
        <p:spPr>
          <a:xfrm>
            <a:off x="2422004" y="2276872"/>
            <a:ext cx="9361040" cy="1402044"/>
          </a:xfrm>
        </p:spPr>
        <p:txBody>
          <a:bodyPr/>
          <a:lstStyle/>
          <a:p>
            <a:r>
              <a:rPr lang="en-US" sz="11000" b="1" dirty="0">
                <a:latin typeface="Bahnschrift Condensed" panose="020B0502040204020203" pitchFamily="34" charset="0"/>
              </a:rPr>
              <a:t>Advanced Networks</a:t>
            </a:r>
          </a:p>
        </p:txBody>
      </p:sp>
      <p:sp>
        <p:nvSpPr>
          <p:cNvPr id="3" name="Subtitle 2">
            <a:extLst>
              <a:ext uri="{FF2B5EF4-FFF2-40B4-BE49-F238E27FC236}">
                <a16:creationId xmlns:a16="http://schemas.microsoft.com/office/drawing/2014/main" id="{1A430AC7-7F91-375E-B1E3-2AB20D95D863}"/>
              </a:ext>
            </a:extLst>
          </p:cNvPr>
          <p:cNvSpPr>
            <a:spLocks noGrp="1"/>
          </p:cNvSpPr>
          <p:nvPr>
            <p:ph type="subTitle" idx="1"/>
          </p:nvPr>
        </p:nvSpPr>
        <p:spPr>
          <a:xfrm>
            <a:off x="5197643" y="4025347"/>
            <a:ext cx="3305703" cy="339757"/>
          </a:xfrm>
        </p:spPr>
        <p:txBody>
          <a:bodyPr>
            <a:normAutofit lnSpcReduction="10000"/>
          </a:bodyPr>
          <a:lstStyle/>
          <a:p>
            <a:r>
              <a:rPr lang="en-US" sz="2000" u="sng" dirty="0">
                <a:latin typeface="Times New Roman" panose="02020603050405020304" pitchFamily="18" charset="0"/>
                <a:cs typeface="Times New Roman" panose="02020603050405020304" pitchFamily="18" charset="0"/>
              </a:rPr>
              <a:t>Prepared by: Dr, Elhachi Hana</a:t>
            </a:r>
          </a:p>
        </p:txBody>
      </p:sp>
      <p:pic>
        <p:nvPicPr>
          <p:cNvPr id="1028" name="Picture 4" descr="جامعة طاهري محمد -بشار. University of Bechar-Tahri Mohamed | Béchar">
            <a:extLst>
              <a:ext uri="{FF2B5EF4-FFF2-40B4-BE49-F238E27FC236}">
                <a16:creationId xmlns:a16="http://schemas.microsoft.com/office/drawing/2014/main" id="{9CC4D35E-DBEC-1F97-632F-ABAF95A81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8948" y="347870"/>
            <a:ext cx="860302" cy="84888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CF184C1-EC1B-2263-ACFA-6B19E602A722}"/>
              </a:ext>
            </a:extLst>
          </p:cNvPr>
          <p:cNvSpPr txBox="1"/>
          <p:nvPr/>
        </p:nvSpPr>
        <p:spPr>
          <a:xfrm>
            <a:off x="4150196" y="165389"/>
            <a:ext cx="5400600" cy="584775"/>
          </a:xfrm>
          <a:prstGeom prst="rect">
            <a:avLst/>
          </a:prstGeom>
          <a:noFill/>
        </p:spPr>
        <p:txBody>
          <a:bodyPr wrap="square">
            <a:spAutoFit/>
          </a:bodyPr>
          <a:lstStyle/>
          <a:p>
            <a:pPr algn="ctr"/>
            <a:r>
              <a:rPr lang="fr-DZ" sz="1600" dirty="0" err="1">
                <a:latin typeface="Forte" panose="03060902040502070203" pitchFamily="66" charset="0"/>
                <a:cs typeface="Times New Roman" panose="02020603050405020304" pitchFamily="18" charset="0"/>
              </a:rPr>
              <a:t>People's</a:t>
            </a:r>
            <a:r>
              <a:rPr lang="fr-DZ" sz="1600" dirty="0">
                <a:latin typeface="Forte" panose="03060902040502070203" pitchFamily="66" charset="0"/>
                <a:cs typeface="Times New Roman" panose="02020603050405020304" pitchFamily="18" charset="0"/>
              </a:rPr>
              <a:t> Democratic Republic of Algeria </a:t>
            </a:r>
            <a:endParaRPr lang="ar-DZ" sz="1600" dirty="0">
              <a:latin typeface="Forte" panose="03060902040502070203" pitchFamily="66" charset="0"/>
              <a:cs typeface="Times New Roman" panose="02020603050405020304" pitchFamily="18" charset="0"/>
            </a:endParaRPr>
          </a:p>
          <a:p>
            <a:pPr algn="ctr"/>
            <a:r>
              <a:rPr lang="fr-DZ" sz="1600" dirty="0">
                <a:latin typeface="Forte" panose="03060902040502070203" pitchFamily="66" charset="0"/>
                <a:cs typeface="Times New Roman" panose="02020603050405020304" pitchFamily="18" charset="0"/>
              </a:rPr>
              <a:t>Ministry of </a:t>
            </a:r>
            <a:r>
              <a:rPr lang="fr-DZ" sz="1600" dirty="0" err="1">
                <a:latin typeface="Forte" panose="03060902040502070203" pitchFamily="66" charset="0"/>
                <a:cs typeface="Times New Roman" panose="02020603050405020304" pitchFamily="18" charset="0"/>
              </a:rPr>
              <a:t>Higher</a:t>
            </a:r>
            <a:r>
              <a:rPr lang="fr-DZ" sz="1600" dirty="0">
                <a:latin typeface="Forte" panose="03060902040502070203" pitchFamily="66" charset="0"/>
                <a:cs typeface="Times New Roman" panose="02020603050405020304" pitchFamily="18" charset="0"/>
              </a:rPr>
              <a:t> </a:t>
            </a:r>
            <a:r>
              <a:rPr lang="fr-DZ" sz="1600" dirty="0" err="1">
                <a:latin typeface="Forte" panose="03060902040502070203" pitchFamily="66" charset="0"/>
                <a:cs typeface="Times New Roman" panose="02020603050405020304" pitchFamily="18" charset="0"/>
              </a:rPr>
              <a:t>Education</a:t>
            </a:r>
            <a:r>
              <a:rPr lang="fr-DZ" sz="1600" dirty="0">
                <a:latin typeface="Forte" panose="03060902040502070203" pitchFamily="66" charset="0"/>
                <a:cs typeface="Times New Roman" panose="02020603050405020304" pitchFamily="18" charset="0"/>
              </a:rPr>
              <a:t> and Scientific </a:t>
            </a:r>
            <a:r>
              <a:rPr lang="fr-DZ" sz="1600" dirty="0" err="1">
                <a:latin typeface="Forte" panose="03060902040502070203" pitchFamily="66" charset="0"/>
                <a:cs typeface="Times New Roman" panose="02020603050405020304" pitchFamily="18" charset="0"/>
              </a:rPr>
              <a:t>Research</a:t>
            </a:r>
            <a:endParaRPr lang="fr-DZ" sz="1600" dirty="0">
              <a:latin typeface="Forte" panose="03060902040502070203" pitchFamily="66" charset="0"/>
              <a:cs typeface="Times New Roman" panose="02020603050405020304" pitchFamily="18" charset="0"/>
            </a:endParaRPr>
          </a:p>
        </p:txBody>
      </p:sp>
      <p:pic>
        <p:nvPicPr>
          <p:cNvPr id="7" name="Picture 4" descr="جامعة طاهري محمد -بشار. University of Bechar-Tahri Mohamed | Béchar">
            <a:extLst>
              <a:ext uri="{FF2B5EF4-FFF2-40B4-BE49-F238E27FC236}">
                <a16:creationId xmlns:a16="http://schemas.microsoft.com/office/drawing/2014/main" id="{DEC09A15-1BB3-6E7B-2A45-2FE625DD1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972" y="347870"/>
            <a:ext cx="860302" cy="848882"/>
          </a:xfrm>
          <a:prstGeom prst="rect">
            <a:avLst/>
          </a:prstGeom>
          <a:noFill/>
          <a:extLst>
            <a:ext uri="{909E8E84-426E-40DD-AFC4-6F175D3DCCD1}">
              <a14:hiddenFill xmlns:a14="http://schemas.microsoft.com/office/drawing/2010/main">
                <a:solidFill>
                  <a:srgbClr val="FFFFFF"/>
                </a:solidFill>
              </a14:hiddenFill>
            </a:ext>
          </a:extLst>
        </p:spPr>
      </p:pic>
      <p:sp>
        <p:nvSpPr>
          <p:cNvPr id="8" name="Subtitle 2">
            <a:extLst>
              <a:ext uri="{FF2B5EF4-FFF2-40B4-BE49-F238E27FC236}">
                <a16:creationId xmlns:a16="http://schemas.microsoft.com/office/drawing/2014/main" id="{00FF07B8-E28C-F3FD-07A6-C55F3F1F2F7C}"/>
              </a:ext>
            </a:extLst>
          </p:cNvPr>
          <p:cNvSpPr txBox="1">
            <a:spLocks/>
          </p:cNvSpPr>
          <p:nvPr/>
        </p:nvSpPr>
        <p:spPr>
          <a:xfrm>
            <a:off x="2494012" y="4941168"/>
            <a:ext cx="9289032" cy="339757"/>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0"/>
              </a:spcBef>
              <a:buFont typeface="Euphemia"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Euphemia"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Euphemia"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Semester: 7                                                 Credit: 5                                               Coefficient: 4</a:t>
            </a:r>
          </a:p>
        </p:txBody>
      </p:sp>
      <p:sp>
        <p:nvSpPr>
          <p:cNvPr id="9" name="Subtitle 2">
            <a:extLst>
              <a:ext uri="{FF2B5EF4-FFF2-40B4-BE49-F238E27FC236}">
                <a16:creationId xmlns:a16="http://schemas.microsoft.com/office/drawing/2014/main" id="{4F087956-0149-BF75-14C6-03D289FBABF5}"/>
              </a:ext>
            </a:extLst>
          </p:cNvPr>
          <p:cNvSpPr txBox="1">
            <a:spLocks/>
          </p:cNvSpPr>
          <p:nvPr/>
        </p:nvSpPr>
        <p:spPr>
          <a:xfrm>
            <a:off x="4917006" y="1313596"/>
            <a:ext cx="3866979" cy="41750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0"/>
              </a:spcBef>
              <a:buFont typeface="Euphemia"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Euphemia"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Euphemia"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9pPr>
          </a:lstStyle>
          <a:p>
            <a:r>
              <a:rPr lang="en-US" sz="2400" u="sng" dirty="0">
                <a:latin typeface="Times New Roman" panose="02020603050405020304" pitchFamily="18" charset="0"/>
                <a:cs typeface="Times New Roman" panose="02020603050405020304" pitchFamily="18" charset="0"/>
              </a:rPr>
              <a:t>Specialty: Computer Security</a:t>
            </a:r>
          </a:p>
        </p:txBody>
      </p:sp>
    </p:spTree>
    <p:extLst>
      <p:ext uri="{BB962C8B-B14F-4D97-AF65-F5344CB8AC3E}">
        <p14:creationId xmlns:p14="http://schemas.microsoft.com/office/powerpoint/2010/main" val="97772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93436" y="392907"/>
            <a:ext cx="9782801" cy="731837"/>
          </a:xfrm>
        </p:spPr>
        <p:txBody>
          <a:bodyPr>
            <a:normAutofit/>
          </a:bodyPr>
          <a:lstStyle/>
          <a:p>
            <a:pPr algn="ctr"/>
            <a:r>
              <a:rPr lang="en-US" sz="4400" b="1" dirty="0">
                <a:latin typeface="Bahnschrift Condensed" panose="020B0502040204020203" pitchFamily="34" charset="0"/>
                <a:cs typeface="Times New Roman" panose="02020603050405020304" pitchFamily="18" charset="0"/>
              </a:rPr>
              <a:t>Chapters</a:t>
            </a:r>
            <a:r>
              <a:rPr lang="en-US" dirty="0">
                <a:latin typeface="Times New Roman" panose="02020603050405020304" pitchFamily="18" charset="0"/>
                <a:cs typeface="Times New Roman" panose="02020603050405020304" pitchFamily="18" charset="0"/>
              </a:rPr>
              <a:t>:</a:t>
            </a:r>
          </a:p>
        </p:txBody>
      </p:sp>
      <p:sp>
        <p:nvSpPr>
          <p:cNvPr id="14" name="Content Placeholder 13"/>
          <p:cNvSpPr>
            <a:spLocks noGrp="1"/>
          </p:cNvSpPr>
          <p:nvPr>
            <p:ph idx="1"/>
          </p:nvPr>
        </p:nvSpPr>
        <p:spPr>
          <a:xfrm>
            <a:off x="1593436" y="1405880"/>
            <a:ext cx="9782801" cy="5191472"/>
          </a:xfrm>
        </p:spPr>
        <p:txBody>
          <a:bodyPr>
            <a:normAutofit/>
          </a:bodyPr>
          <a:lstStyle/>
          <a:p>
            <a:r>
              <a:rPr lang="en-US" sz="2400" dirty="0">
                <a:latin typeface="Times New Roman" panose="02020603050405020304" pitchFamily="18" charset="0"/>
                <a:cs typeface="Times New Roman" panose="02020603050405020304" pitchFamily="18" charset="0"/>
              </a:rPr>
              <a:t>Introduction to Advanced Computer Networks</a:t>
            </a:r>
          </a:p>
          <a:p>
            <a:r>
              <a:rPr lang="fr-FR" sz="2400" dirty="0">
                <a:latin typeface="Times New Roman" panose="02020603050405020304" pitchFamily="18" charset="0"/>
                <a:cs typeface="Times New Roman" panose="02020603050405020304" pitchFamily="18" charset="0"/>
              </a:rPr>
              <a:t>Network Security</a:t>
            </a:r>
          </a:p>
          <a:p>
            <a:r>
              <a:rPr lang="fr-FR" sz="2400" dirty="0" err="1">
                <a:latin typeface="Times New Roman" panose="02020603050405020304" pitchFamily="18" charset="0"/>
                <a:cs typeface="Times New Roman" panose="02020603050405020304" pitchFamily="18" charset="0"/>
              </a:rPr>
              <a:t>Quality</a:t>
            </a:r>
            <a:r>
              <a:rPr lang="fr-FR" sz="2400" dirty="0">
                <a:latin typeface="Times New Roman" panose="02020603050405020304" pitchFamily="18" charset="0"/>
                <a:cs typeface="Times New Roman" panose="02020603050405020304" pitchFamily="18" charset="0"/>
              </a:rPr>
              <a:t> of Service (QoS)</a:t>
            </a:r>
          </a:p>
          <a:p>
            <a:r>
              <a:rPr lang="fr-FR" sz="2400" dirty="0" err="1">
                <a:latin typeface="Times New Roman" panose="02020603050405020304" pitchFamily="18" charset="0"/>
                <a:cs typeface="Times New Roman" panose="02020603050405020304" pitchFamily="18" charset="0"/>
              </a:rPr>
              <a:t>Emerging</a:t>
            </a:r>
            <a:r>
              <a:rPr lang="fr-FR" sz="2400" dirty="0">
                <a:latin typeface="Times New Roman" panose="02020603050405020304" pitchFamily="18" charset="0"/>
                <a:cs typeface="Times New Roman" panose="02020603050405020304" pitchFamily="18" charset="0"/>
              </a:rPr>
              <a:t> Network Technologies</a:t>
            </a:r>
          </a:p>
          <a:p>
            <a:r>
              <a:rPr lang="fr-FR" sz="2400" dirty="0">
                <a:latin typeface="Times New Roman" panose="02020603050405020304" pitchFamily="18" charset="0"/>
                <a:cs typeface="Times New Roman" panose="02020603050405020304" pitchFamily="18" charset="0"/>
              </a:rPr>
              <a:t>Advanced </a:t>
            </a:r>
            <a:r>
              <a:rPr lang="fr-FR" sz="2400" dirty="0" err="1">
                <a:latin typeface="Times New Roman" panose="02020603050405020304" pitchFamily="18" charset="0"/>
                <a:cs typeface="Times New Roman" panose="02020603050405020304" pitchFamily="18" charset="0"/>
              </a:rPr>
              <a:t>Routing</a:t>
            </a:r>
            <a:r>
              <a:rPr lang="fr-FR" sz="2400" dirty="0">
                <a:latin typeface="Times New Roman" panose="02020603050405020304" pitchFamily="18" charset="0"/>
                <a:cs typeface="Times New Roman" panose="02020603050405020304" pitchFamily="18" charset="0"/>
              </a:rPr>
              <a:t> and </a:t>
            </a:r>
            <a:r>
              <a:rPr lang="fr-FR" sz="2400" dirty="0" err="1">
                <a:latin typeface="Times New Roman" panose="02020603050405020304" pitchFamily="18" charset="0"/>
                <a:cs typeface="Times New Roman" panose="02020603050405020304" pitchFamily="18" charset="0"/>
              </a:rPr>
              <a:t>Switching</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Network Management and Monitoring</a:t>
            </a:r>
          </a:p>
          <a:p>
            <a:r>
              <a:rPr lang="fr-FR" sz="2400" dirty="0">
                <a:latin typeface="Times New Roman" panose="02020603050405020304" pitchFamily="18" charset="0"/>
                <a:cs typeface="Times New Roman" panose="02020603050405020304" pitchFamily="18" charset="0"/>
              </a:rPr>
              <a:t>Wireless and Mobile Networks</a:t>
            </a:r>
          </a:p>
          <a:p>
            <a:r>
              <a:rPr lang="en-US" sz="2400" dirty="0">
                <a:latin typeface="Times New Roman" panose="02020603050405020304" pitchFamily="18" charset="0"/>
                <a:cs typeface="Times New Roman" panose="02020603050405020304" pitchFamily="18" charset="0"/>
              </a:rPr>
              <a:t>Case Studies and Practical Applications</a:t>
            </a:r>
          </a:p>
          <a:p>
            <a:r>
              <a:rPr lang="fr-FR" sz="2400" dirty="0">
                <a:latin typeface="Times New Roman" panose="02020603050405020304" pitchFamily="18" charset="0"/>
                <a:cs typeface="Times New Roman" panose="02020603050405020304" pitchFamily="18" charset="0"/>
              </a:rPr>
              <a:t>Future Trends and Challenges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426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844" y="4221088"/>
            <a:ext cx="9541060" cy="893136"/>
          </a:xfrm>
        </p:spPr>
        <p:txBody>
          <a:bodyPr>
            <a:normAutofit fontScale="90000"/>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Objective: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Overview of the module objectives, structure, and assessment criteria.</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Review of fundamental networking concepts and protocols.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Introduction to advanced networking topics and their relevance in modern network environments. </a:t>
            </a:r>
            <a:endParaRPr lang="en-US" sz="1800" dirty="0"/>
          </a:p>
        </p:txBody>
      </p:sp>
      <p:sp>
        <p:nvSpPr>
          <p:cNvPr id="5" name="Text Placeholder 4"/>
          <p:cNvSpPr>
            <a:spLocks noGrp="1"/>
          </p:cNvSpPr>
          <p:nvPr>
            <p:ph type="body" idx="1"/>
          </p:nvPr>
        </p:nvSpPr>
        <p:spPr>
          <a:xfrm>
            <a:off x="981844" y="1486632"/>
            <a:ext cx="7264623" cy="1150203"/>
          </a:xfrm>
        </p:spPr>
        <p:txBody>
          <a:bodyPr/>
          <a:lstStyle/>
          <a:p>
            <a:r>
              <a:rPr lang="fr-FR" dirty="0" err="1">
                <a:latin typeface="Times New Roman" panose="02020603050405020304" pitchFamily="18" charset="0"/>
                <a:cs typeface="Times New Roman" panose="02020603050405020304" pitchFamily="18" charset="0"/>
              </a:rPr>
              <a:t>Chapter</a:t>
            </a:r>
            <a:r>
              <a:rPr lang="fr-FR" dirty="0">
                <a:latin typeface="Times New Roman" panose="02020603050405020304" pitchFamily="18" charset="0"/>
                <a:cs typeface="Times New Roman" panose="02020603050405020304" pitchFamily="18" charset="0"/>
              </a:rPr>
              <a:t> 01</a:t>
            </a:r>
            <a:endParaRPr lang="en-US" dirty="0"/>
          </a:p>
        </p:txBody>
      </p:sp>
      <p:sp>
        <p:nvSpPr>
          <p:cNvPr id="4" name="Title 1">
            <a:extLst>
              <a:ext uri="{FF2B5EF4-FFF2-40B4-BE49-F238E27FC236}">
                <a16:creationId xmlns:a16="http://schemas.microsoft.com/office/drawing/2014/main" id="{D2C71927-3B78-45A3-E95B-4899F0F0DA33}"/>
              </a:ext>
            </a:extLst>
          </p:cNvPr>
          <p:cNvSpPr txBox="1">
            <a:spLocks/>
          </p:cNvSpPr>
          <p:nvPr/>
        </p:nvSpPr>
        <p:spPr>
          <a:xfrm>
            <a:off x="1134243" y="1206984"/>
            <a:ext cx="10472463" cy="26540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0" kern="1200" cap="none" baseline="0">
                <a:solidFill>
                  <a:schemeClr val="tx1">
                    <a:lumMod val="75000"/>
                  </a:schemeClr>
                </a:solidFill>
                <a:latin typeface="+mj-lt"/>
                <a:ea typeface="+mj-ea"/>
                <a:cs typeface="+mj-cs"/>
              </a:defRPr>
            </a:lvl1pPr>
          </a:lstStyle>
          <a:p>
            <a:pPr algn="ctr"/>
            <a:r>
              <a:rPr lang="en-US" sz="6000" b="1" dirty="0">
                <a:latin typeface="Bahnschrift Condensed" panose="020B0502040204020203" pitchFamily="34" charset="0"/>
                <a:cs typeface="Times New Roman" panose="02020603050405020304" pitchFamily="18" charset="0"/>
              </a:rPr>
              <a:t>Introduction to Advanced Computer Networks</a:t>
            </a:r>
            <a:endParaRPr lang="en-US" sz="6000" b="1" dirty="0">
              <a:latin typeface="Bahnschrift Condensed" panose="020B0502040204020203" pitchFamily="34" charset="0"/>
            </a:endParaRPr>
          </a:p>
        </p:txBody>
      </p:sp>
    </p:spTree>
    <p:extLst>
      <p:ext uri="{BB962C8B-B14F-4D97-AF65-F5344CB8AC3E}">
        <p14:creationId xmlns:p14="http://schemas.microsoft.com/office/powerpoint/2010/main" val="352090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500919"/>
            <a:ext cx="9782801" cy="623825"/>
          </a:xfrm>
        </p:spPr>
        <p:txBody>
          <a:bodyPr>
            <a:noAutofit/>
          </a:bodyPr>
          <a:lstStyle/>
          <a:p>
            <a:pPr algn="ctr"/>
            <a:r>
              <a:rPr lang="en-US" sz="4400" b="1" dirty="0">
                <a:latin typeface="Bahnschrift Condensed" panose="020B0502040204020203" pitchFamily="34" charset="0"/>
              </a:rPr>
              <a:t>What is a Network?</a:t>
            </a:r>
          </a:p>
        </p:txBody>
      </p:sp>
      <p:sp>
        <p:nvSpPr>
          <p:cNvPr id="3" name="TextBox 2">
            <a:extLst>
              <a:ext uri="{FF2B5EF4-FFF2-40B4-BE49-F238E27FC236}">
                <a16:creationId xmlns:a16="http://schemas.microsoft.com/office/drawing/2014/main" id="{54572D4C-D717-26EC-68BE-459FD654A872}"/>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sp>
        <p:nvSpPr>
          <p:cNvPr id="5" name="Content Placeholder 4">
            <a:extLst>
              <a:ext uri="{FF2B5EF4-FFF2-40B4-BE49-F238E27FC236}">
                <a16:creationId xmlns:a16="http://schemas.microsoft.com/office/drawing/2014/main" id="{4C86AF47-F5A6-92F2-06D0-C4956C480140}"/>
              </a:ext>
            </a:extLst>
          </p:cNvPr>
          <p:cNvSpPr>
            <a:spLocks noGrp="1"/>
          </p:cNvSpPr>
          <p:nvPr>
            <p:ph idx="1"/>
          </p:nvPr>
        </p:nvSpPr>
        <p:spPr>
          <a:xfrm>
            <a:off x="1593436" y="1268760"/>
            <a:ext cx="9782801" cy="4572000"/>
          </a:xfrm>
        </p:spPr>
        <p:txBody>
          <a:bodyPr>
            <a:normAutofit/>
          </a:bodyPr>
          <a:lstStyle/>
          <a:p>
            <a:pPr algn="just"/>
            <a:r>
              <a:rPr lang="en-US" sz="1800" dirty="0">
                <a:latin typeface="Times New Roman" panose="02020603050405020304" pitchFamily="18" charset="0"/>
                <a:cs typeface="Times New Roman" panose="02020603050405020304" pitchFamily="18" charset="0"/>
              </a:rPr>
              <a:t>A computer network is a group of interconnected devices (such as computers, servers, switches, routers, and IoT devices) that communicate with each other to share resources and exchange data. The practice of creating and managing these networks, known as networking, ensures reliable connectivity, security, and performance. Depending on their scope, networks can be classified as Local Area Networks (LAN), Wide Area Networks (WAN), Metropolitan Area Networks (MAN), or wireless networks such as Wi-Fi and cellular systems.</a:t>
            </a:r>
          </a:p>
          <a:p>
            <a:pPr marL="0" indent="0">
              <a:buNone/>
            </a:pPr>
            <a:endParaRPr lang="fr-DZ" sz="1800" dirty="0">
              <a:latin typeface="Times New Roman" panose="02020603050405020304" pitchFamily="18" charset="0"/>
              <a:cs typeface="Times New Roman" panose="02020603050405020304" pitchFamily="18" charset="0"/>
            </a:endParaRPr>
          </a:p>
        </p:txBody>
      </p:sp>
      <p:pic>
        <p:nvPicPr>
          <p:cNvPr id="2050" name="Picture 2" descr="Computer Networks Demystified | Classification of Networks by Scale">
            <a:extLst>
              <a:ext uri="{FF2B5EF4-FFF2-40B4-BE49-F238E27FC236}">
                <a16:creationId xmlns:a16="http://schemas.microsoft.com/office/drawing/2014/main" id="{D562156C-4527-779F-E87A-596AC44C8C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479" y="3320988"/>
            <a:ext cx="4467225" cy="27432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ntroduction to Networks">
            <a:extLst>
              <a:ext uri="{FF2B5EF4-FFF2-40B4-BE49-F238E27FC236}">
                <a16:creationId xmlns:a16="http://schemas.microsoft.com/office/drawing/2014/main" id="{FAA2AC7E-6ECD-4747-4BD6-1FCC87DE9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3033" y="3212976"/>
            <a:ext cx="4142914" cy="29592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BC66FF8-6756-D4C2-4541-E43192BCA1DA}"/>
              </a:ext>
            </a:extLst>
          </p:cNvPr>
          <p:cNvSpPr txBox="1"/>
          <p:nvPr/>
        </p:nvSpPr>
        <p:spPr>
          <a:xfrm>
            <a:off x="7641806" y="6134452"/>
            <a:ext cx="2268570" cy="369332"/>
          </a:xfrm>
          <a:prstGeom prst="rect">
            <a:avLst/>
          </a:prstGeom>
          <a:noFill/>
        </p:spPr>
        <p:txBody>
          <a:bodyPr wrap="none" rtlCol="0">
            <a:spAutoFit/>
          </a:bodyPr>
          <a:lstStyle/>
          <a:p>
            <a:r>
              <a:rPr lang="fr-FR" dirty="0">
                <a:latin typeface="Times New Roman" panose="02020603050405020304" pitchFamily="18" charset="0"/>
                <a:cs typeface="Times New Roman" panose="02020603050405020304" pitchFamily="18" charset="0"/>
              </a:rPr>
              <a:t>Network classification</a:t>
            </a:r>
            <a:endParaRPr lang="fr-DZ"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C5F8668-7955-908D-6E29-7AEFE6BF3615}"/>
              </a:ext>
            </a:extLst>
          </p:cNvPr>
          <p:cNvSpPr txBox="1"/>
          <p:nvPr/>
        </p:nvSpPr>
        <p:spPr>
          <a:xfrm>
            <a:off x="2494637" y="6134452"/>
            <a:ext cx="309571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Computer network components</a:t>
            </a:r>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91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E1656-9BEF-4434-E383-8DA420FB6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91DDF-B7EE-EFC5-9E5E-EEBF74783983}"/>
              </a:ext>
            </a:extLst>
          </p:cNvPr>
          <p:cNvSpPr>
            <a:spLocks noGrp="1"/>
          </p:cNvSpPr>
          <p:nvPr>
            <p:ph type="title"/>
          </p:nvPr>
        </p:nvSpPr>
        <p:spPr>
          <a:xfrm>
            <a:off x="1593436" y="-243408"/>
            <a:ext cx="9782801" cy="1239837"/>
          </a:xfrm>
        </p:spPr>
        <p:txBody>
          <a:bodyPr/>
          <a:lstStyle/>
          <a:p>
            <a:pPr algn="ctr"/>
            <a:r>
              <a:rPr lang="en-US" sz="4400" b="1" dirty="0">
                <a:latin typeface="Bahnschrift Condensed" panose="020B0502040204020203" pitchFamily="34" charset="0"/>
              </a:rPr>
              <a:t>Reference Models</a:t>
            </a:r>
          </a:p>
        </p:txBody>
      </p:sp>
      <p:sp>
        <p:nvSpPr>
          <p:cNvPr id="3" name="TextBox 2">
            <a:extLst>
              <a:ext uri="{FF2B5EF4-FFF2-40B4-BE49-F238E27FC236}">
                <a16:creationId xmlns:a16="http://schemas.microsoft.com/office/drawing/2014/main" id="{8337E5C4-2083-8A7F-46A3-2E472F431923}"/>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sp>
        <p:nvSpPr>
          <p:cNvPr id="18" name="TextBox 17">
            <a:extLst>
              <a:ext uri="{FF2B5EF4-FFF2-40B4-BE49-F238E27FC236}">
                <a16:creationId xmlns:a16="http://schemas.microsoft.com/office/drawing/2014/main" id="{FE8FAAFE-DB97-34F0-6EF2-BB1DAB93769D}"/>
              </a:ext>
            </a:extLst>
          </p:cNvPr>
          <p:cNvSpPr txBox="1"/>
          <p:nvPr/>
        </p:nvSpPr>
        <p:spPr>
          <a:xfrm>
            <a:off x="8240645" y="5960313"/>
            <a:ext cx="2318263" cy="276999"/>
          </a:xfrm>
          <a:prstGeom prst="rect">
            <a:avLst/>
          </a:prstGeom>
          <a:noFill/>
        </p:spPr>
        <p:txBody>
          <a:bodyPr wrap="none" rtlCol="0">
            <a:spAutoFit/>
          </a:bodyPr>
          <a:lstStyle/>
          <a:p>
            <a:r>
              <a:rPr lang="fr-FR" sz="1200" dirty="0" err="1">
                <a:latin typeface="Times New Roman" panose="02020603050405020304" pitchFamily="18" charset="0"/>
                <a:cs typeface="Times New Roman" panose="02020603050405020304" pitchFamily="18" charset="0"/>
              </a:rPr>
              <a:t>Functions</a:t>
            </a:r>
            <a:r>
              <a:rPr lang="fr-FR" sz="1200" dirty="0">
                <a:latin typeface="Times New Roman" panose="02020603050405020304" pitchFamily="18" charset="0"/>
                <a:cs typeface="Times New Roman" panose="02020603050405020304" pitchFamily="18" charset="0"/>
              </a:rPr>
              <a:t> </a:t>
            </a:r>
            <a:r>
              <a:rPr lang="fr-FR" sz="1200" dirty="0" err="1">
                <a:latin typeface="Times New Roman" panose="02020603050405020304" pitchFamily="18" charset="0"/>
                <a:cs typeface="Times New Roman" panose="02020603050405020304" pitchFamily="18" charset="0"/>
              </a:rPr>
              <a:t>with</a:t>
            </a:r>
            <a:r>
              <a:rPr lang="fr-FR" sz="1200" dirty="0">
                <a:latin typeface="Times New Roman" panose="02020603050405020304" pitchFamily="18" charset="0"/>
                <a:cs typeface="Times New Roman" panose="02020603050405020304" pitchFamily="18" charset="0"/>
              </a:rPr>
              <a:t> </a:t>
            </a:r>
            <a:r>
              <a:rPr lang="fr-FR" sz="1200" dirty="0" err="1">
                <a:latin typeface="Times New Roman" panose="02020603050405020304" pitchFamily="18" charset="0"/>
                <a:cs typeface="Times New Roman" panose="02020603050405020304" pitchFamily="18" charset="0"/>
              </a:rPr>
              <a:t>protocol</a:t>
            </a:r>
            <a:r>
              <a:rPr lang="fr-FR" sz="1200" dirty="0">
                <a:latin typeface="Times New Roman" panose="02020603050405020304" pitchFamily="18" charset="0"/>
                <a:cs typeface="Times New Roman" panose="02020603050405020304" pitchFamily="18" charset="0"/>
              </a:rPr>
              <a:t> </a:t>
            </a:r>
            <a:r>
              <a:rPr lang="fr-FR" sz="1200" dirty="0" err="1">
                <a:latin typeface="Times New Roman" panose="02020603050405020304" pitchFamily="18" charset="0"/>
                <a:cs typeface="Times New Roman" panose="02020603050405020304" pitchFamily="18" charset="0"/>
              </a:rPr>
              <a:t>examples</a:t>
            </a:r>
            <a:r>
              <a:rPr lang="fr-FR" sz="1200" dirty="0">
                <a:latin typeface="Times New Roman" panose="02020603050405020304" pitchFamily="18" charset="0"/>
                <a:cs typeface="Times New Roman" panose="02020603050405020304" pitchFamily="18" charset="0"/>
              </a:rPr>
              <a:t>.</a:t>
            </a:r>
            <a:endParaRPr lang="fr-DZ" sz="12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2AF00E33-52CB-6B0A-F619-51A85497DED1}"/>
              </a:ext>
            </a:extLst>
          </p:cNvPr>
          <p:cNvSpPr txBox="1"/>
          <p:nvPr/>
        </p:nvSpPr>
        <p:spPr>
          <a:xfrm>
            <a:off x="1552289" y="1052736"/>
            <a:ext cx="9865094" cy="132343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To handle network complexity, reference models are used to structure communication into well-defined layers, making it easier to understand, design, and troubleshoot networks. The two main models are the </a:t>
            </a:r>
            <a:r>
              <a:rPr lang="en-US" sz="1600" b="1" dirty="0">
                <a:latin typeface="Times New Roman" panose="02020603050405020304" pitchFamily="18" charset="0"/>
                <a:cs typeface="Times New Roman" panose="02020603050405020304" pitchFamily="18" charset="0"/>
              </a:rPr>
              <a:t>OSI model</a:t>
            </a:r>
            <a:r>
              <a:rPr lang="en-US" sz="1600" dirty="0">
                <a:latin typeface="Times New Roman" panose="02020603050405020304" pitchFamily="18" charset="0"/>
                <a:cs typeface="Times New Roman" panose="02020603050405020304" pitchFamily="18" charset="0"/>
              </a:rPr>
              <a:t>, which organizes communication into seven layers, and the </a:t>
            </a:r>
            <a:r>
              <a:rPr lang="en-US" sz="1600" b="1" dirty="0">
                <a:latin typeface="Times New Roman" panose="02020603050405020304" pitchFamily="18" charset="0"/>
                <a:cs typeface="Times New Roman" panose="02020603050405020304" pitchFamily="18" charset="0"/>
              </a:rPr>
              <a:t>TCP/IP model</a:t>
            </a:r>
            <a:r>
              <a:rPr lang="en-US" sz="1600" dirty="0">
                <a:latin typeface="Times New Roman" panose="02020603050405020304" pitchFamily="18" charset="0"/>
                <a:cs typeface="Times New Roman" panose="02020603050405020304" pitchFamily="18" charset="0"/>
              </a:rPr>
              <a:t>, which simplifies it into four layers. Both models describe how data flows from one device to another, ensuring interoperability between different systems and technologies.</a:t>
            </a:r>
            <a:endParaRPr lang="fr-DZ" sz="1600" dirty="0">
              <a:latin typeface="Times New Roman" panose="02020603050405020304" pitchFamily="18" charset="0"/>
              <a:cs typeface="Times New Roman" panose="02020603050405020304" pitchFamily="18" charset="0"/>
            </a:endParaRPr>
          </a:p>
        </p:txBody>
      </p:sp>
      <p:pic>
        <p:nvPicPr>
          <p:cNvPr id="1026" name="Picture 2" descr="What Is the TCP Model? An Exploration of TCP/IP Layers">
            <a:extLst>
              <a:ext uri="{FF2B5EF4-FFF2-40B4-BE49-F238E27FC236}">
                <a16:creationId xmlns:a16="http://schemas.microsoft.com/office/drawing/2014/main" id="{A01806BF-86D4-DB42-9071-333AC8F54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5214" y="2336218"/>
            <a:ext cx="5715240" cy="383117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3EF324B5-241B-E855-339E-684E125E9392}"/>
              </a:ext>
            </a:extLst>
          </p:cNvPr>
          <p:cNvGraphicFramePr>
            <a:graphicFrameLocks noGrp="1"/>
          </p:cNvGraphicFramePr>
          <p:nvPr>
            <p:extLst>
              <p:ext uri="{D42A27DB-BD31-4B8C-83A1-F6EECF244321}">
                <p14:modId xmlns:p14="http://schemas.microsoft.com/office/powerpoint/2010/main" val="927216753"/>
              </p:ext>
            </p:extLst>
          </p:nvPr>
        </p:nvGraphicFramePr>
        <p:xfrm>
          <a:off x="6940454" y="2560164"/>
          <a:ext cx="4608512" cy="3383280"/>
        </p:xfrm>
        <a:graphic>
          <a:graphicData uri="http://schemas.openxmlformats.org/drawingml/2006/table">
            <a:tbl>
              <a:tblPr firstRow="1" bandRow="1">
                <a:tableStyleId>{69CF1AB2-1976-4502-BF36-3FF5EA218861}</a:tableStyleId>
              </a:tblPr>
              <a:tblGrid>
                <a:gridCol w="4608512">
                  <a:extLst>
                    <a:ext uri="{9D8B030D-6E8A-4147-A177-3AD203B41FA5}">
                      <a16:colId xmlns:a16="http://schemas.microsoft.com/office/drawing/2014/main" val="909934861"/>
                    </a:ext>
                  </a:extLst>
                </a:gridCol>
              </a:tblGrid>
              <a:tr h="370840">
                <a:tc>
                  <a:txBody>
                    <a:bodyPr/>
                    <a:lstStyle/>
                    <a:p>
                      <a:r>
                        <a:rPr lang="en-US" sz="1200" b="1" dirty="0">
                          <a:latin typeface="Times New Roman" panose="02020603050405020304" pitchFamily="18" charset="0"/>
                          <a:cs typeface="Times New Roman" panose="02020603050405020304" pitchFamily="18" charset="0"/>
                        </a:rPr>
                        <a:t>Application Layer</a:t>
                      </a:r>
                      <a:r>
                        <a:rPr lang="en-US" sz="1200" dirty="0">
                          <a:latin typeface="Times New Roman" panose="02020603050405020304" pitchFamily="18" charset="0"/>
                          <a:cs typeface="Times New Roman" panose="02020603050405020304" pitchFamily="18" charset="0"/>
                        </a:rPr>
                        <a:t>: </a:t>
                      </a:r>
                      <a:r>
                        <a:rPr lang="en-US" sz="1200" b="0" dirty="0">
                          <a:latin typeface="Times New Roman" panose="02020603050405020304" pitchFamily="18" charset="0"/>
                          <a:cs typeface="Times New Roman" panose="02020603050405020304" pitchFamily="18" charset="0"/>
                        </a:rPr>
                        <a:t>Provides services and interfaces for end-user applications (e.g., HTTP/HTTPS, DNS).</a:t>
                      </a:r>
                      <a:endParaRPr lang="fr-DZ"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88016027"/>
                  </a:ext>
                </a:extLst>
              </a:tr>
              <a:tr h="370840">
                <a:tc>
                  <a:txBody>
                    <a:bodyPr/>
                    <a:lstStyle/>
                    <a:p>
                      <a:r>
                        <a:rPr lang="en-US" sz="1200" b="1" dirty="0">
                          <a:latin typeface="Times New Roman" panose="02020603050405020304" pitchFamily="18" charset="0"/>
                          <a:cs typeface="Times New Roman" panose="02020603050405020304" pitchFamily="18" charset="0"/>
                        </a:rPr>
                        <a:t>Presentation Layer: </a:t>
                      </a:r>
                      <a:r>
                        <a:rPr lang="en-US" sz="1200" dirty="0">
                          <a:latin typeface="Times New Roman" panose="02020603050405020304" pitchFamily="18" charset="0"/>
                          <a:cs typeface="Times New Roman" panose="02020603050405020304" pitchFamily="18" charset="0"/>
                        </a:rPr>
                        <a:t>Translates, encrypts, and compresses data to ensure proper format between systems (</a:t>
                      </a:r>
                      <a:r>
                        <a:rPr lang="fr-FR" sz="1200" dirty="0">
                          <a:latin typeface="Times New Roman" panose="02020603050405020304" pitchFamily="18" charset="0"/>
                          <a:cs typeface="Times New Roman" panose="02020603050405020304" pitchFamily="18" charset="0"/>
                        </a:rPr>
                        <a:t>TLS / SSL, ASCII / EBCDIC)</a:t>
                      </a:r>
                      <a:r>
                        <a:rPr lang="en-US" sz="1200" dirty="0">
                          <a:latin typeface="Times New Roman" panose="02020603050405020304" pitchFamily="18" charset="0"/>
                          <a:cs typeface="Times New Roman" panose="02020603050405020304" pitchFamily="18" charset="0"/>
                        </a:rPr>
                        <a:t>.</a:t>
                      </a:r>
                      <a:endParaRPr lang="fr-DZ"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7620602"/>
                  </a:ext>
                </a:extLst>
              </a:tr>
              <a:tr h="382772">
                <a:tc>
                  <a:txBody>
                    <a:bodyPr/>
                    <a:lstStyle/>
                    <a:p>
                      <a:r>
                        <a:rPr lang="en-US" sz="1200" b="1" dirty="0">
                          <a:latin typeface="Times New Roman" panose="02020603050405020304" pitchFamily="18" charset="0"/>
                          <a:cs typeface="Times New Roman" panose="02020603050405020304" pitchFamily="18" charset="0"/>
                        </a:rPr>
                        <a:t>Session Layer: </a:t>
                      </a:r>
                      <a:r>
                        <a:rPr lang="en-US" sz="1200" dirty="0">
                          <a:latin typeface="Times New Roman" panose="02020603050405020304" pitchFamily="18" charset="0"/>
                          <a:cs typeface="Times New Roman" panose="02020603050405020304" pitchFamily="18" charset="0"/>
                        </a:rPr>
                        <a:t>Manages sessions and dialogs between applications, keeping track of connections (</a:t>
                      </a:r>
                      <a:r>
                        <a:rPr lang="fr-FR" sz="1200" dirty="0">
                          <a:latin typeface="Times New Roman" panose="02020603050405020304" pitchFamily="18" charset="0"/>
                          <a:cs typeface="Times New Roman" panose="02020603050405020304" pitchFamily="18" charset="0"/>
                        </a:rPr>
                        <a:t>NetBIOS)</a:t>
                      </a:r>
                      <a:r>
                        <a:rPr lang="en-US" sz="1200" dirty="0">
                          <a:latin typeface="Times New Roman" panose="02020603050405020304" pitchFamily="18" charset="0"/>
                          <a:cs typeface="Times New Roman" panose="02020603050405020304" pitchFamily="18" charset="0"/>
                        </a:rPr>
                        <a:t>.</a:t>
                      </a:r>
                      <a:endParaRPr lang="fr-DZ"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4127076"/>
                  </a:ext>
                </a:extLst>
              </a:tr>
              <a:tr h="370840">
                <a:tc>
                  <a:txBody>
                    <a:bodyPr/>
                    <a:lstStyle/>
                    <a:p>
                      <a:r>
                        <a:rPr lang="fr-FR" sz="1200" b="1" dirty="0">
                          <a:latin typeface="Times New Roman" panose="02020603050405020304" pitchFamily="18" charset="0"/>
                          <a:cs typeface="Times New Roman" panose="02020603050405020304" pitchFamily="18" charset="0"/>
                        </a:rPr>
                        <a:t>T</a:t>
                      </a:r>
                      <a:r>
                        <a:rPr lang="en-US" sz="1200" b="1" dirty="0" err="1">
                          <a:latin typeface="Times New Roman" panose="02020603050405020304" pitchFamily="18" charset="0"/>
                          <a:cs typeface="Times New Roman" panose="02020603050405020304" pitchFamily="18" charset="0"/>
                        </a:rPr>
                        <a:t>ransport</a:t>
                      </a:r>
                      <a:r>
                        <a:rPr lang="en-US" sz="1200" b="1" dirty="0">
                          <a:latin typeface="Times New Roman" panose="02020603050405020304" pitchFamily="18" charset="0"/>
                          <a:cs typeface="Times New Roman" panose="02020603050405020304" pitchFamily="18" charset="0"/>
                        </a:rPr>
                        <a:t> Layer: </a:t>
                      </a:r>
                      <a:r>
                        <a:rPr lang="en-US" sz="1200" dirty="0">
                          <a:latin typeface="Times New Roman" panose="02020603050405020304" pitchFamily="18" charset="0"/>
                          <a:cs typeface="Times New Roman" panose="02020603050405020304" pitchFamily="18" charset="0"/>
                        </a:rPr>
                        <a:t>Ensures reliable data delivery with error detection, flow control, and segmentation (e.g., TCP, UDP).</a:t>
                      </a:r>
                      <a:endParaRPr lang="fr-DZ"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42984896"/>
                  </a:ext>
                </a:extLst>
              </a:tr>
              <a:tr h="370840">
                <a:tc>
                  <a:txBody>
                    <a:bodyPr/>
                    <a:lstStyle/>
                    <a:p>
                      <a:r>
                        <a:rPr lang="en-US" sz="1200" b="1" dirty="0">
                          <a:latin typeface="Times New Roman" panose="02020603050405020304" pitchFamily="18" charset="0"/>
                          <a:cs typeface="Times New Roman" panose="02020603050405020304" pitchFamily="18" charset="0"/>
                        </a:rPr>
                        <a:t>Network Layer: </a:t>
                      </a:r>
                      <a:r>
                        <a:rPr lang="en-US" sz="1200" dirty="0">
                          <a:latin typeface="Times New Roman" panose="02020603050405020304" pitchFamily="18" charset="0"/>
                          <a:cs typeface="Times New Roman" panose="02020603050405020304" pitchFamily="18" charset="0"/>
                        </a:rPr>
                        <a:t>Handles logical addressing and routing to deliver packets across different networks (e.g., IP, OSPF).</a:t>
                      </a:r>
                    </a:p>
                  </a:txBody>
                  <a:tcPr/>
                </a:tc>
                <a:extLst>
                  <a:ext uri="{0D108BD9-81ED-4DB2-BD59-A6C34878D82A}">
                    <a16:rowId xmlns:a16="http://schemas.microsoft.com/office/drawing/2014/main" val="378544355"/>
                  </a:ext>
                </a:extLst>
              </a:tr>
              <a:tr h="370840">
                <a:tc>
                  <a:txBody>
                    <a:bodyPr/>
                    <a:lstStyle/>
                    <a:p>
                      <a:r>
                        <a:rPr lang="en-US" sz="1200" b="1" dirty="0">
                          <a:latin typeface="Times New Roman" panose="02020603050405020304" pitchFamily="18" charset="0"/>
                          <a:cs typeface="Times New Roman" panose="02020603050405020304" pitchFamily="18" charset="0"/>
                        </a:rPr>
                        <a:t>Data Link Layer</a:t>
                      </a:r>
                      <a:r>
                        <a:rPr lang="en-US" sz="1200" dirty="0">
                          <a:latin typeface="Times New Roman" panose="02020603050405020304" pitchFamily="18" charset="0"/>
                          <a:cs typeface="Times New Roman" panose="02020603050405020304" pitchFamily="18" charset="0"/>
                        </a:rPr>
                        <a:t>: Provides error detection and organizes data into frames for delivery within the same network (e.g., Ethernet, Wi-Fi).</a:t>
                      </a:r>
                    </a:p>
                  </a:txBody>
                  <a:tcPr/>
                </a:tc>
                <a:extLst>
                  <a:ext uri="{0D108BD9-81ED-4DB2-BD59-A6C34878D82A}">
                    <a16:rowId xmlns:a16="http://schemas.microsoft.com/office/drawing/2014/main" val="351068850"/>
                  </a:ext>
                </a:extLst>
              </a:tr>
              <a:tr h="370840">
                <a:tc>
                  <a:txBody>
                    <a:bodyPr/>
                    <a:lstStyle/>
                    <a:p>
                      <a:r>
                        <a:rPr lang="en-US" sz="1200" b="1" dirty="0">
                          <a:latin typeface="Times New Roman" panose="02020603050405020304" pitchFamily="18" charset="0"/>
                          <a:cs typeface="Times New Roman" panose="02020603050405020304" pitchFamily="18" charset="0"/>
                        </a:rPr>
                        <a:t>Physical Layer: </a:t>
                      </a:r>
                      <a:r>
                        <a:rPr lang="en-US" sz="1200" dirty="0">
                          <a:latin typeface="Times New Roman" panose="02020603050405020304" pitchFamily="18" charset="0"/>
                          <a:cs typeface="Times New Roman" panose="02020603050405020304" pitchFamily="18" charset="0"/>
                        </a:rPr>
                        <a:t>Transmits raw bits over physical media such as cables, radio waves, or fiber optics (</a:t>
                      </a:r>
                      <a:r>
                        <a:rPr lang="fr-FR" sz="1200" dirty="0">
                          <a:latin typeface="Times New Roman" panose="02020603050405020304" pitchFamily="18" charset="0"/>
                          <a:cs typeface="Times New Roman" panose="02020603050405020304" pitchFamily="18" charset="0"/>
                        </a:rPr>
                        <a:t>SONET/SDH (</a:t>
                      </a:r>
                      <a:r>
                        <a:rPr lang="fr-FR" sz="1200" dirty="0" err="1">
                          <a:latin typeface="Times New Roman" panose="02020603050405020304" pitchFamily="18" charset="0"/>
                          <a:cs typeface="Times New Roman" panose="02020603050405020304" pitchFamily="18" charset="0"/>
                        </a:rPr>
                        <a:t>fiber</a:t>
                      </a:r>
                      <a:r>
                        <a:rPr lang="fr-FR" sz="1200" dirty="0">
                          <a:latin typeface="Times New Roman" panose="02020603050405020304" pitchFamily="18" charset="0"/>
                          <a:cs typeface="Times New Roman" panose="02020603050405020304" pitchFamily="18" charset="0"/>
                        </a:rPr>
                        <a:t> </a:t>
                      </a:r>
                      <a:r>
                        <a:rPr lang="fr-FR" sz="1200" dirty="0" err="1">
                          <a:latin typeface="Times New Roman" panose="02020603050405020304" pitchFamily="18" charset="0"/>
                          <a:cs typeface="Times New Roman" panose="02020603050405020304" pitchFamily="18" charset="0"/>
                        </a:rPr>
                        <a:t>optics</a:t>
                      </a:r>
                      <a:r>
                        <a:rPr lang="fr-FR" sz="1200" dirty="0">
                          <a:latin typeface="Times New Roman" panose="02020603050405020304" pitchFamily="18" charset="0"/>
                          <a:cs typeface="Times New Roman" panose="02020603050405020304" pitchFamily="18" charset="0"/>
                        </a:rPr>
                        <a:t>), RS-232 (serial communication)</a:t>
                      </a:r>
                      <a:r>
                        <a:rPr lang="en-US" sz="12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076708692"/>
                  </a:ext>
                </a:extLst>
              </a:tr>
            </a:tbl>
          </a:graphicData>
        </a:graphic>
      </p:graphicFrame>
    </p:spTree>
    <p:extLst>
      <p:ext uri="{BB962C8B-B14F-4D97-AF65-F5344CB8AC3E}">
        <p14:creationId xmlns:p14="http://schemas.microsoft.com/office/powerpoint/2010/main" val="3061282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Application Protocols</a:t>
            </a:r>
          </a:p>
        </p:txBody>
      </p:sp>
      <p:sp>
        <p:nvSpPr>
          <p:cNvPr id="3" name="TextBox 2">
            <a:extLst>
              <a:ext uri="{FF2B5EF4-FFF2-40B4-BE49-F238E27FC236}">
                <a16:creationId xmlns:a16="http://schemas.microsoft.com/office/drawing/2014/main" id="{949259C5-E9C2-A4A2-EE31-0BC1FC1058BC}"/>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graphicFrame>
        <p:nvGraphicFramePr>
          <p:cNvPr id="9" name="Content Placeholder 8">
            <a:extLst>
              <a:ext uri="{FF2B5EF4-FFF2-40B4-BE49-F238E27FC236}">
                <a16:creationId xmlns:a16="http://schemas.microsoft.com/office/drawing/2014/main" id="{7C9FD0F4-227E-7E82-5511-A112D7948159}"/>
              </a:ext>
            </a:extLst>
          </p:cNvPr>
          <p:cNvGraphicFramePr>
            <a:graphicFrameLocks noGrp="1"/>
          </p:cNvGraphicFramePr>
          <p:nvPr>
            <p:ph sz="half" idx="1"/>
            <p:extLst>
              <p:ext uri="{D42A27DB-BD31-4B8C-83A1-F6EECF244321}">
                <p14:modId xmlns:p14="http://schemas.microsoft.com/office/powerpoint/2010/main" val="4246199387"/>
              </p:ext>
            </p:extLst>
          </p:nvPr>
        </p:nvGraphicFramePr>
        <p:xfrm>
          <a:off x="1593436" y="1728066"/>
          <a:ext cx="9901576" cy="4221214"/>
        </p:xfrm>
        <a:graphic>
          <a:graphicData uri="http://schemas.openxmlformats.org/drawingml/2006/table">
            <a:tbl>
              <a:tblPr>
                <a:tableStyleId>{073A0DAA-6AF3-43AB-8588-CEC1D06C72B9}</a:tableStyleId>
              </a:tblPr>
              <a:tblGrid>
                <a:gridCol w="2149179">
                  <a:extLst>
                    <a:ext uri="{9D8B030D-6E8A-4147-A177-3AD203B41FA5}">
                      <a16:colId xmlns:a16="http://schemas.microsoft.com/office/drawing/2014/main" val="3290068989"/>
                    </a:ext>
                  </a:extLst>
                </a:gridCol>
                <a:gridCol w="3914577">
                  <a:extLst>
                    <a:ext uri="{9D8B030D-6E8A-4147-A177-3AD203B41FA5}">
                      <a16:colId xmlns:a16="http://schemas.microsoft.com/office/drawing/2014/main" val="790106372"/>
                    </a:ext>
                  </a:extLst>
                </a:gridCol>
                <a:gridCol w="3837820">
                  <a:extLst>
                    <a:ext uri="{9D8B030D-6E8A-4147-A177-3AD203B41FA5}">
                      <a16:colId xmlns:a16="http://schemas.microsoft.com/office/drawing/2014/main" val="3064124619"/>
                    </a:ext>
                  </a:extLst>
                </a:gridCol>
              </a:tblGrid>
              <a:tr h="208799">
                <a:tc>
                  <a:txBody>
                    <a:bodyPr/>
                    <a:lstStyle/>
                    <a:p>
                      <a:pPr algn="ctr">
                        <a:buNone/>
                      </a:pPr>
                      <a:r>
                        <a:rPr lang="fr-FR" sz="1200" b="1" dirty="0">
                          <a:latin typeface="Times New Roman" panose="02020603050405020304" pitchFamily="18" charset="0"/>
                          <a:cs typeface="Times New Roman" panose="02020603050405020304" pitchFamily="18" charset="0"/>
                        </a:rPr>
                        <a:t>Protocol</a:t>
                      </a:r>
                    </a:p>
                  </a:txBody>
                  <a:tcPr marL="20502" marR="20502" marT="10251" marB="10251" anchor="ctr"/>
                </a:tc>
                <a:tc>
                  <a:txBody>
                    <a:bodyPr/>
                    <a:lstStyle/>
                    <a:p>
                      <a:pPr algn="ctr">
                        <a:buNone/>
                      </a:pPr>
                      <a:r>
                        <a:rPr lang="fr-FR" sz="1200" b="1">
                          <a:latin typeface="Times New Roman" panose="02020603050405020304" pitchFamily="18" charset="0"/>
                          <a:cs typeface="Times New Roman" panose="02020603050405020304" pitchFamily="18" charset="0"/>
                        </a:rPr>
                        <a:t>Function</a:t>
                      </a:r>
                      <a:endParaRPr lang="fr-FR" sz="1200">
                        <a:latin typeface="Times New Roman" panose="02020603050405020304" pitchFamily="18" charset="0"/>
                        <a:cs typeface="Times New Roman" panose="02020603050405020304" pitchFamily="18" charset="0"/>
                      </a:endParaRPr>
                    </a:p>
                  </a:txBody>
                  <a:tcPr marL="20502" marR="20502" marT="10251" marB="10251" anchor="ctr"/>
                </a:tc>
                <a:tc>
                  <a:txBody>
                    <a:bodyPr/>
                    <a:lstStyle/>
                    <a:p>
                      <a:pPr algn="ctr">
                        <a:buNone/>
                      </a:pPr>
                      <a:r>
                        <a:rPr lang="fr-FR" sz="1200" b="1" dirty="0">
                          <a:latin typeface="Times New Roman" panose="02020603050405020304" pitchFamily="18" charset="0"/>
                          <a:cs typeface="Times New Roman" panose="02020603050405020304" pitchFamily="18" charset="0"/>
                        </a:rPr>
                        <a:t>How </a:t>
                      </a:r>
                      <a:r>
                        <a:rPr lang="fr-FR" sz="1200" b="1" dirty="0" err="1">
                          <a:latin typeface="Times New Roman" panose="02020603050405020304" pitchFamily="18" charset="0"/>
                          <a:cs typeface="Times New Roman" panose="02020603050405020304" pitchFamily="18" charset="0"/>
                        </a:rPr>
                        <a:t>it</a:t>
                      </a:r>
                      <a:r>
                        <a:rPr lang="fr-FR" sz="1200" b="1" dirty="0">
                          <a:latin typeface="Times New Roman" panose="02020603050405020304" pitchFamily="18" charset="0"/>
                          <a:cs typeface="Times New Roman" panose="02020603050405020304" pitchFamily="18" charset="0"/>
                        </a:rPr>
                        <a:t> Works</a:t>
                      </a:r>
                      <a:endParaRPr lang="fr-FR" sz="1200" dirty="0">
                        <a:latin typeface="Times New Roman" panose="02020603050405020304" pitchFamily="18" charset="0"/>
                        <a:cs typeface="Times New Roman" panose="02020603050405020304" pitchFamily="18" charset="0"/>
                      </a:endParaRPr>
                    </a:p>
                  </a:txBody>
                  <a:tcPr marL="20502" marR="20502" marT="10251" marB="10251" anchor="ctr"/>
                </a:tc>
                <a:extLst>
                  <a:ext uri="{0D108BD9-81ED-4DB2-BD59-A6C34878D82A}">
                    <a16:rowId xmlns:a16="http://schemas.microsoft.com/office/drawing/2014/main" val="808437740"/>
                  </a:ext>
                </a:extLst>
              </a:tr>
              <a:tr h="835195">
                <a:tc>
                  <a:txBody>
                    <a:bodyPr/>
                    <a:lstStyle/>
                    <a:p>
                      <a:pPr>
                        <a:buNone/>
                      </a:pPr>
                      <a:r>
                        <a:rPr lang="fr-FR" sz="1200" b="1" dirty="0" err="1">
                          <a:latin typeface="Times New Roman" panose="02020603050405020304" pitchFamily="18" charset="0"/>
                          <a:cs typeface="Times New Roman" panose="02020603050405020304" pitchFamily="18" charset="0"/>
                        </a:rPr>
                        <a:t>Hypertext</a:t>
                      </a:r>
                      <a:r>
                        <a:rPr lang="fr-FR" sz="1200" b="1" dirty="0">
                          <a:latin typeface="Times New Roman" panose="02020603050405020304" pitchFamily="18" charset="0"/>
                          <a:cs typeface="Times New Roman" panose="02020603050405020304" pitchFamily="18" charset="0"/>
                        </a:rPr>
                        <a:t> Transfer Protocol / Secure (HTTP / HTTPS)</a:t>
                      </a:r>
                    </a:p>
                  </a:txBody>
                  <a:tcPr marL="20502" marR="20502" marT="10251" marB="10251" anchor="ctr"/>
                </a:tc>
                <a:tc>
                  <a:txBody>
                    <a:bodyPr/>
                    <a:lstStyle/>
                    <a:p>
                      <a:pPr>
                        <a:buNone/>
                      </a:pPr>
                      <a:r>
                        <a:rPr lang="fr-FR" sz="1200" dirty="0">
                          <a:latin typeface="Times New Roman" panose="02020603050405020304" pitchFamily="18" charset="0"/>
                          <a:cs typeface="Times New Roman" panose="02020603050405020304" pitchFamily="18" charset="0"/>
                        </a:rPr>
                        <a:t>Enables web communication (client–server).</a:t>
                      </a:r>
                    </a:p>
                  </a:txBody>
                  <a:tcPr marL="20502" marR="20502" marT="10251" marB="10251" anchor="ctr"/>
                </a:tc>
                <a:tc>
                  <a:txBody>
                    <a:bodyPr/>
                    <a:lstStyle/>
                    <a:p>
                      <a:pPr>
                        <a:buNone/>
                      </a:pPr>
                      <a:r>
                        <a:rPr lang="en-US" sz="1200" dirty="0">
                          <a:latin typeface="Times New Roman" panose="02020603050405020304" pitchFamily="18" charset="0"/>
                          <a:cs typeface="Times New Roman" panose="02020603050405020304" pitchFamily="18" charset="0"/>
                        </a:rPr>
                        <a:t>HTTP sends requests/responses in plaintext; HTTPS wraps HTTP in </a:t>
                      </a:r>
                      <a:r>
                        <a:rPr lang="en-US" sz="1200" b="1" dirty="0">
                          <a:latin typeface="Times New Roman" panose="02020603050405020304" pitchFamily="18" charset="0"/>
                          <a:cs typeface="Times New Roman" panose="02020603050405020304" pitchFamily="18" charset="0"/>
                        </a:rPr>
                        <a:t>TLS</a:t>
                      </a:r>
                      <a:r>
                        <a:rPr lang="en-US" sz="1200" dirty="0">
                          <a:latin typeface="Times New Roman" panose="02020603050405020304" pitchFamily="18" charset="0"/>
                          <a:cs typeface="Times New Roman" panose="02020603050405020304" pitchFamily="18" charset="0"/>
                        </a:rPr>
                        <a:t> for encryption and authentication.</a:t>
                      </a:r>
                    </a:p>
                  </a:txBody>
                  <a:tcPr marL="20502" marR="20502" marT="10251" marB="10251" anchor="ctr"/>
                </a:tc>
                <a:extLst>
                  <a:ext uri="{0D108BD9-81ED-4DB2-BD59-A6C34878D82A}">
                    <a16:rowId xmlns:a16="http://schemas.microsoft.com/office/drawing/2014/main" val="4236966975"/>
                  </a:ext>
                </a:extLst>
              </a:tr>
              <a:tr h="835195">
                <a:tc>
                  <a:txBody>
                    <a:bodyPr/>
                    <a:lstStyle/>
                    <a:p>
                      <a:pPr>
                        <a:buNone/>
                      </a:pPr>
                      <a:r>
                        <a:rPr lang="fr-FR" sz="1200" b="1" dirty="0">
                          <a:latin typeface="Times New Roman" panose="02020603050405020304" pitchFamily="18" charset="0"/>
                          <a:cs typeface="Times New Roman" panose="02020603050405020304" pitchFamily="18" charset="0"/>
                        </a:rPr>
                        <a:t>Domain Name System (DNS)</a:t>
                      </a:r>
                    </a:p>
                  </a:txBody>
                  <a:tcPr marL="20502" marR="20502" marT="10251" marB="10251" anchor="ctr"/>
                </a:tc>
                <a:tc>
                  <a:txBody>
                    <a:bodyPr/>
                    <a:lstStyle/>
                    <a:p>
                      <a:pPr>
                        <a:buNone/>
                      </a:pPr>
                      <a:r>
                        <a:rPr lang="en-US" sz="1200" dirty="0">
                          <a:latin typeface="Times New Roman" panose="02020603050405020304" pitchFamily="18" charset="0"/>
                          <a:cs typeface="Times New Roman" panose="02020603050405020304" pitchFamily="18" charset="0"/>
                        </a:rPr>
                        <a:t>Resolves domain names to IP addresses.</a:t>
                      </a:r>
                    </a:p>
                  </a:txBody>
                  <a:tcPr marL="20502" marR="20502" marT="10251" marB="10251" anchor="ctr"/>
                </a:tc>
                <a:tc>
                  <a:txBody>
                    <a:bodyPr/>
                    <a:lstStyle/>
                    <a:p>
                      <a:pPr>
                        <a:buNone/>
                      </a:pPr>
                      <a:r>
                        <a:rPr lang="en-US" sz="1200">
                          <a:latin typeface="Times New Roman" panose="02020603050405020304" pitchFamily="18" charset="0"/>
                          <a:cs typeface="Times New Roman" panose="02020603050405020304" pitchFamily="18" charset="0"/>
                        </a:rPr>
                        <a:t>Uses hierarchical name servers (root → TLD → authoritative). Queries usually over UDP/53, zone transfers over TCP.</a:t>
                      </a:r>
                    </a:p>
                  </a:txBody>
                  <a:tcPr marL="20502" marR="20502" marT="10251" marB="10251" anchor="ctr"/>
                </a:tc>
                <a:extLst>
                  <a:ext uri="{0D108BD9-81ED-4DB2-BD59-A6C34878D82A}">
                    <a16:rowId xmlns:a16="http://schemas.microsoft.com/office/drawing/2014/main" val="2873503187"/>
                  </a:ext>
                </a:extLst>
              </a:tr>
              <a:tr h="835195">
                <a:tc>
                  <a:txBody>
                    <a:bodyPr/>
                    <a:lstStyle/>
                    <a:p>
                      <a:pPr>
                        <a:buNone/>
                      </a:pPr>
                      <a:r>
                        <a:rPr lang="fr-FR" sz="1200" b="1" dirty="0">
                          <a:latin typeface="Times New Roman" panose="02020603050405020304" pitchFamily="18" charset="0"/>
                          <a:cs typeface="Times New Roman" panose="02020603050405020304" pitchFamily="18" charset="0"/>
                        </a:rPr>
                        <a:t>Transport Layer Security (TLS)</a:t>
                      </a:r>
                    </a:p>
                  </a:txBody>
                  <a:tcPr marL="20502" marR="20502" marT="10251" marB="10251" anchor="ctr"/>
                </a:tc>
                <a:tc>
                  <a:txBody>
                    <a:bodyPr/>
                    <a:lstStyle/>
                    <a:p>
                      <a:pPr>
                        <a:buNone/>
                      </a:pPr>
                      <a:r>
                        <a:rPr lang="en-US" sz="1200">
                          <a:latin typeface="Times New Roman" panose="02020603050405020304" pitchFamily="18" charset="0"/>
                          <a:cs typeface="Times New Roman" panose="02020603050405020304" pitchFamily="18" charset="0"/>
                        </a:rPr>
                        <a:t>Secures communication with encryption &amp; authentication.</a:t>
                      </a:r>
                    </a:p>
                  </a:txBody>
                  <a:tcPr marL="20502" marR="20502" marT="10251" marB="10251" anchor="ctr"/>
                </a:tc>
                <a:tc>
                  <a:txBody>
                    <a:bodyPr/>
                    <a:lstStyle/>
                    <a:p>
                      <a:pPr>
                        <a:buNone/>
                      </a:pPr>
                      <a:r>
                        <a:rPr lang="en-US" sz="1200" dirty="0">
                          <a:latin typeface="Times New Roman" panose="02020603050405020304" pitchFamily="18" charset="0"/>
                          <a:cs typeface="Times New Roman" panose="02020603050405020304" pitchFamily="18" charset="0"/>
                        </a:rPr>
                        <a:t>Uses certificates (PKI) and symmetric/asymmetric cryptography to establish a secure session (handshake + data encryption).</a:t>
                      </a:r>
                    </a:p>
                  </a:txBody>
                  <a:tcPr marL="20502" marR="20502" marT="10251" marB="10251" anchor="ctr"/>
                </a:tc>
                <a:extLst>
                  <a:ext uri="{0D108BD9-81ED-4DB2-BD59-A6C34878D82A}">
                    <a16:rowId xmlns:a16="http://schemas.microsoft.com/office/drawing/2014/main" val="3502730705"/>
                  </a:ext>
                </a:extLst>
              </a:tr>
              <a:tr h="828234">
                <a:tc>
                  <a:txBody>
                    <a:bodyPr/>
                    <a:lstStyle/>
                    <a:p>
                      <a:pPr>
                        <a:buNone/>
                      </a:pPr>
                      <a:r>
                        <a:rPr lang="fr-FR" sz="1200" b="1" dirty="0">
                          <a:latin typeface="Times New Roman" panose="02020603050405020304" pitchFamily="18" charset="0"/>
                          <a:cs typeface="Times New Roman" panose="02020603050405020304" pitchFamily="18" charset="0"/>
                        </a:rPr>
                        <a:t>American Standard Code for Information Interchange (ASCII </a:t>
                      </a:r>
                      <a:r>
                        <a:rPr lang="fr-FR" sz="1200" b="1" dirty="0" err="1">
                          <a:latin typeface="Times New Roman" panose="02020603050405020304" pitchFamily="18" charset="0"/>
                          <a:cs typeface="Times New Roman" panose="02020603050405020304" pitchFamily="18" charset="0"/>
                        </a:rPr>
                        <a:t>coding</a:t>
                      </a:r>
                      <a:r>
                        <a:rPr lang="fr-FR" sz="1200" b="1" dirty="0">
                          <a:latin typeface="Times New Roman" panose="02020603050405020304" pitchFamily="18" charset="0"/>
                          <a:cs typeface="Times New Roman" panose="02020603050405020304" pitchFamily="18" charset="0"/>
                        </a:rPr>
                        <a:t>)</a:t>
                      </a:r>
                    </a:p>
                  </a:txBody>
                  <a:tcPr marL="20502" marR="20502" marT="10251" marB="10251" anchor="ctr"/>
                </a:tc>
                <a:tc>
                  <a:txBody>
                    <a:bodyPr/>
                    <a:lstStyle/>
                    <a:p>
                      <a:pPr>
                        <a:buNone/>
                      </a:pPr>
                      <a:r>
                        <a:rPr lang="en-US" sz="1200">
                          <a:latin typeface="Times New Roman" panose="02020603050405020304" pitchFamily="18" charset="0"/>
                          <a:cs typeface="Times New Roman" panose="02020603050405020304" pitchFamily="18" charset="0"/>
                        </a:rPr>
                        <a:t>Represents characters as numbers (0–127).</a:t>
                      </a:r>
                    </a:p>
                  </a:txBody>
                  <a:tcPr marL="20502" marR="20502" marT="10251" marB="10251" anchor="ctr"/>
                </a:tc>
                <a:tc>
                  <a:txBody>
                    <a:bodyPr/>
                    <a:lstStyle/>
                    <a:p>
                      <a:pPr>
                        <a:buNone/>
                      </a:pPr>
                      <a:r>
                        <a:rPr lang="en-US" sz="1200">
                          <a:latin typeface="Times New Roman" panose="02020603050405020304" pitchFamily="18" charset="0"/>
                          <a:cs typeface="Times New Roman" panose="02020603050405020304" pitchFamily="18" charset="0"/>
                        </a:rPr>
                        <a:t>Maps each letter/symbol to a numeric binary code (e.g., “A” = 65). Ensures consistent text exchange across systems.</a:t>
                      </a:r>
                    </a:p>
                  </a:txBody>
                  <a:tcPr marL="20502" marR="20502" marT="10251" marB="10251" anchor="ctr"/>
                </a:tc>
                <a:extLst>
                  <a:ext uri="{0D108BD9-81ED-4DB2-BD59-A6C34878D82A}">
                    <a16:rowId xmlns:a16="http://schemas.microsoft.com/office/drawing/2014/main" val="972309798"/>
                  </a:ext>
                </a:extLst>
              </a:tr>
              <a:tr h="678596">
                <a:tc>
                  <a:txBody>
                    <a:bodyPr/>
                    <a:lstStyle/>
                    <a:p>
                      <a:pPr>
                        <a:buNone/>
                      </a:pPr>
                      <a:r>
                        <a:rPr lang="en-US" sz="1200" b="1" dirty="0">
                          <a:latin typeface="Times New Roman" panose="02020603050405020304" pitchFamily="18" charset="0"/>
                          <a:cs typeface="Times New Roman" panose="02020603050405020304" pitchFamily="18" charset="0"/>
                        </a:rPr>
                        <a:t>Network Basic Input/Output System (</a:t>
                      </a:r>
                      <a:r>
                        <a:rPr lang="fr-FR" sz="1200" b="1" dirty="0">
                          <a:latin typeface="Times New Roman" panose="02020603050405020304" pitchFamily="18" charset="0"/>
                          <a:cs typeface="Times New Roman" panose="02020603050405020304" pitchFamily="18" charset="0"/>
                        </a:rPr>
                        <a:t>NetBIOS)</a:t>
                      </a:r>
                    </a:p>
                  </a:txBody>
                  <a:tcPr marL="20502" marR="20502" marT="10251" marB="10251" anchor="ctr"/>
                </a:tc>
                <a:tc>
                  <a:txBody>
                    <a:bodyPr/>
                    <a:lstStyle/>
                    <a:p>
                      <a:pPr>
                        <a:buNone/>
                      </a:pPr>
                      <a:r>
                        <a:rPr lang="en-US" sz="1200" dirty="0">
                          <a:latin typeface="Times New Roman" panose="02020603050405020304" pitchFamily="18" charset="0"/>
                          <a:cs typeface="Times New Roman" panose="02020603050405020304" pitchFamily="18" charset="0"/>
                        </a:rPr>
                        <a:t>Provides legacy naming and session services in LANs.</a:t>
                      </a:r>
                    </a:p>
                  </a:txBody>
                  <a:tcPr marL="20502" marR="20502" marT="10251" marB="10251" anchor="ctr"/>
                </a:tc>
                <a:tc>
                  <a:txBody>
                    <a:bodyPr/>
                    <a:lstStyle/>
                    <a:p>
                      <a:pPr>
                        <a:buNone/>
                      </a:pPr>
                      <a:r>
                        <a:rPr lang="en-US" sz="1200" dirty="0">
                          <a:latin typeface="Times New Roman" panose="02020603050405020304" pitchFamily="18" charset="0"/>
                          <a:cs typeface="Times New Roman" panose="02020603050405020304" pitchFamily="18" charset="0"/>
                        </a:rPr>
                        <a:t>Assigns names to devices and manages sessions over TCP/UDP ports (137–139). Replaced mostly by DNS.</a:t>
                      </a:r>
                    </a:p>
                  </a:txBody>
                  <a:tcPr marL="20502" marR="20502" marT="10251" marB="10251" anchor="ctr"/>
                </a:tc>
                <a:extLst>
                  <a:ext uri="{0D108BD9-81ED-4DB2-BD59-A6C34878D82A}">
                    <a16:rowId xmlns:a16="http://schemas.microsoft.com/office/drawing/2014/main" val="163069111"/>
                  </a:ext>
                </a:extLst>
              </a:tr>
            </a:tbl>
          </a:graphicData>
        </a:graphic>
      </p:graphicFrame>
    </p:spTree>
    <p:extLst>
      <p:ext uri="{BB962C8B-B14F-4D97-AF65-F5344CB8AC3E}">
        <p14:creationId xmlns:p14="http://schemas.microsoft.com/office/powerpoint/2010/main" val="259333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A2D4-01A0-F8D2-705C-ED5E16617D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BC797A-4E05-1E58-B305-C0DB861819A2}"/>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graphicFrame>
        <p:nvGraphicFramePr>
          <p:cNvPr id="9" name="Content Placeholder 8">
            <a:extLst>
              <a:ext uri="{FF2B5EF4-FFF2-40B4-BE49-F238E27FC236}">
                <a16:creationId xmlns:a16="http://schemas.microsoft.com/office/drawing/2014/main" id="{439FFDA4-46B5-6005-5564-2DAF9D7295BA}"/>
              </a:ext>
            </a:extLst>
          </p:cNvPr>
          <p:cNvGraphicFramePr>
            <a:graphicFrameLocks noGrp="1"/>
          </p:cNvGraphicFramePr>
          <p:nvPr>
            <p:ph sz="half" idx="1"/>
            <p:extLst>
              <p:ext uri="{D42A27DB-BD31-4B8C-83A1-F6EECF244321}">
                <p14:modId xmlns:p14="http://schemas.microsoft.com/office/powerpoint/2010/main" val="111600413"/>
              </p:ext>
            </p:extLst>
          </p:nvPr>
        </p:nvGraphicFramePr>
        <p:xfrm>
          <a:off x="1593436" y="2160112"/>
          <a:ext cx="9901575" cy="3789168"/>
        </p:xfrm>
        <a:graphic>
          <a:graphicData uri="http://schemas.openxmlformats.org/drawingml/2006/table">
            <a:tbl>
              <a:tblPr>
                <a:tableStyleId>{073A0DAA-6AF3-43AB-8588-CEC1D06C72B9}</a:tableStyleId>
              </a:tblPr>
              <a:tblGrid>
                <a:gridCol w="1836680">
                  <a:extLst>
                    <a:ext uri="{9D8B030D-6E8A-4147-A177-3AD203B41FA5}">
                      <a16:colId xmlns:a16="http://schemas.microsoft.com/office/drawing/2014/main" val="3290068989"/>
                    </a:ext>
                  </a:extLst>
                </a:gridCol>
                <a:gridCol w="3096344">
                  <a:extLst>
                    <a:ext uri="{9D8B030D-6E8A-4147-A177-3AD203B41FA5}">
                      <a16:colId xmlns:a16="http://schemas.microsoft.com/office/drawing/2014/main" val="790106372"/>
                    </a:ext>
                  </a:extLst>
                </a:gridCol>
                <a:gridCol w="4968551">
                  <a:extLst>
                    <a:ext uri="{9D8B030D-6E8A-4147-A177-3AD203B41FA5}">
                      <a16:colId xmlns:a16="http://schemas.microsoft.com/office/drawing/2014/main" val="3064124619"/>
                    </a:ext>
                  </a:extLst>
                </a:gridCol>
              </a:tblGrid>
              <a:tr h="223418">
                <a:tc>
                  <a:txBody>
                    <a:bodyPr/>
                    <a:lstStyle/>
                    <a:p>
                      <a:pPr algn="ctr">
                        <a:buNone/>
                      </a:pPr>
                      <a:r>
                        <a:rPr lang="fr-FR" sz="1200" b="1" dirty="0">
                          <a:latin typeface="Times New Roman" panose="02020603050405020304" pitchFamily="18" charset="0"/>
                          <a:cs typeface="Times New Roman" panose="02020603050405020304" pitchFamily="18" charset="0"/>
                        </a:rPr>
                        <a:t>Protocol</a:t>
                      </a:r>
                    </a:p>
                  </a:txBody>
                  <a:tcPr marL="20502" marR="20502" marT="10251" marB="10251" anchor="ctr"/>
                </a:tc>
                <a:tc>
                  <a:txBody>
                    <a:bodyPr/>
                    <a:lstStyle/>
                    <a:p>
                      <a:pPr algn="ctr">
                        <a:buNone/>
                      </a:pPr>
                      <a:r>
                        <a:rPr lang="fr-FR" sz="1200" b="1">
                          <a:latin typeface="Times New Roman" panose="02020603050405020304" pitchFamily="18" charset="0"/>
                          <a:cs typeface="Times New Roman" panose="02020603050405020304" pitchFamily="18" charset="0"/>
                        </a:rPr>
                        <a:t>Function</a:t>
                      </a:r>
                      <a:endParaRPr lang="fr-FR" sz="1200">
                        <a:latin typeface="Times New Roman" panose="02020603050405020304" pitchFamily="18" charset="0"/>
                        <a:cs typeface="Times New Roman" panose="02020603050405020304" pitchFamily="18" charset="0"/>
                      </a:endParaRPr>
                    </a:p>
                  </a:txBody>
                  <a:tcPr marL="20502" marR="20502" marT="10251" marB="10251" anchor="ctr"/>
                </a:tc>
                <a:tc>
                  <a:txBody>
                    <a:bodyPr/>
                    <a:lstStyle/>
                    <a:p>
                      <a:pPr algn="ctr">
                        <a:buNone/>
                      </a:pPr>
                      <a:r>
                        <a:rPr lang="fr-FR" sz="1200" b="1" dirty="0">
                          <a:latin typeface="Times New Roman" panose="02020603050405020304" pitchFamily="18" charset="0"/>
                          <a:cs typeface="Times New Roman" panose="02020603050405020304" pitchFamily="18" charset="0"/>
                        </a:rPr>
                        <a:t>How </a:t>
                      </a:r>
                      <a:r>
                        <a:rPr lang="fr-FR" sz="1200" b="1" dirty="0" err="1">
                          <a:latin typeface="Times New Roman" panose="02020603050405020304" pitchFamily="18" charset="0"/>
                          <a:cs typeface="Times New Roman" panose="02020603050405020304" pitchFamily="18" charset="0"/>
                        </a:rPr>
                        <a:t>it</a:t>
                      </a:r>
                      <a:r>
                        <a:rPr lang="fr-FR" sz="1200" b="1" dirty="0">
                          <a:latin typeface="Times New Roman" panose="02020603050405020304" pitchFamily="18" charset="0"/>
                          <a:cs typeface="Times New Roman" panose="02020603050405020304" pitchFamily="18" charset="0"/>
                        </a:rPr>
                        <a:t> Works</a:t>
                      </a:r>
                      <a:endParaRPr lang="fr-FR" sz="1200" dirty="0">
                        <a:latin typeface="Times New Roman" panose="02020603050405020304" pitchFamily="18" charset="0"/>
                        <a:cs typeface="Times New Roman" panose="02020603050405020304" pitchFamily="18" charset="0"/>
                      </a:endParaRPr>
                    </a:p>
                  </a:txBody>
                  <a:tcPr marL="20502" marR="20502" marT="10251" marB="10251" anchor="ctr"/>
                </a:tc>
                <a:extLst>
                  <a:ext uri="{0D108BD9-81ED-4DB2-BD59-A6C34878D82A}">
                    <a16:rowId xmlns:a16="http://schemas.microsoft.com/office/drawing/2014/main" val="808437740"/>
                  </a:ext>
                </a:extLst>
              </a:tr>
              <a:tr h="893672">
                <a:tc>
                  <a:txBody>
                    <a:bodyPr/>
                    <a:lstStyle/>
                    <a:p>
                      <a:pPr>
                        <a:buNone/>
                      </a:pPr>
                      <a:r>
                        <a:rPr lang="fr-FR" sz="1200" b="1" dirty="0">
                          <a:latin typeface="Times New Roman" panose="02020603050405020304" pitchFamily="18" charset="0"/>
                          <a:cs typeface="Times New Roman" panose="02020603050405020304" pitchFamily="18" charset="0"/>
                        </a:rPr>
                        <a:t>Transmission Control Protocol (TCP)</a:t>
                      </a:r>
                    </a:p>
                  </a:txBody>
                  <a:tcPr marL="20502" marR="20502" marT="10251" marB="10251" anchor="ctr"/>
                </a:tc>
                <a:tc>
                  <a:txBody>
                    <a:bodyPr/>
                    <a:lstStyle/>
                    <a:p>
                      <a:pPr>
                        <a:buNone/>
                      </a:pPr>
                      <a:r>
                        <a:rPr lang="fr-FR" sz="1200">
                          <a:latin typeface="Times New Roman" panose="02020603050405020304" pitchFamily="18" charset="0"/>
                          <a:cs typeface="Times New Roman" panose="02020603050405020304" pitchFamily="18" charset="0"/>
                        </a:rPr>
                        <a:t>Reliable, connection-oriented transport.</a:t>
                      </a:r>
                    </a:p>
                  </a:txBody>
                  <a:tcPr marL="20502" marR="20502" marT="10251" marB="10251" anchor="ctr"/>
                </a:tc>
                <a:tc>
                  <a:txBody>
                    <a:bodyPr/>
                    <a:lstStyle/>
                    <a:p>
                      <a:pPr>
                        <a:buNone/>
                      </a:pPr>
                      <a:r>
                        <a:rPr lang="en-US" sz="1200" dirty="0">
                          <a:latin typeface="Times New Roman" panose="02020603050405020304" pitchFamily="18" charset="0"/>
                          <a:cs typeface="Times New Roman" panose="02020603050405020304" pitchFamily="18" charset="0"/>
                        </a:rPr>
                        <a:t>Uses 3-way handshake, acknowledgments, sequencing, retransmission, and flow control to guarantee delivery.</a:t>
                      </a:r>
                    </a:p>
                  </a:txBody>
                  <a:tcPr marL="20502" marR="20502" marT="10251" marB="10251" anchor="ctr"/>
                </a:tc>
                <a:extLst>
                  <a:ext uri="{0D108BD9-81ED-4DB2-BD59-A6C34878D82A}">
                    <a16:rowId xmlns:a16="http://schemas.microsoft.com/office/drawing/2014/main" val="3199933693"/>
                  </a:ext>
                </a:extLst>
              </a:tr>
              <a:tr h="726108">
                <a:tc>
                  <a:txBody>
                    <a:bodyPr/>
                    <a:lstStyle/>
                    <a:p>
                      <a:pPr>
                        <a:buNone/>
                      </a:pPr>
                      <a:r>
                        <a:rPr lang="fr-FR" sz="1200" b="1" dirty="0">
                          <a:latin typeface="Times New Roman" panose="02020603050405020304" pitchFamily="18" charset="0"/>
                          <a:cs typeface="Times New Roman" panose="02020603050405020304" pitchFamily="18" charset="0"/>
                        </a:rPr>
                        <a:t>User </a:t>
                      </a:r>
                      <a:r>
                        <a:rPr lang="fr-FR" sz="1200" b="1" dirty="0" err="1">
                          <a:latin typeface="Times New Roman" panose="02020603050405020304" pitchFamily="18" charset="0"/>
                          <a:cs typeface="Times New Roman" panose="02020603050405020304" pitchFamily="18" charset="0"/>
                        </a:rPr>
                        <a:t>Datagram</a:t>
                      </a:r>
                      <a:r>
                        <a:rPr lang="fr-FR" sz="1200" b="1" dirty="0">
                          <a:latin typeface="Times New Roman" panose="02020603050405020304" pitchFamily="18" charset="0"/>
                          <a:cs typeface="Times New Roman" panose="02020603050405020304" pitchFamily="18" charset="0"/>
                        </a:rPr>
                        <a:t> Protocol (UDP)</a:t>
                      </a:r>
                    </a:p>
                  </a:txBody>
                  <a:tcPr marL="20502" marR="20502" marT="10251" marB="10251" anchor="ctr"/>
                </a:tc>
                <a:tc>
                  <a:txBody>
                    <a:bodyPr/>
                    <a:lstStyle/>
                    <a:p>
                      <a:pPr>
                        <a:buNone/>
                      </a:pPr>
                      <a:r>
                        <a:rPr lang="fr-FR" sz="1200">
                          <a:latin typeface="Times New Roman" panose="02020603050405020304" pitchFamily="18" charset="0"/>
                          <a:cs typeface="Times New Roman" panose="02020603050405020304" pitchFamily="18" charset="0"/>
                        </a:rPr>
                        <a:t>Fast, connectionless transport.</a:t>
                      </a:r>
                    </a:p>
                  </a:txBody>
                  <a:tcPr marL="20502" marR="20502" marT="10251" marB="10251" anchor="ctr"/>
                </a:tc>
                <a:tc>
                  <a:txBody>
                    <a:bodyPr/>
                    <a:lstStyle/>
                    <a:p>
                      <a:pPr>
                        <a:buNone/>
                      </a:pPr>
                      <a:r>
                        <a:rPr lang="en-US" sz="1200">
                          <a:latin typeface="Times New Roman" panose="02020603050405020304" pitchFamily="18" charset="0"/>
                          <a:cs typeface="Times New Roman" panose="02020603050405020304" pitchFamily="18" charset="0"/>
                        </a:rPr>
                        <a:t>Sends datagrams without setup, no retransmission or ordering. Used in real-time apps (VoIP, video, gaming).</a:t>
                      </a:r>
                    </a:p>
                  </a:txBody>
                  <a:tcPr marL="20502" marR="20502" marT="10251" marB="10251" anchor="ctr"/>
                </a:tc>
                <a:extLst>
                  <a:ext uri="{0D108BD9-81ED-4DB2-BD59-A6C34878D82A}">
                    <a16:rowId xmlns:a16="http://schemas.microsoft.com/office/drawing/2014/main" val="811839723"/>
                  </a:ext>
                </a:extLst>
              </a:tr>
              <a:tr h="893672">
                <a:tc>
                  <a:txBody>
                    <a:bodyPr/>
                    <a:lstStyle/>
                    <a:p>
                      <a:pPr>
                        <a:buNone/>
                      </a:pPr>
                      <a:r>
                        <a:rPr lang="fr-FR" sz="1200" b="1" dirty="0">
                          <a:latin typeface="Times New Roman" panose="02020603050405020304" pitchFamily="18" charset="0"/>
                          <a:cs typeface="Times New Roman" panose="02020603050405020304" pitchFamily="18" charset="0"/>
                        </a:rPr>
                        <a:t>Internet Protocol (IP v4/v6)</a:t>
                      </a:r>
                    </a:p>
                  </a:txBody>
                  <a:tcPr marL="20502" marR="20502" marT="10251" marB="10251" anchor="ctr"/>
                </a:tc>
                <a:tc>
                  <a:txBody>
                    <a:bodyPr/>
                    <a:lstStyle/>
                    <a:p>
                      <a:pPr>
                        <a:buNone/>
                      </a:pPr>
                      <a:r>
                        <a:rPr lang="en-US" sz="1200">
                          <a:latin typeface="Times New Roman" panose="02020603050405020304" pitchFamily="18" charset="0"/>
                          <a:cs typeface="Times New Roman" panose="02020603050405020304" pitchFamily="18" charset="0"/>
                        </a:rPr>
                        <a:t>Provides logical addressing and routing.</a:t>
                      </a:r>
                    </a:p>
                  </a:txBody>
                  <a:tcPr marL="20502" marR="20502" marT="10251" marB="10251" anchor="ctr"/>
                </a:tc>
                <a:tc>
                  <a:txBody>
                    <a:bodyPr/>
                    <a:lstStyle/>
                    <a:p>
                      <a:pPr>
                        <a:buNone/>
                      </a:pPr>
                      <a:r>
                        <a:rPr lang="en-US" sz="1200" dirty="0">
                          <a:latin typeface="Times New Roman" panose="02020603050405020304" pitchFamily="18" charset="0"/>
                          <a:cs typeface="Times New Roman" panose="02020603050405020304" pitchFamily="18" charset="0"/>
                        </a:rPr>
                        <a:t>Encapsulates data into packets with source/destination IP. Routers forward based on routing tables.</a:t>
                      </a:r>
                    </a:p>
                  </a:txBody>
                  <a:tcPr marL="20502" marR="20502" marT="10251" marB="10251" anchor="ctr"/>
                </a:tc>
                <a:extLst>
                  <a:ext uri="{0D108BD9-81ED-4DB2-BD59-A6C34878D82A}">
                    <a16:rowId xmlns:a16="http://schemas.microsoft.com/office/drawing/2014/main" val="148781730"/>
                  </a:ext>
                </a:extLst>
              </a:tr>
              <a:tr h="1052298">
                <a:tc>
                  <a:txBody>
                    <a:bodyPr/>
                    <a:lstStyle/>
                    <a:p>
                      <a:pPr>
                        <a:buNone/>
                      </a:pPr>
                      <a:r>
                        <a:rPr lang="fr-FR" sz="1200" b="1" dirty="0">
                          <a:latin typeface="Times New Roman" panose="02020603050405020304" pitchFamily="18" charset="0"/>
                          <a:cs typeface="Times New Roman" panose="02020603050405020304" pitchFamily="18" charset="0"/>
                        </a:rPr>
                        <a:t>Open </a:t>
                      </a:r>
                      <a:r>
                        <a:rPr lang="fr-FR" sz="1200" b="1" dirty="0" err="1">
                          <a:latin typeface="Times New Roman" panose="02020603050405020304" pitchFamily="18" charset="0"/>
                          <a:cs typeface="Times New Roman" panose="02020603050405020304" pitchFamily="18" charset="0"/>
                        </a:rPr>
                        <a:t>Shortest</a:t>
                      </a:r>
                      <a:r>
                        <a:rPr lang="fr-FR" sz="1200" b="1" dirty="0">
                          <a:latin typeface="Times New Roman" panose="02020603050405020304" pitchFamily="18" charset="0"/>
                          <a:cs typeface="Times New Roman" panose="02020603050405020304" pitchFamily="18" charset="0"/>
                        </a:rPr>
                        <a:t> Path First (OSPF)</a:t>
                      </a:r>
                    </a:p>
                  </a:txBody>
                  <a:tcPr marL="20502" marR="20502" marT="10251" marB="10251" anchor="ctr"/>
                </a:tc>
                <a:tc>
                  <a:txBody>
                    <a:bodyPr/>
                    <a:lstStyle/>
                    <a:p>
                      <a:pPr>
                        <a:buNone/>
                      </a:pPr>
                      <a:r>
                        <a:rPr lang="fr-FR" sz="1200" dirty="0">
                          <a:latin typeface="Times New Roman" panose="02020603050405020304" pitchFamily="18" charset="0"/>
                          <a:cs typeface="Times New Roman" panose="02020603050405020304" pitchFamily="18" charset="0"/>
                        </a:rPr>
                        <a:t>Dynamic </a:t>
                      </a:r>
                      <a:r>
                        <a:rPr lang="fr-FR" sz="1200" dirty="0" err="1">
                          <a:latin typeface="Times New Roman" panose="02020603050405020304" pitchFamily="18" charset="0"/>
                          <a:cs typeface="Times New Roman" panose="02020603050405020304" pitchFamily="18" charset="0"/>
                        </a:rPr>
                        <a:t>routing</a:t>
                      </a:r>
                      <a:r>
                        <a:rPr lang="fr-FR" sz="1200" dirty="0">
                          <a:latin typeface="Times New Roman" panose="02020603050405020304" pitchFamily="18" charset="0"/>
                          <a:cs typeface="Times New Roman" panose="02020603050405020304" pitchFamily="18" charset="0"/>
                        </a:rPr>
                        <a:t> </a:t>
                      </a:r>
                      <a:r>
                        <a:rPr lang="fr-FR" sz="1200" dirty="0" err="1">
                          <a:latin typeface="Times New Roman" panose="02020603050405020304" pitchFamily="18" charset="0"/>
                          <a:cs typeface="Times New Roman" panose="02020603050405020304" pitchFamily="18" charset="0"/>
                        </a:rPr>
                        <a:t>protocol</a:t>
                      </a:r>
                      <a:r>
                        <a:rPr lang="fr-FR" sz="1200" dirty="0">
                          <a:latin typeface="Times New Roman" panose="02020603050405020304" pitchFamily="18" charset="0"/>
                          <a:cs typeface="Times New Roman" panose="02020603050405020304" pitchFamily="18" charset="0"/>
                        </a:rPr>
                        <a:t> (</a:t>
                      </a:r>
                      <a:r>
                        <a:rPr lang="fr-FR" sz="1200" dirty="0" err="1">
                          <a:latin typeface="Times New Roman" panose="02020603050405020304" pitchFamily="18" charset="0"/>
                          <a:cs typeface="Times New Roman" panose="02020603050405020304" pitchFamily="18" charset="0"/>
                        </a:rPr>
                        <a:t>link</a:t>
                      </a:r>
                      <a:r>
                        <a:rPr lang="fr-FR" sz="1200" dirty="0">
                          <a:latin typeface="Times New Roman" panose="02020603050405020304" pitchFamily="18" charset="0"/>
                          <a:cs typeface="Times New Roman" panose="02020603050405020304" pitchFamily="18" charset="0"/>
                        </a:rPr>
                        <a:t>-state).</a:t>
                      </a:r>
                    </a:p>
                  </a:txBody>
                  <a:tcPr marL="20502" marR="20502" marT="10251" marB="10251" anchor="ctr"/>
                </a:tc>
                <a:tc>
                  <a:txBody>
                    <a:bodyPr/>
                    <a:lstStyle/>
                    <a:p>
                      <a:pPr>
                        <a:buNone/>
                      </a:pPr>
                      <a:r>
                        <a:rPr lang="en-US" sz="1200" dirty="0">
                          <a:latin typeface="Times New Roman" panose="02020603050405020304" pitchFamily="18" charset="0"/>
                          <a:cs typeface="Times New Roman" panose="02020603050405020304" pitchFamily="18" charset="0"/>
                        </a:rPr>
                        <a:t>Builds a complete topology map, uses Dijkstra’s algorithm to compute shortest paths. Organizes networks into hierarchical areas.</a:t>
                      </a:r>
                    </a:p>
                  </a:txBody>
                  <a:tcPr marL="20502" marR="20502" marT="10251" marB="10251" anchor="ctr"/>
                </a:tc>
                <a:extLst>
                  <a:ext uri="{0D108BD9-81ED-4DB2-BD59-A6C34878D82A}">
                    <a16:rowId xmlns:a16="http://schemas.microsoft.com/office/drawing/2014/main" val="3714719546"/>
                  </a:ext>
                </a:extLst>
              </a:tr>
            </a:tbl>
          </a:graphicData>
        </a:graphic>
      </p:graphicFrame>
      <p:sp>
        <p:nvSpPr>
          <p:cNvPr id="6" name="Title 1">
            <a:extLst>
              <a:ext uri="{FF2B5EF4-FFF2-40B4-BE49-F238E27FC236}">
                <a16:creationId xmlns:a16="http://schemas.microsoft.com/office/drawing/2014/main" id="{5B0BD5D4-00D7-A564-1D7D-DA71DAF21B48}"/>
              </a:ext>
            </a:extLst>
          </p:cNvPr>
          <p:cNvSpPr txBox="1">
            <a:spLocks/>
          </p:cNvSpPr>
          <p:nvPr/>
        </p:nvSpPr>
        <p:spPr>
          <a:xfrm>
            <a:off x="1745836" y="330200"/>
            <a:ext cx="9782801" cy="12398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pPr algn="ctr"/>
            <a:r>
              <a:rPr lang="en-US" dirty="0">
                <a:latin typeface="Times New Roman" panose="02020603050405020304" pitchFamily="18" charset="0"/>
                <a:cs typeface="Times New Roman" panose="02020603050405020304" pitchFamily="18" charset="0"/>
              </a:rPr>
              <a:t>Transport &amp; Network Protocols</a:t>
            </a:r>
          </a:p>
        </p:txBody>
      </p:sp>
    </p:spTree>
    <p:extLst>
      <p:ext uri="{BB962C8B-B14F-4D97-AF65-F5344CB8AC3E}">
        <p14:creationId xmlns:p14="http://schemas.microsoft.com/office/powerpoint/2010/main" val="358759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8C519-F7DF-1F29-79EA-EEF6214F84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E5F4D0-ABB0-382D-C089-73C73E0E7168}"/>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pic>
        <p:nvPicPr>
          <p:cNvPr id="1028" name="Picture 4" descr="Overview of Essential Networking Devices">
            <a:extLst>
              <a:ext uri="{FF2B5EF4-FFF2-40B4-BE49-F238E27FC236}">
                <a16:creationId xmlns:a16="http://schemas.microsoft.com/office/drawing/2014/main" id="{62712883-BD59-BEA7-A77B-5C3926EA7B9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160440" y="1440020"/>
            <a:ext cx="4550596" cy="3168352"/>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3">
            <a:extLst>
              <a:ext uri="{FF2B5EF4-FFF2-40B4-BE49-F238E27FC236}">
                <a16:creationId xmlns:a16="http://schemas.microsoft.com/office/drawing/2014/main" id="{B31F127B-61C5-30FE-F1F1-0E01F22654E7}"/>
              </a:ext>
            </a:extLst>
          </p:cNvPr>
          <p:cNvSpPr txBox="1">
            <a:spLocks/>
          </p:cNvSpPr>
          <p:nvPr/>
        </p:nvSpPr>
        <p:spPr>
          <a:xfrm>
            <a:off x="1575617" y="3645024"/>
            <a:ext cx="5437081" cy="12398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p:txBody>
      </p:sp>
      <p:sp>
        <p:nvSpPr>
          <p:cNvPr id="18" name="Title 17">
            <a:extLst>
              <a:ext uri="{FF2B5EF4-FFF2-40B4-BE49-F238E27FC236}">
                <a16:creationId xmlns:a16="http://schemas.microsoft.com/office/drawing/2014/main" id="{DCBDC2B4-3ACB-E9F5-A781-435578D33E13}"/>
              </a:ext>
            </a:extLst>
          </p:cNvPr>
          <p:cNvSpPr>
            <a:spLocks noGrp="1"/>
          </p:cNvSpPr>
          <p:nvPr>
            <p:ph type="title"/>
          </p:nvPr>
        </p:nvSpPr>
        <p:spPr/>
        <p:txBody>
          <a:bodyPr/>
          <a:lstStyle/>
          <a:p>
            <a:r>
              <a:rPr lang="fr-FR" dirty="0">
                <a:latin typeface="Times New Roman" panose="02020603050405020304" pitchFamily="18" charset="0"/>
                <a:cs typeface="Times New Roman" panose="02020603050405020304" pitchFamily="18" charset="0"/>
              </a:rPr>
              <a:t>Network </a:t>
            </a:r>
            <a:r>
              <a:rPr lang="fr-FR" dirty="0" err="1">
                <a:latin typeface="Times New Roman" panose="02020603050405020304" pitchFamily="18" charset="0"/>
                <a:cs typeface="Times New Roman" panose="02020603050405020304" pitchFamily="18" charset="0"/>
              </a:rPr>
              <a:t>Devices</a:t>
            </a:r>
            <a:endParaRPr lang="fr-DZ"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546AC32E-45D1-E3AA-A4BB-676B647EFC54}"/>
              </a:ext>
            </a:extLst>
          </p:cNvPr>
          <p:cNvSpPr txBox="1"/>
          <p:nvPr/>
        </p:nvSpPr>
        <p:spPr>
          <a:xfrm>
            <a:off x="1413892" y="1628800"/>
            <a:ext cx="5598806" cy="3970318"/>
          </a:xfrm>
          <a:prstGeom prst="rect">
            <a:avLst/>
          </a:prstGeom>
          <a:noFill/>
        </p:spPr>
        <p:txBody>
          <a:bodyPr wrap="square" rtlCol="0">
            <a:spAutoFit/>
          </a:bodyPr>
          <a:lstStyle/>
          <a:p>
            <a:pPr marL="285750" indent="-2857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Hub </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 hub was an early device used to connect multiple devices in a LAN.</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Unlike switches, hubs simply </a:t>
            </a:r>
            <a:r>
              <a:rPr lang="en-US" sz="1200" b="1" dirty="0">
                <a:latin typeface="Times New Roman" panose="02020603050405020304" pitchFamily="18" charset="0"/>
                <a:cs typeface="Times New Roman" panose="02020603050405020304" pitchFamily="18" charset="0"/>
              </a:rPr>
              <a:t>broadcast</a:t>
            </a:r>
            <a:r>
              <a:rPr lang="en-US" sz="1200" dirty="0">
                <a:latin typeface="Times New Roman" panose="02020603050405020304" pitchFamily="18" charset="0"/>
                <a:cs typeface="Times New Roman" panose="02020603050405020304" pitchFamily="18" charset="0"/>
              </a:rPr>
              <a:t> all incoming data to every port.</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They are rarely used today because they are inefficient and insecure.</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200" b="1" dirty="0">
                <a:solidFill>
                  <a:schemeClr val="tx1">
                    <a:lumMod val="75000"/>
                  </a:schemeClr>
                </a:solidFill>
                <a:latin typeface="Times New Roman" panose="02020603050405020304" pitchFamily="18" charset="0"/>
                <a:cs typeface="Times New Roman" panose="02020603050405020304" pitchFamily="18" charset="0"/>
              </a:rPr>
              <a:t>Switch</a:t>
            </a:r>
            <a:br>
              <a:rPr lang="en-US" sz="1200" b="1" dirty="0">
                <a:solidFill>
                  <a:schemeClr val="tx1">
                    <a:lumMod val="75000"/>
                  </a:schemeClr>
                </a:solidFill>
                <a:latin typeface="Times New Roman" panose="02020603050405020304" pitchFamily="18" charset="0"/>
                <a:cs typeface="Times New Roman" panose="02020603050405020304" pitchFamily="18" charset="0"/>
              </a:rPr>
            </a:br>
            <a:r>
              <a:rPr lang="en-US" sz="1200" dirty="0">
                <a:solidFill>
                  <a:schemeClr val="tx1">
                    <a:lumMod val="75000"/>
                  </a:schemeClr>
                </a:solidFill>
                <a:latin typeface="Times New Roman" panose="02020603050405020304" pitchFamily="18" charset="0"/>
                <a:cs typeface="Times New Roman" panose="02020603050405020304" pitchFamily="18" charset="0"/>
              </a:rPr>
              <a:t>A switch connects multiple devices (computers, servers, printers) within a   Local Area Network (LAN).</a:t>
            </a:r>
            <a:br>
              <a:rPr lang="en-US" sz="1200" dirty="0">
                <a:solidFill>
                  <a:schemeClr val="tx1">
                    <a:lumMod val="75000"/>
                  </a:schemeClr>
                </a:solidFill>
                <a:latin typeface="Times New Roman" panose="02020603050405020304" pitchFamily="18" charset="0"/>
                <a:cs typeface="Times New Roman" panose="02020603050405020304" pitchFamily="18" charset="0"/>
              </a:rPr>
            </a:br>
            <a:r>
              <a:rPr lang="en-US" sz="1200" dirty="0">
                <a:solidFill>
                  <a:schemeClr val="tx1">
                    <a:lumMod val="75000"/>
                  </a:schemeClr>
                </a:solidFill>
                <a:latin typeface="Times New Roman" panose="02020603050405020304" pitchFamily="18" charset="0"/>
                <a:cs typeface="Times New Roman" panose="02020603050405020304" pitchFamily="18" charset="0"/>
              </a:rPr>
              <a:t>It operates by learning and using MAC addresses to forward frames only to the intended recipient, unlike hubs that broadcast to all devices.</a:t>
            </a:r>
            <a:br>
              <a:rPr lang="en-US" sz="1200" dirty="0">
                <a:solidFill>
                  <a:schemeClr val="tx1">
                    <a:lumMod val="75000"/>
                  </a:schemeClr>
                </a:solidFill>
                <a:latin typeface="Times New Roman" panose="02020603050405020304" pitchFamily="18" charset="0"/>
                <a:cs typeface="Times New Roman" panose="02020603050405020304" pitchFamily="18" charset="0"/>
              </a:rPr>
            </a:br>
            <a:r>
              <a:rPr lang="en-US" sz="1200" dirty="0">
                <a:solidFill>
                  <a:schemeClr val="tx1">
                    <a:lumMod val="75000"/>
                  </a:schemeClr>
                </a:solidFill>
                <a:latin typeface="Times New Roman" panose="02020603050405020304" pitchFamily="18" charset="0"/>
                <a:cs typeface="Times New Roman" panose="02020603050405020304" pitchFamily="18" charset="0"/>
              </a:rPr>
              <a:t>Modern switches also support advanced features like VLANs, link aggregation, and sometimes even routing.</a:t>
            </a:r>
            <a:br>
              <a:rPr lang="en-US" sz="1200" dirty="0">
                <a:solidFill>
                  <a:schemeClr val="tx1">
                    <a:lumMod val="75000"/>
                  </a:schemeClr>
                </a:solidFill>
                <a:latin typeface="Times New Roman" panose="02020603050405020304" pitchFamily="18" charset="0"/>
                <a:cs typeface="Times New Roman" panose="02020603050405020304" pitchFamily="18" charset="0"/>
              </a:rPr>
            </a:br>
            <a:endParaRPr lang="en-US" sz="1200" dirty="0">
              <a:solidFill>
                <a:schemeClr val="tx1">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Router</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 router connects different networks together, such as your home network to the Internet.</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It makes forwarding decisions based on IP addresses and relies on routing protocols like OSPF or BGP to determine the best path for data.</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Routers can also provide NAT (Network Address Translation), DHCP services, and basic firewalling.</a:t>
            </a:r>
            <a:br>
              <a:rPr lang="en-US" sz="1200" dirty="0">
                <a:latin typeface="Times New Roman" panose="02020603050405020304" pitchFamily="18" charset="0"/>
                <a:cs typeface="Times New Roman" panose="02020603050405020304" pitchFamily="18" charset="0"/>
              </a:rPr>
            </a:br>
            <a:endParaRPr lang="fr-DZ" sz="1200" dirty="0"/>
          </a:p>
        </p:txBody>
      </p:sp>
    </p:spTree>
    <p:extLst>
      <p:ext uri="{BB962C8B-B14F-4D97-AF65-F5344CB8AC3E}">
        <p14:creationId xmlns:p14="http://schemas.microsoft.com/office/powerpoint/2010/main" val="291919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55362-DFC1-C85E-CBA6-C612FD77A7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3FFE3F-BC93-A7F0-659C-BF45F151798E}"/>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sp>
        <p:nvSpPr>
          <p:cNvPr id="18" name="Title 17">
            <a:extLst>
              <a:ext uri="{FF2B5EF4-FFF2-40B4-BE49-F238E27FC236}">
                <a16:creationId xmlns:a16="http://schemas.microsoft.com/office/drawing/2014/main" id="{18F2BE21-28D7-EF25-1DCC-BFEE3BE3238F}"/>
              </a:ext>
            </a:extLst>
          </p:cNvPr>
          <p:cNvSpPr>
            <a:spLocks noGrp="1"/>
          </p:cNvSpPr>
          <p:nvPr>
            <p:ph type="title"/>
          </p:nvPr>
        </p:nvSpPr>
        <p:spPr/>
        <p:txBody>
          <a:bodyPr/>
          <a:lstStyle/>
          <a:p>
            <a:r>
              <a:rPr lang="fr-FR" dirty="0">
                <a:latin typeface="Times New Roman" panose="02020603050405020304" pitchFamily="18" charset="0"/>
                <a:cs typeface="Times New Roman" panose="02020603050405020304" pitchFamily="18" charset="0"/>
              </a:rPr>
              <a:t>Network </a:t>
            </a:r>
            <a:r>
              <a:rPr lang="fr-FR" dirty="0" err="1">
                <a:latin typeface="Times New Roman" panose="02020603050405020304" pitchFamily="18" charset="0"/>
                <a:cs typeface="Times New Roman" panose="02020603050405020304" pitchFamily="18" charset="0"/>
              </a:rPr>
              <a:t>Devices</a:t>
            </a:r>
            <a:endParaRPr lang="fr-DZ"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DEFDB96-4563-E5A5-97FA-F7030B6B3961}"/>
              </a:ext>
            </a:extLst>
          </p:cNvPr>
          <p:cNvSpPr>
            <a:spLocks noChangeArrowheads="1"/>
          </p:cNvSpPr>
          <p:nvPr/>
        </p:nvSpPr>
        <p:spPr bwMode="auto">
          <a:xfrm>
            <a:off x="1413891" y="1772816"/>
            <a:ext cx="5544617"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 Point (AP)</a:t>
            </a:r>
            <a:endParaRPr lang="fr-FR" altLang="fr-DZ" sz="1200"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access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point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provides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wireless</a:t>
            </a: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connectivity</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allowing</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devices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laptops and smartphones to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join</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network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without</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cables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acts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 bridge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between</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Wi-Fi clients and the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wired</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LAN.</a:t>
            </a:r>
          </a:p>
          <a:p>
            <a:pPr marL="0" marR="0" lvl="0" indent="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Enterprise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APs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often</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include</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features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such</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user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authentication</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roaming</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 and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centralized</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management.</a:t>
            </a:r>
            <a:endParaRPr lang="fr-FR" altLang="fr-DZ" sz="1200" b="1" dirty="0">
              <a:latin typeface="Times New Roman" panose="02020603050405020304" pitchFamily="18" charset="0"/>
              <a:cs typeface="Times New Roman" panose="02020603050405020304" pitchFamily="18"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Firewall</a:t>
            </a:r>
            <a:endPar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firewall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protects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network by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controlling</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traffic</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enters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leaves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it</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enforces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security</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policies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allowing</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blocking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packets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based</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rules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include</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packet-filtering</a:t>
            </a: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firewalls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stateful</a:t>
            </a: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firewalls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fr-DZ" altLang="fr-DZ"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next-generation</a:t>
            </a: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firewalls (NGFW)</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with</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intrusion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detection</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packet</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inspection.</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Gateway</a:t>
            </a:r>
            <a:endPar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gateway</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connects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networks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a:t>
            </a:r>
            <a:r>
              <a:rPr kumimoji="0" lang="fr-DZ" altLang="fr-DZ"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different</a:t>
            </a: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protocols</a:t>
            </a: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architectures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translates data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between</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systems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VoIP</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gateway</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converts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phone calls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between</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IP and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traditional</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phone networks).</a:t>
            </a:r>
          </a:p>
          <a:p>
            <a:pPr marL="0" marR="0" lvl="0" indent="0" algn="just" defTabSz="914400" rtl="0" eaLnBrk="0" fontAlgn="base" latinLnBrk="0" hangingPunct="0">
              <a:lnSpc>
                <a:spcPct val="100000"/>
              </a:lnSpc>
              <a:spcBef>
                <a:spcPct val="0"/>
              </a:spcBef>
              <a:spcAft>
                <a:spcPct val="0"/>
              </a:spcAft>
              <a:buClrTx/>
              <a:buSzTx/>
              <a:tabLst/>
            </a:pP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Often</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used</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fr-DZ" altLang="fr-DZ"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industrial</a:t>
            </a:r>
            <a:r>
              <a:rPr kumimoji="0" lang="fr-DZ" altLang="fr-DZ"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networks</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t>
            </a:r>
            <a:r>
              <a:rPr kumimoji="0" lang="fr-DZ" altLang="fr-DZ"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interoperability</a:t>
            </a:r>
            <a:r>
              <a:rPr kumimoji="0" lang="fr-DZ" altLang="fr-DZ"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2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3577E58B-8CDF-709C-E14B-42E68F2615EB}"/>
              </a:ext>
            </a:extLst>
          </p:cNvPr>
          <p:cNvSpPr txBox="1"/>
          <p:nvPr/>
        </p:nvSpPr>
        <p:spPr>
          <a:xfrm>
            <a:off x="7246540" y="2276872"/>
            <a:ext cx="184731" cy="369332"/>
          </a:xfrm>
          <a:prstGeom prst="rect">
            <a:avLst/>
          </a:prstGeom>
          <a:noFill/>
        </p:spPr>
        <p:txBody>
          <a:bodyPr wrap="none" rtlCol="0">
            <a:spAutoFit/>
          </a:bodyPr>
          <a:lstStyle/>
          <a:p>
            <a:endParaRPr lang="fr-DZ" dirty="0"/>
          </a:p>
        </p:txBody>
      </p:sp>
      <p:pic>
        <p:nvPicPr>
          <p:cNvPr id="2053" name="Picture 5" descr="Diagram of network devices">
            <a:extLst>
              <a:ext uri="{FF2B5EF4-FFF2-40B4-BE49-F238E27FC236}">
                <a16:creationId xmlns:a16="http://schemas.microsoft.com/office/drawing/2014/main" id="{92A25136-69DA-5E3D-EA37-AFE570F94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744" y="1813172"/>
            <a:ext cx="4628270" cy="3231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851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What is Advanced Networking?</a:t>
            </a:r>
          </a:p>
        </p:txBody>
      </p:sp>
      <p:sp>
        <p:nvSpPr>
          <p:cNvPr id="3" name="TextBox 2">
            <a:extLst>
              <a:ext uri="{FF2B5EF4-FFF2-40B4-BE49-F238E27FC236}">
                <a16:creationId xmlns:a16="http://schemas.microsoft.com/office/drawing/2014/main" id="{5CE1209B-3AA1-A651-AB4B-DFD0E4D3198C}"/>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sp>
        <p:nvSpPr>
          <p:cNvPr id="8" name="TextBox 7">
            <a:extLst>
              <a:ext uri="{FF2B5EF4-FFF2-40B4-BE49-F238E27FC236}">
                <a16:creationId xmlns:a16="http://schemas.microsoft.com/office/drawing/2014/main" id="{7E958F83-1032-E468-E20F-3629C2808454}"/>
              </a:ext>
            </a:extLst>
          </p:cNvPr>
          <p:cNvSpPr txBox="1"/>
          <p:nvPr/>
        </p:nvSpPr>
        <p:spPr>
          <a:xfrm>
            <a:off x="1413892" y="1556792"/>
            <a:ext cx="10081120" cy="3416320"/>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Advanced Networking</a:t>
            </a:r>
            <a:r>
              <a:rPr lang="en-US" dirty="0">
                <a:latin typeface="Times New Roman" panose="02020603050405020304" pitchFamily="18" charset="0"/>
                <a:cs typeface="Times New Roman" panose="02020603050405020304" pitchFamily="18" charset="0"/>
              </a:rPr>
              <a:t> refers to the study and implementation of </a:t>
            </a:r>
            <a:r>
              <a:rPr lang="en-US" b="1" dirty="0">
                <a:latin typeface="Times New Roman" panose="02020603050405020304" pitchFamily="18" charset="0"/>
                <a:cs typeface="Times New Roman" panose="02020603050405020304" pitchFamily="18" charset="0"/>
              </a:rPr>
              <a:t>modern and sophisticated networking technologies, protocols, and architectures</a:t>
            </a:r>
            <a:r>
              <a:rPr lang="en-US" dirty="0">
                <a:latin typeface="Times New Roman" panose="02020603050405020304" pitchFamily="18" charset="0"/>
                <a:cs typeface="Times New Roman" panose="02020603050405020304" pitchFamily="18" charset="0"/>
              </a:rPr>
              <a:t> that go beyond basic connectivity.</a:t>
            </a:r>
          </a:p>
          <a:p>
            <a:pPr algn="just">
              <a:buNone/>
            </a:pPr>
            <a:r>
              <a:rPr lang="en-US" dirty="0">
                <a:latin typeface="Times New Roman" panose="02020603050405020304" pitchFamily="18" charset="0"/>
                <a:cs typeface="Times New Roman" panose="02020603050405020304" pitchFamily="18" charset="0"/>
              </a:rPr>
              <a:t>While traditional networking focuses on </a:t>
            </a:r>
            <a:r>
              <a:rPr lang="en-US" b="1" dirty="0">
                <a:latin typeface="Times New Roman" panose="02020603050405020304" pitchFamily="18" charset="0"/>
                <a:cs typeface="Times New Roman" panose="02020603050405020304" pitchFamily="18" charset="0"/>
              </a:rPr>
              <a:t>establishing communication</a:t>
            </a:r>
            <a:r>
              <a:rPr lang="en-US" dirty="0">
                <a:latin typeface="Times New Roman" panose="02020603050405020304" pitchFamily="18" charset="0"/>
                <a:cs typeface="Times New Roman" panose="02020603050405020304" pitchFamily="18" charset="0"/>
              </a:rPr>
              <a:t> between devices (using IP, routing, and switching), </a:t>
            </a:r>
            <a:r>
              <a:rPr lang="en-US" b="1" dirty="0">
                <a:latin typeface="Times New Roman" panose="02020603050405020304" pitchFamily="18" charset="0"/>
                <a:cs typeface="Times New Roman" panose="02020603050405020304" pitchFamily="18" charset="0"/>
              </a:rPr>
              <a:t>advanced networking</a:t>
            </a:r>
            <a:r>
              <a:rPr lang="en-US" dirty="0">
                <a:latin typeface="Times New Roman" panose="02020603050405020304" pitchFamily="18" charset="0"/>
                <a:cs typeface="Times New Roman" panose="02020603050405020304" pitchFamily="18" charset="0"/>
              </a:rPr>
              <a:t> emphasizes </a:t>
            </a:r>
            <a:r>
              <a:rPr lang="en-US" b="1" dirty="0">
                <a:latin typeface="Times New Roman" panose="02020603050405020304" pitchFamily="18" charset="0"/>
                <a:cs typeface="Times New Roman" panose="02020603050405020304" pitchFamily="18" charset="0"/>
              </a:rPr>
              <a:t>optimizing, securing, and automating</a:t>
            </a:r>
            <a:r>
              <a:rPr lang="en-US" dirty="0">
                <a:latin typeface="Times New Roman" panose="02020603050405020304" pitchFamily="18" charset="0"/>
                <a:cs typeface="Times New Roman" panose="02020603050405020304" pitchFamily="18" charset="0"/>
              </a:rPr>
              <a:t> these communications to meet the complex demands of today’s digital environments.</a:t>
            </a:r>
          </a:p>
          <a:p>
            <a:pPr algn="just">
              <a:buNone/>
            </a:pPr>
            <a:r>
              <a:rPr lang="en-US" dirty="0">
                <a:latin typeface="Times New Roman" panose="02020603050405020304" pitchFamily="18" charset="0"/>
                <a:cs typeface="Times New Roman" panose="02020603050405020304" pitchFamily="18" charset="0"/>
              </a:rPr>
              <a:t>It involves technologies and concepts such as: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Network Security</a:t>
            </a:r>
            <a:r>
              <a:rPr lang="en-US" dirty="0">
                <a:latin typeface="Times New Roman" panose="02020603050405020304" pitchFamily="18" charset="0"/>
                <a:cs typeface="Times New Roman" panose="02020603050405020304" pitchFamily="18" charset="0"/>
              </a:rPr>
              <a:t> (firewalls, IDS/IPS, encryption)</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Quality of Service (QoS)</a:t>
            </a:r>
            <a:r>
              <a:rPr lang="en-US" dirty="0">
                <a:latin typeface="Times New Roman" panose="02020603050405020304" pitchFamily="18" charset="0"/>
                <a:cs typeface="Times New Roman" panose="02020603050405020304" pitchFamily="18" charset="0"/>
              </a:rPr>
              <a:t> for performance assurance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Software-Defined Networking (SDN)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Network Function Virtualization (NFV)</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Wireless and Mobile Networks (4G/5G, IoT)</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Advanced routing and switching</a:t>
            </a:r>
            <a:r>
              <a:rPr lang="en-US" dirty="0">
                <a:latin typeface="Times New Roman" panose="02020603050405020304" pitchFamily="18" charset="0"/>
                <a:cs typeface="Times New Roman" panose="02020603050405020304" pitchFamily="18" charset="0"/>
              </a:rPr>
              <a:t> (BGP, OSPF, VLANs)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Network management and monitoring tools</a:t>
            </a:r>
            <a:r>
              <a:rPr lang="en-US" dirty="0">
                <a:latin typeface="Times New Roman" panose="02020603050405020304" pitchFamily="18" charset="0"/>
                <a:cs typeface="Times New Roman" panose="02020603050405020304" pitchFamily="18" charset="0"/>
              </a:rPr>
              <a:t> (SNMP, NetFlow)</a:t>
            </a:r>
          </a:p>
        </p:txBody>
      </p:sp>
    </p:spTree>
    <p:extLst>
      <p:ext uri="{BB962C8B-B14F-4D97-AF65-F5344CB8AC3E}">
        <p14:creationId xmlns:p14="http://schemas.microsoft.com/office/powerpoint/2010/main" val="1061194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4551D-EC0B-A50A-7EB8-A091054AA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873D8-3EA5-FD7C-0401-E436CD4A8620}"/>
              </a:ext>
            </a:extLst>
          </p:cNvPr>
          <p:cNvSpPr>
            <a:spLocks noGrp="1"/>
          </p:cNvSpPr>
          <p:nvPr>
            <p:ph type="title"/>
          </p:nvPr>
        </p:nvSpPr>
        <p:spPr/>
        <p:txBody>
          <a:bodyPr>
            <a:normAutofit/>
          </a:bodyPr>
          <a:lstStyle/>
          <a:p>
            <a:pPr algn="ctr"/>
            <a:r>
              <a:rPr lang="fr-FR" b="1" dirty="0" err="1">
                <a:latin typeface="Times New Roman" panose="02020603050405020304" pitchFamily="18" charset="0"/>
                <a:cs typeface="Times New Roman" panose="02020603050405020304" pitchFamily="18" charset="0"/>
              </a:rPr>
              <a:t>Why</a:t>
            </a:r>
            <a:r>
              <a:rPr lang="fr-FR" b="1" dirty="0">
                <a:latin typeface="Times New Roman" panose="02020603050405020304" pitchFamily="18" charset="0"/>
                <a:cs typeface="Times New Roman" panose="02020603050405020304" pitchFamily="18" charset="0"/>
              </a:rPr>
              <a:t> Advanced Networking</a:t>
            </a:r>
            <a:endParaRPr lang="en-US"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CCB611B-6157-EA85-5FAA-3F865C27C97F}"/>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sp>
        <p:nvSpPr>
          <p:cNvPr id="8" name="TextBox 7">
            <a:extLst>
              <a:ext uri="{FF2B5EF4-FFF2-40B4-BE49-F238E27FC236}">
                <a16:creationId xmlns:a16="http://schemas.microsoft.com/office/drawing/2014/main" id="{B1A8FA34-2357-147C-9A9C-5058F5A30A93}"/>
              </a:ext>
            </a:extLst>
          </p:cNvPr>
          <p:cNvSpPr txBox="1"/>
          <p:nvPr/>
        </p:nvSpPr>
        <p:spPr>
          <a:xfrm>
            <a:off x="1413892" y="1556792"/>
            <a:ext cx="10081120" cy="5078313"/>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Increased Complexity of Modern Networks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Today’s networks integrate wired, wireless, cloud, and virtualized components.</a:t>
            </a:r>
          </a:p>
          <a:p>
            <a:pPr lvl="1"/>
            <a:r>
              <a:rPr lang="en-US" dirty="0">
                <a:latin typeface="Times New Roman" panose="02020603050405020304" pitchFamily="18" charset="0"/>
                <a:cs typeface="Times New Roman" panose="02020603050405020304" pitchFamily="18" charset="0"/>
              </a:rPr>
              <a:t>Managing and securing such environments requires advanced protocols and automation tools.</a:t>
            </a:r>
          </a:p>
          <a:p>
            <a:r>
              <a:rPr lang="en-US" b="1" dirty="0">
                <a:latin typeface="Times New Roman" panose="02020603050405020304" pitchFamily="18" charset="0"/>
                <a:cs typeface="Times New Roman" panose="02020603050405020304" pitchFamily="18" charset="0"/>
              </a:rPr>
              <a:t>Security Challenges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As cyber threats evolve, network professionals must understand advanced mechanisms (e.g., encryption, VPNs, IDS/IPS) to protect data in transit.</a:t>
            </a:r>
          </a:p>
          <a:p>
            <a:r>
              <a:rPr lang="en-US" b="1" dirty="0">
                <a:latin typeface="Times New Roman" panose="02020603050405020304" pitchFamily="18" charset="0"/>
                <a:cs typeface="Times New Roman" panose="02020603050405020304" pitchFamily="18" charset="0"/>
              </a:rPr>
              <a:t>Performance and QoS Requirements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Applications like video conferencing, online gaming, and telemedicine demand </a:t>
            </a:r>
            <a:r>
              <a:rPr lang="en-US" b="1" dirty="0">
                <a:latin typeface="Times New Roman" panose="02020603050405020304" pitchFamily="18" charset="0"/>
                <a:cs typeface="Times New Roman" panose="02020603050405020304" pitchFamily="18" charset="0"/>
              </a:rPr>
              <a:t>low latency</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high bandwidth</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reliable performance</a:t>
            </a:r>
            <a:r>
              <a:rPr lang="en-US" dirty="0">
                <a:latin typeface="Times New Roman" panose="02020603050405020304" pitchFamily="18" charset="0"/>
                <a:cs typeface="Times New Roman" panose="02020603050405020304" pitchFamily="18" charset="0"/>
              </a:rPr>
              <a:t>, all managed via advanced QoS techniques.</a:t>
            </a:r>
          </a:p>
          <a:p>
            <a:r>
              <a:rPr lang="en-US" b="1" dirty="0">
                <a:latin typeface="Times New Roman" panose="02020603050405020304" pitchFamily="18" charset="0"/>
                <a:cs typeface="Times New Roman" panose="02020603050405020304" pitchFamily="18" charset="0"/>
              </a:rPr>
              <a:t>Scalability and Virtualization</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Cloud data centers and virtual networks (via SDN/NFV) enable dynamic resource allocation, essential for large-scale systems and enterprise operations.</a:t>
            </a:r>
          </a:p>
          <a:p>
            <a:r>
              <a:rPr lang="en-US" b="1" dirty="0">
                <a:latin typeface="Times New Roman" panose="02020603050405020304" pitchFamily="18" charset="0"/>
                <a:cs typeface="Times New Roman" panose="02020603050405020304" pitchFamily="18" charset="0"/>
              </a:rPr>
              <a:t>Support for Emerging Technologies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Advanced networks are the </a:t>
            </a:r>
            <a:r>
              <a:rPr lang="en-US" b="1" dirty="0">
                <a:latin typeface="Times New Roman" panose="02020603050405020304" pitchFamily="18" charset="0"/>
                <a:cs typeface="Times New Roman" panose="02020603050405020304" pitchFamily="18" charset="0"/>
              </a:rPr>
              <a:t>backbone of 5G, IoT, AI-driven networking, and edge computing</a:t>
            </a:r>
            <a:r>
              <a:rPr lang="en-US" dirty="0">
                <a:latin typeface="Times New Roman" panose="02020603050405020304" pitchFamily="18" charset="0"/>
                <a:cs typeface="Times New Roman" panose="02020603050405020304" pitchFamily="18" charset="0"/>
              </a:rPr>
              <a:t>, all of which rely on flexible, intelligent network infrastructures.</a:t>
            </a:r>
          </a:p>
          <a:p>
            <a:r>
              <a:rPr lang="en-US" b="1" dirty="0">
                <a:latin typeface="Times New Roman" panose="02020603050405020304" pitchFamily="18" charset="0"/>
                <a:cs typeface="Times New Roman" panose="02020603050405020304" pitchFamily="18" charset="0"/>
              </a:rPr>
              <a:t>Automation and Management Efficiency</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Advanced networking introduces </a:t>
            </a:r>
            <a:r>
              <a:rPr lang="en-US" b="1" dirty="0">
                <a:latin typeface="Times New Roman" panose="02020603050405020304" pitchFamily="18" charset="0"/>
                <a:cs typeface="Times New Roman" panose="02020603050405020304" pitchFamily="18" charset="0"/>
              </a:rPr>
              <a:t>programmable networks</a:t>
            </a:r>
            <a:r>
              <a:rPr lang="en-US" dirty="0">
                <a:latin typeface="Times New Roman" panose="02020603050405020304" pitchFamily="18" charset="0"/>
                <a:cs typeface="Times New Roman" panose="02020603050405020304" pitchFamily="18" charset="0"/>
              </a:rPr>
              <a:t> (e.g., SDN) that simplify configuration, reduce human error, and increase adaptability.</a:t>
            </a:r>
          </a:p>
        </p:txBody>
      </p:sp>
    </p:spTree>
    <p:extLst>
      <p:ext uri="{BB962C8B-B14F-4D97-AF65-F5344CB8AC3E}">
        <p14:creationId xmlns:p14="http://schemas.microsoft.com/office/powerpoint/2010/main" val="5105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DCFAC-001F-C5DC-8643-7F2821A8E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51B57-1776-1745-5D72-29908AAD03F8}"/>
              </a:ext>
            </a:extLst>
          </p:cNvPr>
          <p:cNvSpPr>
            <a:spLocks noGrp="1"/>
          </p:cNvSpPr>
          <p:nvPr>
            <p:ph type="title"/>
          </p:nvPr>
        </p:nvSpPr>
        <p:spPr>
          <a:xfrm>
            <a:off x="981844" y="3933056"/>
            <a:ext cx="9541060" cy="893136"/>
          </a:xfrm>
        </p:spPr>
        <p:txBody>
          <a:bodyPr>
            <a:noAutofit/>
          </a:bodyPr>
          <a:lstStyle/>
          <a:p>
            <a:pPr marL="171450" indent="-1714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Content</a:t>
            </a:r>
            <a:r>
              <a:rPr lang="fr-FR" sz="2000" u="sng" dirty="0">
                <a:latin typeface="Times New Roman" panose="02020603050405020304" pitchFamily="18" charset="0"/>
                <a:cs typeface="Times New Roman" panose="02020603050405020304" pitchFamily="18" charset="0"/>
              </a:rPr>
              <a:t>:</a:t>
            </a:r>
            <a:br>
              <a:rPr lang="fr-FR" sz="1600" dirty="0">
                <a:latin typeface="Times New Roman" panose="02020603050405020304" pitchFamily="18" charset="0"/>
                <a:cs typeface="Times New Roman" panose="02020603050405020304" pitchFamily="18" charset="0"/>
              </a:rPr>
            </a:b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Threats</a:t>
            </a: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vulnerabilities</a:t>
            </a:r>
            <a:r>
              <a:rPr lang="fr-FR" sz="1600" dirty="0">
                <a:latin typeface="Times New Roman" panose="02020603050405020304" pitchFamily="18" charset="0"/>
                <a:cs typeface="Times New Roman" panose="02020603050405020304" pitchFamily="18" charset="0"/>
              </a:rPr>
              <a:t>, and </a:t>
            </a:r>
            <a:r>
              <a:rPr lang="fr-FR" sz="1600" dirty="0" err="1">
                <a:latin typeface="Times New Roman" panose="02020603050405020304" pitchFamily="18" charset="0"/>
                <a:cs typeface="Times New Roman" panose="02020603050405020304" pitchFamily="18" charset="0"/>
              </a:rPr>
              <a:t>attacks</a:t>
            </a:r>
            <a:r>
              <a:rPr lang="fr-FR" sz="1600" dirty="0">
                <a:latin typeface="Times New Roman" panose="02020603050405020304" pitchFamily="18" charset="0"/>
                <a:cs typeface="Times New Roman" panose="02020603050405020304" pitchFamily="18" charset="0"/>
              </a:rPr>
              <a:t> in computer networks.</a:t>
            </a:r>
            <a:br>
              <a:rPr lang="fr-FR" sz="1600" dirty="0">
                <a:latin typeface="Times New Roman" panose="02020603050405020304" pitchFamily="18" charset="0"/>
                <a:cs typeface="Times New Roman" panose="02020603050405020304" pitchFamily="18" charset="0"/>
              </a:rPr>
            </a:b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Cryptography</a:t>
            </a:r>
            <a:r>
              <a:rPr lang="fr-FR" sz="1600" dirty="0">
                <a:latin typeface="Times New Roman" panose="02020603050405020304" pitchFamily="18" charset="0"/>
                <a:cs typeface="Times New Roman" panose="02020603050405020304" pitchFamily="18" charset="0"/>
              </a:rPr>
              <a:t> and </a:t>
            </a:r>
            <a:r>
              <a:rPr lang="fr-FR" sz="1600" dirty="0" err="1">
                <a:latin typeface="Times New Roman" panose="02020603050405020304" pitchFamily="18" charset="0"/>
                <a:cs typeface="Times New Roman" panose="02020603050405020304" pitchFamily="18" charset="0"/>
              </a:rPr>
              <a:t>encryption</a:t>
            </a:r>
            <a:r>
              <a:rPr lang="fr-FR" sz="1600" dirty="0">
                <a:latin typeface="Times New Roman" panose="02020603050405020304" pitchFamily="18" charset="0"/>
                <a:cs typeface="Times New Roman" panose="02020603050405020304" pitchFamily="18" charset="0"/>
              </a:rPr>
              <a:t> techniques for </a:t>
            </a:r>
            <a:r>
              <a:rPr lang="fr-FR" sz="1600" dirty="0" err="1">
                <a:latin typeface="Times New Roman" panose="02020603050405020304" pitchFamily="18" charset="0"/>
                <a:cs typeface="Times New Roman" panose="02020603050405020304" pitchFamily="18" charset="0"/>
              </a:rPr>
              <a:t>securing</a:t>
            </a:r>
            <a:r>
              <a:rPr lang="fr-FR" sz="1600" dirty="0">
                <a:latin typeface="Times New Roman" panose="02020603050405020304" pitchFamily="18" charset="0"/>
                <a:cs typeface="Times New Roman" panose="02020603050405020304" pitchFamily="18" charset="0"/>
              </a:rPr>
              <a:t> data transmission. </a:t>
            </a:r>
            <a:br>
              <a:rPr lang="fr-FR" sz="1600" dirty="0">
                <a:latin typeface="Times New Roman" panose="02020603050405020304" pitchFamily="18" charset="0"/>
                <a:cs typeface="Times New Roman" panose="02020603050405020304" pitchFamily="18" charset="0"/>
              </a:rPr>
            </a:br>
            <a:r>
              <a:rPr lang="fr-FR" sz="1600" dirty="0">
                <a:latin typeface="Times New Roman" panose="02020603050405020304" pitchFamily="18" charset="0"/>
                <a:cs typeface="Times New Roman" panose="02020603050405020304" pitchFamily="18" charset="0"/>
              </a:rPr>
              <a:t>* Firewalls, intrusion </a:t>
            </a:r>
            <a:r>
              <a:rPr lang="fr-FR" sz="1600" dirty="0" err="1">
                <a:latin typeface="Times New Roman" panose="02020603050405020304" pitchFamily="18" charset="0"/>
                <a:cs typeface="Times New Roman" panose="02020603050405020304" pitchFamily="18" charset="0"/>
              </a:rPr>
              <a:t>detection</a:t>
            </a: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systems</a:t>
            </a:r>
            <a:r>
              <a:rPr lang="fr-FR" sz="1600" dirty="0">
                <a:latin typeface="Times New Roman" panose="02020603050405020304" pitchFamily="18" charset="0"/>
                <a:cs typeface="Times New Roman" panose="02020603050405020304" pitchFamily="18" charset="0"/>
              </a:rPr>
              <a:t>, and </a:t>
            </a:r>
            <a:r>
              <a:rPr lang="fr-FR" sz="1600" dirty="0" err="1">
                <a:latin typeface="Times New Roman" panose="02020603050405020304" pitchFamily="18" charset="0"/>
                <a:cs typeface="Times New Roman" panose="02020603050405020304" pitchFamily="18" charset="0"/>
              </a:rPr>
              <a:t>other</a:t>
            </a: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security</a:t>
            </a: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mechanisms</a:t>
            </a:r>
            <a:r>
              <a:rPr lang="fr-FR" sz="1600" dirty="0">
                <a:latin typeface="Times New Roman" panose="02020603050405020304" pitchFamily="18" charset="0"/>
                <a:cs typeface="Times New Roman" panose="02020603050405020304" pitchFamily="18" charset="0"/>
              </a:rPr>
              <a:t>. </a:t>
            </a:r>
            <a:br>
              <a:rPr lang="fr-FR" sz="1600" dirty="0">
                <a:latin typeface="Times New Roman" panose="02020603050405020304" pitchFamily="18" charset="0"/>
                <a:cs typeface="Times New Roman" panose="02020603050405020304" pitchFamily="18" charset="0"/>
              </a:rPr>
            </a:br>
            <a:r>
              <a:rPr lang="fr-FR" sz="1600" dirty="0">
                <a:latin typeface="Times New Roman" panose="02020603050405020304" pitchFamily="18" charset="0"/>
                <a:cs typeface="Times New Roman" panose="02020603050405020304" pitchFamily="18" charset="0"/>
              </a:rPr>
              <a:t>* Secure network design </a:t>
            </a:r>
            <a:r>
              <a:rPr lang="fr-FR" sz="1600" dirty="0" err="1">
                <a:latin typeface="Times New Roman" panose="02020603050405020304" pitchFamily="18" charset="0"/>
                <a:cs typeface="Times New Roman" panose="02020603050405020304" pitchFamily="18" charset="0"/>
              </a:rPr>
              <a:t>principles</a:t>
            </a:r>
            <a:r>
              <a:rPr lang="fr-FR" sz="1600" dirty="0">
                <a:latin typeface="Times New Roman" panose="02020603050405020304" pitchFamily="18" charset="0"/>
                <a:cs typeface="Times New Roman" panose="02020603050405020304" pitchFamily="18" charset="0"/>
              </a:rPr>
              <a:t> and best practices.</a:t>
            </a:r>
            <a:endParaRPr lang="en-US" sz="16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D5D3E372-D583-2C04-730A-6482DC8B3161}"/>
              </a:ext>
            </a:extLst>
          </p:cNvPr>
          <p:cNvSpPr>
            <a:spLocks noGrp="1"/>
          </p:cNvSpPr>
          <p:nvPr>
            <p:ph type="body" idx="1"/>
          </p:nvPr>
        </p:nvSpPr>
        <p:spPr>
          <a:xfrm>
            <a:off x="981844" y="1486632"/>
            <a:ext cx="7264623" cy="1150203"/>
          </a:xfrm>
        </p:spPr>
        <p:txBody>
          <a:bodyPr/>
          <a:lstStyle/>
          <a:p>
            <a:r>
              <a:rPr lang="fr-FR" dirty="0" err="1">
                <a:latin typeface="Times New Roman" panose="02020603050405020304" pitchFamily="18" charset="0"/>
                <a:cs typeface="Times New Roman" panose="02020603050405020304" pitchFamily="18" charset="0"/>
              </a:rPr>
              <a:t>Chapter</a:t>
            </a:r>
            <a:r>
              <a:rPr lang="fr-FR" dirty="0">
                <a:latin typeface="Times New Roman" panose="02020603050405020304" pitchFamily="18" charset="0"/>
                <a:cs typeface="Times New Roman" panose="02020603050405020304" pitchFamily="18" charset="0"/>
              </a:rPr>
              <a:t> 02</a:t>
            </a:r>
            <a:endParaRPr lang="en-US" dirty="0"/>
          </a:p>
        </p:txBody>
      </p:sp>
      <p:sp>
        <p:nvSpPr>
          <p:cNvPr id="4" name="Title 1">
            <a:extLst>
              <a:ext uri="{FF2B5EF4-FFF2-40B4-BE49-F238E27FC236}">
                <a16:creationId xmlns:a16="http://schemas.microsoft.com/office/drawing/2014/main" id="{AC50FAF1-2855-F7E2-F462-A6E1086DF47A}"/>
              </a:ext>
            </a:extLst>
          </p:cNvPr>
          <p:cNvSpPr txBox="1">
            <a:spLocks/>
          </p:cNvSpPr>
          <p:nvPr/>
        </p:nvSpPr>
        <p:spPr>
          <a:xfrm>
            <a:off x="1134243" y="702928"/>
            <a:ext cx="10472463" cy="26540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0" kern="1200" cap="none" baseline="0">
                <a:solidFill>
                  <a:schemeClr val="tx1">
                    <a:lumMod val="75000"/>
                  </a:schemeClr>
                </a:solidFill>
                <a:latin typeface="+mj-lt"/>
                <a:ea typeface="+mj-ea"/>
                <a:cs typeface="+mj-cs"/>
              </a:defRPr>
            </a:lvl1pPr>
          </a:lstStyle>
          <a:p>
            <a:pPr algn="ctr"/>
            <a:r>
              <a:rPr lang="fr-FR" sz="7200" b="1" dirty="0">
                <a:latin typeface="Bahnschrift Condensed" panose="020B0502040204020203" pitchFamily="34" charset="0"/>
                <a:cs typeface="Times New Roman" panose="02020603050405020304" pitchFamily="18" charset="0"/>
              </a:rPr>
              <a:t>Network Security</a:t>
            </a:r>
            <a:endParaRPr lang="en-US" sz="7200" b="1" dirty="0">
              <a:latin typeface="Bahnschrift Condensed" panose="020B0502040204020203" pitchFamily="34" charset="0"/>
            </a:endParaRPr>
          </a:p>
        </p:txBody>
      </p:sp>
    </p:spTree>
    <p:extLst>
      <p:ext uri="{BB962C8B-B14F-4D97-AF65-F5344CB8AC3E}">
        <p14:creationId xmlns:p14="http://schemas.microsoft.com/office/powerpoint/2010/main" val="4111647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43085"/>
            <a:ext cx="9782801" cy="1239837"/>
          </a:xfrm>
        </p:spPr>
        <p:txBody>
          <a:bodyPr/>
          <a:lstStyle/>
          <a:p>
            <a:pPr algn="ctr"/>
            <a:r>
              <a:rPr lang="fr-FR" dirty="0" err="1">
                <a:latin typeface="Times New Roman" panose="02020603050405020304" pitchFamily="18" charset="0"/>
                <a:cs typeface="Times New Roman" panose="02020603050405020304" pitchFamily="18" charset="0"/>
              </a:rPr>
              <a:t>What</a:t>
            </a:r>
            <a:r>
              <a:rPr lang="fr-FR" dirty="0">
                <a:latin typeface="Times New Roman" panose="02020603050405020304" pitchFamily="18" charset="0"/>
                <a:cs typeface="Times New Roman" panose="02020603050405020304" pitchFamily="18" charset="0"/>
              </a:rPr>
              <a:t> Is Network Security?</a:t>
            </a:r>
            <a:endParaRPr lang="en-US" dirty="0">
              <a:latin typeface="Times New Roman" panose="02020603050405020304" pitchFamily="18" charset="0"/>
              <a:cs typeface="Times New Roman" panose="02020603050405020304" pitchFamily="18" charset="0"/>
            </a:endParaRPr>
          </a:p>
        </p:txBody>
      </p:sp>
      <p:pic>
        <p:nvPicPr>
          <p:cNvPr id="1027" name="Picture 3" descr="What Is Network Security? Definition and Types | Fortinet">
            <a:extLst>
              <a:ext uri="{FF2B5EF4-FFF2-40B4-BE49-F238E27FC236}">
                <a16:creationId xmlns:a16="http://schemas.microsoft.com/office/drawing/2014/main" id="{19E291FD-ABE1-9E7C-EC60-A0B8E4D698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951"/>
          <a:stretch>
            <a:fillRect/>
          </a:stretch>
        </p:blipFill>
        <p:spPr bwMode="auto">
          <a:xfrm>
            <a:off x="6958508" y="1993514"/>
            <a:ext cx="4865710" cy="37948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1774979-EB33-4A97-9C0C-F048673FCC35}"/>
              </a:ext>
            </a:extLst>
          </p:cNvPr>
          <p:cNvSpPr txBox="1"/>
          <p:nvPr/>
        </p:nvSpPr>
        <p:spPr>
          <a:xfrm>
            <a:off x="1413892" y="1628800"/>
            <a:ext cx="5736265" cy="3970318"/>
          </a:xfrm>
          <a:prstGeom prst="rect">
            <a:avLst/>
          </a:prstGeom>
          <a:noFill/>
        </p:spPr>
        <p:txBody>
          <a:bodyPr wrap="square" rtlCol="0">
            <a:spAutoFit/>
          </a:bodyPr>
          <a:lstStyle/>
          <a:p>
            <a:pPr lvl="0" algn="just" eaLnBrk="0" fontAlgn="base" hangingPunct="0">
              <a:spcBef>
                <a:spcPct val="0"/>
              </a:spcBef>
              <a:spcAft>
                <a:spcPct val="0"/>
              </a:spcAft>
            </a:pPr>
            <a:r>
              <a:rPr lang="fr-FR" altLang="fr-DZ" dirty="0">
                <a:latin typeface="Times New Roman" panose="02020603050405020304" pitchFamily="18" charset="0"/>
                <a:cs typeface="Times New Roman" panose="02020603050405020304" pitchFamily="18" charset="0"/>
              </a:rPr>
              <a:t>It </a:t>
            </a:r>
            <a:r>
              <a:rPr lang="fr-DZ" altLang="fr-DZ" dirty="0" err="1">
                <a:latin typeface="Times New Roman" panose="02020603050405020304" pitchFamily="18" charset="0"/>
                <a:cs typeface="Times New Roman" panose="02020603050405020304" pitchFamily="18" charset="0"/>
              </a:rPr>
              <a:t>refers</a:t>
            </a:r>
            <a:r>
              <a:rPr lang="fr-DZ" altLang="fr-DZ" dirty="0">
                <a:latin typeface="Times New Roman" panose="02020603050405020304" pitchFamily="18" charset="0"/>
                <a:cs typeface="Times New Roman" panose="02020603050405020304" pitchFamily="18" charset="0"/>
              </a:rPr>
              <a:t> to the </a:t>
            </a:r>
            <a:r>
              <a:rPr lang="fr-DZ" altLang="fr-DZ" b="1" dirty="0" err="1">
                <a:latin typeface="Times New Roman" panose="02020603050405020304" pitchFamily="18" charset="0"/>
                <a:cs typeface="Times New Roman" panose="02020603050405020304" pitchFamily="18" charset="0"/>
              </a:rPr>
              <a:t>policies</a:t>
            </a:r>
            <a:r>
              <a:rPr lang="fr-DZ" altLang="fr-DZ" b="1" dirty="0">
                <a:latin typeface="Times New Roman" panose="02020603050405020304" pitchFamily="18" charset="0"/>
                <a:cs typeface="Times New Roman" panose="02020603050405020304" pitchFamily="18" charset="0"/>
              </a:rPr>
              <a:t>, technologies, and practices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designed</a:t>
            </a:r>
            <a:r>
              <a:rPr lang="fr-DZ" altLang="fr-DZ" dirty="0">
                <a:latin typeface="Times New Roman" panose="02020603050405020304" pitchFamily="18" charset="0"/>
                <a:cs typeface="Times New Roman" panose="02020603050405020304" pitchFamily="18" charset="0"/>
              </a:rPr>
              <a:t> to </a:t>
            </a:r>
            <a:r>
              <a:rPr lang="fr-DZ" altLang="fr-DZ" dirty="0" err="1">
                <a:latin typeface="Times New Roman" panose="02020603050405020304" pitchFamily="18" charset="0"/>
                <a:cs typeface="Times New Roman" panose="02020603050405020304" pitchFamily="18" charset="0"/>
              </a:rPr>
              <a:t>protect</a:t>
            </a:r>
            <a:r>
              <a:rPr lang="fr-DZ" altLang="fr-DZ" dirty="0">
                <a:latin typeface="Times New Roman" panose="02020603050405020304" pitchFamily="18" charset="0"/>
                <a:cs typeface="Times New Roman" panose="02020603050405020304" pitchFamily="18" charset="0"/>
              </a:rPr>
              <a:t> data and </a:t>
            </a:r>
            <a:r>
              <a:rPr lang="fr-DZ" altLang="fr-DZ" dirty="0" err="1">
                <a:latin typeface="Times New Roman" panose="02020603050405020304" pitchFamily="18" charset="0"/>
                <a:cs typeface="Times New Roman" panose="02020603050405020304" pitchFamily="18" charset="0"/>
              </a:rPr>
              <a:t>resources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from</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unauthorized</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access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misuse</a:t>
            </a:r>
            <a:r>
              <a:rPr lang="fr-DZ" altLang="fr-DZ" dirty="0">
                <a:latin typeface="Times New Roman" panose="02020603050405020304" pitchFamily="18" charset="0"/>
                <a:cs typeface="Times New Roman" panose="02020603050405020304" pitchFamily="18" charset="0"/>
              </a:rPr>
              <a:t>, or </a:t>
            </a:r>
            <a:r>
              <a:rPr lang="fr-DZ" altLang="fr-DZ" dirty="0" err="1">
                <a:latin typeface="Times New Roman" panose="02020603050405020304" pitchFamily="18" charset="0"/>
                <a:cs typeface="Times New Roman" panose="02020603050405020304" pitchFamily="18" charset="0"/>
              </a:rPr>
              <a:t>attacks</a:t>
            </a:r>
            <a:r>
              <a:rPr lang="fr-DZ" altLang="fr-DZ" dirty="0">
                <a:latin typeface="Times New Roman" panose="02020603050405020304" pitchFamily="18" charset="0"/>
                <a:cs typeface="Times New Roman" panose="02020603050405020304" pitchFamily="18" charset="0"/>
              </a:rPr>
              <a:t>.</a:t>
            </a:r>
          </a:p>
          <a:p>
            <a:pPr lvl="0" algn="just" eaLnBrk="0" fontAlgn="base" hangingPunct="0">
              <a:spcBef>
                <a:spcPct val="0"/>
              </a:spcBef>
              <a:spcAft>
                <a:spcPct val="0"/>
              </a:spcAft>
            </a:pPr>
            <a:r>
              <a:rPr lang="fr-DZ" altLang="fr-DZ" dirty="0">
                <a:latin typeface="Times New Roman" panose="02020603050405020304" pitchFamily="18" charset="0"/>
                <a:cs typeface="Times New Roman" panose="02020603050405020304" pitchFamily="18" charset="0"/>
              </a:rPr>
              <a:t>It </a:t>
            </a:r>
            <a:r>
              <a:rPr lang="fr-DZ" altLang="fr-DZ" dirty="0" err="1">
                <a:latin typeface="Times New Roman" panose="02020603050405020304" pitchFamily="18" charset="0"/>
                <a:cs typeface="Times New Roman" panose="02020603050405020304" pitchFamily="18" charset="0"/>
              </a:rPr>
              <a:t>involves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both</a:t>
            </a:r>
            <a:r>
              <a:rPr lang="fr-DZ" altLang="fr-DZ" dirty="0">
                <a:latin typeface="Times New Roman" panose="02020603050405020304" pitchFamily="18" charset="0"/>
                <a:cs typeface="Times New Roman" panose="02020603050405020304" pitchFamily="18" charset="0"/>
              </a:rPr>
              <a:t> </a:t>
            </a:r>
            <a:r>
              <a:rPr lang="fr-DZ" altLang="fr-DZ" b="1" dirty="0">
                <a:latin typeface="Times New Roman" panose="02020603050405020304" pitchFamily="18" charset="0"/>
                <a:cs typeface="Times New Roman" panose="02020603050405020304" pitchFamily="18" charset="0"/>
              </a:rPr>
              <a:t>hardware and software solutions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including</a:t>
            </a:r>
            <a:r>
              <a:rPr lang="fr-DZ" altLang="fr-DZ" dirty="0">
                <a:latin typeface="Times New Roman" panose="02020603050405020304" pitchFamily="18" charset="0"/>
                <a:cs typeface="Times New Roman" panose="02020603050405020304" pitchFamily="18" charset="0"/>
              </a:rPr>
              <a:t> firewalls, intrusion </a:t>
            </a:r>
            <a:r>
              <a:rPr lang="fr-DZ" altLang="fr-DZ" dirty="0" err="1">
                <a:latin typeface="Times New Roman" panose="02020603050405020304" pitchFamily="18" charset="0"/>
                <a:cs typeface="Times New Roman" panose="02020603050405020304" pitchFamily="18" charset="0"/>
              </a:rPr>
              <a:t>prevention</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systems</a:t>
            </a:r>
            <a:r>
              <a:rPr lang="fr-DZ" altLang="fr-DZ" dirty="0">
                <a:latin typeface="Times New Roman" panose="02020603050405020304" pitchFamily="18" charset="0"/>
                <a:cs typeface="Times New Roman" panose="02020603050405020304" pitchFamily="18" charset="0"/>
              </a:rPr>
              <a:t>, and </a:t>
            </a:r>
            <a:r>
              <a:rPr lang="fr-DZ" altLang="fr-DZ" dirty="0" err="1">
                <a:latin typeface="Times New Roman" panose="02020603050405020304" pitchFamily="18" charset="0"/>
                <a:cs typeface="Times New Roman" panose="02020603050405020304" pitchFamily="18" charset="0"/>
              </a:rPr>
              <a:t>secure</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protocols</a:t>
            </a:r>
            <a:r>
              <a:rPr lang="fr-DZ" altLang="fr-DZ" dirty="0">
                <a:latin typeface="Times New Roman" panose="02020603050405020304" pitchFamily="18" charset="0"/>
                <a:cs typeface="Times New Roman" panose="02020603050405020304" pitchFamily="18" charset="0"/>
              </a:rPr>
              <a:t>.</a:t>
            </a:r>
            <a:r>
              <a:rPr lang="fr-FR" altLang="fr-DZ"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Core principles include:</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Confidentiality</a:t>
            </a:r>
            <a:r>
              <a:rPr lang="en-US" dirty="0">
                <a:latin typeface="Times New Roman" panose="02020603050405020304" pitchFamily="18" charset="0"/>
                <a:cs typeface="Times New Roman" panose="02020603050405020304" pitchFamily="18" charset="0"/>
              </a:rPr>
              <a:t>: Only authorized users can access data.</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Integrity:</a:t>
            </a:r>
            <a:r>
              <a:rPr lang="en-US" dirty="0">
                <a:latin typeface="Times New Roman" panose="02020603050405020304" pitchFamily="18" charset="0"/>
                <a:cs typeface="Times New Roman" panose="02020603050405020304" pitchFamily="18" charset="0"/>
              </a:rPr>
              <a:t> Data remains accurate and unchanged.</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Availability</a:t>
            </a:r>
            <a:r>
              <a:rPr lang="en-US" dirty="0">
                <a:latin typeface="Times New Roman" panose="02020603050405020304" pitchFamily="18" charset="0"/>
                <a:cs typeface="Times New Roman" panose="02020603050405020304" pitchFamily="18" charset="0"/>
              </a:rPr>
              <a:t>: Systems and information are accessible when needed.</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Authentication &amp; Authorization</a:t>
            </a:r>
            <a:r>
              <a:rPr lang="en-US" dirty="0">
                <a:latin typeface="Times New Roman" panose="02020603050405020304" pitchFamily="18" charset="0"/>
                <a:cs typeface="Times New Roman" panose="02020603050405020304" pitchFamily="18" charset="0"/>
              </a:rPr>
              <a:t>: Verify identity and control access.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Accountability</a:t>
            </a:r>
            <a:r>
              <a:rPr lang="en-US" dirty="0">
                <a:latin typeface="Times New Roman" panose="02020603050405020304" pitchFamily="18" charset="0"/>
                <a:cs typeface="Times New Roman" panose="02020603050405020304" pitchFamily="18" charset="0"/>
              </a:rPr>
              <a:t>: Actions can be traced and audited.</a:t>
            </a:r>
          </a:p>
        </p:txBody>
      </p:sp>
    </p:spTree>
    <p:extLst>
      <p:ext uri="{BB962C8B-B14F-4D97-AF65-F5344CB8AC3E}">
        <p14:creationId xmlns:p14="http://schemas.microsoft.com/office/powerpoint/2010/main" val="3401786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A8847-6D53-7B0A-A437-D48A7123E54C}"/>
            </a:ext>
          </a:extLst>
        </p:cNvPr>
        <p:cNvGrpSpPr/>
        <p:nvPr/>
      </p:nvGrpSpPr>
      <p:grpSpPr>
        <a:xfrm>
          <a:off x="0" y="0"/>
          <a:ext cx="0" cy="0"/>
          <a:chOff x="0" y="0"/>
          <a:chExt cx="0" cy="0"/>
        </a:xfrm>
      </p:grpSpPr>
      <p:sp>
        <p:nvSpPr>
          <p:cNvPr id="19" name="Oval 18">
            <a:extLst>
              <a:ext uri="{FF2B5EF4-FFF2-40B4-BE49-F238E27FC236}">
                <a16:creationId xmlns:a16="http://schemas.microsoft.com/office/drawing/2014/main" id="{91C06660-01D0-267E-4C37-402C5A3E0AC3}"/>
              </a:ext>
            </a:extLst>
          </p:cNvPr>
          <p:cNvSpPr/>
          <p:nvPr/>
        </p:nvSpPr>
        <p:spPr>
          <a:xfrm>
            <a:off x="7606580" y="4608404"/>
            <a:ext cx="1944216" cy="1772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18" name="Oval 17">
            <a:extLst>
              <a:ext uri="{FF2B5EF4-FFF2-40B4-BE49-F238E27FC236}">
                <a16:creationId xmlns:a16="http://schemas.microsoft.com/office/drawing/2014/main" id="{5195CB05-780C-8773-E607-13B6D6F5A1E3}"/>
              </a:ext>
            </a:extLst>
          </p:cNvPr>
          <p:cNvSpPr/>
          <p:nvPr/>
        </p:nvSpPr>
        <p:spPr>
          <a:xfrm>
            <a:off x="5136802" y="4608404"/>
            <a:ext cx="1944216" cy="1772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17" name="Oval 16">
            <a:extLst>
              <a:ext uri="{FF2B5EF4-FFF2-40B4-BE49-F238E27FC236}">
                <a16:creationId xmlns:a16="http://schemas.microsoft.com/office/drawing/2014/main" id="{E9B49217-5575-E950-2E84-575AC0319365}"/>
              </a:ext>
            </a:extLst>
          </p:cNvPr>
          <p:cNvSpPr/>
          <p:nvPr/>
        </p:nvSpPr>
        <p:spPr>
          <a:xfrm>
            <a:off x="2710036" y="4608404"/>
            <a:ext cx="1944216" cy="1772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2" name="Title 1">
            <a:extLst>
              <a:ext uri="{FF2B5EF4-FFF2-40B4-BE49-F238E27FC236}">
                <a16:creationId xmlns:a16="http://schemas.microsoft.com/office/drawing/2014/main" id="{3228547F-67FD-DE02-8E4C-5D9CC2E7D902}"/>
              </a:ext>
            </a:extLst>
          </p:cNvPr>
          <p:cNvSpPr>
            <a:spLocks noGrp="1"/>
          </p:cNvSpPr>
          <p:nvPr>
            <p:ph type="title"/>
          </p:nvPr>
        </p:nvSpPr>
        <p:spPr>
          <a:xfrm>
            <a:off x="1593436" y="-315416"/>
            <a:ext cx="9782801" cy="1239837"/>
          </a:xfrm>
        </p:spPr>
        <p:txBody>
          <a:bodyPr/>
          <a:lstStyle/>
          <a:p>
            <a:pPr algn="ctr"/>
            <a:r>
              <a:rPr lang="fr-FR" dirty="0" err="1">
                <a:latin typeface="Times New Roman" panose="02020603050405020304" pitchFamily="18" charset="0"/>
                <a:cs typeface="Times New Roman" panose="02020603050405020304" pitchFamily="18" charset="0"/>
              </a:rPr>
              <a:t>Threats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Vulnerabilities</a:t>
            </a:r>
            <a:r>
              <a:rPr lang="fr-FR" dirty="0">
                <a:latin typeface="Times New Roman" panose="02020603050405020304" pitchFamily="18" charset="0"/>
                <a:cs typeface="Times New Roman" panose="02020603050405020304" pitchFamily="18" charset="0"/>
              </a:rPr>
              <a:t>, and </a:t>
            </a:r>
            <a:r>
              <a:rPr lang="fr-FR" dirty="0" err="1">
                <a:latin typeface="Times New Roman" panose="02020603050405020304" pitchFamily="18" charset="0"/>
                <a:cs typeface="Times New Roman" panose="02020603050405020304" pitchFamily="18" charset="0"/>
              </a:rPr>
              <a:t>Attacks</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3D3DFAF-BBB4-C1B8-6685-823DB7FB5022}"/>
              </a:ext>
            </a:extLst>
          </p:cNvPr>
          <p:cNvSpPr txBox="1"/>
          <p:nvPr/>
        </p:nvSpPr>
        <p:spPr>
          <a:xfrm>
            <a:off x="1845940" y="1196752"/>
            <a:ext cx="9289032"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threat</a:t>
            </a:r>
            <a:r>
              <a:rPr lang="en-US" dirty="0">
                <a:latin typeface="Times New Roman" panose="02020603050405020304" pitchFamily="18" charset="0"/>
                <a:cs typeface="Times New Roman" panose="02020603050405020304" pitchFamily="18" charset="0"/>
              </a:rPr>
              <a:t> is any potential event, action, or circumstance that can cause harm to a network, system, or organization by exploiting a vulnerability.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 networking, threats may target confidentiality (data theft), integrity (data modification), or availability (service disruption</a:t>
            </a:r>
            <a:r>
              <a:rPr lang="en-US" dirty="0"/>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vulnerability</a:t>
            </a:r>
            <a:r>
              <a:rPr lang="en-US" dirty="0">
                <a:latin typeface="Times New Roman" panose="02020603050405020304" pitchFamily="18" charset="0"/>
                <a:cs typeface="Times New Roman" panose="02020603050405020304" pitchFamily="18" charset="0"/>
              </a:rPr>
              <a:t> is a weakness, flaw, or gap in the design, implementation, or configuration of a system that could be exploited by a threat.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Vulnerabilities can exist in hardware, software, network configurations, or human behavior (e.g., poor password practices).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attack (risk)</a:t>
            </a:r>
            <a:r>
              <a:rPr lang="en-US" dirty="0">
                <a:latin typeface="Times New Roman" panose="02020603050405020304" pitchFamily="18" charset="0"/>
                <a:cs typeface="Times New Roman" panose="02020603050405020304" pitchFamily="18" charset="0"/>
              </a:rPr>
              <a:t> is the deliberate action taken by a threat actor to exploit a vulnerability and compromise the target system’s security.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Attacks can aim to steal data, disrupt services, or gain unauthorized control over systems.</a:t>
            </a:r>
          </a:p>
        </p:txBody>
      </p:sp>
      <p:pic>
        <p:nvPicPr>
          <p:cNvPr id="8" name="Graphic 7" descr="Robber">
            <a:extLst>
              <a:ext uri="{FF2B5EF4-FFF2-40B4-BE49-F238E27FC236}">
                <a16:creationId xmlns:a16="http://schemas.microsoft.com/office/drawing/2014/main" id="{4C61A897-87BA-CFB2-F609-F462A54EBC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41571" y="5127762"/>
            <a:ext cx="914400" cy="914400"/>
          </a:xfrm>
          <a:prstGeom prst="rect">
            <a:avLst/>
          </a:prstGeom>
        </p:spPr>
      </p:pic>
      <p:pic>
        <p:nvPicPr>
          <p:cNvPr id="12" name="Graphic 11" descr="Irritant">
            <a:extLst>
              <a:ext uri="{FF2B5EF4-FFF2-40B4-BE49-F238E27FC236}">
                <a16:creationId xmlns:a16="http://schemas.microsoft.com/office/drawing/2014/main" id="{0EF6C4E3-3237-996E-C15C-2BF7D15E76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97226" y="4890864"/>
            <a:ext cx="914400" cy="914400"/>
          </a:xfrm>
          <a:prstGeom prst="rect">
            <a:avLst/>
          </a:prstGeom>
        </p:spPr>
      </p:pic>
      <p:pic>
        <p:nvPicPr>
          <p:cNvPr id="14" name="Graphic 13" descr="Radioactive">
            <a:extLst>
              <a:ext uri="{FF2B5EF4-FFF2-40B4-BE49-F238E27FC236}">
                <a16:creationId xmlns:a16="http://schemas.microsoft.com/office/drawing/2014/main" id="{7B19B0BE-4DBF-74BF-3F41-CF8B2B712F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21488" y="5037666"/>
            <a:ext cx="914400" cy="914400"/>
          </a:xfrm>
          <a:prstGeom prst="rect">
            <a:avLst/>
          </a:prstGeom>
        </p:spPr>
      </p:pic>
    </p:spTree>
    <p:extLst>
      <p:ext uri="{BB962C8B-B14F-4D97-AF65-F5344CB8AC3E}">
        <p14:creationId xmlns:p14="http://schemas.microsoft.com/office/powerpoint/2010/main" val="133836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Common Network Threats, Attacks, and Vulnerabilities</a:t>
            </a:r>
          </a:p>
        </p:txBody>
      </p:sp>
      <p:sp>
        <p:nvSpPr>
          <p:cNvPr id="3" name="TextBox 2">
            <a:extLst>
              <a:ext uri="{FF2B5EF4-FFF2-40B4-BE49-F238E27FC236}">
                <a16:creationId xmlns:a16="http://schemas.microsoft.com/office/drawing/2014/main" id="{F23FFABA-9B6C-15CB-DD2D-106208FDA0B9}"/>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graphicFrame>
        <p:nvGraphicFramePr>
          <p:cNvPr id="10" name="Content Placeholder 9">
            <a:extLst>
              <a:ext uri="{FF2B5EF4-FFF2-40B4-BE49-F238E27FC236}">
                <a16:creationId xmlns:a16="http://schemas.microsoft.com/office/drawing/2014/main" id="{97B88091-80F1-6EDB-96DB-2A500CBD714A}"/>
              </a:ext>
            </a:extLst>
          </p:cNvPr>
          <p:cNvGraphicFramePr>
            <a:graphicFrameLocks noGrp="1"/>
          </p:cNvGraphicFramePr>
          <p:nvPr>
            <p:ph sz="half" idx="1"/>
            <p:extLst>
              <p:ext uri="{D42A27DB-BD31-4B8C-83A1-F6EECF244321}">
                <p14:modId xmlns:p14="http://schemas.microsoft.com/office/powerpoint/2010/main" val="4040209968"/>
              </p:ext>
            </p:extLst>
          </p:nvPr>
        </p:nvGraphicFramePr>
        <p:xfrm>
          <a:off x="1269877" y="1600200"/>
          <a:ext cx="10513167" cy="4337050"/>
        </p:xfrm>
        <a:graphic>
          <a:graphicData uri="http://schemas.openxmlformats.org/drawingml/2006/table">
            <a:tbl>
              <a:tblPr/>
              <a:tblGrid>
                <a:gridCol w="1008111">
                  <a:extLst>
                    <a:ext uri="{9D8B030D-6E8A-4147-A177-3AD203B41FA5}">
                      <a16:colId xmlns:a16="http://schemas.microsoft.com/office/drawing/2014/main" val="3588918878"/>
                    </a:ext>
                  </a:extLst>
                </a:gridCol>
                <a:gridCol w="2442717">
                  <a:extLst>
                    <a:ext uri="{9D8B030D-6E8A-4147-A177-3AD203B41FA5}">
                      <a16:colId xmlns:a16="http://schemas.microsoft.com/office/drawing/2014/main" val="1723318799"/>
                    </a:ext>
                  </a:extLst>
                </a:gridCol>
                <a:gridCol w="3840901">
                  <a:extLst>
                    <a:ext uri="{9D8B030D-6E8A-4147-A177-3AD203B41FA5}">
                      <a16:colId xmlns:a16="http://schemas.microsoft.com/office/drawing/2014/main" val="1836880943"/>
                    </a:ext>
                  </a:extLst>
                </a:gridCol>
                <a:gridCol w="3221438">
                  <a:extLst>
                    <a:ext uri="{9D8B030D-6E8A-4147-A177-3AD203B41FA5}">
                      <a16:colId xmlns:a16="http://schemas.microsoft.com/office/drawing/2014/main" val="1541802920"/>
                    </a:ext>
                  </a:extLst>
                </a:gridCol>
              </a:tblGrid>
              <a:tr h="127000">
                <a:tc>
                  <a:txBody>
                    <a:bodyPr/>
                    <a:lstStyle/>
                    <a:p>
                      <a:pPr algn="ctr">
                        <a:buNone/>
                      </a:pPr>
                      <a:r>
                        <a:rPr lang="fr-FR" sz="1800" b="1" dirty="0">
                          <a:solidFill>
                            <a:schemeClr val="tx1"/>
                          </a:solidFill>
                          <a:latin typeface="Times New Roman" panose="02020603050405020304" pitchFamily="18" charset="0"/>
                          <a:cs typeface="Times New Roman" panose="02020603050405020304" pitchFamily="18" charset="0"/>
                        </a:rPr>
                        <a:t>Type</a:t>
                      </a:r>
                      <a:endParaRPr lang="fr-FR" sz="1800" dirty="0">
                        <a:solidFill>
                          <a:schemeClr val="tx1"/>
                        </a:solidFill>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pPr algn="ctr">
                        <a:buNone/>
                      </a:pPr>
                      <a:r>
                        <a:rPr lang="fr-FR" sz="1800" b="1">
                          <a:solidFill>
                            <a:schemeClr val="tx1"/>
                          </a:solidFill>
                          <a:latin typeface="Times New Roman" panose="02020603050405020304" pitchFamily="18" charset="0"/>
                          <a:cs typeface="Times New Roman" panose="02020603050405020304" pitchFamily="18" charset="0"/>
                        </a:rPr>
                        <a:t>Category</a:t>
                      </a:r>
                      <a:endParaRPr lang="fr-FR" sz="1800">
                        <a:solidFill>
                          <a:schemeClr val="tx1"/>
                        </a:solidFill>
                        <a:latin typeface="Times New Roman" panose="02020603050405020304" pitchFamily="18" charset="0"/>
                        <a:cs typeface="Times New Roman" panose="02020603050405020304" pitchFamily="18" charset="0"/>
                      </a:endParaRPr>
                    </a:p>
                  </a:txBody>
                  <a:tcPr marL="31750" marR="31750" marT="15875" marB="1587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pPr algn="ctr">
                        <a:buNone/>
                      </a:pPr>
                      <a:r>
                        <a:rPr lang="fr-FR" sz="1800" b="1">
                          <a:solidFill>
                            <a:schemeClr val="tx1"/>
                          </a:solidFill>
                          <a:latin typeface="Times New Roman" panose="02020603050405020304" pitchFamily="18" charset="0"/>
                          <a:cs typeface="Times New Roman" panose="02020603050405020304" pitchFamily="18" charset="0"/>
                        </a:rPr>
                        <a:t>Description</a:t>
                      </a:r>
                      <a:endParaRPr lang="fr-FR" sz="1800">
                        <a:solidFill>
                          <a:schemeClr val="tx1"/>
                        </a:solidFill>
                        <a:latin typeface="Times New Roman" panose="02020603050405020304" pitchFamily="18" charset="0"/>
                        <a:cs typeface="Times New Roman" panose="02020603050405020304" pitchFamily="18" charset="0"/>
                      </a:endParaRPr>
                    </a:p>
                  </a:txBody>
                  <a:tcPr marL="31750" marR="31750" marT="15875" marB="1587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pPr algn="ctr">
                        <a:buNone/>
                      </a:pPr>
                      <a:r>
                        <a:rPr lang="fr-FR" sz="1800" b="1" dirty="0" err="1">
                          <a:solidFill>
                            <a:schemeClr val="tx1"/>
                          </a:solidFill>
                          <a:latin typeface="Times New Roman" panose="02020603050405020304" pitchFamily="18" charset="0"/>
                          <a:cs typeface="Times New Roman" panose="02020603050405020304" pitchFamily="18" charset="0"/>
                        </a:rPr>
                        <a:t>Examples</a:t>
                      </a:r>
                      <a:endParaRPr lang="fr-FR" sz="1800" dirty="0">
                        <a:solidFill>
                          <a:schemeClr val="tx1"/>
                        </a:solidFill>
                        <a:latin typeface="Times New Roman" panose="02020603050405020304" pitchFamily="18" charset="0"/>
                        <a:cs typeface="Times New Roman" panose="02020603050405020304" pitchFamily="18" charset="0"/>
                      </a:endParaRPr>
                    </a:p>
                  </a:txBody>
                  <a:tcPr marL="31750" marR="31750" marT="15875" marB="158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extLst>
                  <a:ext uri="{0D108BD9-81ED-4DB2-BD59-A6C34878D82A}">
                    <a16:rowId xmlns:a16="http://schemas.microsoft.com/office/drawing/2014/main" val="2103090938"/>
                  </a:ext>
                </a:extLst>
              </a:tr>
              <a:tr h="508000">
                <a:tc rowSpan="3">
                  <a:txBody>
                    <a:bodyPr/>
                    <a:lstStyle/>
                    <a:p>
                      <a:pPr>
                        <a:buNone/>
                      </a:pPr>
                      <a:r>
                        <a:rPr lang="fr-FR" sz="1800" b="1" dirty="0" err="1">
                          <a:latin typeface="Times New Roman" panose="02020603050405020304" pitchFamily="18" charset="0"/>
                          <a:cs typeface="Times New Roman" panose="02020603050405020304" pitchFamily="18" charset="0"/>
                        </a:rPr>
                        <a:t>Threat</a:t>
                      </a:r>
                      <a:endParaRPr lang="fr-FR" sz="1800" b="1"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fr-FR" sz="1800" b="0" dirty="0" err="1">
                          <a:latin typeface="Times New Roman" panose="02020603050405020304" pitchFamily="18" charset="0"/>
                          <a:cs typeface="Times New Roman" panose="02020603050405020304" pitchFamily="18" charset="0"/>
                        </a:rPr>
                        <a:t>Internal</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Threats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Originate inside the organization; may result from intentional misuse or human error.</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Malicious insider, careless employee, data leakage.</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4962671"/>
                  </a:ext>
                </a:extLst>
              </a:tr>
              <a:tr h="412750">
                <a:tc vMerge="1">
                  <a:txBody>
                    <a:bodyPr/>
                    <a:lstStyle/>
                    <a:p>
                      <a:endParaRPr/>
                    </a:p>
                  </a:txBody>
                  <a:tcPr marL="31750" marR="31750" marT="15875" marB="15875" anchor="ctr">
                    <a:lnL>
                      <a:noFill/>
                    </a:lnL>
                    <a:lnR>
                      <a:noFill/>
                    </a:lnR>
                    <a:lnT>
                      <a:noFill/>
                    </a:lnT>
                    <a:lnB>
                      <a:noFill/>
                    </a:lnB>
                    <a:noFill/>
                  </a:tcPr>
                </a:tc>
                <a:tc>
                  <a:txBody>
                    <a:bodyPr/>
                    <a:lstStyle/>
                    <a:p>
                      <a:pPr>
                        <a:buNone/>
                      </a:pPr>
                      <a:r>
                        <a:rPr lang="fr-FR" sz="1800" b="0" dirty="0" err="1">
                          <a:latin typeface="Times New Roman" panose="02020603050405020304" pitchFamily="18" charset="0"/>
                          <a:cs typeface="Times New Roman" panose="02020603050405020304" pitchFamily="18" charset="0"/>
                        </a:rPr>
                        <a:t>External</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Threats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Come from outside sources attempting to compromise or disrupt the network.</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fr-FR" sz="1800" b="0" dirty="0">
                          <a:latin typeface="Times New Roman" panose="02020603050405020304" pitchFamily="18" charset="0"/>
                          <a:cs typeface="Times New Roman" panose="02020603050405020304" pitchFamily="18" charset="0"/>
                        </a:rPr>
                        <a:t>Hackers, </a:t>
                      </a:r>
                      <a:r>
                        <a:rPr lang="fr-FR" sz="1800" b="0" dirty="0" err="1">
                          <a:latin typeface="Times New Roman" panose="02020603050405020304" pitchFamily="18" charset="0"/>
                          <a:cs typeface="Times New Roman" panose="02020603050405020304" pitchFamily="18" charset="0"/>
                        </a:rPr>
                        <a:t>competitors</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cybercriminals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5389160"/>
                  </a:ext>
                </a:extLst>
              </a:tr>
              <a:tr h="317500">
                <a:tc vMerge="1">
                  <a:txBody>
                    <a:bodyPr/>
                    <a:lstStyle/>
                    <a:p>
                      <a:endParaRPr dirty="0"/>
                    </a:p>
                  </a:txBody>
                  <a:tcPr marL="31750" marR="31750" marT="15875" marB="15875" anchor="ctr">
                    <a:lnL>
                      <a:noFill/>
                    </a:lnL>
                    <a:lnR>
                      <a:noFill/>
                    </a:lnR>
                    <a:lnT>
                      <a:noFill/>
                    </a:lnT>
                    <a:lnB>
                      <a:noFill/>
                    </a:lnB>
                    <a:noFill/>
                  </a:tcPr>
                </a:tc>
                <a:tc>
                  <a:txBody>
                    <a:bodyPr/>
                    <a:lstStyle/>
                    <a:p>
                      <a:pPr>
                        <a:buNone/>
                      </a:pPr>
                      <a:r>
                        <a:rPr lang="fr-FR" sz="1800" b="0" dirty="0" err="1">
                          <a:latin typeface="Times New Roman" panose="02020603050405020304" pitchFamily="18" charset="0"/>
                          <a:cs typeface="Times New Roman" panose="02020603050405020304" pitchFamily="18" charset="0"/>
                        </a:rPr>
                        <a:t>Environmental</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Threats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Non-human factors that threaten system availability.</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Power outage, hardware failure, fire, flood.</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4032176"/>
                  </a:ext>
                </a:extLst>
              </a:tr>
              <a:tr h="412750">
                <a:tc rowSpan="3">
                  <a:txBody>
                    <a:bodyPr/>
                    <a:lstStyle/>
                    <a:p>
                      <a:pPr>
                        <a:buNone/>
                      </a:pPr>
                      <a:r>
                        <a:rPr lang="fr-FR" sz="1800" b="1" dirty="0" err="1">
                          <a:latin typeface="Times New Roman" panose="02020603050405020304" pitchFamily="18" charset="0"/>
                          <a:cs typeface="Times New Roman" panose="02020603050405020304" pitchFamily="18" charset="0"/>
                        </a:rPr>
                        <a:t>Vulnerability</a:t>
                      </a:r>
                      <a:endParaRPr lang="fr-FR" sz="1800" b="1"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fr-FR" sz="1800" b="0" dirty="0">
                          <a:latin typeface="Times New Roman" panose="02020603050405020304" pitchFamily="18" charset="0"/>
                          <a:cs typeface="Times New Roman" panose="02020603050405020304" pitchFamily="18" charset="0"/>
                        </a:rPr>
                        <a:t>System &amp; Configuration </a:t>
                      </a:r>
                      <a:r>
                        <a:rPr lang="fr-FR" sz="1800" b="0" dirty="0" err="1">
                          <a:latin typeface="Times New Roman" panose="02020603050405020304" pitchFamily="18" charset="0"/>
                          <a:cs typeface="Times New Roman" panose="02020603050405020304" pitchFamily="18" charset="0"/>
                        </a:rPr>
                        <a:t>Weaknesses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Flaws in design, configuration, or management that can be exploited.</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Unpatched OS, weak passwords, open ports, default credentials.</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9092591"/>
                  </a:ext>
                </a:extLst>
              </a:tr>
              <a:tr h="317500">
                <a:tc vMerge="1">
                  <a:txBody>
                    <a:bodyPr/>
                    <a:lstStyle/>
                    <a:p>
                      <a:endParaRPr/>
                    </a:p>
                  </a:txBody>
                  <a:tcPr marL="31750" marR="31750" marT="15875" marB="15875" anchor="ctr">
                    <a:lnL>
                      <a:noFill/>
                    </a:lnL>
                    <a:lnR>
                      <a:noFill/>
                    </a:lnR>
                    <a:lnT>
                      <a:noFill/>
                    </a:lnT>
                    <a:lnB>
                      <a:noFill/>
                    </a:lnB>
                    <a:noFill/>
                  </a:tcPr>
                </a:tc>
                <a:tc>
                  <a:txBody>
                    <a:bodyPr/>
                    <a:lstStyle/>
                    <a:p>
                      <a:pPr>
                        <a:buNone/>
                      </a:pPr>
                      <a:r>
                        <a:rPr lang="fr-FR" sz="1800" b="0" dirty="0">
                          <a:latin typeface="Times New Roman" panose="02020603050405020304" pitchFamily="18" charset="0"/>
                          <a:cs typeface="Times New Roman" panose="02020603050405020304" pitchFamily="18" charset="0"/>
                        </a:rPr>
                        <a:t>Protocol </a:t>
                      </a:r>
                      <a:r>
                        <a:rPr lang="fr-FR" sz="1800" b="0" dirty="0" err="1">
                          <a:latin typeface="Times New Roman" panose="02020603050405020304" pitchFamily="18" charset="0"/>
                          <a:cs typeface="Times New Roman" panose="02020603050405020304" pitchFamily="18" charset="0"/>
                        </a:rPr>
                        <a:t>Weaknesses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Insecure or outdated communication standards.</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fr-FR" sz="1800" b="0" dirty="0">
                          <a:latin typeface="Times New Roman" panose="02020603050405020304" pitchFamily="18" charset="0"/>
                          <a:cs typeface="Times New Roman" panose="02020603050405020304" pitchFamily="18" charset="0"/>
                        </a:rPr>
                        <a:t>FTP, Telnet, HTTP (</a:t>
                      </a:r>
                      <a:r>
                        <a:rPr lang="fr-FR" sz="1800" b="0" dirty="0" err="1">
                          <a:latin typeface="Times New Roman" panose="02020603050405020304" pitchFamily="18" charset="0"/>
                          <a:cs typeface="Times New Roman" panose="02020603050405020304" pitchFamily="18" charset="0"/>
                        </a:rPr>
                        <a:t>unencrypted</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protocols</a:t>
                      </a:r>
                      <a:r>
                        <a:rPr lang="fr-FR" sz="1800" b="0" dirty="0">
                          <a:latin typeface="Times New Roman" panose="02020603050405020304" pitchFamily="18" charset="0"/>
                          <a:cs typeface="Times New Roman" panose="02020603050405020304" pitchFamily="18" charset="0"/>
                        </a:rPr>
                        <a:t>).</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3237022"/>
                  </a:ext>
                </a:extLst>
              </a:tr>
              <a:tr h="412750">
                <a:tc vMerge="1">
                  <a:txBody>
                    <a:bodyPr/>
                    <a:lstStyle/>
                    <a:p>
                      <a:endParaRPr dirty="0"/>
                    </a:p>
                  </a:txBody>
                  <a:tcPr marL="31750" marR="31750" marT="15875" marB="15875" anchor="ctr">
                    <a:lnL>
                      <a:noFill/>
                    </a:lnL>
                    <a:lnR>
                      <a:noFill/>
                    </a:lnR>
                    <a:lnT>
                      <a:noFill/>
                    </a:lnT>
                    <a:lnB>
                      <a:noFill/>
                    </a:lnB>
                    <a:noFill/>
                  </a:tcPr>
                </a:tc>
                <a:tc>
                  <a:txBody>
                    <a:bodyPr/>
                    <a:lstStyle/>
                    <a:p>
                      <a:pPr>
                        <a:buNone/>
                      </a:pPr>
                      <a:r>
                        <a:rPr lang="fr-FR" sz="1800" b="0" dirty="0">
                          <a:latin typeface="Times New Roman" panose="02020603050405020304" pitchFamily="18" charset="0"/>
                          <a:cs typeface="Times New Roman" panose="02020603050405020304" pitchFamily="18" charset="0"/>
                        </a:rPr>
                        <a:t>Physical &amp; </a:t>
                      </a:r>
                      <a:r>
                        <a:rPr lang="fr-FR" sz="1800" b="0" dirty="0" err="1">
                          <a:latin typeface="Times New Roman" panose="02020603050405020304" pitchFamily="18" charset="0"/>
                          <a:cs typeface="Times New Roman" panose="02020603050405020304" pitchFamily="18" charset="0"/>
                        </a:rPr>
                        <a:t>Environmental</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Weaknesses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Inadequate physical protections or environmental safeguards.</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0" dirty="0">
                          <a:latin typeface="Times New Roman" panose="02020603050405020304" pitchFamily="18" charset="0"/>
                          <a:cs typeface="Times New Roman" panose="02020603050405020304" pitchFamily="18" charset="0"/>
                        </a:rPr>
                        <a:t>Unsecured server rooms, lack of backup power, overheating.</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8952084"/>
                  </a:ext>
                </a:extLst>
              </a:tr>
            </a:tbl>
          </a:graphicData>
        </a:graphic>
      </p:graphicFrame>
    </p:spTree>
    <p:extLst>
      <p:ext uri="{BB962C8B-B14F-4D97-AF65-F5344CB8AC3E}">
        <p14:creationId xmlns:p14="http://schemas.microsoft.com/office/powerpoint/2010/main" val="51372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07578-4C57-DC3E-7935-91966071BB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FA651E-D6E4-DFAC-DD06-AAD61381A59A}"/>
              </a:ext>
            </a:extLst>
          </p:cNvPr>
          <p:cNvSpPr txBox="1"/>
          <p:nvPr/>
        </p:nvSpPr>
        <p:spPr>
          <a:xfrm rot="16200000">
            <a:off x="-2587704" y="3244333"/>
            <a:ext cx="5780237" cy="369332"/>
          </a:xfrm>
          <a:prstGeom prst="rect">
            <a:avLst/>
          </a:prstGeom>
          <a:noFill/>
        </p:spPr>
        <p:txBody>
          <a:bodyPr wrap="none" rtlCol="0">
            <a:spAutoFit/>
          </a:bodyPr>
          <a:lstStyle/>
          <a:p>
            <a:r>
              <a:rPr lang="fr-FR" dirty="0" err="1">
                <a:solidFill>
                  <a:schemeClr val="bg1"/>
                </a:solidFill>
                <a:latin typeface="Times New Roman" panose="02020603050405020304" pitchFamily="18" charset="0"/>
                <a:cs typeface="Times New Roman" panose="02020603050405020304" pitchFamily="18" charset="0"/>
              </a:rPr>
              <a:t>Chapter</a:t>
            </a:r>
            <a:r>
              <a:rPr lang="fr-FR" dirty="0">
                <a:solidFill>
                  <a:schemeClr val="bg1"/>
                </a:solidFill>
                <a:latin typeface="Times New Roman" panose="02020603050405020304" pitchFamily="18" charset="0"/>
                <a:cs typeface="Times New Roman" panose="02020603050405020304" pitchFamily="18" charset="0"/>
              </a:rPr>
              <a:t> 01: </a:t>
            </a:r>
            <a:r>
              <a:rPr lang="en-US" dirty="0">
                <a:solidFill>
                  <a:schemeClr val="bg1"/>
                </a:solidFill>
                <a:latin typeface="Times New Roman" panose="02020603050405020304" pitchFamily="18" charset="0"/>
                <a:cs typeface="Times New Roman" panose="02020603050405020304" pitchFamily="18" charset="0"/>
              </a:rPr>
              <a:t>Introduction to Advanced Computer Networks</a:t>
            </a:r>
          </a:p>
        </p:txBody>
      </p:sp>
      <p:graphicFrame>
        <p:nvGraphicFramePr>
          <p:cNvPr id="10" name="Content Placeholder 9">
            <a:extLst>
              <a:ext uri="{FF2B5EF4-FFF2-40B4-BE49-F238E27FC236}">
                <a16:creationId xmlns:a16="http://schemas.microsoft.com/office/drawing/2014/main" id="{6B14BD96-B5E8-6BAC-6F6B-685A1DB59AC5}"/>
              </a:ext>
            </a:extLst>
          </p:cNvPr>
          <p:cNvGraphicFramePr>
            <a:graphicFrameLocks noGrp="1"/>
          </p:cNvGraphicFramePr>
          <p:nvPr>
            <p:ph sz="half" idx="1"/>
            <p:extLst>
              <p:ext uri="{D42A27DB-BD31-4B8C-83A1-F6EECF244321}">
                <p14:modId xmlns:p14="http://schemas.microsoft.com/office/powerpoint/2010/main" val="1755362856"/>
              </p:ext>
            </p:extLst>
          </p:nvPr>
        </p:nvGraphicFramePr>
        <p:xfrm>
          <a:off x="1269877" y="2106900"/>
          <a:ext cx="10513167" cy="3482340"/>
        </p:xfrm>
        <a:graphic>
          <a:graphicData uri="http://schemas.openxmlformats.org/drawingml/2006/table">
            <a:tbl>
              <a:tblPr/>
              <a:tblGrid>
                <a:gridCol w="985657">
                  <a:extLst>
                    <a:ext uri="{9D8B030D-6E8A-4147-A177-3AD203B41FA5}">
                      <a16:colId xmlns:a16="http://schemas.microsoft.com/office/drawing/2014/main" val="3588918878"/>
                    </a:ext>
                  </a:extLst>
                </a:gridCol>
                <a:gridCol w="2388309">
                  <a:extLst>
                    <a:ext uri="{9D8B030D-6E8A-4147-A177-3AD203B41FA5}">
                      <a16:colId xmlns:a16="http://schemas.microsoft.com/office/drawing/2014/main" val="1723318799"/>
                    </a:ext>
                  </a:extLst>
                </a:gridCol>
                <a:gridCol w="3755350">
                  <a:extLst>
                    <a:ext uri="{9D8B030D-6E8A-4147-A177-3AD203B41FA5}">
                      <a16:colId xmlns:a16="http://schemas.microsoft.com/office/drawing/2014/main" val="1836880943"/>
                    </a:ext>
                  </a:extLst>
                </a:gridCol>
                <a:gridCol w="3383851">
                  <a:extLst>
                    <a:ext uri="{9D8B030D-6E8A-4147-A177-3AD203B41FA5}">
                      <a16:colId xmlns:a16="http://schemas.microsoft.com/office/drawing/2014/main" val="1541802920"/>
                    </a:ext>
                  </a:extLst>
                </a:gridCol>
              </a:tblGrid>
              <a:tr h="127000">
                <a:tc>
                  <a:txBody>
                    <a:bodyPr/>
                    <a:lstStyle/>
                    <a:p>
                      <a:pPr algn="ctr">
                        <a:buNone/>
                      </a:pPr>
                      <a:r>
                        <a:rPr lang="fr-FR" sz="1800" b="1" dirty="0">
                          <a:latin typeface="Times New Roman" panose="02020603050405020304" pitchFamily="18" charset="0"/>
                          <a:cs typeface="Times New Roman" panose="02020603050405020304" pitchFamily="18" charset="0"/>
                        </a:rPr>
                        <a:t>Type</a:t>
                      </a:r>
                      <a:endParaRPr lang="fr-FR" sz="1800" dirty="0">
                        <a:latin typeface="Times New Roman" panose="02020603050405020304" pitchFamily="18" charset="0"/>
                        <a:cs typeface="Times New Roman" panose="02020603050405020304" pitchFamily="18" charset="0"/>
                      </a:endParaRPr>
                    </a:p>
                  </a:txBody>
                  <a:tcPr marL="31750" marR="31750" marT="15875" marB="15875" anchor="ctr">
                    <a:lnL>
                      <a:noFill/>
                    </a:lnL>
                    <a:lnR>
                      <a:noFill/>
                    </a:lnR>
                    <a:lnT>
                      <a:noFill/>
                    </a:lnT>
                    <a:lnB w="12700" cap="flat" cmpd="sng" algn="ctr">
                      <a:solidFill>
                        <a:schemeClr val="tx1"/>
                      </a:solidFill>
                      <a:prstDash val="solid"/>
                      <a:round/>
                      <a:headEnd type="none" w="med" len="med"/>
                      <a:tailEnd type="none" w="med" len="med"/>
                    </a:lnB>
                    <a:solidFill>
                      <a:schemeClr val="tx1">
                        <a:lumMod val="60000"/>
                        <a:lumOff val="40000"/>
                      </a:schemeClr>
                    </a:solidFill>
                  </a:tcPr>
                </a:tc>
                <a:tc>
                  <a:txBody>
                    <a:bodyPr/>
                    <a:lstStyle/>
                    <a:p>
                      <a:pPr algn="ctr">
                        <a:buNone/>
                      </a:pPr>
                      <a:r>
                        <a:rPr lang="fr-FR" sz="1800" b="1">
                          <a:latin typeface="Times New Roman" panose="02020603050405020304" pitchFamily="18" charset="0"/>
                          <a:cs typeface="Times New Roman" panose="02020603050405020304" pitchFamily="18" charset="0"/>
                        </a:rPr>
                        <a:t>Category</a:t>
                      </a:r>
                      <a:endParaRPr lang="fr-FR" sz="1800">
                        <a:latin typeface="Times New Roman" panose="02020603050405020304" pitchFamily="18" charset="0"/>
                        <a:cs typeface="Times New Roman" panose="02020603050405020304" pitchFamily="18" charset="0"/>
                      </a:endParaRPr>
                    </a:p>
                  </a:txBody>
                  <a:tcPr marL="31750" marR="31750" marT="15875" marB="15875" anchor="ctr">
                    <a:lnL>
                      <a:noFill/>
                    </a:lnL>
                    <a:lnR>
                      <a:noFill/>
                    </a:lnR>
                    <a:lnT>
                      <a:noFill/>
                    </a:lnT>
                    <a:lnB w="12700" cap="flat" cmpd="sng" algn="ctr">
                      <a:solidFill>
                        <a:schemeClr val="tx1"/>
                      </a:solidFill>
                      <a:prstDash val="solid"/>
                      <a:round/>
                      <a:headEnd type="none" w="med" len="med"/>
                      <a:tailEnd type="none" w="med" len="med"/>
                    </a:lnB>
                    <a:solidFill>
                      <a:schemeClr val="tx1">
                        <a:lumMod val="60000"/>
                        <a:lumOff val="40000"/>
                      </a:schemeClr>
                    </a:solidFill>
                  </a:tcPr>
                </a:tc>
                <a:tc>
                  <a:txBody>
                    <a:bodyPr/>
                    <a:lstStyle/>
                    <a:p>
                      <a:pPr algn="ctr">
                        <a:buNone/>
                      </a:pPr>
                      <a:r>
                        <a:rPr lang="fr-FR" sz="1800" b="1">
                          <a:latin typeface="Times New Roman" panose="02020603050405020304" pitchFamily="18" charset="0"/>
                          <a:cs typeface="Times New Roman" panose="02020603050405020304" pitchFamily="18" charset="0"/>
                        </a:rPr>
                        <a:t>Description</a:t>
                      </a:r>
                      <a:endParaRPr lang="fr-FR" sz="1800">
                        <a:latin typeface="Times New Roman" panose="02020603050405020304" pitchFamily="18" charset="0"/>
                        <a:cs typeface="Times New Roman" panose="02020603050405020304" pitchFamily="18" charset="0"/>
                      </a:endParaRPr>
                    </a:p>
                  </a:txBody>
                  <a:tcPr marL="31750" marR="31750" marT="15875" marB="15875" anchor="ctr">
                    <a:lnL>
                      <a:noFill/>
                    </a:lnL>
                    <a:lnR>
                      <a:noFill/>
                    </a:lnR>
                    <a:lnT>
                      <a:noFill/>
                    </a:lnT>
                    <a:lnB w="12700" cap="flat" cmpd="sng" algn="ctr">
                      <a:solidFill>
                        <a:schemeClr val="tx1"/>
                      </a:solidFill>
                      <a:prstDash val="solid"/>
                      <a:round/>
                      <a:headEnd type="none" w="med" len="med"/>
                      <a:tailEnd type="none" w="med" len="med"/>
                    </a:lnB>
                    <a:solidFill>
                      <a:schemeClr val="tx1">
                        <a:lumMod val="60000"/>
                        <a:lumOff val="40000"/>
                      </a:schemeClr>
                    </a:solidFill>
                  </a:tcPr>
                </a:tc>
                <a:tc>
                  <a:txBody>
                    <a:bodyPr/>
                    <a:lstStyle/>
                    <a:p>
                      <a:pPr algn="ctr">
                        <a:buNone/>
                      </a:pPr>
                      <a:r>
                        <a:rPr lang="fr-FR" sz="1800" b="1" dirty="0" err="1">
                          <a:latin typeface="Times New Roman" panose="02020603050405020304" pitchFamily="18" charset="0"/>
                          <a:cs typeface="Times New Roman" panose="02020603050405020304" pitchFamily="18" charset="0"/>
                        </a:rPr>
                        <a:t>Examples</a:t>
                      </a:r>
                      <a:endParaRPr lang="fr-FR" sz="1800" dirty="0">
                        <a:latin typeface="Times New Roman" panose="02020603050405020304" pitchFamily="18" charset="0"/>
                        <a:cs typeface="Times New Roman" panose="02020603050405020304" pitchFamily="18" charset="0"/>
                      </a:endParaRPr>
                    </a:p>
                  </a:txBody>
                  <a:tcPr marL="31750" marR="31750" marT="15875" marB="15875" anchor="ctr">
                    <a:lnL>
                      <a:noFill/>
                    </a:lnL>
                    <a:lnR>
                      <a:noFill/>
                    </a:lnR>
                    <a:lnT>
                      <a:noFill/>
                    </a:lnT>
                    <a:lnB w="12700" cap="flat" cmpd="sng" algn="ctr">
                      <a:solidFill>
                        <a:schemeClr val="tx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2103090938"/>
                  </a:ext>
                </a:extLst>
              </a:tr>
              <a:tr h="412750">
                <a:tc rowSpan="5">
                  <a:txBody>
                    <a:bodyPr/>
                    <a:lstStyle/>
                    <a:p>
                      <a:pPr>
                        <a:buNone/>
                      </a:pPr>
                      <a:r>
                        <a:rPr lang="fr-FR" sz="1800" b="1" dirty="0">
                          <a:latin typeface="Times New Roman" panose="02020603050405020304" pitchFamily="18" charset="0"/>
                          <a:cs typeface="Times New Roman" panose="02020603050405020304" pitchFamily="18" charset="0"/>
                        </a:rPr>
                        <a:t>Attack</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800" b="0" dirty="0">
                          <a:latin typeface="Times New Roman" panose="02020603050405020304" pitchFamily="18" charset="0"/>
                          <a:cs typeface="Times New Roman" panose="02020603050405020304" pitchFamily="18" charset="0"/>
                        </a:rPr>
                        <a:t>Active </a:t>
                      </a:r>
                      <a:r>
                        <a:rPr lang="fr-FR" sz="1800" b="0" dirty="0" err="1">
                          <a:latin typeface="Times New Roman" panose="02020603050405020304" pitchFamily="18" charset="0"/>
                          <a:cs typeface="Times New Roman" panose="02020603050405020304" pitchFamily="18" charset="0"/>
                        </a:rPr>
                        <a:t>Attacks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en-US" sz="1800" b="0" dirty="0">
                          <a:latin typeface="Times New Roman" panose="02020603050405020304" pitchFamily="18" charset="0"/>
                          <a:cs typeface="Times New Roman" panose="02020603050405020304" pitchFamily="18" charset="0"/>
                        </a:rPr>
                        <a:t>Attempt to alter or disrupt network operations and data integrity.</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en-US" sz="1800" b="0" dirty="0">
                          <a:latin typeface="Times New Roman" panose="02020603050405020304" pitchFamily="18" charset="0"/>
                          <a:cs typeface="Times New Roman" panose="02020603050405020304" pitchFamily="18" charset="0"/>
                        </a:rPr>
                        <a:t>DoS/DDoS, spoofing, man-in-the-middle (MITM), session hijacking.</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32634085"/>
                  </a:ext>
                </a:extLst>
              </a:tr>
              <a:tr h="412750">
                <a:tc vMerge="1">
                  <a:txBody>
                    <a:bodyPr/>
                    <a:lstStyle/>
                    <a:p>
                      <a:endParaRPr/>
                    </a:p>
                  </a:txBody>
                  <a:tcPr marL="31750" marR="31750" marT="15875" marB="15875" anchor="ctr">
                    <a:lnL>
                      <a:noFill/>
                    </a:lnL>
                    <a:lnR>
                      <a:noFill/>
                    </a:lnR>
                    <a:lnT>
                      <a:noFill/>
                    </a:lnT>
                    <a:lnB>
                      <a:noFill/>
                    </a:lnB>
                    <a:noFill/>
                  </a:tcPr>
                </a:tc>
                <a:tc>
                  <a:txBody>
                    <a:bodyPr/>
                    <a:lstStyle/>
                    <a:p>
                      <a:pPr>
                        <a:buNone/>
                      </a:pPr>
                      <a:r>
                        <a:rPr lang="fr-FR" sz="1800" b="0" dirty="0">
                          <a:latin typeface="Times New Roman" panose="02020603050405020304" pitchFamily="18" charset="0"/>
                          <a:cs typeface="Times New Roman" panose="02020603050405020304" pitchFamily="18" charset="0"/>
                        </a:rPr>
                        <a:t>Passive </a:t>
                      </a:r>
                      <a:r>
                        <a:rPr lang="fr-FR" sz="1800" b="0" dirty="0" err="1">
                          <a:latin typeface="Times New Roman" panose="02020603050405020304" pitchFamily="18" charset="0"/>
                          <a:cs typeface="Times New Roman" panose="02020603050405020304" pitchFamily="18" charset="0"/>
                        </a:rPr>
                        <a:t>Attacks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US" sz="1800" b="0" dirty="0">
                          <a:latin typeface="Times New Roman" panose="02020603050405020304" pitchFamily="18" charset="0"/>
                          <a:cs typeface="Times New Roman" panose="02020603050405020304" pitchFamily="18" charset="0"/>
                        </a:rPr>
                        <a:t>Aim to monitor, capture, or analyze network traffic without changing it.</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US" sz="1800" b="0">
                          <a:latin typeface="Times New Roman" panose="02020603050405020304" pitchFamily="18" charset="0"/>
                          <a:cs typeface="Times New Roman" panose="02020603050405020304" pitchFamily="18" charset="0"/>
                        </a:rPr>
                        <a:t>Packet sniffing, eavesdropping, traffic analysis.</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961951829"/>
                  </a:ext>
                </a:extLst>
              </a:tr>
              <a:tr h="508000">
                <a:tc vMerge="1">
                  <a:txBody>
                    <a:bodyPr/>
                    <a:lstStyle/>
                    <a:p>
                      <a:endParaRPr/>
                    </a:p>
                  </a:txBody>
                  <a:tcPr marL="31750" marR="31750" marT="15875" marB="15875" anchor="ctr">
                    <a:lnL>
                      <a:noFill/>
                    </a:lnL>
                    <a:lnR>
                      <a:noFill/>
                    </a:lnR>
                    <a:lnT>
                      <a:noFill/>
                    </a:lnT>
                    <a:lnB>
                      <a:noFill/>
                    </a:lnB>
                    <a:noFill/>
                  </a:tcPr>
                </a:tc>
                <a:tc>
                  <a:txBody>
                    <a:bodyPr/>
                    <a:lstStyle/>
                    <a:p>
                      <a:pPr>
                        <a:buNone/>
                      </a:pPr>
                      <a:r>
                        <a:rPr lang="fr-FR" sz="1800" b="0" dirty="0">
                          <a:latin typeface="Times New Roman" panose="02020603050405020304" pitchFamily="18" charset="0"/>
                          <a:cs typeface="Times New Roman" panose="02020603050405020304" pitchFamily="18" charset="0"/>
                        </a:rPr>
                        <a:t>Network </a:t>
                      </a:r>
                      <a:r>
                        <a:rPr lang="fr-FR" sz="1800" b="0" dirty="0" err="1">
                          <a:latin typeface="Times New Roman" panose="02020603050405020304" pitchFamily="18" charset="0"/>
                          <a:cs typeface="Times New Roman" panose="02020603050405020304" pitchFamily="18" charset="0"/>
                        </a:rPr>
                        <a:t>Attacks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US" sz="1800" b="0" dirty="0">
                          <a:latin typeface="Times New Roman" panose="02020603050405020304" pitchFamily="18" charset="0"/>
                          <a:cs typeface="Times New Roman" panose="02020603050405020304" pitchFamily="18" charset="0"/>
                        </a:rPr>
                        <a:t>Target the infrastructure or protocols to gain control or cause disruption.</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b="0" dirty="0">
                          <a:latin typeface="Times New Roman" panose="02020603050405020304" pitchFamily="18" charset="0"/>
                          <a:cs typeface="Times New Roman" panose="02020603050405020304" pitchFamily="18" charset="0"/>
                        </a:rPr>
                        <a:t>IP/MAC spoofing, port scanning, </a:t>
                      </a:r>
                      <a:r>
                        <a:rPr lang="fr-FR" sz="1800" b="0" dirty="0" err="1">
                          <a:latin typeface="Times New Roman" panose="02020603050405020304" pitchFamily="18" charset="0"/>
                          <a:cs typeface="Times New Roman" panose="02020603050405020304" pitchFamily="18" charset="0"/>
                        </a:rPr>
                        <a:t>routing</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attacks</a:t>
                      </a:r>
                      <a:r>
                        <a:rPr lang="fr-FR" sz="1800" b="0" dirty="0">
                          <a:latin typeface="Times New Roman" panose="02020603050405020304" pitchFamily="18" charset="0"/>
                          <a:cs typeface="Times New Roman" panose="02020603050405020304" pitchFamily="18" charset="0"/>
                        </a:rPr>
                        <a:t> (e.g., OSPF </a:t>
                      </a:r>
                      <a:r>
                        <a:rPr lang="fr-FR" sz="1800" b="0" dirty="0" err="1">
                          <a:latin typeface="Times New Roman" panose="02020603050405020304" pitchFamily="18" charset="0"/>
                          <a:cs typeface="Times New Roman" panose="02020603050405020304" pitchFamily="18" charset="0"/>
                        </a:rPr>
                        <a:t>poisoning</a:t>
                      </a:r>
                      <a:r>
                        <a:rPr lang="fr-FR" sz="1800" b="0" dirty="0">
                          <a:latin typeface="Times New Roman" panose="02020603050405020304" pitchFamily="18" charset="0"/>
                          <a:cs typeface="Times New Roman" panose="02020603050405020304" pitchFamily="18" charset="0"/>
                        </a:rPr>
                        <a:t>).</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93618"/>
                  </a:ext>
                </a:extLst>
              </a:tr>
              <a:tr h="412750">
                <a:tc vMerge="1">
                  <a:txBody>
                    <a:bodyPr/>
                    <a:lstStyle/>
                    <a:p>
                      <a:endParaRPr/>
                    </a:p>
                  </a:txBody>
                  <a:tcPr marL="31750" marR="31750" marT="15875" marB="15875" anchor="ctr">
                    <a:lnL>
                      <a:noFill/>
                    </a:lnL>
                    <a:lnR>
                      <a:noFill/>
                    </a:lnR>
                    <a:lnT>
                      <a:noFill/>
                    </a:lnT>
                    <a:lnB>
                      <a:noFill/>
                    </a:lnB>
                    <a:noFill/>
                  </a:tcPr>
                </a:tc>
                <a:tc>
                  <a:txBody>
                    <a:bodyPr/>
                    <a:lstStyle/>
                    <a:p>
                      <a:pPr>
                        <a:buNone/>
                      </a:pPr>
                      <a:r>
                        <a:rPr lang="fr-FR" sz="1800" b="0" dirty="0">
                          <a:latin typeface="Times New Roman" panose="02020603050405020304" pitchFamily="18" charset="0"/>
                          <a:cs typeface="Times New Roman" panose="02020603050405020304" pitchFamily="18" charset="0"/>
                        </a:rPr>
                        <a:t>Malware-</a:t>
                      </a:r>
                      <a:r>
                        <a:rPr lang="fr-FR" sz="1800" b="0" dirty="0" err="1">
                          <a:latin typeface="Times New Roman" panose="02020603050405020304" pitchFamily="18" charset="0"/>
                          <a:cs typeface="Times New Roman" panose="02020603050405020304" pitchFamily="18" charset="0"/>
                        </a:rPr>
                        <a:t>Based</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Attacks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US" sz="1800" b="0" dirty="0">
                          <a:latin typeface="Times New Roman" panose="02020603050405020304" pitchFamily="18" charset="0"/>
                          <a:cs typeface="Times New Roman" panose="02020603050405020304" pitchFamily="18" charset="0"/>
                        </a:rPr>
                        <a:t>Use malicious software to damage, steal, or control data/systems.</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US" sz="1800" b="0" dirty="0">
                          <a:latin typeface="Times New Roman" panose="02020603050405020304" pitchFamily="18" charset="0"/>
                          <a:cs typeface="Times New Roman" panose="02020603050405020304" pitchFamily="18" charset="0"/>
                        </a:rPr>
                        <a:t>Viruses, worms, Trojans, ransomware, spyware.</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276754631"/>
                  </a:ext>
                </a:extLst>
              </a:tr>
              <a:tr h="317500">
                <a:tc vMerge="1">
                  <a:txBody>
                    <a:bodyPr/>
                    <a:lstStyle/>
                    <a:p>
                      <a:endParaRPr dirty="0"/>
                    </a:p>
                  </a:txBody>
                  <a:tcPr marL="31750" marR="31750" marT="15875" marB="15875" anchor="ctr">
                    <a:lnL>
                      <a:noFill/>
                    </a:lnL>
                    <a:lnR>
                      <a:noFill/>
                    </a:lnR>
                    <a:lnT>
                      <a:noFill/>
                    </a:lnT>
                    <a:lnB>
                      <a:noFill/>
                    </a:lnB>
                    <a:noFill/>
                  </a:tcPr>
                </a:tc>
                <a:tc>
                  <a:txBody>
                    <a:bodyPr/>
                    <a:lstStyle/>
                    <a:p>
                      <a:pPr>
                        <a:buNone/>
                      </a:pPr>
                      <a:r>
                        <a:rPr lang="fr-FR" sz="1800" b="0" dirty="0">
                          <a:latin typeface="Times New Roman" panose="02020603050405020304" pitchFamily="18" charset="0"/>
                          <a:cs typeface="Times New Roman" panose="02020603050405020304" pitchFamily="18" charset="0"/>
                        </a:rPr>
                        <a:t>Human-</a:t>
                      </a:r>
                      <a:r>
                        <a:rPr lang="fr-FR" sz="1800" b="0" dirty="0" err="1">
                          <a:latin typeface="Times New Roman" panose="02020603050405020304" pitchFamily="18" charset="0"/>
                          <a:cs typeface="Times New Roman" panose="02020603050405020304" pitchFamily="18" charset="0"/>
                        </a:rPr>
                        <a:t>Centric</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Attacks</a:t>
                      </a:r>
                      <a:endParaRPr lang="fr-FR" sz="1800" b="0" dirty="0">
                        <a:latin typeface="Times New Roman" panose="02020603050405020304" pitchFamily="18" charset="0"/>
                        <a:cs typeface="Times New Roman" panose="02020603050405020304" pitchFamily="18" charset="0"/>
                      </a:endParaRP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800" b="0" dirty="0">
                          <a:latin typeface="Times New Roman" panose="02020603050405020304" pitchFamily="18" charset="0"/>
                          <a:cs typeface="Times New Roman" panose="02020603050405020304" pitchFamily="18" charset="0"/>
                        </a:rPr>
                        <a:t>Exploit human trust or behavior rather than technical flaws.</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800" b="0" dirty="0">
                          <a:latin typeface="Times New Roman" panose="02020603050405020304" pitchFamily="18" charset="0"/>
                          <a:cs typeface="Times New Roman" panose="02020603050405020304" pitchFamily="18" charset="0"/>
                        </a:rPr>
                        <a:t>Phishing, social engineering, shoulder surfing.</a:t>
                      </a:r>
                    </a:p>
                  </a:txBody>
                  <a:tcPr marL="31750" marR="31750"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937877"/>
                  </a:ext>
                </a:extLst>
              </a:tr>
            </a:tbl>
          </a:graphicData>
        </a:graphic>
      </p:graphicFrame>
      <p:sp>
        <p:nvSpPr>
          <p:cNvPr id="6" name="Title 1">
            <a:extLst>
              <a:ext uri="{FF2B5EF4-FFF2-40B4-BE49-F238E27FC236}">
                <a16:creationId xmlns:a16="http://schemas.microsoft.com/office/drawing/2014/main" id="{C40986FF-2FC8-D742-B960-2B3E0CD6A107}"/>
              </a:ext>
            </a:extLst>
          </p:cNvPr>
          <p:cNvSpPr txBox="1">
            <a:spLocks/>
          </p:cNvSpPr>
          <p:nvPr/>
        </p:nvSpPr>
        <p:spPr>
          <a:xfrm>
            <a:off x="1745836" y="330200"/>
            <a:ext cx="9782801" cy="12398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pPr algn="ctr"/>
            <a:r>
              <a:rPr lang="en-US">
                <a:latin typeface="Times New Roman" panose="02020603050405020304" pitchFamily="18" charset="0"/>
                <a:cs typeface="Times New Roman" panose="02020603050405020304" pitchFamily="18" charset="0"/>
              </a:rPr>
              <a:t>Common Network Threats, Attacks, and Vulnerabilities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86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What</a:t>
            </a:r>
            <a:r>
              <a:rPr lang="fr-FR" dirty="0">
                <a:latin typeface="Times New Roman" panose="02020603050405020304" pitchFamily="18" charset="0"/>
                <a:cs typeface="Times New Roman" panose="02020603050405020304" pitchFamily="18" charset="0"/>
              </a:rPr>
              <a:t> Is </a:t>
            </a:r>
            <a:r>
              <a:rPr lang="fr-FR" dirty="0" err="1">
                <a:latin typeface="Times New Roman" panose="02020603050405020304" pitchFamily="18" charset="0"/>
                <a:cs typeface="Times New Roman" panose="02020603050405020304" pitchFamily="18" charset="0"/>
              </a:rPr>
              <a:t>Cryptography</a:t>
            </a:r>
            <a:r>
              <a:rPr lang="fr-FR"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noAutofit/>
          </a:bodyPr>
          <a:lstStyle/>
          <a:p>
            <a:r>
              <a:rPr lang="en-US" sz="1800" b="1" dirty="0">
                <a:latin typeface="Times New Roman" panose="02020603050405020304" pitchFamily="18" charset="0"/>
                <a:cs typeface="Times New Roman" panose="02020603050405020304" pitchFamily="18" charset="0"/>
              </a:rPr>
              <a:t>Key Concepts</a:t>
            </a:r>
          </a:p>
          <a:p>
            <a:r>
              <a:rPr lang="en-US" sz="1800" b="1" dirty="0">
                <a:latin typeface="Times New Roman" panose="02020603050405020304" pitchFamily="18" charset="0"/>
                <a:cs typeface="Times New Roman" panose="02020603050405020304" pitchFamily="18" charset="0"/>
              </a:rPr>
              <a:t>Plaintext:</a:t>
            </a:r>
            <a:r>
              <a:rPr lang="en-US" sz="1800" dirty="0">
                <a:latin typeface="Times New Roman" panose="02020603050405020304" pitchFamily="18" charset="0"/>
                <a:cs typeface="Times New Roman" panose="02020603050405020304" pitchFamily="18" charset="0"/>
              </a:rPr>
              <a:t> The original readable message or data.</a:t>
            </a:r>
          </a:p>
          <a:p>
            <a:r>
              <a:rPr lang="en-US" sz="1800" b="1" dirty="0">
                <a:latin typeface="Times New Roman" panose="02020603050405020304" pitchFamily="18" charset="0"/>
                <a:cs typeface="Times New Roman" panose="02020603050405020304" pitchFamily="18" charset="0"/>
              </a:rPr>
              <a:t>Ciphertext:</a:t>
            </a:r>
            <a:r>
              <a:rPr lang="en-US" sz="1800" dirty="0">
                <a:latin typeface="Times New Roman" panose="02020603050405020304" pitchFamily="18" charset="0"/>
                <a:cs typeface="Times New Roman" panose="02020603050405020304" pitchFamily="18" charset="0"/>
              </a:rPr>
              <a:t> The encrypted, unreadable form of the plaintext.</a:t>
            </a:r>
          </a:p>
          <a:p>
            <a:r>
              <a:rPr lang="en-US" sz="1800" b="1" dirty="0">
                <a:latin typeface="Times New Roman" panose="02020603050405020304" pitchFamily="18" charset="0"/>
                <a:cs typeface="Times New Roman" panose="02020603050405020304" pitchFamily="18" charset="0"/>
              </a:rPr>
              <a:t>Key:</a:t>
            </a:r>
            <a:r>
              <a:rPr lang="en-US" sz="1800" dirty="0">
                <a:latin typeface="Times New Roman" panose="02020603050405020304" pitchFamily="18" charset="0"/>
                <a:cs typeface="Times New Roman" panose="02020603050405020304" pitchFamily="18" charset="0"/>
              </a:rPr>
              <a:t> A secret value used by an algorithm to encrypt or decrypt data.</a:t>
            </a:r>
          </a:p>
          <a:p>
            <a:r>
              <a:rPr lang="en-US" sz="1800" b="1" dirty="0">
                <a:latin typeface="Times New Roman" panose="02020603050405020304" pitchFamily="18" charset="0"/>
                <a:cs typeface="Times New Roman" panose="02020603050405020304" pitchFamily="18" charset="0"/>
              </a:rPr>
              <a:t>Encryption:</a:t>
            </a:r>
            <a:r>
              <a:rPr lang="en-US" sz="1800" dirty="0">
                <a:latin typeface="Times New Roman" panose="02020603050405020304" pitchFamily="18" charset="0"/>
                <a:cs typeface="Times New Roman" panose="02020603050405020304" pitchFamily="18" charset="0"/>
              </a:rPr>
              <a:t> The process of converting plaintext into ciphertext.</a:t>
            </a:r>
          </a:p>
          <a:p>
            <a:r>
              <a:rPr lang="en-US" sz="1800" b="1" dirty="0">
                <a:latin typeface="Times New Roman" panose="02020603050405020304" pitchFamily="18" charset="0"/>
                <a:cs typeface="Times New Roman" panose="02020603050405020304" pitchFamily="18" charset="0"/>
              </a:rPr>
              <a:t>Decryption:</a:t>
            </a:r>
            <a:r>
              <a:rPr lang="en-US" sz="1800" dirty="0">
                <a:latin typeface="Times New Roman" panose="02020603050405020304" pitchFamily="18" charset="0"/>
                <a:cs typeface="Times New Roman" panose="02020603050405020304" pitchFamily="18" charset="0"/>
              </a:rPr>
              <a:t> The process of converting ciphertext back into readable plaintext.</a:t>
            </a:r>
          </a:p>
          <a:p>
            <a:r>
              <a:rPr lang="en-US" sz="1800" b="1" dirty="0">
                <a:latin typeface="Times New Roman" panose="02020603050405020304" pitchFamily="18" charset="0"/>
                <a:cs typeface="Times New Roman" panose="02020603050405020304" pitchFamily="18" charset="0"/>
              </a:rPr>
              <a:t>Algorithm (Cipher):</a:t>
            </a:r>
            <a:r>
              <a:rPr lang="en-US" sz="1800" dirty="0">
                <a:latin typeface="Times New Roman" panose="02020603050405020304" pitchFamily="18" charset="0"/>
                <a:cs typeface="Times New Roman" panose="02020603050405020304" pitchFamily="18" charset="0"/>
              </a:rPr>
              <a:t> A mathematical function that performs encryption or decryption using a key.</a:t>
            </a:r>
          </a:p>
        </p:txBody>
      </p:sp>
      <p:sp>
        <p:nvSpPr>
          <p:cNvPr id="7" name="Text Placeholder 6"/>
          <p:cNvSpPr>
            <a:spLocks noGrp="1"/>
          </p:cNvSpPr>
          <p:nvPr>
            <p:ph type="body" sz="half" idx="2"/>
          </p:nvPr>
        </p:nvSpPr>
        <p:spPr>
          <a:xfrm>
            <a:off x="1074240" y="2469976"/>
            <a:ext cx="3293422" cy="4343400"/>
          </a:xfrm>
        </p:spPr>
        <p:txBody>
          <a:bodyPr/>
          <a:lstStyle/>
          <a:p>
            <a:pPr algn="just"/>
            <a:r>
              <a:rPr lang="en-US" b="1" dirty="0">
                <a:latin typeface="Times New Roman" panose="02020603050405020304" pitchFamily="18" charset="0"/>
                <a:cs typeface="Times New Roman" panose="02020603050405020304" pitchFamily="18" charset="0"/>
              </a:rPr>
              <a:t>Cryptography</a:t>
            </a:r>
            <a:r>
              <a:rPr lang="en-US" dirty="0">
                <a:latin typeface="Times New Roman" panose="02020603050405020304" pitchFamily="18" charset="0"/>
                <a:cs typeface="Times New Roman" panose="02020603050405020304" pitchFamily="18" charset="0"/>
              </a:rPr>
              <a:t> is the science and art of securing information by transforming it into a form that is unreadable to unauthorized users.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ensures that even if data is intercepted or accessed by an attacker, it cannot be understood or altered without the proper cryptographic keys.</a:t>
            </a:r>
          </a:p>
          <a:p>
            <a:endParaRPr lang="en-US" dirty="0"/>
          </a:p>
        </p:txBody>
      </p:sp>
      <p:pic>
        <p:nvPicPr>
          <p:cNvPr id="1026" name="Picture 2" descr="Cryptography Concepts - Win32 apps ...">
            <a:extLst>
              <a:ext uri="{FF2B5EF4-FFF2-40B4-BE49-F238E27FC236}">
                <a16:creationId xmlns:a16="http://schemas.microsoft.com/office/drawing/2014/main" id="{28D60F4A-BB14-F171-46B2-6D9B19296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9903" y="4653136"/>
            <a:ext cx="6436682" cy="187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15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Cryptographic</a:t>
            </a:r>
            <a:r>
              <a:rPr lang="fr-FR" dirty="0">
                <a:latin typeface="Times New Roman" panose="02020603050405020304" pitchFamily="18" charset="0"/>
                <a:cs typeface="Times New Roman" panose="02020603050405020304" pitchFamily="18" charset="0"/>
              </a:rPr>
              <a:t> Techniques</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sz="half" idx="2"/>
          </p:nvPr>
        </p:nvSpPr>
        <p:spPr/>
        <p:txBody>
          <a:bodyPr/>
          <a:lstStyle/>
          <a:p>
            <a:r>
              <a:rPr lang="fr-FR" b="1" dirty="0" err="1">
                <a:latin typeface="Times New Roman" panose="02020603050405020304" pitchFamily="18" charset="0"/>
                <a:cs typeface="Times New Roman" panose="02020603050405020304" pitchFamily="18" charset="0"/>
              </a:rPr>
              <a:t>Symmetric</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Encryption</a:t>
            </a:r>
            <a:endParaRPr lang="fr-FR" b="1" dirty="0">
              <a:latin typeface="Times New Roman" panose="02020603050405020304" pitchFamily="18" charset="0"/>
              <a:cs typeface="Times New Roman" panose="02020603050405020304" pitchFamily="18" charset="0"/>
            </a:endParaRPr>
          </a:p>
          <a:p>
            <a:r>
              <a:rPr lang="fr-FR" dirty="0" err="1">
                <a:latin typeface="Times New Roman" panose="02020603050405020304" pitchFamily="18" charset="0"/>
                <a:cs typeface="Times New Roman" panose="02020603050405020304" pitchFamily="18" charset="0"/>
              </a:rPr>
              <a:t>Asymmetric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fr-FR" dirty="0">
              <a:latin typeface="Times New Roman" panose="02020603050405020304" pitchFamily="18" charset="0"/>
              <a:cs typeface="Times New Roman" panose="02020603050405020304" pitchFamily="18" charset="0"/>
            </a:endParaRPr>
          </a:p>
          <a:p>
            <a:r>
              <a:rPr lang="fr-FR" dirty="0" err="1">
                <a:latin typeface="Times New Roman" panose="02020603050405020304" pitchFamily="18" charset="0"/>
                <a:cs typeface="Times New Roman" panose="02020603050405020304" pitchFamily="18" charset="0"/>
              </a:rPr>
              <a:t>Hashing</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Digital Signatures</a:t>
            </a:r>
          </a:p>
          <a:p>
            <a:r>
              <a:rPr lang="fr-FR" dirty="0" err="1">
                <a:latin typeface="Times New Roman" panose="02020603050405020304" pitchFamily="18" charset="0"/>
                <a:cs typeface="Times New Roman" panose="02020603050405020304" pitchFamily="18" charset="0"/>
              </a:rPr>
              <a:t>Hybrid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en-US" dirty="0">
              <a:latin typeface="Times New Roman" panose="02020603050405020304" pitchFamily="18" charset="0"/>
              <a:cs typeface="Times New Roman" panose="02020603050405020304" pitchFamily="18" charset="0"/>
            </a:endParaRPr>
          </a:p>
        </p:txBody>
      </p:sp>
      <p:sp>
        <p:nvSpPr>
          <p:cNvPr id="3" name="Arrow: Right 2">
            <a:extLst>
              <a:ext uri="{FF2B5EF4-FFF2-40B4-BE49-F238E27FC236}">
                <a16:creationId xmlns:a16="http://schemas.microsoft.com/office/drawing/2014/main" id="{B3DCE326-9052-72BA-09DF-B4BADB75E054}"/>
              </a:ext>
            </a:extLst>
          </p:cNvPr>
          <p:cNvSpPr/>
          <p:nvPr/>
        </p:nvSpPr>
        <p:spPr>
          <a:xfrm>
            <a:off x="3790156" y="1916832"/>
            <a:ext cx="1008112"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5" name="TextBox 4">
            <a:extLst>
              <a:ext uri="{FF2B5EF4-FFF2-40B4-BE49-F238E27FC236}">
                <a16:creationId xmlns:a16="http://schemas.microsoft.com/office/drawing/2014/main" id="{49C97A9F-67AA-538F-D128-D5CA516C5353}"/>
              </a:ext>
            </a:extLst>
          </p:cNvPr>
          <p:cNvSpPr txBox="1"/>
          <p:nvPr/>
        </p:nvSpPr>
        <p:spPr>
          <a:xfrm>
            <a:off x="5230316" y="260648"/>
            <a:ext cx="6094602" cy="3139321"/>
          </a:xfrm>
          <a:prstGeom prst="rect">
            <a:avLst/>
          </a:prstGeom>
          <a:noFill/>
        </p:spPr>
        <p:txBody>
          <a:bodyPr wrap="square">
            <a:spAutoFit/>
          </a:bodyPr>
          <a:lstStyle/>
          <a:p>
            <a:pPr algn="just"/>
            <a:r>
              <a:rPr lang="en-US" dirty="0">
                <a:solidFill>
                  <a:schemeClr val="tx1">
                    <a:lumMod val="50000"/>
                  </a:schemeClr>
                </a:solidFill>
                <a:latin typeface="Times New Roman" panose="02020603050405020304" pitchFamily="18" charset="0"/>
                <a:cs typeface="Times New Roman" panose="02020603050405020304" pitchFamily="18" charset="0"/>
              </a:rPr>
              <a:t>Symmetric encryption (secret-key encryption like AES, DES, and chacha20) is a cryptographic technique where the same key is used for both encryption and decryption. It is the fastest and most efficient form of encryption, commonly used for securing large volumes of data in modern networks.</a:t>
            </a:r>
          </a:p>
          <a:p>
            <a:pPr marL="342900" indent="-342900" algn="just">
              <a:buFont typeface="+mj-lt"/>
              <a:buAutoNum type="arabicPeriod"/>
            </a:pPr>
            <a:r>
              <a:rPr lang="en-US" dirty="0">
                <a:solidFill>
                  <a:schemeClr val="tx1">
                    <a:lumMod val="50000"/>
                  </a:schemeClr>
                </a:solidFill>
                <a:latin typeface="Times New Roman" panose="02020603050405020304" pitchFamily="18" charset="0"/>
                <a:cs typeface="Times New Roman" panose="02020603050405020304" pitchFamily="18" charset="0"/>
              </a:rPr>
              <a:t>The sender and receiver share a single secret key in advance. </a:t>
            </a:r>
          </a:p>
          <a:p>
            <a:pPr marL="342900" indent="-342900" algn="just">
              <a:buFont typeface="+mj-lt"/>
              <a:buAutoNum type="arabicPeriod"/>
            </a:pPr>
            <a:r>
              <a:rPr lang="en-US" dirty="0">
                <a:solidFill>
                  <a:schemeClr val="tx1">
                    <a:lumMod val="50000"/>
                  </a:schemeClr>
                </a:solidFill>
                <a:latin typeface="Times New Roman" panose="02020603050405020304" pitchFamily="18" charset="0"/>
                <a:cs typeface="Times New Roman" panose="02020603050405020304" pitchFamily="18" charset="0"/>
              </a:rPr>
              <a:t>The sender uses this key and an encryption algorithm to convert plaintext into ciphertext. </a:t>
            </a:r>
          </a:p>
          <a:p>
            <a:pPr marL="342900" indent="-342900" algn="just">
              <a:buFont typeface="+mj-lt"/>
              <a:buAutoNum type="arabicPeriod"/>
            </a:pPr>
            <a:r>
              <a:rPr lang="en-US" dirty="0">
                <a:solidFill>
                  <a:schemeClr val="tx1">
                    <a:lumMod val="50000"/>
                  </a:schemeClr>
                </a:solidFill>
                <a:latin typeface="Times New Roman" panose="02020603050405020304" pitchFamily="18" charset="0"/>
                <a:cs typeface="Times New Roman" panose="02020603050405020304" pitchFamily="18" charset="0"/>
              </a:rPr>
              <a:t>The receiver uses the same key and a decryption algorithm to recover the original plaintext.</a:t>
            </a:r>
            <a:endParaRPr lang="fr-DZ" dirty="0">
              <a:solidFill>
                <a:schemeClr val="tx1">
                  <a:lumMod val="50000"/>
                </a:schemeClr>
              </a:solidFill>
              <a:latin typeface="Times New Roman" panose="02020603050405020304" pitchFamily="18" charset="0"/>
              <a:cs typeface="Times New Roman" panose="02020603050405020304" pitchFamily="18" charset="0"/>
            </a:endParaRPr>
          </a:p>
        </p:txBody>
      </p:sp>
      <p:pic>
        <p:nvPicPr>
          <p:cNvPr id="2050" name="Picture 2" descr="Symmetric vs. Asymmetric Encryption - What are differences?">
            <a:extLst>
              <a:ext uri="{FF2B5EF4-FFF2-40B4-BE49-F238E27FC236}">
                <a16:creationId xmlns:a16="http://schemas.microsoft.com/office/drawing/2014/main" id="{AA9F0363-E2FE-61D1-BE70-C285B89CBA8C}"/>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l="-595" r="676"/>
          <a:stretch>
            <a:fillRect/>
          </a:stretch>
        </p:blipFill>
        <p:spPr bwMode="auto">
          <a:xfrm>
            <a:off x="4981794" y="3782350"/>
            <a:ext cx="6729242" cy="2466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28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54E3E1-AED9-8C92-34A5-B17FC6E94D11}"/>
              </a:ext>
            </a:extLst>
          </p:cNvPr>
          <p:cNvSpPr txBox="1"/>
          <p:nvPr/>
        </p:nvSpPr>
        <p:spPr>
          <a:xfrm>
            <a:off x="1524056" y="2090826"/>
            <a:ext cx="7662294" cy="286232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speed: Efficient for encrypting large data volumes.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 computational cost: Ideal for hardware or software 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Strong security (with modern algorithms like AES).</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Disadvantages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Key distribution problem: Both parties must securely share the same key.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Scalability issue: For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users, you need </a:t>
            </a:r>
            <a:r>
              <a:rPr lang="en-US" i="1" dirty="0">
                <a:latin typeface="Times New Roman" panose="02020603050405020304" pitchFamily="18" charset="0"/>
                <a:cs typeface="Times New Roman" panose="02020603050405020304" pitchFamily="18" charset="0"/>
              </a:rPr>
              <a:t>n(n−1)/2</a:t>
            </a:r>
            <a:r>
              <a:rPr lang="en-US" dirty="0">
                <a:latin typeface="Times New Roman" panose="02020603050405020304" pitchFamily="18" charset="0"/>
                <a:cs typeface="Times New Roman" panose="02020603050405020304" pitchFamily="18" charset="0"/>
              </a:rPr>
              <a:t> unique keys.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built-in authentication: It only ensures confidentiality — not identity verification.</a:t>
            </a:r>
          </a:p>
        </p:txBody>
      </p:sp>
      <p:sp>
        <p:nvSpPr>
          <p:cNvPr id="5" name="TextBox 4">
            <a:extLst>
              <a:ext uri="{FF2B5EF4-FFF2-40B4-BE49-F238E27FC236}">
                <a16:creationId xmlns:a16="http://schemas.microsoft.com/office/drawing/2014/main" id="{650C8F0E-7F6B-1EC3-3FB2-26AA7394CCFD}"/>
              </a:ext>
            </a:extLst>
          </p:cNvPr>
          <p:cNvSpPr txBox="1"/>
          <p:nvPr/>
        </p:nvSpPr>
        <p:spPr>
          <a:xfrm>
            <a:off x="1629917" y="704524"/>
            <a:ext cx="8568951" cy="1200329"/>
          </a:xfrm>
          <a:prstGeom prst="rect">
            <a:avLst/>
          </a:prstGeom>
          <a:noFill/>
        </p:spPr>
        <p:txBody>
          <a:bodyPr wrap="square">
            <a:spAutoFit/>
          </a:bodyPr>
          <a:lstStyle/>
          <a:p>
            <a:pPr algn="ctr"/>
            <a:r>
              <a:rPr lang="en-US" sz="3600" dirty="0">
                <a:solidFill>
                  <a:schemeClr val="tx1">
                    <a:lumMod val="75000"/>
                  </a:schemeClr>
                </a:solidFill>
                <a:latin typeface="Times New Roman" panose="02020603050405020304" pitchFamily="18" charset="0"/>
                <a:ea typeface="+mj-ea"/>
                <a:cs typeface="Times New Roman" panose="02020603050405020304" pitchFamily="18" charset="0"/>
              </a:rPr>
              <a:t>Advantages and Disadvantages of Symmetric Encryption</a:t>
            </a:r>
          </a:p>
        </p:txBody>
      </p:sp>
    </p:spTree>
    <p:extLst>
      <p:ext uri="{BB962C8B-B14F-4D97-AF65-F5344CB8AC3E}">
        <p14:creationId xmlns:p14="http://schemas.microsoft.com/office/powerpoint/2010/main" val="4022862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F5C51-6217-9FD2-7172-ED25ACF08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0740E-DA1A-96AE-F354-037519D1F6AD}"/>
              </a:ext>
            </a:extLst>
          </p:cNvPr>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Cryptographic</a:t>
            </a:r>
            <a:r>
              <a:rPr lang="fr-FR" dirty="0">
                <a:latin typeface="Times New Roman" panose="02020603050405020304" pitchFamily="18" charset="0"/>
                <a:cs typeface="Times New Roman" panose="02020603050405020304" pitchFamily="18" charset="0"/>
              </a:rPr>
              <a:t> Techniques</a:t>
            </a:r>
            <a:endParaRPr lang="en-US" dirty="0">
              <a:latin typeface="Times New Roman" panose="02020603050405020304" pitchFamily="18" charset="0"/>
              <a:cs typeface="Times New Roman" panose="02020603050405020304" pitchFamily="18" charset="0"/>
            </a:endParaRPr>
          </a:p>
        </p:txBody>
      </p:sp>
      <p:sp>
        <p:nvSpPr>
          <p:cNvPr id="10" name="Text Placeholder 9">
            <a:extLst>
              <a:ext uri="{FF2B5EF4-FFF2-40B4-BE49-F238E27FC236}">
                <a16:creationId xmlns:a16="http://schemas.microsoft.com/office/drawing/2014/main" id="{E97B4FD4-E557-6DB2-00EB-C34B748857E5}"/>
              </a:ext>
            </a:extLst>
          </p:cNvPr>
          <p:cNvSpPr>
            <a:spLocks noGrp="1"/>
          </p:cNvSpPr>
          <p:nvPr>
            <p:ph type="body" sz="half" idx="2"/>
          </p:nvPr>
        </p:nvSpPr>
        <p:spPr/>
        <p:txBody>
          <a:bodyPr/>
          <a:lstStyle/>
          <a:p>
            <a:r>
              <a:rPr lang="fr-FR" dirty="0" err="1">
                <a:latin typeface="Times New Roman" panose="02020603050405020304" pitchFamily="18" charset="0"/>
                <a:cs typeface="Times New Roman" panose="02020603050405020304" pitchFamily="18" charset="0"/>
              </a:rPr>
              <a:t>Symmetric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fr-FR" dirty="0">
              <a:latin typeface="Times New Roman" panose="02020603050405020304" pitchFamily="18" charset="0"/>
              <a:cs typeface="Times New Roman" panose="02020603050405020304" pitchFamily="18" charset="0"/>
            </a:endParaRPr>
          </a:p>
          <a:p>
            <a:r>
              <a:rPr lang="fr-FR" b="1" dirty="0" err="1">
                <a:latin typeface="Times New Roman" panose="02020603050405020304" pitchFamily="18" charset="0"/>
                <a:cs typeface="Times New Roman" panose="02020603050405020304" pitchFamily="18" charset="0"/>
              </a:rPr>
              <a:t>Asymmetric</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Encryption</a:t>
            </a:r>
            <a:endParaRPr lang="fr-FR" b="1" dirty="0">
              <a:latin typeface="Times New Roman" panose="02020603050405020304" pitchFamily="18" charset="0"/>
              <a:cs typeface="Times New Roman" panose="02020603050405020304" pitchFamily="18" charset="0"/>
            </a:endParaRPr>
          </a:p>
          <a:p>
            <a:r>
              <a:rPr lang="fr-FR" dirty="0" err="1">
                <a:latin typeface="Times New Roman" panose="02020603050405020304" pitchFamily="18" charset="0"/>
                <a:cs typeface="Times New Roman" panose="02020603050405020304" pitchFamily="18" charset="0"/>
              </a:rPr>
              <a:t>Hashing</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Digital Signatures</a:t>
            </a:r>
          </a:p>
          <a:p>
            <a:r>
              <a:rPr lang="fr-FR" dirty="0" err="1">
                <a:latin typeface="Times New Roman" panose="02020603050405020304" pitchFamily="18" charset="0"/>
                <a:cs typeface="Times New Roman" panose="02020603050405020304" pitchFamily="18" charset="0"/>
              </a:rPr>
              <a:t>Hybrid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en-US" dirty="0">
              <a:latin typeface="Times New Roman" panose="02020603050405020304" pitchFamily="18" charset="0"/>
              <a:cs typeface="Times New Roman" panose="02020603050405020304" pitchFamily="18" charset="0"/>
            </a:endParaRPr>
          </a:p>
        </p:txBody>
      </p:sp>
      <p:sp>
        <p:nvSpPr>
          <p:cNvPr id="3" name="Arrow: Right 2">
            <a:extLst>
              <a:ext uri="{FF2B5EF4-FFF2-40B4-BE49-F238E27FC236}">
                <a16:creationId xmlns:a16="http://schemas.microsoft.com/office/drawing/2014/main" id="{9B586C1F-A3DA-8A8B-9379-1E20DE265D6E}"/>
              </a:ext>
            </a:extLst>
          </p:cNvPr>
          <p:cNvSpPr/>
          <p:nvPr/>
        </p:nvSpPr>
        <p:spPr>
          <a:xfrm>
            <a:off x="3934172" y="2348880"/>
            <a:ext cx="864096"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5" name="TextBox 4">
            <a:extLst>
              <a:ext uri="{FF2B5EF4-FFF2-40B4-BE49-F238E27FC236}">
                <a16:creationId xmlns:a16="http://schemas.microsoft.com/office/drawing/2014/main" id="{37B2CB3E-4D70-8E57-4B2B-EDBAB7DA1928}"/>
              </a:ext>
            </a:extLst>
          </p:cNvPr>
          <p:cNvSpPr txBox="1"/>
          <p:nvPr/>
        </p:nvSpPr>
        <p:spPr>
          <a:xfrm>
            <a:off x="5230316" y="116632"/>
            <a:ext cx="6094602" cy="3693319"/>
          </a:xfrm>
          <a:prstGeom prst="rect">
            <a:avLst/>
          </a:prstGeom>
          <a:noFill/>
        </p:spPr>
        <p:txBody>
          <a:bodyPr wrap="square">
            <a:spAutoFit/>
          </a:bodyPr>
          <a:lstStyle/>
          <a:p>
            <a:pPr algn="just"/>
            <a:r>
              <a:rPr lang="en-US" dirty="0">
                <a:solidFill>
                  <a:schemeClr val="tx1">
                    <a:lumMod val="50000"/>
                  </a:schemeClr>
                </a:solidFill>
                <a:latin typeface="Times New Roman" panose="02020603050405020304" pitchFamily="18" charset="0"/>
                <a:cs typeface="Times New Roman" panose="02020603050405020304" pitchFamily="18" charset="0"/>
              </a:rPr>
              <a:t>Asymmetric encryption, like RSA,  is a cryptographic technique that uses two different keys (a public key and a private key) for secure communication. The public key is shared openly and used for encryption. The private key is kept secret and used for decryption. The two keys are mathematically related, but it’s computationally infeasible to derive one from the other.</a:t>
            </a:r>
          </a:p>
          <a:p>
            <a:pPr marL="342900" indent="-342900" algn="just">
              <a:buFont typeface="+mj-lt"/>
              <a:buAutoNum type="arabicPeriod"/>
            </a:pPr>
            <a:r>
              <a:rPr lang="en-US" dirty="0">
                <a:solidFill>
                  <a:schemeClr val="tx1">
                    <a:lumMod val="50000"/>
                  </a:schemeClr>
                </a:solidFill>
                <a:latin typeface="Times New Roman" panose="02020603050405020304" pitchFamily="18" charset="0"/>
                <a:cs typeface="Times New Roman" panose="02020603050405020304" pitchFamily="18" charset="0"/>
              </a:rPr>
              <a:t>Each user generates a key pair (public + private). </a:t>
            </a:r>
          </a:p>
          <a:p>
            <a:pPr marL="342900" indent="-342900" algn="just">
              <a:buFont typeface="+mj-lt"/>
              <a:buAutoNum type="arabicPeriod"/>
            </a:pPr>
            <a:r>
              <a:rPr lang="en-US" dirty="0">
                <a:solidFill>
                  <a:schemeClr val="tx1">
                    <a:lumMod val="50000"/>
                  </a:schemeClr>
                </a:solidFill>
                <a:latin typeface="Times New Roman" panose="02020603050405020304" pitchFamily="18" charset="0"/>
                <a:cs typeface="Times New Roman" panose="02020603050405020304" pitchFamily="18" charset="0"/>
              </a:rPr>
              <a:t>The public key is distributed to others. </a:t>
            </a:r>
          </a:p>
          <a:p>
            <a:pPr marL="342900" indent="-342900" algn="just">
              <a:buFont typeface="+mj-lt"/>
              <a:buAutoNum type="arabicPeriod"/>
            </a:pPr>
            <a:r>
              <a:rPr lang="en-US" dirty="0">
                <a:solidFill>
                  <a:schemeClr val="tx1">
                    <a:lumMod val="50000"/>
                  </a:schemeClr>
                </a:solidFill>
                <a:latin typeface="Times New Roman" panose="02020603050405020304" pitchFamily="18" charset="0"/>
                <a:cs typeface="Times New Roman" panose="02020603050405020304" pitchFamily="18" charset="0"/>
              </a:rPr>
              <a:t>When someone wants to send you a secure message: </a:t>
            </a:r>
          </a:p>
          <a:p>
            <a:pPr algn="just"/>
            <a:r>
              <a:rPr lang="en-US" dirty="0">
                <a:solidFill>
                  <a:schemeClr val="tx1">
                    <a:lumMod val="50000"/>
                  </a:schemeClr>
                </a:solidFill>
                <a:latin typeface="Times New Roman" panose="02020603050405020304" pitchFamily="18" charset="0"/>
                <a:cs typeface="Times New Roman" panose="02020603050405020304" pitchFamily="18" charset="0"/>
              </a:rPr>
              <a:t>	They encrypt it using your public key. </a:t>
            </a:r>
          </a:p>
          <a:p>
            <a:pPr algn="just"/>
            <a:r>
              <a:rPr lang="en-US" dirty="0">
                <a:solidFill>
                  <a:schemeClr val="tx1">
                    <a:lumMod val="50000"/>
                  </a:schemeClr>
                </a:solidFill>
                <a:latin typeface="Times New Roman" panose="02020603050405020304" pitchFamily="18" charset="0"/>
                <a:cs typeface="Times New Roman" panose="02020603050405020304" pitchFamily="18" charset="0"/>
              </a:rPr>
              <a:t>	You decrypt it using your private key. </a:t>
            </a:r>
          </a:p>
          <a:p>
            <a:pPr algn="just"/>
            <a:r>
              <a:rPr lang="en-US" dirty="0">
                <a:solidFill>
                  <a:schemeClr val="tx1">
                    <a:lumMod val="50000"/>
                  </a:schemeClr>
                </a:solidFill>
                <a:latin typeface="Times New Roman" panose="02020603050405020304" pitchFamily="18" charset="0"/>
                <a:cs typeface="Times New Roman" panose="02020603050405020304" pitchFamily="18" charset="0"/>
              </a:rPr>
              <a:t>4. Only you private key can decrypt data encrypted with your public key.</a:t>
            </a:r>
            <a:endParaRPr lang="fr-DZ" dirty="0">
              <a:solidFill>
                <a:schemeClr val="tx1">
                  <a:lumMod val="50000"/>
                </a:schemeClr>
              </a:solidFill>
              <a:latin typeface="Times New Roman" panose="02020603050405020304" pitchFamily="18" charset="0"/>
              <a:cs typeface="Times New Roman" panose="02020603050405020304" pitchFamily="18" charset="0"/>
            </a:endParaRPr>
          </a:p>
        </p:txBody>
      </p:sp>
      <p:pic>
        <p:nvPicPr>
          <p:cNvPr id="8194" name="Picture 2" descr="Symmetric vs. Asymmetric Encryption - What are differences?">
            <a:extLst>
              <a:ext uri="{FF2B5EF4-FFF2-40B4-BE49-F238E27FC236}">
                <a16:creationId xmlns:a16="http://schemas.microsoft.com/office/drawing/2014/main" id="{B7463059-D371-801D-414D-5E3C9B8099FB}"/>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l="668" r="1120"/>
          <a:stretch>
            <a:fillRect/>
          </a:stretch>
        </p:blipFill>
        <p:spPr bwMode="auto">
          <a:xfrm>
            <a:off x="5446340" y="3789040"/>
            <a:ext cx="5328592" cy="2965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686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67BA9-8BFF-C476-5795-E4E319AFDE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F4D8F2-D0B5-C8C4-404B-BC549EB2154A}"/>
              </a:ext>
            </a:extLst>
          </p:cNvPr>
          <p:cNvSpPr txBox="1"/>
          <p:nvPr/>
        </p:nvSpPr>
        <p:spPr>
          <a:xfrm>
            <a:off x="1629917" y="704524"/>
            <a:ext cx="8568951" cy="1200329"/>
          </a:xfrm>
          <a:prstGeom prst="rect">
            <a:avLst/>
          </a:prstGeom>
          <a:noFill/>
        </p:spPr>
        <p:txBody>
          <a:bodyPr wrap="square">
            <a:spAutoFit/>
          </a:bodyPr>
          <a:lstStyle/>
          <a:p>
            <a:pPr algn="ctr"/>
            <a:r>
              <a:rPr lang="en-US" sz="3600" dirty="0">
                <a:solidFill>
                  <a:schemeClr val="tx1">
                    <a:lumMod val="75000"/>
                  </a:schemeClr>
                </a:solidFill>
                <a:latin typeface="Times New Roman" panose="02020603050405020304" pitchFamily="18" charset="0"/>
                <a:ea typeface="+mj-ea"/>
                <a:cs typeface="Times New Roman" panose="02020603050405020304" pitchFamily="18" charset="0"/>
              </a:rPr>
              <a:t>Advantages and Disadvantages of Symmetric Encryption</a:t>
            </a:r>
          </a:p>
        </p:txBody>
      </p:sp>
      <p:sp>
        <p:nvSpPr>
          <p:cNvPr id="8" name="TextBox 7">
            <a:extLst>
              <a:ext uri="{FF2B5EF4-FFF2-40B4-BE49-F238E27FC236}">
                <a16:creationId xmlns:a16="http://schemas.microsoft.com/office/drawing/2014/main" id="{E54B1766-1734-604D-1449-8D5D61323A3A}"/>
              </a:ext>
            </a:extLst>
          </p:cNvPr>
          <p:cNvSpPr txBox="1"/>
          <p:nvPr/>
        </p:nvSpPr>
        <p:spPr>
          <a:xfrm>
            <a:off x="1485900" y="2377911"/>
            <a:ext cx="8712968" cy="2862322"/>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Advantages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Solves the key distribution problem (no need to share secret keys beforehand).</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Enables authentication and non-repudiation (when combined with digital signatures).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secure key exchange for symmetric encryption.</a:t>
            </a:r>
          </a:p>
          <a:p>
            <a:pPr algn="just">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Disadvantages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Slower than symmetric encryption due to complex mathematics.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Not suitable for large data encryption — typically used only to exchange symmetric keys.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Relies on trust infrastructure (e.g., certificates, PKI).</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Vulnerable to private key compromise — if the private key is stolen, security is lost.</a:t>
            </a:r>
          </a:p>
        </p:txBody>
      </p:sp>
    </p:spTree>
    <p:extLst>
      <p:ext uri="{BB962C8B-B14F-4D97-AF65-F5344CB8AC3E}">
        <p14:creationId xmlns:p14="http://schemas.microsoft.com/office/powerpoint/2010/main" val="113688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FC96E-0612-8407-B2C2-97A5999D8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2FA89-808B-630C-B96C-0D8DC17DFE23}"/>
              </a:ext>
            </a:extLst>
          </p:cNvPr>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Cryptographic</a:t>
            </a:r>
            <a:r>
              <a:rPr lang="fr-FR" dirty="0">
                <a:latin typeface="Times New Roman" panose="02020603050405020304" pitchFamily="18" charset="0"/>
                <a:cs typeface="Times New Roman" panose="02020603050405020304" pitchFamily="18" charset="0"/>
              </a:rPr>
              <a:t> Techniques</a:t>
            </a:r>
            <a:endParaRPr lang="en-US" dirty="0">
              <a:latin typeface="Times New Roman" panose="02020603050405020304" pitchFamily="18" charset="0"/>
              <a:cs typeface="Times New Roman" panose="02020603050405020304" pitchFamily="18" charset="0"/>
            </a:endParaRPr>
          </a:p>
        </p:txBody>
      </p:sp>
      <p:sp>
        <p:nvSpPr>
          <p:cNvPr id="10" name="Text Placeholder 9">
            <a:extLst>
              <a:ext uri="{FF2B5EF4-FFF2-40B4-BE49-F238E27FC236}">
                <a16:creationId xmlns:a16="http://schemas.microsoft.com/office/drawing/2014/main" id="{4A82153E-80F7-5AA8-63AC-D90BFAE226E2}"/>
              </a:ext>
            </a:extLst>
          </p:cNvPr>
          <p:cNvSpPr>
            <a:spLocks noGrp="1"/>
          </p:cNvSpPr>
          <p:nvPr>
            <p:ph type="body" sz="half" idx="2"/>
          </p:nvPr>
        </p:nvSpPr>
        <p:spPr/>
        <p:txBody>
          <a:bodyPr/>
          <a:lstStyle/>
          <a:p>
            <a:r>
              <a:rPr lang="fr-FR" dirty="0" err="1">
                <a:latin typeface="Times New Roman" panose="02020603050405020304" pitchFamily="18" charset="0"/>
                <a:cs typeface="Times New Roman" panose="02020603050405020304" pitchFamily="18" charset="0"/>
              </a:rPr>
              <a:t>Symmetric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fr-FR" dirty="0">
              <a:latin typeface="Times New Roman" panose="02020603050405020304" pitchFamily="18" charset="0"/>
              <a:cs typeface="Times New Roman" panose="02020603050405020304" pitchFamily="18" charset="0"/>
            </a:endParaRPr>
          </a:p>
          <a:p>
            <a:r>
              <a:rPr lang="fr-FR" dirty="0" err="1">
                <a:latin typeface="Times New Roman" panose="02020603050405020304" pitchFamily="18" charset="0"/>
                <a:cs typeface="Times New Roman" panose="02020603050405020304" pitchFamily="18" charset="0"/>
              </a:rPr>
              <a:t>Asymmetric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fr-FR" dirty="0">
              <a:latin typeface="Times New Roman" panose="02020603050405020304" pitchFamily="18" charset="0"/>
              <a:cs typeface="Times New Roman" panose="02020603050405020304" pitchFamily="18" charset="0"/>
            </a:endParaRPr>
          </a:p>
          <a:p>
            <a:r>
              <a:rPr lang="fr-FR" b="1" dirty="0" err="1">
                <a:latin typeface="Times New Roman" panose="02020603050405020304" pitchFamily="18" charset="0"/>
                <a:cs typeface="Times New Roman" panose="02020603050405020304" pitchFamily="18" charset="0"/>
              </a:rPr>
              <a:t>Hashing</a:t>
            </a:r>
            <a:endParaRPr lang="fr-FR" b="1"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Digital Signatures</a:t>
            </a:r>
          </a:p>
          <a:p>
            <a:r>
              <a:rPr lang="fr-FR" dirty="0" err="1">
                <a:latin typeface="Times New Roman" panose="02020603050405020304" pitchFamily="18" charset="0"/>
                <a:cs typeface="Times New Roman" panose="02020603050405020304" pitchFamily="18" charset="0"/>
              </a:rPr>
              <a:t>Hybrid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en-US" dirty="0">
              <a:latin typeface="Times New Roman" panose="02020603050405020304" pitchFamily="18" charset="0"/>
              <a:cs typeface="Times New Roman" panose="02020603050405020304" pitchFamily="18" charset="0"/>
            </a:endParaRPr>
          </a:p>
        </p:txBody>
      </p:sp>
      <p:sp>
        <p:nvSpPr>
          <p:cNvPr id="3" name="Arrow: Right 2">
            <a:extLst>
              <a:ext uri="{FF2B5EF4-FFF2-40B4-BE49-F238E27FC236}">
                <a16:creationId xmlns:a16="http://schemas.microsoft.com/office/drawing/2014/main" id="{3CE19255-410A-38CA-E6F6-30853D1C1CDC}"/>
              </a:ext>
            </a:extLst>
          </p:cNvPr>
          <p:cNvSpPr/>
          <p:nvPr/>
        </p:nvSpPr>
        <p:spPr>
          <a:xfrm>
            <a:off x="3790156" y="2780928"/>
            <a:ext cx="1008112"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5" name="TextBox 4">
            <a:extLst>
              <a:ext uri="{FF2B5EF4-FFF2-40B4-BE49-F238E27FC236}">
                <a16:creationId xmlns:a16="http://schemas.microsoft.com/office/drawing/2014/main" id="{AEE8B98E-1B7C-D1F9-3388-B0DE153A12BF}"/>
              </a:ext>
            </a:extLst>
          </p:cNvPr>
          <p:cNvSpPr txBox="1"/>
          <p:nvPr/>
        </p:nvSpPr>
        <p:spPr>
          <a:xfrm>
            <a:off x="5014292" y="260648"/>
            <a:ext cx="6696744" cy="4524315"/>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Hashing</a:t>
            </a:r>
            <a:r>
              <a:rPr lang="en-US" dirty="0">
                <a:latin typeface="Times New Roman" panose="02020603050405020304" pitchFamily="18" charset="0"/>
                <a:cs typeface="Times New Roman" panose="02020603050405020304" pitchFamily="18" charset="0"/>
              </a:rPr>
              <a:t> is a mathematical process that transforms an input message of </a:t>
            </a:r>
            <a:r>
              <a:rPr lang="en-US" i="1" dirty="0">
                <a:latin typeface="Times New Roman" panose="02020603050405020304" pitchFamily="18" charset="0"/>
                <a:cs typeface="Times New Roman" panose="02020603050405020304" pitchFamily="18" charset="0"/>
              </a:rPr>
              <a:t>arbitrary length</a:t>
            </a:r>
            <a:r>
              <a:rPr lang="en-US" dirty="0">
                <a:latin typeface="Times New Roman" panose="02020603050405020304" pitchFamily="18" charset="0"/>
                <a:cs typeface="Times New Roman" panose="02020603050405020304" pitchFamily="18" charset="0"/>
              </a:rPr>
              <a:t> (text, file, password, etc.) into a fixed-size string of characters called a hash value, digest, or message digest, using a hash function.</a:t>
            </a:r>
          </a:p>
          <a:p>
            <a:pPr algn="just"/>
            <a:r>
              <a:rPr lang="en-US" dirty="0">
                <a:latin typeface="Times New Roman" panose="02020603050405020304" pitchFamily="18" charset="0"/>
                <a:cs typeface="Times New Roman" panose="02020603050405020304" pitchFamily="18" charset="0"/>
              </a:rPr>
              <a:t>It is a one-way and deterministic operation:</a:t>
            </a:r>
          </a:p>
          <a:p>
            <a:pPr algn="just"/>
            <a:r>
              <a:rPr lang="en-US" b="1" dirty="0">
                <a:latin typeface="Times New Roman" panose="02020603050405020304" pitchFamily="18" charset="0"/>
                <a:cs typeface="Times New Roman" panose="02020603050405020304" pitchFamily="18" charset="0"/>
              </a:rPr>
              <a:t>One-way</a:t>
            </a:r>
            <a:r>
              <a:rPr lang="en-US" dirty="0">
                <a:latin typeface="Times New Roman" panose="02020603050405020304" pitchFamily="18" charset="0"/>
                <a:cs typeface="Times New Roman" panose="02020603050405020304" pitchFamily="18" charset="0"/>
              </a:rPr>
              <a:t> means it is computationally infeasible to reverse the process — you cannot reconstruct the original input from its hash value.</a:t>
            </a:r>
          </a:p>
          <a:p>
            <a:pPr algn="just"/>
            <a:r>
              <a:rPr lang="en-US" b="1" dirty="0">
                <a:latin typeface="Times New Roman" panose="02020603050405020304" pitchFamily="18" charset="0"/>
                <a:cs typeface="Times New Roman" panose="02020603050405020304" pitchFamily="18" charset="0"/>
              </a:rPr>
              <a:t>Deterministic</a:t>
            </a:r>
            <a:r>
              <a:rPr lang="en-US" dirty="0">
                <a:latin typeface="Times New Roman" panose="02020603050405020304" pitchFamily="18" charset="0"/>
                <a:cs typeface="Times New Roman" panose="02020603050405020304" pitchFamily="18" charset="0"/>
              </a:rPr>
              <a:t> means the same input always produces the same hash output.</a:t>
            </a:r>
          </a:p>
          <a:p>
            <a:pPr algn="just"/>
            <a:r>
              <a:rPr lang="en-US" dirty="0">
                <a:latin typeface="Times New Roman" panose="02020603050405020304" pitchFamily="18" charset="0"/>
                <a:cs typeface="Times New Roman" panose="02020603050405020304" pitchFamily="18" charset="0"/>
              </a:rPr>
              <a:t>The hash function performs a series of logical, bitwise, and modular arithmetic operations on blocks of input data, generating a fixed-size output (for example, 256 bits for SHA-256), regardless of how large or small the input is.</a:t>
            </a:r>
          </a:p>
          <a:p>
            <a:pPr algn="just"/>
            <a:r>
              <a:rPr lang="en-US" dirty="0">
                <a:latin typeface="Times New Roman" panose="02020603050405020304" pitchFamily="18" charset="0"/>
                <a:cs typeface="Times New Roman" panose="02020603050405020304" pitchFamily="18" charset="0"/>
              </a:rPr>
              <a:t>“Hashing does not provide confidentiality, but it ensures integrity (meaning that even the smallest change in input data (like changing one bit) results in a completely different hash value.”</a:t>
            </a:r>
          </a:p>
        </p:txBody>
      </p:sp>
      <p:pic>
        <p:nvPicPr>
          <p:cNvPr id="7170" name="Picture 2" descr="Cryptography - Hash functions">
            <a:extLst>
              <a:ext uri="{FF2B5EF4-FFF2-40B4-BE49-F238E27FC236}">
                <a16:creationId xmlns:a16="http://schemas.microsoft.com/office/drawing/2014/main" id="{D90965E9-896B-3F5C-26C1-5CEB9D146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8348" y="4797152"/>
            <a:ext cx="5803404" cy="1956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21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9600B-736F-6537-EA07-2250226D41F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2ABBE7C-37E1-3983-BDA9-C87C5FC896EF}"/>
              </a:ext>
            </a:extLst>
          </p:cNvPr>
          <p:cNvSpPr txBox="1"/>
          <p:nvPr/>
        </p:nvSpPr>
        <p:spPr>
          <a:xfrm>
            <a:off x="1197868" y="594554"/>
            <a:ext cx="9361040" cy="1754326"/>
          </a:xfrm>
          <a:prstGeom prst="rect">
            <a:avLst/>
          </a:prstGeom>
          <a:noFill/>
        </p:spPr>
        <p:txBody>
          <a:bodyPr wrap="square">
            <a:spAutoFit/>
          </a:bodyPr>
          <a:lstStyle/>
          <a:p>
            <a:pPr algn="ctr"/>
            <a:r>
              <a:rPr lang="en-US" sz="3600" dirty="0">
                <a:solidFill>
                  <a:schemeClr val="tx1">
                    <a:lumMod val="75000"/>
                  </a:schemeClr>
                </a:solidFill>
                <a:latin typeface="Times New Roman" panose="02020603050405020304" pitchFamily="18" charset="0"/>
                <a:ea typeface="+mj-ea"/>
                <a:cs typeface="Times New Roman" panose="02020603050405020304" pitchFamily="18" charset="0"/>
              </a:rPr>
              <a:t>Why Hashing Is Still a Type of Security (Even Without Confidentiality)</a:t>
            </a:r>
          </a:p>
          <a:p>
            <a:pPr algn="ctr"/>
            <a:endParaRPr lang="en-US" sz="3600" dirty="0">
              <a:solidFill>
                <a:schemeClr val="tx1">
                  <a:lumMod val="75000"/>
                </a:schemeClr>
              </a:solidFill>
              <a:latin typeface="Times New Roman" panose="02020603050405020304" pitchFamily="18" charset="0"/>
              <a:ea typeface="+mj-ea"/>
              <a:cs typeface="Times New Roman" panose="02020603050405020304" pitchFamily="18" charset="0"/>
            </a:endParaRPr>
          </a:p>
        </p:txBody>
      </p:sp>
      <p:sp>
        <p:nvSpPr>
          <p:cNvPr id="4" name="TextBox 3">
            <a:extLst>
              <a:ext uri="{FF2B5EF4-FFF2-40B4-BE49-F238E27FC236}">
                <a16:creationId xmlns:a16="http://schemas.microsoft.com/office/drawing/2014/main" id="{C8E62441-26D2-ECA9-E467-5876F6C4435D}"/>
              </a:ext>
            </a:extLst>
          </p:cNvPr>
          <p:cNvSpPr txBox="1"/>
          <p:nvPr/>
        </p:nvSpPr>
        <p:spPr>
          <a:xfrm>
            <a:off x="1269876" y="2327969"/>
            <a:ext cx="9145016" cy="369331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Hashing does not hide information (so it doesn’t provide </a:t>
            </a:r>
            <a:r>
              <a:rPr lang="en-US" i="1" dirty="0">
                <a:latin typeface="Times New Roman" panose="02020603050405020304" pitchFamily="18" charset="0"/>
                <a:cs typeface="Times New Roman" panose="02020603050405020304" pitchFamily="18" charset="0"/>
              </a:rPr>
              <a:t>confidentiality</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but it protects the trustworthiness and authenticity of data, which are </a:t>
            </a:r>
            <a:r>
              <a:rPr lang="en-US" i="1" dirty="0">
                <a:latin typeface="Times New Roman" panose="02020603050405020304" pitchFamily="18" charset="0"/>
                <a:cs typeface="Times New Roman" panose="02020603050405020304" pitchFamily="18" charset="0"/>
              </a:rPr>
              <a:t>other</a:t>
            </a:r>
            <a:r>
              <a:rPr lang="en-US" dirty="0">
                <a:latin typeface="Times New Roman" panose="02020603050405020304" pitchFamily="18" charset="0"/>
                <a:cs typeface="Times New Roman" panose="02020603050405020304" pitchFamily="18" charset="0"/>
              </a:rPr>
              <a:t> pillars of security.</a:t>
            </a:r>
          </a:p>
          <a:p>
            <a:pPr>
              <a:buNone/>
            </a:pPr>
            <a:r>
              <a:rPr lang="en-US" dirty="0">
                <a:latin typeface="Times New Roman" panose="02020603050405020304" pitchFamily="18" charset="0"/>
                <a:cs typeface="Times New Roman" panose="02020603050405020304" pitchFamily="18" charset="0"/>
              </a:rPr>
              <a:t>In cybersecurity, we often talk about the CIA triad (Confidentiality, Integrity, and Availability).</a:t>
            </a:r>
          </a:p>
          <a:p>
            <a:pPr>
              <a:buNone/>
            </a:pPr>
            <a:r>
              <a:rPr lang="en-US" dirty="0">
                <a:latin typeface="Times New Roman" panose="02020603050405020304" pitchFamily="18" charset="0"/>
                <a:cs typeface="Times New Roman" panose="02020603050405020304" pitchFamily="18" charset="0"/>
              </a:rPr>
              <a:t>Hashing directly supports the I: Integrity part.</a:t>
            </a:r>
          </a:p>
          <a:p>
            <a:r>
              <a:rPr lang="en-US" b="1" dirty="0">
                <a:latin typeface="Times New Roman" panose="02020603050405020304" pitchFamily="18" charset="0"/>
                <a:cs typeface="Times New Roman" panose="02020603050405020304" pitchFamily="18" charset="0"/>
              </a:rPr>
              <a:t>Integrity as a Security Goal:</a:t>
            </a:r>
          </a:p>
          <a:p>
            <a:r>
              <a:rPr lang="en-US" dirty="0">
                <a:latin typeface="Times New Roman" panose="02020603050405020304" pitchFamily="18" charset="0"/>
                <a:cs typeface="Times New Roman" panose="02020603050405020304" pitchFamily="18" charset="0"/>
              </a:rPr>
              <a:t>Integrity ensures that data has not been changed, deleted, or tampered with, whether accidentally (e.g., transmission error) or intentionally (e.g., attacker modification).</a:t>
            </a:r>
          </a:p>
          <a:p>
            <a:r>
              <a:rPr lang="en-US" dirty="0">
                <a:latin typeface="Times New Roman" panose="02020603050405020304" pitchFamily="18" charset="0"/>
                <a:cs typeface="Times New Roman" panose="02020603050405020304" pitchFamily="18" charset="0"/>
              </a:rPr>
              <a:t>If integrity is broken: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message, file, or transaction could be altered.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Even encrypted data could become invalid or dangerous.</a:t>
            </a:r>
          </a:p>
          <a:p>
            <a:r>
              <a:rPr lang="en-US" dirty="0">
                <a:latin typeface="Times New Roman" panose="02020603050405020304" pitchFamily="18" charset="0"/>
                <a:cs typeface="Times New Roman" panose="02020603050405020304" pitchFamily="18" charset="0"/>
              </a:rPr>
              <a:t>Hashing detects such modifications instantly. That’s why it’s a core security mechanism, even without confidentiality.</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305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C4389-C103-EE36-877D-8EDDFB2C6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165A3-E5C3-B127-5817-A1D31C50E658}"/>
              </a:ext>
            </a:extLst>
          </p:cNvPr>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Cryptographic</a:t>
            </a:r>
            <a:r>
              <a:rPr lang="fr-FR" dirty="0">
                <a:latin typeface="Times New Roman" panose="02020603050405020304" pitchFamily="18" charset="0"/>
                <a:cs typeface="Times New Roman" panose="02020603050405020304" pitchFamily="18" charset="0"/>
              </a:rPr>
              <a:t> Techniques</a:t>
            </a:r>
            <a:endParaRPr lang="en-US" dirty="0">
              <a:latin typeface="Times New Roman" panose="02020603050405020304" pitchFamily="18" charset="0"/>
              <a:cs typeface="Times New Roman" panose="02020603050405020304" pitchFamily="18" charset="0"/>
            </a:endParaRPr>
          </a:p>
        </p:txBody>
      </p:sp>
      <p:sp>
        <p:nvSpPr>
          <p:cNvPr id="10" name="Text Placeholder 9">
            <a:extLst>
              <a:ext uri="{FF2B5EF4-FFF2-40B4-BE49-F238E27FC236}">
                <a16:creationId xmlns:a16="http://schemas.microsoft.com/office/drawing/2014/main" id="{2098CFBE-A529-095E-024B-B6B8E91CA515}"/>
              </a:ext>
            </a:extLst>
          </p:cNvPr>
          <p:cNvSpPr>
            <a:spLocks noGrp="1"/>
          </p:cNvSpPr>
          <p:nvPr>
            <p:ph type="body" sz="half" idx="2"/>
          </p:nvPr>
        </p:nvSpPr>
        <p:spPr/>
        <p:txBody>
          <a:bodyPr/>
          <a:lstStyle/>
          <a:p>
            <a:r>
              <a:rPr lang="fr-FR" dirty="0" err="1">
                <a:latin typeface="Times New Roman" panose="02020603050405020304" pitchFamily="18" charset="0"/>
                <a:cs typeface="Times New Roman" panose="02020603050405020304" pitchFamily="18" charset="0"/>
              </a:rPr>
              <a:t>Symmetric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fr-FR" dirty="0">
              <a:latin typeface="Times New Roman" panose="02020603050405020304" pitchFamily="18" charset="0"/>
              <a:cs typeface="Times New Roman" panose="02020603050405020304" pitchFamily="18" charset="0"/>
            </a:endParaRPr>
          </a:p>
          <a:p>
            <a:r>
              <a:rPr lang="fr-FR" dirty="0" err="1">
                <a:latin typeface="Times New Roman" panose="02020603050405020304" pitchFamily="18" charset="0"/>
                <a:cs typeface="Times New Roman" panose="02020603050405020304" pitchFamily="18" charset="0"/>
              </a:rPr>
              <a:t>Asymmetric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fr-FR" dirty="0">
              <a:latin typeface="Times New Roman" panose="02020603050405020304" pitchFamily="18" charset="0"/>
              <a:cs typeface="Times New Roman" panose="02020603050405020304" pitchFamily="18" charset="0"/>
            </a:endParaRPr>
          </a:p>
          <a:p>
            <a:r>
              <a:rPr lang="fr-FR" dirty="0" err="1">
                <a:latin typeface="Times New Roman" panose="02020603050405020304" pitchFamily="18" charset="0"/>
                <a:cs typeface="Times New Roman" panose="02020603050405020304" pitchFamily="18" charset="0"/>
              </a:rPr>
              <a:t>Hashing</a:t>
            </a:r>
            <a:endParaRPr lang="fr-FR" dirty="0">
              <a:latin typeface="Times New Roman" panose="02020603050405020304" pitchFamily="18" charset="0"/>
              <a:cs typeface="Times New Roman" panose="02020603050405020304" pitchFamily="18" charset="0"/>
            </a:endParaRPr>
          </a:p>
          <a:p>
            <a:r>
              <a:rPr lang="fr-FR" b="1" dirty="0">
                <a:latin typeface="Times New Roman" panose="02020603050405020304" pitchFamily="18" charset="0"/>
                <a:cs typeface="Times New Roman" panose="02020603050405020304" pitchFamily="18" charset="0"/>
              </a:rPr>
              <a:t>Digital Signatures</a:t>
            </a:r>
          </a:p>
          <a:p>
            <a:r>
              <a:rPr lang="fr-FR" dirty="0" err="1">
                <a:latin typeface="Times New Roman" panose="02020603050405020304" pitchFamily="18" charset="0"/>
                <a:cs typeface="Times New Roman" panose="02020603050405020304" pitchFamily="18" charset="0"/>
              </a:rPr>
              <a:t>Hybrid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en-US" dirty="0">
              <a:latin typeface="Times New Roman" panose="02020603050405020304" pitchFamily="18" charset="0"/>
              <a:cs typeface="Times New Roman" panose="02020603050405020304" pitchFamily="18" charset="0"/>
            </a:endParaRPr>
          </a:p>
        </p:txBody>
      </p:sp>
      <p:sp>
        <p:nvSpPr>
          <p:cNvPr id="3" name="Arrow: Right 2">
            <a:extLst>
              <a:ext uri="{FF2B5EF4-FFF2-40B4-BE49-F238E27FC236}">
                <a16:creationId xmlns:a16="http://schemas.microsoft.com/office/drawing/2014/main" id="{C6CC5E27-C16F-A62E-C732-464D20202722}"/>
              </a:ext>
            </a:extLst>
          </p:cNvPr>
          <p:cNvSpPr/>
          <p:nvPr/>
        </p:nvSpPr>
        <p:spPr>
          <a:xfrm>
            <a:off x="3790156" y="3284984"/>
            <a:ext cx="1008112"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5" name="TextBox 4">
            <a:extLst>
              <a:ext uri="{FF2B5EF4-FFF2-40B4-BE49-F238E27FC236}">
                <a16:creationId xmlns:a16="http://schemas.microsoft.com/office/drawing/2014/main" id="{0AF21725-533D-36AF-0991-59726F0B4C60}"/>
              </a:ext>
            </a:extLst>
          </p:cNvPr>
          <p:cNvSpPr txBox="1"/>
          <p:nvPr/>
        </p:nvSpPr>
        <p:spPr>
          <a:xfrm>
            <a:off x="4942284" y="692696"/>
            <a:ext cx="6873258" cy="230832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A digital signature is a cryptographic mechanism that provides authentication, integrity, and non-repudiation for digital data.</a:t>
            </a:r>
          </a:p>
          <a:p>
            <a:pPr algn="just"/>
            <a:r>
              <a:rPr lang="en-US" dirty="0">
                <a:latin typeface="Times New Roman" panose="02020603050405020304" pitchFamily="18" charset="0"/>
                <a:cs typeface="Times New Roman" panose="02020603050405020304" pitchFamily="18" charset="0"/>
              </a:rPr>
              <a:t>It works like an electronic version of a handwritten signature ensuring that: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message really came from the claimed sender (</a:t>
            </a:r>
            <a:r>
              <a:rPr lang="en-US" i="1" dirty="0">
                <a:latin typeface="Times New Roman" panose="02020603050405020304" pitchFamily="18" charset="0"/>
                <a:cs typeface="Times New Roman" panose="02020603050405020304" pitchFamily="18" charset="0"/>
              </a:rPr>
              <a:t>authentication</a:t>
            </a:r>
            <a:r>
              <a:rPr lang="en-US"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message has not been altered (</a:t>
            </a:r>
            <a:r>
              <a:rPr lang="en-US" i="1" dirty="0">
                <a:latin typeface="Times New Roman" panose="02020603050405020304" pitchFamily="18" charset="0"/>
                <a:cs typeface="Times New Roman" panose="02020603050405020304" pitchFamily="18" charset="0"/>
              </a:rPr>
              <a:t>integrity</a:t>
            </a:r>
            <a:r>
              <a:rPr lang="en-US" dirty="0">
                <a:latin typeface="Times New Roman" panose="02020603050405020304" pitchFamily="18" charset="0"/>
                <a:cs typeface="Times New Roman" panose="02020603050405020304" pitchFamily="18" charset="0"/>
              </a:rPr>
              <a:t>), and</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sender cannot deny having sent it (</a:t>
            </a:r>
            <a:r>
              <a:rPr lang="en-US" i="1" dirty="0">
                <a:latin typeface="Times New Roman" panose="02020603050405020304" pitchFamily="18" charset="0"/>
                <a:cs typeface="Times New Roman" panose="02020603050405020304" pitchFamily="18" charset="0"/>
              </a:rPr>
              <a:t>non-repudiation</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Digital signatures are based on asymmetric cryptography and hashing.</a:t>
            </a:r>
          </a:p>
        </p:txBody>
      </p:sp>
      <p:pic>
        <p:nvPicPr>
          <p:cNvPr id="6146" name="Picture 2" descr="Digital Signatures and Certificates - GeeksforGeeks">
            <a:extLst>
              <a:ext uri="{FF2B5EF4-FFF2-40B4-BE49-F238E27FC236}">
                <a16:creationId xmlns:a16="http://schemas.microsoft.com/office/drawing/2014/main" id="{F9768A5A-1875-FA5B-1478-A9E98DD889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6342" y="3278088"/>
            <a:ext cx="6591584" cy="3031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111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32DB6-C942-BB60-EF45-3186B5B0B64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4599CCA-F7D8-5B16-4B93-BEFE3798DB50}"/>
              </a:ext>
            </a:extLst>
          </p:cNvPr>
          <p:cNvSpPr txBox="1"/>
          <p:nvPr/>
        </p:nvSpPr>
        <p:spPr>
          <a:xfrm>
            <a:off x="1197868" y="188640"/>
            <a:ext cx="9361040" cy="1200329"/>
          </a:xfrm>
          <a:prstGeom prst="rect">
            <a:avLst/>
          </a:prstGeom>
          <a:noFill/>
        </p:spPr>
        <p:txBody>
          <a:bodyPr wrap="square">
            <a:spAutoFit/>
          </a:bodyPr>
          <a:lstStyle/>
          <a:p>
            <a:pPr algn="ctr"/>
            <a:r>
              <a:rPr lang="fr-FR" sz="3600" dirty="0">
                <a:solidFill>
                  <a:schemeClr val="tx1">
                    <a:lumMod val="75000"/>
                  </a:schemeClr>
                </a:solidFill>
                <a:latin typeface="Times New Roman" panose="02020603050405020304" pitchFamily="18" charset="0"/>
                <a:ea typeface="+mj-ea"/>
                <a:cs typeface="Times New Roman" panose="02020603050405020304" pitchFamily="18" charset="0"/>
              </a:rPr>
              <a:t>Digital Signature Step by Step</a:t>
            </a:r>
            <a:endParaRPr lang="en-US" sz="3600" dirty="0">
              <a:solidFill>
                <a:schemeClr val="tx1">
                  <a:lumMod val="75000"/>
                </a:schemeClr>
              </a:solidFill>
              <a:latin typeface="Times New Roman" panose="02020603050405020304" pitchFamily="18" charset="0"/>
              <a:ea typeface="+mj-ea"/>
              <a:cs typeface="Times New Roman" panose="02020603050405020304" pitchFamily="18" charset="0"/>
            </a:endParaRPr>
          </a:p>
          <a:p>
            <a:pPr algn="ctr"/>
            <a:endParaRPr lang="en-US" sz="3600" dirty="0">
              <a:solidFill>
                <a:schemeClr val="tx1">
                  <a:lumMod val="75000"/>
                </a:schemeClr>
              </a:solidFill>
              <a:latin typeface="Times New Roman" panose="02020603050405020304" pitchFamily="18" charset="0"/>
              <a:ea typeface="+mj-ea"/>
              <a:cs typeface="Times New Roman" panose="02020603050405020304" pitchFamily="18" charset="0"/>
            </a:endParaRPr>
          </a:p>
        </p:txBody>
      </p:sp>
      <p:sp>
        <p:nvSpPr>
          <p:cNvPr id="3" name="TextBox 2">
            <a:extLst>
              <a:ext uri="{FF2B5EF4-FFF2-40B4-BE49-F238E27FC236}">
                <a16:creationId xmlns:a16="http://schemas.microsoft.com/office/drawing/2014/main" id="{D14AEC67-C011-B419-536A-410BE41CDA05}"/>
              </a:ext>
            </a:extLst>
          </p:cNvPr>
          <p:cNvSpPr txBox="1"/>
          <p:nvPr/>
        </p:nvSpPr>
        <p:spPr>
          <a:xfrm>
            <a:off x="1629916" y="836712"/>
            <a:ext cx="8640959" cy="3416320"/>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Signing Process (Sender’s Side)</a:t>
            </a:r>
          </a:p>
          <a:p>
            <a:pPr algn="just">
              <a:buFont typeface="+mj-lt"/>
              <a:buAutoNum type="arabicPeriod"/>
            </a:pPr>
            <a:r>
              <a:rPr lang="en-US" dirty="0">
                <a:latin typeface="Times New Roman" panose="02020603050405020304" pitchFamily="18" charset="0"/>
                <a:cs typeface="Times New Roman" panose="02020603050405020304" pitchFamily="18" charset="0"/>
              </a:rPr>
              <a:t>The sender computes a </a:t>
            </a:r>
            <a:r>
              <a:rPr lang="en-US" b="1" dirty="0">
                <a:latin typeface="Times New Roman" panose="02020603050405020304" pitchFamily="18" charset="0"/>
                <a:cs typeface="Times New Roman" panose="02020603050405020304" pitchFamily="18" charset="0"/>
              </a:rPr>
              <a:t>hash</a:t>
            </a:r>
            <a:r>
              <a:rPr lang="en-US" dirty="0">
                <a:latin typeface="Times New Roman" panose="02020603050405020304" pitchFamily="18" charset="0"/>
                <a:cs typeface="Times New Roman" panose="02020603050405020304" pitchFamily="18" charset="0"/>
              </a:rPr>
              <a:t> of the message (e.g., SHA-256).</a:t>
            </a:r>
          </a:p>
          <a:p>
            <a:pPr algn="just">
              <a:buFont typeface="+mj-lt"/>
              <a:buAutoNum type="arabicPeriod"/>
            </a:pPr>
            <a:r>
              <a:rPr lang="en-US" dirty="0">
                <a:latin typeface="Times New Roman" panose="02020603050405020304" pitchFamily="18" charset="0"/>
                <a:cs typeface="Times New Roman" panose="02020603050405020304" pitchFamily="18" charset="0"/>
              </a:rPr>
              <a:t>The hash (not the message itself) is </a:t>
            </a:r>
            <a:r>
              <a:rPr lang="en-US" b="1" dirty="0">
                <a:latin typeface="Times New Roman" panose="02020603050405020304" pitchFamily="18" charset="0"/>
                <a:cs typeface="Times New Roman" panose="02020603050405020304" pitchFamily="18" charset="0"/>
              </a:rPr>
              <a:t>encrypted using the sender’s private key</a:t>
            </a:r>
            <a:r>
              <a:rPr lang="en-US" dirty="0">
                <a:latin typeface="Times New Roman" panose="02020603050405020304" pitchFamily="18" charset="0"/>
                <a:cs typeface="Times New Roman" panose="02020603050405020304" pitchFamily="18" charset="0"/>
              </a:rPr>
              <a:t>.</a:t>
            </a:r>
          </a:p>
          <a:p>
            <a:pPr algn="just">
              <a:buFont typeface="+mj-lt"/>
              <a:buAutoNum type="arabicPeriod"/>
            </a:pPr>
            <a:r>
              <a:rPr lang="en-US" dirty="0">
                <a:latin typeface="Times New Roman" panose="02020603050405020304" pitchFamily="18" charset="0"/>
                <a:cs typeface="Times New Roman" panose="02020603050405020304" pitchFamily="18" charset="0"/>
              </a:rPr>
              <a:t>This encrypted hash is the </a:t>
            </a:r>
            <a:r>
              <a:rPr lang="en-US" b="1" dirty="0">
                <a:latin typeface="Times New Roman" panose="02020603050405020304" pitchFamily="18" charset="0"/>
                <a:cs typeface="Times New Roman" panose="02020603050405020304" pitchFamily="18" charset="0"/>
              </a:rPr>
              <a:t>digital signature</a:t>
            </a:r>
            <a:r>
              <a:rPr lang="en-US" dirty="0">
                <a:latin typeface="Times New Roman" panose="02020603050405020304" pitchFamily="18" charset="0"/>
                <a:cs typeface="Times New Roman" panose="02020603050405020304" pitchFamily="18" charset="0"/>
              </a:rPr>
              <a:t>.</a:t>
            </a:r>
          </a:p>
          <a:p>
            <a:pPr algn="just">
              <a:buFont typeface="+mj-lt"/>
              <a:buAutoNum type="arabicPeriod"/>
            </a:pPr>
            <a:r>
              <a:rPr lang="en-US" dirty="0">
                <a:latin typeface="Times New Roman" panose="02020603050405020304" pitchFamily="18" charset="0"/>
                <a:cs typeface="Times New Roman" panose="02020603050405020304" pitchFamily="18" charset="0"/>
              </a:rPr>
              <a:t>The signature is sent along with the message.</a:t>
            </a:r>
          </a:p>
          <a:p>
            <a:pPr algn="just">
              <a:buNone/>
            </a:pPr>
            <a:r>
              <a:rPr lang="en-US" b="1" dirty="0">
                <a:latin typeface="Times New Roman" panose="02020603050405020304" pitchFamily="18" charset="0"/>
                <a:cs typeface="Times New Roman" panose="02020603050405020304" pitchFamily="18" charset="0"/>
              </a:rPr>
              <a:t>2. Verification Process (Receiver’s Side)</a:t>
            </a:r>
          </a:p>
          <a:p>
            <a:pPr algn="just">
              <a:buFont typeface="+mj-lt"/>
              <a:buAutoNum type="arabicPeriod"/>
            </a:pPr>
            <a:r>
              <a:rPr lang="en-US" dirty="0">
                <a:latin typeface="Times New Roman" panose="02020603050405020304" pitchFamily="18" charset="0"/>
                <a:cs typeface="Times New Roman" panose="02020603050405020304" pitchFamily="18" charset="0"/>
              </a:rPr>
              <a:t>The receiver computes a </a:t>
            </a:r>
            <a:r>
              <a:rPr lang="en-US" b="1" dirty="0">
                <a:latin typeface="Times New Roman" panose="02020603050405020304" pitchFamily="18" charset="0"/>
                <a:cs typeface="Times New Roman" panose="02020603050405020304" pitchFamily="18" charset="0"/>
              </a:rPr>
              <a:t>hash</a:t>
            </a:r>
            <a:r>
              <a:rPr lang="en-US" dirty="0">
                <a:latin typeface="Times New Roman" panose="02020603050405020304" pitchFamily="18" charset="0"/>
                <a:cs typeface="Times New Roman" panose="02020603050405020304" pitchFamily="18" charset="0"/>
              </a:rPr>
              <a:t> of the received message.</a:t>
            </a:r>
          </a:p>
          <a:p>
            <a:pPr algn="just">
              <a:buFont typeface="+mj-lt"/>
              <a:buAutoNum type="arabicPeriod"/>
            </a:pPr>
            <a:r>
              <a:rPr lang="en-US" dirty="0">
                <a:latin typeface="Times New Roman" panose="02020603050405020304" pitchFamily="18" charset="0"/>
                <a:cs typeface="Times New Roman" panose="02020603050405020304" pitchFamily="18" charset="0"/>
              </a:rPr>
              <a:t>The receiver </a:t>
            </a:r>
            <a:r>
              <a:rPr lang="en-US" b="1" dirty="0">
                <a:latin typeface="Times New Roman" panose="02020603050405020304" pitchFamily="18" charset="0"/>
                <a:cs typeface="Times New Roman" panose="02020603050405020304" pitchFamily="18" charset="0"/>
              </a:rPr>
              <a:t>decrypts the digital signature</a:t>
            </a:r>
            <a:r>
              <a:rPr lang="en-US" dirty="0">
                <a:latin typeface="Times New Roman" panose="02020603050405020304" pitchFamily="18" charset="0"/>
                <a:cs typeface="Times New Roman" panose="02020603050405020304" pitchFamily="18" charset="0"/>
              </a:rPr>
              <a:t> using the sender’s </a:t>
            </a:r>
            <a:r>
              <a:rPr lang="en-US" b="1" dirty="0">
                <a:latin typeface="Times New Roman" panose="02020603050405020304" pitchFamily="18" charset="0"/>
                <a:cs typeface="Times New Roman" panose="02020603050405020304" pitchFamily="18" charset="0"/>
              </a:rPr>
              <a:t>public key</a:t>
            </a:r>
            <a:r>
              <a:rPr lang="en-US" dirty="0">
                <a:latin typeface="Times New Roman" panose="02020603050405020304" pitchFamily="18" charset="0"/>
                <a:cs typeface="Times New Roman" panose="02020603050405020304" pitchFamily="18" charset="0"/>
              </a:rPr>
              <a:t>, obtaining the sender’s original hash.</a:t>
            </a:r>
          </a:p>
          <a:p>
            <a:pPr algn="just">
              <a:buFont typeface="+mj-lt"/>
              <a:buAutoNum type="arabicPeriod"/>
            </a:pPr>
            <a:r>
              <a:rPr lang="en-US" dirty="0">
                <a:latin typeface="Times New Roman" panose="02020603050405020304" pitchFamily="18" charset="0"/>
                <a:cs typeface="Times New Roman" panose="02020603050405020304" pitchFamily="18" charset="0"/>
              </a:rPr>
              <a:t>The receiver </a:t>
            </a:r>
            <a:r>
              <a:rPr lang="en-US" b="1" dirty="0">
                <a:latin typeface="Times New Roman" panose="02020603050405020304" pitchFamily="18" charset="0"/>
                <a:cs typeface="Times New Roman" panose="02020603050405020304" pitchFamily="18" charset="0"/>
              </a:rPr>
              <a:t>compares</a:t>
            </a:r>
            <a:r>
              <a:rPr lang="en-US" dirty="0">
                <a:latin typeface="Times New Roman" panose="02020603050405020304" pitchFamily="18" charset="0"/>
                <a:cs typeface="Times New Roman" panose="02020603050405020304" pitchFamily="18" charset="0"/>
              </a:rPr>
              <a:t> the two hashes:</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If they match → The message is authentic and unchanged.</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If they differ → The message was altered or not from the claimed sender.</a:t>
            </a:r>
          </a:p>
        </p:txBody>
      </p:sp>
      <p:pic>
        <p:nvPicPr>
          <p:cNvPr id="10242" name="Picture 2" descr="Digital Signatures and Certificates - GeeksforGeeks">
            <a:extLst>
              <a:ext uri="{FF2B5EF4-FFF2-40B4-BE49-F238E27FC236}">
                <a16:creationId xmlns:a16="http://schemas.microsoft.com/office/drawing/2014/main" id="{1088D67D-AAE5-7AFA-86BC-A3B231213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092" y="4253032"/>
            <a:ext cx="5344691" cy="2457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757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ACB0-A016-8EAA-24C4-203163A44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B33E9-1725-07E2-DD78-46583DD0253A}"/>
              </a:ext>
            </a:extLst>
          </p:cNvPr>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Cryptographic</a:t>
            </a:r>
            <a:r>
              <a:rPr lang="fr-FR" dirty="0">
                <a:latin typeface="Times New Roman" panose="02020603050405020304" pitchFamily="18" charset="0"/>
                <a:cs typeface="Times New Roman" panose="02020603050405020304" pitchFamily="18" charset="0"/>
              </a:rPr>
              <a:t> Techniques</a:t>
            </a:r>
            <a:endParaRPr lang="en-US" dirty="0">
              <a:latin typeface="Times New Roman" panose="02020603050405020304" pitchFamily="18" charset="0"/>
              <a:cs typeface="Times New Roman" panose="02020603050405020304" pitchFamily="18" charset="0"/>
            </a:endParaRPr>
          </a:p>
        </p:txBody>
      </p:sp>
      <p:sp>
        <p:nvSpPr>
          <p:cNvPr id="10" name="Text Placeholder 9">
            <a:extLst>
              <a:ext uri="{FF2B5EF4-FFF2-40B4-BE49-F238E27FC236}">
                <a16:creationId xmlns:a16="http://schemas.microsoft.com/office/drawing/2014/main" id="{21A8B256-A1CB-7177-C39B-B19CB7CF6447}"/>
              </a:ext>
            </a:extLst>
          </p:cNvPr>
          <p:cNvSpPr>
            <a:spLocks noGrp="1"/>
          </p:cNvSpPr>
          <p:nvPr>
            <p:ph type="body" sz="half" idx="2"/>
          </p:nvPr>
        </p:nvSpPr>
        <p:spPr/>
        <p:txBody>
          <a:bodyPr/>
          <a:lstStyle/>
          <a:p>
            <a:r>
              <a:rPr lang="fr-FR" dirty="0" err="1">
                <a:latin typeface="Times New Roman" panose="02020603050405020304" pitchFamily="18" charset="0"/>
                <a:cs typeface="Times New Roman" panose="02020603050405020304" pitchFamily="18" charset="0"/>
              </a:rPr>
              <a:t>Symmetric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fr-FR" dirty="0">
              <a:latin typeface="Times New Roman" panose="02020603050405020304" pitchFamily="18" charset="0"/>
              <a:cs typeface="Times New Roman" panose="02020603050405020304" pitchFamily="18" charset="0"/>
            </a:endParaRPr>
          </a:p>
          <a:p>
            <a:r>
              <a:rPr lang="fr-FR" dirty="0" err="1">
                <a:latin typeface="Times New Roman" panose="02020603050405020304" pitchFamily="18" charset="0"/>
                <a:cs typeface="Times New Roman" panose="02020603050405020304" pitchFamily="18" charset="0"/>
              </a:rPr>
              <a:t>Asymmetric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Encryption</a:t>
            </a:r>
            <a:endParaRPr lang="fr-FR" dirty="0">
              <a:latin typeface="Times New Roman" panose="02020603050405020304" pitchFamily="18" charset="0"/>
              <a:cs typeface="Times New Roman" panose="02020603050405020304" pitchFamily="18" charset="0"/>
            </a:endParaRPr>
          </a:p>
          <a:p>
            <a:r>
              <a:rPr lang="fr-FR" dirty="0" err="1">
                <a:latin typeface="Times New Roman" panose="02020603050405020304" pitchFamily="18" charset="0"/>
                <a:cs typeface="Times New Roman" panose="02020603050405020304" pitchFamily="18" charset="0"/>
              </a:rPr>
              <a:t>Hashing</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Digital Signatures</a:t>
            </a:r>
          </a:p>
          <a:p>
            <a:r>
              <a:rPr lang="fr-FR" b="1" dirty="0" err="1">
                <a:latin typeface="Times New Roman" panose="02020603050405020304" pitchFamily="18" charset="0"/>
                <a:cs typeface="Times New Roman" panose="02020603050405020304" pitchFamily="18" charset="0"/>
              </a:rPr>
              <a:t>Hybrid</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Encryption</a:t>
            </a:r>
            <a:endParaRPr lang="en-US" b="1" dirty="0">
              <a:latin typeface="Times New Roman" panose="02020603050405020304" pitchFamily="18" charset="0"/>
              <a:cs typeface="Times New Roman" panose="02020603050405020304" pitchFamily="18" charset="0"/>
            </a:endParaRPr>
          </a:p>
        </p:txBody>
      </p:sp>
      <p:sp>
        <p:nvSpPr>
          <p:cNvPr id="3" name="Arrow: Right 2">
            <a:extLst>
              <a:ext uri="{FF2B5EF4-FFF2-40B4-BE49-F238E27FC236}">
                <a16:creationId xmlns:a16="http://schemas.microsoft.com/office/drawing/2014/main" id="{A999FF91-5BCB-DF59-9137-02B3CB56C590}"/>
              </a:ext>
            </a:extLst>
          </p:cNvPr>
          <p:cNvSpPr/>
          <p:nvPr/>
        </p:nvSpPr>
        <p:spPr>
          <a:xfrm>
            <a:off x="3790156" y="3717032"/>
            <a:ext cx="1008112"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5" name="TextBox 4">
            <a:extLst>
              <a:ext uri="{FF2B5EF4-FFF2-40B4-BE49-F238E27FC236}">
                <a16:creationId xmlns:a16="http://schemas.microsoft.com/office/drawing/2014/main" id="{E17C5E24-AF04-DAA4-767D-62C3122B602A}"/>
              </a:ext>
            </a:extLst>
          </p:cNvPr>
          <p:cNvSpPr txBox="1"/>
          <p:nvPr/>
        </p:nvSpPr>
        <p:spPr>
          <a:xfrm>
            <a:off x="5014293" y="583520"/>
            <a:ext cx="6720746" cy="120032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Hybrid encryption is a cryptographic approach that combines symmetric and asymmetric encryption to take advantage of the strengths of both techniques, the speed and efficiency of symmetric encryption and the secure key exchange of asymmetric encryption.</a:t>
            </a:r>
            <a:endParaRPr lang="fr-DZ" dirty="0">
              <a:latin typeface="Times New Roman" panose="02020603050405020304" pitchFamily="18" charset="0"/>
              <a:cs typeface="Times New Roman" panose="02020603050405020304" pitchFamily="18" charset="0"/>
            </a:endParaRPr>
          </a:p>
        </p:txBody>
      </p:sp>
      <p:pic>
        <p:nvPicPr>
          <p:cNvPr id="5122" name="Picture 2" descr="Hybrid encryption in python. Asymmetric encryption VS Symmetric… | by Igor  Filatov | Medium">
            <a:extLst>
              <a:ext uri="{FF2B5EF4-FFF2-40B4-BE49-F238E27FC236}">
                <a16:creationId xmlns:a16="http://schemas.microsoft.com/office/drawing/2014/main" id="{9D411B00-CDFF-5C7F-1430-8C5C0C9DF0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4292" y="2276872"/>
            <a:ext cx="6720747"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08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071B-C30E-C8CF-F242-75E6E9A7AB6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E3F3BCA-7EB5-87F0-FCAD-CB5A953F1D75}"/>
              </a:ext>
            </a:extLst>
          </p:cNvPr>
          <p:cNvSpPr txBox="1"/>
          <p:nvPr/>
        </p:nvSpPr>
        <p:spPr>
          <a:xfrm>
            <a:off x="1197868" y="284455"/>
            <a:ext cx="9361040" cy="1200329"/>
          </a:xfrm>
          <a:prstGeom prst="rect">
            <a:avLst/>
          </a:prstGeom>
          <a:noFill/>
        </p:spPr>
        <p:txBody>
          <a:bodyPr wrap="square">
            <a:spAutoFit/>
          </a:bodyPr>
          <a:lstStyle/>
          <a:p>
            <a:pPr algn="ctr"/>
            <a:r>
              <a:rPr lang="fr-FR" sz="3600" b="1" dirty="0" err="1">
                <a:solidFill>
                  <a:schemeClr val="tx1">
                    <a:lumMod val="75000"/>
                  </a:schemeClr>
                </a:solidFill>
                <a:latin typeface="Times New Roman" panose="02020603050405020304" pitchFamily="18" charset="0"/>
                <a:ea typeface="+mj-ea"/>
                <a:cs typeface="Times New Roman" panose="02020603050405020304" pitchFamily="18" charset="0"/>
              </a:rPr>
              <a:t>Hybrid</a:t>
            </a:r>
            <a:r>
              <a:rPr lang="fr-FR" sz="3600" b="1" dirty="0">
                <a:solidFill>
                  <a:schemeClr val="tx1">
                    <a:lumMod val="75000"/>
                  </a:schemeClr>
                </a:solidFill>
                <a:latin typeface="Times New Roman" panose="02020603050405020304" pitchFamily="18" charset="0"/>
                <a:ea typeface="+mj-ea"/>
                <a:cs typeface="Times New Roman" panose="02020603050405020304" pitchFamily="18" charset="0"/>
              </a:rPr>
              <a:t> </a:t>
            </a:r>
            <a:r>
              <a:rPr lang="fr-FR" sz="3600" b="1" dirty="0" err="1">
                <a:solidFill>
                  <a:schemeClr val="tx1">
                    <a:lumMod val="75000"/>
                  </a:schemeClr>
                </a:solidFill>
                <a:latin typeface="Times New Roman" panose="02020603050405020304" pitchFamily="18" charset="0"/>
                <a:ea typeface="+mj-ea"/>
                <a:cs typeface="Times New Roman" panose="02020603050405020304" pitchFamily="18" charset="0"/>
              </a:rPr>
              <a:t>Encryption</a:t>
            </a:r>
            <a:r>
              <a:rPr lang="fr-FR" sz="3600" b="1" dirty="0">
                <a:solidFill>
                  <a:schemeClr val="tx1">
                    <a:lumMod val="75000"/>
                  </a:schemeClr>
                </a:solidFill>
                <a:latin typeface="Times New Roman" panose="02020603050405020304" pitchFamily="18" charset="0"/>
                <a:ea typeface="+mj-ea"/>
                <a:cs typeface="Times New Roman" panose="02020603050405020304" pitchFamily="18" charset="0"/>
              </a:rPr>
              <a:t> Step by Step</a:t>
            </a:r>
            <a:endParaRPr lang="en-US" sz="3600" b="1" dirty="0">
              <a:solidFill>
                <a:schemeClr val="tx1">
                  <a:lumMod val="75000"/>
                </a:schemeClr>
              </a:solidFill>
              <a:latin typeface="Times New Roman" panose="02020603050405020304" pitchFamily="18" charset="0"/>
              <a:ea typeface="+mj-ea"/>
              <a:cs typeface="Times New Roman" panose="02020603050405020304" pitchFamily="18" charset="0"/>
            </a:endParaRPr>
          </a:p>
          <a:p>
            <a:pPr algn="ctr"/>
            <a:endParaRPr lang="en-US" sz="3600" b="1" dirty="0">
              <a:solidFill>
                <a:schemeClr val="tx1">
                  <a:lumMod val="75000"/>
                </a:schemeClr>
              </a:solidFill>
              <a:latin typeface="Times New Roman" panose="02020603050405020304" pitchFamily="18" charset="0"/>
              <a:ea typeface="+mj-ea"/>
              <a:cs typeface="Times New Roman" panose="02020603050405020304" pitchFamily="18" charset="0"/>
            </a:endParaRPr>
          </a:p>
        </p:txBody>
      </p:sp>
      <p:sp>
        <p:nvSpPr>
          <p:cNvPr id="6" name="TextBox 5">
            <a:extLst>
              <a:ext uri="{FF2B5EF4-FFF2-40B4-BE49-F238E27FC236}">
                <a16:creationId xmlns:a16="http://schemas.microsoft.com/office/drawing/2014/main" id="{199250C9-8C01-15B5-19A2-33EB14FA4A98}"/>
              </a:ext>
            </a:extLst>
          </p:cNvPr>
          <p:cNvSpPr txBox="1"/>
          <p:nvPr/>
        </p:nvSpPr>
        <p:spPr>
          <a:xfrm>
            <a:off x="1197868" y="1037049"/>
            <a:ext cx="9721080" cy="5355312"/>
          </a:xfrm>
          <a:prstGeom prst="rect">
            <a:avLst/>
          </a:prstGeom>
          <a:noFill/>
        </p:spPr>
        <p:txBody>
          <a:bodyPr wrap="square">
            <a:spAutoFit/>
          </a:bodyPr>
          <a:lstStyle/>
          <a:p>
            <a:pPr algn="just">
              <a:buFont typeface="+mj-lt"/>
              <a:buAutoNum type="arabicPeriod"/>
            </a:pPr>
            <a:r>
              <a:rPr lang="en-US" b="1" dirty="0">
                <a:latin typeface="Times New Roman" panose="02020603050405020304" pitchFamily="18" charset="0"/>
                <a:cs typeface="Times New Roman" panose="02020603050405020304" pitchFamily="18" charset="0"/>
              </a:rPr>
              <a:t>Key Generation:</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The sender generates a random symmetric key (also called a </a:t>
            </a:r>
            <a:r>
              <a:rPr lang="en-US" i="1" dirty="0">
                <a:latin typeface="Times New Roman" panose="02020603050405020304" pitchFamily="18" charset="0"/>
                <a:cs typeface="Times New Roman" panose="02020603050405020304" pitchFamily="18" charset="0"/>
              </a:rPr>
              <a:t>session key</a:t>
            </a:r>
            <a:r>
              <a:rPr lang="en-US" dirty="0">
                <a:latin typeface="Times New Roman" panose="02020603050405020304" pitchFamily="18" charset="0"/>
                <a:cs typeface="Times New Roman" panose="02020603050405020304" pitchFamily="18" charset="0"/>
              </a:rPr>
              <a:t>).</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This key will be used to encrypt the actual data using a fast symmetric algorithm (e.g., AES).</a:t>
            </a:r>
          </a:p>
          <a:p>
            <a:pPr algn="just">
              <a:buFont typeface="+mj-lt"/>
              <a:buAutoNum type="arabicPeriod"/>
            </a:pPr>
            <a:r>
              <a:rPr lang="en-US" b="1" dirty="0">
                <a:latin typeface="Times New Roman" panose="02020603050405020304" pitchFamily="18" charset="0"/>
                <a:cs typeface="Times New Roman" panose="02020603050405020304" pitchFamily="18" charset="0"/>
              </a:rPr>
              <a:t>Data Encryption:</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The plaintext data (file, message, etc.) is encrypted with the symmetric key, producing ciphertext.</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This ensures fast and efficient data encryption, even for large files.</a:t>
            </a:r>
          </a:p>
          <a:p>
            <a:pPr algn="just">
              <a:buFont typeface="+mj-lt"/>
              <a:buAutoNum type="arabicPeriod"/>
            </a:pPr>
            <a:r>
              <a:rPr lang="en-US" b="1" dirty="0">
                <a:latin typeface="Times New Roman" panose="02020603050405020304" pitchFamily="18" charset="0"/>
                <a:cs typeface="Times New Roman" panose="02020603050405020304" pitchFamily="18" charset="0"/>
              </a:rPr>
              <a:t>Key Encryption:</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The symmetric key itself is then encrypted using the receiver’s public key (asymmetric encryption, e.g., RSA).</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Only the receiver can decrypt this key using their private key, ensuring secure key exchange.</a:t>
            </a:r>
          </a:p>
          <a:p>
            <a:pPr algn="just">
              <a:buFont typeface="+mj-lt"/>
              <a:buAutoNum type="arabicPeriod"/>
            </a:pPr>
            <a:r>
              <a:rPr lang="en-US" b="1" dirty="0">
                <a:latin typeface="Times New Roman" panose="02020603050405020304" pitchFamily="18" charset="0"/>
                <a:cs typeface="Times New Roman" panose="02020603050405020304" pitchFamily="18" charset="0"/>
              </a:rPr>
              <a:t>Transmission:</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The sender transmits both:</a:t>
            </a:r>
          </a:p>
          <a:p>
            <a:pPr marL="1143000" lvl="2" indent="-228600" algn="just">
              <a:buFont typeface="+mj-lt"/>
              <a:buAutoNum type="arabicPeriod"/>
            </a:pPr>
            <a:r>
              <a:rPr lang="en-US" dirty="0">
                <a:latin typeface="Times New Roman" panose="02020603050405020304" pitchFamily="18" charset="0"/>
                <a:cs typeface="Times New Roman" panose="02020603050405020304" pitchFamily="18" charset="0"/>
              </a:rPr>
              <a:t>The encrypted symmetric key, and</a:t>
            </a:r>
          </a:p>
          <a:p>
            <a:pPr marL="1143000" lvl="2" indent="-228600" algn="just">
              <a:buFont typeface="+mj-lt"/>
              <a:buAutoNum type="arabicPeriod"/>
            </a:pPr>
            <a:r>
              <a:rPr lang="en-US" dirty="0">
                <a:latin typeface="Times New Roman" panose="02020603050405020304" pitchFamily="18" charset="0"/>
                <a:cs typeface="Times New Roman" panose="02020603050405020304" pitchFamily="18" charset="0"/>
              </a:rPr>
              <a:t>The encrypted data (ciphertext)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the receiver.</a:t>
            </a:r>
          </a:p>
          <a:p>
            <a:pPr algn="just">
              <a:buFont typeface="+mj-lt"/>
              <a:buAutoNum type="arabicPeriod"/>
            </a:pPr>
            <a:r>
              <a:rPr lang="en-US" b="1" dirty="0">
                <a:latin typeface="Times New Roman" panose="02020603050405020304" pitchFamily="18" charset="0"/>
                <a:cs typeface="Times New Roman" panose="02020603050405020304" pitchFamily="18" charset="0"/>
              </a:rPr>
              <a:t>Decryption (Receiver Side):</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The receiver first decrypts the symmetric key using their private key.</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Then, the decrypted symmetric key is used to decrypt the data back into plaintext.</a:t>
            </a:r>
          </a:p>
        </p:txBody>
      </p:sp>
    </p:spTree>
    <p:extLst>
      <p:ext uri="{BB962C8B-B14F-4D97-AF65-F5344CB8AC3E}">
        <p14:creationId xmlns:p14="http://schemas.microsoft.com/office/powerpoint/2010/main" val="3747870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14D740-8598-F210-007C-DC3174DF80C6}"/>
              </a:ext>
            </a:extLst>
          </p:cNvPr>
          <p:cNvSpPr txBox="1"/>
          <p:nvPr/>
        </p:nvSpPr>
        <p:spPr>
          <a:xfrm>
            <a:off x="1485900" y="1628800"/>
            <a:ext cx="9217024" cy="2585323"/>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A firewall is a network security device or software that monitors and controls incoming and outgoing traffic based on predefined security rules.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acts as a barrier between trusted internal networks and untrusted external networks (like the Internet).</a:t>
            </a:r>
          </a:p>
          <a:p>
            <a:pPr>
              <a:buNone/>
            </a:pPr>
            <a:r>
              <a:rPr lang="en-US" dirty="0">
                <a:latin typeface="Times New Roman" panose="02020603050405020304" pitchFamily="18" charset="0"/>
                <a:cs typeface="Times New Roman" panose="02020603050405020304" pitchFamily="18" charset="0"/>
              </a:rPr>
              <a:t>Primary Functionality: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manage traffic flow by permitting or denying packets based on criteria such as IP addresses, port numbers, and transport protocols.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implement security policies that safeguard the network against unauthorized access attempts.</a:t>
            </a:r>
          </a:p>
        </p:txBody>
      </p:sp>
      <p:sp>
        <p:nvSpPr>
          <p:cNvPr id="4" name="TextBox 3">
            <a:extLst>
              <a:ext uri="{FF2B5EF4-FFF2-40B4-BE49-F238E27FC236}">
                <a16:creationId xmlns:a16="http://schemas.microsoft.com/office/drawing/2014/main" id="{146F92C5-B952-4B3A-0DA3-717BB3EC3316}"/>
              </a:ext>
            </a:extLst>
          </p:cNvPr>
          <p:cNvSpPr txBox="1"/>
          <p:nvPr/>
        </p:nvSpPr>
        <p:spPr>
          <a:xfrm>
            <a:off x="1197868" y="550421"/>
            <a:ext cx="9361040" cy="646331"/>
          </a:xfrm>
          <a:prstGeom prst="rect">
            <a:avLst/>
          </a:prstGeom>
          <a:noFill/>
        </p:spPr>
        <p:txBody>
          <a:bodyPr wrap="square">
            <a:spAutoFit/>
          </a:bodyPr>
          <a:lstStyle/>
          <a:p>
            <a:pPr algn="ctr"/>
            <a:r>
              <a:rPr lang="fr-FR" sz="3600" b="1" dirty="0">
                <a:solidFill>
                  <a:schemeClr val="tx1">
                    <a:lumMod val="75000"/>
                  </a:schemeClr>
                </a:solidFill>
                <a:latin typeface="Times New Roman" panose="02020603050405020304" pitchFamily="18" charset="0"/>
                <a:ea typeface="+mj-ea"/>
                <a:cs typeface="Times New Roman" panose="02020603050405020304" pitchFamily="18" charset="0"/>
              </a:rPr>
              <a:t>Firewall and </a:t>
            </a:r>
            <a:r>
              <a:rPr lang="fr-FR" sz="3600" b="1" dirty="0" err="1">
                <a:solidFill>
                  <a:schemeClr val="tx1">
                    <a:lumMod val="75000"/>
                  </a:schemeClr>
                </a:solidFill>
                <a:latin typeface="Times New Roman" panose="02020603050405020304" pitchFamily="18" charset="0"/>
                <a:ea typeface="+mj-ea"/>
                <a:cs typeface="Times New Roman" panose="02020603050405020304" pitchFamily="18" charset="0"/>
              </a:rPr>
              <a:t>its</a:t>
            </a:r>
            <a:r>
              <a:rPr lang="fr-FR" sz="3600" b="1" dirty="0">
                <a:solidFill>
                  <a:schemeClr val="tx1">
                    <a:lumMod val="75000"/>
                  </a:schemeClr>
                </a:solidFill>
                <a:latin typeface="Times New Roman" panose="02020603050405020304" pitchFamily="18" charset="0"/>
                <a:ea typeface="+mj-ea"/>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Functionality</a:t>
            </a:r>
            <a:endParaRPr lang="en-US" sz="3600" b="1" dirty="0">
              <a:solidFill>
                <a:schemeClr val="tx1">
                  <a:lumMod val="75000"/>
                </a:schemeClr>
              </a:solidFill>
              <a:latin typeface="Times New Roman" panose="02020603050405020304" pitchFamily="18" charset="0"/>
              <a:ea typeface="+mj-ea"/>
              <a:cs typeface="Times New Roman" panose="02020603050405020304" pitchFamily="18" charset="0"/>
            </a:endParaRPr>
          </a:p>
        </p:txBody>
      </p:sp>
      <p:pic>
        <p:nvPicPr>
          <p:cNvPr id="1026" name="Picture 2" descr="How Firewalls Work | HowStuffWorks">
            <a:extLst>
              <a:ext uri="{FF2B5EF4-FFF2-40B4-BE49-F238E27FC236}">
                <a16:creationId xmlns:a16="http://schemas.microsoft.com/office/drawing/2014/main" id="{09CF6E02-82B3-E235-F88B-F642EC934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092" y="4293096"/>
            <a:ext cx="5328592" cy="2397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227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60E5-EFD4-3C07-4C4C-9F37DA748ED0}"/>
              </a:ext>
            </a:extLst>
          </p:cNvPr>
          <p:cNvSpPr>
            <a:spLocks noGrp="1"/>
          </p:cNvSpPr>
          <p:nvPr>
            <p:ph type="title"/>
          </p:nvPr>
        </p:nvSpPr>
        <p:spPr>
          <a:xfrm>
            <a:off x="1074240" y="-27384"/>
            <a:ext cx="3293422" cy="1371600"/>
          </a:xfrm>
        </p:spPr>
        <p:txBody>
          <a:bodyPr/>
          <a:lstStyle/>
          <a:p>
            <a:r>
              <a:rPr lang="fr-FR" b="1" dirty="0">
                <a:latin typeface="Times New Roman" panose="02020603050405020304" pitchFamily="18" charset="0"/>
                <a:cs typeface="Times New Roman" panose="02020603050405020304" pitchFamily="18" charset="0"/>
              </a:rPr>
              <a:t>Firewall types</a:t>
            </a:r>
            <a:endParaRPr lang="fr-DZ" b="1"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F397A2E5-827D-118A-568D-59867C56D5F5}"/>
              </a:ext>
            </a:extLst>
          </p:cNvPr>
          <p:cNvSpPr>
            <a:spLocks noGrp="1"/>
          </p:cNvSpPr>
          <p:nvPr>
            <p:ph type="pic" idx="1"/>
          </p:nvPr>
        </p:nvSpPr>
        <p:spPr>
          <a:xfrm>
            <a:off x="5180251" y="404664"/>
            <a:ext cx="6195986" cy="6120680"/>
          </a:xfrm>
        </p:spPr>
      </p:sp>
      <p:sp>
        <p:nvSpPr>
          <p:cNvPr id="4" name="Text Placeholder 3">
            <a:extLst>
              <a:ext uri="{FF2B5EF4-FFF2-40B4-BE49-F238E27FC236}">
                <a16:creationId xmlns:a16="http://schemas.microsoft.com/office/drawing/2014/main" id="{57B431AE-0CFA-FE3A-DF68-DF7C67AB99ED}"/>
              </a:ext>
            </a:extLst>
          </p:cNvPr>
          <p:cNvSpPr>
            <a:spLocks noGrp="1"/>
          </p:cNvSpPr>
          <p:nvPr>
            <p:ph type="body" sz="half" idx="2"/>
          </p:nvPr>
        </p:nvSpPr>
        <p:spPr/>
        <p:txBody>
          <a:bodyPr/>
          <a:lstStyle/>
          <a:p>
            <a:r>
              <a:rPr lang="en-US" b="1" dirty="0">
                <a:latin typeface="Times New Roman" panose="02020603050405020304" pitchFamily="18" charset="0"/>
                <a:cs typeface="Times New Roman" panose="02020603050405020304" pitchFamily="18" charset="0"/>
              </a:rPr>
              <a:t>Packet-Filtering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Stateful Inspection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Application-Level Firewall (Proxy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Next-Generation Firewall (NGFW)</a:t>
            </a:r>
            <a:endParaRPr lang="fr-DZ"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4961DFE-A35F-A049-E20C-779D46ECF96B}"/>
              </a:ext>
            </a:extLst>
          </p:cNvPr>
          <p:cNvSpPr txBox="1"/>
          <p:nvPr/>
        </p:nvSpPr>
        <p:spPr>
          <a:xfrm>
            <a:off x="5302324" y="544026"/>
            <a:ext cx="6073913" cy="590931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It is a basic firewall operates primarily at Layer 3 (Network Layer) of the OSI model, analyzing packet headers to enforce security policies. It focuses on attributes such as source and destination IP addresses, port numbers, and protocol types.</a:t>
            </a:r>
          </a:p>
          <a:p>
            <a:r>
              <a:rPr lang="en-US" dirty="0">
                <a:latin typeface="Times New Roman" panose="02020603050405020304" pitchFamily="18" charset="0"/>
                <a:cs typeface="Times New Roman" panose="02020603050405020304" pitchFamily="18" charset="0"/>
              </a:rPr>
              <a:t>Operational Mechanism: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Upon transmission, each packet undergoes scrutiny against a predefined set of rules encapsulated in an Access Control List (ACL).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a packet adheres to an 'allow' rule, it is permitted to proceed; if not, the packet is discarded.</a:t>
            </a:r>
          </a:p>
          <a:p>
            <a:r>
              <a:rPr lang="en-US" dirty="0">
                <a:latin typeface="Times New Roman" panose="02020603050405020304" pitchFamily="18" charset="0"/>
                <a:cs typeface="Times New Roman" panose="02020603050405020304" pitchFamily="18" charset="0"/>
              </a:rPr>
              <a:t>Benefits: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firewall's simplicity ensures rapid processing.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Its efficiency yields low overhead on system resources.</a:t>
            </a:r>
          </a:p>
          <a:p>
            <a:r>
              <a:rPr lang="en-US" dirty="0">
                <a:latin typeface="Times New Roman" panose="02020603050405020304" pitchFamily="18" charset="0"/>
                <a:cs typeface="Times New Roman" panose="02020603050405020304" pitchFamily="18" charset="0"/>
              </a:rPr>
              <a:t>Limitations: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firewall operates solely on header information, lacking the capacity to perform deep packet inspection.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cannot maintain stateful connection tracking, which poses risks of permitting spoofed or fragmented packets.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 a stateless mechanism, it offers no defense against application-layer threats such as malware or SQL injection attacks.</a:t>
            </a:r>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691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EF68D-B295-751B-8DF4-633F10259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F5A5C-A0EB-1023-BDF9-568286D598C6}"/>
              </a:ext>
            </a:extLst>
          </p:cNvPr>
          <p:cNvSpPr>
            <a:spLocks noGrp="1"/>
          </p:cNvSpPr>
          <p:nvPr>
            <p:ph type="title"/>
          </p:nvPr>
        </p:nvSpPr>
        <p:spPr>
          <a:xfrm>
            <a:off x="1074240" y="-27384"/>
            <a:ext cx="3293422" cy="1371600"/>
          </a:xfrm>
        </p:spPr>
        <p:txBody>
          <a:bodyPr/>
          <a:lstStyle/>
          <a:p>
            <a:r>
              <a:rPr lang="fr-FR" b="1" dirty="0">
                <a:latin typeface="Times New Roman" panose="02020603050405020304" pitchFamily="18" charset="0"/>
                <a:cs typeface="Times New Roman" panose="02020603050405020304" pitchFamily="18" charset="0"/>
              </a:rPr>
              <a:t>Firewall types</a:t>
            </a:r>
            <a:endParaRPr lang="fr-DZ" b="1"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8B5F00DE-A8A3-6DE0-E5D2-0680A3508C14}"/>
              </a:ext>
            </a:extLst>
          </p:cNvPr>
          <p:cNvSpPr>
            <a:spLocks noGrp="1"/>
          </p:cNvSpPr>
          <p:nvPr>
            <p:ph type="pic" idx="1"/>
          </p:nvPr>
        </p:nvSpPr>
        <p:spPr>
          <a:xfrm>
            <a:off x="5180250" y="260648"/>
            <a:ext cx="6458777" cy="6480720"/>
          </a:xfrm>
        </p:spPr>
      </p:sp>
      <p:sp>
        <p:nvSpPr>
          <p:cNvPr id="4" name="Text Placeholder 3">
            <a:extLst>
              <a:ext uri="{FF2B5EF4-FFF2-40B4-BE49-F238E27FC236}">
                <a16:creationId xmlns:a16="http://schemas.microsoft.com/office/drawing/2014/main" id="{DF8B0E9E-C607-070F-F36E-B721520D5B02}"/>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Packet-Filtering Firewall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Stateful Inspection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Application-Level Firewall (Proxy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Next-Generation Firewall (NGFW)</a:t>
            </a:r>
            <a:endParaRPr lang="fr-DZ"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F3C5154-F70D-36E4-5462-0B27730A1149}"/>
              </a:ext>
            </a:extLst>
          </p:cNvPr>
          <p:cNvSpPr txBox="1"/>
          <p:nvPr/>
        </p:nvSpPr>
        <p:spPr>
          <a:xfrm>
            <a:off x="5230316" y="260648"/>
            <a:ext cx="6336703" cy="5909310"/>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Operation Principle</a:t>
            </a:r>
          </a:p>
          <a:p>
            <a:pPr algn="just"/>
            <a:r>
              <a:rPr lang="en-US" dirty="0">
                <a:latin typeface="Times New Roman" panose="02020603050405020304" pitchFamily="18" charset="0"/>
                <a:cs typeface="Times New Roman" panose="02020603050405020304" pitchFamily="18" charset="0"/>
              </a:rPr>
              <a:t>A stateful firewall operates by maintaining a state table to monitor active connections, ensuring that only packets belonging to established sessions are permitted through.</a:t>
            </a:r>
          </a:p>
          <a:p>
            <a:pPr algn="just"/>
            <a:r>
              <a:rPr lang="en-US" b="1" dirty="0">
                <a:latin typeface="Times New Roman" panose="02020603050405020304" pitchFamily="18" charset="0"/>
                <a:cs typeface="Times New Roman" panose="02020603050405020304" pitchFamily="18" charset="0"/>
              </a:rPr>
              <a:t>Mechanism</a:t>
            </a:r>
          </a:p>
          <a:p>
            <a:pPr algn="just"/>
            <a:r>
              <a:rPr lang="en-US" dirty="0">
                <a:latin typeface="Times New Roman" panose="02020603050405020304" pitchFamily="18" charset="0"/>
                <a:cs typeface="Times New Roman" panose="02020603050405020304" pitchFamily="18" charset="0"/>
              </a:rPr>
              <a:t>Upon initiation of a connection, such as a TCP session, the firewall logs critical session parameters, including IP addresses, port numbers, and sequence numbers. It employs this information to verify the legitimacy of incoming packets against known sessions.</a:t>
            </a:r>
          </a:p>
          <a:p>
            <a:pPr algn="just"/>
            <a:r>
              <a:rPr lang="en-US" dirty="0">
                <a:latin typeface="Times New Roman" panose="02020603050405020304" pitchFamily="18" charset="0"/>
                <a:cs typeface="Times New Roman" panose="02020603050405020304" pitchFamily="18" charset="0"/>
              </a:rPr>
              <a:t>This methodology effectively blocks unauthorized packets that attempt to masquerade as legitimate traffic.</a:t>
            </a:r>
          </a:p>
          <a:p>
            <a:pPr algn="just"/>
            <a:r>
              <a:rPr lang="en-US" b="1" dirty="0">
                <a:latin typeface="Times New Roman" panose="02020603050405020304" pitchFamily="18" charset="0"/>
                <a:cs typeface="Times New Roman" panose="02020603050405020304" pitchFamily="18" charset="0"/>
              </a:rPr>
              <a:t>Benefits</a:t>
            </a:r>
          </a:p>
          <a:p>
            <a:pPr algn="just"/>
            <a:r>
              <a:rPr lang="en-US" dirty="0">
                <a:latin typeface="Times New Roman" panose="02020603050405020304" pitchFamily="18" charset="0"/>
                <a:cs typeface="Times New Roman" panose="02020603050405020304" pitchFamily="18" charset="0"/>
              </a:rPr>
              <a:t>Stateful firewalls offer enhanced security over stateless packet filtering mechanisms by providing context for each packet. They are capable of recognizing and intercepting anomalous TCP handshake processes, further strengthening network defenses.</a:t>
            </a:r>
          </a:p>
          <a:p>
            <a:pPr algn="just"/>
            <a:r>
              <a:rPr lang="en-US" b="1" dirty="0">
                <a:latin typeface="Times New Roman" panose="02020603050405020304" pitchFamily="18" charset="0"/>
                <a:cs typeface="Times New Roman" panose="02020603050405020304" pitchFamily="18" charset="0"/>
              </a:rPr>
              <a:t>Limitations</a:t>
            </a:r>
          </a:p>
          <a:p>
            <a:pPr algn="just"/>
            <a:r>
              <a:rPr lang="en-US" dirty="0">
                <a:latin typeface="Times New Roman" panose="02020603050405020304" pitchFamily="18" charset="0"/>
                <a:cs typeface="Times New Roman" panose="02020603050405020304" pitchFamily="18" charset="0"/>
              </a:rPr>
              <a:t>However, they incur slightly increased resource overhead due to the necessity of state tracking. Additionally, stateful firewalls do not offer the capability to inspect application-layer data, which can limit their effectiveness against certain types of threats.</a:t>
            </a:r>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453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AD43A-E504-3EDE-E933-14443BCC1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B1992-B2B5-2868-936E-EEFEAFBDC575}"/>
              </a:ext>
            </a:extLst>
          </p:cNvPr>
          <p:cNvSpPr>
            <a:spLocks noGrp="1"/>
          </p:cNvSpPr>
          <p:nvPr>
            <p:ph type="title"/>
          </p:nvPr>
        </p:nvSpPr>
        <p:spPr>
          <a:xfrm>
            <a:off x="1074240" y="-27384"/>
            <a:ext cx="3293422" cy="1371600"/>
          </a:xfrm>
        </p:spPr>
        <p:txBody>
          <a:bodyPr/>
          <a:lstStyle/>
          <a:p>
            <a:r>
              <a:rPr lang="fr-FR" dirty="0">
                <a:latin typeface="Times New Roman" panose="02020603050405020304" pitchFamily="18" charset="0"/>
                <a:cs typeface="Times New Roman" panose="02020603050405020304" pitchFamily="18" charset="0"/>
              </a:rPr>
              <a:t>Firewall types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CC5C4BBC-7AC4-D0E2-6F10-C9778334AFBD}"/>
              </a:ext>
            </a:extLst>
          </p:cNvPr>
          <p:cNvSpPr>
            <a:spLocks noGrp="1"/>
          </p:cNvSpPr>
          <p:nvPr>
            <p:ph type="pic" idx="1"/>
          </p:nvPr>
        </p:nvSpPr>
        <p:spPr>
          <a:xfrm>
            <a:off x="5014292" y="116632"/>
            <a:ext cx="6768751" cy="6624736"/>
          </a:xfrm>
        </p:spPr>
      </p:sp>
      <p:sp>
        <p:nvSpPr>
          <p:cNvPr id="4" name="Text Placeholder 3">
            <a:extLst>
              <a:ext uri="{FF2B5EF4-FFF2-40B4-BE49-F238E27FC236}">
                <a16:creationId xmlns:a16="http://schemas.microsoft.com/office/drawing/2014/main" id="{467839A4-1275-E0CA-D60D-4E4EB1BBD865}"/>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Packet-Filtering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Stateful Inspection Firewall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Application-Level Firewall (Proxy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Next-Generation Firewall (NGFW)</a:t>
            </a:r>
            <a:endParaRPr lang="fr-DZ"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A7CE1A9-683C-0DA6-5F06-4A9DCA6FEB5F}"/>
              </a:ext>
            </a:extLst>
          </p:cNvPr>
          <p:cNvSpPr txBox="1"/>
          <p:nvPr/>
        </p:nvSpPr>
        <p:spPr>
          <a:xfrm>
            <a:off x="4942283" y="116632"/>
            <a:ext cx="6840760" cy="6824945"/>
          </a:xfrm>
          <a:prstGeom prst="rect">
            <a:avLst/>
          </a:prstGeom>
          <a:noFill/>
        </p:spPr>
        <p:txBody>
          <a:bodyPr wrap="square" rtlCol="0">
            <a:spAutoFit/>
          </a:bodyPr>
          <a:lstStyle/>
          <a:p>
            <a:pPr algn="just"/>
            <a:r>
              <a:rPr lang="en-US" sz="1750" dirty="0">
                <a:latin typeface="Times New Roman" panose="02020603050405020304" pitchFamily="18" charset="0"/>
                <a:cs typeface="Times New Roman" panose="02020603050405020304" pitchFamily="18" charset="0"/>
              </a:rPr>
              <a:t>A proxy firewall functions as an intermediary layer between clients and external networks, facilitating controlled communication. Rather than allowing direct traffic flow, it intercepts client requests, thoroughly inspects them, and relays them to the intended destinations.</a:t>
            </a:r>
          </a:p>
          <a:p>
            <a:pPr algn="just"/>
            <a:r>
              <a:rPr lang="en-US" sz="1750" b="1" dirty="0">
                <a:latin typeface="Times New Roman" panose="02020603050405020304" pitchFamily="18" charset="0"/>
                <a:cs typeface="Times New Roman" panose="02020603050405020304" pitchFamily="18" charset="0"/>
              </a:rPr>
              <a:t>Operational Overview</a:t>
            </a:r>
          </a:p>
          <a:p>
            <a:pPr algn="just"/>
            <a:r>
              <a:rPr lang="en-US" sz="1750" dirty="0">
                <a:latin typeface="Times New Roman" panose="02020603050405020304" pitchFamily="18" charset="0"/>
                <a:cs typeface="Times New Roman" panose="02020603050405020304" pitchFamily="18" charset="0"/>
              </a:rPr>
              <a:t>1. Client Connection: The client establishes a connection to the proxy firewall (e.g., an HTTP proxy).</a:t>
            </a:r>
          </a:p>
          <a:p>
            <a:pPr algn="just"/>
            <a:r>
              <a:rPr lang="en-US" sz="1750" dirty="0">
                <a:latin typeface="Times New Roman" panose="02020603050405020304" pitchFamily="18" charset="0"/>
                <a:cs typeface="Times New Roman" panose="02020603050405020304" pitchFamily="18" charset="0"/>
              </a:rPr>
              <a:t>2. Content Examination: The proxy conducts a detailed analysis of the incoming requests, evaluating components such as URLs and commands for potential threats.</a:t>
            </a:r>
          </a:p>
          <a:p>
            <a:pPr algn="just"/>
            <a:r>
              <a:rPr lang="en-US" sz="1750" dirty="0">
                <a:latin typeface="Times New Roman" panose="02020603050405020304" pitchFamily="18" charset="0"/>
                <a:cs typeface="Times New Roman" panose="02020603050405020304" pitchFamily="18" charset="0"/>
              </a:rPr>
              <a:t>3. New Connection Initiation: Upon validating the safety of the requests, the proxy initiates a fresh connection to the target server, effectively representing the client's request.</a:t>
            </a:r>
          </a:p>
          <a:p>
            <a:pPr algn="just"/>
            <a:r>
              <a:rPr lang="en-US" sz="1750" b="1" dirty="0">
                <a:latin typeface="Times New Roman" panose="02020603050405020304" pitchFamily="18" charset="0"/>
                <a:cs typeface="Times New Roman" panose="02020603050405020304" pitchFamily="18" charset="0"/>
              </a:rPr>
              <a:t>Benefits</a:t>
            </a:r>
          </a:p>
          <a:p>
            <a:pPr algn="just"/>
            <a:r>
              <a:rPr lang="en-US" sz="1750" dirty="0">
                <a:latin typeface="Times New Roman" panose="02020603050405020304" pitchFamily="18" charset="0"/>
                <a:cs typeface="Times New Roman" panose="02020603050405020304" pitchFamily="18" charset="0"/>
              </a:rPr>
              <a:t>- Enables in-depth traffic content inspection, providing enhanced security and compliance capabilities.</a:t>
            </a:r>
          </a:p>
          <a:p>
            <a:pPr algn="just"/>
            <a:r>
              <a:rPr lang="en-US" sz="1750" dirty="0">
                <a:latin typeface="Times New Roman" panose="02020603050405020304" pitchFamily="18" charset="0"/>
                <a:cs typeface="Times New Roman" panose="02020603050405020304" pitchFamily="18" charset="0"/>
              </a:rPr>
              <a:t>- Capable of caching responses, which significantly improves response times for repeated requests.</a:t>
            </a:r>
          </a:p>
          <a:p>
            <a:pPr algn="just"/>
            <a:r>
              <a:rPr lang="en-US" sz="1750" dirty="0">
                <a:latin typeface="Times New Roman" panose="02020603050405020304" pitchFamily="18" charset="0"/>
                <a:cs typeface="Times New Roman" panose="02020603050405020304" pitchFamily="18" charset="0"/>
              </a:rPr>
              <a:t>- Masks internal IP addresses, providing a layer of anonymity and simulating a form of Network Address Translation (NAT).</a:t>
            </a:r>
          </a:p>
          <a:p>
            <a:pPr algn="just"/>
            <a:r>
              <a:rPr lang="en-US" sz="1750" b="1" dirty="0">
                <a:latin typeface="Times New Roman" panose="02020603050405020304" pitchFamily="18" charset="0"/>
                <a:cs typeface="Times New Roman" panose="02020603050405020304" pitchFamily="18" charset="0"/>
              </a:rPr>
              <a:t>Limitations</a:t>
            </a:r>
          </a:p>
          <a:p>
            <a:pPr algn="just"/>
            <a:r>
              <a:rPr lang="en-US" sz="1750" dirty="0">
                <a:latin typeface="Times New Roman" panose="02020603050405020304" pitchFamily="18" charset="0"/>
                <a:cs typeface="Times New Roman" panose="02020603050405020304" pitchFamily="18" charset="0"/>
              </a:rPr>
              <a:t>- Content inspection can introduce additional latency, potentially impacting user experience.</a:t>
            </a:r>
          </a:p>
          <a:p>
            <a:pPr algn="just"/>
            <a:r>
              <a:rPr lang="en-US" sz="1750" dirty="0">
                <a:latin typeface="Times New Roman" panose="02020603050405020304" pitchFamily="18" charset="0"/>
                <a:cs typeface="Times New Roman" panose="02020603050405020304" pitchFamily="18" charset="0"/>
              </a:rPr>
              <a:t>- Each protocol (e.g., HTTP, FTP, etc.) requires a dedicated proxy solution, complicating deployment and management.</a:t>
            </a:r>
            <a:endParaRPr lang="fr-DZ" sz="17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5916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564CE-E724-50EA-0AD1-78F3BCF8FA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9C7BB-19D4-025D-FBAF-9AED73CBA1F6}"/>
              </a:ext>
            </a:extLst>
          </p:cNvPr>
          <p:cNvSpPr>
            <a:spLocks noGrp="1"/>
          </p:cNvSpPr>
          <p:nvPr>
            <p:ph type="title"/>
          </p:nvPr>
        </p:nvSpPr>
        <p:spPr>
          <a:xfrm>
            <a:off x="1074240" y="-27384"/>
            <a:ext cx="3293422" cy="1371600"/>
          </a:xfrm>
        </p:spPr>
        <p:txBody>
          <a:bodyPr/>
          <a:lstStyle/>
          <a:p>
            <a:r>
              <a:rPr lang="fr-FR" dirty="0">
                <a:latin typeface="Times New Roman" panose="02020603050405020304" pitchFamily="18" charset="0"/>
                <a:cs typeface="Times New Roman" panose="02020603050405020304" pitchFamily="18" charset="0"/>
              </a:rPr>
              <a:t>Firewall types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A02AF028-F3E1-A6A1-FC97-44100B7BB25C}"/>
              </a:ext>
            </a:extLst>
          </p:cNvPr>
          <p:cNvSpPr>
            <a:spLocks noGrp="1"/>
          </p:cNvSpPr>
          <p:nvPr>
            <p:ph type="pic" idx="1"/>
          </p:nvPr>
        </p:nvSpPr>
        <p:spPr>
          <a:xfrm>
            <a:off x="5086300" y="188640"/>
            <a:ext cx="6552728" cy="6336704"/>
          </a:xfrm>
        </p:spPr>
      </p:sp>
      <p:sp>
        <p:nvSpPr>
          <p:cNvPr id="4" name="Text Placeholder 3">
            <a:extLst>
              <a:ext uri="{FF2B5EF4-FFF2-40B4-BE49-F238E27FC236}">
                <a16:creationId xmlns:a16="http://schemas.microsoft.com/office/drawing/2014/main" id="{E549A893-BFA6-5A9E-9A53-CBE90AC967EC}"/>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Packet-Filtering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Stateful Inspection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Application-Level Firewall (Proxy Firewall)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Next-Generation Firewall (NGFW)</a:t>
            </a:r>
            <a:endParaRPr lang="fr-DZ"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BCB2E77-C635-C7B4-2F6E-D0BDEAB05CCE}"/>
              </a:ext>
            </a:extLst>
          </p:cNvPr>
          <p:cNvSpPr txBox="1"/>
          <p:nvPr/>
        </p:nvSpPr>
        <p:spPr>
          <a:xfrm>
            <a:off x="5120430" y="313684"/>
            <a:ext cx="6585426" cy="618630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Next-Generation Firewalls (NGFW) extend the capabilities of traditional firewalls by incorporating advanced security functions, including:</a:t>
            </a:r>
          </a:p>
          <a:p>
            <a:r>
              <a:rPr lang="en-US" dirty="0">
                <a:latin typeface="Times New Roman" panose="02020603050405020304" pitchFamily="18" charset="0"/>
                <a:cs typeface="Times New Roman" panose="02020603050405020304" pitchFamily="18" charset="0"/>
              </a:rPr>
              <a:t>- Deep Packet Inspection (DPI): Enables thorough analysis of packet data beyond header information.</a:t>
            </a:r>
          </a:p>
          <a:p>
            <a:r>
              <a:rPr lang="en-US" dirty="0">
                <a:latin typeface="Times New Roman" panose="02020603050405020304" pitchFamily="18" charset="0"/>
                <a:cs typeface="Times New Roman" panose="02020603050405020304" pitchFamily="18" charset="0"/>
              </a:rPr>
              <a:t>- Intrusion Prevention Systems (IPS): Actively identifies and mitigates known vulnerabilities and threats in real-time.</a:t>
            </a:r>
          </a:p>
          <a:p>
            <a:r>
              <a:rPr lang="en-US" dirty="0">
                <a:latin typeface="Times New Roman" panose="02020603050405020304" pitchFamily="18" charset="0"/>
                <a:cs typeface="Times New Roman" panose="02020603050405020304" pitchFamily="18" charset="0"/>
              </a:rPr>
              <a:t>- Application Awareness and Control: Grants the ability to discern and manage application-specific traffic irrespective of the transmitting port.</a:t>
            </a:r>
          </a:p>
          <a:p>
            <a:r>
              <a:rPr lang="en-US" dirty="0">
                <a:latin typeface="Times New Roman" panose="02020603050405020304" pitchFamily="18" charset="0"/>
                <a:cs typeface="Times New Roman" panose="02020603050405020304" pitchFamily="18" charset="0"/>
              </a:rPr>
              <a:t>- SSL/TLS Decryption: Facilitates inspection of encrypted traffic to ensure malicious content isn't overlooked.</a:t>
            </a:r>
          </a:p>
          <a:p>
            <a:r>
              <a:rPr lang="en-US" dirty="0">
                <a:latin typeface="Times New Roman" panose="02020603050405020304" pitchFamily="18" charset="0"/>
                <a:cs typeface="Times New Roman" panose="02020603050405020304" pitchFamily="18" charset="0"/>
              </a:rPr>
              <a:t>- Malware Detection and Sandboxing**: Detects and analyzes potentially harmful code in a safe environment before it can impact the network.</a:t>
            </a:r>
          </a:p>
          <a:p>
            <a:r>
              <a:rPr lang="en-US" dirty="0">
                <a:latin typeface="Times New Roman" panose="02020603050405020304" pitchFamily="18" charset="0"/>
                <a:cs typeface="Times New Roman" panose="02020603050405020304" pitchFamily="18" charset="0"/>
              </a:rPr>
              <a:t>Operational Mechanism:</a:t>
            </a:r>
          </a:p>
          <a:p>
            <a:r>
              <a:rPr lang="en-US" dirty="0">
                <a:latin typeface="Times New Roman" panose="02020603050405020304" pitchFamily="18" charset="0"/>
                <a:cs typeface="Times New Roman" panose="02020603050405020304" pitchFamily="18" charset="0"/>
              </a:rPr>
              <a:t>NGFWs analyze traffic at the application layer, employing sophisticated techniques that identify and manage specific applications (such as Skype or YouTube) irrespective of their respective ports. This enables the firewall to apply customized policies that either block or prioritize traffic based on content, user identity, or organizational policies.</a:t>
            </a:r>
          </a:p>
        </p:txBody>
      </p:sp>
    </p:spTree>
    <p:extLst>
      <p:ext uri="{BB962C8B-B14F-4D97-AF65-F5344CB8AC3E}">
        <p14:creationId xmlns:p14="http://schemas.microsoft.com/office/powerpoint/2010/main" val="426492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6C8A8-6FF8-CAC2-1915-4CB889E8B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F67C2-877D-5267-8161-68818D969975}"/>
              </a:ext>
            </a:extLst>
          </p:cNvPr>
          <p:cNvSpPr>
            <a:spLocks noGrp="1"/>
          </p:cNvSpPr>
          <p:nvPr>
            <p:ph type="title"/>
          </p:nvPr>
        </p:nvSpPr>
        <p:spPr>
          <a:xfrm>
            <a:off x="1074240" y="-27384"/>
            <a:ext cx="3293422" cy="1371600"/>
          </a:xfrm>
        </p:spPr>
        <p:txBody>
          <a:bodyPr/>
          <a:lstStyle/>
          <a:p>
            <a:r>
              <a:rPr lang="fr-FR" dirty="0">
                <a:latin typeface="Times New Roman" panose="02020603050405020304" pitchFamily="18" charset="0"/>
                <a:cs typeface="Times New Roman" panose="02020603050405020304" pitchFamily="18" charset="0"/>
              </a:rPr>
              <a:t>Firewall types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D93372D2-D89E-E688-0BCC-B0F34DA023D1}"/>
              </a:ext>
            </a:extLst>
          </p:cNvPr>
          <p:cNvSpPr>
            <a:spLocks noGrp="1"/>
          </p:cNvSpPr>
          <p:nvPr>
            <p:ph type="pic" idx="1"/>
          </p:nvPr>
        </p:nvSpPr>
        <p:spPr>
          <a:xfrm>
            <a:off x="5158308" y="332656"/>
            <a:ext cx="6336704" cy="5976664"/>
          </a:xfrm>
        </p:spPr>
      </p:sp>
      <p:sp>
        <p:nvSpPr>
          <p:cNvPr id="4" name="Text Placeholder 3">
            <a:extLst>
              <a:ext uri="{FF2B5EF4-FFF2-40B4-BE49-F238E27FC236}">
                <a16:creationId xmlns:a16="http://schemas.microsoft.com/office/drawing/2014/main" id="{6F1BF332-1990-F9AF-C24F-E1E497286B11}"/>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Packet-Filtering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Stateful Inspection Firewall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Application-Level Firewall (Proxy Firewall)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Next-Generation Firewall (NGFW)</a:t>
            </a:r>
            <a:endParaRPr lang="fr-DZ"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F3B90D7-2F58-1F95-9207-45A74488FFE0}"/>
              </a:ext>
            </a:extLst>
          </p:cNvPr>
          <p:cNvSpPr txBox="1"/>
          <p:nvPr/>
        </p:nvSpPr>
        <p:spPr>
          <a:xfrm>
            <a:off x="5230316" y="658416"/>
            <a:ext cx="6585426" cy="4524315"/>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Benefits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Provides comprehensive protection against contemporary cyber threats.</a:t>
            </a:r>
          </a:p>
          <a:p>
            <a:r>
              <a:rPr lang="en-US" dirty="0">
                <a:latin typeface="Times New Roman" panose="02020603050405020304" pitchFamily="18" charset="0"/>
                <a:cs typeface="Times New Roman" panose="02020603050405020304" pitchFamily="18" charset="0"/>
              </a:rPr>
              <a:t>- Integrates a suite of security features into a single platform, streamlining management.</a:t>
            </a:r>
          </a:p>
          <a:p>
            <a:r>
              <a:rPr lang="en-US" dirty="0">
                <a:latin typeface="Times New Roman" panose="02020603050405020304" pitchFamily="18" charset="0"/>
                <a:cs typeface="Times New Roman" panose="02020603050405020304" pitchFamily="18" charset="0"/>
              </a:rPr>
              <a:t>- Highly suitable for enterprise-level networks that require robust security postures.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Limitations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Typically entails higher costs and demands more resources for deployment.</a:t>
            </a:r>
          </a:p>
          <a:p>
            <a:r>
              <a:rPr lang="en-US" dirty="0">
                <a:latin typeface="Times New Roman" panose="02020603050405020304" pitchFamily="18" charset="0"/>
                <a:cs typeface="Times New Roman" panose="02020603050405020304" pitchFamily="18" charset="0"/>
              </a:rPr>
              <a:t>- Configuration and ongoing maintenance can be complex, necessitating skilled personnel.</a:t>
            </a:r>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50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1998705-B889-4708-DE87-B362CD8075F6}"/>
              </a:ext>
            </a:extLst>
          </p:cNvPr>
          <p:cNvGraphicFramePr>
            <a:graphicFrameLocks noGrp="1"/>
          </p:cNvGraphicFramePr>
          <p:nvPr>
            <p:extLst>
              <p:ext uri="{D42A27DB-BD31-4B8C-83A1-F6EECF244321}">
                <p14:modId xmlns:p14="http://schemas.microsoft.com/office/powerpoint/2010/main" val="3611020147"/>
              </p:ext>
            </p:extLst>
          </p:nvPr>
        </p:nvGraphicFramePr>
        <p:xfrm>
          <a:off x="981844" y="2204864"/>
          <a:ext cx="9948732" cy="3566160"/>
        </p:xfrm>
        <a:graphic>
          <a:graphicData uri="http://schemas.openxmlformats.org/drawingml/2006/table">
            <a:tbl>
              <a:tblPr>
                <a:tableStyleId>{073A0DAA-6AF3-43AB-8588-CEC1D06C72B9}</a:tableStyleId>
              </a:tblPr>
              <a:tblGrid>
                <a:gridCol w="2341880">
                  <a:extLst>
                    <a:ext uri="{9D8B030D-6E8A-4147-A177-3AD203B41FA5}">
                      <a16:colId xmlns:a16="http://schemas.microsoft.com/office/drawing/2014/main" val="4021887782"/>
                    </a:ext>
                  </a:extLst>
                </a:gridCol>
                <a:gridCol w="1901713">
                  <a:extLst>
                    <a:ext uri="{9D8B030D-6E8A-4147-A177-3AD203B41FA5}">
                      <a16:colId xmlns:a16="http://schemas.microsoft.com/office/drawing/2014/main" val="1922391130"/>
                    </a:ext>
                  </a:extLst>
                </a:gridCol>
                <a:gridCol w="1901713">
                  <a:extLst>
                    <a:ext uri="{9D8B030D-6E8A-4147-A177-3AD203B41FA5}">
                      <a16:colId xmlns:a16="http://schemas.microsoft.com/office/drawing/2014/main" val="3747290999"/>
                    </a:ext>
                  </a:extLst>
                </a:gridCol>
                <a:gridCol w="1901713">
                  <a:extLst>
                    <a:ext uri="{9D8B030D-6E8A-4147-A177-3AD203B41FA5}">
                      <a16:colId xmlns:a16="http://schemas.microsoft.com/office/drawing/2014/main" val="1705695366"/>
                    </a:ext>
                  </a:extLst>
                </a:gridCol>
                <a:gridCol w="1901713">
                  <a:extLst>
                    <a:ext uri="{9D8B030D-6E8A-4147-A177-3AD203B41FA5}">
                      <a16:colId xmlns:a16="http://schemas.microsoft.com/office/drawing/2014/main" val="2929943936"/>
                    </a:ext>
                  </a:extLst>
                </a:gridCol>
              </a:tblGrid>
              <a:tr h="363171">
                <a:tc>
                  <a:txBody>
                    <a:bodyPr/>
                    <a:lstStyle/>
                    <a:p>
                      <a:pPr>
                        <a:buNone/>
                      </a:pPr>
                      <a:r>
                        <a:rPr lang="fr-FR" b="1">
                          <a:solidFill>
                            <a:schemeClr val="bg1"/>
                          </a:solidFill>
                          <a:latin typeface="Times New Roman" panose="02020603050405020304" pitchFamily="18" charset="0"/>
                          <a:cs typeface="Times New Roman" panose="02020603050405020304" pitchFamily="18" charset="0"/>
                        </a:rPr>
                        <a:t>Type</a:t>
                      </a:r>
                      <a:endParaRPr lang="fr-FR">
                        <a:solidFill>
                          <a:schemeClr val="bg1"/>
                        </a:solidFill>
                        <a:latin typeface="Times New Roman" panose="02020603050405020304" pitchFamily="18" charset="0"/>
                        <a:cs typeface="Times New Roman" panose="02020603050405020304" pitchFamily="18" charset="0"/>
                      </a:endParaRPr>
                    </a:p>
                  </a:txBody>
                  <a:tcPr anchor="ctr">
                    <a:solidFill>
                      <a:schemeClr val="tx1">
                        <a:lumMod val="60000"/>
                        <a:lumOff val="40000"/>
                      </a:schemeClr>
                    </a:solidFill>
                  </a:tcPr>
                </a:tc>
                <a:tc>
                  <a:txBody>
                    <a:bodyPr/>
                    <a:lstStyle/>
                    <a:p>
                      <a:pPr>
                        <a:buNone/>
                      </a:pPr>
                      <a:r>
                        <a:rPr lang="fr-FR" b="1">
                          <a:solidFill>
                            <a:schemeClr val="bg1"/>
                          </a:solidFill>
                          <a:latin typeface="Times New Roman" panose="02020603050405020304" pitchFamily="18" charset="0"/>
                          <a:cs typeface="Times New Roman" panose="02020603050405020304" pitchFamily="18" charset="0"/>
                        </a:rPr>
                        <a:t>Layer (OSI)</a:t>
                      </a:r>
                      <a:endParaRPr lang="fr-FR">
                        <a:solidFill>
                          <a:schemeClr val="bg1"/>
                        </a:solidFill>
                        <a:latin typeface="Times New Roman" panose="02020603050405020304" pitchFamily="18" charset="0"/>
                        <a:cs typeface="Times New Roman" panose="02020603050405020304" pitchFamily="18" charset="0"/>
                      </a:endParaRPr>
                    </a:p>
                  </a:txBody>
                  <a:tcPr anchor="ctr">
                    <a:solidFill>
                      <a:schemeClr val="tx1">
                        <a:lumMod val="60000"/>
                        <a:lumOff val="40000"/>
                      </a:schemeClr>
                    </a:solidFill>
                  </a:tcPr>
                </a:tc>
                <a:tc>
                  <a:txBody>
                    <a:bodyPr/>
                    <a:lstStyle/>
                    <a:p>
                      <a:pPr>
                        <a:buNone/>
                      </a:pPr>
                      <a:r>
                        <a:rPr lang="fr-FR" b="1">
                          <a:solidFill>
                            <a:schemeClr val="bg1"/>
                          </a:solidFill>
                          <a:latin typeface="Times New Roman" panose="02020603050405020304" pitchFamily="18" charset="0"/>
                          <a:cs typeface="Times New Roman" panose="02020603050405020304" pitchFamily="18" charset="0"/>
                        </a:rPr>
                        <a:t>Main Function</a:t>
                      </a:r>
                      <a:endParaRPr lang="fr-FR">
                        <a:solidFill>
                          <a:schemeClr val="bg1"/>
                        </a:solidFill>
                        <a:latin typeface="Times New Roman" panose="02020603050405020304" pitchFamily="18" charset="0"/>
                        <a:cs typeface="Times New Roman" panose="02020603050405020304" pitchFamily="18" charset="0"/>
                      </a:endParaRPr>
                    </a:p>
                  </a:txBody>
                  <a:tcPr anchor="ctr">
                    <a:solidFill>
                      <a:schemeClr val="tx1">
                        <a:lumMod val="60000"/>
                        <a:lumOff val="40000"/>
                      </a:schemeClr>
                    </a:solidFill>
                  </a:tcPr>
                </a:tc>
                <a:tc>
                  <a:txBody>
                    <a:bodyPr/>
                    <a:lstStyle/>
                    <a:p>
                      <a:pPr>
                        <a:buNone/>
                      </a:pPr>
                      <a:r>
                        <a:rPr lang="fr-FR" b="1">
                          <a:solidFill>
                            <a:schemeClr val="bg1"/>
                          </a:solidFill>
                          <a:latin typeface="Times New Roman" panose="02020603050405020304" pitchFamily="18" charset="0"/>
                          <a:cs typeface="Times New Roman" panose="02020603050405020304" pitchFamily="18" charset="0"/>
                        </a:rPr>
                        <a:t>Key Advantage</a:t>
                      </a:r>
                      <a:endParaRPr lang="fr-FR">
                        <a:solidFill>
                          <a:schemeClr val="bg1"/>
                        </a:solidFill>
                        <a:latin typeface="Times New Roman" panose="02020603050405020304" pitchFamily="18" charset="0"/>
                        <a:cs typeface="Times New Roman" panose="02020603050405020304" pitchFamily="18" charset="0"/>
                      </a:endParaRPr>
                    </a:p>
                  </a:txBody>
                  <a:tcPr anchor="ctr">
                    <a:solidFill>
                      <a:schemeClr val="tx1">
                        <a:lumMod val="60000"/>
                        <a:lumOff val="40000"/>
                      </a:schemeClr>
                    </a:solidFill>
                  </a:tcPr>
                </a:tc>
                <a:tc>
                  <a:txBody>
                    <a:bodyPr/>
                    <a:lstStyle/>
                    <a:p>
                      <a:pPr>
                        <a:buNone/>
                      </a:pPr>
                      <a:r>
                        <a:rPr lang="fr-FR" b="1" dirty="0">
                          <a:solidFill>
                            <a:schemeClr val="bg1"/>
                          </a:solidFill>
                          <a:latin typeface="Times New Roman" panose="02020603050405020304" pitchFamily="18" charset="0"/>
                          <a:cs typeface="Times New Roman" panose="02020603050405020304" pitchFamily="18" charset="0"/>
                        </a:rPr>
                        <a:t>Main Limitation</a:t>
                      </a:r>
                      <a:endParaRPr lang="fr-FR" dirty="0">
                        <a:solidFill>
                          <a:schemeClr val="bg1"/>
                        </a:solidFill>
                        <a:latin typeface="Times New Roman" panose="02020603050405020304" pitchFamily="18" charset="0"/>
                        <a:cs typeface="Times New Roman" panose="02020603050405020304" pitchFamily="18" charset="0"/>
                      </a:endParaRPr>
                    </a:p>
                  </a:txBody>
                  <a:tcPr anchor="ctr">
                    <a:solidFill>
                      <a:schemeClr val="tx1">
                        <a:lumMod val="60000"/>
                        <a:lumOff val="40000"/>
                      </a:schemeClr>
                    </a:solidFill>
                  </a:tcPr>
                </a:tc>
                <a:extLst>
                  <a:ext uri="{0D108BD9-81ED-4DB2-BD59-A6C34878D82A}">
                    <a16:rowId xmlns:a16="http://schemas.microsoft.com/office/drawing/2014/main" val="2608130032"/>
                  </a:ext>
                </a:extLst>
              </a:tr>
              <a:tr h="635549">
                <a:tc>
                  <a:txBody>
                    <a:bodyPr/>
                    <a:lstStyle/>
                    <a:p>
                      <a:pPr>
                        <a:buNone/>
                      </a:pPr>
                      <a:r>
                        <a:rPr lang="fr-FR">
                          <a:latin typeface="Times New Roman" panose="02020603050405020304" pitchFamily="18" charset="0"/>
                          <a:cs typeface="Times New Roman" panose="02020603050405020304" pitchFamily="18" charset="0"/>
                        </a:rPr>
                        <a:t>Packet Filtering</a:t>
                      </a:r>
                    </a:p>
                  </a:txBody>
                  <a:tcPr anchor="ctr"/>
                </a:tc>
                <a:tc>
                  <a:txBody>
                    <a:bodyPr/>
                    <a:lstStyle/>
                    <a:p>
                      <a:pPr>
                        <a:buNone/>
                      </a:pPr>
                      <a:r>
                        <a:rPr lang="fr-DZ" dirty="0">
                          <a:latin typeface="Times New Roman" panose="02020603050405020304" pitchFamily="18" charset="0"/>
                          <a:cs typeface="Times New Roman" panose="02020603050405020304" pitchFamily="18" charset="0"/>
                        </a:rPr>
                        <a:t>3</a:t>
                      </a:r>
                    </a:p>
                  </a:txBody>
                  <a:tcPr anchor="ctr"/>
                </a:tc>
                <a:tc>
                  <a:txBody>
                    <a:bodyPr/>
                    <a:lstStyle/>
                    <a:p>
                      <a:pPr>
                        <a:buNone/>
                      </a:pPr>
                      <a:r>
                        <a:rPr lang="fr-FR" dirty="0">
                          <a:latin typeface="Times New Roman" panose="02020603050405020304" pitchFamily="18" charset="0"/>
                          <a:cs typeface="Times New Roman" panose="02020603050405020304" pitchFamily="18" charset="0"/>
                        </a:rPr>
                        <a:t>Checks IP, port, </a:t>
                      </a:r>
                      <a:r>
                        <a:rPr lang="fr-FR" dirty="0" err="1">
                          <a:latin typeface="Times New Roman" panose="02020603050405020304" pitchFamily="18" charset="0"/>
                          <a:cs typeface="Times New Roman" panose="02020603050405020304" pitchFamily="18" charset="0"/>
                        </a:rPr>
                        <a:t>protocol</a:t>
                      </a:r>
                      <a:endParaRPr lang="fr-FR" dirty="0">
                        <a:latin typeface="Times New Roman" panose="02020603050405020304" pitchFamily="18" charset="0"/>
                        <a:cs typeface="Times New Roman" panose="02020603050405020304" pitchFamily="18" charset="0"/>
                      </a:endParaRPr>
                    </a:p>
                  </a:txBody>
                  <a:tcPr anchor="ctr"/>
                </a:tc>
                <a:tc>
                  <a:txBody>
                    <a:bodyPr/>
                    <a:lstStyle/>
                    <a:p>
                      <a:pPr>
                        <a:buNone/>
                      </a:pPr>
                      <a:r>
                        <a:rPr lang="fr-FR">
                          <a:latin typeface="Times New Roman" panose="02020603050405020304" pitchFamily="18" charset="0"/>
                          <a:cs typeface="Times New Roman" panose="02020603050405020304" pitchFamily="18" charset="0"/>
                        </a:rPr>
                        <a:t>Simple, fast</a:t>
                      </a:r>
                    </a:p>
                  </a:txBody>
                  <a:tcPr anchor="ctr"/>
                </a:tc>
                <a:tc>
                  <a:txBody>
                    <a:bodyPr/>
                    <a:lstStyle/>
                    <a:p>
                      <a:pPr>
                        <a:buNone/>
                      </a:pPr>
                      <a:r>
                        <a:rPr lang="fr-FR">
                          <a:latin typeface="Times New Roman" panose="02020603050405020304" pitchFamily="18" charset="0"/>
                          <a:cs typeface="Times New Roman" panose="02020603050405020304" pitchFamily="18" charset="0"/>
                        </a:rPr>
                        <a:t>No payload inspection</a:t>
                      </a:r>
                    </a:p>
                  </a:txBody>
                  <a:tcPr anchor="ctr"/>
                </a:tc>
                <a:extLst>
                  <a:ext uri="{0D108BD9-81ED-4DB2-BD59-A6C34878D82A}">
                    <a16:rowId xmlns:a16="http://schemas.microsoft.com/office/drawing/2014/main" val="332942080"/>
                  </a:ext>
                </a:extLst>
              </a:tr>
              <a:tr h="635549">
                <a:tc>
                  <a:txBody>
                    <a:bodyPr/>
                    <a:lstStyle/>
                    <a:p>
                      <a:pPr>
                        <a:buNone/>
                      </a:pPr>
                      <a:r>
                        <a:rPr lang="fr-FR" dirty="0" err="1">
                          <a:latin typeface="Times New Roman" panose="02020603050405020304" pitchFamily="18" charset="0"/>
                          <a:cs typeface="Times New Roman" panose="02020603050405020304" pitchFamily="18" charset="0"/>
                        </a:rPr>
                        <a:t>Stateful</a:t>
                      </a:r>
                      <a:r>
                        <a:rPr lang="fr-FR" dirty="0">
                          <a:latin typeface="Times New Roman" panose="02020603050405020304" pitchFamily="18" charset="0"/>
                          <a:cs typeface="Times New Roman" panose="02020603050405020304" pitchFamily="18" charset="0"/>
                        </a:rPr>
                        <a:t> Inspection</a:t>
                      </a:r>
                    </a:p>
                  </a:txBody>
                  <a:tcPr anchor="ctr"/>
                </a:tc>
                <a:tc>
                  <a:txBody>
                    <a:bodyPr/>
                    <a:lstStyle/>
                    <a:p>
                      <a:pPr>
                        <a:buNone/>
                      </a:pPr>
                      <a:r>
                        <a:rPr lang="fr-DZ">
                          <a:latin typeface="Times New Roman" panose="02020603050405020304" pitchFamily="18" charset="0"/>
                          <a:cs typeface="Times New Roman" panose="02020603050405020304" pitchFamily="18" charset="0"/>
                        </a:rPr>
                        <a:t>3–4</a:t>
                      </a:r>
                    </a:p>
                  </a:txBody>
                  <a:tcPr anchor="ctr"/>
                </a:tc>
                <a:tc>
                  <a:txBody>
                    <a:bodyPr/>
                    <a:lstStyle/>
                    <a:p>
                      <a:pPr>
                        <a:buNone/>
                      </a:pPr>
                      <a:r>
                        <a:rPr lang="fr-FR">
                          <a:latin typeface="Times New Roman" panose="02020603050405020304" pitchFamily="18" charset="0"/>
                          <a:cs typeface="Times New Roman" panose="02020603050405020304" pitchFamily="18" charset="0"/>
                        </a:rPr>
                        <a:t>Tracks session states</a:t>
                      </a:r>
                    </a:p>
                  </a:txBody>
                  <a:tcPr anchor="ctr"/>
                </a:tc>
                <a:tc>
                  <a:txBody>
                    <a:bodyPr/>
                    <a:lstStyle/>
                    <a:p>
                      <a:pPr>
                        <a:buNone/>
                      </a:pPr>
                      <a:r>
                        <a:rPr lang="fr-FR">
                          <a:latin typeface="Times New Roman" panose="02020603050405020304" pitchFamily="18" charset="0"/>
                          <a:cs typeface="Times New Roman" panose="02020603050405020304" pitchFamily="18" charset="0"/>
                        </a:rPr>
                        <a:t>More secure</a:t>
                      </a:r>
                    </a:p>
                  </a:txBody>
                  <a:tcPr anchor="ctr"/>
                </a:tc>
                <a:tc>
                  <a:txBody>
                    <a:bodyPr/>
                    <a:lstStyle/>
                    <a:p>
                      <a:pPr>
                        <a:buNone/>
                      </a:pPr>
                      <a:r>
                        <a:rPr lang="fr-FR">
                          <a:latin typeface="Times New Roman" panose="02020603050405020304" pitchFamily="18" charset="0"/>
                          <a:cs typeface="Times New Roman" panose="02020603050405020304" pitchFamily="18" charset="0"/>
                        </a:rPr>
                        <a:t>Limited to transport layer</a:t>
                      </a:r>
                    </a:p>
                  </a:txBody>
                  <a:tcPr anchor="ctr"/>
                </a:tc>
                <a:extLst>
                  <a:ext uri="{0D108BD9-81ED-4DB2-BD59-A6C34878D82A}">
                    <a16:rowId xmlns:a16="http://schemas.microsoft.com/office/drawing/2014/main" val="2125596206"/>
                  </a:ext>
                </a:extLst>
              </a:tr>
              <a:tr h="635549">
                <a:tc>
                  <a:txBody>
                    <a:bodyPr/>
                    <a:lstStyle/>
                    <a:p>
                      <a:pPr>
                        <a:buNone/>
                      </a:pPr>
                      <a:r>
                        <a:rPr lang="fr-FR" dirty="0">
                          <a:latin typeface="Times New Roman" panose="02020603050405020304" pitchFamily="18" charset="0"/>
                          <a:cs typeface="Times New Roman" panose="02020603050405020304" pitchFamily="18" charset="0"/>
                        </a:rPr>
                        <a:t>Circuit-</a:t>
                      </a:r>
                      <a:r>
                        <a:rPr lang="fr-FR" dirty="0" err="1">
                          <a:latin typeface="Times New Roman" panose="02020603050405020304" pitchFamily="18" charset="0"/>
                          <a:cs typeface="Times New Roman" panose="02020603050405020304" pitchFamily="18" charset="0"/>
                        </a:rPr>
                        <a:t>Level</a:t>
                      </a:r>
                      <a:r>
                        <a:rPr lang="fr-FR" dirty="0">
                          <a:latin typeface="Times New Roman" panose="02020603050405020304" pitchFamily="18" charset="0"/>
                          <a:cs typeface="Times New Roman" panose="02020603050405020304" pitchFamily="18" charset="0"/>
                        </a:rPr>
                        <a:t> Gateway</a:t>
                      </a:r>
                    </a:p>
                  </a:txBody>
                  <a:tcPr anchor="ctr"/>
                </a:tc>
                <a:tc>
                  <a:txBody>
                    <a:bodyPr/>
                    <a:lstStyle/>
                    <a:p>
                      <a:pPr>
                        <a:buNone/>
                      </a:pPr>
                      <a:r>
                        <a:rPr lang="fr-DZ">
                          <a:latin typeface="Times New Roman" panose="02020603050405020304" pitchFamily="18" charset="0"/>
                          <a:cs typeface="Times New Roman" panose="02020603050405020304" pitchFamily="18" charset="0"/>
                        </a:rPr>
                        <a:t>5</a:t>
                      </a:r>
                    </a:p>
                  </a:txBody>
                  <a:tcPr anchor="ctr"/>
                </a:tc>
                <a:tc>
                  <a:txBody>
                    <a:bodyPr/>
                    <a:lstStyle/>
                    <a:p>
                      <a:pPr>
                        <a:buNone/>
                      </a:pPr>
                      <a:r>
                        <a:rPr lang="fr-FR">
                          <a:latin typeface="Times New Roman" panose="02020603050405020304" pitchFamily="18" charset="0"/>
                          <a:cs typeface="Times New Roman" panose="02020603050405020304" pitchFamily="18" charset="0"/>
                        </a:rPr>
                        <a:t>Verifies session establishment</a:t>
                      </a:r>
                    </a:p>
                  </a:txBody>
                  <a:tcPr anchor="ctr"/>
                </a:tc>
                <a:tc>
                  <a:txBody>
                    <a:bodyPr/>
                    <a:lstStyle/>
                    <a:p>
                      <a:pPr>
                        <a:buNone/>
                      </a:pPr>
                      <a:r>
                        <a:rPr lang="fr-FR">
                          <a:latin typeface="Times New Roman" panose="02020603050405020304" pitchFamily="18" charset="0"/>
                          <a:cs typeface="Times New Roman" panose="02020603050405020304" pitchFamily="18" charset="0"/>
                        </a:rPr>
                        <a:t>Validates sessions</a:t>
                      </a:r>
                    </a:p>
                  </a:txBody>
                  <a:tcPr anchor="ctr"/>
                </a:tc>
                <a:tc>
                  <a:txBody>
                    <a:bodyPr/>
                    <a:lstStyle/>
                    <a:p>
                      <a:pPr>
                        <a:buNone/>
                      </a:pPr>
                      <a:r>
                        <a:rPr lang="fr-FR">
                          <a:latin typeface="Times New Roman" panose="02020603050405020304" pitchFamily="18" charset="0"/>
                          <a:cs typeface="Times New Roman" panose="02020603050405020304" pitchFamily="18" charset="0"/>
                        </a:rPr>
                        <a:t>No deep inspection</a:t>
                      </a:r>
                    </a:p>
                  </a:txBody>
                  <a:tcPr anchor="ctr"/>
                </a:tc>
                <a:extLst>
                  <a:ext uri="{0D108BD9-81ED-4DB2-BD59-A6C34878D82A}">
                    <a16:rowId xmlns:a16="http://schemas.microsoft.com/office/drawing/2014/main" val="2726477819"/>
                  </a:ext>
                </a:extLst>
              </a:tr>
              <a:tr h="635549">
                <a:tc>
                  <a:txBody>
                    <a:bodyPr/>
                    <a:lstStyle/>
                    <a:p>
                      <a:pPr>
                        <a:buNone/>
                      </a:pPr>
                      <a:r>
                        <a:rPr lang="fr-FR" dirty="0">
                          <a:latin typeface="Times New Roman" panose="02020603050405020304" pitchFamily="18" charset="0"/>
                          <a:cs typeface="Times New Roman" panose="02020603050405020304" pitchFamily="18" charset="0"/>
                        </a:rPr>
                        <a:t>Proxy Firewall</a:t>
                      </a:r>
                    </a:p>
                  </a:txBody>
                  <a:tcPr anchor="ctr"/>
                </a:tc>
                <a:tc>
                  <a:txBody>
                    <a:bodyPr/>
                    <a:lstStyle/>
                    <a:p>
                      <a:pPr>
                        <a:buNone/>
                      </a:pPr>
                      <a:r>
                        <a:rPr lang="fr-DZ">
                          <a:latin typeface="Times New Roman" panose="02020603050405020304" pitchFamily="18" charset="0"/>
                          <a:cs typeface="Times New Roman" panose="02020603050405020304" pitchFamily="18" charset="0"/>
                        </a:rPr>
                        <a:t>7</a:t>
                      </a:r>
                    </a:p>
                  </a:txBody>
                  <a:tcPr anchor="ctr"/>
                </a:tc>
                <a:tc>
                  <a:txBody>
                    <a:bodyPr/>
                    <a:lstStyle/>
                    <a:p>
                      <a:pPr>
                        <a:buNone/>
                      </a:pPr>
                      <a:r>
                        <a:rPr lang="fr-FR">
                          <a:latin typeface="Times New Roman" panose="02020603050405020304" pitchFamily="18" charset="0"/>
                          <a:cs typeface="Times New Roman" panose="02020603050405020304" pitchFamily="18" charset="0"/>
                        </a:rPr>
                        <a:t>Filters application data</a:t>
                      </a:r>
                    </a:p>
                  </a:txBody>
                  <a:tcPr anchor="ctr"/>
                </a:tc>
                <a:tc>
                  <a:txBody>
                    <a:bodyPr/>
                    <a:lstStyle/>
                    <a:p>
                      <a:pPr>
                        <a:buNone/>
                      </a:pPr>
                      <a:r>
                        <a:rPr lang="fr-FR">
                          <a:latin typeface="Times New Roman" panose="02020603050405020304" pitchFamily="18" charset="0"/>
                          <a:cs typeface="Times New Roman" panose="02020603050405020304" pitchFamily="18" charset="0"/>
                        </a:rPr>
                        <a:t>Deep inspection</a:t>
                      </a:r>
                    </a:p>
                  </a:txBody>
                  <a:tcPr anchor="ctr"/>
                </a:tc>
                <a:tc>
                  <a:txBody>
                    <a:bodyPr/>
                    <a:lstStyle/>
                    <a:p>
                      <a:pPr>
                        <a:buNone/>
                      </a:pPr>
                      <a:r>
                        <a:rPr lang="fr-FR">
                          <a:latin typeface="Times New Roman" panose="02020603050405020304" pitchFamily="18" charset="0"/>
                          <a:cs typeface="Times New Roman" panose="02020603050405020304" pitchFamily="18" charset="0"/>
                        </a:rPr>
                        <a:t>Slower, per-protocol</a:t>
                      </a:r>
                    </a:p>
                  </a:txBody>
                  <a:tcPr anchor="ctr"/>
                </a:tc>
                <a:extLst>
                  <a:ext uri="{0D108BD9-81ED-4DB2-BD59-A6C34878D82A}">
                    <a16:rowId xmlns:a16="http://schemas.microsoft.com/office/drawing/2014/main" val="2981477182"/>
                  </a:ext>
                </a:extLst>
              </a:tr>
              <a:tr h="635549">
                <a:tc>
                  <a:txBody>
                    <a:bodyPr/>
                    <a:lstStyle/>
                    <a:p>
                      <a:pPr>
                        <a:buNone/>
                      </a:pPr>
                      <a:r>
                        <a:rPr lang="fr-FR" dirty="0">
                          <a:latin typeface="Times New Roman" panose="02020603050405020304" pitchFamily="18" charset="0"/>
                          <a:cs typeface="Times New Roman" panose="02020603050405020304" pitchFamily="18" charset="0"/>
                        </a:rPr>
                        <a:t>NGFW</a:t>
                      </a:r>
                    </a:p>
                  </a:txBody>
                  <a:tcPr anchor="ctr"/>
                </a:tc>
                <a:tc>
                  <a:txBody>
                    <a:bodyPr/>
                    <a:lstStyle/>
                    <a:p>
                      <a:pPr>
                        <a:buNone/>
                      </a:pPr>
                      <a:r>
                        <a:rPr lang="fr-DZ">
                          <a:latin typeface="Times New Roman" panose="02020603050405020304" pitchFamily="18" charset="0"/>
                          <a:cs typeface="Times New Roman" panose="02020603050405020304" pitchFamily="18" charset="0"/>
                        </a:rPr>
                        <a:t>3–7</a:t>
                      </a:r>
                    </a:p>
                  </a:txBody>
                  <a:tcPr anchor="ctr"/>
                </a:tc>
                <a:tc>
                  <a:txBody>
                    <a:bodyPr/>
                    <a:lstStyle/>
                    <a:p>
                      <a:pPr>
                        <a:buNone/>
                      </a:pPr>
                      <a:r>
                        <a:rPr lang="fr-FR">
                          <a:latin typeface="Times New Roman" panose="02020603050405020304" pitchFamily="18" charset="0"/>
                          <a:cs typeface="Times New Roman" panose="02020603050405020304" pitchFamily="18" charset="0"/>
                        </a:rPr>
                        <a:t>DPI + IPS + App Control</a:t>
                      </a:r>
                    </a:p>
                  </a:txBody>
                  <a:tcPr anchor="ctr"/>
                </a:tc>
                <a:tc>
                  <a:txBody>
                    <a:bodyPr/>
                    <a:lstStyle/>
                    <a:p>
                      <a:pPr>
                        <a:buNone/>
                      </a:pPr>
                      <a:r>
                        <a:rPr lang="fr-FR">
                          <a:latin typeface="Times New Roman" panose="02020603050405020304" pitchFamily="18" charset="0"/>
                          <a:cs typeface="Times New Roman" panose="02020603050405020304" pitchFamily="18" charset="0"/>
                        </a:rPr>
                        <a:t>All-in-one protection</a:t>
                      </a:r>
                    </a:p>
                  </a:txBody>
                  <a:tcPr anchor="ctr"/>
                </a:tc>
                <a:tc>
                  <a:txBody>
                    <a:bodyPr/>
                    <a:lstStyle/>
                    <a:p>
                      <a:pPr>
                        <a:buNone/>
                      </a:pPr>
                      <a:r>
                        <a:rPr lang="fr-FR" dirty="0" err="1">
                          <a:latin typeface="Times New Roman" panose="02020603050405020304" pitchFamily="18" charset="0"/>
                          <a:cs typeface="Times New Roman" panose="02020603050405020304" pitchFamily="18" charset="0"/>
                        </a:rPr>
                        <a:t>Expensive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complex</a:t>
                      </a:r>
                      <a:endParaRPr lang="fr-FR"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8653495"/>
                  </a:ext>
                </a:extLst>
              </a:tr>
            </a:tbl>
          </a:graphicData>
        </a:graphic>
      </p:graphicFrame>
      <p:sp>
        <p:nvSpPr>
          <p:cNvPr id="3" name="Title 1">
            <a:extLst>
              <a:ext uri="{FF2B5EF4-FFF2-40B4-BE49-F238E27FC236}">
                <a16:creationId xmlns:a16="http://schemas.microsoft.com/office/drawing/2014/main" id="{3A09FE0D-B649-CD17-0B56-3376121BDC71}"/>
              </a:ext>
            </a:extLst>
          </p:cNvPr>
          <p:cNvSpPr txBox="1">
            <a:spLocks/>
          </p:cNvSpPr>
          <p:nvPr/>
        </p:nvSpPr>
        <p:spPr>
          <a:xfrm>
            <a:off x="4294212" y="404664"/>
            <a:ext cx="3293422" cy="648072"/>
          </a:xfrm>
          <a:prstGeom prst="rect">
            <a:avLst/>
          </a:prstGeom>
        </p:spPr>
        <p:txBody>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fr-FR" b="1" dirty="0">
                <a:latin typeface="Times New Roman" panose="02020603050405020304" pitchFamily="18" charset="0"/>
                <a:cs typeface="Times New Roman" panose="02020603050405020304" pitchFamily="18" charset="0"/>
              </a:rPr>
              <a:t>Firewall types</a:t>
            </a:r>
            <a:endParaRPr lang="fr-DZ"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911D0E3-FE79-F9A7-D61E-51AA75C8AA28}"/>
              </a:ext>
            </a:extLst>
          </p:cNvPr>
          <p:cNvSpPr txBox="1"/>
          <p:nvPr/>
        </p:nvSpPr>
        <p:spPr>
          <a:xfrm>
            <a:off x="1125860" y="1137518"/>
            <a:ext cx="9577654"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Firewalls have evolved from simple packet filters to intelligent, application-aware systems.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Modern networks rely on </a:t>
            </a:r>
            <a:r>
              <a:rPr lang="en-US" b="1" dirty="0">
                <a:latin typeface="Times New Roman" panose="02020603050405020304" pitchFamily="18" charset="0"/>
                <a:cs typeface="Times New Roman" panose="02020603050405020304" pitchFamily="18" charset="0"/>
              </a:rPr>
              <a:t>stateful</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proxy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next-generation firewalls</a:t>
            </a:r>
            <a:r>
              <a:rPr lang="en-US" dirty="0">
                <a:latin typeface="Times New Roman" panose="02020603050405020304" pitchFamily="18" charset="0"/>
                <a:cs typeface="Times New Roman" panose="02020603050405020304" pitchFamily="18" charset="0"/>
              </a:rPr>
              <a:t> to provide layered protection across multiple OSI layers.</a:t>
            </a:r>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5400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042DDE-0E3D-BD86-5A10-4D878A8F7EC9}"/>
              </a:ext>
            </a:extLst>
          </p:cNvPr>
          <p:cNvSpPr txBox="1"/>
          <p:nvPr/>
        </p:nvSpPr>
        <p:spPr>
          <a:xfrm>
            <a:off x="981844" y="1037049"/>
            <a:ext cx="10009112" cy="5355312"/>
          </a:xfrm>
          <a:prstGeom prst="rect">
            <a:avLst/>
          </a:prstGeom>
          <a:noFill/>
        </p:spPr>
        <p:txBody>
          <a:bodyPr wrap="square">
            <a:spAutoFit/>
          </a:bodyPr>
          <a:lstStyle/>
          <a:p>
            <a:pPr algn="just"/>
            <a:r>
              <a:rPr lang="fr-DZ" b="1" dirty="0" err="1">
                <a:latin typeface="Times New Roman" panose="02020603050405020304" pitchFamily="18" charset="0"/>
                <a:cs typeface="Times New Roman" panose="02020603050405020304" pitchFamily="18" charset="0"/>
              </a:rPr>
              <a:t>Definition</a:t>
            </a:r>
            <a:r>
              <a:rPr lang="fr-DZ" b="1"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An Intrusion </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System (IDS)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comprehensive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security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framework</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designed</a:t>
            </a:r>
            <a:r>
              <a:rPr lang="fr-DZ" dirty="0">
                <a:latin typeface="Times New Roman" panose="02020603050405020304" pitchFamily="18" charset="0"/>
                <a:cs typeface="Times New Roman" panose="02020603050405020304" pitchFamily="18" charset="0"/>
              </a:rPr>
              <a:t> to monitor and </a:t>
            </a:r>
            <a:r>
              <a:rPr lang="fr-DZ" dirty="0" err="1">
                <a:latin typeface="Times New Roman" panose="02020603050405020304" pitchFamily="18" charset="0"/>
                <a:cs typeface="Times New Roman" panose="02020603050405020304" pitchFamily="18" charset="0"/>
              </a:rPr>
              <a:t>analyze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both</a:t>
            </a:r>
            <a:r>
              <a:rPr lang="fr-DZ" dirty="0">
                <a:latin typeface="Times New Roman" panose="02020603050405020304" pitchFamily="18" charset="0"/>
                <a:cs typeface="Times New Roman" panose="02020603050405020304" pitchFamily="18" charset="0"/>
              </a:rPr>
              <a:t> network and system </a:t>
            </a:r>
            <a:r>
              <a:rPr lang="fr-DZ" dirty="0" err="1">
                <a:latin typeface="Times New Roman" panose="02020603050405020304" pitchFamily="18" charset="0"/>
                <a:cs typeface="Times New Roman" panose="02020603050405020304" pitchFamily="18" charset="0"/>
              </a:rPr>
              <a:t>activities</a:t>
            </a:r>
            <a:r>
              <a:rPr lang="fr-DZ" dirty="0">
                <a:latin typeface="Times New Roman" panose="02020603050405020304" pitchFamily="18" charset="0"/>
                <a:cs typeface="Times New Roman" panose="02020603050405020304" pitchFamily="18" charset="0"/>
              </a:rPr>
              <a:t> in </a:t>
            </a:r>
            <a:r>
              <a:rPr lang="fr-DZ" dirty="0" err="1">
                <a:latin typeface="Times New Roman" panose="02020603050405020304" pitchFamily="18" charset="0"/>
                <a:cs typeface="Times New Roman" panose="02020603050405020304" pitchFamily="18" charset="0"/>
              </a:rPr>
              <a:t>order</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identify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suspicious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behavior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security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breaches</a:t>
            </a:r>
            <a:r>
              <a:rPr lang="fr-DZ" dirty="0">
                <a:latin typeface="Times New Roman" panose="02020603050405020304" pitchFamily="18" charset="0"/>
                <a:cs typeface="Times New Roman" panose="02020603050405020304" pitchFamily="18" charset="0"/>
              </a:rPr>
              <a:t>, or </a:t>
            </a:r>
            <a:r>
              <a:rPr lang="fr-DZ" dirty="0" err="1">
                <a:latin typeface="Times New Roman" panose="02020603050405020304" pitchFamily="18" charset="0"/>
                <a:cs typeface="Times New Roman" panose="02020603050405020304" pitchFamily="18" charset="0"/>
              </a:rPr>
              <a:t>confirmed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attack</a:t>
            </a:r>
            <a:r>
              <a:rPr lang="fr-DZ" dirty="0">
                <a:latin typeface="Times New Roman" panose="02020603050405020304" pitchFamily="18" charset="0"/>
                <a:cs typeface="Times New Roman" panose="02020603050405020304" pitchFamily="18" charset="0"/>
              </a:rPr>
              <a:t> patterns. The </a:t>
            </a:r>
            <a:r>
              <a:rPr lang="fr-DZ" dirty="0" err="1">
                <a:latin typeface="Times New Roman" panose="02020603050405020304" pitchFamily="18" charset="0"/>
                <a:cs typeface="Times New Roman" panose="02020603050405020304" pitchFamily="18" charset="0"/>
              </a:rPr>
              <a:t>primary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purpose</a:t>
            </a:r>
            <a:r>
              <a:rPr lang="fr-DZ" dirty="0">
                <a:latin typeface="Times New Roman" panose="02020603050405020304" pitchFamily="18" charset="0"/>
                <a:cs typeface="Times New Roman" panose="02020603050405020304" pitchFamily="18" charset="0"/>
              </a:rPr>
              <a:t> of an IDS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enhance</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security</a:t>
            </a:r>
            <a:r>
              <a:rPr lang="fr-DZ" dirty="0">
                <a:latin typeface="Times New Roman" panose="02020603050405020304" pitchFamily="18" charset="0"/>
                <a:cs typeface="Times New Roman" panose="02020603050405020304" pitchFamily="18" charset="0"/>
              </a:rPr>
              <a:t> posture of an </a:t>
            </a:r>
            <a:r>
              <a:rPr lang="fr-DZ" dirty="0" err="1">
                <a:latin typeface="Times New Roman" panose="02020603050405020304" pitchFamily="18" charset="0"/>
                <a:cs typeface="Times New Roman" panose="02020603050405020304" pitchFamily="18" charset="0"/>
              </a:rPr>
              <a:t>organization</a:t>
            </a:r>
            <a:r>
              <a:rPr lang="fr-DZ" dirty="0">
                <a:latin typeface="Times New Roman" panose="02020603050405020304" pitchFamily="18" charset="0"/>
                <a:cs typeface="Times New Roman" panose="02020603050405020304" pitchFamily="18" charset="0"/>
              </a:rPr>
              <a:t> by </a:t>
            </a:r>
            <a:r>
              <a:rPr lang="fr-DZ" dirty="0" err="1">
                <a:latin typeface="Times New Roman" panose="02020603050405020304" pitchFamily="18" charset="0"/>
                <a:cs typeface="Times New Roman" panose="02020603050405020304" pitchFamily="18" charset="0"/>
              </a:rPr>
              <a:t>promptly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detecting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potential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threats</a:t>
            </a:r>
            <a:r>
              <a:rPr lang="fr-DZ" dirty="0">
                <a:latin typeface="Times New Roman" panose="02020603050405020304" pitchFamily="18" charset="0"/>
                <a:cs typeface="Times New Roman" panose="02020603050405020304" pitchFamily="18" charset="0"/>
              </a:rPr>
              <a:t>.</a:t>
            </a:r>
          </a:p>
          <a:p>
            <a:pPr algn="just"/>
            <a:endParaRPr lang="fr-DZ" dirty="0">
              <a:latin typeface="Times New Roman" panose="02020603050405020304" pitchFamily="18" charset="0"/>
              <a:cs typeface="Times New Roman" panose="02020603050405020304" pitchFamily="18" charset="0"/>
            </a:endParaRPr>
          </a:p>
          <a:p>
            <a:pPr algn="just"/>
            <a:r>
              <a:rPr lang="fr-DZ" b="1" dirty="0" err="1">
                <a:latin typeface="Times New Roman" panose="02020603050405020304" pitchFamily="18" charset="0"/>
                <a:cs typeface="Times New Roman" panose="02020603050405020304" pitchFamily="18" charset="0"/>
              </a:rPr>
              <a:t>Functionality</a:t>
            </a:r>
            <a:r>
              <a:rPr lang="fr-DZ" b="1"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Unauthorized</a:t>
            </a:r>
            <a:r>
              <a:rPr lang="fr-DZ" dirty="0">
                <a:latin typeface="Times New Roman" panose="02020603050405020304" pitchFamily="18" charset="0"/>
                <a:cs typeface="Times New Roman" panose="02020603050405020304" pitchFamily="18" charset="0"/>
              </a:rPr>
              <a:t> Access: The IDS </a:t>
            </a:r>
            <a:r>
              <a:rPr lang="fr-DZ" dirty="0" err="1">
                <a:latin typeface="Times New Roman" panose="02020603050405020304" pitchFamily="18" charset="0"/>
                <a:cs typeface="Times New Roman" panose="02020603050405020304" pitchFamily="18" charset="0"/>
              </a:rPr>
              <a:t>continuously</a:t>
            </a:r>
            <a:r>
              <a:rPr lang="fr-DZ" dirty="0">
                <a:latin typeface="Times New Roman" panose="02020603050405020304" pitchFamily="18" charset="0"/>
                <a:cs typeface="Times New Roman" panose="02020603050405020304" pitchFamily="18" charset="0"/>
              </a:rPr>
              <a:t> scans for </a:t>
            </a:r>
            <a:r>
              <a:rPr lang="fr-DZ" dirty="0" err="1">
                <a:latin typeface="Times New Roman" panose="02020603050405020304" pitchFamily="18" charset="0"/>
                <a:cs typeface="Times New Roman" panose="02020603050405020304" pitchFamily="18" charset="0"/>
              </a:rPr>
              <a:t>attempts</a:t>
            </a:r>
            <a:r>
              <a:rPr lang="fr-DZ" dirty="0">
                <a:latin typeface="Times New Roman" panose="02020603050405020304" pitchFamily="18" charset="0"/>
                <a:cs typeface="Times New Roman" panose="02020603050405020304" pitchFamily="18" charset="0"/>
              </a:rPr>
              <a:t> to gain </a:t>
            </a:r>
            <a:r>
              <a:rPr lang="fr-DZ" dirty="0" err="1">
                <a:latin typeface="Times New Roman" panose="02020603050405020304" pitchFamily="18" charset="0"/>
                <a:cs typeface="Times New Roman" panose="02020603050405020304" pitchFamily="18" charset="0"/>
              </a:rPr>
              <a:t>unauthorized</a:t>
            </a:r>
            <a:r>
              <a:rPr lang="fr-DZ" dirty="0">
                <a:latin typeface="Times New Roman" panose="02020603050405020304" pitchFamily="18" charset="0"/>
                <a:cs typeface="Times New Roman" panose="02020603050405020304" pitchFamily="18" charset="0"/>
              </a:rPr>
              <a:t> entry </a:t>
            </a:r>
            <a:r>
              <a:rPr lang="fr-DZ" dirty="0" err="1">
                <a:latin typeface="Times New Roman" panose="02020603050405020304" pitchFamily="18" charset="0"/>
                <a:cs typeface="Times New Roman" panose="02020603050405020304" pitchFamily="18" charset="0"/>
              </a:rPr>
              <a:t>into</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systems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ensuring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any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illicit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access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flagged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immediately</a:t>
            </a:r>
            <a:r>
              <a:rPr lang="fr-DZ"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 Policy Violation </a:t>
            </a:r>
            <a:r>
              <a:rPr lang="fr-DZ" dirty="0" err="1">
                <a:latin typeface="Times New Roman" panose="02020603050405020304" pitchFamily="18" charset="0"/>
                <a:cs typeface="Times New Roman" panose="02020603050405020304" pitchFamily="18" charset="0"/>
              </a:rPr>
              <a:t>Alerts</a:t>
            </a:r>
            <a:r>
              <a:rPr lang="fr-DZ" dirty="0">
                <a:latin typeface="Times New Roman" panose="02020603050405020304" pitchFamily="18" charset="0"/>
                <a:cs typeface="Times New Roman" panose="02020603050405020304" pitchFamily="18" charset="0"/>
              </a:rPr>
              <a:t>: The system </a:t>
            </a:r>
            <a:r>
              <a:rPr lang="fr-DZ" dirty="0" err="1">
                <a:latin typeface="Times New Roman" panose="02020603050405020304" pitchFamily="18" charset="0"/>
                <a:cs typeface="Times New Roman" panose="02020603050405020304" pitchFamily="18" charset="0"/>
              </a:rPr>
              <a:t>evaluates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activities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against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established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security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policies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alerting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administrators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when</a:t>
            </a:r>
            <a:r>
              <a:rPr lang="fr-DZ" dirty="0">
                <a:latin typeface="Times New Roman" panose="02020603050405020304" pitchFamily="18" charset="0"/>
                <a:cs typeface="Times New Roman" panose="02020603050405020304" pitchFamily="18" charset="0"/>
              </a:rPr>
              <a:t> violations </a:t>
            </a:r>
            <a:r>
              <a:rPr lang="fr-DZ" dirty="0" err="1">
                <a:latin typeface="Times New Roman" panose="02020603050405020304" pitchFamily="18" charset="0"/>
                <a:cs typeface="Times New Roman" panose="02020603050405020304" pitchFamily="18" charset="0"/>
              </a:rPr>
              <a:t>occur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such</a:t>
            </a:r>
            <a:r>
              <a:rPr lang="fr-DZ" dirty="0">
                <a:latin typeface="Times New Roman" panose="02020603050405020304" pitchFamily="18" charset="0"/>
                <a:cs typeface="Times New Roman" panose="02020603050405020304" pitchFamily="18" charset="0"/>
              </a:rPr>
              <a:t> as </a:t>
            </a:r>
            <a:r>
              <a:rPr lang="fr-DZ" dirty="0" err="1">
                <a:latin typeface="Times New Roman" panose="02020603050405020304" pitchFamily="18" charset="0"/>
                <a:cs typeface="Times New Roman" panose="02020603050405020304" pitchFamily="18" charset="0"/>
              </a:rPr>
              <a:t>improper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access</a:t>
            </a:r>
            <a:r>
              <a:rPr lang="fr-DZ" dirty="0">
                <a:latin typeface="Times New Roman" panose="02020603050405020304" pitchFamily="18" charset="0"/>
                <a:cs typeface="Times New Roman" panose="02020603050405020304" pitchFamily="18" charset="0"/>
              </a:rPr>
              <a:t> to sensitive data or </a:t>
            </a:r>
            <a:r>
              <a:rPr lang="fr-DZ" dirty="0" err="1">
                <a:latin typeface="Times New Roman" panose="02020603050405020304" pitchFamily="18" charset="0"/>
                <a:cs typeface="Times New Roman" panose="02020603050405020304" pitchFamily="18" charset="0"/>
              </a:rPr>
              <a:t>unauthorized</a:t>
            </a:r>
            <a:r>
              <a:rPr lang="fr-DZ" dirty="0">
                <a:latin typeface="Times New Roman" panose="02020603050405020304" pitchFamily="18" charset="0"/>
                <a:cs typeface="Times New Roman" panose="02020603050405020304" pitchFamily="18" charset="0"/>
              </a:rPr>
              <a:t> changes to configurations.</a:t>
            </a:r>
          </a:p>
          <a:p>
            <a:pPr algn="just"/>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Anomaly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By monitoring system performance </a:t>
            </a:r>
            <a:r>
              <a:rPr lang="fr-DZ" dirty="0" err="1">
                <a:latin typeface="Times New Roman" panose="02020603050405020304" pitchFamily="18" charset="0"/>
                <a:cs typeface="Times New Roman" panose="02020603050405020304" pitchFamily="18" charset="0"/>
              </a:rPr>
              <a:t>metrics</a:t>
            </a:r>
            <a:r>
              <a:rPr lang="fr-DZ" dirty="0">
                <a:latin typeface="Times New Roman" panose="02020603050405020304" pitchFamily="18" charset="0"/>
                <a:cs typeface="Times New Roman" panose="02020603050405020304" pitchFamily="18" charset="0"/>
              </a:rPr>
              <a:t>, the IDS can </a:t>
            </a:r>
            <a:r>
              <a:rPr lang="fr-DZ" dirty="0" err="1">
                <a:latin typeface="Times New Roman" panose="02020603050405020304" pitchFamily="18" charset="0"/>
                <a:cs typeface="Times New Roman" panose="02020603050405020304" pitchFamily="18" charset="0"/>
              </a:rPr>
              <a:t>identify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deviations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from</a:t>
            </a:r>
            <a:r>
              <a:rPr lang="fr-DZ" dirty="0">
                <a:latin typeface="Times New Roman" panose="02020603050405020304" pitchFamily="18" charset="0"/>
                <a:cs typeface="Times New Roman" panose="02020603050405020304" pitchFamily="18" charset="0"/>
              </a:rPr>
              <a:t> normal </a:t>
            </a:r>
            <a:r>
              <a:rPr lang="fr-DZ" dirty="0" err="1">
                <a:latin typeface="Times New Roman" panose="02020603050405020304" pitchFamily="18" charset="0"/>
                <a:cs typeface="Times New Roman" panose="02020603050405020304" pitchFamily="18" charset="0"/>
              </a:rPr>
              <a:t>operation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signaling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potential</a:t>
            </a:r>
            <a:r>
              <a:rPr lang="fr-DZ" dirty="0">
                <a:latin typeface="Times New Roman" panose="02020603050405020304" pitchFamily="18" charset="0"/>
                <a:cs typeface="Times New Roman" panose="02020603050405020304" pitchFamily="18" charset="0"/>
              </a:rPr>
              <a:t> intrusions or system </a:t>
            </a:r>
            <a:r>
              <a:rPr lang="fr-DZ" dirty="0" err="1">
                <a:latin typeface="Times New Roman" panose="02020603050405020304" pitchFamily="18" charset="0"/>
                <a:cs typeface="Times New Roman" panose="02020603050405020304" pitchFamily="18" charset="0"/>
              </a:rPr>
              <a:t>malfunctions</a:t>
            </a:r>
            <a:r>
              <a:rPr lang="fr-DZ"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Alert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Mechanism</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When</a:t>
            </a:r>
            <a:r>
              <a:rPr lang="fr-DZ" dirty="0">
                <a:latin typeface="Times New Roman" panose="02020603050405020304" pitchFamily="18" charset="0"/>
                <a:cs typeface="Times New Roman" panose="02020603050405020304" pitchFamily="18" charset="0"/>
              </a:rPr>
              <a:t> the IDS identifies </a:t>
            </a:r>
            <a:r>
              <a:rPr lang="fr-DZ" dirty="0" err="1">
                <a:latin typeface="Times New Roman" panose="02020603050405020304" pitchFamily="18" charset="0"/>
                <a:cs typeface="Times New Roman" panose="02020603050405020304" pitchFamily="18" charset="0"/>
              </a:rPr>
              <a:t>potential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threats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generates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alerts</a:t>
            </a:r>
            <a:r>
              <a:rPr lang="fr-DZ" dirty="0">
                <a:latin typeface="Times New Roman" panose="02020603050405020304" pitchFamily="18" charset="0"/>
                <a:cs typeface="Times New Roman" panose="02020603050405020304" pitchFamily="18" charset="0"/>
              </a:rPr>
              <a:t> for system </a:t>
            </a:r>
            <a:r>
              <a:rPr lang="fr-DZ" dirty="0" err="1">
                <a:latin typeface="Times New Roman" panose="02020603050405020304" pitchFamily="18" charset="0"/>
                <a:cs typeface="Times New Roman" panose="02020603050405020304" pitchFamily="18" charset="0"/>
              </a:rPr>
              <a:t>administrators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providing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them</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timely</a:t>
            </a:r>
            <a:r>
              <a:rPr lang="fr-DZ" dirty="0">
                <a:latin typeface="Times New Roman" panose="02020603050405020304" pitchFamily="18" charset="0"/>
                <a:cs typeface="Times New Roman" panose="02020603050405020304" pitchFamily="18" charset="0"/>
              </a:rPr>
              <a:t> notifications to </a:t>
            </a:r>
            <a:r>
              <a:rPr lang="fr-DZ" dirty="0" err="1">
                <a:latin typeface="Times New Roman" panose="02020603050405020304" pitchFamily="18" charset="0"/>
                <a:cs typeface="Times New Roman" panose="02020603050405020304" pitchFamily="18" charset="0"/>
              </a:rPr>
              <a:t>investigate</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respond</a:t>
            </a:r>
            <a:r>
              <a:rPr lang="fr-DZ" dirty="0">
                <a:latin typeface="Times New Roman" panose="02020603050405020304" pitchFamily="18" charset="0"/>
                <a:cs typeface="Times New Roman" panose="02020603050405020304" pitchFamily="18" charset="0"/>
              </a:rPr>
              <a:t> to incidents.</a:t>
            </a:r>
          </a:p>
          <a:p>
            <a:pPr algn="just"/>
            <a:r>
              <a:rPr lang="fr-DZ" dirty="0">
                <a:latin typeface="Times New Roman" panose="02020603050405020304" pitchFamily="18" charset="0"/>
                <a:cs typeface="Times New Roman" panose="02020603050405020304" pitchFamily="18" charset="0"/>
              </a:rPr>
              <a:t>- Non-Intrusive Monitoring: </a:t>
            </a:r>
            <a:r>
              <a:rPr lang="fr-DZ" dirty="0" err="1">
                <a:latin typeface="Times New Roman" panose="02020603050405020304" pitchFamily="18" charset="0"/>
                <a:cs typeface="Times New Roman" panose="02020603050405020304" pitchFamily="18" charset="0"/>
              </a:rPr>
              <a:t>Unlike</a:t>
            </a:r>
            <a:r>
              <a:rPr lang="fr-DZ" dirty="0">
                <a:latin typeface="Times New Roman" panose="02020603050405020304" pitchFamily="18" charset="0"/>
                <a:cs typeface="Times New Roman" panose="02020603050405020304" pitchFamily="18" charset="0"/>
              </a:rPr>
              <a:t> Intrusion Prevention </a:t>
            </a:r>
            <a:r>
              <a:rPr lang="fr-DZ" dirty="0" err="1">
                <a:latin typeface="Times New Roman" panose="02020603050405020304" pitchFamily="18" charset="0"/>
                <a:cs typeface="Times New Roman" panose="02020603050405020304" pitchFamily="18" charset="0"/>
              </a:rPr>
              <a:t>Systems</a:t>
            </a:r>
            <a:r>
              <a:rPr lang="fr-DZ" dirty="0">
                <a:latin typeface="Times New Roman" panose="02020603050405020304" pitchFamily="18" charset="0"/>
                <a:cs typeface="Times New Roman" panose="02020603050405020304" pitchFamily="18" charset="0"/>
              </a:rPr>
              <a:t> (IPS), IDS </a:t>
            </a:r>
            <a:r>
              <a:rPr lang="fr-DZ" dirty="0" err="1">
                <a:latin typeface="Times New Roman" panose="02020603050405020304" pitchFamily="18" charset="0"/>
                <a:cs typeface="Times New Roman" panose="02020603050405020304" pitchFamily="18" charset="0"/>
              </a:rPr>
              <a:t>does</a:t>
            </a:r>
            <a:r>
              <a:rPr lang="fr-DZ" dirty="0">
                <a:latin typeface="Times New Roman" panose="02020603050405020304" pitchFamily="18" charset="0"/>
                <a:cs typeface="Times New Roman" panose="02020603050405020304" pitchFamily="18" charset="0"/>
              </a:rPr>
              <a:t> not </a:t>
            </a:r>
            <a:r>
              <a:rPr lang="fr-DZ" dirty="0" err="1">
                <a:latin typeface="Times New Roman" panose="02020603050405020304" pitchFamily="18" charset="0"/>
                <a:cs typeface="Times New Roman" panose="02020603050405020304" pitchFamily="18" charset="0"/>
              </a:rPr>
              <a:t>take</a:t>
            </a:r>
            <a:r>
              <a:rPr lang="fr-DZ" dirty="0">
                <a:latin typeface="Times New Roman" panose="02020603050405020304" pitchFamily="18" charset="0"/>
                <a:cs typeface="Times New Roman" panose="02020603050405020304" pitchFamily="18" charset="0"/>
              </a:rPr>
              <a:t> active </a:t>
            </a:r>
            <a:r>
              <a:rPr lang="fr-DZ" dirty="0" err="1">
                <a:latin typeface="Times New Roman" panose="02020603050405020304" pitchFamily="18" charset="0"/>
                <a:cs typeface="Times New Roman" panose="02020603050405020304" pitchFamily="18" charset="0"/>
              </a:rPr>
              <a:t>measures</a:t>
            </a:r>
            <a:r>
              <a:rPr lang="fr-DZ" dirty="0">
                <a:latin typeface="Times New Roman" panose="02020603050405020304" pitchFamily="18" charset="0"/>
                <a:cs typeface="Times New Roman" panose="02020603050405020304" pitchFamily="18" charset="0"/>
              </a:rPr>
              <a:t> to block or </a:t>
            </a:r>
            <a:r>
              <a:rPr lang="fr-DZ" dirty="0" err="1">
                <a:latin typeface="Times New Roman" panose="02020603050405020304" pitchFamily="18" charset="0"/>
                <a:cs typeface="Times New Roman" panose="02020603050405020304" pitchFamily="18" charset="0"/>
              </a:rPr>
              <a:t>prevent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instead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operates</a:t>
            </a:r>
            <a:r>
              <a:rPr lang="fr-DZ" dirty="0">
                <a:latin typeface="Times New Roman" panose="02020603050405020304" pitchFamily="18" charset="0"/>
                <a:cs typeface="Times New Roman" panose="02020603050405020304" pitchFamily="18" charset="0"/>
              </a:rPr>
              <a:t> in a passive mode, </a:t>
            </a:r>
            <a:r>
              <a:rPr lang="fr-DZ" dirty="0" err="1">
                <a:latin typeface="Times New Roman" panose="02020603050405020304" pitchFamily="18" charset="0"/>
                <a:cs typeface="Times New Roman" panose="02020603050405020304" pitchFamily="18" charset="0"/>
              </a:rPr>
              <a:t>focusing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solely</a:t>
            </a:r>
            <a:r>
              <a:rPr lang="fr-DZ" dirty="0">
                <a:latin typeface="Times New Roman" panose="02020603050405020304" pitchFamily="18" charset="0"/>
                <a:cs typeface="Times New Roman" panose="02020603050405020304" pitchFamily="18" charset="0"/>
              </a:rPr>
              <a:t> on monitoring, </a:t>
            </a:r>
            <a:r>
              <a:rPr lang="fr-DZ" dirty="0" err="1">
                <a:latin typeface="Times New Roman" panose="02020603050405020304" pitchFamily="18" charset="0"/>
                <a:cs typeface="Times New Roman" panose="02020603050405020304" pitchFamily="18" charset="0"/>
              </a:rPr>
              <a:t>logging</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reporting</a:t>
            </a:r>
            <a:r>
              <a:rPr lang="fr-DZ"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EA900059-87A8-3D88-6CDB-8B76BE763719}"/>
              </a:ext>
            </a:extLst>
          </p:cNvPr>
          <p:cNvSpPr txBox="1"/>
          <p:nvPr/>
        </p:nvSpPr>
        <p:spPr>
          <a:xfrm>
            <a:off x="1197868" y="332656"/>
            <a:ext cx="9361040" cy="646331"/>
          </a:xfrm>
          <a:prstGeom prst="rect">
            <a:avLst/>
          </a:prstGeom>
          <a:noFill/>
        </p:spPr>
        <p:txBody>
          <a:bodyPr wrap="square">
            <a:spAutoFit/>
          </a:bodyPr>
          <a:lstStyle/>
          <a:p>
            <a:pPr algn="ctr"/>
            <a:r>
              <a:rPr lang="fr-DZ" sz="3600" b="1" dirty="0">
                <a:solidFill>
                  <a:schemeClr val="tx1">
                    <a:lumMod val="75000"/>
                  </a:schemeClr>
                </a:solidFill>
                <a:latin typeface="Times New Roman" panose="02020603050405020304" pitchFamily="18" charset="0"/>
                <a:ea typeface="+mj-ea"/>
                <a:cs typeface="Times New Roman" panose="02020603050405020304" pitchFamily="18" charset="0"/>
              </a:rPr>
              <a:t>Intrusion </a:t>
            </a:r>
            <a:r>
              <a:rPr lang="fr-DZ" sz="3600" b="1" dirty="0" err="1">
                <a:solidFill>
                  <a:schemeClr val="tx1">
                    <a:lumMod val="75000"/>
                  </a:schemeClr>
                </a:solidFill>
                <a:latin typeface="Times New Roman" panose="02020603050405020304" pitchFamily="18" charset="0"/>
                <a:ea typeface="+mj-ea"/>
                <a:cs typeface="Times New Roman" panose="02020603050405020304" pitchFamily="18" charset="0"/>
              </a:rPr>
              <a:t>Detection</a:t>
            </a:r>
            <a:r>
              <a:rPr lang="fr-DZ" sz="3600" b="1" dirty="0">
                <a:solidFill>
                  <a:schemeClr val="tx1">
                    <a:lumMod val="75000"/>
                  </a:schemeClr>
                </a:solidFill>
                <a:latin typeface="Times New Roman" panose="02020603050405020304" pitchFamily="18" charset="0"/>
                <a:ea typeface="+mj-ea"/>
                <a:cs typeface="Times New Roman" panose="02020603050405020304" pitchFamily="18" charset="0"/>
              </a:rPr>
              <a:t> System (IDS</a:t>
            </a:r>
            <a:r>
              <a:rPr lang="fr-FR" sz="3600" b="1" dirty="0">
                <a:solidFill>
                  <a:schemeClr val="tx1">
                    <a:lumMod val="75000"/>
                  </a:schemeClr>
                </a:solidFill>
                <a:latin typeface="Times New Roman" panose="02020603050405020304" pitchFamily="18" charset="0"/>
                <a:ea typeface="+mj-ea"/>
                <a:cs typeface="Times New Roman" panose="02020603050405020304" pitchFamily="18" charset="0"/>
              </a:rPr>
              <a:t>)</a:t>
            </a:r>
            <a:endParaRPr lang="en-US" sz="3600" b="1" dirty="0">
              <a:solidFill>
                <a:schemeClr val="tx1">
                  <a:lumMod val="75000"/>
                </a:schemeClr>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64951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D10540-0FFC-D432-17AC-851D2EDD14D9}"/>
              </a:ext>
            </a:extLst>
          </p:cNvPr>
          <p:cNvSpPr txBox="1"/>
          <p:nvPr/>
        </p:nvSpPr>
        <p:spPr>
          <a:xfrm>
            <a:off x="981844" y="1640989"/>
            <a:ext cx="9937104" cy="4524315"/>
          </a:xfrm>
          <a:prstGeom prst="rect">
            <a:avLst/>
          </a:prstGeom>
          <a:noFill/>
        </p:spPr>
        <p:txBody>
          <a:bodyPr wrap="square">
            <a:spAutoFit/>
          </a:bodyPr>
          <a:lstStyle/>
          <a:p>
            <a:pPr algn="just"/>
            <a:r>
              <a:rPr lang="fr-DZ" dirty="0">
                <a:latin typeface="Times New Roman" panose="02020603050405020304" pitchFamily="18" charset="0"/>
                <a:cs typeface="Times New Roman" panose="02020603050405020304" pitchFamily="18" charset="0"/>
              </a:rPr>
              <a:t>IDS</a:t>
            </a:r>
            <a:r>
              <a:rPr lang="fr-FR" dirty="0">
                <a:latin typeface="Times New Roman" panose="02020603050405020304" pitchFamily="18" charset="0"/>
                <a:cs typeface="Times New Roman" panose="02020603050405020304" pitchFamily="18" charset="0"/>
              </a:rPr>
              <a:t> </a:t>
            </a:r>
            <a:r>
              <a:rPr lang="fr-DZ" dirty="0">
                <a:latin typeface="Times New Roman" panose="02020603050405020304" pitchFamily="18" charset="0"/>
                <a:cs typeface="Times New Roman" panose="02020603050405020304" pitchFamily="18" charset="0"/>
              </a:rPr>
              <a:t>Types</a:t>
            </a:r>
            <a:r>
              <a:rPr lang="fr-FR" dirty="0">
                <a:latin typeface="Times New Roman" panose="02020603050405020304" pitchFamily="18" charset="0"/>
                <a:cs typeface="Times New Roman" panose="02020603050405020304" pitchFamily="18" charset="0"/>
              </a:rPr>
              <a:t>:</a:t>
            </a:r>
            <a:endParaRPr lang="fr-DZ"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fr-DZ" b="1" dirty="0">
                <a:latin typeface="Times New Roman" panose="02020603050405020304" pitchFamily="18" charset="0"/>
                <a:cs typeface="Times New Roman" panose="02020603050405020304" pitchFamily="18" charset="0"/>
              </a:rPr>
              <a:t>Network-</a:t>
            </a:r>
            <a:r>
              <a:rPr lang="fr-DZ" b="1" dirty="0" err="1">
                <a:latin typeface="Times New Roman" panose="02020603050405020304" pitchFamily="18" charset="0"/>
                <a:cs typeface="Times New Roman" panose="02020603050405020304" pitchFamily="18" charset="0"/>
              </a:rPr>
              <a:t>based</a:t>
            </a:r>
            <a:r>
              <a:rPr lang="fr-DZ" b="1" dirty="0">
                <a:latin typeface="Times New Roman" panose="02020603050405020304" pitchFamily="18" charset="0"/>
                <a:cs typeface="Times New Roman" panose="02020603050405020304" pitchFamily="18" charset="0"/>
              </a:rPr>
              <a:t> IDS (NIDS): </a:t>
            </a:r>
            <a:r>
              <a:rPr lang="fr-DZ" dirty="0">
                <a:latin typeface="Times New Roman" panose="02020603050405020304" pitchFamily="18" charset="0"/>
                <a:cs typeface="Times New Roman" panose="02020603050405020304" pitchFamily="18" charset="0"/>
              </a:rPr>
              <a:t>This type of system monitors data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flowing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across</a:t>
            </a:r>
            <a:r>
              <a:rPr lang="fr-DZ" dirty="0">
                <a:latin typeface="Times New Roman" panose="02020603050405020304" pitchFamily="18" charset="0"/>
                <a:cs typeface="Times New Roman" panose="02020603050405020304" pitchFamily="18" charset="0"/>
              </a:rPr>
              <a:t> the network infrastructure. NIDS can </a:t>
            </a:r>
            <a:r>
              <a:rPr lang="fr-DZ" dirty="0" err="1">
                <a:latin typeface="Times New Roman" panose="02020603050405020304" pitchFamily="18" charset="0"/>
                <a:cs typeface="Times New Roman" panose="02020603050405020304" pitchFamily="18" charset="0"/>
              </a:rPr>
              <a:t>analyze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packets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inspect</a:t>
            </a:r>
            <a:r>
              <a:rPr lang="fr-DZ" dirty="0">
                <a:latin typeface="Times New Roman" panose="02020603050405020304" pitchFamily="18" charset="0"/>
                <a:cs typeface="Times New Roman" panose="02020603050405020304" pitchFamily="18" charset="0"/>
              </a:rPr>
              <a:t> communication patterns, and </a:t>
            </a:r>
            <a:r>
              <a:rPr lang="fr-DZ" dirty="0" err="1">
                <a:latin typeface="Times New Roman" panose="02020603050405020304" pitchFamily="18" charset="0"/>
                <a:cs typeface="Times New Roman" panose="02020603050405020304" pitchFamily="18" charset="0"/>
              </a:rPr>
              <a:t>detect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potential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threats</a:t>
            </a:r>
            <a:r>
              <a:rPr lang="fr-DZ" dirty="0">
                <a:latin typeface="Times New Roman" panose="02020603050405020304" pitchFamily="18" charset="0"/>
                <a:cs typeface="Times New Roman" panose="02020603050405020304" pitchFamily="18" charset="0"/>
              </a:rPr>
              <a:t> by </a:t>
            </a:r>
            <a:r>
              <a:rPr lang="fr-DZ" dirty="0" err="1">
                <a:latin typeface="Times New Roman" panose="02020603050405020304" pitchFamily="18" charset="0"/>
                <a:cs typeface="Times New Roman" panose="02020603050405020304" pitchFamily="18" charset="0"/>
              </a:rPr>
              <a:t>assessing</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entirety</a:t>
            </a:r>
            <a:r>
              <a:rPr lang="fr-DZ" dirty="0">
                <a:latin typeface="Times New Roman" panose="02020603050405020304" pitchFamily="18" charset="0"/>
                <a:cs typeface="Times New Roman" panose="02020603050405020304" pitchFamily="18" charset="0"/>
              </a:rPr>
              <a:t> of the </a:t>
            </a:r>
            <a:r>
              <a:rPr lang="fr-DZ" dirty="0" err="1">
                <a:latin typeface="Times New Roman" panose="02020603050405020304" pitchFamily="18" charset="0"/>
                <a:cs typeface="Times New Roman" panose="02020603050405020304" pitchFamily="18" charset="0"/>
              </a:rPr>
              <a:t>network's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in real-time.</a:t>
            </a:r>
          </a:p>
          <a:p>
            <a:pPr marL="342900" indent="-342900" algn="just">
              <a:buFont typeface="Arial" panose="020B0604020202020204" pitchFamily="34" charset="0"/>
              <a:buChar char="•"/>
            </a:pPr>
            <a:r>
              <a:rPr lang="fr-DZ" b="1" dirty="0">
                <a:latin typeface="Times New Roman" panose="02020603050405020304" pitchFamily="18" charset="0"/>
                <a:cs typeface="Times New Roman" panose="02020603050405020304" pitchFamily="18" charset="0"/>
              </a:rPr>
              <a:t>Host-</a:t>
            </a:r>
            <a:r>
              <a:rPr lang="fr-DZ" b="1" dirty="0" err="1">
                <a:latin typeface="Times New Roman" panose="02020603050405020304" pitchFamily="18" charset="0"/>
                <a:cs typeface="Times New Roman" panose="02020603050405020304" pitchFamily="18" charset="0"/>
              </a:rPr>
              <a:t>based</a:t>
            </a:r>
            <a:r>
              <a:rPr lang="fr-DZ" b="1" dirty="0">
                <a:latin typeface="Times New Roman" panose="02020603050405020304" pitchFamily="18" charset="0"/>
                <a:cs typeface="Times New Roman" panose="02020603050405020304" pitchFamily="18" charset="0"/>
              </a:rPr>
              <a:t> IDS (HIDS): </a:t>
            </a:r>
            <a:r>
              <a:rPr lang="fr-DZ" dirty="0">
                <a:latin typeface="Times New Roman" panose="02020603050405020304" pitchFamily="18" charset="0"/>
                <a:cs typeface="Times New Roman" panose="02020603050405020304" pitchFamily="18" charset="0"/>
              </a:rPr>
              <a:t>HIDS </a:t>
            </a:r>
            <a:r>
              <a:rPr lang="fr-DZ" dirty="0" err="1">
                <a:latin typeface="Times New Roman" panose="02020603050405020304" pitchFamily="18" charset="0"/>
                <a:cs typeface="Times New Roman" panose="02020603050405020304" pitchFamily="18" charset="0"/>
              </a:rPr>
              <a:t>focuses</a:t>
            </a:r>
            <a:r>
              <a:rPr lang="fr-DZ" dirty="0">
                <a:latin typeface="Times New Roman" panose="02020603050405020304" pitchFamily="18" charset="0"/>
                <a:cs typeface="Times New Roman" panose="02020603050405020304" pitchFamily="18" charset="0"/>
              </a:rPr>
              <a:t> on monitoring the </a:t>
            </a:r>
            <a:r>
              <a:rPr lang="fr-DZ" dirty="0" err="1">
                <a:latin typeface="Times New Roman" panose="02020603050405020304" pitchFamily="18" charset="0"/>
                <a:cs typeface="Times New Roman" panose="02020603050405020304" pitchFamily="18" charset="0"/>
              </a:rPr>
              <a:t>activities</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events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occurring</a:t>
            </a:r>
            <a:r>
              <a:rPr lang="fr-DZ" dirty="0">
                <a:latin typeface="Times New Roman" panose="02020603050405020304" pitchFamily="18" charset="0"/>
                <a:cs typeface="Times New Roman" panose="02020603050405020304" pitchFamily="18" charset="0"/>
              </a:rPr>
              <a:t> on a </a:t>
            </a:r>
            <a:r>
              <a:rPr lang="fr-DZ" dirty="0" err="1">
                <a:latin typeface="Times New Roman" panose="02020603050405020304" pitchFamily="18" charset="0"/>
                <a:cs typeface="Times New Roman" panose="02020603050405020304" pitchFamily="18" charset="0"/>
              </a:rPr>
              <a:t>specific</a:t>
            </a:r>
            <a:r>
              <a:rPr lang="fr-DZ" dirty="0">
                <a:latin typeface="Times New Roman" panose="02020603050405020304" pitchFamily="18" charset="0"/>
                <a:cs typeface="Times New Roman" panose="02020603050405020304" pitchFamily="18" charset="0"/>
              </a:rPr>
              <a:t> host or server. This </a:t>
            </a:r>
            <a:r>
              <a:rPr lang="fr-DZ" dirty="0" err="1">
                <a:latin typeface="Times New Roman" panose="02020603050405020304" pitchFamily="18" charset="0"/>
                <a:cs typeface="Times New Roman" panose="02020603050405020304" pitchFamily="18" charset="0"/>
              </a:rPr>
              <a:t>includes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tracking</a:t>
            </a:r>
            <a:r>
              <a:rPr lang="fr-DZ" dirty="0">
                <a:latin typeface="Times New Roman" panose="02020603050405020304" pitchFamily="18" charset="0"/>
                <a:cs typeface="Times New Roman" panose="02020603050405020304" pitchFamily="18" charset="0"/>
              </a:rPr>
              <a:t> file </a:t>
            </a:r>
            <a:r>
              <a:rPr lang="fr-DZ" dirty="0" err="1">
                <a:latin typeface="Times New Roman" panose="02020603050405020304" pitchFamily="18" charset="0"/>
                <a:cs typeface="Times New Roman" panose="02020603050405020304" pitchFamily="18" charset="0"/>
              </a:rPr>
              <a:t>integrity</a:t>
            </a:r>
            <a:r>
              <a:rPr lang="fr-DZ" dirty="0">
                <a:latin typeface="Times New Roman" panose="02020603050405020304" pitchFamily="18" charset="0"/>
                <a:cs typeface="Times New Roman" panose="02020603050405020304" pitchFamily="18" charset="0"/>
              </a:rPr>
              <a:t>, system calls, and </a:t>
            </a:r>
            <a:r>
              <a:rPr lang="fr-DZ" dirty="0" err="1">
                <a:latin typeface="Times New Roman" panose="02020603050405020304" pitchFamily="18" charset="0"/>
                <a:cs typeface="Times New Roman" panose="02020603050405020304" pitchFamily="18" charset="0"/>
              </a:rPr>
              <a:t>processes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thereby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providing</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granular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level</a:t>
            </a:r>
            <a:r>
              <a:rPr lang="fr-DZ" dirty="0">
                <a:latin typeface="Times New Roman" panose="02020603050405020304" pitchFamily="18" charset="0"/>
                <a:cs typeface="Times New Roman" panose="02020603050405020304" pitchFamily="18" charset="0"/>
              </a:rPr>
              <a:t> of monitoring for </a:t>
            </a:r>
            <a:r>
              <a:rPr lang="fr-DZ" dirty="0" err="1">
                <a:latin typeface="Times New Roman" panose="02020603050405020304" pitchFamily="18" charset="0"/>
                <a:cs typeface="Times New Roman" panose="02020603050405020304" pitchFamily="18" charset="0"/>
              </a:rPr>
              <a:t>critical</a:t>
            </a:r>
            <a:r>
              <a:rPr lang="fr-DZ" dirty="0">
                <a:latin typeface="Times New Roman" panose="02020603050405020304" pitchFamily="18" charset="0"/>
                <a:cs typeface="Times New Roman" panose="02020603050405020304" pitchFamily="18" charset="0"/>
              </a:rPr>
              <a:t> servers and </a:t>
            </a:r>
            <a:r>
              <a:rPr lang="fr-DZ" dirty="0" err="1">
                <a:latin typeface="Times New Roman" panose="02020603050405020304" pitchFamily="18" charset="0"/>
                <a:cs typeface="Times New Roman" panose="02020603050405020304" pitchFamily="18" charset="0"/>
              </a:rPr>
              <a:t>endpoints</a:t>
            </a:r>
            <a:r>
              <a:rPr lang="fr-DZ" dirty="0">
                <a:latin typeface="Times New Roman" panose="02020603050405020304" pitchFamily="18" charset="0"/>
                <a:cs typeface="Times New Roman" panose="02020603050405020304" pitchFamily="18" charset="0"/>
              </a:rPr>
              <a:t>.</a:t>
            </a:r>
          </a:p>
          <a:p>
            <a:pPr algn="just"/>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Techniques</a:t>
            </a:r>
            <a:r>
              <a:rPr lang="fr-FR" dirty="0">
                <a:latin typeface="Times New Roman" panose="02020603050405020304" pitchFamily="18" charset="0"/>
                <a:cs typeface="Times New Roman" panose="02020603050405020304" pitchFamily="18" charset="0"/>
              </a:rPr>
              <a:t>:</a:t>
            </a:r>
            <a:endParaRPr lang="fr-DZ"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fr-DZ" b="1" dirty="0">
                <a:latin typeface="Times New Roman" panose="02020603050405020304" pitchFamily="18" charset="0"/>
                <a:cs typeface="Times New Roman" panose="02020603050405020304" pitchFamily="18" charset="0"/>
              </a:rPr>
              <a:t>Signature-</a:t>
            </a:r>
            <a:r>
              <a:rPr lang="fr-DZ" b="1" dirty="0" err="1">
                <a:latin typeface="Times New Roman" panose="02020603050405020304" pitchFamily="18" charset="0"/>
                <a:cs typeface="Times New Roman" panose="02020603050405020304" pitchFamily="18" charset="0"/>
              </a:rPr>
              <a:t>based</a:t>
            </a:r>
            <a:r>
              <a:rPr lang="fr-DZ" b="1" dirty="0">
                <a:latin typeface="Times New Roman" panose="02020603050405020304" pitchFamily="18" charset="0"/>
                <a:cs typeface="Times New Roman" panose="02020603050405020304" pitchFamily="18" charset="0"/>
              </a:rPr>
              <a:t> </a:t>
            </a:r>
            <a:r>
              <a:rPr lang="fr-DZ" b="1" dirty="0" err="1">
                <a:latin typeface="Times New Roman" panose="02020603050405020304" pitchFamily="18" charset="0"/>
                <a:cs typeface="Times New Roman" panose="02020603050405020304" pitchFamily="18" charset="0"/>
              </a:rPr>
              <a:t>Detection</a:t>
            </a:r>
            <a:r>
              <a:rPr lang="fr-DZ" b="1" dirty="0">
                <a:latin typeface="Times New Roman" panose="02020603050405020304" pitchFamily="18" charset="0"/>
                <a:cs typeface="Times New Roman" panose="02020603050405020304" pitchFamily="18" charset="0"/>
              </a:rPr>
              <a:t>: </a:t>
            </a:r>
            <a:r>
              <a:rPr lang="fr-DZ" dirty="0">
                <a:latin typeface="Times New Roman" panose="02020603050405020304" pitchFamily="18" charset="0"/>
                <a:cs typeface="Times New Roman" panose="02020603050405020304" pitchFamily="18" charset="0"/>
              </a:rPr>
              <a:t>This </a:t>
            </a:r>
            <a:r>
              <a:rPr lang="fr-DZ" dirty="0" err="1">
                <a:latin typeface="Times New Roman" panose="02020603050405020304" pitchFamily="18" charset="0"/>
                <a:cs typeface="Times New Roman" panose="02020603050405020304" pitchFamily="18" charset="0"/>
              </a:rPr>
              <a:t>approach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involves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comparing</a:t>
            </a:r>
            <a:r>
              <a:rPr lang="fr-DZ" dirty="0">
                <a:latin typeface="Times New Roman" panose="02020603050405020304" pitchFamily="18" charset="0"/>
                <a:cs typeface="Times New Roman" panose="02020603050405020304" pitchFamily="18" charset="0"/>
              </a:rPr>
              <a:t> network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against</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database</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known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attack</a:t>
            </a:r>
            <a:r>
              <a:rPr lang="fr-DZ" dirty="0">
                <a:latin typeface="Times New Roman" panose="02020603050405020304" pitchFamily="18" charset="0"/>
                <a:cs typeface="Times New Roman" panose="02020603050405020304" pitchFamily="18" charset="0"/>
              </a:rPr>
              <a:t> signatures or patterns. </a:t>
            </a:r>
            <a:r>
              <a:rPr lang="fr-DZ" dirty="0" err="1">
                <a:latin typeface="Times New Roman" panose="02020603050405020304" pitchFamily="18" charset="0"/>
                <a:cs typeface="Times New Roman" panose="02020603050405020304" pitchFamily="18" charset="0"/>
              </a:rPr>
              <a:t>Similar</a:t>
            </a:r>
            <a:r>
              <a:rPr lang="fr-DZ" dirty="0">
                <a:latin typeface="Times New Roman" panose="02020603050405020304" pitchFamily="18" charset="0"/>
                <a:cs typeface="Times New Roman" panose="02020603050405020304" pitchFamily="18" charset="0"/>
              </a:rPr>
              <a:t> to antivirus software,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relies on </a:t>
            </a:r>
            <a:r>
              <a:rPr lang="fr-DZ" dirty="0" err="1">
                <a:latin typeface="Times New Roman" panose="02020603050405020304" pitchFamily="18" charset="0"/>
                <a:cs typeface="Times New Roman" panose="02020603050405020304" pitchFamily="18" charset="0"/>
              </a:rPr>
              <a:t>established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threat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definitions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identify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malicious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While</a:t>
            </a:r>
            <a:r>
              <a:rPr lang="fr-DZ" dirty="0">
                <a:latin typeface="Times New Roman" panose="02020603050405020304" pitchFamily="18" charset="0"/>
                <a:cs typeface="Times New Roman" panose="02020603050405020304" pitchFamily="18" charset="0"/>
              </a:rPr>
              <a:t> effective for </a:t>
            </a:r>
            <a:r>
              <a:rPr lang="fr-DZ" dirty="0" err="1">
                <a:latin typeface="Times New Roman" panose="02020603050405020304" pitchFamily="18" charset="0"/>
                <a:cs typeface="Times New Roman" panose="02020603050405020304" pitchFamily="18" charset="0"/>
              </a:rPr>
              <a:t>known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threats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may</a:t>
            </a:r>
            <a:r>
              <a:rPr lang="fr-DZ" dirty="0">
                <a:latin typeface="Times New Roman" panose="02020603050405020304" pitchFamily="18" charset="0"/>
                <a:cs typeface="Times New Roman" panose="02020603050405020304" pitchFamily="18" charset="0"/>
              </a:rPr>
              <a:t> miss </a:t>
            </a:r>
            <a:r>
              <a:rPr lang="fr-DZ" dirty="0" err="1">
                <a:latin typeface="Times New Roman" panose="02020603050405020304" pitchFamily="18" charset="0"/>
                <a:cs typeface="Times New Roman" panose="02020603050405020304" pitchFamily="18" charset="0"/>
              </a:rPr>
              <a:t>newly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developed</a:t>
            </a:r>
            <a:r>
              <a:rPr lang="fr-DZ" dirty="0">
                <a:latin typeface="Times New Roman" panose="02020603050405020304" pitchFamily="18" charset="0"/>
                <a:cs typeface="Times New Roman" panose="02020603050405020304" pitchFamily="18" charset="0"/>
              </a:rPr>
              <a:t> or </a:t>
            </a:r>
            <a:r>
              <a:rPr lang="fr-DZ" dirty="0" err="1">
                <a:latin typeface="Times New Roman" panose="02020603050405020304" pitchFamily="18" charset="0"/>
                <a:cs typeface="Times New Roman" panose="02020603050405020304" pitchFamily="18" charset="0"/>
              </a:rPr>
              <a:t>sophisticated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attacks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do not match </a:t>
            </a:r>
            <a:r>
              <a:rPr lang="fr-DZ" dirty="0" err="1">
                <a:latin typeface="Times New Roman" panose="02020603050405020304" pitchFamily="18" charset="0"/>
                <a:cs typeface="Times New Roman" panose="02020603050405020304" pitchFamily="18" charset="0"/>
              </a:rPr>
              <a:t>existing</a:t>
            </a:r>
            <a:r>
              <a:rPr lang="fr-DZ" dirty="0">
                <a:latin typeface="Times New Roman" panose="02020603050405020304" pitchFamily="18" charset="0"/>
                <a:cs typeface="Times New Roman" panose="02020603050405020304" pitchFamily="18" charset="0"/>
              </a:rPr>
              <a:t> signatures. </a:t>
            </a:r>
          </a:p>
          <a:p>
            <a:pPr marL="342900" indent="-342900" algn="just">
              <a:buFont typeface="Arial" panose="020B0604020202020204" pitchFamily="34" charset="0"/>
              <a:buChar char="•"/>
            </a:pPr>
            <a:r>
              <a:rPr lang="fr-DZ" b="1" dirty="0" err="1">
                <a:latin typeface="Times New Roman" panose="02020603050405020304" pitchFamily="18" charset="0"/>
                <a:cs typeface="Times New Roman" panose="02020603050405020304" pitchFamily="18" charset="0"/>
              </a:rPr>
              <a:t>Anomaly-based</a:t>
            </a:r>
            <a:r>
              <a:rPr lang="fr-DZ" b="1" dirty="0">
                <a:latin typeface="Times New Roman" panose="02020603050405020304" pitchFamily="18" charset="0"/>
                <a:cs typeface="Times New Roman" panose="02020603050405020304" pitchFamily="18" charset="0"/>
              </a:rPr>
              <a:t> </a:t>
            </a:r>
            <a:r>
              <a:rPr lang="fr-DZ" b="1" dirty="0" err="1">
                <a:latin typeface="Times New Roman" panose="02020603050405020304" pitchFamily="18" charset="0"/>
                <a:cs typeface="Times New Roman" panose="02020603050405020304" pitchFamily="18" charset="0"/>
              </a:rPr>
              <a:t>Detection</a:t>
            </a:r>
            <a:r>
              <a:rPr lang="fr-DZ" b="1"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Utilizing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advanced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statistical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models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algorithms</a:t>
            </a:r>
            <a:r>
              <a:rPr lang="fr-DZ" dirty="0">
                <a:latin typeface="Times New Roman" panose="02020603050405020304" pitchFamily="18" charset="0"/>
                <a:cs typeface="Times New Roman" panose="02020603050405020304" pitchFamily="18" charset="0"/>
              </a:rPr>
              <a:t>, or machine </a:t>
            </a:r>
            <a:r>
              <a:rPr lang="fr-DZ" dirty="0" err="1">
                <a:latin typeface="Times New Roman" panose="02020603050405020304" pitchFamily="18" charset="0"/>
                <a:cs typeface="Times New Roman" panose="02020603050405020304" pitchFamily="18" charset="0"/>
              </a:rPr>
              <a:t>learning</a:t>
            </a:r>
            <a:r>
              <a:rPr lang="fr-DZ" dirty="0">
                <a:latin typeface="Times New Roman" panose="02020603050405020304" pitchFamily="18" charset="0"/>
                <a:cs typeface="Times New Roman" panose="02020603050405020304" pitchFamily="18" charset="0"/>
              </a:rPr>
              <a:t> techniques, </a:t>
            </a:r>
            <a:r>
              <a:rPr lang="fr-DZ" dirty="0" err="1">
                <a:latin typeface="Times New Roman" panose="02020603050405020304" pitchFamily="18" charset="0"/>
                <a:cs typeface="Times New Roman" panose="02020603050405020304" pitchFamily="18" charset="0"/>
              </a:rPr>
              <a:t>this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method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establishes</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baseline</a:t>
            </a:r>
            <a:r>
              <a:rPr lang="fr-DZ" dirty="0">
                <a:latin typeface="Times New Roman" panose="02020603050405020304" pitchFamily="18" charset="0"/>
                <a:cs typeface="Times New Roman" panose="02020603050405020304" pitchFamily="18" charset="0"/>
              </a:rPr>
              <a:t> of normal </a:t>
            </a:r>
            <a:r>
              <a:rPr lang="fr-DZ" dirty="0" err="1">
                <a:latin typeface="Times New Roman" panose="02020603050405020304" pitchFamily="18" charset="0"/>
                <a:cs typeface="Times New Roman" panose="02020603050405020304" pitchFamily="18" charset="0"/>
              </a:rPr>
              <a:t>behavior</a:t>
            </a:r>
            <a:r>
              <a:rPr lang="fr-DZ" dirty="0">
                <a:latin typeface="Times New Roman" panose="02020603050405020304" pitchFamily="18" charset="0"/>
                <a:cs typeface="Times New Roman" panose="02020603050405020304" pitchFamily="18" charset="0"/>
              </a:rPr>
              <a:t> for </a:t>
            </a:r>
            <a:r>
              <a:rPr lang="fr-DZ" dirty="0" err="1">
                <a:latin typeface="Times New Roman" panose="02020603050405020304" pitchFamily="18" charset="0"/>
                <a:cs typeface="Times New Roman" panose="02020603050405020304" pitchFamily="18" charset="0"/>
              </a:rPr>
              <a:t>systems</a:t>
            </a:r>
            <a:r>
              <a:rPr lang="fr-DZ" dirty="0">
                <a:latin typeface="Times New Roman" panose="02020603050405020304" pitchFamily="18" charset="0"/>
                <a:cs typeface="Times New Roman" panose="02020603050405020304" pitchFamily="18" charset="0"/>
              </a:rPr>
              <a:t> or networks. It </a:t>
            </a:r>
            <a:r>
              <a:rPr lang="fr-DZ" dirty="0" err="1">
                <a:latin typeface="Times New Roman" panose="02020603050405020304" pitchFamily="18" charset="0"/>
                <a:cs typeface="Times New Roman" panose="02020603050405020304" pitchFamily="18" charset="0"/>
              </a:rPr>
              <a:t>then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detects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unusual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activity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deviates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from</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baseline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allowing</a:t>
            </a:r>
            <a:r>
              <a:rPr lang="fr-DZ" dirty="0">
                <a:latin typeface="Times New Roman" panose="02020603050405020304" pitchFamily="18" charset="0"/>
                <a:cs typeface="Times New Roman" panose="02020603050405020304" pitchFamily="18" charset="0"/>
              </a:rPr>
              <a:t> for the identification of </a:t>
            </a:r>
            <a:r>
              <a:rPr lang="fr-DZ" dirty="0" err="1">
                <a:latin typeface="Times New Roman" panose="02020603050405020304" pitchFamily="18" charset="0"/>
                <a:cs typeface="Times New Roman" panose="02020603050405020304" pitchFamily="18" charset="0"/>
              </a:rPr>
              <a:t>previously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unknown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threats</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zero-day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vulnerabilities</a:t>
            </a:r>
            <a:r>
              <a:rPr lang="fr-DZ"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C6A75D13-B54D-7DC7-0845-AB76E1AC6168}"/>
              </a:ext>
            </a:extLst>
          </p:cNvPr>
          <p:cNvSpPr txBox="1"/>
          <p:nvPr/>
        </p:nvSpPr>
        <p:spPr>
          <a:xfrm>
            <a:off x="1197868" y="550421"/>
            <a:ext cx="9361040" cy="646331"/>
          </a:xfrm>
          <a:prstGeom prst="rect">
            <a:avLst/>
          </a:prstGeom>
          <a:noFill/>
        </p:spPr>
        <p:txBody>
          <a:bodyPr wrap="square">
            <a:spAutoFit/>
          </a:bodyPr>
          <a:lstStyle/>
          <a:p>
            <a:pPr algn="ctr"/>
            <a:r>
              <a:rPr lang="fr-DZ" sz="3600" b="1" dirty="0">
                <a:solidFill>
                  <a:schemeClr val="tx1">
                    <a:lumMod val="75000"/>
                  </a:schemeClr>
                </a:solidFill>
                <a:latin typeface="Times New Roman" panose="02020603050405020304" pitchFamily="18" charset="0"/>
                <a:ea typeface="+mj-ea"/>
                <a:cs typeface="Times New Roman" panose="02020603050405020304" pitchFamily="18" charset="0"/>
              </a:rPr>
              <a:t>IDS</a:t>
            </a:r>
            <a:r>
              <a:rPr lang="fr-FR" sz="3600" b="1" dirty="0">
                <a:solidFill>
                  <a:schemeClr val="tx1">
                    <a:lumMod val="75000"/>
                  </a:schemeClr>
                </a:solidFill>
                <a:latin typeface="Times New Roman" panose="02020603050405020304" pitchFamily="18" charset="0"/>
                <a:ea typeface="+mj-ea"/>
                <a:cs typeface="Times New Roman" panose="02020603050405020304" pitchFamily="18" charset="0"/>
              </a:rPr>
              <a:t> Types and </a:t>
            </a:r>
            <a:r>
              <a:rPr lang="fr-FR" sz="3600" b="1" dirty="0" err="1">
                <a:solidFill>
                  <a:schemeClr val="tx1">
                    <a:lumMod val="75000"/>
                  </a:schemeClr>
                </a:solidFill>
                <a:latin typeface="Times New Roman" panose="02020603050405020304" pitchFamily="18" charset="0"/>
                <a:ea typeface="+mj-ea"/>
                <a:cs typeface="Times New Roman" panose="02020603050405020304" pitchFamily="18" charset="0"/>
              </a:rPr>
              <a:t>Detection</a:t>
            </a:r>
            <a:r>
              <a:rPr lang="fr-FR" sz="3600" b="1" dirty="0">
                <a:solidFill>
                  <a:schemeClr val="tx1">
                    <a:lumMod val="75000"/>
                  </a:schemeClr>
                </a:solidFill>
                <a:latin typeface="Times New Roman" panose="02020603050405020304" pitchFamily="18" charset="0"/>
                <a:ea typeface="+mj-ea"/>
                <a:cs typeface="Times New Roman" panose="02020603050405020304" pitchFamily="18" charset="0"/>
              </a:rPr>
              <a:t> Techniques</a:t>
            </a:r>
            <a:endParaRPr lang="en-US" sz="3600" b="1" dirty="0">
              <a:solidFill>
                <a:schemeClr val="tx1">
                  <a:lumMod val="75000"/>
                </a:schemeClr>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46711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C12CC-7977-B20F-8F30-F4BD7FE78E07}"/>
              </a:ext>
            </a:extLst>
          </p:cNvPr>
          <p:cNvSpPr>
            <a:spLocks noGrp="1"/>
          </p:cNvSpPr>
          <p:nvPr>
            <p:ph type="title"/>
          </p:nvPr>
        </p:nvSpPr>
        <p:spPr>
          <a:xfrm>
            <a:off x="1593436" y="316955"/>
            <a:ext cx="9782801" cy="1239837"/>
          </a:xfrm>
        </p:spPr>
        <p:txBody>
          <a:bodyPr/>
          <a:lstStyle/>
          <a:p>
            <a:pPr algn="ctr"/>
            <a:r>
              <a:rPr lang="fr-DZ" b="1" dirty="0">
                <a:latin typeface="Times New Roman" panose="02020603050405020304" pitchFamily="18" charset="0"/>
                <a:cs typeface="Times New Roman" panose="02020603050405020304" pitchFamily="18" charset="0"/>
              </a:rPr>
              <a:t>Intrusion Prevention System (IPS)</a:t>
            </a:r>
            <a:br>
              <a:rPr lang="fr-DZ" b="1" dirty="0">
                <a:latin typeface="Times New Roman" panose="02020603050405020304" pitchFamily="18" charset="0"/>
                <a:cs typeface="Times New Roman" panose="02020603050405020304" pitchFamily="18" charset="0"/>
              </a:rPr>
            </a:br>
            <a:endParaRPr lang="fr-DZ" b="1" dirty="0"/>
          </a:p>
        </p:txBody>
      </p:sp>
      <p:sp>
        <p:nvSpPr>
          <p:cNvPr id="6" name="TextBox 5">
            <a:extLst>
              <a:ext uri="{FF2B5EF4-FFF2-40B4-BE49-F238E27FC236}">
                <a16:creationId xmlns:a16="http://schemas.microsoft.com/office/drawing/2014/main" id="{C919A0EE-44A5-B2E8-93AF-6AA5FEF49620}"/>
              </a:ext>
            </a:extLst>
          </p:cNvPr>
          <p:cNvSpPr txBox="1"/>
          <p:nvPr/>
        </p:nvSpPr>
        <p:spPr>
          <a:xfrm>
            <a:off x="1485900" y="1469097"/>
            <a:ext cx="10297144" cy="5078313"/>
          </a:xfrm>
          <a:prstGeom prst="rect">
            <a:avLst/>
          </a:prstGeom>
          <a:noFill/>
        </p:spPr>
        <p:txBody>
          <a:bodyPr wrap="square">
            <a:spAutoFit/>
          </a:bodyPr>
          <a:lstStyle/>
          <a:p>
            <a:pPr algn="just"/>
            <a:r>
              <a:rPr lang="fr-DZ" b="1" dirty="0" err="1">
                <a:latin typeface="Times New Roman" panose="02020603050405020304" pitchFamily="18" charset="0"/>
                <a:cs typeface="Times New Roman" panose="02020603050405020304" pitchFamily="18" charset="0"/>
              </a:rPr>
              <a:t>Definition</a:t>
            </a:r>
            <a:r>
              <a:rPr lang="fr-DZ" b="1"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An Intrusion Prevention System (IPS)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an </a:t>
            </a:r>
            <a:r>
              <a:rPr lang="fr-DZ" dirty="0" err="1">
                <a:latin typeface="Times New Roman" panose="02020603050405020304" pitchFamily="18" charset="0"/>
                <a:cs typeface="Times New Roman" panose="02020603050405020304" pitchFamily="18" charset="0"/>
              </a:rPr>
              <a:t>advanced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security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mechanism</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designed</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enhance</a:t>
            </a:r>
            <a:r>
              <a:rPr lang="fr-DZ" dirty="0">
                <a:latin typeface="Times New Roman" panose="02020603050405020304" pitchFamily="18" charset="0"/>
                <a:cs typeface="Times New Roman" panose="02020603050405020304" pitchFamily="18" charset="0"/>
              </a:rPr>
              <a:t> network </a:t>
            </a:r>
            <a:r>
              <a:rPr lang="fr-DZ" dirty="0" err="1">
                <a:latin typeface="Times New Roman" panose="02020603050405020304" pitchFamily="18" charset="0"/>
                <a:cs typeface="Times New Roman" panose="02020603050405020304" pitchFamily="18" charset="0"/>
              </a:rPr>
              <a:t>defense</a:t>
            </a:r>
            <a:r>
              <a:rPr lang="fr-DZ" dirty="0">
                <a:latin typeface="Times New Roman" panose="02020603050405020304" pitchFamily="18" charset="0"/>
                <a:cs typeface="Times New Roman" panose="02020603050405020304" pitchFamily="18" charset="0"/>
              </a:rPr>
              <a:t> by not </a:t>
            </a:r>
            <a:r>
              <a:rPr lang="fr-DZ" dirty="0" err="1">
                <a:latin typeface="Times New Roman" panose="02020603050405020304" pitchFamily="18" charset="0"/>
                <a:cs typeface="Times New Roman" panose="02020603050405020304" pitchFamily="18" charset="0"/>
              </a:rPr>
              <a:t>only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detecting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potential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threats</a:t>
            </a:r>
            <a:r>
              <a:rPr lang="fr-DZ" dirty="0">
                <a:latin typeface="Times New Roman" panose="02020603050405020304" pitchFamily="18" charset="0"/>
                <a:cs typeface="Times New Roman" panose="02020603050405020304" pitchFamily="18" charset="0"/>
              </a:rPr>
              <a:t> but </a:t>
            </a:r>
            <a:r>
              <a:rPr lang="fr-DZ" dirty="0" err="1">
                <a:latin typeface="Times New Roman" panose="02020603050405020304" pitchFamily="18" charset="0"/>
                <a:cs typeface="Times New Roman" panose="02020603050405020304" pitchFamily="18" charset="0"/>
              </a:rPr>
              <a:t>also</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proactively</a:t>
            </a:r>
            <a:r>
              <a:rPr lang="fr-DZ" dirty="0">
                <a:latin typeface="Times New Roman" panose="02020603050405020304" pitchFamily="18" charset="0"/>
                <a:cs typeface="Times New Roman" panose="02020603050405020304" pitchFamily="18" charset="0"/>
              </a:rPr>
              <a:t> blocking or </a:t>
            </a:r>
            <a:r>
              <a:rPr lang="fr-DZ" dirty="0" err="1">
                <a:latin typeface="Times New Roman" panose="02020603050405020304" pitchFamily="18" charset="0"/>
                <a:cs typeface="Times New Roman" panose="02020603050405020304" pitchFamily="18" charset="0"/>
              </a:rPr>
              <a:t>mitigating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them</a:t>
            </a:r>
            <a:r>
              <a:rPr lang="fr-DZ" dirty="0">
                <a:latin typeface="Times New Roman" panose="02020603050405020304" pitchFamily="18" charset="0"/>
                <a:cs typeface="Times New Roman" panose="02020603050405020304" pitchFamily="18" charset="0"/>
              </a:rPr>
              <a:t> in real-time. </a:t>
            </a:r>
            <a:r>
              <a:rPr lang="fr-DZ" dirty="0" err="1">
                <a:latin typeface="Times New Roman" panose="02020603050405020304" pitchFamily="18" charset="0"/>
                <a:cs typeface="Times New Roman" panose="02020603050405020304" pitchFamily="18" charset="0"/>
              </a:rPr>
              <a:t>Unlike</a:t>
            </a:r>
            <a:r>
              <a:rPr lang="fr-DZ" dirty="0">
                <a:latin typeface="Times New Roman" panose="02020603050405020304" pitchFamily="18" charset="0"/>
                <a:cs typeface="Times New Roman" panose="02020603050405020304" pitchFamily="18" charset="0"/>
              </a:rPr>
              <a:t> an Intrusion </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System (IDS), </a:t>
            </a:r>
            <a:r>
              <a:rPr lang="fr-DZ" dirty="0" err="1">
                <a:latin typeface="Times New Roman" panose="02020603050405020304" pitchFamily="18" charset="0"/>
                <a:cs typeface="Times New Roman" panose="02020603050405020304" pitchFamily="18" charset="0"/>
              </a:rPr>
              <a:t>which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solely</a:t>
            </a:r>
            <a:r>
              <a:rPr lang="fr-DZ" dirty="0">
                <a:latin typeface="Times New Roman" panose="02020603050405020304" pitchFamily="18" charset="0"/>
                <a:cs typeface="Times New Roman" panose="02020603050405020304" pitchFamily="18" charset="0"/>
              </a:rPr>
              <a:t> monitors and </a:t>
            </a:r>
            <a:r>
              <a:rPr lang="fr-DZ" dirty="0" err="1">
                <a:latin typeface="Times New Roman" panose="02020603050405020304" pitchFamily="18" charset="0"/>
                <a:cs typeface="Times New Roman" panose="02020603050405020304" pitchFamily="18" charset="0"/>
              </a:rPr>
              <a:t>alerts</a:t>
            </a:r>
            <a:r>
              <a:rPr lang="fr-DZ" dirty="0">
                <a:latin typeface="Times New Roman" panose="02020603050405020304" pitchFamily="18" charset="0"/>
                <a:cs typeface="Times New Roman" panose="02020603050405020304" pitchFamily="18" charset="0"/>
              </a:rPr>
              <a:t> on </a:t>
            </a:r>
            <a:r>
              <a:rPr lang="fr-DZ" dirty="0" err="1">
                <a:latin typeface="Times New Roman" panose="02020603050405020304" pitchFamily="18" charset="0"/>
                <a:cs typeface="Times New Roman" panose="02020603050405020304" pitchFamily="18" charset="0"/>
              </a:rPr>
              <a:t>suspicious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activity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without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taking</a:t>
            </a:r>
            <a:r>
              <a:rPr lang="fr-DZ" dirty="0">
                <a:latin typeface="Times New Roman" panose="02020603050405020304" pitchFamily="18" charset="0"/>
                <a:cs typeface="Times New Roman" panose="02020603050405020304" pitchFamily="18" charset="0"/>
              </a:rPr>
              <a:t> action, an IPS </a:t>
            </a:r>
            <a:r>
              <a:rPr lang="fr-DZ" dirty="0" err="1">
                <a:latin typeface="Times New Roman" panose="02020603050405020304" pitchFamily="18" charset="0"/>
                <a:cs typeface="Times New Roman" panose="02020603050405020304" pitchFamily="18" charset="0"/>
              </a:rPr>
              <a:t>takes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immediate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countermeasures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safeguard</a:t>
            </a:r>
            <a:r>
              <a:rPr lang="fr-DZ" dirty="0">
                <a:latin typeface="Times New Roman" panose="02020603050405020304" pitchFamily="18" charset="0"/>
                <a:cs typeface="Times New Roman" panose="02020603050405020304" pitchFamily="18" charset="0"/>
              </a:rPr>
              <a:t> network </a:t>
            </a:r>
            <a:r>
              <a:rPr lang="fr-DZ" dirty="0" err="1">
                <a:latin typeface="Times New Roman" panose="02020603050405020304" pitchFamily="18" charset="0"/>
                <a:cs typeface="Times New Roman" panose="02020603050405020304" pitchFamily="18" charset="0"/>
              </a:rPr>
              <a:t>integrity</a:t>
            </a:r>
            <a:r>
              <a:rPr lang="fr-DZ" dirty="0">
                <a:latin typeface="Times New Roman" panose="02020603050405020304" pitchFamily="18" charset="0"/>
                <a:cs typeface="Times New Roman" panose="02020603050405020304" pitchFamily="18" charset="0"/>
              </a:rPr>
              <a:t>.</a:t>
            </a:r>
          </a:p>
          <a:p>
            <a:pPr algn="just"/>
            <a:r>
              <a:rPr lang="fr-DZ" b="1" dirty="0" err="1">
                <a:latin typeface="Times New Roman" panose="02020603050405020304" pitchFamily="18" charset="0"/>
                <a:cs typeface="Times New Roman" panose="02020603050405020304" pitchFamily="18" charset="0"/>
              </a:rPr>
              <a:t>Function</a:t>
            </a:r>
            <a:r>
              <a:rPr lang="fr-DZ" b="1"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 Real-Time Network Monitoring: An IPS </a:t>
            </a:r>
            <a:r>
              <a:rPr lang="fr-DZ" dirty="0" err="1">
                <a:latin typeface="Times New Roman" panose="02020603050405020304" pitchFamily="18" charset="0"/>
                <a:cs typeface="Times New Roman" panose="02020603050405020304" pitchFamily="18" charset="0"/>
              </a:rPr>
              <a:t>continuously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analyzes</a:t>
            </a:r>
            <a:r>
              <a:rPr lang="fr-DZ" dirty="0">
                <a:latin typeface="Times New Roman" panose="02020603050405020304" pitchFamily="18" charset="0"/>
                <a:cs typeface="Times New Roman" panose="02020603050405020304" pitchFamily="18" charset="0"/>
              </a:rPr>
              <a:t> network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streams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identify</a:t>
            </a:r>
            <a:r>
              <a:rPr lang="fr-DZ" dirty="0">
                <a:latin typeface="Times New Roman" panose="02020603050405020304" pitchFamily="18" charset="0"/>
                <a:cs typeface="Times New Roman" panose="02020603050405020304" pitchFamily="18" charset="0"/>
              </a:rPr>
              <a:t> patterns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may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suggest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malicious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intent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allowing</a:t>
            </a:r>
            <a:r>
              <a:rPr lang="fr-DZ" dirty="0">
                <a:latin typeface="Times New Roman" panose="02020603050405020304" pitchFamily="18" charset="0"/>
                <a:cs typeface="Times New Roman" panose="02020603050405020304" pitchFamily="18" charset="0"/>
              </a:rPr>
              <a:t> for </a:t>
            </a:r>
            <a:r>
              <a:rPr lang="fr-DZ" dirty="0" err="1">
                <a:latin typeface="Times New Roman" panose="02020603050405020304" pitchFamily="18" charset="0"/>
                <a:cs typeface="Times New Roman" panose="02020603050405020304" pitchFamily="18" charset="0"/>
              </a:rPr>
              <a:t>rapid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of anomalies.</a:t>
            </a:r>
          </a:p>
          <a:p>
            <a:pPr algn="just"/>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Packet</a:t>
            </a:r>
            <a:r>
              <a:rPr lang="fr-DZ" dirty="0">
                <a:latin typeface="Times New Roman" panose="02020603050405020304" pitchFamily="18" charset="0"/>
                <a:cs typeface="Times New Roman" panose="02020603050405020304" pitchFamily="18" charset="0"/>
              </a:rPr>
              <a:t> Inspection: It </a:t>
            </a:r>
            <a:r>
              <a:rPr lang="fr-DZ" dirty="0" err="1">
                <a:latin typeface="Times New Roman" panose="02020603050405020304" pitchFamily="18" charset="0"/>
                <a:cs typeface="Times New Roman" panose="02020603050405020304" pitchFamily="18" charset="0"/>
              </a:rPr>
              <a:t>utilizes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deep</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packet</a:t>
            </a:r>
            <a:r>
              <a:rPr lang="fr-DZ" dirty="0">
                <a:latin typeface="Times New Roman" panose="02020603050405020304" pitchFamily="18" charset="0"/>
                <a:cs typeface="Times New Roman" panose="02020603050405020304" pitchFamily="18" charset="0"/>
              </a:rPr>
              <a:t> inspection (DPI) techniques to </a:t>
            </a:r>
            <a:r>
              <a:rPr lang="fr-DZ" dirty="0" err="1">
                <a:latin typeface="Times New Roman" panose="02020603050405020304" pitchFamily="18" charset="0"/>
                <a:cs typeface="Times New Roman" panose="02020603050405020304" pitchFamily="18" charset="0"/>
              </a:rPr>
              <a:t>scrutinize</a:t>
            </a:r>
            <a:r>
              <a:rPr lang="fr-DZ" dirty="0">
                <a:latin typeface="Times New Roman" panose="02020603050405020304" pitchFamily="18" charset="0"/>
                <a:cs typeface="Times New Roman" panose="02020603050405020304" pitchFamily="18" charset="0"/>
              </a:rPr>
              <a:t> the contents of data </a:t>
            </a:r>
            <a:r>
              <a:rPr lang="fr-DZ" dirty="0" err="1">
                <a:latin typeface="Times New Roman" panose="02020603050405020304" pitchFamily="18" charset="0"/>
                <a:cs typeface="Times New Roman" panose="02020603050405020304" pitchFamily="18" charset="0"/>
              </a:rPr>
              <a:t>packets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discerning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between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benign</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harmful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Malicious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packets</a:t>
            </a:r>
            <a:r>
              <a:rPr lang="fr-DZ" dirty="0">
                <a:latin typeface="Times New Roman" panose="02020603050405020304" pitchFamily="18" charset="0"/>
                <a:cs typeface="Times New Roman" panose="02020603050405020304" pitchFamily="18" charset="0"/>
              </a:rPr>
              <a:t> can </a:t>
            </a:r>
            <a:r>
              <a:rPr lang="fr-DZ" dirty="0" err="1">
                <a:latin typeface="Times New Roman" panose="02020603050405020304" pitchFamily="18" charset="0"/>
                <a:cs typeface="Times New Roman" panose="02020603050405020304" pitchFamily="18" charset="0"/>
              </a:rPr>
              <a:t>be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identified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based</a:t>
            </a:r>
            <a:r>
              <a:rPr lang="fr-DZ" dirty="0">
                <a:latin typeface="Times New Roman" panose="02020603050405020304" pitchFamily="18" charset="0"/>
                <a:cs typeface="Times New Roman" panose="02020603050405020304" pitchFamily="18" charset="0"/>
              </a:rPr>
              <a:t> on </a:t>
            </a:r>
            <a:r>
              <a:rPr lang="fr-DZ" dirty="0" err="1">
                <a:latin typeface="Times New Roman" panose="02020603050405020304" pitchFamily="18" charset="0"/>
                <a:cs typeface="Times New Roman" panose="02020603050405020304" pitchFamily="18" charset="0"/>
              </a:rPr>
              <a:t>predefined</a:t>
            </a:r>
            <a:r>
              <a:rPr lang="fr-DZ" dirty="0">
                <a:latin typeface="Times New Roman" panose="02020603050405020304" pitchFamily="18" charset="0"/>
                <a:cs typeface="Times New Roman" panose="02020603050405020304" pitchFamily="18" charset="0"/>
              </a:rPr>
              <a:t> signatures or </a:t>
            </a:r>
            <a:r>
              <a:rPr lang="fr-DZ" dirty="0" err="1">
                <a:latin typeface="Times New Roman" panose="02020603050405020304" pitchFamily="18" charset="0"/>
                <a:cs typeface="Times New Roman" panose="02020603050405020304" pitchFamily="18" charset="0"/>
              </a:rPr>
              <a:t>behavioral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analysis</a:t>
            </a:r>
            <a:r>
              <a:rPr lang="fr-DZ" dirty="0">
                <a:latin typeface="Times New Roman" panose="02020603050405020304" pitchFamily="18" charset="0"/>
                <a:cs typeface="Times New Roman" panose="02020603050405020304" pitchFamily="18" charset="0"/>
              </a:rPr>
              <a:t>.  </a:t>
            </a:r>
          </a:p>
          <a:p>
            <a:pPr algn="just"/>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Automated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Response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Upon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detecting</a:t>
            </a:r>
            <a:r>
              <a:rPr lang="fr-DZ" dirty="0">
                <a:latin typeface="Times New Roman" panose="02020603050405020304" pitchFamily="18" charset="0"/>
                <a:cs typeface="Times New Roman" panose="02020603050405020304" pitchFamily="18" charset="0"/>
              </a:rPr>
              <a:t> an </a:t>
            </a:r>
            <a:r>
              <a:rPr lang="fr-DZ" dirty="0" err="1">
                <a:latin typeface="Times New Roman" panose="02020603050405020304" pitchFamily="18" charset="0"/>
                <a:cs typeface="Times New Roman" panose="02020603050405020304" pitchFamily="18" charset="0"/>
              </a:rPr>
              <a:t>attack</a:t>
            </a:r>
            <a:r>
              <a:rPr lang="fr-DZ" dirty="0">
                <a:latin typeface="Times New Roman" panose="02020603050405020304" pitchFamily="18" charset="0"/>
                <a:cs typeface="Times New Roman" panose="02020603050405020304" pitchFamily="18" charset="0"/>
              </a:rPr>
              <a:t>, the IPS can </a:t>
            </a:r>
            <a:r>
              <a:rPr lang="fr-DZ" dirty="0" err="1">
                <a:latin typeface="Times New Roman" panose="02020603050405020304" pitchFamily="18" charset="0"/>
                <a:cs typeface="Times New Roman" panose="02020603050405020304" pitchFamily="18" charset="0"/>
              </a:rPr>
              <a:t>take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predefined</a:t>
            </a:r>
            <a:r>
              <a:rPr lang="fr-DZ" dirty="0">
                <a:latin typeface="Times New Roman" panose="02020603050405020304" pitchFamily="18" charset="0"/>
                <a:cs typeface="Times New Roman" panose="02020603050405020304" pitchFamily="18" charset="0"/>
              </a:rPr>
              <a:t> actions </a:t>
            </a:r>
            <a:r>
              <a:rPr lang="fr-DZ" dirty="0" err="1">
                <a:latin typeface="Times New Roman" panose="02020603050405020304" pitchFamily="18" charset="0"/>
                <a:cs typeface="Times New Roman" panose="02020603050405020304" pitchFamily="18" charset="0"/>
              </a:rPr>
              <a:t>such</a:t>
            </a:r>
            <a:r>
              <a:rPr lang="fr-DZ" dirty="0">
                <a:latin typeface="Times New Roman" panose="02020603050405020304" pitchFamily="18" charset="0"/>
                <a:cs typeface="Times New Roman" panose="02020603050405020304" pitchFamily="18" charset="0"/>
              </a:rPr>
              <a:t> as </a:t>
            </a:r>
            <a:r>
              <a:rPr lang="fr-DZ" dirty="0" err="1">
                <a:latin typeface="Times New Roman" panose="02020603050405020304" pitchFamily="18" charset="0"/>
                <a:cs typeface="Times New Roman" panose="02020603050405020304" pitchFamily="18" charset="0"/>
              </a:rPr>
              <a:t>dropping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malicious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packets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resetting</a:t>
            </a:r>
            <a:r>
              <a:rPr lang="fr-DZ" dirty="0">
                <a:latin typeface="Times New Roman" panose="02020603050405020304" pitchFamily="18" charset="0"/>
                <a:cs typeface="Times New Roman" panose="02020603050405020304" pitchFamily="18" charset="0"/>
              </a:rPr>
              <a:t> connections, or </a:t>
            </a:r>
            <a:r>
              <a:rPr lang="fr-DZ" dirty="0" err="1">
                <a:latin typeface="Times New Roman" panose="02020603050405020304" pitchFamily="18" charset="0"/>
                <a:cs typeface="Times New Roman" panose="02020603050405020304" pitchFamily="18" charset="0"/>
              </a:rPr>
              <a:t>even</a:t>
            </a:r>
            <a:r>
              <a:rPr lang="fr-DZ" dirty="0">
                <a:latin typeface="Times New Roman" panose="02020603050405020304" pitchFamily="18" charset="0"/>
                <a:cs typeface="Times New Roman" panose="02020603050405020304" pitchFamily="18" charset="0"/>
              </a:rPr>
              <a:t> blocking the </a:t>
            </a:r>
            <a:r>
              <a:rPr lang="fr-DZ" dirty="0" err="1">
                <a:latin typeface="Times New Roman" panose="02020603050405020304" pitchFamily="18" charset="0"/>
                <a:cs typeface="Times New Roman" panose="02020603050405020304" pitchFamily="18" charset="0"/>
              </a:rPr>
              <a:t>offending</a:t>
            </a:r>
            <a:r>
              <a:rPr lang="fr-DZ" dirty="0">
                <a:latin typeface="Times New Roman" panose="02020603050405020304" pitchFamily="18" charset="0"/>
                <a:cs typeface="Times New Roman" panose="02020603050405020304" pitchFamily="18" charset="0"/>
              </a:rPr>
              <a:t> IP </a:t>
            </a:r>
            <a:r>
              <a:rPr lang="fr-DZ" dirty="0" err="1">
                <a:latin typeface="Times New Roman" panose="02020603050405020304" pitchFamily="18" charset="0"/>
                <a:cs typeface="Times New Roman" panose="02020603050405020304" pitchFamily="18" charset="0"/>
              </a:rPr>
              <a:t>addresses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prevent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further</a:t>
            </a:r>
            <a:r>
              <a:rPr lang="fr-DZ" dirty="0">
                <a:latin typeface="Times New Roman" panose="02020603050405020304" pitchFamily="18" charset="0"/>
                <a:cs typeface="Times New Roman" panose="02020603050405020304" pitchFamily="18" charset="0"/>
              </a:rPr>
              <a:t> incidents.</a:t>
            </a:r>
          </a:p>
          <a:p>
            <a:pPr algn="just"/>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Integration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a:t>
            </a:r>
            <a:r>
              <a:rPr lang="fr-DZ" dirty="0">
                <a:latin typeface="Times New Roman" panose="02020603050405020304" pitchFamily="18" charset="0"/>
                <a:cs typeface="Times New Roman" panose="02020603050405020304" pitchFamily="18" charset="0"/>
              </a:rPr>
              <a:t> Next-</a:t>
            </a:r>
            <a:r>
              <a:rPr lang="fr-DZ" dirty="0" err="1">
                <a:latin typeface="Times New Roman" panose="02020603050405020304" pitchFamily="18" charset="0"/>
                <a:cs typeface="Times New Roman" panose="02020603050405020304" pitchFamily="18" charset="0"/>
              </a:rPr>
              <a:t>Generation</a:t>
            </a:r>
            <a:r>
              <a:rPr lang="fr-DZ" dirty="0">
                <a:latin typeface="Times New Roman" panose="02020603050405020304" pitchFamily="18" charset="0"/>
                <a:cs typeface="Times New Roman" panose="02020603050405020304" pitchFamily="18" charset="0"/>
              </a:rPr>
              <a:t> Firewalls (NGFW): </a:t>
            </a:r>
            <a:r>
              <a:rPr lang="fr-DZ" dirty="0" err="1">
                <a:latin typeface="Times New Roman" panose="02020603050405020304" pitchFamily="18" charset="0"/>
                <a:cs typeface="Times New Roman" panose="02020603050405020304" pitchFamily="18" charset="0"/>
              </a:rPr>
              <a:t>Often</a:t>
            </a:r>
            <a:r>
              <a:rPr lang="fr-DZ" dirty="0">
                <a:latin typeface="Times New Roman" panose="02020603050405020304" pitchFamily="18" charset="0"/>
                <a:cs typeface="Times New Roman" panose="02020603050405020304" pitchFamily="18" charset="0"/>
              </a:rPr>
              <a:t>, IPS </a:t>
            </a:r>
            <a:r>
              <a:rPr lang="fr-DZ" dirty="0" err="1">
                <a:latin typeface="Times New Roman" panose="02020603050405020304" pitchFamily="18" charset="0"/>
                <a:cs typeface="Times New Roman" panose="02020603050405020304" pitchFamily="18" charset="0"/>
              </a:rPr>
              <a:t>functionality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embedded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within</a:t>
            </a:r>
            <a:r>
              <a:rPr lang="fr-DZ" dirty="0">
                <a:latin typeface="Times New Roman" panose="02020603050405020304" pitchFamily="18" charset="0"/>
                <a:cs typeface="Times New Roman" panose="02020603050405020304" pitchFamily="18" charset="0"/>
              </a:rPr>
              <a:t> Next-</a:t>
            </a:r>
            <a:r>
              <a:rPr lang="fr-DZ" dirty="0" err="1">
                <a:latin typeface="Times New Roman" panose="02020603050405020304" pitchFamily="18" charset="0"/>
                <a:cs typeface="Times New Roman" panose="02020603050405020304" pitchFamily="18" charset="0"/>
              </a:rPr>
              <a:t>Generation</a:t>
            </a:r>
            <a:r>
              <a:rPr lang="fr-DZ" dirty="0">
                <a:latin typeface="Times New Roman" panose="02020603050405020304" pitchFamily="18" charset="0"/>
                <a:cs typeface="Times New Roman" panose="02020603050405020304" pitchFamily="18" charset="0"/>
              </a:rPr>
              <a:t> Firewalls, </a:t>
            </a:r>
            <a:r>
              <a:rPr lang="fr-DZ" dirty="0" err="1">
                <a:latin typeface="Times New Roman" panose="02020603050405020304" pitchFamily="18" charset="0"/>
                <a:cs typeface="Times New Roman" panose="02020603050405020304" pitchFamily="18" charset="0"/>
              </a:rPr>
              <a:t>providing</a:t>
            </a:r>
            <a:r>
              <a:rPr lang="fr-DZ" dirty="0">
                <a:latin typeface="Times New Roman" panose="02020603050405020304" pitchFamily="18" charset="0"/>
                <a:cs typeface="Times New Roman" panose="02020603050405020304" pitchFamily="18" charset="0"/>
              </a:rPr>
              <a:t> a more </a:t>
            </a:r>
            <a:r>
              <a:rPr lang="fr-DZ" dirty="0" err="1">
                <a:latin typeface="Times New Roman" panose="02020603050405020304" pitchFamily="18" charset="0"/>
                <a:cs typeface="Times New Roman" panose="02020603050405020304" pitchFamily="18" charset="0"/>
              </a:rPr>
              <a:t>cohesive</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comprehensive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security</a:t>
            </a:r>
            <a:r>
              <a:rPr lang="fr-DZ" dirty="0">
                <a:latin typeface="Times New Roman" panose="02020603050405020304" pitchFamily="18" charset="0"/>
                <a:cs typeface="Times New Roman" panose="02020603050405020304" pitchFamily="18" charset="0"/>
              </a:rPr>
              <a:t> solution. This </a:t>
            </a:r>
            <a:r>
              <a:rPr lang="fr-DZ" dirty="0" err="1">
                <a:latin typeface="Times New Roman" panose="02020603050405020304" pitchFamily="18" charset="0"/>
                <a:cs typeface="Times New Roman" panose="02020603050405020304" pitchFamily="18" charset="0"/>
              </a:rPr>
              <a:t>integration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allows</a:t>
            </a:r>
            <a:r>
              <a:rPr lang="fr-DZ" dirty="0">
                <a:latin typeface="Times New Roman" panose="02020603050405020304" pitchFamily="18" charset="0"/>
                <a:cs typeface="Times New Roman" panose="02020603050405020304" pitchFamily="18" charset="0"/>
              </a:rPr>
              <a:t> for more </a:t>
            </a:r>
            <a:r>
              <a:rPr lang="fr-DZ" dirty="0" err="1">
                <a:latin typeface="Times New Roman" panose="02020603050405020304" pitchFamily="18" charset="0"/>
                <a:cs typeface="Times New Roman" panose="02020603050405020304" pitchFamily="18" charset="0"/>
              </a:rPr>
              <a:t>sophisticated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filtering</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threat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combining</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features</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traditional</a:t>
            </a:r>
            <a:r>
              <a:rPr lang="fr-DZ" dirty="0">
                <a:latin typeface="Times New Roman" panose="02020603050405020304" pitchFamily="18" charset="0"/>
                <a:cs typeface="Times New Roman" panose="02020603050405020304" pitchFamily="18" charset="0"/>
              </a:rPr>
              <a:t> firewalls </a:t>
            </a:r>
            <a:r>
              <a:rPr lang="fr-DZ" dirty="0" err="1">
                <a:latin typeface="Times New Roman" panose="02020603050405020304" pitchFamily="18" charset="0"/>
                <a:cs typeface="Times New Roman" panose="02020603050405020304" pitchFamily="18" charset="0"/>
              </a:rPr>
              <a:t>with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advanced</a:t>
            </a:r>
            <a:r>
              <a:rPr lang="fr-DZ" dirty="0">
                <a:latin typeface="Times New Roman" panose="02020603050405020304" pitchFamily="18" charset="0"/>
                <a:cs typeface="Times New Roman" panose="02020603050405020304" pitchFamily="18" charset="0"/>
              </a:rPr>
              <a:t> malware </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20846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E77CD-530A-4F4C-21F2-AB17A9F17FC0}"/>
              </a:ext>
            </a:extLst>
          </p:cNvPr>
          <p:cNvSpPr>
            <a:spLocks noGrp="1"/>
          </p:cNvSpPr>
          <p:nvPr>
            <p:ph type="title"/>
          </p:nvPr>
        </p:nvSpPr>
        <p:spPr>
          <a:xfrm>
            <a:off x="1593436" y="-171400"/>
            <a:ext cx="9782801" cy="1239837"/>
          </a:xfrm>
        </p:spPr>
        <p:txBody>
          <a:bodyPr/>
          <a:lstStyle/>
          <a:p>
            <a:r>
              <a:rPr lang="en-US" b="1" dirty="0">
                <a:latin typeface="Times New Roman" panose="02020603050405020304" pitchFamily="18" charset="0"/>
                <a:cs typeface="Times New Roman" panose="02020603050405020304" pitchFamily="18" charset="0"/>
              </a:rPr>
              <a:t>Other Network Defense Mechanisms</a:t>
            </a:r>
            <a:endParaRPr lang="fr-DZ"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FA9C376-F94A-FE5B-8AB5-64322C7A2CE6}"/>
              </a:ext>
            </a:extLst>
          </p:cNvPr>
          <p:cNvSpPr txBox="1"/>
          <p:nvPr/>
        </p:nvSpPr>
        <p:spPr>
          <a:xfrm>
            <a:off x="1485900" y="1268760"/>
            <a:ext cx="10225136" cy="5078313"/>
          </a:xfrm>
          <a:prstGeom prst="rect">
            <a:avLst/>
          </a:prstGeom>
          <a:noFill/>
        </p:spPr>
        <p:txBody>
          <a:bodyPr wrap="square">
            <a:spAutoFit/>
          </a:bodyPr>
          <a:lstStyle/>
          <a:p>
            <a:pPr>
              <a:buFont typeface="+mj-lt"/>
              <a:buAutoNum type="arabicPeriod"/>
            </a:pPr>
            <a:r>
              <a:rPr lang="en-US" b="1" dirty="0">
                <a:latin typeface="Times New Roman" panose="02020603050405020304" pitchFamily="18" charset="0"/>
                <a:cs typeface="Times New Roman" panose="02020603050405020304" pitchFamily="18" charset="0"/>
              </a:rPr>
              <a:t>Network Access Control (NAC):</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Ensures only authenticated and compliant devices can connect to the network.</a:t>
            </a:r>
          </a:p>
          <a:p>
            <a:pPr>
              <a:buFont typeface="+mj-lt"/>
              <a:buAutoNum type="arabicPeriod"/>
            </a:pPr>
            <a:r>
              <a:rPr lang="en-US" b="1" dirty="0">
                <a:latin typeface="Times New Roman" panose="02020603050405020304" pitchFamily="18" charset="0"/>
                <a:cs typeface="Times New Roman" panose="02020603050405020304" pitchFamily="18" charset="0"/>
              </a:rPr>
              <a:t>Virtual Private Network (VPN):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Encrypts communication between remote users and the internal network, ensuring confidentiality and integrity over public links.</a:t>
            </a:r>
          </a:p>
          <a:p>
            <a:pPr>
              <a:buFont typeface="+mj-lt"/>
              <a:buAutoNum type="arabicPeriod"/>
            </a:pPr>
            <a:r>
              <a:rPr lang="en-US" b="1" dirty="0">
                <a:latin typeface="Times New Roman" panose="02020603050405020304" pitchFamily="18" charset="0"/>
                <a:cs typeface="Times New Roman" panose="02020603050405020304" pitchFamily="18" charset="0"/>
              </a:rPr>
              <a:t>Demilitarized Zone (DMZ):</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separate subnetwork that isolates public-facing services (like web servers) from the internal LAN — limits exposure if a server is compromised.</a:t>
            </a:r>
          </a:p>
          <a:p>
            <a:pPr>
              <a:buFont typeface="+mj-lt"/>
              <a:buAutoNum type="arabicPeriod"/>
            </a:pPr>
            <a:r>
              <a:rPr lang="en-US" b="1" dirty="0">
                <a:latin typeface="Times New Roman" panose="02020603050405020304" pitchFamily="18" charset="0"/>
                <a:cs typeface="Times New Roman" panose="02020603050405020304" pitchFamily="18" charset="0"/>
              </a:rPr>
              <a:t>Antivirus and Anti-Malware Gateways: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Inspect files and emails for malicious content before allowing them into the network.</a:t>
            </a:r>
          </a:p>
          <a:p>
            <a:pPr>
              <a:buFont typeface="+mj-lt"/>
              <a:buAutoNum type="arabicPeriod"/>
            </a:pPr>
            <a:r>
              <a:rPr lang="en-US" b="1" dirty="0">
                <a:latin typeface="Times New Roman" panose="02020603050405020304" pitchFamily="18" charset="0"/>
                <a:cs typeface="Times New Roman" panose="02020603050405020304" pitchFamily="18" charset="0"/>
              </a:rPr>
              <a:t>Security Information and Event Management (SIEM):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Collects and analyzes logs from multiple security systems to detect complex or correlated attacks.</a:t>
            </a:r>
          </a:p>
          <a:p>
            <a:pPr>
              <a:buFont typeface="+mj-lt"/>
              <a:buAutoNum type="arabicPeriod"/>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a secure network, multiple defense mechanisms work together in a </a:t>
            </a:r>
            <a:r>
              <a:rPr lang="en-US" b="1" dirty="0">
                <a:latin typeface="Times New Roman" panose="02020603050405020304" pitchFamily="18" charset="0"/>
                <a:cs typeface="Times New Roman" panose="02020603050405020304" pitchFamily="18" charset="0"/>
              </a:rPr>
              <a:t>layered approach</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Firewalls</a:t>
            </a:r>
            <a:r>
              <a:rPr lang="en-US" dirty="0">
                <a:latin typeface="Times New Roman" panose="02020603050405020304" pitchFamily="18" charset="0"/>
                <a:cs typeface="Times New Roman" panose="02020603050405020304" pitchFamily="18" charset="0"/>
              </a:rPr>
              <a:t> filter traffic and block unauthorized access, while </a:t>
            </a:r>
            <a:r>
              <a:rPr lang="en-US" b="1" dirty="0">
                <a:latin typeface="Times New Roman" panose="02020603050405020304" pitchFamily="18" charset="0"/>
                <a:cs typeface="Times New Roman" panose="02020603050405020304" pitchFamily="18" charset="0"/>
              </a:rPr>
              <a:t>IDS/IPS</a:t>
            </a:r>
            <a:r>
              <a:rPr lang="en-US" dirty="0">
                <a:latin typeface="Times New Roman" panose="02020603050405020304" pitchFamily="18" charset="0"/>
                <a:cs typeface="Times New Roman" panose="02020603050405020304" pitchFamily="18" charset="0"/>
              </a:rPr>
              <a:t> detect and prevent intrusions in real time.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NAC</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VPNs</a:t>
            </a:r>
            <a:r>
              <a:rPr lang="en-US" dirty="0">
                <a:latin typeface="Times New Roman" panose="02020603050405020304" pitchFamily="18" charset="0"/>
                <a:cs typeface="Times New Roman" panose="02020603050405020304" pitchFamily="18" charset="0"/>
              </a:rPr>
              <a:t> ensure secure and trusted connections, and a </a:t>
            </a:r>
            <a:r>
              <a:rPr lang="en-US" b="1" dirty="0">
                <a:latin typeface="Times New Roman" panose="02020603050405020304" pitchFamily="18" charset="0"/>
                <a:cs typeface="Times New Roman" panose="02020603050405020304" pitchFamily="18" charset="0"/>
              </a:rPr>
              <a:t>DMZ</a:t>
            </a:r>
            <a:r>
              <a:rPr lang="en-US" dirty="0">
                <a:latin typeface="Times New Roman" panose="02020603050405020304" pitchFamily="18" charset="0"/>
                <a:cs typeface="Times New Roman" panose="02020603050405020304" pitchFamily="18" charset="0"/>
              </a:rPr>
              <a:t> isolates public services from the internal network. Finally, </a:t>
            </a:r>
            <a:r>
              <a:rPr lang="en-US" b="1" dirty="0">
                <a:latin typeface="Times New Roman" panose="02020603050405020304" pitchFamily="18" charset="0"/>
                <a:cs typeface="Times New Roman" panose="02020603050405020304" pitchFamily="18" charset="0"/>
              </a:rPr>
              <a:t>SIEM</a:t>
            </a:r>
            <a:r>
              <a:rPr lang="en-US" dirty="0">
                <a:latin typeface="Times New Roman" panose="02020603050405020304" pitchFamily="18" charset="0"/>
                <a:cs typeface="Times New Roman" panose="02020603050405020304" pitchFamily="18" charset="0"/>
              </a:rPr>
              <a:t> systems centralize monitoring and alerting, providing complete visibility and faster incident response.</a:t>
            </a:r>
          </a:p>
        </p:txBody>
      </p:sp>
      <p:sp>
        <p:nvSpPr>
          <p:cNvPr id="7" name="Rectangle: Rounded Corners 6">
            <a:extLst>
              <a:ext uri="{FF2B5EF4-FFF2-40B4-BE49-F238E27FC236}">
                <a16:creationId xmlns:a16="http://schemas.microsoft.com/office/drawing/2014/main" id="{3B02C554-E228-D649-5504-8547DC6FF302}"/>
              </a:ext>
            </a:extLst>
          </p:cNvPr>
          <p:cNvSpPr/>
          <p:nvPr/>
        </p:nvSpPr>
        <p:spPr>
          <a:xfrm>
            <a:off x="1413892" y="4725144"/>
            <a:ext cx="10297144" cy="1678236"/>
          </a:xfrm>
          <a:prstGeom prst="roundRect">
            <a:avLst/>
          </a:prstGeom>
          <a:noFill/>
          <a:ln>
            <a:solidFill>
              <a:srgbClr val="C00000"/>
            </a:solidFill>
          </a:ln>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Tree>
    <p:extLst>
      <p:ext uri="{BB962C8B-B14F-4D97-AF65-F5344CB8AC3E}">
        <p14:creationId xmlns:p14="http://schemas.microsoft.com/office/powerpoint/2010/main" val="415543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54B4A9-9371-756D-938C-10286D094CAF}"/>
              </a:ext>
            </a:extLst>
          </p:cNvPr>
          <p:cNvSpPr txBox="1"/>
          <p:nvPr/>
        </p:nvSpPr>
        <p:spPr>
          <a:xfrm>
            <a:off x="837828" y="910461"/>
            <a:ext cx="10225136"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Secure Network Design Principles - Best Practices -</a:t>
            </a:r>
            <a:endParaRPr lang="fr-DZ"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0804A4-7E7E-C507-53FB-AF09913E5C7E}"/>
              </a:ext>
            </a:extLst>
          </p:cNvPr>
          <p:cNvSpPr txBox="1"/>
          <p:nvPr/>
        </p:nvSpPr>
        <p:spPr>
          <a:xfrm>
            <a:off x="1413892" y="1997839"/>
            <a:ext cx="6099242" cy="286232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Defense in Depth:</a:t>
            </a:r>
            <a:r>
              <a:rPr lang="en-US" dirty="0">
                <a:latin typeface="Times New Roman" panose="02020603050405020304" pitchFamily="18" charset="0"/>
                <a:cs typeface="Times New Roman" panose="02020603050405020304" pitchFamily="18" charset="0"/>
              </a:rPr>
              <a:t> Multiple layers of protection.</a:t>
            </a:r>
          </a:p>
          <a:p>
            <a:r>
              <a:rPr lang="en-US" b="1" dirty="0">
                <a:latin typeface="Times New Roman" panose="02020603050405020304" pitchFamily="18" charset="0"/>
                <a:cs typeface="Times New Roman" panose="02020603050405020304" pitchFamily="18" charset="0"/>
              </a:rPr>
              <a:t>Least Privilege:</a:t>
            </a:r>
            <a:r>
              <a:rPr lang="en-US" dirty="0">
                <a:latin typeface="Times New Roman" panose="02020603050405020304" pitchFamily="18" charset="0"/>
                <a:cs typeface="Times New Roman" panose="02020603050405020304" pitchFamily="18" charset="0"/>
              </a:rPr>
              <a:t> Limit access rights.</a:t>
            </a:r>
          </a:p>
          <a:p>
            <a:r>
              <a:rPr lang="en-US" b="1" dirty="0">
                <a:latin typeface="Times New Roman" panose="02020603050405020304" pitchFamily="18" charset="0"/>
                <a:cs typeface="Times New Roman" panose="02020603050405020304" pitchFamily="18" charset="0"/>
              </a:rPr>
              <a:t>Segmentation:</a:t>
            </a:r>
            <a:r>
              <a:rPr lang="en-US" dirty="0">
                <a:latin typeface="Times New Roman" panose="02020603050405020304" pitchFamily="18" charset="0"/>
                <a:cs typeface="Times New Roman" panose="02020603050405020304" pitchFamily="18" charset="0"/>
              </a:rPr>
              <a:t> Isolate sensitive zones (e.g., DMZ, VLANs).</a:t>
            </a:r>
          </a:p>
          <a:p>
            <a:r>
              <a:rPr lang="en-US" b="1" dirty="0">
                <a:latin typeface="Times New Roman" panose="02020603050405020304" pitchFamily="18" charset="0"/>
                <a:cs typeface="Times New Roman" panose="02020603050405020304" pitchFamily="18" charset="0"/>
              </a:rPr>
              <a:t>Strong Access Control:</a:t>
            </a:r>
            <a:r>
              <a:rPr lang="en-US" dirty="0">
                <a:latin typeface="Times New Roman" panose="02020603050405020304" pitchFamily="18" charset="0"/>
                <a:cs typeface="Times New Roman" panose="02020603050405020304" pitchFamily="18" charset="0"/>
              </a:rPr>
              <a:t> MFA, RBAC, NAC.</a:t>
            </a:r>
          </a:p>
          <a:p>
            <a:r>
              <a:rPr lang="en-US" b="1" dirty="0">
                <a:latin typeface="Times New Roman" panose="02020603050405020304" pitchFamily="18" charset="0"/>
                <a:cs typeface="Times New Roman" panose="02020603050405020304" pitchFamily="18" charset="0"/>
              </a:rPr>
              <a:t>Encryption:</a:t>
            </a:r>
            <a:r>
              <a:rPr lang="en-US" dirty="0">
                <a:latin typeface="Times New Roman" panose="02020603050405020304" pitchFamily="18" charset="0"/>
                <a:cs typeface="Times New Roman" panose="02020603050405020304" pitchFamily="18" charset="0"/>
              </a:rPr>
              <a:t> Protect data in transit and at rest.</a:t>
            </a:r>
          </a:p>
          <a:p>
            <a:r>
              <a:rPr lang="en-US" b="1" dirty="0">
                <a:latin typeface="Times New Roman" panose="02020603050405020304" pitchFamily="18" charset="0"/>
                <a:cs typeface="Times New Roman" panose="02020603050405020304" pitchFamily="18" charset="0"/>
              </a:rPr>
              <a:t>System Hardening:</a:t>
            </a:r>
            <a:r>
              <a:rPr lang="en-US" dirty="0">
                <a:latin typeface="Times New Roman" panose="02020603050405020304" pitchFamily="18" charset="0"/>
                <a:cs typeface="Times New Roman" panose="02020603050405020304" pitchFamily="18" charset="0"/>
              </a:rPr>
              <a:t> Disable unused ports/services.</a:t>
            </a:r>
          </a:p>
          <a:p>
            <a:r>
              <a:rPr lang="en-US" b="1" dirty="0">
                <a:latin typeface="Times New Roman" panose="02020603050405020304" pitchFamily="18" charset="0"/>
                <a:cs typeface="Times New Roman" panose="02020603050405020304" pitchFamily="18" charset="0"/>
              </a:rPr>
              <a:t>Monitoring:</a:t>
            </a:r>
            <a:r>
              <a:rPr lang="en-US" dirty="0">
                <a:latin typeface="Times New Roman" panose="02020603050405020304" pitchFamily="18" charset="0"/>
                <a:cs typeface="Times New Roman" panose="02020603050405020304" pitchFamily="18" charset="0"/>
              </a:rPr>
              <a:t> Log and analyze all critical activities.</a:t>
            </a:r>
          </a:p>
          <a:p>
            <a:r>
              <a:rPr lang="en-US" b="1" dirty="0">
                <a:latin typeface="Times New Roman" panose="02020603050405020304" pitchFamily="18" charset="0"/>
                <a:cs typeface="Times New Roman" panose="02020603050405020304" pitchFamily="18" charset="0"/>
              </a:rPr>
              <a:t>Patch Management:</a:t>
            </a:r>
            <a:r>
              <a:rPr lang="en-US" dirty="0">
                <a:latin typeface="Times New Roman" panose="02020603050405020304" pitchFamily="18" charset="0"/>
                <a:cs typeface="Times New Roman" panose="02020603050405020304" pitchFamily="18" charset="0"/>
              </a:rPr>
              <a:t> Keep systems up to date.</a:t>
            </a:r>
          </a:p>
          <a:p>
            <a:r>
              <a:rPr lang="en-US" b="1" dirty="0">
                <a:latin typeface="Times New Roman" panose="02020603050405020304" pitchFamily="18" charset="0"/>
                <a:cs typeface="Times New Roman" panose="02020603050405020304" pitchFamily="18" charset="0"/>
              </a:rPr>
              <a:t>Resilience:</a:t>
            </a:r>
            <a:r>
              <a:rPr lang="en-US" dirty="0">
                <a:latin typeface="Times New Roman" panose="02020603050405020304" pitchFamily="18" charset="0"/>
                <a:cs typeface="Times New Roman" panose="02020603050405020304" pitchFamily="18" charset="0"/>
              </a:rPr>
              <a:t> Redundant paths and failover mechanisms.</a:t>
            </a:r>
          </a:p>
          <a:p>
            <a:r>
              <a:rPr lang="en-US" b="1" dirty="0">
                <a:latin typeface="Times New Roman" panose="02020603050405020304" pitchFamily="18" charset="0"/>
                <a:cs typeface="Times New Roman" panose="02020603050405020304" pitchFamily="18" charset="0"/>
              </a:rPr>
              <a:t>Security by Design:</a:t>
            </a:r>
            <a:r>
              <a:rPr lang="en-US" dirty="0">
                <a:latin typeface="Times New Roman" panose="02020603050405020304" pitchFamily="18" charset="0"/>
                <a:cs typeface="Times New Roman" panose="02020603050405020304" pitchFamily="18" charset="0"/>
              </a:rPr>
              <a:t> Integrate protection from the start.</a:t>
            </a:r>
          </a:p>
        </p:txBody>
      </p:sp>
    </p:spTree>
    <p:extLst>
      <p:ext uri="{BB962C8B-B14F-4D97-AF65-F5344CB8AC3E}">
        <p14:creationId xmlns:p14="http://schemas.microsoft.com/office/powerpoint/2010/main" val="2990902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32C0CFE-F8D4-7CC3-1BDD-906F02186AD3}"/>
              </a:ext>
            </a:extLst>
          </p:cNvPr>
          <p:cNvGraphicFramePr>
            <a:graphicFrameLocks noGrp="1"/>
          </p:cNvGraphicFramePr>
          <p:nvPr>
            <p:extLst>
              <p:ext uri="{D42A27DB-BD31-4B8C-83A1-F6EECF244321}">
                <p14:modId xmlns:p14="http://schemas.microsoft.com/office/powerpoint/2010/main" val="1287420999"/>
              </p:ext>
            </p:extLst>
          </p:nvPr>
        </p:nvGraphicFramePr>
        <p:xfrm>
          <a:off x="981844" y="1168724"/>
          <a:ext cx="9937104" cy="5500636"/>
        </p:xfrm>
        <a:graphic>
          <a:graphicData uri="http://schemas.openxmlformats.org/drawingml/2006/table">
            <a:tbl>
              <a:tblPr>
                <a:tableStyleId>{8EC20E35-A176-4012-BC5E-935CFFF8708E}</a:tableStyleId>
              </a:tblPr>
              <a:tblGrid>
                <a:gridCol w="3816424">
                  <a:extLst>
                    <a:ext uri="{9D8B030D-6E8A-4147-A177-3AD203B41FA5}">
                      <a16:colId xmlns:a16="http://schemas.microsoft.com/office/drawing/2014/main" val="3742244247"/>
                    </a:ext>
                  </a:extLst>
                </a:gridCol>
                <a:gridCol w="6120680">
                  <a:extLst>
                    <a:ext uri="{9D8B030D-6E8A-4147-A177-3AD203B41FA5}">
                      <a16:colId xmlns:a16="http://schemas.microsoft.com/office/drawing/2014/main" val="561474199"/>
                    </a:ext>
                  </a:extLst>
                </a:gridCol>
              </a:tblGrid>
              <a:tr h="133489">
                <a:tc>
                  <a:txBody>
                    <a:bodyPr/>
                    <a:lstStyle/>
                    <a:p>
                      <a:pPr algn="just">
                        <a:buNone/>
                      </a:pPr>
                      <a:r>
                        <a:rPr lang="fr-FR" sz="1600" b="1" dirty="0" err="1">
                          <a:latin typeface="Times New Roman" panose="02020603050405020304" pitchFamily="18" charset="0"/>
                          <a:cs typeface="Times New Roman" panose="02020603050405020304" pitchFamily="18" charset="0"/>
                        </a:rPr>
                        <a:t>Principle</a:t>
                      </a:r>
                      <a:endParaRPr lang="fr-FR" sz="1600" b="1" dirty="0">
                        <a:latin typeface="Times New Roman" panose="02020603050405020304" pitchFamily="18" charset="0"/>
                        <a:cs typeface="Times New Roman" panose="02020603050405020304" pitchFamily="18" charset="0"/>
                      </a:endParaRPr>
                    </a:p>
                  </a:txBody>
                  <a:tcPr marL="33372" marR="33372" marT="16686" marB="16686" anchor="ctr">
                    <a:solidFill>
                      <a:schemeClr val="tx1">
                        <a:lumMod val="60000"/>
                        <a:lumOff val="40000"/>
                      </a:schemeClr>
                    </a:solidFill>
                  </a:tcPr>
                </a:tc>
                <a:tc>
                  <a:txBody>
                    <a:bodyPr/>
                    <a:lstStyle/>
                    <a:p>
                      <a:pPr algn="just">
                        <a:buNone/>
                      </a:pPr>
                      <a:r>
                        <a:rPr lang="fr-FR" sz="1600" b="1" dirty="0">
                          <a:latin typeface="Times New Roman" panose="02020603050405020304" pitchFamily="18" charset="0"/>
                          <a:cs typeface="Times New Roman" panose="02020603050405020304" pitchFamily="18" charset="0"/>
                        </a:rPr>
                        <a:t>Description</a:t>
                      </a:r>
                      <a:endParaRPr lang="fr-FR" sz="1600" dirty="0">
                        <a:latin typeface="Times New Roman" panose="02020603050405020304" pitchFamily="18" charset="0"/>
                        <a:cs typeface="Times New Roman" panose="02020603050405020304" pitchFamily="18" charset="0"/>
                      </a:endParaRPr>
                    </a:p>
                  </a:txBody>
                  <a:tcPr marL="33372" marR="33372" marT="16686" marB="16686" anchor="ctr">
                    <a:solidFill>
                      <a:schemeClr val="tx1">
                        <a:lumMod val="60000"/>
                        <a:lumOff val="40000"/>
                      </a:schemeClr>
                    </a:solidFill>
                  </a:tcPr>
                </a:tc>
                <a:extLst>
                  <a:ext uri="{0D108BD9-81ED-4DB2-BD59-A6C34878D82A}">
                    <a16:rowId xmlns:a16="http://schemas.microsoft.com/office/drawing/2014/main" val="1860568701"/>
                  </a:ext>
                </a:extLst>
              </a:tr>
              <a:tr h="533956">
                <a:tc>
                  <a:txBody>
                    <a:bodyPr/>
                    <a:lstStyle/>
                    <a:p>
                      <a:pPr algn="just">
                        <a:buNone/>
                      </a:pPr>
                      <a:r>
                        <a:rPr lang="fr-FR" sz="1600" b="0">
                          <a:latin typeface="Times New Roman" panose="02020603050405020304" pitchFamily="18" charset="0"/>
                          <a:cs typeface="Times New Roman" panose="02020603050405020304" pitchFamily="18" charset="0"/>
                        </a:rPr>
                        <a:t>Defense in Depth</a:t>
                      </a:r>
                    </a:p>
                  </a:txBody>
                  <a:tcPr marL="33372" marR="33372" marT="16686" marB="16686" anchor="ctr"/>
                </a:tc>
                <a:tc>
                  <a:txBody>
                    <a:bodyPr/>
                    <a:lstStyle/>
                    <a:p>
                      <a:pPr algn="just">
                        <a:buNone/>
                      </a:pPr>
                      <a:r>
                        <a:rPr lang="en-US" sz="1600" dirty="0">
                          <a:latin typeface="Times New Roman" panose="02020603050405020304" pitchFamily="18" charset="0"/>
                          <a:cs typeface="Times New Roman" panose="02020603050405020304" pitchFamily="18" charset="0"/>
                        </a:rPr>
                        <a:t>Use multiple layers of security to protect the network even if one layer fails.</a:t>
                      </a:r>
                    </a:p>
                  </a:txBody>
                  <a:tcPr marL="33372" marR="33372" marT="16686" marB="16686" anchor="ctr"/>
                </a:tc>
                <a:extLst>
                  <a:ext uri="{0D108BD9-81ED-4DB2-BD59-A6C34878D82A}">
                    <a16:rowId xmlns:a16="http://schemas.microsoft.com/office/drawing/2014/main" val="2518627899"/>
                  </a:ext>
                </a:extLst>
              </a:tr>
              <a:tr h="433839">
                <a:tc>
                  <a:txBody>
                    <a:bodyPr/>
                    <a:lstStyle/>
                    <a:p>
                      <a:pPr algn="just">
                        <a:buNone/>
                      </a:pPr>
                      <a:r>
                        <a:rPr lang="fr-FR" sz="1600" b="0">
                          <a:latin typeface="Times New Roman" panose="02020603050405020304" pitchFamily="18" charset="0"/>
                          <a:cs typeface="Times New Roman" panose="02020603050405020304" pitchFamily="18" charset="0"/>
                        </a:rPr>
                        <a:t>Least Privilege</a:t>
                      </a:r>
                    </a:p>
                  </a:txBody>
                  <a:tcPr marL="33372" marR="33372" marT="16686" marB="16686" anchor="ctr"/>
                </a:tc>
                <a:tc>
                  <a:txBody>
                    <a:bodyPr/>
                    <a:lstStyle/>
                    <a:p>
                      <a:pPr algn="just">
                        <a:buNone/>
                      </a:pPr>
                      <a:r>
                        <a:rPr lang="en-US" sz="1600">
                          <a:latin typeface="Times New Roman" panose="02020603050405020304" pitchFamily="18" charset="0"/>
                          <a:cs typeface="Times New Roman" panose="02020603050405020304" pitchFamily="18" charset="0"/>
                        </a:rPr>
                        <a:t>Grant users and systems only the access rights necessary to perform their specific tasks.</a:t>
                      </a:r>
                    </a:p>
                  </a:txBody>
                  <a:tcPr marL="33372" marR="33372" marT="16686" marB="16686" anchor="ctr"/>
                </a:tc>
                <a:extLst>
                  <a:ext uri="{0D108BD9-81ED-4DB2-BD59-A6C34878D82A}">
                    <a16:rowId xmlns:a16="http://schemas.microsoft.com/office/drawing/2014/main" val="2254357103"/>
                  </a:ext>
                </a:extLst>
              </a:tr>
              <a:tr h="433839">
                <a:tc>
                  <a:txBody>
                    <a:bodyPr/>
                    <a:lstStyle/>
                    <a:p>
                      <a:pPr algn="just">
                        <a:buNone/>
                      </a:pPr>
                      <a:r>
                        <a:rPr lang="fr-FR" sz="1600" b="0" dirty="0">
                          <a:latin typeface="Times New Roman" panose="02020603050405020304" pitchFamily="18" charset="0"/>
                          <a:cs typeface="Times New Roman" panose="02020603050405020304" pitchFamily="18" charset="0"/>
                        </a:rPr>
                        <a:t>Segmentation and Isolation</a:t>
                      </a:r>
                    </a:p>
                  </a:txBody>
                  <a:tcPr marL="33372" marR="33372" marT="16686" marB="16686" anchor="ctr"/>
                </a:tc>
                <a:tc>
                  <a:txBody>
                    <a:bodyPr/>
                    <a:lstStyle/>
                    <a:p>
                      <a:pPr algn="just">
                        <a:buNone/>
                      </a:pPr>
                      <a:r>
                        <a:rPr lang="en-US" sz="1600">
                          <a:latin typeface="Times New Roman" panose="02020603050405020304" pitchFamily="18" charset="0"/>
                          <a:cs typeface="Times New Roman" panose="02020603050405020304" pitchFamily="18" charset="0"/>
                        </a:rPr>
                        <a:t>Divide the network into smaller subnets or VLANs to contain traffic and limit the spread of attacks.</a:t>
                      </a:r>
                    </a:p>
                  </a:txBody>
                  <a:tcPr marL="33372" marR="33372" marT="16686" marB="16686" anchor="ctr"/>
                </a:tc>
                <a:extLst>
                  <a:ext uri="{0D108BD9-81ED-4DB2-BD59-A6C34878D82A}">
                    <a16:rowId xmlns:a16="http://schemas.microsoft.com/office/drawing/2014/main" val="1677859023"/>
                  </a:ext>
                </a:extLst>
              </a:tr>
              <a:tr h="433839">
                <a:tc>
                  <a:txBody>
                    <a:bodyPr/>
                    <a:lstStyle/>
                    <a:p>
                      <a:pPr algn="just">
                        <a:buNone/>
                      </a:pPr>
                      <a:r>
                        <a:rPr lang="fr-FR" sz="1600" b="0" dirty="0">
                          <a:latin typeface="Times New Roman" panose="02020603050405020304" pitchFamily="18" charset="0"/>
                          <a:cs typeface="Times New Roman" panose="02020603050405020304" pitchFamily="18" charset="0"/>
                        </a:rPr>
                        <a:t>Secure Access Control</a:t>
                      </a:r>
                    </a:p>
                  </a:txBody>
                  <a:tcPr marL="33372" marR="33372" marT="16686" marB="16686" anchor="ctr"/>
                </a:tc>
                <a:tc>
                  <a:txBody>
                    <a:bodyPr/>
                    <a:lstStyle/>
                    <a:p>
                      <a:pPr algn="just">
                        <a:buNone/>
                      </a:pPr>
                      <a:r>
                        <a:rPr lang="en-US" sz="1600" dirty="0">
                          <a:latin typeface="Times New Roman" panose="02020603050405020304" pitchFamily="18" charset="0"/>
                          <a:cs typeface="Times New Roman" panose="02020603050405020304" pitchFamily="18" charset="0"/>
                        </a:rPr>
                        <a:t>Enforce strong authentication (e.g., MFA) and authorization (e.g., RBAC, NAC) to manage who can access what.</a:t>
                      </a:r>
                    </a:p>
                  </a:txBody>
                  <a:tcPr marL="33372" marR="33372" marT="16686" marB="16686" anchor="ctr"/>
                </a:tc>
                <a:extLst>
                  <a:ext uri="{0D108BD9-81ED-4DB2-BD59-A6C34878D82A}">
                    <a16:rowId xmlns:a16="http://schemas.microsoft.com/office/drawing/2014/main" val="603589368"/>
                  </a:ext>
                </a:extLst>
              </a:tr>
              <a:tr h="433839">
                <a:tc>
                  <a:txBody>
                    <a:bodyPr/>
                    <a:lstStyle/>
                    <a:p>
                      <a:pPr algn="just">
                        <a:buNone/>
                      </a:pPr>
                      <a:r>
                        <a:rPr lang="fr-FR" sz="1600" b="0">
                          <a:latin typeface="Times New Roman" panose="02020603050405020304" pitchFamily="18" charset="0"/>
                          <a:cs typeface="Times New Roman" panose="02020603050405020304" pitchFamily="18" charset="0"/>
                        </a:rPr>
                        <a:t>Encryption and Data Protection</a:t>
                      </a:r>
                    </a:p>
                  </a:txBody>
                  <a:tcPr marL="33372" marR="33372" marT="16686" marB="16686" anchor="ctr"/>
                </a:tc>
                <a:tc>
                  <a:txBody>
                    <a:bodyPr/>
                    <a:lstStyle/>
                    <a:p>
                      <a:pPr algn="just">
                        <a:buNone/>
                      </a:pPr>
                      <a:r>
                        <a:rPr lang="en-US" sz="1600" dirty="0">
                          <a:latin typeface="Times New Roman" panose="02020603050405020304" pitchFamily="18" charset="0"/>
                          <a:cs typeface="Times New Roman" panose="02020603050405020304" pitchFamily="18" charset="0"/>
                        </a:rPr>
                        <a:t>Encrypt data both in transit (TLS, VPN) and at rest (AES) to maintain confidentiality and integrity.</a:t>
                      </a:r>
                    </a:p>
                  </a:txBody>
                  <a:tcPr marL="33372" marR="33372" marT="16686" marB="16686" anchor="ctr"/>
                </a:tc>
                <a:extLst>
                  <a:ext uri="{0D108BD9-81ED-4DB2-BD59-A6C34878D82A}">
                    <a16:rowId xmlns:a16="http://schemas.microsoft.com/office/drawing/2014/main" val="3591116258"/>
                  </a:ext>
                </a:extLst>
              </a:tr>
              <a:tr h="433839">
                <a:tc>
                  <a:txBody>
                    <a:bodyPr/>
                    <a:lstStyle/>
                    <a:p>
                      <a:pPr algn="just">
                        <a:buNone/>
                      </a:pPr>
                      <a:r>
                        <a:rPr lang="fr-FR" sz="1600" b="0">
                          <a:latin typeface="Times New Roman" panose="02020603050405020304" pitchFamily="18" charset="0"/>
                          <a:cs typeface="Times New Roman" panose="02020603050405020304" pitchFamily="18" charset="0"/>
                        </a:rPr>
                        <a:t>Secure Configuration and Hardening</a:t>
                      </a:r>
                    </a:p>
                  </a:txBody>
                  <a:tcPr marL="33372" marR="33372" marT="16686" marB="16686" anchor="ctr"/>
                </a:tc>
                <a:tc>
                  <a:txBody>
                    <a:bodyPr/>
                    <a:lstStyle/>
                    <a:p>
                      <a:pPr algn="just">
                        <a:buNone/>
                      </a:pPr>
                      <a:r>
                        <a:rPr lang="en-US" sz="1600">
                          <a:latin typeface="Times New Roman" panose="02020603050405020304" pitchFamily="18" charset="0"/>
                          <a:cs typeface="Times New Roman" panose="02020603050405020304" pitchFamily="18" charset="0"/>
                        </a:rPr>
                        <a:t>Disable unused services, close unnecessary ports, and replace default credentials to reduce exposure.</a:t>
                      </a:r>
                    </a:p>
                  </a:txBody>
                  <a:tcPr marL="33372" marR="33372" marT="16686" marB="16686" anchor="ctr"/>
                </a:tc>
                <a:extLst>
                  <a:ext uri="{0D108BD9-81ED-4DB2-BD59-A6C34878D82A}">
                    <a16:rowId xmlns:a16="http://schemas.microsoft.com/office/drawing/2014/main" val="2398083971"/>
                  </a:ext>
                </a:extLst>
              </a:tr>
              <a:tr h="433839">
                <a:tc>
                  <a:txBody>
                    <a:bodyPr/>
                    <a:lstStyle/>
                    <a:p>
                      <a:pPr algn="just">
                        <a:buNone/>
                      </a:pPr>
                      <a:r>
                        <a:rPr lang="fr-FR" sz="1600" b="0">
                          <a:latin typeface="Times New Roman" panose="02020603050405020304" pitchFamily="18" charset="0"/>
                          <a:cs typeface="Times New Roman" panose="02020603050405020304" pitchFamily="18" charset="0"/>
                        </a:rPr>
                        <a:t>Monitoring and Logging</a:t>
                      </a:r>
                    </a:p>
                  </a:txBody>
                  <a:tcPr marL="33372" marR="33372" marT="16686" marB="16686" anchor="ctr"/>
                </a:tc>
                <a:tc>
                  <a:txBody>
                    <a:bodyPr/>
                    <a:lstStyle/>
                    <a:p>
                      <a:pPr algn="just">
                        <a:buNone/>
                      </a:pPr>
                      <a:r>
                        <a:rPr lang="en-US" sz="1600">
                          <a:latin typeface="Times New Roman" panose="02020603050405020304" pitchFamily="18" charset="0"/>
                          <a:cs typeface="Times New Roman" panose="02020603050405020304" pitchFamily="18" charset="0"/>
                        </a:rPr>
                        <a:t>Continuously monitor traffic and log critical events using SIEM systems for detection and forensic analysis.</a:t>
                      </a:r>
                    </a:p>
                  </a:txBody>
                  <a:tcPr marL="33372" marR="33372" marT="16686" marB="16686" anchor="ctr"/>
                </a:tc>
                <a:extLst>
                  <a:ext uri="{0D108BD9-81ED-4DB2-BD59-A6C34878D82A}">
                    <a16:rowId xmlns:a16="http://schemas.microsoft.com/office/drawing/2014/main" val="1827921493"/>
                  </a:ext>
                </a:extLst>
              </a:tr>
              <a:tr h="433839">
                <a:tc>
                  <a:txBody>
                    <a:bodyPr/>
                    <a:lstStyle/>
                    <a:p>
                      <a:pPr algn="just">
                        <a:buNone/>
                      </a:pPr>
                      <a:r>
                        <a:rPr lang="en-US" sz="1600" b="0">
                          <a:latin typeface="Times New Roman" panose="02020603050405020304" pitchFamily="18" charset="0"/>
                          <a:cs typeface="Times New Roman" panose="02020603050405020304" pitchFamily="18" charset="0"/>
                        </a:rPr>
                        <a:t>Regular Updates and Patch Management</a:t>
                      </a:r>
                    </a:p>
                  </a:txBody>
                  <a:tcPr marL="33372" marR="33372" marT="16686" marB="16686" anchor="ctr"/>
                </a:tc>
                <a:tc>
                  <a:txBody>
                    <a:bodyPr/>
                    <a:lstStyle/>
                    <a:p>
                      <a:pPr algn="just">
                        <a:buNone/>
                      </a:pPr>
                      <a:r>
                        <a:rPr lang="en-US" sz="1600">
                          <a:latin typeface="Times New Roman" panose="02020603050405020304" pitchFamily="18" charset="0"/>
                          <a:cs typeface="Times New Roman" panose="02020603050405020304" pitchFamily="18" charset="0"/>
                        </a:rPr>
                        <a:t>Keep software, firmware, and systems up to date to close vulnerabilities before they are exploited.</a:t>
                      </a:r>
                    </a:p>
                  </a:txBody>
                  <a:tcPr marL="33372" marR="33372" marT="16686" marB="16686" anchor="ctr"/>
                </a:tc>
                <a:extLst>
                  <a:ext uri="{0D108BD9-81ED-4DB2-BD59-A6C34878D82A}">
                    <a16:rowId xmlns:a16="http://schemas.microsoft.com/office/drawing/2014/main" val="3389598811"/>
                  </a:ext>
                </a:extLst>
              </a:tr>
              <a:tr h="433839">
                <a:tc>
                  <a:txBody>
                    <a:bodyPr/>
                    <a:lstStyle/>
                    <a:p>
                      <a:pPr algn="just">
                        <a:buNone/>
                      </a:pPr>
                      <a:r>
                        <a:rPr lang="fr-FR" sz="1600" b="0">
                          <a:latin typeface="Times New Roman" panose="02020603050405020304" pitchFamily="18" charset="0"/>
                          <a:cs typeface="Times New Roman" panose="02020603050405020304" pitchFamily="18" charset="0"/>
                        </a:rPr>
                        <a:t>Redundancy and Resilience</a:t>
                      </a:r>
                    </a:p>
                  </a:txBody>
                  <a:tcPr marL="33372" marR="33372" marT="16686" marB="16686" anchor="ctr"/>
                </a:tc>
                <a:tc>
                  <a:txBody>
                    <a:bodyPr/>
                    <a:lstStyle/>
                    <a:p>
                      <a:pPr algn="just">
                        <a:buNone/>
                      </a:pPr>
                      <a:r>
                        <a:rPr lang="en-US" sz="1600">
                          <a:latin typeface="Times New Roman" panose="02020603050405020304" pitchFamily="18" charset="0"/>
                          <a:cs typeface="Times New Roman" panose="02020603050405020304" pitchFamily="18" charset="0"/>
                        </a:rPr>
                        <a:t>Use backup links, redundant hardware, and failover systems to ensure availability and reliability.</a:t>
                      </a:r>
                    </a:p>
                  </a:txBody>
                  <a:tcPr marL="33372" marR="33372" marT="16686" marB="16686" anchor="ctr"/>
                </a:tc>
                <a:extLst>
                  <a:ext uri="{0D108BD9-81ED-4DB2-BD59-A6C34878D82A}">
                    <a16:rowId xmlns:a16="http://schemas.microsoft.com/office/drawing/2014/main" val="2976362563"/>
                  </a:ext>
                </a:extLst>
              </a:tr>
              <a:tr h="433839">
                <a:tc>
                  <a:txBody>
                    <a:bodyPr/>
                    <a:lstStyle/>
                    <a:p>
                      <a:pPr algn="just">
                        <a:buNone/>
                      </a:pPr>
                      <a:r>
                        <a:rPr lang="fr-FR" sz="1600" b="0" dirty="0">
                          <a:latin typeface="Times New Roman" panose="02020603050405020304" pitchFamily="18" charset="0"/>
                          <a:cs typeface="Times New Roman" panose="02020603050405020304" pitchFamily="18" charset="0"/>
                        </a:rPr>
                        <a:t>Security by Design</a:t>
                      </a:r>
                    </a:p>
                  </a:txBody>
                  <a:tcPr marL="33372" marR="33372" marT="16686" marB="16686" anchor="ctr"/>
                </a:tc>
                <a:tc>
                  <a:txBody>
                    <a:bodyPr/>
                    <a:lstStyle/>
                    <a:p>
                      <a:pPr algn="just">
                        <a:buNone/>
                      </a:pPr>
                      <a:r>
                        <a:rPr lang="en-US" sz="1600" dirty="0">
                          <a:latin typeface="Times New Roman" panose="02020603050405020304" pitchFamily="18" charset="0"/>
                          <a:cs typeface="Times New Roman" panose="02020603050405020304" pitchFamily="18" charset="0"/>
                        </a:rPr>
                        <a:t>Integrate security considerations from the start of network planning and throughout its lifecycle.</a:t>
                      </a:r>
                    </a:p>
                  </a:txBody>
                  <a:tcPr marL="33372" marR="33372" marT="16686" marB="16686" anchor="ctr"/>
                </a:tc>
                <a:extLst>
                  <a:ext uri="{0D108BD9-81ED-4DB2-BD59-A6C34878D82A}">
                    <a16:rowId xmlns:a16="http://schemas.microsoft.com/office/drawing/2014/main" val="2944496288"/>
                  </a:ext>
                </a:extLst>
              </a:tr>
            </a:tbl>
          </a:graphicData>
        </a:graphic>
      </p:graphicFrame>
      <p:sp>
        <p:nvSpPr>
          <p:cNvPr id="3" name="TextBox 2">
            <a:extLst>
              <a:ext uri="{FF2B5EF4-FFF2-40B4-BE49-F238E27FC236}">
                <a16:creationId xmlns:a16="http://schemas.microsoft.com/office/drawing/2014/main" id="{7D3DF95C-565E-E634-7755-5BD1C58979B3}"/>
              </a:ext>
            </a:extLst>
          </p:cNvPr>
          <p:cNvSpPr txBox="1"/>
          <p:nvPr/>
        </p:nvSpPr>
        <p:spPr>
          <a:xfrm>
            <a:off x="951729" y="260648"/>
            <a:ext cx="10111235"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Secure Network Design Principles -Best Practices-</a:t>
            </a:r>
            <a:endParaRPr lang="fr-DZ"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2748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3CA41-375E-F412-F27C-077F0A4ECF7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8D6DD57-47BF-D35D-D74C-409F36F40CAC}"/>
              </a:ext>
            </a:extLst>
          </p:cNvPr>
          <p:cNvSpPr>
            <a:spLocks noGrp="1"/>
          </p:cNvSpPr>
          <p:nvPr>
            <p:ph type="body" idx="1"/>
          </p:nvPr>
        </p:nvSpPr>
        <p:spPr>
          <a:xfrm>
            <a:off x="981844" y="1340768"/>
            <a:ext cx="7264623" cy="1150203"/>
          </a:xfrm>
        </p:spPr>
        <p:txBody>
          <a:bodyPr/>
          <a:lstStyle/>
          <a:p>
            <a:r>
              <a:rPr lang="fr-FR" dirty="0" err="1">
                <a:latin typeface="Agency FB" panose="020B0503020202020204" pitchFamily="34" charset="0"/>
                <a:cs typeface="Times New Roman" panose="02020603050405020304" pitchFamily="18" charset="0"/>
              </a:rPr>
              <a:t>Chapter</a:t>
            </a:r>
            <a:r>
              <a:rPr lang="fr-FR" dirty="0">
                <a:latin typeface="Agency FB" panose="020B0503020202020204" pitchFamily="34" charset="0"/>
                <a:cs typeface="Times New Roman" panose="02020603050405020304" pitchFamily="18" charset="0"/>
              </a:rPr>
              <a:t> 03</a:t>
            </a:r>
            <a:endParaRPr lang="en-US" dirty="0">
              <a:latin typeface="Agency FB" panose="020B0503020202020204" pitchFamily="34" charset="0"/>
            </a:endParaRPr>
          </a:p>
        </p:txBody>
      </p:sp>
      <p:sp>
        <p:nvSpPr>
          <p:cNvPr id="4" name="Title 1">
            <a:extLst>
              <a:ext uri="{FF2B5EF4-FFF2-40B4-BE49-F238E27FC236}">
                <a16:creationId xmlns:a16="http://schemas.microsoft.com/office/drawing/2014/main" id="{8E747BFD-4BA3-872A-F078-02066B52FC53}"/>
              </a:ext>
            </a:extLst>
          </p:cNvPr>
          <p:cNvSpPr txBox="1">
            <a:spLocks/>
          </p:cNvSpPr>
          <p:nvPr/>
        </p:nvSpPr>
        <p:spPr>
          <a:xfrm>
            <a:off x="1134243" y="620688"/>
            <a:ext cx="10472463" cy="26540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0" kern="1200" cap="none" baseline="0">
                <a:solidFill>
                  <a:schemeClr val="tx1">
                    <a:lumMod val="75000"/>
                  </a:schemeClr>
                </a:solidFill>
                <a:latin typeface="+mj-lt"/>
                <a:ea typeface="+mj-ea"/>
                <a:cs typeface="+mj-cs"/>
              </a:defRPr>
            </a:lvl1pPr>
          </a:lstStyle>
          <a:p>
            <a:pPr algn="ctr"/>
            <a:r>
              <a:rPr lang="fr-FR" sz="7200" b="1" dirty="0" err="1">
                <a:latin typeface="Bahnschrift Condensed" panose="020B0502040204020203" pitchFamily="34" charset="0"/>
                <a:cs typeface="Times New Roman" panose="02020603050405020304" pitchFamily="18" charset="0"/>
              </a:rPr>
              <a:t>Quality</a:t>
            </a:r>
            <a:r>
              <a:rPr lang="fr-FR" sz="7200" b="1" dirty="0">
                <a:latin typeface="Bahnschrift Condensed" panose="020B0502040204020203" pitchFamily="34" charset="0"/>
                <a:cs typeface="Times New Roman" panose="02020603050405020304" pitchFamily="18" charset="0"/>
              </a:rPr>
              <a:t> of Service (QoS)</a:t>
            </a:r>
            <a:endParaRPr lang="en-US" sz="7200" b="1" dirty="0">
              <a:latin typeface="Bahnschrift Condensed" panose="020B0502040204020203"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A1C43BB-7FCD-2EB9-9541-83C9C6953023}"/>
              </a:ext>
            </a:extLst>
          </p:cNvPr>
          <p:cNvSpPr txBox="1"/>
          <p:nvPr/>
        </p:nvSpPr>
        <p:spPr>
          <a:xfrm>
            <a:off x="981844" y="3583249"/>
            <a:ext cx="8175443" cy="2031325"/>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By the end of this chapter, students will be able to:</a:t>
            </a:r>
          </a:p>
          <a:p>
            <a:pPr marL="742950" lvl="1" indent="-285750" eaLnBrk="0" fontAlgn="base" hangingPunct="0">
              <a:spcBef>
                <a:spcPct val="0"/>
              </a:spcBef>
              <a:spcAft>
                <a:spcPct val="0"/>
              </a:spcAft>
              <a:buFont typeface="Arial" panose="020B0604020202020204" pitchFamily="34" charset="0"/>
              <a:buChar char="•"/>
            </a:pPr>
            <a:r>
              <a:rPr lang="fr-DZ" altLang="fr-DZ" dirty="0" err="1">
                <a:latin typeface="Times New Roman" panose="02020603050405020304" pitchFamily="18" charset="0"/>
                <a:cs typeface="Times New Roman" panose="02020603050405020304" pitchFamily="18" charset="0"/>
              </a:rPr>
              <a:t>Define</a:t>
            </a:r>
            <a:r>
              <a:rPr lang="fr-DZ" altLang="fr-DZ" dirty="0">
                <a:latin typeface="Times New Roman" panose="02020603050405020304" pitchFamily="18" charset="0"/>
                <a:cs typeface="Times New Roman" panose="02020603050405020304" pitchFamily="18" charset="0"/>
              </a:rPr>
              <a:t> QoS and </a:t>
            </a:r>
            <a:r>
              <a:rPr lang="fr-DZ" altLang="fr-DZ" dirty="0" err="1">
                <a:latin typeface="Times New Roman" panose="02020603050405020304" pitchFamily="18" charset="0"/>
                <a:cs typeface="Times New Roman" panose="02020603050405020304" pitchFamily="18" charset="0"/>
              </a:rPr>
              <a:t>explain</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why</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it’s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needed</a:t>
            </a:r>
            <a:r>
              <a:rPr lang="fr-DZ" altLang="fr-DZ" dirty="0">
                <a:latin typeface="Times New Roman" panose="02020603050405020304" pitchFamily="18" charset="0"/>
                <a:cs typeface="Times New Roman" panose="02020603050405020304" pitchFamily="18" charset="0"/>
              </a:rPr>
              <a:t> in modern networks.</a:t>
            </a:r>
          </a:p>
          <a:p>
            <a:pPr marL="742950" lvl="1" indent="-285750" eaLnBrk="0" fontAlgn="base" hangingPunct="0">
              <a:spcBef>
                <a:spcPct val="0"/>
              </a:spcBef>
              <a:spcAft>
                <a:spcPct val="0"/>
              </a:spcAft>
              <a:buFont typeface="Arial" panose="020B0604020202020204" pitchFamily="34" charset="0"/>
              <a:buChar char="•"/>
            </a:pPr>
            <a:r>
              <a:rPr lang="fr-DZ" altLang="fr-DZ" dirty="0" err="1">
                <a:latin typeface="Times New Roman" panose="02020603050405020304" pitchFamily="18" charset="0"/>
                <a:cs typeface="Times New Roman" panose="02020603050405020304" pitchFamily="18" charset="0"/>
              </a:rPr>
              <a:t>Identify</a:t>
            </a:r>
            <a:r>
              <a:rPr lang="fr-DZ" altLang="fr-DZ" dirty="0">
                <a:latin typeface="Times New Roman" panose="02020603050405020304" pitchFamily="18" charset="0"/>
                <a:cs typeface="Times New Roman" panose="02020603050405020304" pitchFamily="18" charset="0"/>
              </a:rPr>
              <a:t> and </a:t>
            </a:r>
            <a:r>
              <a:rPr lang="fr-DZ" altLang="fr-DZ" dirty="0" err="1">
                <a:latin typeface="Times New Roman" panose="02020603050405020304" pitchFamily="18" charset="0"/>
                <a:cs typeface="Times New Roman" panose="02020603050405020304" pitchFamily="18" charset="0"/>
              </a:rPr>
              <a:t>measure</a:t>
            </a:r>
            <a:r>
              <a:rPr lang="fr-DZ" altLang="fr-DZ" dirty="0">
                <a:latin typeface="Times New Roman" panose="02020603050405020304" pitchFamily="18" charset="0"/>
                <a:cs typeface="Times New Roman" panose="02020603050405020304" pitchFamily="18" charset="0"/>
              </a:rPr>
              <a:t> QoS performance </a:t>
            </a:r>
            <a:r>
              <a:rPr lang="fr-DZ" altLang="fr-DZ" dirty="0" err="1">
                <a:latin typeface="Times New Roman" panose="02020603050405020304" pitchFamily="18" charset="0"/>
                <a:cs typeface="Times New Roman" panose="02020603050405020304" pitchFamily="18" charset="0"/>
              </a:rPr>
              <a:t>metrics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delay</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jitter</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loss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bandwidth</a:t>
            </a:r>
            <a:r>
              <a:rPr lang="fr-DZ" altLang="fr-DZ" dirty="0">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lang="fr-DZ" altLang="fr-DZ" dirty="0" err="1">
                <a:latin typeface="Times New Roman" panose="02020603050405020304" pitchFamily="18" charset="0"/>
                <a:cs typeface="Times New Roman" panose="02020603050405020304" pitchFamily="18" charset="0"/>
              </a:rPr>
              <a:t>Understand</a:t>
            </a:r>
            <a:r>
              <a:rPr lang="fr-DZ" altLang="fr-DZ" dirty="0">
                <a:latin typeface="Times New Roman" panose="02020603050405020304" pitchFamily="18" charset="0"/>
                <a:cs typeface="Times New Roman" panose="02020603050405020304" pitchFamily="18" charset="0"/>
              </a:rPr>
              <a:t> QoS </a:t>
            </a:r>
            <a:r>
              <a:rPr lang="fr-DZ" altLang="fr-DZ" dirty="0" err="1">
                <a:latin typeface="Times New Roman" panose="02020603050405020304" pitchFamily="18" charset="0"/>
                <a:cs typeface="Times New Roman" panose="02020603050405020304" pitchFamily="18" charset="0"/>
              </a:rPr>
              <a:t>models</a:t>
            </a:r>
            <a:r>
              <a:rPr lang="fr-DZ" altLang="fr-DZ" dirty="0">
                <a:latin typeface="Times New Roman" panose="02020603050405020304" pitchFamily="18" charset="0"/>
                <a:cs typeface="Times New Roman" panose="02020603050405020304" pitchFamily="18" charset="0"/>
              </a:rPr>
              <a:t> and </a:t>
            </a:r>
            <a:r>
              <a:rPr lang="fr-DZ" altLang="fr-DZ" dirty="0" err="1">
                <a:latin typeface="Times New Roman" panose="02020603050405020304" pitchFamily="18" charset="0"/>
                <a:cs typeface="Times New Roman" panose="02020603050405020304" pitchFamily="18" charset="0"/>
              </a:rPr>
              <a:t>mechanisms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used</a:t>
            </a:r>
            <a:r>
              <a:rPr lang="fr-DZ" altLang="fr-DZ" dirty="0">
                <a:latin typeface="Times New Roman" panose="02020603050405020304" pitchFamily="18" charset="0"/>
                <a:cs typeface="Times New Roman" panose="02020603050405020304" pitchFamily="18" charset="0"/>
              </a:rPr>
              <a:t> in </a:t>
            </a:r>
            <a:r>
              <a:rPr lang="fr-DZ" altLang="fr-DZ" dirty="0" err="1">
                <a:latin typeface="Times New Roman" panose="02020603050405020304" pitchFamily="18" charset="0"/>
                <a:cs typeface="Times New Roman" panose="02020603050405020304" pitchFamily="18" charset="0"/>
              </a:rPr>
              <a:t>enterprise</a:t>
            </a:r>
            <a:r>
              <a:rPr lang="fr-DZ" altLang="fr-DZ" dirty="0">
                <a:latin typeface="Times New Roman" panose="02020603050405020304" pitchFamily="18" charset="0"/>
                <a:cs typeface="Times New Roman" panose="02020603050405020304" pitchFamily="18" charset="0"/>
              </a:rPr>
              <a:t> networks.</a:t>
            </a:r>
          </a:p>
          <a:p>
            <a:pPr marL="742950" lvl="1" indent="-285750" eaLnBrk="0" fontAlgn="base" hangingPunct="0">
              <a:spcBef>
                <a:spcPct val="0"/>
              </a:spcBef>
              <a:spcAft>
                <a:spcPct val="0"/>
              </a:spcAft>
              <a:buFont typeface="Arial" panose="020B0604020202020204" pitchFamily="34" charset="0"/>
              <a:buChar char="•"/>
            </a:pPr>
            <a:r>
              <a:rPr lang="fr-DZ" altLang="fr-DZ" dirty="0">
                <a:latin typeface="Times New Roman" panose="02020603050405020304" pitchFamily="18" charset="0"/>
                <a:cs typeface="Times New Roman" panose="02020603050405020304" pitchFamily="18" charset="0"/>
              </a:rPr>
              <a:t>Configure and </a:t>
            </a:r>
            <a:r>
              <a:rPr lang="fr-DZ" altLang="fr-DZ" dirty="0" err="1">
                <a:latin typeface="Times New Roman" panose="02020603050405020304" pitchFamily="18" charset="0"/>
                <a:cs typeface="Times New Roman" panose="02020603050405020304" pitchFamily="18" charset="0"/>
              </a:rPr>
              <a:t>verify</a:t>
            </a:r>
            <a:r>
              <a:rPr lang="fr-DZ" altLang="fr-DZ" dirty="0">
                <a:latin typeface="Times New Roman" panose="02020603050405020304" pitchFamily="18" charset="0"/>
                <a:cs typeface="Times New Roman" panose="02020603050405020304" pitchFamily="18" charset="0"/>
              </a:rPr>
              <a:t> QoS </a:t>
            </a:r>
            <a:r>
              <a:rPr lang="fr-DZ" altLang="fr-DZ" dirty="0" err="1">
                <a:latin typeface="Times New Roman" panose="02020603050405020304" pitchFamily="18" charset="0"/>
                <a:cs typeface="Times New Roman" panose="02020603050405020304" pitchFamily="18" charset="0"/>
              </a:rPr>
              <a:t>tools</a:t>
            </a:r>
            <a:r>
              <a:rPr lang="fr-DZ" altLang="fr-DZ" dirty="0">
                <a:latin typeface="Times New Roman" panose="02020603050405020304" pitchFamily="18" charset="0"/>
                <a:cs typeface="Times New Roman" panose="02020603050405020304" pitchFamily="18" charset="0"/>
              </a:rPr>
              <a:t> (classification, </a:t>
            </a:r>
            <a:r>
              <a:rPr lang="fr-DZ" altLang="fr-DZ" dirty="0" err="1">
                <a:latin typeface="Times New Roman" panose="02020603050405020304" pitchFamily="18" charset="0"/>
                <a:cs typeface="Times New Roman" panose="02020603050405020304" pitchFamily="18" charset="0"/>
              </a:rPr>
              <a:t>marking</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queuing</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policing</a:t>
            </a:r>
            <a:r>
              <a:rPr lang="fr-DZ" altLang="fr-DZ" dirty="0">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lang="fr-DZ" altLang="fr-DZ" dirty="0" err="1">
                <a:latin typeface="Times New Roman" panose="02020603050405020304" pitchFamily="18" charset="0"/>
                <a:cs typeface="Times New Roman" panose="02020603050405020304" pitchFamily="18" charset="0"/>
              </a:rPr>
              <a:t>Evaluate</a:t>
            </a:r>
            <a:r>
              <a:rPr lang="fr-DZ" altLang="fr-DZ" dirty="0">
                <a:latin typeface="Times New Roman" panose="02020603050405020304" pitchFamily="18" charset="0"/>
                <a:cs typeface="Times New Roman" panose="02020603050405020304" pitchFamily="18" charset="0"/>
              </a:rPr>
              <a:t> QoS </a:t>
            </a:r>
            <a:r>
              <a:rPr lang="fr-DZ" altLang="fr-DZ" dirty="0" err="1">
                <a:latin typeface="Times New Roman" panose="02020603050405020304" pitchFamily="18" charset="0"/>
                <a:cs typeface="Times New Roman" panose="02020603050405020304" pitchFamily="18" charset="0"/>
              </a:rPr>
              <a:t>strategies</a:t>
            </a:r>
            <a:r>
              <a:rPr lang="fr-DZ" altLang="fr-DZ" dirty="0">
                <a:latin typeface="Times New Roman" panose="02020603050405020304" pitchFamily="18" charset="0"/>
                <a:cs typeface="Times New Roman" panose="02020603050405020304" pitchFamily="18" charset="0"/>
              </a:rPr>
              <a:t> in </a:t>
            </a:r>
            <a:r>
              <a:rPr lang="fr-DZ" altLang="fr-DZ" dirty="0" err="1">
                <a:latin typeface="Times New Roman" panose="02020603050405020304" pitchFamily="18" charset="0"/>
                <a:cs typeface="Times New Roman" panose="02020603050405020304" pitchFamily="18" charset="0"/>
              </a:rPr>
              <a:t>different</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environments</a:t>
            </a:r>
            <a:r>
              <a:rPr lang="fr-DZ" altLang="fr-DZ"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endParaRPr lang="fr-DZ" dirty="0"/>
          </a:p>
        </p:txBody>
      </p:sp>
    </p:spTree>
    <p:extLst>
      <p:ext uri="{BB962C8B-B14F-4D97-AF65-F5344CB8AC3E}">
        <p14:creationId xmlns:p14="http://schemas.microsoft.com/office/powerpoint/2010/main" val="4118696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BD974F-2785-4755-4448-C693EF79DE7B}"/>
              </a:ext>
            </a:extLst>
          </p:cNvPr>
          <p:cNvSpPr txBox="1"/>
          <p:nvPr/>
        </p:nvSpPr>
        <p:spPr>
          <a:xfrm>
            <a:off x="909836" y="980728"/>
            <a:ext cx="9937104" cy="3693319"/>
          </a:xfrm>
          <a:prstGeom prst="rect">
            <a:avLst/>
          </a:prstGeom>
          <a:noFill/>
        </p:spPr>
        <p:txBody>
          <a:bodyPr wrap="square">
            <a:spAutoFit/>
          </a:bodyPr>
          <a:lstStyle/>
          <a:p>
            <a:pPr algn="just"/>
            <a:r>
              <a:rPr lang="fr-DZ" b="1" dirty="0" err="1">
                <a:latin typeface="Times New Roman" panose="02020603050405020304" pitchFamily="18" charset="0"/>
                <a:cs typeface="Times New Roman" panose="02020603050405020304" pitchFamily="18" charset="0"/>
              </a:rPr>
              <a:t>Definition</a:t>
            </a:r>
            <a:r>
              <a:rPr lang="fr-FR" b="1" dirty="0">
                <a:latin typeface="Times New Roman" panose="02020603050405020304" pitchFamily="18" charset="0"/>
                <a:cs typeface="Times New Roman" panose="02020603050405020304" pitchFamily="18" charset="0"/>
              </a:rPr>
              <a:t>:</a:t>
            </a:r>
            <a:endParaRPr lang="fr-DZ" b="1" dirty="0">
              <a:latin typeface="Times New Roman" panose="02020603050405020304" pitchFamily="18" charset="0"/>
              <a:cs typeface="Times New Roman" panose="02020603050405020304" pitchFamily="18" charset="0"/>
            </a:endParaRPr>
          </a:p>
          <a:p>
            <a:pPr algn="just"/>
            <a:r>
              <a:rPr lang="fr-DZ" dirty="0" err="1">
                <a:latin typeface="Times New Roman" panose="02020603050405020304" pitchFamily="18" charset="0"/>
                <a:cs typeface="Times New Roman" panose="02020603050405020304" pitchFamily="18" charset="0"/>
              </a:rPr>
              <a:t>Quality</a:t>
            </a:r>
            <a:r>
              <a:rPr lang="fr-DZ" dirty="0">
                <a:latin typeface="Times New Roman" panose="02020603050405020304" pitchFamily="18" charset="0"/>
                <a:cs typeface="Times New Roman" panose="02020603050405020304" pitchFamily="18" charset="0"/>
              </a:rPr>
              <a:t> of Service (QoS) </a:t>
            </a:r>
            <a:r>
              <a:rPr lang="fr-DZ" dirty="0" err="1">
                <a:latin typeface="Times New Roman" panose="02020603050405020304" pitchFamily="18" charset="0"/>
                <a:cs typeface="Times New Roman" panose="02020603050405020304" pitchFamily="18" charset="0"/>
              </a:rPr>
              <a:t>refers</a:t>
            </a:r>
            <a:r>
              <a:rPr lang="fr-DZ" dirty="0">
                <a:latin typeface="Times New Roman" panose="02020603050405020304" pitchFamily="18" charset="0"/>
                <a:cs typeface="Times New Roman" panose="02020603050405020304" pitchFamily="18" charset="0"/>
              </a:rPr>
              <a:t> to a suite of technologies and techniques in networking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enables the management and </a:t>
            </a:r>
            <a:r>
              <a:rPr lang="fr-DZ" dirty="0" err="1">
                <a:latin typeface="Times New Roman" panose="02020603050405020304" pitchFamily="18" charset="0"/>
                <a:cs typeface="Times New Roman" panose="02020603050405020304" pitchFamily="18" charset="0"/>
              </a:rPr>
              <a:t>prioritization</a:t>
            </a:r>
            <a:r>
              <a:rPr lang="fr-DZ" dirty="0">
                <a:latin typeface="Times New Roman" panose="02020603050405020304" pitchFamily="18" charset="0"/>
                <a:cs typeface="Times New Roman" panose="02020603050405020304" pitchFamily="18" charset="0"/>
              </a:rPr>
              <a:t> of data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It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essential for </a:t>
            </a:r>
            <a:r>
              <a:rPr lang="fr-DZ" dirty="0" err="1">
                <a:latin typeface="Times New Roman" panose="02020603050405020304" pitchFamily="18" charset="0"/>
                <a:cs typeface="Times New Roman" panose="02020603050405020304" pitchFamily="18" charset="0"/>
              </a:rPr>
              <a:t>ensuring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different</a:t>
            </a:r>
            <a:r>
              <a:rPr lang="fr-DZ" dirty="0">
                <a:latin typeface="Times New Roman" panose="02020603050405020304" pitchFamily="18" charset="0"/>
                <a:cs typeface="Times New Roman" panose="02020603050405020304" pitchFamily="18" charset="0"/>
              </a:rPr>
              <a:t> types of data flows </a:t>
            </a:r>
            <a:r>
              <a:rPr lang="fr-DZ" dirty="0" err="1">
                <a:latin typeface="Times New Roman" panose="02020603050405020304" pitchFamily="18" charset="0"/>
                <a:cs typeface="Times New Roman" panose="02020603050405020304" pitchFamily="18" charset="0"/>
              </a:rPr>
              <a:t>receive</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appropriate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levels</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bandwidth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delay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jitter</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packet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loss</a:t>
            </a:r>
            <a:r>
              <a:rPr lang="fr-DZ" dirty="0">
                <a:latin typeface="Times New Roman" panose="02020603050405020304" pitchFamily="18" charset="0"/>
                <a:cs typeface="Times New Roman" panose="02020603050405020304" pitchFamily="18" charset="0"/>
              </a:rPr>
              <a:t> control. QoS </a:t>
            </a:r>
            <a:r>
              <a:rPr lang="fr-DZ" dirty="0" err="1">
                <a:latin typeface="Times New Roman" panose="02020603050405020304" pitchFamily="18" charset="0"/>
                <a:cs typeface="Times New Roman" panose="02020603050405020304" pitchFamily="18" charset="0"/>
              </a:rPr>
              <a:t>allows</a:t>
            </a:r>
            <a:r>
              <a:rPr lang="fr-DZ" dirty="0">
                <a:latin typeface="Times New Roman" panose="02020603050405020304" pitchFamily="18" charset="0"/>
                <a:cs typeface="Times New Roman" panose="02020603050405020304" pitchFamily="18" charset="0"/>
              </a:rPr>
              <a:t> networks to </a:t>
            </a:r>
            <a:r>
              <a:rPr lang="fr-DZ" dirty="0" err="1">
                <a:latin typeface="Times New Roman" panose="02020603050405020304" pitchFamily="18" charset="0"/>
                <a:cs typeface="Times New Roman" panose="02020603050405020304" pitchFamily="18" charset="0"/>
              </a:rPr>
              <a:t>differentiate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between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various</a:t>
            </a:r>
            <a:r>
              <a:rPr lang="fr-DZ" dirty="0">
                <a:latin typeface="Times New Roman" panose="02020603050405020304" pitchFamily="18" charset="0"/>
                <a:cs typeface="Times New Roman" panose="02020603050405020304" pitchFamily="18" charset="0"/>
              </a:rPr>
              <a:t> applications and user </a:t>
            </a:r>
            <a:r>
              <a:rPr lang="fr-DZ" dirty="0" err="1">
                <a:latin typeface="Times New Roman" panose="02020603050405020304" pitchFamily="18" charset="0"/>
                <a:cs typeface="Times New Roman" panose="02020603050405020304" pitchFamily="18" charset="0"/>
              </a:rPr>
              <a:t>requirements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thereby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providing</a:t>
            </a:r>
            <a:r>
              <a:rPr lang="fr-DZ" dirty="0">
                <a:latin typeface="Times New Roman" panose="02020603050405020304" pitchFamily="18" charset="0"/>
                <a:cs typeface="Times New Roman" panose="02020603050405020304" pitchFamily="18" charset="0"/>
              </a:rPr>
              <a:t> a more </a:t>
            </a:r>
            <a:r>
              <a:rPr lang="fr-DZ" dirty="0" err="1">
                <a:latin typeface="Times New Roman" panose="02020603050405020304" pitchFamily="18" charset="0"/>
                <a:cs typeface="Times New Roman" panose="02020603050405020304" pitchFamily="18" charset="0"/>
              </a:rPr>
              <a:t>predictable</a:t>
            </a:r>
            <a:r>
              <a:rPr lang="fr-DZ" dirty="0">
                <a:latin typeface="Times New Roman" panose="02020603050405020304" pitchFamily="18" charset="0"/>
                <a:cs typeface="Times New Roman" panose="02020603050405020304" pitchFamily="18" charset="0"/>
              </a:rPr>
              <a:t> performance </a:t>
            </a:r>
            <a:r>
              <a:rPr lang="fr-DZ" dirty="0" err="1">
                <a:latin typeface="Times New Roman" panose="02020603050405020304" pitchFamily="18" charset="0"/>
                <a:cs typeface="Times New Roman" panose="02020603050405020304" pitchFamily="18" charset="0"/>
              </a:rPr>
              <a:t>across</a:t>
            </a:r>
            <a:r>
              <a:rPr lang="fr-DZ" dirty="0">
                <a:latin typeface="Times New Roman" panose="02020603050405020304" pitchFamily="18" charset="0"/>
                <a:cs typeface="Times New Roman" panose="02020603050405020304" pitchFamily="18" charset="0"/>
              </a:rPr>
              <a:t> diverse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types.</a:t>
            </a:r>
          </a:p>
          <a:p>
            <a:pPr algn="just"/>
            <a:endParaRPr lang="fr-FR" dirty="0">
              <a:latin typeface="Times New Roman" panose="02020603050405020304" pitchFamily="18" charset="0"/>
              <a:cs typeface="Times New Roman" panose="02020603050405020304" pitchFamily="18" charset="0"/>
            </a:endParaRPr>
          </a:p>
          <a:p>
            <a:pPr algn="just"/>
            <a:r>
              <a:rPr lang="fr-DZ" b="1" dirty="0" err="1">
                <a:latin typeface="Times New Roman" panose="02020603050405020304" pitchFamily="18" charset="0"/>
                <a:cs typeface="Times New Roman" panose="02020603050405020304" pitchFamily="18" charset="0"/>
              </a:rPr>
              <a:t>Why</a:t>
            </a:r>
            <a:r>
              <a:rPr lang="fr-DZ" b="1" dirty="0">
                <a:latin typeface="Times New Roman" panose="02020603050405020304" pitchFamily="18" charset="0"/>
                <a:cs typeface="Times New Roman" panose="02020603050405020304" pitchFamily="18" charset="0"/>
              </a:rPr>
              <a:t> QoS </a:t>
            </a:r>
            <a:r>
              <a:rPr lang="fr-DZ" b="1" dirty="0" err="1">
                <a:latin typeface="Times New Roman" panose="02020603050405020304" pitchFamily="18" charset="0"/>
                <a:cs typeface="Times New Roman" panose="02020603050405020304" pitchFamily="18" charset="0"/>
              </a:rPr>
              <a:t>Matters</a:t>
            </a:r>
            <a:r>
              <a:rPr lang="fr-DZ" b="1" dirty="0">
                <a:latin typeface="Times New Roman" panose="02020603050405020304" pitchFamily="18" charset="0"/>
                <a:cs typeface="Times New Roman" panose="02020603050405020304" pitchFamily="18" charset="0"/>
              </a:rPr>
              <a:t>:</a:t>
            </a:r>
            <a:endParaRPr lang="fr-FR" b="1"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fr-DZ" altLang="fr-DZ" dirty="0">
                <a:latin typeface="Times New Roman" panose="02020603050405020304" pitchFamily="18" charset="0"/>
                <a:ea typeface="Tahoma" panose="020B0604030504040204" pitchFamily="34" charset="0"/>
                <a:cs typeface="Times New Roman" panose="02020603050405020304" pitchFamily="18" charset="0"/>
              </a:rPr>
              <a:t>Modern networks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handle</a:t>
            </a:r>
            <a:r>
              <a:rPr lang="fr-DZ" altLang="fr-DZ" dirty="0">
                <a:latin typeface="Times New Roman" panose="02020603050405020304" pitchFamily="18" charset="0"/>
                <a:ea typeface="Tahoma" panose="020B0604030504040204" pitchFamily="34" charset="0"/>
                <a:cs typeface="Times New Roman" panose="02020603050405020304" pitchFamily="18" charset="0"/>
              </a:rPr>
              <a:t> multiple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traffic</a:t>
            </a:r>
            <a:r>
              <a:rPr lang="fr-DZ" altLang="fr-DZ" dirty="0">
                <a:latin typeface="Times New Roman" panose="02020603050405020304" pitchFamily="18" charset="0"/>
                <a:ea typeface="Tahoma" panose="020B0604030504040204" pitchFamily="34" charset="0"/>
                <a:cs typeface="Times New Roman" panose="02020603050405020304" pitchFamily="18" charset="0"/>
              </a:rPr>
              <a:t> types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voice</a:t>
            </a:r>
            <a:r>
              <a:rPr lang="fr-DZ" altLang="fr-DZ" dirty="0">
                <a:latin typeface="Times New Roman" panose="02020603050405020304" pitchFamily="18" charset="0"/>
                <a:ea typeface="Tahoma" panose="020B0604030504040204" pitchFamily="34" charset="0"/>
                <a:cs typeface="Times New Roman" panose="02020603050405020304" pitchFamily="18" charset="0"/>
              </a:rPr>
              <a:t>,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video</a:t>
            </a:r>
            <a:r>
              <a:rPr lang="fr-DZ" altLang="fr-DZ" dirty="0">
                <a:latin typeface="Times New Roman" panose="02020603050405020304" pitchFamily="18" charset="0"/>
                <a:ea typeface="Tahoma" panose="020B0604030504040204" pitchFamily="34" charset="0"/>
                <a:cs typeface="Times New Roman" panose="02020603050405020304" pitchFamily="18" charset="0"/>
              </a:rPr>
              <a:t>, data, IoT).</a:t>
            </a:r>
          </a:p>
          <a:p>
            <a:pPr marL="285750" lvl="0" indent="-285750" eaLnBrk="0" fontAlgn="base" hangingPunct="0">
              <a:spcBef>
                <a:spcPct val="0"/>
              </a:spcBef>
              <a:spcAft>
                <a:spcPct val="0"/>
              </a:spcAft>
              <a:buFont typeface="Arial" panose="020B0604020202020204" pitchFamily="34" charset="0"/>
              <a:buChar char="•"/>
            </a:pPr>
            <a:r>
              <a:rPr lang="fr-DZ" altLang="fr-DZ" dirty="0">
                <a:latin typeface="Times New Roman" panose="02020603050405020304" pitchFamily="18" charset="0"/>
                <a:ea typeface="Tahoma" panose="020B0604030504040204" pitchFamily="34" charset="0"/>
                <a:cs typeface="Times New Roman" panose="02020603050405020304" pitchFamily="18" charset="0"/>
              </a:rPr>
              <a:t>Real-time applications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VoIP</a:t>
            </a:r>
            <a:r>
              <a:rPr lang="fr-DZ" altLang="fr-DZ" dirty="0">
                <a:latin typeface="Times New Roman" panose="02020603050405020304" pitchFamily="18" charset="0"/>
                <a:ea typeface="Tahoma" panose="020B0604030504040204" pitchFamily="34" charset="0"/>
                <a:cs typeface="Times New Roman" panose="02020603050405020304" pitchFamily="18" charset="0"/>
              </a:rPr>
              <a:t>,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video</a:t>
            </a:r>
            <a:r>
              <a:rPr lang="fr-DZ" altLang="fr-DZ" dirty="0">
                <a:latin typeface="Times New Roman" panose="02020603050405020304" pitchFamily="18" charset="0"/>
                <a:ea typeface="Tahoma" panose="020B0604030504040204" pitchFamily="34" charset="0"/>
                <a:cs typeface="Times New Roman" panose="02020603050405020304" pitchFamily="18" charset="0"/>
              </a:rPr>
              <a:t>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conferencing</a:t>
            </a:r>
            <a:r>
              <a:rPr lang="fr-DZ" altLang="fr-DZ" dirty="0">
                <a:latin typeface="Times New Roman" panose="02020603050405020304" pitchFamily="18" charset="0"/>
                <a:ea typeface="Tahoma" panose="020B0604030504040204" pitchFamily="34" charset="0"/>
                <a:cs typeface="Times New Roman" panose="02020603050405020304" pitchFamily="18" charset="0"/>
              </a:rPr>
              <a:t>)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need</a:t>
            </a:r>
            <a:r>
              <a:rPr lang="fr-DZ" altLang="fr-DZ" dirty="0">
                <a:latin typeface="Times New Roman" panose="02020603050405020304" pitchFamily="18" charset="0"/>
                <a:ea typeface="Tahoma" panose="020B0604030504040204" pitchFamily="34" charset="0"/>
                <a:cs typeface="Times New Roman" panose="02020603050405020304" pitchFamily="18" charset="0"/>
              </a:rPr>
              <a:t>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guaranteed</a:t>
            </a:r>
            <a:r>
              <a:rPr lang="fr-DZ" altLang="fr-DZ" dirty="0">
                <a:latin typeface="Times New Roman" panose="02020603050405020304" pitchFamily="18" charset="0"/>
                <a:ea typeface="Tahoma" panose="020B0604030504040204" pitchFamily="34" charset="0"/>
                <a:cs typeface="Times New Roman" panose="02020603050405020304" pitchFamily="18" charset="0"/>
              </a:rPr>
              <a:t> </a:t>
            </a:r>
            <a:r>
              <a:rPr lang="fr-DZ" altLang="fr-DZ" dirty="0" err="1">
                <a:latin typeface="Times New Roman" panose="02020603050405020304" pitchFamily="18" charset="0"/>
                <a:ea typeface="Tahoma" panose="020B0604030504040204" pitchFamily="34" charset="0"/>
                <a:cs typeface="Times New Roman" panose="02020603050405020304" pitchFamily="18" charset="0"/>
              </a:rPr>
              <a:t>delivery</a:t>
            </a:r>
            <a:r>
              <a:rPr lang="fr-DZ" altLang="fr-DZ" dirty="0">
                <a:latin typeface="Times New Roman" panose="02020603050405020304" pitchFamily="18" charset="0"/>
                <a:ea typeface="Tahoma" panose="020B0604030504040204" pitchFamily="34" charset="0"/>
                <a:cs typeface="Times New Roman" panose="02020603050405020304" pitchFamily="18" charset="0"/>
              </a:rPr>
              <a:t>.</a:t>
            </a:r>
          </a:p>
          <a:p>
            <a:pPr marL="285750" lvl="0" indent="-285750" eaLnBrk="0" fontAlgn="base" hangingPunct="0">
              <a:spcBef>
                <a:spcPct val="0"/>
              </a:spcBef>
              <a:spcAft>
                <a:spcPct val="0"/>
              </a:spcAft>
              <a:buFont typeface="Arial" panose="020B0604020202020204" pitchFamily="34" charset="0"/>
              <a:buChar char="•"/>
            </a:pPr>
            <a:r>
              <a:rPr lang="fr-DZ" altLang="fr-DZ" dirty="0" err="1">
                <a:latin typeface="Times New Roman" panose="02020603050405020304" pitchFamily="18" charset="0"/>
                <a:ea typeface="Tahoma" panose="020B0604030504040204" pitchFamily="34" charset="0"/>
                <a:cs typeface="Times New Roman" panose="02020603050405020304" pitchFamily="18" charset="0"/>
              </a:rPr>
              <a:t>Without</a:t>
            </a:r>
            <a:r>
              <a:rPr lang="fr-DZ" altLang="fr-DZ" dirty="0">
                <a:latin typeface="Times New Roman" panose="02020603050405020304" pitchFamily="18" charset="0"/>
                <a:ea typeface="Tahoma" panose="020B0604030504040204" pitchFamily="34" charset="0"/>
                <a:cs typeface="Times New Roman" panose="02020603050405020304" pitchFamily="18" charset="0"/>
              </a:rPr>
              <a:t> </a:t>
            </a:r>
            <a:r>
              <a:rPr lang="fr-DZ" altLang="fr-DZ" dirty="0">
                <a:latin typeface="Times New Roman" panose="02020603050405020304" pitchFamily="18" charset="0"/>
                <a:cs typeface="Times New Roman" panose="02020603050405020304" pitchFamily="18" charset="0"/>
              </a:rPr>
              <a:t>QoS, all </a:t>
            </a:r>
            <a:r>
              <a:rPr lang="fr-DZ" altLang="fr-DZ" dirty="0" err="1">
                <a:latin typeface="Times New Roman" panose="02020603050405020304" pitchFamily="18" charset="0"/>
                <a:cs typeface="Times New Roman" panose="02020603050405020304" pitchFamily="18" charset="0"/>
              </a:rPr>
              <a:t>traffic</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is</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treated</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equally</a:t>
            </a:r>
            <a:r>
              <a:rPr lang="fr-DZ" altLang="fr-DZ" dirty="0">
                <a:latin typeface="Times New Roman" panose="02020603050405020304" pitchFamily="18" charset="0"/>
                <a:cs typeface="Times New Roman" panose="02020603050405020304" pitchFamily="18" charset="0"/>
              </a:rPr>
              <a:t> — </a:t>
            </a:r>
            <a:r>
              <a:rPr lang="fr-DZ" altLang="fr-DZ" dirty="0" err="1">
                <a:latin typeface="Times New Roman" panose="02020603050405020304" pitchFamily="18" charset="0"/>
                <a:cs typeface="Times New Roman" panose="02020603050405020304" pitchFamily="18" charset="0"/>
              </a:rPr>
              <a:t>causing</a:t>
            </a:r>
            <a:r>
              <a:rPr lang="fr-DZ" altLang="fr-DZ" dirty="0">
                <a:latin typeface="Times New Roman" panose="02020603050405020304" pitchFamily="18" charset="0"/>
                <a:cs typeface="Times New Roman" panose="02020603050405020304" pitchFamily="18" charset="0"/>
              </a:rPr>
              <a:t> </a:t>
            </a:r>
            <a:r>
              <a:rPr lang="fr-DZ" altLang="fr-DZ" dirty="0" err="1">
                <a:latin typeface="Times New Roman" panose="02020603050405020304" pitchFamily="18" charset="0"/>
                <a:cs typeface="Times New Roman" panose="02020603050405020304" pitchFamily="18" charset="0"/>
              </a:rPr>
              <a:t>delays</a:t>
            </a:r>
            <a:r>
              <a:rPr lang="fr-DZ" altLang="fr-DZ" dirty="0">
                <a:latin typeface="Times New Roman" panose="02020603050405020304" pitchFamily="18" charset="0"/>
                <a:cs typeface="Times New Roman" panose="02020603050405020304" pitchFamily="18" charset="0"/>
              </a:rPr>
              <a:t> and </a:t>
            </a:r>
            <a:r>
              <a:rPr lang="fr-DZ" altLang="fr-DZ" dirty="0" err="1">
                <a:latin typeface="Times New Roman" panose="02020603050405020304" pitchFamily="18" charset="0"/>
                <a:cs typeface="Times New Roman" panose="02020603050405020304" pitchFamily="18" charset="0"/>
              </a:rPr>
              <a:t>poor</a:t>
            </a:r>
            <a:r>
              <a:rPr lang="fr-DZ" altLang="fr-DZ" dirty="0">
                <a:latin typeface="Times New Roman" panose="02020603050405020304" pitchFamily="18" charset="0"/>
                <a:cs typeface="Times New Roman" panose="02020603050405020304" pitchFamily="18" charset="0"/>
              </a:rPr>
              <a:t> performance.</a:t>
            </a:r>
          </a:p>
          <a:p>
            <a:pPr algn="just"/>
            <a:endParaRPr lang="fr-FR" b="1" dirty="0">
              <a:latin typeface="Times New Roman" panose="02020603050405020304" pitchFamily="18" charset="0"/>
              <a:cs typeface="Times New Roman" panose="02020603050405020304" pitchFamily="18" charset="0"/>
            </a:endParaRPr>
          </a:p>
          <a:p>
            <a:pPr algn="just"/>
            <a:endParaRPr lang="fr-DZ"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A26C59-A03D-0015-B0FA-89D922B9B93E}"/>
              </a:ext>
            </a:extLst>
          </p:cNvPr>
          <p:cNvSpPr txBox="1"/>
          <p:nvPr/>
        </p:nvSpPr>
        <p:spPr>
          <a:xfrm>
            <a:off x="951729" y="260648"/>
            <a:ext cx="10111235" cy="646331"/>
          </a:xfrm>
          <a:prstGeom prst="rect">
            <a:avLst/>
          </a:prstGeom>
          <a:noFill/>
        </p:spPr>
        <p:txBody>
          <a:bodyPr wrap="square">
            <a:spAutoFit/>
          </a:bodyPr>
          <a:lstStyle/>
          <a:p>
            <a:pPr algn="ctr"/>
            <a:r>
              <a:rPr lang="fr-DZ" sz="3600" dirty="0" err="1">
                <a:latin typeface="Times New Roman" panose="02020603050405020304" pitchFamily="18" charset="0"/>
                <a:cs typeface="Times New Roman" panose="02020603050405020304" pitchFamily="18" charset="0"/>
              </a:rPr>
              <a:t>Quality</a:t>
            </a:r>
            <a:r>
              <a:rPr lang="fr-DZ" sz="3600" dirty="0">
                <a:latin typeface="Times New Roman" panose="02020603050405020304" pitchFamily="18" charset="0"/>
                <a:cs typeface="Times New Roman" panose="02020603050405020304" pitchFamily="18" charset="0"/>
              </a:rPr>
              <a:t> of Service (QoS</a:t>
            </a:r>
            <a:r>
              <a:rPr lang="fr-FR" sz="3600" dirty="0">
                <a:latin typeface="Times New Roman" panose="02020603050405020304" pitchFamily="18" charset="0"/>
                <a:cs typeface="Times New Roman" panose="02020603050405020304" pitchFamily="18" charset="0"/>
              </a:rPr>
              <a:t>)</a:t>
            </a:r>
            <a:endParaRPr lang="fr-DZ" sz="3600" b="1" dirty="0">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F19CF0D1-C855-FEDC-A123-DAF60E958AF1}"/>
              </a:ext>
            </a:extLst>
          </p:cNvPr>
          <p:cNvGrpSpPr/>
          <p:nvPr/>
        </p:nvGrpSpPr>
        <p:grpSpPr>
          <a:xfrm>
            <a:off x="2854052" y="4221089"/>
            <a:ext cx="5354166" cy="2345070"/>
            <a:chOff x="2854052" y="4221089"/>
            <a:chExt cx="5354166" cy="2345070"/>
          </a:xfrm>
        </p:grpSpPr>
        <p:pic>
          <p:nvPicPr>
            <p:cNvPr id="1027" name="Picture 3" descr="delay content">
              <a:extLst>
                <a:ext uri="{FF2B5EF4-FFF2-40B4-BE49-F238E27FC236}">
                  <a16:creationId xmlns:a16="http://schemas.microsoft.com/office/drawing/2014/main" id="{EC45ADBC-52FF-4BFB-2B6C-CFBE369D6E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8107"/>
            <a:stretch>
              <a:fillRect/>
            </a:stretch>
          </p:blipFill>
          <p:spPr bwMode="auto">
            <a:xfrm>
              <a:off x="2854052" y="4221089"/>
              <a:ext cx="5354166" cy="20882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5E0944-C74C-90B8-B88D-A1232EF7D3F7}"/>
                </a:ext>
              </a:extLst>
            </p:cNvPr>
            <p:cNvSpPr txBox="1"/>
            <p:nvPr/>
          </p:nvSpPr>
          <p:spPr>
            <a:xfrm>
              <a:off x="6238428" y="5589240"/>
              <a:ext cx="476412" cy="215444"/>
            </a:xfrm>
            <a:prstGeom prst="rect">
              <a:avLst/>
            </a:prstGeom>
            <a:noFill/>
          </p:spPr>
          <p:txBody>
            <a:bodyPr wrap="none" rtlCol="0">
              <a:spAutoFit/>
            </a:bodyPr>
            <a:lstStyle/>
            <a:p>
              <a:r>
                <a:rPr lang="fr-FR" sz="800" dirty="0">
                  <a:solidFill>
                    <a:schemeClr val="tx2"/>
                  </a:solidFill>
                </a:rPr>
                <a:t>2Gbps</a:t>
              </a:r>
              <a:endParaRPr lang="fr-DZ" sz="800" dirty="0">
                <a:solidFill>
                  <a:schemeClr val="tx2"/>
                </a:solidFill>
              </a:endParaRPr>
            </a:p>
          </p:txBody>
        </p:sp>
        <p:sp>
          <p:nvSpPr>
            <p:cNvPr id="6" name="TextBox 5">
              <a:extLst>
                <a:ext uri="{FF2B5EF4-FFF2-40B4-BE49-F238E27FC236}">
                  <a16:creationId xmlns:a16="http://schemas.microsoft.com/office/drawing/2014/main" id="{8E4BD2C8-3103-DDC9-CB5B-6B91951BFC09}"/>
                </a:ext>
              </a:extLst>
            </p:cNvPr>
            <p:cNvSpPr txBox="1"/>
            <p:nvPr/>
          </p:nvSpPr>
          <p:spPr>
            <a:xfrm>
              <a:off x="4718305" y="5769550"/>
              <a:ext cx="476412" cy="215444"/>
            </a:xfrm>
            <a:prstGeom prst="rect">
              <a:avLst/>
            </a:prstGeom>
            <a:noFill/>
          </p:spPr>
          <p:txBody>
            <a:bodyPr wrap="none" rtlCol="0">
              <a:spAutoFit/>
            </a:bodyPr>
            <a:lstStyle/>
            <a:p>
              <a:r>
                <a:rPr lang="fr-FR" sz="800" dirty="0">
                  <a:solidFill>
                    <a:schemeClr val="tx2"/>
                  </a:solidFill>
                </a:rPr>
                <a:t>4Gbps</a:t>
              </a:r>
              <a:endParaRPr lang="fr-DZ" sz="800" dirty="0">
                <a:solidFill>
                  <a:schemeClr val="tx2"/>
                </a:solidFill>
              </a:endParaRPr>
            </a:p>
          </p:txBody>
        </p:sp>
        <p:sp>
          <p:nvSpPr>
            <p:cNvPr id="8" name="Rectangle: Top Corners One Rounded and One Snipped 7">
              <a:extLst>
                <a:ext uri="{FF2B5EF4-FFF2-40B4-BE49-F238E27FC236}">
                  <a16:creationId xmlns:a16="http://schemas.microsoft.com/office/drawing/2014/main" id="{0F5BB8B4-3C34-9DC1-9734-E16E1664E61C}"/>
                </a:ext>
              </a:extLst>
            </p:cNvPr>
            <p:cNvSpPr/>
            <p:nvPr/>
          </p:nvSpPr>
          <p:spPr>
            <a:xfrm>
              <a:off x="5302324" y="6000379"/>
              <a:ext cx="231093" cy="236934"/>
            </a:xfrm>
            <a:prstGeom prst="snip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9" name="Rectangle: Top Corners One Rounded and One Snipped 8">
              <a:extLst>
                <a:ext uri="{FF2B5EF4-FFF2-40B4-BE49-F238E27FC236}">
                  <a16:creationId xmlns:a16="http://schemas.microsoft.com/office/drawing/2014/main" id="{574377C3-7AF4-7756-2D26-DB19872F45AE}"/>
                </a:ext>
              </a:extLst>
            </p:cNvPr>
            <p:cNvSpPr/>
            <p:nvPr/>
          </p:nvSpPr>
          <p:spPr>
            <a:xfrm>
              <a:off x="5374332" y="6093296"/>
              <a:ext cx="231093" cy="236934"/>
            </a:xfrm>
            <a:prstGeom prst="snip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10" name="TextBox 9">
              <a:extLst>
                <a:ext uri="{FF2B5EF4-FFF2-40B4-BE49-F238E27FC236}">
                  <a16:creationId xmlns:a16="http://schemas.microsoft.com/office/drawing/2014/main" id="{78439CDA-A24D-975B-F13D-F0BB74614251}"/>
                </a:ext>
              </a:extLst>
            </p:cNvPr>
            <p:cNvSpPr txBox="1"/>
            <p:nvPr/>
          </p:nvSpPr>
          <p:spPr>
            <a:xfrm>
              <a:off x="5158308" y="5301208"/>
              <a:ext cx="243978" cy="215444"/>
            </a:xfrm>
            <a:prstGeom prst="rect">
              <a:avLst/>
            </a:prstGeom>
            <a:noFill/>
          </p:spPr>
          <p:txBody>
            <a:bodyPr wrap="none" rtlCol="0">
              <a:spAutoFit/>
            </a:bodyPr>
            <a:lstStyle/>
            <a:p>
              <a:r>
                <a:rPr lang="fr-FR" sz="800" dirty="0">
                  <a:solidFill>
                    <a:schemeClr val="tx2"/>
                  </a:solidFill>
                </a:rPr>
                <a:t>2</a:t>
              </a:r>
              <a:endParaRPr lang="fr-DZ" sz="800" dirty="0">
                <a:solidFill>
                  <a:schemeClr val="tx2"/>
                </a:solidFill>
              </a:endParaRPr>
            </a:p>
          </p:txBody>
        </p:sp>
        <p:sp>
          <p:nvSpPr>
            <p:cNvPr id="11" name="TextBox 10">
              <a:extLst>
                <a:ext uri="{FF2B5EF4-FFF2-40B4-BE49-F238E27FC236}">
                  <a16:creationId xmlns:a16="http://schemas.microsoft.com/office/drawing/2014/main" id="{4E1E4E32-7EF1-0E09-F7D9-3B0DDE1FFC89}"/>
                </a:ext>
              </a:extLst>
            </p:cNvPr>
            <p:cNvSpPr txBox="1"/>
            <p:nvPr/>
          </p:nvSpPr>
          <p:spPr>
            <a:xfrm>
              <a:off x="5653124" y="5301208"/>
              <a:ext cx="243978" cy="215444"/>
            </a:xfrm>
            <a:prstGeom prst="rect">
              <a:avLst/>
            </a:prstGeom>
            <a:noFill/>
          </p:spPr>
          <p:txBody>
            <a:bodyPr wrap="none" rtlCol="0">
              <a:spAutoFit/>
            </a:bodyPr>
            <a:lstStyle/>
            <a:p>
              <a:r>
                <a:rPr lang="fr-FR" sz="800" dirty="0">
                  <a:solidFill>
                    <a:schemeClr val="tx2"/>
                  </a:solidFill>
                </a:rPr>
                <a:t>1</a:t>
              </a:r>
              <a:endParaRPr lang="fr-DZ" sz="800" dirty="0">
                <a:solidFill>
                  <a:schemeClr val="tx2"/>
                </a:solidFill>
              </a:endParaRPr>
            </a:p>
          </p:txBody>
        </p:sp>
        <p:sp>
          <p:nvSpPr>
            <p:cNvPr id="12" name="TextBox 11">
              <a:extLst>
                <a:ext uri="{FF2B5EF4-FFF2-40B4-BE49-F238E27FC236}">
                  <a16:creationId xmlns:a16="http://schemas.microsoft.com/office/drawing/2014/main" id="{1B5CC743-4B47-C48C-A18F-960AD0A6A0CA}"/>
                </a:ext>
              </a:extLst>
            </p:cNvPr>
            <p:cNvSpPr txBox="1"/>
            <p:nvPr/>
          </p:nvSpPr>
          <p:spPr>
            <a:xfrm>
              <a:off x="5409146" y="5301208"/>
              <a:ext cx="243978" cy="215444"/>
            </a:xfrm>
            <a:prstGeom prst="rect">
              <a:avLst/>
            </a:prstGeom>
            <a:noFill/>
          </p:spPr>
          <p:txBody>
            <a:bodyPr wrap="none" rtlCol="0">
              <a:spAutoFit/>
            </a:bodyPr>
            <a:lstStyle/>
            <a:p>
              <a:r>
                <a:rPr lang="fr-FR" sz="800" dirty="0">
                  <a:solidFill>
                    <a:schemeClr val="tx2"/>
                  </a:solidFill>
                </a:rPr>
                <a:t>4</a:t>
              </a:r>
              <a:endParaRPr lang="fr-DZ" sz="800" dirty="0">
                <a:solidFill>
                  <a:schemeClr val="tx2"/>
                </a:solidFill>
              </a:endParaRPr>
            </a:p>
          </p:txBody>
        </p:sp>
        <p:sp>
          <p:nvSpPr>
            <p:cNvPr id="13" name="TextBox 12">
              <a:extLst>
                <a:ext uri="{FF2B5EF4-FFF2-40B4-BE49-F238E27FC236}">
                  <a16:creationId xmlns:a16="http://schemas.microsoft.com/office/drawing/2014/main" id="{395FF338-CE58-E2CB-B1C9-631ED564FD69}"/>
                </a:ext>
              </a:extLst>
            </p:cNvPr>
            <p:cNvSpPr txBox="1"/>
            <p:nvPr/>
          </p:nvSpPr>
          <p:spPr>
            <a:xfrm>
              <a:off x="5035393" y="6350715"/>
              <a:ext cx="764953" cy="215444"/>
            </a:xfrm>
            <a:prstGeom prst="rect">
              <a:avLst/>
            </a:prstGeom>
            <a:noFill/>
          </p:spPr>
          <p:txBody>
            <a:bodyPr wrap="none" rtlCol="0">
              <a:spAutoFit/>
            </a:bodyPr>
            <a:lstStyle/>
            <a:p>
              <a:r>
                <a:rPr lang="fr-FR" sz="800" dirty="0">
                  <a:solidFill>
                    <a:schemeClr val="tx2"/>
                  </a:solidFill>
                </a:rPr>
                <a:t>Packet </a:t>
              </a:r>
              <a:r>
                <a:rPr lang="fr-FR" sz="800" dirty="0" err="1">
                  <a:solidFill>
                    <a:schemeClr val="tx2"/>
                  </a:solidFill>
                </a:rPr>
                <a:t>Loss</a:t>
              </a:r>
              <a:endParaRPr lang="fr-DZ" sz="800" dirty="0">
                <a:solidFill>
                  <a:schemeClr val="tx2"/>
                </a:solidFill>
              </a:endParaRPr>
            </a:p>
          </p:txBody>
        </p:sp>
        <p:sp>
          <p:nvSpPr>
            <p:cNvPr id="14" name="TextBox 13">
              <a:extLst>
                <a:ext uri="{FF2B5EF4-FFF2-40B4-BE49-F238E27FC236}">
                  <a16:creationId xmlns:a16="http://schemas.microsoft.com/office/drawing/2014/main" id="{FC4597BB-2151-C0BE-C85A-1F2384F4FE85}"/>
                </a:ext>
              </a:extLst>
            </p:cNvPr>
            <p:cNvSpPr txBox="1"/>
            <p:nvPr/>
          </p:nvSpPr>
          <p:spPr>
            <a:xfrm>
              <a:off x="5173016" y="5028328"/>
              <a:ext cx="425116" cy="215444"/>
            </a:xfrm>
            <a:prstGeom prst="rect">
              <a:avLst/>
            </a:prstGeom>
            <a:noFill/>
          </p:spPr>
          <p:txBody>
            <a:bodyPr wrap="none" rtlCol="0">
              <a:spAutoFit/>
            </a:bodyPr>
            <a:lstStyle/>
            <a:p>
              <a:r>
                <a:rPr lang="fr-FR" sz="800" dirty="0" err="1">
                  <a:solidFill>
                    <a:schemeClr val="tx2"/>
                  </a:solidFill>
                </a:rPr>
                <a:t>Jitter</a:t>
              </a:r>
              <a:endParaRPr lang="fr-DZ" sz="800" dirty="0">
                <a:solidFill>
                  <a:schemeClr val="tx2"/>
                </a:solidFill>
              </a:endParaRPr>
            </a:p>
          </p:txBody>
        </p:sp>
      </p:grpSp>
    </p:spTree>
    <p:extLst>
      <p:ext uri="{BB962C8B-B14F-4D97-AF65-F5344CB8AC3E}">
        <p14:creationId xmlns:p14="http://schemas.microsoft.com/office/powerpoint/2010/main" val="4032658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1C160-764A-224E-51F4-4554611EAF14}"/>
              </a:ext>
            </a:extLst>
          </p:cNvPr>
          <p:cNvSpPr>
            <a:spLocks noGrp="1"/>
          </p:cNvSpPr>
          <p:nvPr>
            <p:ph type="title"/>
          </p:nvPr>
        </p:nvSpPr>
        <p:spPr/>
        <p:txBody>
          <a:bodyPr/>
          <a:lstStyle/>
          <a:p>
            <a:r>
              <a:rPr lang="fr-FR" b="1" dirty="0">
                <a:latin typeface="Times New Roman" panose="02020603050405020304" pitchFamily="18" charset="0"/>
                <a:cs typeface="Times New Roman" panose="02020603050405020304" pitchFamily="18" charset="0"/>
              </a:rPr>
              <a:t>QoS Performance </a:t>
            </a:r>
            <a:r>
              <a:rPr lang="fr-FR" b="1" dirty="0" err="1">
                <a:latin typeface="Times New Roman" panose="02020603050405020304" pitchFamily="18" charset="0"/>
                <a:cs typeface="Times New Roman" panose="02020603050405020304" pitchFamily="18" charset="0"/>
              </a:rPr>
              <a:t>Metrics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AB95EE35-1EFF-BF4C-5B6A-5673A3B9F498}"/>
              </a:ext>
            </a:extLst>
          </p:cNvPr>
          <p:cNvSpPr>
            <a:spLocks noGrp="1"/>
          </p:cNvSpPr>
          <p:nvPr>
            <p:ph type="pic" idx="1"/>
          </p:nvPr>
        </p:nvSpPr>
        <p:spPr>
          <a:xfrm>
            <a:off x="5014292" y="482600"/>
            <a:ext cx="6696744" cy="5689600"/>
          </a:xfrm>
        </p:spPr>
      </p:sp>
      <p:sp>
        <p:nvSpPr>
          <p:cNvPr id="4" name="Text Placeholder 3">
            <a:extLst>
              <a:ext uri="{FF2B5EF4-FFF2-40B4-BE49-F238E27FC236}">
                <a16:creationId xmlns:a16="http://schemas.microsoft.com/office/drawing/2014/main" id="{24E40BB3-A955-CC55-D7F6-98AAE1465094}"/>
              </a:ext>
            </a:extLst>
          </p:cNvPr>
          <p:cNvSpPr>
            <a:spLocks noGrp="1"/>
          </p:cNvSpPr>
          <p:nvPr>
            <p:ph type="body" sz="half" idx="2"/>
          </p:nvPr>
        </p:nvSpPr>
        <p:spPr/>
        <p:txBody>
          <a:bodyPr/>
          <a:lstStyle/>
          <a:p>
            <a:r>
              <a:rPr lang="fr-FR" dirty="0">
                <a:latin typeface="Times New Roman" panose="02020603050405020304" pitchFamily="18" charset="0"/>
                <a:cs typeface="Times New Roman" panose="02020603050405020304" pitchFamily="18" charset="0"/>
              </a:rPr>
              <a:t>QoS relies on </a:t>
            </a:r>
            <a:r>
              <a:rPr lang="fr-FR" dirty="0" err="1">
                <a:latin typeface="Times New Roman" panose="02020603050405020304" pitchFamily="18" charset="0"/>
                <a:cs typeface="Times New Roman" panose="02020603050405020304" pitchFamily="18" charset="0"/>
              </a:rPr>
              <a:t>specific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measurable</a:t>
            </a:r>
            <a:r>
              <a:rPr lang="fr-FR" dirty="0">
                <a:latin typeface="Times New Roman" panose="02020603050405020304" pitchFamily="18" charset="0"/>
                <a:cs typeface="Times New Roman" panose="02020603050405020304" pitchFamily="18" charset="0"/>
              </a:rPr>
              <a:t> network performance </a:t>
            </a:r>
            <a:r>
              <a:rPr lang="fr-FR" dirty="0" err="1">
                <a:latin typeface="Times New Roman" panose="02020603050405020304" pitchFamily="18" charset="0"/>
                <a:cs typeface="Times New Roman" panose="02020603050405020304" pitchFamily="18" charset="0"/>
              </a:rPr>
              <a:t>metrics</a:t>
            </a:r>
            <a:r>
              <a:rPr lang="fr-FR" dirty="0">
                <a:latin typeface="Times New Roman" panose="02020603050405020304" pitchFamily="18" charset="0"/>
                <a:cs typeface="Times New Roman" panose="02020603050405020304" pitchFamily="18" charset="0"/>
              </a:rPr>
              <a:t>:</a:t>
            </a:r>
          </a:p>
          <a:p>
            <a:endParaRPr lang="fr-DZ" dirty="0"/>
          </a:p>
        </p:txBody>
      </p:sp>
      <p:graphicFrame>
        <p:nvGraphicFramePr>
          <p:cNvPr id="8" name="Table 7">
            <a:extLst>
              <a:ext uri="{FF2B5EF4-FFF2-40B4-BE49-F238E27FC236}">
                <a16:creationId xmlns:a16="http://schemas.microsoft.com/office/drawing/2014/main" id="{440F981A-FA63-415C-C0E1-2ACF872830D2}"/>
              </a:ext>
            </a:extLst>
          </p:cNvPr>
          <p:cNvGraphicFramePr>
            <a:graphicFrameLocks noGrp="1"/>
          </p:cNvGraphicFramePr>
          <p:nvPr>
            <p:extLst>
              <p:ext uri="{D42A27DB-BD31-4B8C-83A1-F6EECF244321}">
                <p14:modId xmlns:p14="http://schemas.microsoft.com/office/powerpoint/2010/main" val="2138955553"/>
              </p:ext>
            </p:extLst>
          </p:nvPr>
        </p:nvGraphicFramePr>
        <p:xfrm>
          <a:off x="5299025" y="918836"/>
          <a:ext cx="6195987" cy="4742412"/>
        </p:xfrm>
        <a:graphic>
          <a:graphicData uri="http://schemas.openxmlformats.org/drawingml/2006/table">
            <a:tbl>
              <a:tblPr>
                <a:tableStyleId>{616DA210-FB5B-4158-B5E0-FEB733F419BA}</a:tableStyleId>
              </a:tblPr>
              <a:tblGrid>
                <a:gridCol w="2065329">
                  <a:extLst>
                    <a:ext uri="{9D8B030D-6E8A-4147-A177-3AD203B41FA5}">
                      <a16:colId xmlns:a16="http://schemas.microsoft.com/office/drawing/2014/main" val="3288445672"/>
                    </a:ext>
                  </a:extLst>
                </a:gridCol>
                <a:gridCol w="2065329">
                  <a:extLst>
                    <a:ext uri="{9D8B030D-6E8A-4147-A177-3AD203B41FA5}">
                      <a16:colId xmlns:a16="http://schemas.microsoft.com/office/drawing/2014/main" val="3937084487"/>
                    </a:ext>
                  </a:extLst>
                </a:gridCol>
                <a:gridCol w="2065329">
                  <a:extLst>
                    <a:ext uri="{9D8B030D-6E8A-4147-A177-3AD203B41FA5}">
                      <a16:colId xmlns:a16="http://schemas.microsoft.com/office/drawing/2014/main" val="3447747483"/>
                    </a:ext>
                  </a:extLst>
                </a:gridCol>
              </a:tblGrid>
              <a:tr h="537556">
                <a:tc>
                  <a:txBody>
                    <a:bodyPr/>
                    <a:lstStyle/>
                    <a:p>
                      <a:pPr>
                        <a:buNone/>
                      </a:pPr>
                      <a:r>
                        <a:rPr lang="fr-FR" b="1">
                          <a:latin typeface="Times New Roman" panose="02020603050405020304" pitchFamily="18" charset="0"/>
                          <a:cs typeface="Times New Roman" panose="02020603050405020304" pitchFamily="18" charset="0"/>
                        </a:rPr>
                        <a:t>Metric</a:t>
                      </a:r>
                      <a:endParaRPr lang="fr-FR">
                        <a:latin typeface="Times New Roman" panose="02020603050405020304" pitchFamily="18" charset="0"/>
                        <a:cs typeface="Times New Roman" panose="02020603050405020304" pitchFamily="18" charset="0"/>
                      </a:endParaRPr>
                    </a:p>
                  </a:txBody>
                  <a:tcPr anchor="ctr"/>
                </a:tc>
                <a:tc>
                  <a:txBody>
                    <a:bodyPr/>
                    <a:lstStyle/>
                    <a:p>
                      <a:pPr>
                        <a:buNone/>
                      </a:pPr>
                      <a:r>
                        <a:rPr lang="fr-FR" b="1">
                          <a:latin typeface="Times New Roman" panose="02020603050405020304" pitchFamily="18" charset="0"/>
                          <a:cs typeface="Times New Roman" panose="02020603050405020304" pitchFamily="18" charset="0"/>
                        </a:rPr>
                        <a:t>Definition</a:t>
                      </a:r>
                      <a:endParaRPr lang="fr-FR">
                        <a:latin typeface="Times New Roman" panose="02020603050405020304" pitchFamily="18" charset="0"/>
                        <a:cs typeface="Times New Roman" panose="02020603050405020304" pitchFamily="18" charset="0"/>
                      </a:endParaRPr>
                    </a:p>
                  </a:txBody>
                  <a:tcPr anchor="ctr"/>
                </a:tc>
                <a:tc>
                  <a:txBody>
                    <a:bodyPr/>
                    <a:lstStyle/>
                    <a:p>
                      <a:pPr>
                        <a:buNone/>
                      </a:pPr>
                      <a:r>
                        <a:rPr lang="fr-FR" b="1">
                          <a:latin typeface="Times New Roman" panose="02020603050405020304" pitchFamily="18" charset="0"/>
                          <a:cs typeface="Times New Roman" panose="02020603050405020304" pitchFamily="18" charset="0"/>
                        </a:rPr>
                        <a:t>Effect of Poor Value</a:t>
                      </a:r>
                      <a:endParaRPr lang="fr-FR">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61167332"/>
                  </a:ext>
                </a:extLst>
              </a:tr>
              <a:tr h="537556">
                <a:tc>
                  <a:txBody>
                    <a:bodyPr/>
                    <a:lstStyle/>
                    <a:p>
                      <a:pPr>
                        <a:buNone/>
                      </a:pPr>
                      <a:r>
                        <a:rPr lang="fr-FR" b="1">
                          <a:latin typeface="Times New Roman" panose="02020603050405020304" pitchFamily="18" charset="0"/>
                          <a:cs typeface="Times New Roman" panose="02020603050405020304" pitchFamily="18" charset="0"/>
                        </a:rPr>
                        <a:t>Bandwidth</a:t>
                      </a:r>
                      <a:endParaRPr lang="fr-FR">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Capacity of a link (bps)</a:t>
                      </a:r>
                    </a:p>
                  </a:txBody>
                  <a:tcPr anchor="ctr"/>
                </a:tc>
                <a:tc>
                  <a:txBody>
                    <a:bodyPr/>
                    <a:lstStyle/>
                    <a:p>
                      <a:pPr>
                        <a:buNone/>
                      </a:pPr>
                      <a:r>
                        <a:rPr lang="fr-FR">
                          <a:latin typeface="Times New Roman" panose="02020603050405020304" pitchFamily="18" charset="0"/>
                          <a:cs typeface="Times New Roman" panose="02020603050405020304" pitchFamily="18" charset="0"/>
                        </a:rPr>
                        <a:t>Congestion, slow transmission</a:t>
                      </a:r>
                    </a:p>
                  </a:txBody>
                  <a:tcPr anchor="ctr"/>
                </a:tc>
                <a:extLst>
                  <a:ext uri="{0D108BD9-81ED-4DB2-BD59-A6C34878D82A}">
                    <a16:rowId xmlns:a16="http://schemas.microsoft.com/office/drawing/2014/main" val="1584607610"/>
                  </a:ext>
                </a:extLst>
              </a:tr>
              <a:tr h="940724">
                <a:tc>
                  <a:txBody>
                    <a:bodyPr/>
                    <a:lstStyle/>
                    <a:p>
                      <a:pPr>
                        <a:buNone/>
                      </a:pPr>
                      <a:r>
                        <a:rPr lang="fr-FR" b="1">
                          <a:latin typeface="Times New Roman" panose="02020603050405020304" pitchFamily="18" charset="0"/>
                          <a:cs typeface="Times New Roman" panose="02020603050405020304" pitchFamily="18" charset="0"/>
                        </a:rPr>
                        <a:t>Delay (Latency)</a:t>
                      </a:r>
                      <a:endParaRPr lang="fr-FR">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Time for a packet to reach destination</a:t>
                      </a:r>
                    </a:p>
                  </a:txBody>
                  <a:tcPr anchor="ctr"/>
                </a:tc>
                <a:tc>
                  <a:txBody>
                    <a:bodyPr/>
                    <a:lstStyle/>
                    <a:p>
                      <a:pPr>
                        <a:buNone/>
                      </a:pPr>
                      <a:r>
                        <a:rPr lang="en-US">
                          <a:latin typeface="Times New Roman" panose="02020603050405020304" pitchFamily="18" charset="0"/>
                          <a:cs typeface="Times New Roman" panose="02020603050405020304" pitchFamily="18" charset="0"/>
                        </a:rPr>
                        <a:t>Echo in calls, video lag</a:t>
                      </a:r>
                    </a:p>
                  </a:txBody>
                  <a:tcPr anchor="ctr"/>
                </a:tc>
                <a:extLst>
                  <a:ext uri="{0D108BD9-81ED-4DB2-BD59-A6C34878D82A}">
                    <a16:rowId xmlns:a16="http://schemas.microsoft.com/office/drawing/2014/main" val="4018451352"/>
                  </a:ext>
                </a:extLst>
              </a:tr>
              <a:tr h="940724">
                <a:tc>
                  <a:txBody>
                    <a:bodyPr/>
                    <a:lstStyle/>
                    <a:p>
                      <a:pPr>
                        <a:buNone/>
                      </a:pPr>
                      <a:r>
                        <a:rPr lang="fr-FR" b="1">
                          <a:latin typeface="Times New Roman" panose="02020603050405020304" pitchFamily="18" charset="0"/>
                          <a:cs typeface="Times New Roman" panose="02020603050405020304" pitchFamily="18" charset="0"/>
                        </a:rPr>
                        <a:t>Jitter</a:t>
                      </a:r>
                      <a:endParaRPr lang="fr-FR">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Variation in delay between packets</a:t>
                      </a:r>
                    </a:p>
                  </a:txBody>
                  <a:tcPr anchor="ctr"/>
                </a:tc>
                <a:tc>
                  <a:txBody>
                    <a:bodyPr/>
                    <a:lstStyle/>
                    <a:p>
                      <a:pPr>
                        <a:buNone/>
                      </a:pPr>
                      <a:r>
                        <a:rPr lang="fr-FR">
                          <a:latin typeface="Times New Roman" panose="02020603050405020304" pitchFamily="18" charset="0"/>
                          <a:cs typeface="Times New Roman" panose="02020603050405020304" pitchFamily="18" charset="0"/>
                        </a:rPr>
                        <a:t>Choppy voice or video</a:t>
                      </a:r>
                    </a:p>
                  </a:txBody>
                  <a:tcPr anchor="ctr"/>
                </a:tc>
                <a:extLst>
                  <a:ext uri="{0D108BD9-81ED-4DB2-BD59-A6C34878D82A}">
                    <a16:rowId xmlns:a16="http://schemas.microsoft.com/office/drawing/2014/main" val="3187988920"/>
                  </a:ext>
                </a:extLst>
              </a:tr>
              <a:tr h="537556">
                <a:tc>
                  <a:txBody>
                    <a:bodyPr/>
                    <a:lstStyle/>
                    <a:p>
                      <a:pPr>
                        <a:buNone/>
                      </a:pPr>
                      <a:r>
                        <a:rPr lang="fr-FR" b="1">
                          <a:latin typeface="Times New Roman" panose="02020603050405020304" pitchFamily="18" charset="0"/>
                          <a:cs typeface="Times New Roman" panose="02020603050405020304" pitchFamily="18" charset="0"/>
                        </a:rPr>
                        <a:t>Packet Loss</a:t>
                      </a:r>
                      <a:endParaRPr lang="fr-FR">
                        <a:latin typeface="Times New Roman" panose="02020603050405020304" pitchFamily="18" charset="0"/>
                        <a:cs typeface="Times New Roman" panose="02020603050405020304" pitchFamily="18" charset="0"/>
                      </a:endParaRPr>
                    </a:p>
                  </a:txBody>
                  <a:tcPr anchor="ctr"/>
                </a:tc>
                <a:tc>
                  <a:txBody>
                    <a:bodyPr/>
                    <a:lstStyle/>
                    <a:p>
                      <a:pPr>
                        <a:buNone/>
                      </a:pPr>
                      <a:r>
                        <a:rPr lang="fr-FR">
                          <a:latin typeface="Times New Roman" panose="02020603050405020304" pitchFamily="18" charset="0"/>
                          <a:cs typeface="Times New Roman" panose="02020603050405020304" pitchFamily="18" charset="0"/>
                        </a:rPr>
                        <a:t>% of packets not delivered</a:t>
                      </a:r>
                    </a:p>
                  </a:txBody>
                  <a:tcPr anchor="ctr"/>
                </a:tc>
                <a:tc>
                  <a:txBody>
                    <a:bodyPr/>
                    <a:lstStyle/>
                    <a:p>
                      <a:pPr>
                        <a:buNone/>
                      </a:pPr>
                      <a:r>
                        <a:rPr lang="fr-FR">
                          <a:latin typeface="Times New Roman" panose="02020603050405020304" pitchFamily="18" charset="0"/>
                          <a:cs typeface="Times New Roman" panose="02020603050405020304" pitchFamily="18" charset="0"/>
                        </a:rPr>
                        <a:t>Missing frames, distorted audio</a:t>
                      </a:r>
                    </a:p>
                  </a:txBody>
                  <a:tcPr anchor="ctr"/>
                </a:tc>
                <a:extLst>
                  <a:ext uri="{0D108BD9-81ED-4DB2-BD59-A6C34878D82A}">
                    <a16:rowId xmlns:a16="http://schemas.microsoft.com/office/drawing/2014/main" val="639457866"/>
                  </a:ext>
                </a:extLst>
              </a:tr>
              <a:tr h="940724">
                <a:tc>
                  <a:txBody>
                    <a:bodyPr/>
                    <a:lstStyle/>
                    <a:p>
                      <a:pPr>
                        <a:buNone/>
                      </a:pPr>
                      <a:r>
                        <a:rPr lang="fr-FR" b="1">
                          <a:latin typeface="Times New Roman" panose="02020603050405020304" pitchFamily="18" charset="0"/>
                          <a:cs typeface="Times New Roman" panose="02020603050405020304" pitchFamily="18" charset="0"/>
                        </a:rPr>
                        <a:t>Reliability</a:t>
                      </a:r>
                      <a:endParaRPr lang="fr-FR">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Network’s ability to maintain connection</a:t>
                      </a:r>
                    </a:p>
                  </a:txBody>
                  <a:tcPr anchor="ctr"/>
                </a:tc>
                <a:tc>
                  <a:txBody>
                    <a:bodyPr/>
                    <a:lstStyle/>
                    <a:p>
                      <a:pPr>
                        <a:buNone/>
                      </a:pPr>
                      <a:r>
                        <a:rPr lang="fr-FR" dirty="0">
                          <a:latin typeface="Times New Roman" panose="02020603050405020304" pitchFamily="18" charset="0"/>
                          <a:cs typeface="Times New Roman" panose="02020603050405020304" pitchFamily="18" charset="0"/>
                        </a:rPr>
                        <a:t>Service interruptions</a:t>
                      </a:r>
                    </a:p>
                  </a:txBody>
                  <a:tcPr anchor="ctr"/>
                </a:tc>
                <a:extLst>
                  <a:ext uri="{0D108BD9-81ED-4DB2-BD59-A6C34878D82A}">
                    <a16:rowId xmlns:a16="http://schemas.microsoft.com/office/drawing/2014/main" val="3875775576"/>
                  </a:ext>
                </a:extLst>
              </a:tr>
            </a:tbl>
          </a:graphicData>
        </a:graphic>
      </p:graphicFrame>
    </p:spTree>
    <p:extLst>
      <p:ext uri="{BB962C8B-B14F-4D97-AF65-F5344CB8AC3E}">
        <p14:creationId xmlns:p14="http://schemas.microsoft.com/office/powerpoint/2010/main" val="21831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A1F51B2-9CEC-D2F6-BE33-5849A6141281}"/>
              </a:ext>
            </a:extLst>
          </p:cNvPr>
          <p:cNvGrpSpPr/>
          <p:nvPr/>
        </p:nvGrpSpPr>
        <p:grpSpPr>
          <a:xfrm>
            <a:off x="1701924" y="1412776"/>
            <a:ext cx="8568952" cy="4464496"/>
            <a:chOff x="2854052" y="4221089"/>
            <a:chExt cx="5354166" cy="2345070"/>
          </a:xfrm>
        </p:grpSpPr>
        <p:pic>
          <p:nvPicPr>
            <p:cNvPr id="3" name="Picture 3" descr="delay content">
              <a:extLst>
                <a:ext uri="{FF2B5EF4-FFF2-40B4-BE49-F238E27FC236}">
                  <a16:creationId xmlns:a16="http://schemas.microsoft.com/office/drawing/2014/main" id="{4DD7CF7C-F7FA-4223-73C5-E0D985C9A8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8107"/>
            <a:stretch>
              <a:fillRect/>
            </a:stretch>
          </p:blipFill>
          <p:spPr bwMode="auto">
            <a:xfrm>
              <a:off x="2854052" y="4221089"/>
              <a:ext cx="5354166" cy="20882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64D23AA-E02E-7F7D-A2F3-C8D4C1275DA4}"/>
                </a:ext>
              </a:extLst>
            </p:cNvPr>
            <p:cNvSpPr txBox="1"/>
            <p:nvPr/>
          </p:nvSpPr>
          <p:spPr>
            <a:xfrm>
              <a:off x="6238428" y="5589240"/>
              <a:ext cx="476412" cy="215444"/>
            </a:xfrm>
            <a:prstGeom prst="rect">
              <a:avLst/>
            </a:prstGeom>
            <a:noFill/>
          </p:spPr>
          <p:txBody>
            <a:bodyPr wrap="none" rtlCol="0">
              <a:spAutoFit/>
            </a:bodyPr>
            <a:lstStyle/>
            <a:p>
              <a:r>
                <a:rPr lang="fr-FR" sz="800" dirty="0">
                  <a:solidFill>
                    <a:schemeClr val="tx2"/>
                  </a:solidFill>
                </a:rPr>
                <a:t>2Gbps</a:t>
              </a:r>
              <a:endParaRPr lang="fr-DZ" sz="800" dirty="0">
                <a:solidFill>
                  <a:schemeClr val="tx2"/>
                </a:solidFill>
              </a:endParaRPr>
            </a:p>
          </p:txBody>
        </p:sp>
        <p:sp>
          <p:nvSpPr>
            <p:cNvPr id="5" name="TextBox 4">
              <a:extLst>
                <a:ext uri="{FF2B5EF4-FFF2-40B4-BE49-F238E27FC236}">
                  <a16:creationId xmlns:a16="http://schemas.microsoft.com/office/drawing/2014/main" id="{8132F709-67CC-EA7A-0F07-3474BAE451B0}"/>
                </a:ext>
              </a:extLst>
            </p:cNvPr>
            <p:cNvSpPr txBox="1"/>
            <p:nvPr/>
          </p:nvSpPr>
          <p:spPr>
            <a:xfrm>
              <a:off x="4718305" y="5769550"/>
              <a:ext cx="476412" cy="215444"/>
            </a:xfrm>
            <a:prstGeom prst="rect">
              <a:avLst/>
            </a:prstGeom>
            <a:noFill/>
          </p:spPr>
          <p:txBody>
            <a:bodyPr wrap="none" rtlCol="0">
              <a:spAutoFit/>
            </a:bodyPr>
            <a:lstStyle/>
            <a:p>
              <a:r>
                <a:rPr lang="fr-FR" sz="800" dirty="0">
                  <a:solidFill>
                    <a:schemeClr val="tx2"/>
                  </a:solidFill>
                </a:rPr>
                <a:t>4Gbps</a:t>
              </a:r>
              <a:endParaRPr lang="fr-DZ" sz="800" dirty="0">
                <a:solidFill>
                  <a:schemeClr val="tx2"/>
                </a:solidFill>
              </a:endParaRPr>
            </a:p>
          </p:txBody>
        </p:sp>
        <p:sp>
          <p:nvSpPr>
            <p:cNvPr id="6" name="Rectangle: Top Corners One Rounded and One Snipped 5">
              <a:extLst>
                <a:ext uri="{FF2B5EF4-FFF2-40B4-BE49-F238E27FC236}">
                  <a16:creationId xmlns:a16="http://schemas.microsoft.com/office/drawing/2014/main" id="{09B75426-BEB7-6751-1D6D-99AB31EABE51}"/>
                </a:ext>
              </a:extLst>
            </p:cNvPr>
            <p:cNvSpPr/>
            <p:nvPr/>
          </p:nvSpPr>
          <p:spPr>
            <a:xfrm>
              <a:off x="5302324" y="6000379"/>
              <a:ext cx="231093" cy="236934"/>
            </a:xfrm>
            <a:prstGeom prst="snip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7" name="Rectangle: Top Corners One Rounded and One Snipped 6">
              <a:extLst>
                <a:ext uri="{FF2B5EF4-FFF2-40B4-BE49-F238E27FC236}">
                  <a16:creationId xmlns:a16="http://schemas.microsoft.com/office/drawing/2014/main" id="{EAEDB266-0E24-4210-FA0A-DC88105AB6BB}"/>
                </a:ext>
              </a:extLst>
            </p:cNvPr>
            <p:cNvSpPr/>
            <p:nvPr/>
          </p:nvSpPr>
          <p:spPr>
            <a:xfrm>
              <a:off x="5374332" y="6093296"/>
              <a:ext cx="231093" cy="236934"/>
            </a:xfrm>
            <a:prstGeom prst="snip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8" name="TextBox 7">
              <a:extLst>
                <a:ext uri="{FF2B5EF4-FFF2-40B4-BE49-F238E27FC236}">
                  <a16:creationId xmlns:a16="http://schemas.microsoft.com/office/drawing/2014/main" id="{B3A1D947-4714-DD38-6018-1495157B45BE}"/>
                </a:ext>
              </a:extLst>
            </p:cNvPr>
            <p:cNvSpPr txBox="1"/>
            <p:nvPr/>
          </p:nvSpPr>
          <p:spPr>
            <a:xfrm>
              <a:off x="5158308" y="5301208"/>
              <a:ext cx="243978" cy="215444"/>
            </a:xfrm>
            <a:prstGeom prst="rect">
              <a:avLst/>
            </a:prstGeom>
            <a:noFill/>
          </p:spPr>
          <p:txBody>
            <a:bodyPr wrap="none" rtlCol="0">
              <a:spAutoFit/>
            </a:bodyPr>
            <a:lstStyle/>
            <a:p>
              <a:r>
                <a:rPr lang="fr-FR" sz="800" dirty="0">
                  <a:solidFill>
                    <a:schemeClr val="tx2"/>
                  </a:solidFill>
                </a:rPr>
                <a:t>2</a:t>
              </a:r>
              <a:endParaRPr lang="fr-DZ" sz="800" dirty="0">
                <a:solidFill>
                  <a:schemeClr val="tx2"/>
                </a:solidFill>
              </a:endParaRPr>
            </a:p>
          </p:txBody>
        </p:sp>
        <p:sp>
          <p:nvSpPr>
            <p:cNvPr id="9" name="TextBox 8">
              <a:extLst>
                <a:ext uri="{FF2B5EF4-FFF2-40B4-BE49-F238E27FC236}">
                  <a16:creationId xmlns:a16="http://schemas.microsoft.com/office/drawing/2014/main" id="{D756817D-C1F2-B89E-87D3-D56031EFA322}"/>
                </a:ext>
              </a:extLst>
            </p:cNvPr>
            <p:cNvSpPr txBox="1"/>
            <p:nvPr/>
          </p:nvSpPr>
          <p:spPr>
            <a:xfrm>
              <a:off x="5653124" y="5301208"/>
              <a:ext cx="243978" cy="215444"/>
            </a:xfrm>
            <a:prstGeom prst="rect">
              <a:avLst/>
            </a:prstGeom>
            <a:noFill/>
          </p:spPr>
          <p:txBody>
            <a:bodyPr wrap="none" rtlCol="0">
              <a:spAutoFit/>
            </a:bodyPr>
            <a:lstStyle/>
            <a:p>
              <a:r>
                <a:rPr lang="fr-FR" sz="800" dirty="0">
                  <a:solidFill>
                    <a:schemeClr val="tx2"/>
                  </a:solidFill>
                </a:rPr>
                <a:t>1</a:t>
              </a:r>
              <a:endParaRPr lang="fr-DZ" sz="800" dirty="0">
                <a:solidFill>
                  <a:schemeClr val="tx2"/>
                </a:solidFill>
              </a:endParaRPr>
            </a:p>
          </p:txBody>
        </p:sp>
        <p:sp>
          <p:nvSpPr>
            <p:cNvPr id="10" name="TextBox 9">
              <a:extLst>
                <a:ext uri="{FF2B5EF4-FFF2-40B4-BE49-F238E27FC236}">
                  <a16:creationId xmlns:a16="http://schemas.microsoft.com/office/drawing/2014/main" id="{B8E433C7-D7ED-DE0B-E8C4-59A000CF9FD3}"/>
                </a:ext>
              </a:extLst>
            </p:cNvPr>
            <p:cNvSpPr txBox="1"/>
            <p:nvPr/>
          </p:nvSpPr>
          <p:spPr>
            <a:xfrm>
              <a:off x="5409146" y="5301208"/>
              <a:ext cx="243978" cy="215444"/>
            </a:xfrm>
            <a:prstGeom prst="rect">
              <a:avLst/>
            </a:prstGeom>
            <a:noFill/>
          </p:spPr>
          <p:txBody>
            <a:bodyPr wrap="none" rtlCol="0">
              <a:spAutoFit/>
            </a:bodyPr>
            <a:lstStyle/>
            <a:p>
              <a:r>
                <a:rPr lang="fr-FR" sz="800" dirty="0">
                  <a:solidFill>
                    <a:schemeClr val="tx2"/>
                  </a:solidFill>
                </a:rPr>
                <a:t>4</a:t>
              </a:r>
              <a:endParaRPr lang="fr-DZ" sz="800" dirty="0">
                <a:solidFill>
                  <a:schemeClr val="tx2"/>
                </a:solidFill>
              </a:endParaRPr>
            </a:p>
          </p:txBody>
        </p:sp>
        <p:sp>
          <p:nvSpPr>
            <p:cNvPr id="11" name="TextBox 10">
              <a:extLst>
                <a:ext uri="{FF2B5EF4-FFF2-40B4-BE49-F238E27FC236}">
                  <a16:creationId xmlns:a16="http://schemas.microsoft.com/office/drawing/2014/main" id="{C3188ED4-1B80-C345-0525-ADAFB8999906}"/>
                </a:ext>
              </a:extLst>
            </p:cNvPr>
            <p:cNvSpPr txBox="1"/>
            <p:nvPr/>
          </p:nvSpPr>
          <p:spPr>
            <a:xfrm>
              <a:off x="5035393" y="6350715"/>
              <a:ext cx="764953" cy="215444"/>
            </a:xfrm>
            <a:prstGeom prst="rect">
              <a:avLst/>
            </a:prstGeom>
            <a:noFill/>
          </p:spPr>
          <p:txBody>
            <a:bodyPr wrap="none" rtlCol="0">
              <a:spAutoFit/>
            </a:bodyPr>
            <a:lstStyle/>
            <a:p>
              <a:r>
                <a:rPr lang="fr-FR" sz="800" dirty="0">
                  <a:solidFill>
                    <a:schemeClr val="tx2"/>
                  </a:solidFill>
                </a:rPr>
                <a:t>Packet </a:t>
              </a:r>
              <a:r>
                <a:rPr lang="fr-FR" sz="800" dirty="0" err="1">
                  <a:solidFill>
                    <a:schemeClr val="tx2"/>
                  </a:solidFill>
                </a:rPr>
                <a:t>Loss</a:t>
              </a:r>
              <a:endParaRPr lang="fr-DZ" sz="800" dirty="0">
                <a:solidFill>
                  <a:schemeClr val="tx2"/>
                </a:solidFill>
              </a:endParaRPr>
            </a:p>
          </p:txBody>
        </p:sp>
        <p:sp>
          <p:nvSpPr>
            <p:cNvPr id="12" name="TextBox 11">
              <a:extLst>
                <a:ext uri="{FF2B5EF4-FFF2-40B4-BE49-F238E27FC236}">
                  <a16:creationId xmlns:a16="http://schemas.microsoft.com/office/drawing/2014/main" id="{14434477-E706-213E-1E1C-7075CD24D37B}"/>
                </a:ext>
              </a:extLst>
            </p:cNvPr>
            <p:cNvSpPr txBox="1"/>
            <p:nvPr/>
          </p:nvSpPr>
          <p:spPr>
            <a:xfrm>
              <a:off x="5173016" y="5028328"/>
              <a:ext cx="425116" cy="215444"/>
            </a:xfrm>
            <a:prstGeom prst="rect">
              <a:avLst/>
            </a:prstGeom>
            <a:noFill/>
          </p:spPr>
          <p:txBody>
            <a:bodyPr wrap="none" rtlCol="0">
              <a:spAutoFit/>
            </a:bodyPr>
            <a:lstStyle/>
            <a:p>
              <a:r>
                <a:rPr lang="fr-FR" sz="800" dirty="0" err="1">
                  <a:solidFill>
                    <a:schemeClr val="tx2"/>
                  </a:solidFill>
                </a:rPr>
                <a:t>Jitter</a:t>
              </a:r>
              <a:endParaRPr lang="fr-DZ" sz="800" dirty="0">
                <a:solidFill>
                  <a:schemeClr val="tx2"/>
                </a:solidFill>
              </a:endParaRPr>
            </a:p>
          </p:txBody>
        </p:sp>
      </p:grpSp>
      <p:sp>
        <p:nvSpPr>
          <p:cNvPr id="13" name="TextBox 12">
            <a:extLst>
              <a:ext uri="{FF2B5EF4-FFF2-40B4-BE49-F238E27FC236}">
                <a16:creationId xmlns:a16="http://schemas.microsoft.com/office/drawing/2014/main" id="{F1297444-13AE-1B84-8433-1AE66D758C62}"/>
              </a:ext>
            </a:extLst>
          </p:cNvPr>
          <p:cNvSpPr txBox="1"/>
          <p:nvPr/>
        </p:nvSpPr>
        <p:spPr>
          <a:xfrm>
            <a:off x="951729" y="260648"/>
            <a:ext cx="10111235" cy="646331"/>
          </a:xfrm>
          <a:prstGeom prst="rect">
            <a:avLst/>
          </a:prstGeom>
          <a:noFill/>
        </p:spPr>
        <p:txBody>
          <a:bodyPr wrap="square">
            <a:spAutoFit/>
          </a:bodyPr>
          <a:lstStyle/>
          <a:p>
            <a:pPr algn="ctr"/>
            <a:r>
              <a:rPr lang="fr-DZ" sz="3600" dirty="0" err="1">
                <a:latin typeface="Times New Roman" panose="02020603050405020304" pitchFamily="18" charset="0"/>
                <a:cs typeface="Times New Roman" panose="02020603050405020304" pitchFamily="18" charset="0"/>
              </a:rPr>
              <a:t>Quality</a:t>
            </a:r>
            <a:r>
              <a:rPr lang="fr-DZ" sz="3600" dirty="0">
                <a:latin typeface="Times New Roman" panose="02020603050405020304" pitchFamily="18" charset="0"/>
                <a:cs typeface="Times New Roman" panose="02020603050405020304" pitchFamily="18" charset="0"/>
              </a:rPr>
              <a:t> of Service (QoS</a:t>
            </a:r>
            <a:r>
              <a:rPr lang="fr-FR" sz="3600" dirty="0">
                <a:latin typeface="Times New Roman" panose="02020603050405020304" pitchFamily="18" charset="0"/>
                <a:cs typeface="Times New Roman" panose="02020603050405020304" pitchFamily="18" charset="0"/>
              </a:rPr>
              <a:t>)</a:t>
            </a:r>
            <a:endParaRPr lang="fr-DZ"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2146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617E73-84C8-19CE-6ACE-552D22FE6C78}"/>
              </a:ext>
            </a:extLst>
          </p:cNvPr>
          <p:cNvSpPr txBox="1"/>
          <p:nvPr/>
        </p:nvSpPr>
        <p:spPr>
          <a:xfrm>
            <a:off x="1197868" y="1412776"/>
            <a:ext cx="9577063" cy="4247317"/>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Definition: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QoS tools are the set of mechanisms used by network devices (routers, switches) to control traffic behavior — by classifying, prioritizing, scheduling, delaying, or discarding packets — in order to meet specific performance requirements (latency, jitter, loss).</a:t>
            </a:r>
          </a:p>
          <a:p>
            <a:pPr>
              <a:buNone/>
            </a:pPr>
            <a:r>
              <a:rPr lang="en-US" b="1" dirty="0">
                <a:latin typeface="Times New Roman" panose="02020603050405020304" pitchFamily="18" charset="0"/>
                <a:cs typeface="Times New Roman" panose="02020603050405020304" pitchFamily="18" charset="0"/>
              </a:rPr>
              <a:t>Main Goal: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Ensure that critical applications (e.g., voice, video conferencing, or control signals) receive better service than non-critical traffic (e.g., email, file downloads).</a:t>
            </a:r>
          </a:p>
          <a:p>
            <a:r>
              <a:rPr lang="en-US" b="1" dirty="0">
                <a:latin typeface="Times New Roman" panose="02020603050405020304" pitchFamily="18" charset="0"/>
                <a:cs typeface="Times New Roman" panose="02020603050405020304" pitchFamily="18" charset="0"/>
              </a:rPr>
              <a:t>QoS Tools and Mechanisms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Classification and Marking</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Queuing (Congestion Management)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Congestion Avoidance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Policing</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Shaping</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pPr>
              <a:buNone/>
            </a:pP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B7EC6A4-5660-44C5-7F28-8B9C03E7576E}"/>
              </a:ext>
            </a:extLst>
          </p:cNvPr>
          <p:cNvSpPr txBox="1"/>
          <p:nvPr/>
        </p:nvSpPr>
        <p:spPr>
          <a:xfrm>
            <a:off x="3025576" y="260648"/>
            <a:ext cx="6100762"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QoS Tools and Mechanisms</a:t>
            </a:r>
          </a:p>
        </p:txBody>
      </p:sp>
    </p:spTree>
    <p:extLst>
      <p:ext uri="{BB962C8B-B14F-4D97-AF65-F5344CB8AC3E}">
        <p14:creationId xmlns:p14="http://schemas.microsoft.com/office/powerpoint/2010/main" val="4254563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E1D57-1A2A-70EF-57BA-9B31C5AEB7CC}"/>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06524B18-79C0-DBA5-C44A-5F3E61238A08}"/>
              </a:ext>
            </a:extLst>
          </p:cNvPr>
          <p:cNvSpPr>
            <a:spLocks noGrp="1"/>
          </p:cNvSpPr>
          <p:nvPr>
            <p:ph type="pic" idx="1"/>
          </p:nvPr>
        </p:nvSpPr>
        <p:spPr>
          <a:xfrm>
            <a:off x="4942284" y="116632"/>
            <a:ext cx="6840760" cy="6624736"/>
          </a:xfrm>
        </p:spPr>
      </p:sp>
      <p:sp>
        <p:nvSpPr>
          <p:cNvPr id="4" name="Text Placeholder 3">
            <a:extLst>
              <a:ext uri="{FF2B5EF4-FFF2-40B4-BE49-F238E27FC236}">
                <a16:creationId xmlns:a16="http://schemas.microsoft.com/office/drawing/2014/main" id="{05055DBA-1E6C-F40E-C265-2BD7B7DF2876}"/>
              </a:ext>
            </a:extLst>
          </p:cNvPr>
          <p:cNvSpPr>
            <a:spLocks noGrp="1"/>
          </p:cNvSpPr>
          <p:nvPr>
            <p:ph type="body" sz="half" idx="2"/>
          </p:nvPr>
        </p:nvSpPr>
        <p:spPr/>
        <p:txBody>
          <a:bodyPr/>
          <a:lstStyle/>
          <a:p>
            <a:r>
              <a:rPr lang="en-US" b="1" dirty="0">
                <a:latin typeface="Times New Roman" panose="02020603050405020304" pitchFamily="18" charset="0"/>
                <a:cs typeface="Times New Roman" panose="02020603050405020304" pitchFamily="18" charset="0"/>
              </a:rPr>
              <a:t>Classification and Marking</a:t>
            </a:r>
          </a:p>
          <a:p>
            <a:r>
              <a:rPr lang="en-US"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fr-DZ"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570EF4F-3797-997C-0075-BCB604A351EF}"/>
              </a:ext>
            </a:extLst>
          </p:cNvPr>
          <p:cNvSpPr txBox="1"/>
          <p:nvPr/>
        </p:nvSpPr>
        <p:spPr>
          <a:xfrm>
            <a:off x="4942285" y="260648"/>
            <a:ext cx="6768752" cy="646330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Classification</a:t>
            </a:r>
          </a:p>
          <a:p>
            <a:r>
              <a:rPr lang="en-US" dirty="0">
                <a:latin typeface="Times New Roman" panose="02020603050405020304" pitchFamily="18" charset="0"/>
                <a:cs typeface="Times New Roman" panose="02020603050405020304" pitchFamily="18" charset="0"/>
              </a:rPr>
              <a:t>Purpose: Identify and group packets based on specific characteristics.</a:t>
            </a:r>
          </a:p>
          <a:p>
            <a:r>
              <a:rPr lang="en-US" dirty="0">
                <a:latin typeface="Times New Roman" panose="02020603050405020304" pitchFamily="18" charset="0"/>
                <a:cs typeface="Times New Roman" panose="02020603050405020304" pitchFamily="18" charset="0"/>
              </a:rPr>
              <a:t>How it works: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When a packet arrives at a router or switch, the device examines packet headers to determine the type of traffic and the application it belongs to.</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Source/destination IP address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Protocol type (TCP/UDP)</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Port number (e.g., 80 for HTTP, 5060 for SIP)</a:t>
            </a:r>
          </a:p>
          <a:p>
            <a:r>
              <a:rPr lang="en-US" dirty="0">
                <a:latin typeface="Times New Roman" panose="02020603050405020304" pitchFamily="18" charset="0"/>
                <a:cs typeface="Times New Roman" panose="02020603050405020304" pitchFamily="18" charset="0"/>
              </a:rPr>
              <a:t>Packets are placed into traffic classes (e.g., Voice, Video, Best Effort, Background).</a:t>
            </a:r>
          </a:p>
          <a:p>
            <a:pPr>
              <a:buNone/>
            </a:pPr>
            <a:r>
              <a:rPr lang="en-US" b="1" dirty="0">
                <a:latin typeface="Times New Roman" panose="02020603050405020304" pitchFamily="18" charset="0"/>
                <a:cs typeface="Times New Roman" panose="02020603050405020304" pitchFamily="18" charset="0"/>
              </a:rPr>
              <a:t>Marking</a:t>
            </a:r>
          </a:p>
          <a:p>
            <a:r>
              <a:rPr lang="en-US" dirty="0">
                <a:latin typeface="Times New Roman" panose="02020603050405020304" pitchFamily="18" charset="0"/>
                <a:cs typeface="Times New Roman" panose="02020603050405020304" pitchFamily="18" charset="0"/>
              </a:rPr>
              <a:t>Purpose: Tag packets with a priority value that other network devices can recognize and act upon.</a:t>
            </a:r>
          </a:p>
          <a:p>
            <a:r>
              <a:rPr lang="en-US" dirty="0">
                <a:latin typeface="Times New Roman" panose="02020603050405020304" pitchFamily="18" charset="0"/>
                <a:cs typeface="Times New Roman" panose="02020603050405020304" pitchFamily="18" charset="0"/>
              </a:rPr>
              <a:t>Where it happens: Usually at the network edge — as close as possible to the traffic source (e.g., access switch or router).</a:t>
            </a:r>
          </a:p>
          <a:p>
            <a:r>
              <a:rPr lang="en-US" dirty="0">
                <a:latin typeface="Times New Roman" panose="02020603050405020304" pitchFamily="18" charset="0"/>
                <a:cs typeface="Times New Roman" panose="02020603050405020304" pitchFamily="18" charset="0"/>
              </a:rPr>
              <a:t>How it works: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device sets a value in a specific header field:</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Layer 2: </a:t>
            </a:r>
            <a:r>
              <a:rPr lang="en-US" dirty="0" err="1">
                <a:latin typeface="Times New Roman" panose="02020603050405020304" pitchFamily="18" charset="0"/>
                <a:cs typeface="Times New Roman" panose="02020603050405020304" pitchFamily="18" charset="0"/>
              </a:rPr>
              <a:t>CoS</a:t>
            </a:r>
            <a:r>
              <a:rPr lang="en-US" dirty="0">
                <a:latin typeface="Times New Roman" panose="02020603050405020304" pitchFamily="18" charset="0"/>
                <a:cs typeface="Times New Roman" panose="02020603050405020304" pitchFamily="18" charset="0"/>
              </a:rPr>
              <a:t> (Class of Service) — uses the 3-bit priority field in IEEE 802.1Q VLAN tag.</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Layer 3: DSCP (Differentiated Services Code Point) — uses 6 bits in the IP header.</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Layer 3: IP Precedence (older 3-bit field before DSCP).</a:t>
            </a:r>
          </a:p>
        </p:txBody>
      </p:sp>
    </p:spTree>
    <p:extLst>
      <p:ext uri="{BB962C8B-B14F-4D97-AF65-F5344CB8AC3E}">
        <p14:creationId xmlns:p14="http://schemas.microsoft.com/office/powerpoint/2010/main" val="192576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BB802-6DC6-0EC5-CBED-ABAA09E5C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FFDF6-9821-E883-3C14-EED2084FE92B}"/>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FC3685C4-1392-1B25-6409-804FA327D90E}"/>
              </a:ext>
            </a:extLst>
          </p:cNvPr>
          <p:cNvSpPr>
            <a:spLocks noGrp="1"/>
          </p:cNvSpPr>
          <p:nvPr>
            <p:ph type="pic" idx="1"/>
          </p:nvPr>
        </p:nvSpPr>
        <p:spPr>
          <a:xfrm>
            <a:off x="5158308" y="548680"/>
            <a:ext cx="6336704" cy="5760640"/>
          </a:xfrm>
        </p:spPr>
      </p:sp>
      <p:sp>
        <p:nvSpPr>
          <p:cNvPr id="4" name="Text Placeholder 3">
            <a:extLst>
              <a:ext uri="{FF2B5EF4-FFF2-40B4-BE49-F238E27FC236}">
                <a16:creationId xmlns:a16="http://schemas.microsoft.com/office/drawing/2014/main" id="{EFB45C9C-B1E6-AFDD-F417-0AD87DC8A75F}"/>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b="1"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en-US" b="1"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8271582-121C-FCCF-29BD-FD90F43FC617}"/>
              </a:ext>
            </a:extLst>
          </p:cNvPr>
          <p:cNvSpPr txBox="1"/>
          <p:nvPr/>
        </p:nvSpPr>
        <p:spPr>
          <a:xfrm>
            <a:off x="5302324" y="764704"/>
            <a:ext cx="5976665" cy="5355312"/>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Purpose:</a:t>
            </a:r>
          </a:p>
          <a:p>
            <a:pPr>
              <a:buNone/>
            </a:pPr>
            <a:r>
              <a:rPr lang="en-US" dirty="0">
                <a:latin typeface="Times New Roman" panose="02020603050405020304" pitchFamily="18" charset="0"/>
                <a:cs typeface="Times New Roman" panose="02020603050405020304" pitchFamily="18" charset="0"/>
              </a:rPr>
              <a:t>When multiple packets compete for the same output interface, queuing mechanisms decide </a:t>
            </a:r>
            <a:r>
              <a:rPr lang="en-US" b="1" dirty="0">
                <a:latin typeface="Times New Roman" panose="02020603050405020304" pitchFamily="18" charset="0"/>
                <a:cs typeface="Times New Roman" panose="02020603050405020304" pitchFamily="18" charset="0"/>
              </a:rPr>
              <a:t>which packet leaves next</a:t>
            </a:r>
            <a:r>
              <a:rPr lang="en-US" dirty="0">
                <a:latin typeface="Times New Roman" panose="02020603050405020304" pitchFamily="18" charset="0"/>
                <a:cs typeface="Times New Roman" panose="02020603050405020304" pitchFamily="18" charset="0"/>
              </a:rPr>
              <a:t> — ensuring critical traffic is not delayed or dropped.</a:t>
            </a:r>
          </a:p>
          <a:p>
            <a:pPr>
              <a:buNone/>
            </a:pPr>
            <a:r>
              <a:rPr lang="en-US" b="1" dirty="0">
                <a:latin typeface="Times New Roman" panose="02020603050405020304" pitchFamily="18" charset="0"/>
                <a:cs typeface="Times New Roman" panose="02020603050405020304" pitchFamily="18" charset="0"/>
              </a:rPr>
              <a:t>How it works:</a:t>
            </a:r>
          </a:p>
          <a:p>
            <a:pPr>
              <a:buNone/>
            </a:pPr>
            <a:r>
              <a:rPr lang="en-US" dirty="0">
                <a:latin typeface="Times New Roman" panose="02020603050405020304" pitchFamily="18" charset="0"/>
                <a:cs typeface="Times New Roman" panose="02020603050405020304" pitchFamily="18" charset="0"/>
              </a:rPr>
              <a:t>Each router interface has buffers (queues).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When congestion occurs, packets are placed into these queues based on their priority class.</a:t>
            </a:r>
          </a:p>
          <a:p>
            <a:r>
              <a:rPr lang="en-US" b="1" dirty="0">
                <a:latin typeface="Times New Roman" panose="02020603050405020304" pitchFamily="18" charset="0"/>
                <a:cs typeface="Times New Roman" panose="02020603050405020304" pitchFamily="18" charset="0"/>
              </a:rPr>
              <a:t>Example in practice:</a:t>
            </a:r>
          </a:p>
          <a:p>
            <a:r>
              <a:rPr lang="en-US" dirty="0">
                <a:latin typeface="Times New Roman" panose="02020603050405020304" pitchFamily="18" charset="0"/>
                <a:cs typeface="Times New Roman" panose="02020603050405020304" pitchFamily="18" charset="0"/>
              </a:rPr>
              <a:t>Imagine a link carrying:</a:t>
            </a:r>
          </a:p>
          <a:p>
            <a:pPr lvl="1"/>
            <a:r>
              <a:rPr lang="en-US" dirty="0">
                <a:latin typeface="Times New Roman" panose="02020603050405020304" pitchFamily="18" charset="0"/>
                <a:cs typeface="Times New Roman" panose="02020603050405020304" pitchFamily="18" charset="0"/>
              </a:rPr>
              <a:t>Voice (priority queue)</a:t>
            </a:r>
          </a:p>
          <a:p>
            <a:pPr lvl="1"/>
            <a:r>
              <a:rPr lang="en-US" dirty="0">
                <a:latin typeface="Times New Roman" panose="02020603050405020304" pitchFamily="18" charset="0"/>
                <a:cs typeface="Times New Roman" panose="02020603050405020304" pitchFamily="18" charset="0"/>
              </a:rPr>
              <a:t>Video (medium class)</a:t>
            </a:r>
          </a:p>
          <a:p>
            <a:pPr lvl="1"/>
            <a:r>
              <a:rPr lang="en-US" dirty="0">
                <a:latin typeface="Times New Roman" panose="02020603050405020304" pitchFamily="18" charset="0"/>
                <a:cs typeface="Times New Roman" panose="02020603050405020304" pitchFamily="18" charset="0"/>
              </a:rPr>
              <a:t>Web traffic (best effort)</a:t>
            </a:r>
          </a:p>
          <a:p>
            <a:r>
              <a:rPr lang="en-US" dirty="0">
                <a:latin typeface="Times New Roman" panose="02020603050405020304" pitchFamily="18" charset="0"/>
                <a:cs typeface="Times New Roman" panose="02020603050405020304" pitchFamily="18" charset="0"/>
              </a:rPr>
              <a:t>During congestion:</a:t>
            </a:r>
          </a:p>
          <a:p>
            <a:pPr lvl="1"/>
            <a:r>
              <a:rPr lang="en-US" dirty="0">
                <a:latin typeface="Times New Roman" panose="02020603050405020304" pitchFamily="18" charset="0"/>
                <a:cs typeface="Times New Roman" panose="02020603050405020304" pitchFamily="18" charset="0"/>
              </a:rPr>
              <a:t>Voice traffic always leaves first (low delay, low jitter).</a:t>
            </a:r>
          </a:p>
          <a:p>
            <a:pPr lvl="1"/>
            <a:r>
              <a:rPr lang="en-US" dirty="0">
                <a:latin typeface="Times New Roman" panose="02020603050405020304" pitchFamily="18" charset="0"/>
                <a:cs typeface="Times New Roman" panose="02020603050405020304" pitchFamily="18" charset="0"/>
              </a:rPr>
              <a:t>Video traffic gets the next priority.</a:t>
            </a:r>
          </a:p>
          <a:p>
            <a:pPr lvl="1"/>
            <a:r>
              <a:rPr lang="en-US" dirty="0">
                <a:latin typeface="Times New Roman" panose="02020603050405020304" pitchFamily="18" charset="0"/>
                <a:cs typeface="Times New Roman" panose="02020603050405020304" pitchFamily="18" charset="0"/>
              </a:rPr>
              <a:t>Web traffic waits or is dropped if necessary</a:t>
            </a:r>
          </a:p>
          <a:p>
            <a:pPr>
              <a:buNone/>
            </a:pP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892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05407-1A95-73ED-65E8-F79A57491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DDE66-E55D-1C38-F02F-7BC1119C9BCF}"/>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2153FAAF-75A7-D677-875E-19B2D0E7E259}"/>
              </a:ext>
            </a:extLst>
          </p:cNvPr>
          <p:cNvSpPr>
            <a:spLocks noGrp="1"/>
          </p:cNvSpPr>
          <p:nvPr>
            <p:ph type="pic" idx="1"/>
          </p:nvPr>
        </p:nvSpPr>
        <p:spPr>
          <a:xfrm>
            <a:off x="4942284" y="116632"/>
            <a:ext cx="6840760" cy="6624736"/>
          </a:xfrm>
        </p:spPr>
      </p:sp>
      <p:sp>
        <p:nvSpPr>
          <p:cNvPr id="4" name="Text Placeholder 3">
            <a:extLst>
              <a:ext uri="{FF2B5EF4-FFF2-40B4-BE49-F238E27FC236}">
                <a16:creationId xmlns:a16="http://schemas.microsoft.com/office/drawing/2014/main" id="{DC4E3BA8-7BC2-5B9B-0E6C-385D69D4D3EE}"/>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b="1"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fr-DZ"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B0D738AB-161D-D6A8-D219-6CCCCEF69214}"/>
              </a:ext>
            </a:extLst>
          </p:cNvPr>
          <p:cNvGraphicFramePr>
            <a:graphicFrameLocks noGrp="1"/>
          </p:cNvGraphicFramePr>
          <p:nvPr>
            <p:extLst>
              <p:ext uri="{D42A27DB-BD31-4B8C-83A1-F6EECF244321}">
                <p14:modId xmlns:p14="http://schemas.microsoft.com/office/powerpoint/2010/main" val="631143031"/>
              </p:ext>
            </p:extLst>
          </p:nvPr>
        </p:nvGraphicFramePr>
        <p:xfrm>
          <a:off x="5014292" y="146437"/>
          <a:ext cx="6673875" cy="6522923"/>
        </p:xfrm>
        <a:graphic>
          <a:graphicData uri="http://schemas.openxmlformats.org/drawingml/2006/table">
            <a:tbl>
              <a:tblPr/>
              <a:tblGrid>
                <a:gridCol w="2224625">
                  <a:extLst>
                    <a:ext uri="{9D8B030D-6E8A-4147-A177-3AD203B41FA5}">
                      <a16:colId xmlns:a16="http://schemas.microsoft.com/office/drawing/2014/main" val="3891947509"/>
                    </a:ext>
                  </a:extLst>
                </a:gridCol>
                <a:gridCol w="2224625">
                  <a:extLst>
                    <a:ext uri="{9D8B030D-6E8A-4147-A177-3AD203B41FA5}">
                      <a16:colId xmlns:a16="http://schemas.microsoft.com/office/drawing/2014/main" val="369128581"/>
                    </a:ext>
                  </a:extLst>
                </a:gridCol>
                <a:gridCol w="2224625">
                  <a:extLst>
                    <a:ext uri="{9D8B030D-6E8A-4147-A177-3AD203B41FA5}">
                      <a16:colId xmlns:a16="http://schemas.microsoft.com/office/drawing/2014/main" val="1698597755"/>
                    </a:ext>
                  </a:extLst>
                </a:gridCol>
              </a:tblGrid>
              <a:tr h="356397">
                <a:tc>
                  <a:txBody>
                    <a:bodyPr/>
                    <a:lstStyle/>
                    <a:p>
                      <a:pPr>
                        <a:buNone/>
                      </a:pPr>
                      <a:r>
                        <a:rPr lang="fr-FR" sz="1800" b="1">
                          <a:latin typeface="Times New Roman" panose="02020603050405020304" pitchFamily="18" charset="0"/>
                          <a:cs typeface="Times New Roman" panose="02020603050405020304" pitchFamily="18" charset="0"/>
                        </a:rPr>
                        <a:t>Algorithm</a:t>
                      </a:r>
                      <a:endParaRPr lang="fr-FR" sz="1800">
                        <a:latin typeface="Times New Roman" panose="02020603050405020304" pitchFamily="18" charset="0"/>
                        <a:cs typeface="Times New Roman" panose="02020603050405020304" pitchFamily="18" charset="0"/>
                      </a:endParaRPr>
                    </a:p>
                  </a:txBody>
                  <a:tcPr marL="80211" marR="80211" marT="40105" marB="40105" anchor="ctr">
                    <a:lnL>
                      <a:noFill/>
                    </a:lnL>
                    <a:lnR>
                      <a:noFill/>
                    </a:lnR>
                    <a:lnT>
                      <a:noFill/>
                    </a:lnT>
                    <a:lnB>
                      <a:noFill/>
                    </a:lnB>
                    <a:noFill/>
                  </a:tcPr>
                </a:tc>
                <a:tc>
                  <a:txBody>
                    <a:bodyPr/>
                    <a:lstStyle/>
                    <a:p>
                      <a:pPr>
                        <a:buNone/>
                      </a:pPr>
                      <a:r>
                        <a:rPr lang="fr-FR" sz="1800" b="1">
                          <a:latin typeface="Times New Roman" panose="02020603050405020304" pitchFamily="18" charset="0"/>
                          <a:cs typeface="Times New Roman" panose="02020603050405020304" pitchFamily="18" charset="0"/>
                        </a:rPr>
                        <a:t>Description</a:t>
                      </a:r>
                      <a:endParaRPr lang="fr-FR" sz="1800">
                        <a:latin typeface="Times New Roman" panose="02020603050405020304" pitchFamily="18" charset="0"/>
                        <a:cs typeface="Times New Roman" panose="02020603050405020304" pitchFamily="18" charset="0"/>
                      </a:endParaRPr>
                    </a:p>
                  </a:txBody>
                  <a:tcPr marL="80211" marR="80211" marT="40105" marB="40105" anchor="ctr">
                    <a:lnL>
                      <a:noFill/>
                    </a:lnL>
                    <a:lnR>
                      <a:noFill/>
                    </a:lnR>
                    <a:lnT>
                      <a:noFill/>
                    </a:lnT>
                    <a:lnB>
                      <a:noFill/>
                    </a:lnB>
                    <a:noFill/>
                  </a:tcPr>
                </a:tc>
                <a:tc>
                  <a:txBody>
                    <a:bodyPr/>
                    <a:lstStyle/>
                    <a:p>
                      <a:pPr>
                        <a:buNone/>
                      </a:pPr>
                      <a:r>
                        <a:rPr lang="fr-FR" sz="1800" b="1">
                          <a:latin typeface="Times New Roman" panose="02020603050405020304" pitchFamily="18" charset="0"/>
                          <a:cs typeface="Times New Roman" panose="02020603050405020304" pitchFamily="18" charset="0"/>
                        </a:rPr>
                        <a:t>Use Case</a:t>
                      </a:r>
                      <a:endParaRPr lang="fr-FR" sz="1800">
                        <a:latin typeface="Times New Roman" panose="02020603050405020304" pitchFamily="18" charset="0"/>
                        <a:cs typeface="Times New Roman" panose="02020603050405020304" pitchFamily="18" charset="0"/>
                      </a:endParaRPr>
                    </a:p>
                  </a:txBody>
                  <a:tcPr marL="80211" marR="80211" marT="40105" marB="40105" anchor="ctr">
                    <a:lnL>
                      <a:noFill/>
                    </a:lnL>
                    <a:lnR>
                      <a:noFill/>
                    </a:lnR>
                    <a:lnT>
                      <a:noFill/>
                    </a:lnT>
                    <a:lnB>
                      <a:noFill/>
                    </a:lnB>
                    <a:noFill/>
                  </a:tcPr>
                </a:tc>
                <a:extLst>
                  <a:ext uri="{0D108BD9-81ED-4DB2-BD59-A6C34878D82A}">
                    <a16:rowId xmlns:a16="http://schemas.microsoft.com/office/drawing/2014/main" val="302272939"/>
                  </a:ext>
                </a:extLst>
              </a:tr>
              <a:tr h="907926">
                <a:tc>
                  <a:txBody>
                    <a:bodyPr/>
                    <a:lstStyle/>
                    <a:p>
                      <a:pPr>
                        <a:buNone/>
                      </a:pPr>
                      <a:r>
                        <a:rPr lang="en-US" sz="1800" b="1" dirty="0">
                          <a:latin typeface="Times New Roman" panose="02020603050405020304" pitchFamily="18" charset="0"/>
                          <a:cs typeface="Times New Roman" panose="02020603050405020304" pitchFamily="18" charset="0"/>
                        </a:rPr>
                        <a:t>FIFO (First In, First Out)</a:t>
                      </a:r>
                      <a:endParaRPr lang="en-US" sz="1800" dirty="0">
                        <a:latin typeface="Times New Roman" panose="02020603050405020304" pitchFamily="18" charset="0"/>
                        <a:cs typeface="Times New Roman" panose="02020603050405020304" pitchFamily="18" charset="0"/>
                      </a:endParaRPr>
                    </a:p>
                  </a:txBody>
                  <a:tcPr marL="80211" marR="80211" marT="40105" marB="4010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Simplest method — packets are processed in arrival order.</a:t>
                      </a:r>
                    </a:p>
                  </a:txBody>
                  <a:tcPr marL="80211" marR="80211" marT="40105" marB="40105"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Not suitable for real-time applications.</a:t>
                      </a:r>
                    </a:p>
                  </a:txBody>
                  <a:tcPr marL="80211" marR="80211" marT="40105" marB="40105" anchor="ctr">
                    <a:lnL>
                      <a:noFill/>
                    </a:lnL>
                    <a:lnR>
                      <a:noFill/>
                    </a:lnR>
                    <a:lnT>
                      <a:noFill/>
                    </a:lnT>
                    <a:lnB>
                      <a:noFill/>
                    </a:lnB>
                    <a:noFill/>
                  </a:tcPr>
                </a:tc>
                <a:extLst>
                  <a:ext uri="{0D108BD9-81ED-4DB2-BD59-A6C34878D82A}">
                    <a16:rowId xmlns:a16="http://schemas.microsoft.com/office/drawing/2014/main" val="3790963111"/>
                  </a:ext>
                </a:extLst>
              </a:tr>
              <a:tr h="1183690">
                <a:tc>
                  <a:txBody>
                    <a:bodyPr/>
                    <a:lstStyle/>
                    <a:p>
                      <a:pPr>
                        <a:buNone/>
                      </a:pPr>
                      <a:r>
                        <a:rPr lang="fr-FR" sz="1800" b="1" dirty="0">
                          <a:latin typeface="Times New Roman" panose="02020603050405020304" pitchFamily="18" charset="0"/>
                          <a:cs typeface="Times New Roman" panose="02020603050405020304" pitchFamily="18" charset="0"/>
                        </a:rPr>
                        <a:t>PQ (</a:t>
                      </a:r>
                      <a:r>
                        <a:rPr lang="fr-FR" sz="1800" b="1" dirty="0" err="1">
                          <a:latin typeface="Times New Roman" panose="02020603050405020304" pitchFamily="18" charset="0"/>
                          <a:cs typeface="Times New Roman" panose="02020603050405020304" pitchFamily="18" charset="0"/>
                        </a:rPr>
                        <a:t>Priority</a:t>
                      </a:r>
                      <a:r>
                        <a:rPr lang="fr-FR" sz="1800" b="1" dirty="0">
                          <a:latin typeface="Times New Roman" panose="02020603050405020304" pitchFamily="18" charset="0"/>
                          <a:cs typeface="Times New Roman" panose="02020603050405020304" pitchFamily="18" charset="0"/>
                        </a:rPr>
                        <a:t> Queuing)</a:t>
                      </a:r>
                      <a:endParaRPr lang="fr-FR" sz="1800" dirty="0">
                        <a:latin typeface="Times New Roman" panose="02020603050405020304" pitchFamily="18" charset="0"/>
                        <a:cs typeface="Times New Roman" panose="02020603050405020304" pitchFamily="18" charset="0"/>
                      </a:endParaRPr>
                    </a:p>
                  </a:txBody>
                  <a:tcPr marL="80211" marR="80211" marT="40105" marB="4010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Packets are divided into priority queues (high, medium, low); higher ones always transmitted first.</a:t>
                      </a:r>
                    </a:p>
                  </a:txBody>
                  <a:tcPr marL="80211" marR="80211" marT="40105" marB="40105" anchor="ctr">
                    <a:lnL>
                      <a:noFill/>
                    </a:lnL>
                    <a:lnR>
                      <a:noFill/>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VoIP, real-time apps.</a:t>
                      </a:r>
                    </a:p>
                  </a:txBody>
                  <a:tcPr marL="80211" marR="80211" marT="40105" marB="40105" anchor="ctr">
                    <a:lnL>
                      <a:noFill/>
                    </a:lnL>
                    <a:lnR>
                      <a:noFill/>
                    </a:lnR>
                    <a:lnT>
                      <a:noFill/>
                    </a:lnT>
                    <a:lnB>
                      <a:noFill/>
                    </a:lnB>
                    <a:noFill/>
                  </a:tcPr>
                </a:tc>
                <a:extLst>
                  <a:ext uri="{0D108BD9-81ED-4DB2-BD59-A6C34878D82A}">
                    <a16:rowId xmlns:a16="http://schemas.microsoft.com/office/drawing/2014/main" val="2467176649"/>
                  </a:ext>
                </a:extLst>
              </a:tr>
              <a:tr h="907926">
                <a:tc>
                  <a:txBody>
                    <a:bodyPr/>
                    <a:lstStyle/>
                    <a:p>
                      <a:pPr>
                        <a:buNone/>
                      </a:pPr>
                      <a:r>
                        <a:rPr lang="fr-FR" sz="1800" b="1" dirty="0">
                          <a:latin typeface="Times New Roman" panose="02020603050405020304" pitchFamily="18" charset="0"/>
                          <a:cs typeface="Times New Roman" panose="02020603050405020304" pitchFamily="18" charset="0"/>
                        </a:rPr>
                        <a:t>WFQ (</a:t>
                      </a:r>
                      <a:r>
                        <a:rPr lang="fr-FR" sz="1800" b="1" dirty="0" err="1">
                          <a:latin typeface="Times New Roman" panose="02020603050405020304" pitchFamily="18" charset="0"/>
                          <a:cs typeface="Times New Roman" panose="02020603050405020304" pitchFamily="18" charset="0"/>
                        </a:rPr>
                        <a:t>Weighted</a:t>
                      </a:r>
                      <a:r>
                        <a:rPr lang="fr-FR" sz="1800" b="1" dirty="0">
                          <a:latin typeface="Times New Roman" panose="02020603050405020304" pitchFamily="18" charset="0"/>
                          <a:cs typeface="Times New Roman" panose="02020603050405020304" pitchFamily="18" charset="0"/>
                        </a:rPr>
                        <a:t> </a:t>
                      </a:r>
                      <a:r>
                        <a:rPr lang="fr-FR" sz="1800" b="1" dirty="0" err="1">
                          <a:latin typeface="Times New Roman" panose="02020603050405020304" pitchFamily="18" charset="0"/>
                          <a:cs typeface="Times New Roman" panose="02020603050405020304" pitchFamily="18" charset="0"/>
                        </a:rPr>
                        <a:t>Fair</a:t>
                      </a:r>
                      <a:r>
                        <a:rPr lang="fr-FR" sz="1800" b="1" dirty="0">
                          <a:latin typeface="Times New Roman" panose="02020603050405020304" pitchFamily="18" charset="0"/>
                          <a:cs typeface="Times New Roman" panose="02020603050405020304" pitchFamily="18" charset="0"/>
                        </a:rPr>
                        <a:t> Queuing)</a:t>
                      </a:r>
                      <a:endParaRPr lang="fr-FR" sz="1800" dirty="0">
                        <a:latin typeface="Times New Roman" panose="02020603050405020304" pitchFamily="18" charset="0"/>
                        <a:cs typeface="Times New Roman" panose="02020603050405020304" pitchFamily="18" charset="0"/>
                      </a:endParaRPr>
                    </a:p>
                  </a:txBody>
                  <a:tcPr marL="80211" marR="80211" marT="40105" marB="4010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Dynamically assigns bandwidth fairly based on weight (importance).</a:t>
                      </a:r>
                    </a:p>
                  </a:txBody>
                  <a:tcPr marL="80211" marR="80211" marT="40105" marB="4010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Balanced environments with mixed traffic.</a:t>
                      </a:r>
                    </a:p>
                  </a:txBody>
                  <a:tcPr marL="80211" marR="80211" marT="40105" marB="40105" anchor="ctr">
                    <a:lnL>
                      <a:noFill/>
                    </a:lnL>
                    <a:lnR>
                      <a:noFill/>
                    </a:lnR>
                    <a:lnT>
                      <a:noFill/>
                    </a:lnT>
                    <a:lnB>
                      <a:noFill/>
                    </a:lnB>
                    <a:noFill/>
                  </a:tcPr>
                </a:tc>
                <a:extLst>
                  <a:ext uri="{0D108BD9-81ED-4DB2-BD59-A6C34878D82A}">
                    <a16:rowId xmlns:a16="http://schemas.microsoft.com/office/drawing/2014/main" val="3294314208"/>
                  </a:ext>
                </a:extLst>
              </a:tr>
              <a:tr h="907926">
                <a:tc>
                  <a:txBody>
                    <a:bodyPr/>
                    <a:lstStyle/>
                    <a:p>
                      <a:pPr>
                        <a:buNone/>
                      </a:pPr>
                      <a:r>
                        <a:rPr lang="fr-FR" sz="1800" b="1" dirty="0">
                          <a:latin typeface="Times New Roman" panose="02020603050405020304" pitchFamily="18" charset="0"/>
                          <a:cs typeface="Times New Roman" panose="02020603050405020304" pitchFamily="18" charset="0"/>
                        </a:rPr>
                        <a:t>CBWFQ (Class-</a:t>
                      </a:r>
                      <a:r>
                        <a:rPr lang="fr-FR" sz="1800" b="1" dirty="0" err="1">
                          <a:latin typeface="Times New Roman" panose="02020603050405020304" pitchFamily="18" charset="0"/>
                          <a:cs typeface="Times New Roman" panose="02020603050405020304" pitchFamily="18" charset="0"/>
                        </a:rPr>
                        <a:t>Based</a:t>
                      </a:r>
                      <a:r>
                        <a:rPr lang="fr-FR" sz="1800" b="1" dirty="0">
                          <a:latin typeface="Times New Roman" panose="02020603050405020304" pitchFamily="18" charset="0"/>
                          <a:cs typeface="Times New Roman" panose="02020603050405020304" pitchFamily="18" charset="0"/>
                        </a:rPr>
                        <a:t> WFQ)</a:t>
                      </a:r>
                      <a:endParaRPr lang="fr-FR" sz="1800" dirty="0">
                        <a:latin typeface="Times New Roman" panose="02020603050405020304" pitchFamily="18" charset="0"/>
                        <a:cs typeface="Times New Roman" panose="02020603050405020304" pitchFamily="18" charset="0"/>
                      </a:endParaRPr>
                    </a:p>
                  </a:txBody>
                  <a:tcPr marL="80211" marR="80211" marT="40105" marB="4010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Admin defines specific classes and assigns bandwidth shares explicitly.</a:t>
                      </a:r>
                    </a:p>
                  </a:txBody>
                  <a:tcPr marL="80211" marR="80211" marT="40105" marB="40105" anchor="ctr">
                    <a:lnL>
                      <a:noFill/>
                    </a:lnL>
                    <a:lnR>
                      <a:noFill/>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Enterprise WAN links.</a:t>
                      </a:r>
                    </a:p>
                  </a:txBody>
                  <a:tcPr marL="80211" marR="80211" marT="40105" marB="40105" anchor="ctr">
                    <a:lnL>
                      <a:noFill/>
                    </a:lnL>
                    <a:lnR>
                      <a:noFill/>
                    </a:lnR>
                    <a:lnT>
                      <a:noFill/>
                    </a:lnT>
                    <a:lnB>
                      <a:noFill/>
                    </a:lnB>
                    <a:noFill/>
                  </a:tcPr>
                </a:tc>
                <a:extLst>
                  <a:ext uri="{0D108BD9-81ED-4DB2-BD59-A6C34878D82A}">
                    <a16:rowId xmlns:a16="http://schemas.microsoft.com/office/drawing/2014/main" val="2830201153"/>
                  </a:ext>
                </a:extLst>
              </a:tr>
              <a:tr h="1183690">
                <a:tc>
                  <a:txBody>
                    <a:bodyPr/>
                    <a:lstStyle/>
                    <a:p>
                      <a:pPr>
                        <a:buNone/>
                      </a:pPr>
                      <a:r>
                        <a:rPr lang="fr-FR" sz="1800" b="1" dirty="0">
                          <a:latin typeface="Times New Roman" panose="02020603050405020304" pitchFamily="18" charset="0"/>
                          <a:cs typeface="Times New Roman" panose="02020603050405020304" pitchFamily="18" charset="0"/>
                        </a:rPr>
                        <a:t>LLQ (Low-</a:t>
                      </a:r>
                      <a:r>
                        <a:rPr lang="fr-FR" sz="1800" b="1" dirty="0" err="1">
                          <a:latin typeface="Times New Roman" panose="02020603050405020304" pitchFamily="18" charset="0"/>
                          <a:cs typeface="Times New Roman" panose="02020603050405020304" pitchFamily="18" charset="0"/>
                        </a:rPr>
                        <a:t>Latency</a:t>
                      </a:r>
                      <a:r>
                        <a:rPr lang="fr-FR" sz="1800" b="1" dirty="0">
                          <a:latin typeface="Times New Roman" panose="02020603050405020304" pitchFamily="18" charset="0"/>
                          <a:cs typeface="Times New Roman" panose="02020603050405020304" pitchFamily="18" charset="0"/>
                        </a:rPr>
                        <a:t> Queuing)</a:t>
                      </a:r>
                      <a:endParaRPr lang="fr-FR" sz="1800" dirty="0">
                        <a:latin typeface="Times New Roman" panose="02020603050405020304" pitchFamily="18" charset="0"/>
                        <a:cs typeface="Times New Roman" panose="02020603050405020304" pitchFamily="18" charset="0"/>
                      </a:endParaRPr>
                    </a:p>
                  </a:txBody>
                  <a:tcPr marL="80211" marR="80211" marT="40105" marB="4010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Combines CBWFQ and PQ; offers strict priority for delay-sensitive traffic like voice.</a:t>
                      </a:r>
                    </a:p>
                  </a:txBody>
                  <a:tcPr marL="80211" marR="80211" marT="40105" marB="40105" anchor="ctr">
                    <a:lnL>
                      <a:noFill/>
                    </a:lnL>
                    <a:lnR>
                      <a:noFill/>
                    </a:lnR>
                    <a:lnT>
                      <a:noFill/>
                    </a:lnT>
                    <a:lnB>
                      <a:noFill/>
                    </a:lnB>
                    <a:noFill/>
                  </a:tcPr>
                </a:tc>
                <a:tc>
                  <a:txBody>
                    <a:bodyPr/>
                    <a:lstStyle/>
                    <a:p>
                      <a:pPr>
                        <a:buNone/>
                      </a:pPr>
                      <a:r>
                        <a:rPr lang="fr-FR" sz="1800" dirty="0" err="1">
                          <a:latin typeface="Times New Roman" panose="02020603050405020304" pitchFamily="18" charset="0"/>
                          <a:cs typeface="Times New Roman" panose="02020603050405020304" pitchFamily="18" charset="0"/>
                        </a:rPr>
                        <a:t>VoIP</a:t>
                      </a:r>
                      <a:r>
                        <a:rPr lang="fr-FR" sz="1800" dirty="0">
                          <a:latin typeface="Times New Roman" panose="02020603050405020304" pitchFamily="18" charset="0"/>
                          <a:cs typeface="Times New Roman" panose="02020603050405020304" pitchFamily="18" charset="0"/>
                        </a:rPr>
                        <a:t> and interactive </a:t>
                      </a:r>
                      <a:r>
                        <a:rPr lang="fr-FR" sz="1800" dirty="0" err="1">
                          <a:latin typeface="Times New Roman" panose="02020603050405020304" pitchFamily="18" charset="0"/>
                          <a:cs typeface="Times New Roman" panose="02020603050405020304" pitchFamily="18" charset="0"/>
                        </a:rPr>
                        <a:t>video</a:t>
                      </a:r>
                      <a:r>
                        <a:rPr lang="fr-FR" sz="1800" dirty="0">
                          <a:latin typeface="Times New Roman" panose="02020603050405020304" pitchFamily="18" charset="0"/>
                          <a:cs typeface="Times New Roman" panose="02020603050405020304" pitchFamily="18" charset="0"/>
                        </a:rPr>
                        <a:t>.</a:t>
                      </a:r>
                    </a:p>
                  </a:txBody>
                  <a:tcPr marL="80211" marR="80211" marT="40105" marB="40105" anchor="ctr">
                    <a:lnL>
                      <a:noFill/>
                    </a:lnL>
                    <a:lnR>
                      <a:noFill/>
                    </a:lnR>
                    <a:lnT>
                      <a:noFill/>
                    </a:lnT>
                    <a:lnB>
                      <a:noFill/>
                    </a:lnB>
                    <a:noFill/>
                  </a:tcPr>
                </a:tc>
                <a:extLst>
                  <a:ext uri="{0D108BD9-81ED-4DB2-BD59-A6C34878D82A}">
                    <a16:rowId xmlns:a16="http://schemas.microsoft.com/office/drawing/2014/main" val="3389366733"/>
                  </a:ext>
                </a:extLst>
              </a:tr>
            </a:tbl>
          </a:graphicData>
        </a:graphic>
      </p:graphicFrame>
    </p:spTree>
    <p:extLst>
      <p:ext uri="{BB962C8B-B14F-4D97-AF65-F5344CB8AC3E}">
        <p14:creationId xmlns:p14="http://schemas.microsoft.com/office/powerpoint/2010/main" val="1805425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3F25-12A6-B2C7-A339-12055BD729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FBDC0-C525-3339-7120-51548FDA18FE}"/>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B7486A88-3474-D7E8-6380-4A66D27A3EF9}"/>
              </a:ext>
            </a:extLst>
          </p:cNvPr>
          <p:cNvSpPr>
            <a:spLocks noGrp="1"/>
          </p:cNvSpPr>
          <p:nvPr>
            <p:ph type="pic" idx="1"/>
          </p:nvPr>
        </p:nvSpPr>
        <p:spPr>
          <a:xfrm>
            <a:off x="5158308" y="260648"/>
            <a:ext cx="6336704" cy="6408712"/>
          </a:xfrm>
        </p:spPr>
      </p:sp>
      <p:sp>
        <p:nvSpPr>
          <p:cNvPr id="4" name="Text Placeholder 3">
            <a:extLst>
              <a:ext uri="{FF2B5EF4-FFF2-40B4-BE49-F238E27FC236}">
                <a16:creationId xmlns:a16="http://schemas.microsoft.com/office/drawing/2014/main" id="{15F596AE-5737-298D-DE09-E02476ED35DD}"/>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b="1"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en-US" b="1"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499A0BA-B4B5-0C22-3B00-A381B62E08B9}"/>
              </a:ext>
            </a:extLst>
          </p:cNvPr>
          <p:cNvSpPr txBox="1"/>
          <p:nvPr/>
        </p:nvSpPr>
        <p:spPr>
          <a:xfrm>
            <a:off x="5302324" y="404664"/>
            <a:ext cx="5976665" cy="369331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FIFO (First In, First Out)</a:t>
            </a: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r>
              <a:rPr lang="fr-FR" b="1" dirty="0">
                <a:latin typeface="Times New Roman" panose="02020603050405020304" pitchFamily="18" charset="0"/>
                <a:cs typeface="Times New Roman" panose="02020603050405020304" pitchFamily="18" charset="0"/>
              </a:rPr>
              <a:t>PQ (</a:t>
            </a:r>
            <a:r>
              <a:rPr lang="fr-FR" b="1" dirty="0" err="1">
                <a:latin typeface="Times New Roman" panose="02020603050405020304" pitchFamily="18" charset="0"/>
                <a:cs typeface="Times New Roman" panose="02020603050405020304" pitchFamily="18" charset="0"/>
              </a:rPr>
              <a:t>Priority</a:t>
            </a:r>
            <a:r>
              <a:rPr lang="fr-FR" b="1" dirty="0">
                <a:latin typeface="Times New Roman" panose="02020603050405020304" pitchFamily="18" charset="0"/>
                <a:cs typeface="Times New Roman" panose="02020603050405020304" pitchFamily="18" charset="0"/>
              </a:rPr>
              <a:t> Queuing)</a:t>
            </a:r>
            <a:endParaRPr lang="fr-FR"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AutoShape 2" descr="6 FIFO Mechanism 6 shows how a FIFO queue operates. The multiplexer... |  Download Scientific Diagram">
            <a:extLst>
              <a:ext uri="{FF2B5EF4-FFF2-40B4-BE49-F238E27FC236}">
                <a16:creationId xmlns:a16="http://schemas.microsoft.com/office/drawing/2014/main" id="{D735C388-FDAE-F576-2C3D-13C5FD8C9F2D}"/>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DZ"/>
          </a:p>
        </p:txBody>
      </p:sp>
      <p:sp>
        <p:nvSpPr>
          <p:cNvPr id="7" name="AutoShape 4" descr="6 FIFO Mechanism 6 shows how a FIFO queue operates. The multiplexer... |  Download Scientific Diagram">
            <a:extLst>
              <a:ext uri="{FF2B5EF4-FFF2-40B4-BE49-F238E27FC236}">
                <a16:creationId xmlns:a16="http://schemas.microsoft.com/office/drawing/2014/main" id="{E279BA80-BC28-7D98-D21D-E3222D59C906}"/>
              </a:ext>
            </a:extLst>
          </p:cNvPr>
          <p:cNvSpPr>
            <a:spLocks noChangeAspect="1" noChangeArrowheads="1"/>
          </p:cNvSpPr>
          <p:nvPr/>
        </p:nvSpPr>
        <p:spPr bwMode="auto">
          <a:xfrm>
            <a:off x="6094413"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DZ"/>
          </a:p>
        </p:txBody>
      </p:sp>
      <p:pic>
        <p:nvPicPr>
          <p:cNvPr id="1030" name="Picture 6" descr="6 FIFO Mechanism 6 shows how a FIFO queue operates. The multiplexer... |  Download Scientific Diagram">
            <a:extLst>
              <a:ext uri="{FF2B5EF4-FFF2-40B4-BE49-F238E27FC236}">
                <a16:creationId xmlns:a16="http://schemas.microsoft.com/office/drawing/2014/main" id="{6A088BB0-0E37-FAD5-D960-CF3C2C295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9789" y="798798"/>
            <a:ext cx="4521733" cy="232470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riority Queuing (PQ) | Download Scientific Diagram">
            <a:extLst>
              <a:ext uri="{FF2B5EF4-FFF2-40B4-BE49-F238E27FC236}">
                <a16:creationId xmlns:a16="http://schemas.microsoft.com/office/drawing/2014/main" id="{D2283DB2-BCEF-F6D2-C2A3-447B73B8C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6716" y="3733800"/>
            <a:ext cx="3919888" cy="2719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66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C4D5B-9AFD-CB07-B232-E5A13B319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98958-0736-1644-90B2-E1B39ED21182}"/>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574E6959-6DA1-F178-7BB4-F406A1B6A0E4}"/>
              </a:ext>
            </a:extLst>
          </p:cNvPr>
          <p:cNvSpPr>
            <a:spLocks noGrp="1"/>
          </p:cNvSpPr>
          <p:nvPr>
            <p:ph type="pic" idx="1"/>
          </p:nvPr>
        </p:nvSpPr>
        <p:spPr>
          <a:xfrm>
            <a:off x="5158308" y="116632"/>
            <a:ext cx="6336704" cy="6552728"/>
          </a:xfrm>
        </p:spPr>
      </p:sp>
      <p:sp>
        <p:nvSpPr>
          <p:cNvPr id="4" name="Text Placeholder 3">
            <a:extLst>
              <a:ext uri="{FF2B5EF4-FFF2-40B4-BE49-F238E27FC236}">
                <a16:creationId xmlns:a16="http://schemas.microsoft.com/office/drawing/2014/main" id="{8EDCAFE8-84F1-59B7-AAE1-6C47DB096D2B}"/>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b="1"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en-US" b="1"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ADAE760-5DEB-A5AE-4B75-D77641F9775A}"/>
              </a:ext>
            </a:extLst>
          </p:cNvPr>
          <p:cNvSpPr txBox="1"/>
          <p:nvPr/>
        </p:nvSpPr>
        <p:spPr>
          <a:xfrm>
            <a:off x="5302324" y="167729"/>
            <a:ext cx="5976665" cy="4524315"/>
          </a:xfrm>
          <a:prstGeom prst="rect">
            <a:avLst/>
          </a:prstGeom>
          <a:noFill/>
        </p:spPr>
        <p:txBody>
          <a:bodyPr wrap="square">
            <a:spAutoFit/>
          </a:bodyPr>
          <a:lstStyle/>
          <a:p>
            <a:pPr>
              <a:buNone/>
            </a:pPr>
            <a:r>
              <a:rPr lang="fr-FR" b="1" dirty="0">
                <a:latin typeface="Times New Roman" panose="02020603050405020304" pitchFamily="18" charset="0"/>
                <a:cs typeface="Times New Roman" panose="02020603050405020304" pitchFamily="18" charset="0"/>
              </a:rPr>
              <a:t>WFQ (</a:t>
            </a:r>
            <a:r>
              <a:rPr lang="fr-FR" b="1" dirty="0" err="1">
                <a:latin typeface="Times New Roman" panose="02020603050405020304" pitchFamily="18" charset="0"/>
                <a:cs typeface="Times New Roman" panose="02020603050405020304" pitchFamily="18" charset="0"/>
              </a:rPr>
              <a:t>Weighted</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Fair</a:t>
            </a:r>
            <a:r>
              <a:rPr lang="fr-FR" b="1" dirty="0">
                <a:latin typeface="Times New Roman" panose="02020603050405020304" pitchFamily="18" charset="0"/>
                <a:cs typeface="Times New Roman" panose="02020603050405020304" pitchFamily="18" charset="0"/>
              </a:rPr>
              <a:t> Queuing)</a:t>
            </a:r>
            <a:endParaRPr lang="fr-FR"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fr-FR" b="1" dirty="0">
              <a:latin typeface="Times New Roman" panose="02020603050405020304" pitchFamily="18" charset="0"/>
              <a:cs typeface="Times New Roman" panose="02020603050405020304" pitchFamily="18" charset="0"/>
            </a:endParaRPr>
          </a:p>
          <a:p>
            <a:pPr>
              <a:buNone/>
            </a:pPr>
            <a:r>
              <a:rPr lang="fr-FR" b="1" dirty="0">
                <a:latin typeface="Times New Roman" panose="02020603050405020304" pitchFamily="18" charset="0"/>
                <a:cs typeface="Times New Roman" panose="02020603050405020304" pitchFamily="18" charset="0"/>
              </a:rPr>
              <a:t>CBWFQ (Class-</a:t>
            </a:r>
            <a:r>
              <a:rPr lang="fr-FR" b="1" dirty="0" err="1">
                <a:latin typeface="Times New Roman" panose="02020603050405020304" pitchFamily="18" charset="0"/>
                <a:cs typeface="Times New Roman" panose="02020603050405020304" pitchFamily="18" charset="0"/>
              </a:rPr>
              <a:t>Based</a:t>
            </a:r>
            <a:r>
              <a:rPr lang="fr-FR" b="1" dirty="0">
                <a:latin typeface="Times New Roman" panose="02020603050405020304" pitchFamily="18" charset="0"/>
                <a:cs typeface="Times New Roman" panose="02020603050405020304" pitchFamily="18" charset="0"/>
              </a:rPr>
              <a:t> WFQ)</a:t>
            </a:r>
            <a:endParaRPr lang="fr-FR"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AutoShape 2" descr="6 FIFO Mechanism 6 shows how a FIFO queue operates. The multiplexer... |  Download Scientific Diagram">
            <a:extLst>
              <a:ext uri="{FF2B5EF4-FFF2-40B4-BE49-F238E27FC236}">
                <a16:creationId xmlns:a16="http://schemas.microsoft.com/office/drawing/2014/main" id="{B229CB73-D988-68B9-D6C4-15DABEB1CD24}"/>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DZ"/>
          </a:p>
        </p:txBody>
      </p:sp>
      <p:sp>
        <p:nvSpPr>
          <p:cNvPr id="7" name="AutoShape 4" descr="6 FIFO Mechanism 6 shows how a FIFO queue operates. The multiplexer... |  Download Scientific Diagram">
            <a:extLst>
              <a:ext uri="{FF2B5EF4-FFF2-40B4-BE49-F238E27FC236}">
                <a16:creationId xmlns:a16="http://schemas.microsoft.com/office/drawing/2014/main" id="{D702B6D8-2A3B-D674-7976-0FC6C1E30ECA}"/>
              </a:ext>
            </a:extLst>
          </p:cNvPr>
          <p:cNvSpPr>
            <a:spLocks noChangeAspect="1" noChangeArrowheads="1"/>
          </p:cNvSpPr>
          <p:nvPr/>
        </p:nvSpPr>
        <p:spPr bwMode="auto">
          <a:xfrm>
            <a:off x="6094413"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DZ"/>
          </a:p>
        </p:txBody>
      </p:sp>
      <p:pic>
        <p:nvPicPr>
          <p:cNvPr id="2054" name="Picture 6" descr="Weighted Fair Queuing Technique. | Download Scientific Diagram">
            <a:extLst>
              <a:ext uri="{FF2B5EF4-FFF2-40B4-BE49-F238E27FC236}">
                <a16:creationId xmlns:a16="http://schemas.microsoft.com/office/drawing/2014/main" id="{E2478D6E-D711-F9AA-6363-2E67E6719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766" y="538931"/>
            <a:ext cx="4327134" cy="303408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BWFQ Architecture  Scheduling: CBWFQ provides a weight-allocated... |  Download Scientific Diagram">
            <a:extLst>
              <a:ext uri="{FF2B5EF4-FFF2-40B4-BE49-F238E27FC236}">
                <a16:creationId xmlns:a16="http://schemas.microsoft.com/office/drawing/2014/main" id="{383711B9-07DB-D135-A186-D493D8254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0396" y="4111173"/>
            <a:ext cx="4857820" cy="2342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406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5F56-63E9-CF91-11E4-5D3005480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38975-988B-D535-D322-F83E90425278}"/>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10124DF0-86C4-5481-627E-9591AB888F20}"/>
              </a:ext>
            </a:extLst>
          </p:cNvPr>
          <p:cNvSpPr>
            <a:spLocks noGrp="1"/>
          </p:cNvSpPr>
          <p:nvPr>
            <p:ph type="pic" idx="1"/>
          </p:nvPr>
        </p:nvSpPr>
        <p:spPr>
          <a:xfrm>
            <a:off x="5158308" y="764704"/>
            <a:ext cx="6336704" cy="5688632"/>
          </a:xfrm>
        </p:spPr>
      </p:sp>
      <p:sp>
        <p:nvSpPr>
          <p:cNvPr id="4" name="Text Placeholder 3">
            <a:extLst>
              <a:ext uri="{FF2B5EF4-FFF2-40B4-BE49-F238E27FC236}">
                <a16:creationId xmlns:a16="http://schemas.microsoft.com/office/drawing/2014/main" id="{387EE5F1-72BC-E673-D355-17C86EAC5D01}"/>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b="1"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en-US" b="1"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4919DFA-59F2-2A3C-FD5B-E2C3DC71187B}"/>
              </a:ext>
            </a:extLst>
          </p:cNvPr>
          <p:cNvSpPr txBox="1"/>
          <p:nvPr/>
        </p:nvSpPr>
        <p:spPr>
          <a:xfrm>
            <a:off x="5302324" y="908720"/>
            <a:ext cx="5976665" cy="3693319"/>
          </a:xfrm>
          <a:prstGeom prst="rect">
            <a:avLst/>
          </a:prstGeom>
          <a:noFill/>
        </p:spPr>
        <p:txBody>
          <a:bodyPr wrap="square">
            <a:spAutoFit/>
          </a:bodyPr>
          <a:lstStyle/>
          <a:p>
            <a:pPr>
              <a:buNone/>
            </a:pPr>
            <a:endParaRPr lang="fr-FR" b="1" dirty="0">
              <a:latin typeface="Times New Roman" panose="02020603050405020304" pitchFamily="18" charset="0"/>
              <a:cs typeface="Times New Roman" panose="02020603050405020304" pitchFamily="18" charset="0"/>
            </a:endParaRPr>
          </a:p>
          <a:p>
            <a:pPr>
              <a:buNone/>
            </a:pPr>
            <a:endParaRPr lang="fr-FR" b="1" dirty="0">
              <a:latin typeface="Times New Roman" panose="02020603050405020304" pitchFamily="18" charset="0"/>
              <a:cs typeface="Times New Roman" panose="02020603050405020304" pitchFamily="18" charset="0"/>
            </a:endParaRPr>
          </a:p>
          <a:p>
            <a:pPr>
              <a:buNone/>
            </a:pPr>
            <a:endParaRPr lang="fr-FR" b="1" dirty="0">
              <a:latin typeface="Times New Roman" panose="02020603050405020304" pitchFamily="18" charset="0"/>
              <a:cs typeface="Times New Roman" panose="02020603050405020304" pitchFamily="18" charset="0"/>
            </a:endParaRPr>
          </a:p>
          <a:p>
            <a:pPr>
              <a:buNone/>
            </a:pPr>
            <a:endParaRPr lang="fr-FR" b="1" dirty="0">
              <a:latin typeface="Times New Roman" panose="02020603050405020304" pitchFamily="18" charset="0"/>
              <a:cs typeface="Times New Roman" panose="02020603050405020304" pitchFamily="18" charset="0"/>
            </a:endParaRPr>
          </a:p>
          <a:p>
            <a:pPr>
              <a:buNone/>
            </a:pPr>
            <a:r>
              <a:rPr lang="fr-FR" b="1" dirty="0">
                <a:latin typeface="Times New Roman" panose="02020603050405020304" pitchFamily="18" charset="0"/>
                <a:cs typeface="Times New Roman" panose="02020603050405020304" pitchFamily="18" charset="0"/>
              </a:rPr>
              <a:t>LLQ (Low-</a:t>
            </a:r>
            <a:r>
              <a:rPr lang="fr-FR" b="1" dirty="0" err="1">
                <a:latin typeface="Times New Roman" panose="02020603050405020304" pitchFamily="18" charset="0"/>
                <a:cs typeface="Times New Roman" panose="02020603050405020304" pitchFamily="18" charset="0"/>
              </a:rPr>
              <a:t>Latency</a:t>
            </a:r>
            <a:r>
              <a:rPr lang="fr-FR" b="1" dirty="0">
                <a:latin typeface="Times New Roman" panose="02020603050405020304" pitchFamily="18" charset="0"/>
                <a:cs typeface="Times New Roman" panose="02020603050405020304" pitchFamily="18" charset="0"/>
              </a:rPr>
              <a:t> Queuing)</a:t>
            </a:r>
            <a:endParaRPr lang="fr-FR"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fr-FR"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AutoShape 2" descr="6 FIFO Mechanism 6 shows how a FIFO queue operates. The multiplexer... |  Download Scientific Diagram">
            <a:extLst>
              <a:ext uri="{FF2B5EF4-FFF2-40B4-BE49-F238E27FC236}">
                <a16:creationId xmlns:a16="http://schemas.microsoft.com/office/drawing/2014/main" id="{2DC94666-0264-822C-6927-C968042EAFB9}"/>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DZ"/>
          </a:p>
        </p:txBody>
      </p:sp>
      <p:sp>
        <p:nvSpPr>
          <p:cNvPr id="7" name="AutoShape 4" descr="6 FIFO Mechanism 6 shows how a FIFO queue operates. The multiplexer... |  Download Scientific Diagram">
            <a:extLst>
              <a:ext uri="{FF2B5EF4-FFF2-40B4-BE49-F238E27FC236}">
                <a16:creationId xmlns:a16="http://schemas.microsoft.com/office/drawing/2014/main" id="{0248339F-30C3-68FF-3479-2E9C5E2E82F5}"/>
              </a:ext>
            </a:extLst>
          </p:cNvPr>
          <p:cNvSpPr>
            <a:spLocks noChangeAspect="1" noChangeArrowheads="1"/>
          </p:cNvSpPr>
          <p:nvPr/>
        </p:nvSpPr>
        <p:spPr bwMode="auto">
          <a:xfrm>
            <a:off x="6094413"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DZ"/>
          </a:p>
        </p:txBody>
      </p:sp>
      <p:pic>
        <p:nvPicPr>
          <p:cNvPr id="3074" name="Picture 2" descr="QoS LLQ (Low Latency Queueing) on Cisco IOS">
            <a:extLst>
              <a:ext uri="{FF2B5EF4-FFF2-40B4-BE49-F238E27FC236}">
                <a16:creationId xmlns:a16="http://schemas.microsoft.com/office/drawing/2014/main" id="{53BD091F-2CE7-2957-B87F-C32A19480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6987" y="2661422"/>
            <a:ext cx="6019346"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2420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767A0-A180-A1A3-601D-0631C1DA6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5269E-D636-F39D-2921-8D771865EDD1}"/>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1C6DAFAE-4E04-D3E0-10A9-8EF5C5DEA2C7}"/>
              </a:ext>
            </a:extLst>
          </p:cNvPr>
          <p:cNvSpPr>
            <a:spLocks noGrp="1"/>
          </p:cNvSpPr>
          <p:nvPr>
            <p:ph type="pic" idx="1"/>
          </p:nvPr>
        </p:nvSpPr>
        <p:spPr>
          <a:xfrm>
            <a:off x="4942284" y="116632"/>
            <a:ext cx="6840760" cy="6624736"/>
          </a:xfrm>
        </p:spPr>
      </p:sp>
      <p:sp>
        <p:nvSpPr>
          <p:cNvPr id="4" name="Text Placeholder 3">
            <a:extLst>
              <a:ext uri="{FF2B5EF4-FFF2-40B4-BE49-F238E27FC236}">
                <a16:creationId xmlns:a16="http://schemas.microsoft.com/office/drawing/2014/main" id="{8082AF83-48D2-3C94-71D6-A2FC1DBEBD01}"/>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dirty="0">
                <a:latin typeface="Times New Roman" panose="02020603050405020304" pitchFamily="18" charset="0"/>
                <a:cs typeface="Times New Roman" panose="02020603050405020304" pitchFamily="18" charset="0"/>
              </a:rPr>
              <a:t>Queuing (Scheduling techniques)</a:t>
            </a:r>
          </a:p>
          <a:p>
            <a:r>
              <a:rPr lang="en-US" b="1"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en-US" b="1"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1C7073C-11C3-33D6-7F3C-1062959DC940}"/>
              </a:ext>
            </a:extLst>
          </p:cNvPr>
          <p:cNvSpPr txBox="1"/>
          <p:nvPr/>
        </p:nvSpPr>
        <p:spPr>
          <a:xfrm>
            <a:off x="5086300" y="472018"/>
            <a:ext cx="6552728" cy="6186309"/>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Purpose:</a:t>
            </a:r>
          </a:p>
          <a:p>
            <a:pPr algn="just">
              <a:buNone/>
            </a:pPr>
            <a:r>
              <a:rPr lang="en-US" dirty="0">
                <a:latin typeface="Times New Roman" panose="02020603050405020304" pitchFamily="18" charset="0"/>
                <a:cs typeface="Times New Roman" panose="02020603050405020304" pitchFamily="18" charset="0"/>
              </a:rPr>
              <a:t>Prevent network congestion </a:t>
            </a:r>
            <a:r>
              <a:rPr lang="en-US" i="1" dirty="0">
                <a:latin typeface="Times New Roman" panose="02020603050405020304" pitchFamily="18" charset="0"/>
                <a:cs typeface="Times New Roman" panose="02020603050405020304" pitchFamily="18" charset="0"/>
              </a:rPr>
              <a:t>before</a:t>
            </a:r>
            <a:r>
              <a:rPr lang="en-US" dirty="0">
                <a:latin typeface="Times New Roman" panose="02020603050405020304" pitchFamily="18" charset="0"/>
                <a:cs typeface="Times New Roman" panose="02020603050405020304" pitchFamily="18" charset="0"/>
              </a:rPr>
              <a:t> it happens by controlling buffer usage and signaling traffic sources to slow down.</a:t>
            </a:r>
          </a:p>
          <a:p>
            <a:pPr algn="just">
              <a:buNone/>
            </a:pPr>
            <a:r>
              <a:rPr lang="en-US" b="1" dirty="0">
                <a:latin typeface="Times New Roman" panose="02020603050405020304" pitchFamily="18" charset="0"/>
                <a:cs typeface="Times New Roman" panose="02020603050405020304" pitchFamily="18" charset="0"/>
              </a:rPr>
              <a:t>How it works:</a:t>
            </a:r>
          </a:p>
          <a:p>
            <a:pPr algn="just">
              <a:buNone/>
            </a:pPr>
            <a:r>
              <a:rPr lang="en-US" dirty="0">
                <a:latin typeface="Times New Roman" panose="02020603050405020304" pitchFamily="18" charset="0"/>
                <a:cs typeface="Times New Roman" panose="02020603050405020304" pitchFamily="18" charset="0"/>
              </a:rPr>
              <a:t>Routers monitor queue lengths; if queues start filling up, they begin selectively dropping packets rather than waiting for the queue to overflow completely.</a:t>
            </a:r>
          </a:p>
          <a:p>
            <a:pPr algn="just">
              <a:buNone/>
            </a:pPr>
            <a:r>
              <a:rPr lang="en-US" b="1" dirty="0">
                <a:latin typeface="Times New Roman" panose="02020603050405020304" pitchFamily="18" charset="0"/>
                <a:cs typeface="Times New Roman" panose="02020603050405020304" pitchFamily="18" charset="0"/>
              </a:rPr>
              <a:t>Key Mechanisms:</a:t>
            </a:r>
          </a:p>
          <a:p>
            <a:pPr algn="just">
              <a:buNone/>
            </a:pPr>
            <a:r>
              <a:rPr lang="en-US" b="1" dirty="0">
                <a:latin typeface="Times New Roman" panose="02020603050405020304" pitchFamily="18" charset="0"/>
                <a:cs typeface="Times New Roman" panose="02020603050405020304" pitchFamily="18" charset="0"/>
              </a:rPr>
              <a:t>RED (Random Early Detection):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Calculates an </a:t>
            </a:r>
            <a:r>
              <a:rPr lang="en-US" i="1" dirty="0">
                <a:latin typeface="Times New Roman" panose="02020603050405020304" pitchFamily="18" charset="0"/>
                <a:cs typeface="Times New Roman" panose="02020603050405020304" pitchFamily="18" charset="0"/>
              </a:rPr>
              <a:t>average queue size</a:t>
            </a:r>
            <a:r>
              <a:rPr lang="en-US"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queue exceeds a minimum threshold, packets are dropped randomly.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acts as an </a:t>
            </a:r>
            <a:r>
              <a:rPr lang="en-US" b="1" dirty="0">
                <a:latin typeface="Times New Roman" panose="02020603050405020304" pitchFamily="18" charset="0"/>
                <a:cs typeface="Times New Roman" panose="02020603050405020304" pitchFamily="18" charset="0"/>
              </a:rPr>
              <a:t>early warning</a:t>
            </a:r>
            <a:r>
              <a:rPr lang="en-US" dirty="0">
                <a:latin typeface="Times New Roman" panose="02020603050405020304" pitchFamily="18" charset="0"/>
                <a:cs typeface="Times New Roman" panose="02020603050405020304" pitchFamily="18" charset="0"/>
              </a:rPr>
              <a:t> to TCP sources to reduce their sending rate.</a:t>
            </a:r>
          </a:p>
          <a:p>
            <a:pPr algn="just"/>
            <a:r>
              <a:rPr lang="en-US" b="1" dirty="0">
                <a:latin typeface="Times New Roman" panose="02020603050405020304" pitchFamily="18" charset="0"/>
                <a:cs typeface="Times New Roman" panose="02020603050405020304" pitchFamily="18" charset="0"/>
              </a:rPr>
              <a:t>WRED (Weighted RED):</a:t>
            </a:r>
          </a:p>
          <a:p>
            <a:pPr algn="just"/>
            <a:r>
              <a:rPr lang="en-US" dirty="0">
                <a:latin typeface="Times New Roman" panose="02020603050405020304" pitchFamily="18" charset="0"/>
                <a:cs typeface="Times New Roman" panose="02020603050405020304" pitchFamily="18" charset="0"/>
              </a:rPr>
              <a:t>Enhanced version of RED.</a:t>
            </a:r>
          </a:p>
          <a:p>
            <a:pPr algn="just"/>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different thresholds</a:t>
            </a:r>
            <a:r>
              <a:rPr lang="en-US" dirty="0">
                <a:latin typeface="Times New Roman" panose="02020603050405020304" pitchFamily="18" charset="0"/>
                <a:cs typeface="Times New Roman" panose="02020603050405020304" pitchFamily="18" charset="0"/>
              </a:rPr>
              <a:t> for different classes of traffic (based on DSCP or IP precedence).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Example:</a:t>
            </a:r>
          </a:p>
          <a:p>
            <a:pPr lvl="1" algn="just"/>
            <a:r>
              <a:rPr lang="en-US" dirty="0">
                <a:latin typeface="Times New Roman" panose="02020603050405020304" pitchFamily="18" charset="0"/>
                <a:cs typeface="Times New Roman" panose="02020603050405020304" pitchFamily="18" charset="0"/>
              </a:rPr>
              <a:t>High-priority packets dropped later (higher threshold).</a:t>
            </a:r>
          </a:p>
          <a:p>
            <a:pPr lvl="1" algn="just"/>
            <a:r>
              <a:rPr lang="en-US" dirty="0">
                <a:latin typeface="Times New Roman" panose="02020603050405020304" pitchFamily="18" charset="0"/>
                <a:cs typeface="Times New Roman" panose="02020603050405020304" pitchFamily="18" charset="0"/>
              </a:rPr>
              <a:t>Low-priority packets dropped sooner.</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780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AA581-B625-6593-4EC1-579470BC8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89A54-1024-5EFE-EF74-EE50F0B420C7}"/>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D0AD8B2A-52D0-2E6D-D0C2-2F7A8DA0CBA4}"/>
              </a:ext>
            </a:extLst>
          </p:cNvPr>
          <p:cNvSpPr>
            <a:spLocks noGrp="1"/>
          </p:cNvSpPr>
          <p:nvPr>
            <p:ph type="pic" idx="1"/>
          </p:nvPr>
        </p:nvSpPr>
        <p:spPr>
          <a:xfrm>
            <a:off x="5086300" y="692696"/>
            <a:ext cx="6696744" cy="5172387"/>
          </a:xfrm>
        </p:spPr>
      </p:sp>
      <p:sp>
        <p:nvSpPr>
          <p:cNvPr id="4" name="Text Placeholder 3">
            <a:extLst>
              <a:ext uri="{FF2B5EF4-FFF2-40B4-BE49-F238E27FC236}">
                <a16:creationId xmlns:a16="http://schemas.microsoft.com/office/drawing/2014/main" id="{00BC58CE-16FA-97A7-7BE7-5B98985DA078}"/>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b="1"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en-US" b="1"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9BB6E0A-3153-5C10-CEB2-B5E52F6548D3}"/>
              </a:ext>
            </a:extLst>
          </p:cNvPr>
          <p:cNvSpPr txBox="1"/>
          <p:nvPr/>
        </p:nvSpPr>
        <p:spPr>
          <a:xfrm>
            <a:off x="5302324" y="992917"/>
            <a:ext cx="6480720" cy="4524315"/>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Purpose:</a:t>
            </a:r>
          </a:p>
          <a:p>
            <a:pPr>
              <a:buNone/>
            </a:pPr>
            <a:r>
              <a:rPr lang="en-US" dirty="0">
                <a:latin typeface="Times New Roman" panose="02020603050405020304" pitchFamily="18" charset="0"/>
                <a:cs typeface="Times New Roman" panose="02020603050405020304" pitchFamily="18" charset="0"/>
              </a:rPr>
              <a:t>Ensure that traffic does not exceed a predefined bandwidth limit.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Used for </a:t>
            </a:r>
            <a:r>
              <a:rPr lang="en-US" b="1" dirty="0">
                <a:latin typeface="Times New Roman" panose="02020603050405020304" pitchFamily="18" charset="0"/>
                <a:cs typeface="Times New Roman" panose="02020603050405020304" pitchFamily="18" charset="0"/>
              </a:rPr>
              <a:t>rate enforcement</a:t>
            </a:r>
            <a:r>
              <a:rPr lang="en-US" dirty="0">
                <a:latin typeface="Times New Roman" panose="02020603050405020304" pitchFamily="18" charset="0"/>
                <a:cs typeface="Times New Roman" panose="02020603050405020304" pitchFamily="18" charset="0"/>
              </a:rPr>
              <a:t> — not smoothing.</a:t>
            </a:r>
          </a:p>
          <a:p>
            <a:pPr>
              <a:buNone/>
            </a:pPr>
            <a:r>
              <a:rPr lang="en-US" b="1" dirty="0">
                <a:latin typeface="Times New Roman" panose="02020603050405020304" pitchFamily="18" charset="0"/>
                <a:cs typeface="Times New Roman" panose="02020603050405020304" pitchFamily="18" charset="0"/>
              </a:rPr>
              <a:t>How it works:</a:t>
            </a:r>
          </a:p>
          <a:p>
            <a:pPr>
              <a:buNone/>
            </a:pPr>
            <a:r>
              <a:rPr lang="en-US" dirty="0">
                <a:latin typeface="Times New Roman" panose="02020603050405020304" pitchFamily="18" charset="0"/>
                <a:cs typeface="Times New Roman" panose="02020603050405020304" pitchFamily="18" charset="0"/>
              </a:rPr>
              <a:t>Based on the </a:t>
            </a:r>
            <a:r>
              <a:rPr lang="en-US" b="1" dirty="0">
                <a:latin typeface="Times New Roman" panose="02020603050405020304" pitchFamily="18" charset="0"/>
                <a:cs typeface="Times New Roman" panose="02020603050405020304" pitchFamily="18" charset="0"/>
              </a:rPr>
              <a:t>Token Bucket Algorithm</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Tokens accumulate in a bucket at a constant rate.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packet consumes tokens based on its size.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enough tokens are available → packet transmitted.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not → packet is </a:t>
            </a:r>
            <a:r>
              <a:rPr lang="en-US" b="1" dirty="0">
                <a:latin typeface="Times New Roman" panose="02020603050405020304" pitchFamily="18" charset="0"/>
                <a:cs typeface="Times New Roman" panose="02020603050405020304" pitchFamily="18" charset="0"/>
              </a:rPr>
              <a:t>dropped</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remarked</a:t>
            </a:r>
            <a:r>
              <a:rPr lang="en-US" dirty="0">
                <a:latin typeface="Times New Roman" panose="02020603050405020304" pitchFamily="18" charset="0"/>
                <a:cs typeface="Times New Roman" panose="02020603050405020304" pitchFamily="18" charset="0"/>
              </a:rPr>
              <a:t> to a lower priority.</a:t>
            </a:r>
          </a:p>
          <a:p>
            <a:pPr>
              <a:buNone/>
            </a:pPr>
            <a:r>
              <a:rPr lang="en-US" b="1" dirty="0">
                <a:latin typeface="Times New Roman" panose="02020603050405020304" pitchFamily="18" charset="0"/>
                <a:cs typeface="Times New Roman" panose="02020603050405020304" pitchFamily="18" charset="0"/>
              </a:rPr>
              <a:t>Use cases: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Enforcing Service Level Agreements (SLAs) on customer traffic.</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Preventing one flow from monopolizing a link.</a:t>
            </a:r>
          </a:p>
          <a:p>
            <a:pPr>
              <a:buNone/>
            </a:pPr>
            <a:r>
              <a:rPr lang="en-US" b="1" dirty="0">
                <a:latin typeface="Times New Roman" panose="02020603050405020304" pitchFamily="18" charset="0"/>
                <a:cs typeface="Times New Roman" panose="02020603050405020304" pitchFamily="18" charset="0"/>
              </a:rPr>
              <a:t>Example:</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Voice VLAN limited to 1 Mbps.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exceeded, extra packets dropped.</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15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B59AA-CA21-D747-2540-45F64FD5B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5520B-DDF5-36C5-C8B4-7A3A318E09B8}"/>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8FB01D78-00D5-E7E7-4278-9FEA852155F8}"/>
              </a:ext>
            </a:extLst>
          </p:cNvPr>
          <p:cNvSpPr>
            <a:spLocks noGrp="1"/>
          </p:cNvSpPr>
          <p:nvPr>
            <p:ph type="pic" idx="1"/>
          </p:nvPr>
        </p:nvSpPr>
        <p:spPr>
          <a:xfrm>
            <a:off x="5086300" y="836712"/>
            <a:ext cx="6696744" cy="5184576"/>
          </a:xfrm>
        </p:spPr>
      </p:sp>
      <p:sp>
        <p:nvSpPr>
          <p:cNvPr id="4" name="Text Placeholder 3">
            <a:extLst>
              <a:ext uri="{FF2B5EF4-FFF2-40B4-BE49-F238E27FC236}">
                <a16:creationId xmlns:a16="http://schemas.microsoft.com/office/drawing/2014/main" id="{3E0FEE3D-76A7-7138-FB6E-14AD8965F4C8}"/>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b="1" dirty="0">
                <a:latin typeface="Times New Roman" panose="02020603050405020304" pitchFamily="18" charset="0"/>
                <a:cs typeface="Times New Roman" panose="02020603050405020304" pitchFamily="18" charset="0"/>
              </a:rPr>
              <a:t>Traffic Shaping</a:t>
            </a:r>
          </a:p>
          <a:p>
            <a:r>
              <a:rPr lang="fr-FR" dirty="0">
                <a:latin typeface="Times New Roman" panose="02020603050405020304" pitchFamily="18" charset="0"/>
                <a:cs typeface="Times New Roman" panose="02020603050405020304" pitchFamily="18" charset="0"/>
              </a:rPr>
              <a:t>Link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Mechanisms</a:t>
            </a:r>
            <a:r>
              <a:rPr lang="fr-FR" dirty="0">
                <a:latin typeface="Times New Roman" panose="02020603050405020304" pitchFamily="18" charset="0"/>
                <a:cs typeface="Times New Roman" panose="02020603050405020304" pitchFamily="18" charset="0"/>
              </a:rPr>
              <a:t> (LEM)</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38CC7FC-C20C-1FF9-CA7D-341D65419F1C}"/>
              </a:ext>
            </a:extLst>
          </p:cNvPr>
          <p:cNvSpPr txBox="1"/>
          <p:nvPr/>
        </p:nvSpPr>
        <p:spPr>
          <a:xfrm>
            <a:off x="5302324" y="1336700"/>
            <a:ext cx="6480720" cy="2308324"/>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Purpose:</a:t>
            </a:r>
          </a:p>
          <a:p>
            <a:r>
              <a:rPr lang="en-US" dirty="0">
                <a:latin typeface="Times New Roman" panose="02020603050405020304" pitchFamily="18" charset="0"/>
                <a:cs typeface="Times New Roman" panose="02020603050405020304" pitchFamily="18" charset="0"/>
              </a:rPr>
              <a:t>Regulate traffic flow by </a:t>
            </a:r>
            <a:r>
              <a:rPr lang="en-US" b="1" dirty="0">
                <a:latin typeface="Times New Roman" panose="02020603050405020304" pitchFamily="18" charset="0"/>
                <a:cs typeface="Times New Roman" panose="02020603050405020304" pitchFamily="18" charset="0"/>
              </a:rPr>
              <a:t>buffering</a:t>
            </a:r>
            <a:r>
              <a:rPr lang="en-US" dirty="0">
                <a:latin typeface="Times New Roman" panose="02020603050405020304" pitchFamily="18" charset="0"/>
                <a:cs typeface="Times New Roman" panose="02020603050405020304" pitchFamily="18" charset="0"/>
              </a:rPr>
              <a:t> packets and sending them at a steady rate — smoothing bursts rather than dropping packets.</a:t>
            </a:r>
          </a:p>
          <a:p>
            <a:r>
              <a:rPr lang="en-US" b="1" dirty="0">
                <a:latin typeface="Times New Roman" panose="02020603050405020304" pitchFamily="18" charset="0"/>
                <a:cs typeface="Times New Roman" panose="02020603050405020304" pitchFamily="18" charset="0"/>
              </a:rPr>
              <a:t>How it works:</a:t>
            </a:r>
          </a:p>
          <a:p>
            <a:r>
              <a:rPr lang="en-US" dirty="0">
                <a:latin typeface="Times New Roman" panose="02020603050405020304" pitchFamily="18" charset="0"/>
                <a:cs typeface="Times New Roman" panose="02020603050405020304" pitchFamily="18" charset="0"/>
              </a:rPr>
              <a:t>Also based on the </a:t>
            </a:r>
            <a:r>
              <a:rPr lang="en-US" b="1" dirty="0">
                <a:latin typeface="Times New Roman" panose="02020603050405020304" pitchFamily="18" charset="0"/>
                <a:cs typeface="Times New Roman" panose="02020603050405020304" pitchFamily="18" charset="0"/>
              </a:rPr>
              <a:t>Token Bucket</a:t>
            </a:r>
            <a:r>
              <a:rPr lang="en-US" dirty="0">
                <a:latin typeface="Times New Roman" panose="02020603050405020304" pitchFamily="18" charset="0"/>
                <a:cs typeface="Times New Roman" panose="02020603050405020304" pitchFamily="18" charset="0"/>
              </a:rPr>
              <a:t> model, but instead of dropping packets when tokens are unavailable, shaping </a:t>
            </a:r>
            <a:r>
              <a:rPr lang="en-US" b="1" dirty="0">
                <a:latin typeface="Times New Roman" panose="02020603050405020304" pitchFamily="18" charset="0"/>
                <a:cs typeface="Times New Roman" panose="02020603050405020304" pitchFamily="18" charset="0"/>
              </a:rPr>
              <a:t>delays</a:t>
            </a:r>
            <a:r>
              <a:rPr lang="en-US" dirty="0">
                <a:latin typeface="Times New Roman" panose="02020603050405020304" pitchFamily="18" charset="0"/>
                <a:cs typeface="Times New Roman" panose="02020603050405020304" pitchFamily="18" charset="0"/>
              </a:rPr>
              <a:t> them in a queue until tokens refill.</a:t>
            </a:r>
          </a:p>
          <a:p>
            <a:pPr algn="just"/>
            <a:endParaRPr lang="en-US"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99306B5-9C3C-C37E-74A1-4DE9BE2DC272}"/>
              </a:ext>
            </a:extLst>
          </p:cNvPr>
          <p:cNvGraphicFramePr>
            <a:graphicFrameLocks noGrp="1"/>
          </p:cNvGraphicFramePr>
          <p:nvPr>
            <p:extLst>
              <p:ext uri="{D42A27DB-BD31-4B8C-83A1-F6EECF244321}">
                <p14:modId xmlns:p14="http://schemas.microsoft.com/office/powerpoint/2010/main" val="1369309958"/>
              </p:ext>
            </p:extLst>
          </p:nvPr>
        </p:nvGraphicFramePr>
        <p:xfrm>
          <a:off x="5277295" y="3645024"/>
          <a:ext cx="6289725" cy="2137400"/>
        </p:xfrm>
        <a:graphic>
          <a:graphicData uri="http://schemas.openxmlformats.org/drawingml/2006/table">
            <a:tbl>
              <a:tblPr/>
              <a:tblGrid>
                <a:gridCol w="2096575">
                  <a:extLst>
                    <a:ext uri="{9D8B030D-6E8A-4147-A177-3AD203B41FA5}">
                      <a16:colId xmlns:a16="http://schemas.microsoft.com/office/drawing/2014/main" val="1771495564"/>
                    </a:ext>
                  </a:extLst>
                </a:gridCol>
                <a:gridCol w="2096575">
                  <a:extLst>
                    <a:ext uri="{9D8B030D-6E8A-4147-A177-3AD203B41FA5}">
                      <a16:colId xmlns:a16="http://schemas.microsoft.com/office/drawing/2014/main" val="3127087204"/>
                    </a:ext>
                  </a:extLst>
                </a:gridCol>
                <a:gridCol w="2096575">
                  <a:extLst>
                    <a:ext uri="{9D8B030D-6E8A-4147-A177-3AD203B41FA5}">
                      <a16:colId xmlns:a16="http://schemas.microsoft.com/office/drawing/2014/main" val="996983067"/>
                    </a:ext>
                  </a:extLst>
                </a:gridCol>
              </a:tblGrid>
              <a:tr h="428620">
                <a:tc>
                  <a:txBody>
                    <a:bodyPr/>
                    <a:lstStyle/>
                    <a:p>
                      <a:pPr>
                        <a:buNone/>
                      </a:pPr>
                      <a:r>
                        <a:rPr lang="fr-FR" sz="1800" b="1" dirty="0">
                          <a:latin typeface="Times New Roman" panose="02020603050405020304" pitchFamily="18" charset="0"/>
                          <a:cs typeface="Times New Roman" panose="02020603050405020304" pitchFamily="18" charset="0"/>
                        </a:rPr>
                        <a:t>Aspect</a:t>
                      </a:r>
                      <a:endParaRPr lang="fr-FR"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fr-FR" sz="1800" b="1">
                          <a:latin typeface="Times New Roman" panose="02020603050405020304" pitchFamily="18" charset="0"/>
                          <a:cs typeface="Times New Roman" panose="02020603050405020304" pitchFamily="18" charset="0"/>
                        </a:rPr>
                        <a:t>Policing</a:t>
                      </a:r>
                      <a:endParaRPr lang="fr-FR" sz="18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fr-FR" sz="1800" b="1">
                          <a:latin typeface="Times New Roman" panose="02020603050405020304" pitchFamily="18" charset="0"/>
                          <a:cs typeface="Times New Roman" panose="02020603050405020304" pitchFamily="18" charset="0"/>
                        </a:rPr>
                        <a:t>Shaping</a:t>
                      </a:r>
                      <a:endParaRPr lang="fr-FR" sz="18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650389016"/>
                  </a:ext>
                </a:extLst>
              </a:tr>
              <a:tr h="428620">
                <a:tc>
                  <a:txBody>
                    <a:bodyPr/>
                    <a:lstStyle/>
                    <a:p>
                      <a:pPr>
                        <a:buNone/>
                      </a:pPr>
                      <a:r>
                        <a:rPr lang="fr-FR" sz="1800" b="1">
                          <a:latin typeface="Times New Roman" panose="02020603050405020304" pitchFamily="18" charset="0"/>
                          <a:cs typeface="Times New Roman" panose="02020603050405020304" pitchFamily="18" charset="0"/>
                        </a:rPr>
                        <a:t>Excess packets</a:t>
                      </a:r>
                      <a:endParaRPr lang="fr-FR" sz="18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Dropped or remarked</a:t>
                      </a:r>
                    </a:p>
                  </a:txBody>
                  <a:tcPr anchor="ctr">
                    <a:lnL>
                      <a:noFill/>
                    </a:lnL>
                    <a:lnR>
                      <a:noFill/>
                    </a:lnR>
                    <a:lnT>
                      <a:noFill/>
                    </a:lnT>
                    <a:lnB>
                      <a:noFill/>
                    </a:lnB>
                    <a:noFill/>
                  </a:tcPr>
                </a:tc>
                <a:tc>
                  <a:txBody>
                    <a:bodyPr/>
                    <a:lstStyle/>
                    <a:p>
                      <a:pPr>
                        <a:buNone/>
                      </a:pPr>
                      <a:r>
                        <a:rPr lang="fr-FR" sz="1800" dirty="0" err="1">
                          <a:latin typeface="Times New Roman" panose="02020603050405020304" pitchFamily="18" charset="0"/>
                          <a:cs typeface="Times New Roman" panose="02020603050405020304" pitchFamily="18" charset="0"/>
                        </a:rPr>
                        <a:t>Buffered</a:t>
                      </a:r>
                      <a:r>
                        <a:rPr lang="fr-FR" sz="1800" dirty="0">
                          <a:latin typeface="Times New Roman" panose="02020603050405020304" pitchFamily="18" charset="0"/>
                          <a:cs typeface="Times New Roman" panose="02020603050405020304" pitchFamily="18" charset="0"/>
                        </a:rPr>
                        <a:t> and </a:t>
                      </a:r>
                      <a:r>
                        <a:rPr lang="fr-FR" sz="1800" dirty="0" err="1">
                          <a:latin typeface="Times New Roman" panose="02020603050405020304" pitchFamily="18" charset="0"/>
                          <a:cs typeface="Times New Roman" panose="02020603050405020304" pitchFamily="18" charset="0"/>
                        </a:rPr>
                        <a:t>delayed</a:t>
                      </a:r>
                      <a:endParaRPr lang="fr-FR"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4147904197"/>
                  </a:ext>
                </a:extLst>
              </a:tr>
              <a:tr h="428620">
                <a:tc>
                  <a:txBody>
                    <a:bodyPr/>
                    <a:lstStyle/>
                    <a:p>
                      <a:pPr>
                        <a:buNone/>
                      </a:pPr>
                      <a:r>
                        <a:rPr lang="fr-FR" sz="1800" b="1">
                          <a:latin typeface="Times New Roman" panose="02020603050405020304" pitchFamily="18" charset="0"/>
                          <a:cs typeface="Times New Roman" panose="02020603050405020304" pitchFamily="18" charset="0"/>
                        </a:rPr>
                        <a:t>Goal</a:t>
                      </a:r>
                      <a:endParaRPr lang="fr-FR" sz="18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Enforce limit</a:t>
                      </a:r>
                    </a:p>
                  </a:txBody>
                  <a:tcPr anchor="ctr">
                    <a:lnL>
                      <a:noFill/>
                    </a:lnL>
                    <a:lnR>
                      <a:noFill/>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Smooth flow</a:t>
                      </a:r>
                    </a:p>
                  </a:txBody>
                  <a:tcPr anchor="ctr">
                    <a:lnL>
                      <a:noFill/>
                    </a:lnL>
                    <a:lnR>
                      <a:noFill/>
                    </a:lnR>
                    <a:lnT>
                      <a:noFill/>
                    </a:lnT>
                    <a:lnB>
                      <a:noFill/>
                    </a:lnB>
                    <a:noFill/>
                  </a:tcPr>
                </a:tc>
                <a:extLst>
                  <a:ext uri="{0D108BD9-81ED-4DB2-BD59-A6C34878D82A}">
                    <a16:rowId xmlns:a16="http://schemas.microsoft.com/office/drawing/2014/main" val="3630590263"/>
                  </a:ext>
                </a:extLst>
              </a:tr>
              <a:tr h="428620">
                <a:tc>
                  <a:txBody>
                    <a:bodyPr/>
                    <a:lstStyle/>
                    <a:p>
                      <a:pPr>
                        <a:buNone/>
                      </a:pPr>
                      <a:r>
                        <a:rPr lang="fr-FR" sz="1800" b="1">
                          <a:latin typeface="Times New Roman" panose="02020603050405020304" pitchFamily="18" charset="0"/>
                          <a:cs typeface="Times New Roman" panose="02020603050405020304" pitchFamily="18" charset="0"/>
                        </a:rPr>
                        <a:t>Best for</a:t>
                      </a:r>
                      <a:endParaRPr lang="fr-FR" sz="18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Core networks</a:t>
                      </a:r>
                    </a:p>
                  </a:txBody>
                  <a:tcPr anchor="ctr">
                    <a:lnL>
                      <a:noFill/>
                    </a:lnL>
                    <a:lnR>
                      <a:noFill/>
                    </a:lnR>
                    <a:lnT>
                      <a:noFill/>
                    </a:lnT>
                    <a:lnB>
                      <a:noFill/>
                    </a:lnB>
                    <a:noFill/>
                  </a:tcPr>
                </a:tc>
                <a:tc>
                  <a:txBody>
                    <a:bodyPr/>
                    <a:lstStyle/>
                    <a:p>
                      <a:pPr>
                        <a:buNone/>
                      </a:pPr>
                      <a:r>
                        <a:rPr lang="fr-FR" sz="1800" dirty="0">
                          <a:latin typeface="Times New Roman" panose="02020603050405020304" pitchFamily="18" charset="0"/>
                          <a:cs typeface="Times New Roman" panose="02020603050405020304" pitchFamily="18" charset="0"/>
                        </a:rPr>
                        <a:t>Edge </a:t>
                      </a:r>
                      <a:r>
                        <a:rPr lang="fr-FR" sz="1800" dirty="0" err="1">
                          <a:latin typeface="Times New Roman" panose="02020603050405020304" pitchFamily="18" charset="0"/>
                          <a:cs typeface="Times New Roman" panose="02020603050405020304" pitchFamily="18" charset="0"/>
                        </a:rPr>
                        <a:t>routers</a:t>
                      </a:r>
                      <a:r>
                        <a:rPr lang="fr-FR" sz="1800" dirty="0">
                          <a:latin typeface="Times New Roman" panose="02020603050405020304" pitchFamily="18" charset="0"/>
                          <a:cs typeface="Times New Roman" panose="02020603050405020304" pitchFamily="18" charset="0"/>
                        </a:rPr>
                        <a:t> / WAN links</a:t>
                      </a:r>
                    </a:p>
                  </a:txBody>
                  <a:tcPr anchor="ctr">
                    <a:lnL>
                      <a:noFill/>
                    </a:lnL>
                    <a:lnR>
                      <a:noFill/>
                    </a:lnR>
                    <a:lnT>
                      <a:noFill/>
                    </a:lnT>
                    <a:lnB>
                      <a:noFill/>
                    </a:lnB>
                    <a:noFill/>
                  </a:tcPr>
                </a:tc>
                <a:extLst>
                  <a:ext uri="{0D108BD9-81ED-4DB2-BD59-A6C34878D82A}">
                    <a16:rowId xmlns:a16="http://schemas.microsoft.com/office/drawing/2014/main" val="1809980552"/>
                  </a:ext>
                </a:extLst>
              </a:tr>
            </a:tbl>
          </a:graphicData>
        </a:graphic>
      </p:graphicFrame>
    </p:spTree>
    <p:extLst>
      <p:ext uri="{BB962C8B-B14F-4D97-AF65-F5344CB8AC3E}">
        <p14:creationId xmlns:p14="http://schemas.microsoft.com/office/powerpoint/2010/main" val="3742853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6EC63-C90B-0D50-8E80-38488B73E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33474-651F-43EB-A4F0-DC4738518250}"/>
              </a:ext>
            </a:extLst>
          </p:cNvPr>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Main QoS </a:t>
            </a:r>
            <a:r>
              <a:rPr lang="fr-FR" dirty="0" err="1">
                <a:latin typeface="Times New Roman" panose="02020603050405020304" pitchFamily="18" charset="0"/>
                <a:cs typeface="Times New Roman" panose="02020603050405020304" pitchFamily="18" charset="0"/>
              </a:rPr>
              <a:t>Mechanisms</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BBF7248D-7D32-8BD1-B140-7A3EFE6C58A7}"/>
              </a:ext>
            </a:extLst>
          </p:cNvPr>
          <p:cNvSpPr>
            <a:spLocks noGrp="1"/>
          </p:cNvSpPr>
          <p:nvPr>
            <p:ph type="pic" idx="1"/>
          </p:nvPr>
        </p:nvSpPr>
        <p:spPr>
          <a:xfrm>
            <a:off x="5086300" y="620688"/>
            <a:ext cx="6480720" cy="5551512"/>
          </a:xfrm>
        </p:spPr>
      </p:sp>
      <p:sp>
        <p:nvSpPr>
          <p:cNvPr id="4" name="Text Placeholder 3">
            <a:extLst>
              <a:ext uri="{FF2B5EF4-FFF2-40B4-BE49-F238E27FC236}">
                <a16:creationId xmlns:a16="http://schemas.microsoft.com/office/drawing/2014/main" id="{0CD70BBC-FD6F-1FC7-0846-BED5D75B9301}"/>
              </a:ext>
            </a:extLst>
          </p:cNvPr>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Classification and Marking</a:t>
            </a:r>
          </a:p>
          <a:p>
            <a:r>
              <a:rPr lang="en-US" dirty="0">
                <a:latin typeface="Times New Roman" panose="02020603050405020304" pitchFamily="18" charset="0"/>
                <a:cs typeface="Times New Roman" panose="02020603050405020304" pitchFamily="18" charset="0"/>
              </a:rPr>
              <a:t>Queuing (Scheduling techniques)</a:t>
            </a:r>
          </a:p>
          <a:p>
            <a:r>
              <a:rPr lang="en-US" dirty="0">
                <a:latin typeface="Times New Roman" panose="02020603050405020304" pitchFamily="18" charset="0"/>
                <a:cs typeface="Times New Roman" panose="02020603050405020304" pitchFamily="18" charset="0"/>
              </a:rPr>
              <a:t>Congestion Avoidance</a:t>
            </a:r>
          </a:p>
          <a:p>
            <a:r>
              <a:rPr lang="en-US" dirty="0">
                <a:latin typeface="Times New Roman" panose="02020603050405020304" pitchFamily="18" charset="0"/>
                <a:cs typeface="Times New Roman" panose="02020603050405020304" pitchFamily="18" charset="0"/>
              </a:rPr>
              <a:t>Traffic Policing</a:t>
            </a:r>
          </a:p>
          <a:p>
            <a:r>
              <a:rPr lang="en-US" dirty="0">
                <a:latin typeface="Times New Roman" panose="02020603050405020304" pitchFamily="18" charset="0"/>
                <a:cs typeface="Times New Roman" panose="02020603050405020304" pitchFamily="18" charset="0"/>
              </a:rPr>
              <a:t>Traffic Shaping</a:t>
            </a:r>
          </a:p>
          <a:p>
            <a:r>
              <a:rPr lang="fr-FR" b="1" dirty="0">
                <a:latin typeface="Times New Roman" panose="02020603050405020304" pitchFamily="18" charset="0"/>
                <a:cs typeface="Times New Roman" panose="02020603050405020304" pitchFamily="18" charset="0"/>
              </a:rPr>
              <a:t>Link </a:t>
            </a:r>
            <a:r>
              <a:rPr lang="fr-FR" b="1" dirty="0" err="1">
                <a:latin typeface="Times New Roman" panose="02020603050405020304" pitchFamily="18" charset="0"/>
                <a:cs typeface="Times New Roman" panose="02020603050405020304" pitchFamily="18" charset="0"/>
              </a:rPr>
              <a:t>Efficiency</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Mechanisms</a:t>
            </a:r>
            <a:r>
              <a:rPr lang="fr-FR" b="1" dirty="0">
                <a:latin typeface="Times New Roman" panose="02020603050405020304" pitchFamily="18" charset="0"/>
                <a:cs typeface="Times New Roman" panose="02020603050405020304" pitchFamily="18" charset="0"/>
              </a:rPr>
              <a:t> (LEM)</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557FD03-6A70-2894-ECCE-178BC6E6F78F}"/>
              </a:ext>
            </a:extLst>
          </p:cNvPr>
          <p:cNvSpPr txBox="1"/>
          <p:nvPr/>
        </p:nvSpPr>
        <p:spPr>
          <a:xfrm>
            <a:off x="5230316" y="992917"/>
            <a:ext cx="6271665" cy="4524315"/>
          </a:xfrm>
          <a:prstGeom prst="rect">
            <a:avLst/>
          </a:prstGeom>
          <a:noFill/>
        </p:spPr>
        <p:txBody>
          <a:bodyPr wrap="square">
            <a:spAutoFit/>
          </a:bodyPr>
          <a:lstStyle/>
          <a:p>
            <a:pPr>
              <a:buNone/>
            </a:pPr>
            <a:r>
              <a:rPr lang="fr-FR" b="1" dirty="0" err="1">
                <a:latin typeface="Times New Roman" panose="02020603050405020304" pitchFamily="18" charset="0"/>
                <a:cs typeface="Times New Roman" panose="02020603050405020304" pitchFamily="18" charset="0"/>
              </a:rPr>
              <a:t>Purpose</a:t>
            </a:r>
            <a:r>
              <a:rPr lang="fr-FR" b="1" dirty="0">
                <a:latin typeface="Times New Roman" panose="02020603050405020304" pitchFamily="18" charset="0"/>
                <a:cs typeface="Times New Roman" panose="02020603050405020304" pitchFamily="18" charset="0"/>
              </a:rPr>
              <a:t>:</a:t>
            </a:r>
          </a:p>
          <a:p>
            <a:pPr>
              <a:buNone/>
            </a:pPr>
            <a:r>
              <a:rPr lang="fr-FR" dirty="0" err="1">
                <a:latin typeface="Times New Roman" panose="02020603050405020304" pitchFamily="18" charset="0"/>
                <a:cs typeface="Times New Roman" panose="02020603050405020304" pitchFamily="18" charset="0"/>
              </a:rPr>
              <a:t>Improve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efficiency</a:t>
            </a:r>
            <a:r>
              <a:rPr lang="fr-FR" dirty="0">
                <a:latin typeface="Times New Roman" panose="02020603050405020304" pitchFamily="18" charset="0"/>
                <a:cs typeface="Times New Roman" panose="02020603050405020304" pitchFamily="18" charset="0"/>
              </a:rPr>
              <a:t> and </a:t>
            </a:r>
            <a:r>
              <a:rPr lang="fr-FR" dirty="0" err="1">
                <a:latin typeface="Times New Roman" panose="02020603050405020304" pitchFamily="18" charset="0"/>
                <a:cs typeface="Times New Roman" panose="02020603050405020304" pitchFamily="18" charset="0"/>
              </a:rPr>
              <a:t>reduce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delay</a:t>
            </a:r>
            <a:r>
              <a:rPr lang="fr-FR" dirty="0">
                <a:latin typeface="Times New Roman" panose="02020603050405020304" pitchFamily="18" charset="0"/>
                <a:cs typeface="Times New Roman" panose="02020603050405020304" pitchFamily="18" charset="0"/>
              </a:rPr>
              <a:t> on </a:t>
            </a:r>
            <a:r>
              <a:rPr lang="fr-FR" b="1" dirty="0" err="1">
                <a:latin typeface="Times New Roman" panose="02020603050405020304" pitchFamily="18" charset="0"/>
                <a:cs typeface="Times New Roman" panose="02020603050405020304" pitchFamily="18" charset="0"/>
              </a:rPr>
              <a:t>low-bandwidth</a:t>
            </a:r>
            <a:r>
              <a:rPr lang="fr-FR" b="1" dirty="0">
                <a:latin typeface="Times New Roman" panose="02020603050405020304" pitchFamily="18" charset="0"/>
                <a:cs typeface="Times New Roman" panose="02020603050405020304" pitchFamily="18" charset="0"/>
              </a:rPr>
              <a:t> links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such</a:t>
            </a:r>
            <a:r>
              <a:rPr lang="fr-FR" dirty="0">
                <a:latin typeface="Times New Roman" panose="02020603050405020304" pitchFamily="18" charset="0"/>
                <a:cs typeface="Times New Roman" panose="02020603050405020304" pitchFamily="18" charset="0"/>
              </a:rPr>
              <a:t> as satellite or </a:t>
            </a:r>
            <a:r>
              <a:rPr lang="fr-FR" dirty="0" err="1">
                <a:latin typeface="Times New Roman" panose="02020603050405020304" pitchFamily="18" charset="0"/>
                <a:cs typeface="Times New Roman" panose="02020603050405020304" pitchFamily="18" charset="0"/>
              </a:rPr>
              <a:t>remote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branch</a:t>
            </a:r>
            <a:r>
              <a:rPr lang="fr-FR" dirty="0">
                <a:latin typeface="Times New Roman" panose="02020603050405020304" pitchFamily="18" charset="0"/>
                <a:cs typeface="Times New Roman" panose="02020603050405020304" pitchFamily="18" charset="0"/>
              </a:rPr>
              <a:t> connections.</a:t>
            </a:r>
          </a:p>
          <a:p>
            <a:pPr>
              <a:buNone/>
            </a:pPr>
            <a:r>
              <a:rPr lang="fr-FR" b="1" dirty="0">
                <a:latin typeface="Times New Roman" panose="02020603050405020304" pitchFamily="18" charset="0"/>
                <a:cs typeface="Times New Roman" panose="02020603050405020304" pitchFamily="18" charset="0"/>
              </a:rPr>
              <a:t>Techniques:</a:t>
            </a:r>
          </a:p>
          <a:p>
            <a:pPr>
              <a:buNone/>
            </a:pPr>
            <a:r>
              <a:rPr lang="fr-FR" b="1" dirty="0">
                <a:latin typeface="Times New Roman" panose="02020603050405020304" pitchFamily="18" charset="0"/>
                <a:cs typeface="Times New Roman" panose="02020603050405020304" pitchFamily="18" charset="0"/>
              </a:rPr>
              <a:t>1. Link Fragmentation and </a:t>
            </a:r>
            <a:r>
              <a:rPr lang="fr-FR" b="1" dirty="0" err="1">
                <a:latin typeface="Times New Roman" panose="02020603050405020304" pitchFamily="18" charset="0"/>
                <a:cs typeface="Times New Roman" panose="02020603050405020304" pitchFamily="18" charset="0"/>
              </a:rPr>
              <a:t>Interleaving</a:t>
            </a:r>
            <a:r>
              <a:rPr lang="fr-FR" b="1" dirty="0">
                <a:latin typeface="Times New Roman" panose="02020603050405020304" pitchFamily="18" charset="0"/>
                <a:cs typeface="Times New Roman" panose="02020603050405020304" pitchFamily="18" charset="0"/>
              </a:rPr>
              <a:t> (LFI)</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Large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 are </a:t>
            </a:r>
            <a:r>
              <a:rPr lang="fr-FR" dirty="0" err="1">
                <a:latin typeface="Times New Roman" panose="02020603050405020304" pitchFamily="18" charset="0"/>
                <a:cs typeface="Times New Roman" panose="02020603050405020304" pitchFamily="18" charset="0"/>
              </a:rPr>
              <a:t>fragmented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into</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smaller</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ones</a:t>
            </a:r>
            <a:r>
              <a:rPr lang="fr-FR"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Small, time-sensitive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 (e.g., </a:t>
            </a:r>
            <a:r>
              <a:rPr lang="fr-FR" dirty="0" err="1">
                <a:latin typeface="Times New Roman" panose="02020603050405020304" pitchFamily="18" charset="0"/>
                <a:cs typeface="Times New Roman" panose="02020603050405020304" pitchFamily="18" charset="0"/>
              </a:rPr>
              <a:t>voice</a:t>
            </a:r>
            <a:r>
              <a:rPr lang="fr-FR" dirty="0">
                <a:latin typeface="Times New Roman" panose="02020603050405020304" pitchFamily="18" charset="0"/>
                <a:cs typeface="Times New Roman" panose="02020603050405020304" pitchFamily="18" charset="0"/>
              </a:rPr>
              <a:t>) are </a:t>
            </a:r>
            <a:r>
              <a:rPr lang="fr-FR" dirty="0" err="1">
                <a:latin typeface="Times New Roman" panose="02020603050405020304" pitchFamily="18" charset="0"/>
                <a:cs typeface="Times New Roman" panose="02020603050405020304" pitchFamily="18" charset="0"/>
              </a:rPr>
              <a:t>interleaved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between</a:t>
            </a:r>
            <a:r>
              <a:rPr lang="fr-FR" dirty="0">
                <a:latin typeface="Times New Roman" panose="02020603050405020304" pitchFamily="18" charset="0"/>
                <a:cs typeface="Times New Roman" panose="02020603050405020304" pitchFamily="18" charset="0"/>
              </a:rPr>
              <a:t> fragments.</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This </a:t>
            </a:r>
            <a:r>
              <a:rPr lang="fr-FR" dirty="0" err="1">
                <a:latin typeface="Times New Roman" panose="02020603050405020304" pitchFamily="18" charset="0"/>
                <a:cs typeface="Times New Roman" panose="02020603050405020304" pitchFamily="18" charset="0"/>
              </a:rPr>
              <a:t>reduces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delay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serialization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delay</a:t>
            </a:r>
            <a:r>
              <a:rPr lang="fr-FR" dirty="0">
                <a:latin typeface="Times New Roman" panose="02020603050405020304" pitchFamily="18" charset="0"/>
                <a:cs typeface="Times New Roman" panose="02020603050405020304" pitchFamily="18" charset="0"/>
              </a:rPr>
              <a:t>) for </a:t>
            </a:r>
            <a:r>
              <a:rPr lang="fr-FR" dirty="0" err="1">
                <a:latin typeface="Times New Roman" panose="02020603050405020304" pitchFamily="18" charset="0"/>
                <a:cs typeface="Times New Roman" panose="02020603050405020304" pitchFamily="18" charset="0"/>
              </a:rPr>
              <a:t>voice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a:t>
            </a:r>
          </a:p>
          <a:p>
            <a:pPr>
              <a:buNone/>
            </a:pPr>
            <a:r>
              <a:rPr lang="fr-FR" b="1" dirty="0">
                <a:latin typeface="Times New Roman" panose="02020603050405020304" pitchFamily="18" charset="0"/>
                <a:cs typeface="Times New Roman" panose="02020603050405020304" pitchFamily="18" charset="0"/>
              </a:rPr>
              <a:t>2. Header Compression</a:t>
            </a:r>
          </a:p>
          <a:p>
            <a:pPr>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Removes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redundant</a:t>
            </a:r>
            <a:r>
              <a:rPr lang="fr-FR" dirty="0">
                <a:latin typeface="Times New Roman" panose="02020603050405020304" pitchFamily="18" charset="0"/>
                <a:cs typeface="Times New Roman" panose="02020603050405020304" pitchFamily="18" charset="0"/>
              </a:rPr>
              <a:t> header information </a:t>
            </a:r>
            <a:r>
              <a:rPr lang="fr-FR" dirty="0" err="1">
                <a:latin typeface="Times New Roman" panose="02020603050405020304" pitchFamily="18" charset="0"/>
                <a:cs typeface="Times New Roman" panose="02020603050405020304" pitchFamily="18" charset="0"/>
              </a:rPr>
              <a:t>from</a:t>
            </a:r>
            <a:r>
              <a:rPr lang="fr-FR" dirty="0">
                <a:latin typeface="Times New Roman" panose="02020603050405020304" pitchFamily="18" charset="0"/>
                <a:cs typeface="Times New Roman" panose="02020603050405020304" pitchFamily="18" charset="0"/>
              </a:rPr>
              <a:t> IP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 (e.g., in </a:t>
            </a:r>
            <a:r>
              <a:rPr lang="fr-FR" dirty="0" err="1">
                <a:latin typeface="Times New Roman" panose="02020603050405020304" pitchFamily="18" charset="0"/>
                <a:cs typeface="Times New Roman" panose="02020603050405020304" pitchFamily="18" charset="0"/>
              </a:rPr>
              <a:t>VoIP</a:t>
            </a:r>
            <a:r>
              <a:rPr lang="fr-FR" dirty="0">
                <a:latin typeface="Times New Roman" panose="02020603050405020304" pitchFamily="18" charset="0"/>
                <a:cs typeface="Times New Roman" panose="02020603050405020304" pitchFamily="18" charset="0"/>
              </a:rPr>
              <a:t> flows).</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Example: </a:t>
            </a:r>
            <a:r>
              <a:rPr lang="fr-FR" dirty="0" err="1">
                <a:latin typeface="Times New Roman" panose="02020603050405020304" pitchFamily="18" charset="0"/>
                <a:cs typeface="Times New Roman" panose="02020603050405020304" pitchFamily="18" charset="0"/>
              </a:rPr>
              <a:t>cRTP</a:t>
            </a:r>
            <a:r>
              <a:rPr lang="fr-FR" dirty="0">
                <a:latin typeface="Times New Roman" panose="02020603050405020304" pitchFamily="18" charset="0"/>
                <a:cs typeface="Times New Roman" panose="02020603050405020304" pitchFamily="18" charset="0"/>
              </a:rPr>
              <a:t> (Compressed Real-Time Transport Protocol) </a:t>
            </a:r>
            <a:r>
              <a:rPr lang="fr-FR" dirty="0" err="1">
                <a:latin typeface="Times New Roman" panose="02020603050405020304" pitchFamily="18" charset="0"/>
                <a:cs typeface="Times New Roman" panose="02020603050405020304" pitchFamily="18" charset="0"/>
              </a:rPr>
              <a:t>reduces</a:t>
            </a:r>
            <a:r>
              <a:rPr lang="fr-FR" dirty="0">
                <a:latin typeface="Times New Roman" panose="02020603050405020304" pitchFamily="18" charset="0"/>
                <a:cs typeface="Times New Roman" panose="02020603050405020304" pitchFamily="18" charset="0"/>
              </a:rPr>
              <a:t> header </a:t>
            </a:r>
            <a:r>
              <a:rPr lang="fr-FR" dirty="0" err="1">
                <a:latin typeface="Times New Roman" panose="02020603050405020304" pitchFamily="18" charset="0"/>
                <a:cs typeface="Times New Roman" panose="02020603050405020304" pitchFamily="18" charset="0"/>
              </a:rPr>
              <a:t>from</a:t>
            </a:r>
            <a:r>
              <a:rPr lang="fr-FR" dirty="0">
                <a:latin typeface="Times New Roman" panose="02020603050405020304" pitchFamily="18" charset="0"/>
                <a:cs typeface="Times New Roman" panose="02020603050405020304" pitchFamily="18" charset="0"/>
              </a:rPr>
              <a:t> 40 bytes → ~2–4 bytes.</a:t>
            </a:r>
          </a:p>
          <a:p>
            <a:pPr>
              <a:buNone/>
            </a:pPr>
            <a:r>
              <a:rPr lang="fr-FR" b="1" dirty="0">
                <a:latin typeface="Times New Roman" panose="02020603050405020304" pitchFamily="18" charset="0"/>
                <a:cs typeface="Times New Roman" panose="02020603050405020304" pitchFamily="18" charset="0"/>
              </a:rPr>
              <a:t>3. </a:t>
            </a:r>
            <a:r>
              <a:rPr lang="fr-FR" b="1" dirty="0" err="1">
                <a:latin typeface="Times New Roman" panose="02020603050405020304" pitchFamily="18" charset="0"/>
                <a:cs typeface="Times New Roman" panose="02020603050405020304" pitchFamily="18" charset="0"/>
              </a:rPr>
              <a:t>Payload</a:t>
            </a:r>
            <a:r>
              <a:rPr lang="fr-FR" b="1" dirty="0">
                <a:latin typeface="Times New Roman" panose="02020603050405020304" pitchFamily="18" charset="0"/>
                <a:cs typeface="Times New Roman" panose="02020603050405020304" pitchFamily="18" charset="0"/>
              </a:rPr>
              <a:t> Compression</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Compresses </a:t>
            </a:r>
            <a:r>
              <a:rPr lang="fr-FR" dirty="0" err="1">
                <a:latin typeface="Times New Roman" panose="02020603050405020304" pitchFamily="18" charset="0"/>
                <a:cs typeface="Times New Roman" panose="02020603050405020304" pitchFamily="18" charset="0"/>
              </a:rPr>
              <a:t>payload</a:t>
            </a:r>
            <a:r>
              <a:rPr lang="fr-FR" dirty="0">
                <a:latin typeface="Times New Roman" panose="02020603050405020304" pitchFamily="18" charset="0"/>
                <a:cs typeface="Times New Roman" panose="02020603050405020304" pitchFamily="18" charset="0"/>
              </a:rPr>
              <a:t> data to </a:t>
            </a:r>
            <a:r>
              <a:rPr lang="fr-FR" dirty="0" err="1">
                <a:latin typeface="Times New Roman" panose="02020603050405020304" pitchFamily="18" charset="0"/>
                <a:cs typeface="Times New Roman" panose="02020603050405020304" pitchFamily="18" charset="0"/>
              </a:rPr>
              <a:t>save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bandwidth</a:t>
            </a:r>
            <a:r>
              <a:rPr lang="fr-FR" dirty="0">
                <a:latin typeface="Times New Roman" panose="02020603050405020304" pitchFamily="18" charset="0"/>
                <a:cs typeface="Times New Roman" panose="02020603050405020304" pitchFamily="18" charset="0"/>
              </a:rPr>
              <a:t> on </a:t>
            </a:r>
            <a:r>
              <a:rPr lang="fr-FR" dirty="0" err="1">
                <a:latin typeface="Times New Roman" panose="02020603050405020304" pitchFamily="18" charset="0"/>
                <a:cs typeface="Times New Roman" panose="02020603050405020304" pitchFamily="18" charset="0"/>
              </a:rPr>
              <a:t>low</a:t>
            </a:r>
            <a:r>
              <a:rPr lang="fr-FR" dirty="0">
                <a:latin typeface="Times New Roman" panose="02020603050405020304" pitchFamily="18" charset="0"/>
                <a:cs typeface="Times New Roman" panose="02020603050405020304" pitchFamily="18" charset="0"/>
              </a:rPr>
              <a:t>-speed links.</a:t>
            </a:r>
          </a:p>
        </p:txBody>
      </p:sp>
    </p:spTree>
    <p:extLst>
      <p:ext uri="{BB962C8B-B14F-4D97-AF65-F5344CB8AC3E}">
        <p14:creationId xmlns:p14="http://schemas.microsoft.com/office/powerpoint/2010/main" val="3613460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8BCCC6-01E2-6053-5DDC-523830E69E5F}"/>
              </a:ext>
            </a:extLst>
          </p:cNvPr>
          <p:cNvSpPr txBox="1"/>
          <p:nvPr/>
        </p:nvSpPr>
        <p:spPr>
          <a:xfrm>
            <a:off x="1197868" y="1124744"/>
            <a:ext cx="9361040" cy="4801314"/>
          </a:xfrm>
          <a:prstGeom prst="rect">
            <a:avLst/>
          </a:prstGeom>
          <a:noFill/>
        </p:spPr>
        <p:txBody>
          <a:bodyPr wrap="square">
            <a:spAutoFit/>
          </a:bodyPr>
          <a:lstStyle/>
          <a:p>
            <a:endParaRPr lang="fr-DZ" dirty="0"/>
          </a:p>
          <a:p>
            <a:pPr algn="just"/>
            <a:r>
              <a:rPr lang="fr-DZ" dirty="0">
                <a:latin typeface="Times New Roman" panose="02020603050405020304" pitchFamily="18" charset="0"/>
                <a:cs typeface="Times New Roman" panose="02020603050405020304" pitchFamily="18" charset="0"/>
              </a:rPr>
              <a:t>QoS </a:t>
            </a:r>
            <a:r>
              <a:rPr lang="fr-DZ" dirty="0" err="1">
                <a:latin typeface="Times New Roman" panose="02020603050405020304" pitchFamily="18" charset="0"/>
                <a:cs typeface="Times New Roman" panose="02020603050405020304" pitchFamily="18" charset="0"/>
              </a:rPr>
              <a:t>models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define</a:t>
            </a:r>
            <a:r>
              <a:rPr lang="fr-DZ" dirty="0">
                <a:latin typeface="Times New Roman" panose="02020603050405020304" pitchFamily="18" charset="0"/>
                <a:cs typeface="Times New Roman" panose="02020603050405020304" pitchFamily="18" charset="0"/>
              </a:rPr>
              <a:t> how a network manages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provides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different</a:t>
            </a:r>
            <a:r>
              <a:rPr lang="fr-DZ" dirty="0">
                <a:latin typeface="Times New Roman" panose="02020603050405020304" pitchFamily="18" charset="0"/>
                <a:cs typeface="Times New Roman" panose="02020603050405020304" pitchFamily="18" charset="0"/>
              </a:rPr>
              <a:t> service </a:t>
            </a:r>
            <a:r>
              <a:rPr lang="fr-DZ" dirty="0" err="1">
                <a:latin typeface="Times New Roman" panose="02020603050405020304" pitchFamily="18" charset="0"/>
                <a:cs typeface="Times New Roman" panose="02020603050405020304" pitchFamily="18" charset="0"/>
              </a:rPr>
              <a:t>levels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various</a:t>
            </a:r>
            <a:r>
              <a:rPr lang="fr-DZ" dirty="0">
                <a:latin typeface="Times New Roman" panose="02020603050405020304" pitchFamily="18" charset="0"/>
                <a:cs typeface="Times New Roman" panose="02020603050405020304" pitchFamily="18" charset="0"/>
              </a:rPr>
              <a:t> applications or </a:t>
            </a:r>
            <a:r>
              <a:rPr lang="fr-DZ" dirty="0" err="1">
                <a:latin typeface="Times New Roman" panose="02020603050405020304" pitchFamily="18" charset="0"/>
                <a:cs typeface="Times New Roman" panose="02020603050405020304" pitchFamily="18" charset="0"/>
              </a:rPr>
              <a:t>users</a:t>
            </a:r>
            <a:r>
              <a:rPr lang="fr-DZ" dirty="0">
                <a:latin typeface="Times New Roman" panose="02020603050405020304" pitchFamily="18" charset="0"/>
                <a:cs typeface="Times New Roman" panose="02020603050405020304" pitchFamily="18" charset="0"/>
              </a:rPr>
              <a:t>. In </a:t>
            </a:r>
            <a:r>
              <a:rPr lang="fr-DZ" dirty="0" err="1">
                <a:latin typeface="Times New Roman" panose="02020603050405020304" pitchFamily="18" charset="0"/>
                <a:cs typeface="Times New Roman" panose="02020603050405020304" pitchFamily="18" charset="0"/>
              </a:rPr>
              <a:t>other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words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the architectural </a:t>
            </a:r>
            <a:r>
              <a:rPr lang="fr-DZ" dirty="0" err="1">
                <a:latin typeface="Times New Roman" panose="02020603050405020304" pitchFamily="18" charset="0"/>
                <a:cs typeface="Times New Roman" panose="02020603050405020304" pitchFamily="18" charset="0"/>
              </a:rPr>
              <a:t>frameworks</a:t>
            </a:r>
            <a:r>
              <a:rPr lang="fr-DZ" dirty="0">
                <a:latin typeface="Times New Roman" panose="02020603050405020304" pitchFamily="18" charset="0"/>
                <a:cs typeface="Times New Roman" panose="02020603050405020304" pitchFamily="18" charset="0"/>
              </a:rPr>
              <a:t> or philosophies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define</a:t>
            </a:r>
            <a:r>
              <a:rPr lang="fr-DZ" dirty="0">
                <a:latin typeface="Times New Roman" panose="02020603050405020304" pitchFamily="18" charset="0"/>
                <a:cs typeface="Times New Roman" panose="02020603050405020304" pitchFamily="18" charset="0"/>
              </a:rPr>
              <a:t> how and </a:t>
            </a:r>
            <a:r>
              <a:rPr lang="fr-DZ" dirty="0" err="1">
                <a:latin typeface="Times New Roman" panose="02020603050405020304" pitchFamily="18" charset="0"/>
                <a:cs typeface="Times New Roman" panose="02020603050405020304" pitchFamily="18" charset="0"/>
              </a:rPr>
              <a:t>where</a:t>
            </a:r>
            <a:r>
              <a:rPr lang="fr-DZ" dirty="0">
                <a:latin typeface="Times New Roman" panose="02020603050405020304" pitchFamily="18" charset="0"/>
                <a:cs typeface="Times New Roman" panose="02020603050405020304" pitchFamily="18" charset="0"/>
              </a:rPr>
              <a:t> QoS </a:t>
            </a:r>
            <a:r>
              <a:rPr lang="fr-DZ" dirty="0" err="1">
                <a:latin typeface="Times New Roman" panose="02020603050405020304" pitchFamily="18" charset="0"/>
                <a:cs typeface="Times New Roman" panose="02020603050405020304" pitchFamily="18" charset="0"/>
              </a:rPr>
              <a:t>mechanisms</a:t>
            </a:r>
            <a:r>
              <a:rPr lang="fr-DZ" dirty="0">
                <a:latin typeface="Times New Roman" panose="02020603050405020304" pitchFamily="18" charset="0"/>
                <a:cs typeface="Times New Roman" panose="02020603050405020304" pitchFamily="18" charset="0"/>
              </a:rPr>
              <a:t> are </a:t>
            </a:r>
            <a:r>
              <a:rPr lang="fr-DZ" dirty="0" err="1">
                <a:latin typeface="Times New Roman" panose="02020603050405020304" pitchFamily="18" charset="0"/>
                <a:cs typeface="Times New Roman" panose="02020603050405020304" pitchFamily="18" charset="0"/>
              </a:rPr>
              <a:t>applied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across</a:t>
            </a:r>
            <a:r>
              <a:rPr lang="fr-DZ" dirty="0">
                <a:latin typeface="Times New Roman" panose="02020603050405020304" pitchFamily="18" charset="0"/>
                <a:cs typeface="Times New Roman" panose="02020603050405020304" pitchFamily="18" charset="0"/>
              </a:rPr>
              <a:t> a network.</a:t>
            </a:r>
          </a:p>
          <a:p>
            <a:r>
              <a:rPr lang="fr-DZ" dirty="0">
                <a:latin typeface="Times New Roman" panose="02020603050405020304" pitchFamily="18" charset="0"/>
                <a:cs typeface="Times New Roman" panose="02020603050405020304" pitchFamily="18" charset="0"/>
              </a:rPr>
              <a:t>There are </a:t>
            </a:r>
            <a:r>
              <a:rPr lang="fr-DZ" dirty="0" err="1">
                <a:latin typeface="Times New Roman" panose="02020603050405020304" pitchFamily="18" charset="0"/>
                <a:cs typeface="Times New Roman" panose="02020603050405020304" pitchFamily="18" charset="0"/>
              </a:rPr>
              <a:t>three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classical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models</a:t>
            </a:r>
            <a:r>
              <a:rPr lang="fr-DZ" dirty="0">
                <a:latin typeface="Times New Roman" panose="02020603050405020304" pitchFamily="18" charset="0"/>
                <a:cs typeface="Times New Roman" panose="02020603050405020304" pitchFamily="18" charset="0"/>
              </a:rPr>
              <a:t> for </a:t>
            </a:r>
            <a:r>
              <a:rPr lang="fr-DZ" dirty="0" err="1">
                <a:latin typeface="Times New Roman" panose="02020603050405020304" pitchFamily="18" charset="0"/>
                <a:cs typeface="Times New Roman" panose="02020603050405020304" pitchFamily="18" charset="0"/>
              </a:rPr>
              <a:t>implementing</a:t>
            </a:r>
            <a:r>
              <a:rPr lang="fr-DZ" dirty="0">
                <a:latin typeface="Times New Roman" panose="02020603050405020304" pitchFamily="18" charset="0"/>
                <a:cs typeface="Times New Roman" panose="02020603050405020304" pitchFamily="18" charset="0"/>
              </a:rPr>
              <a:t> QoS:</a:t>
            </a:r>
          </a:p>
          <a:p>
            <a:pPr marL="742950" lvl="1" indent="-285750">
              <a:buFont typeface="Arial" panose="020B0604020202020204" pitchFamily="34" charset="0"/>
              <a:buChar char="•"/>
            </a:pPr>
            <a:r>
              <a:rPr lang="fr-DZ" dirty="0">
                <a:latin typeface="Times New Roman" panose="02020603050405020304" pitchFamily="18" charset="0"/>
                <a:cs typeface="Times New Roman" panose="02020603050405020304" pitchFamily="18" charset="0"/>
              </a:rPr>
              <a:t>Best Effort</a:t>
            </a:r>
          </a:p>
          <a:p>
            <a:pPr marL="742950" lvl="1" indent="-285750">
              <a:buFont typeface="Arial" panose="020B0604020202020204" pitchFamily="34" charset="0"/>
              <a:buChar char="•"/>
            </a:pPr>
            <a:r>
              <a:rPr lang="fr-DZ" dirty="0">
                <a:latin typeface="Times New Roman" panose="02020603050405020304" pitchFamily="18" charset="0"/>
                <a:cs typeface="Times New Roman" panose="02020603050405020304" pitchFamily="18" charset="0"/>
              </a:rPr>
              <a:t>Integrated Services (IntServ)</a:t>
            </a:r>
          </a:p>
          <a:p>
            <a:pPr marL="742950" lvl="1" indent="-285750">
              <a:buFont typeface="Arial" panose="020B0604020202020204" pitchFamily="34" charset="0"/>
              <a:buChar char="•"/>
            </a:pPr>
            <a:r>
              <a:rPr lang="fr-DZ" dirty="0" err="1">
                <a:latin typeface="Times New Roman" panose="02020603050405020304" pitchFamily="18" charset="0"/>
                <a:cs typeface="Times New Roman" panose="02020603050405020304" pitchFamily="18" charset="0"/>
              </a:rPr>
              <a:t>Differentiated</a:t>
            </a:r>
            <a:r>
              <a:rPr lang="fr-DZ" dirty="0">
                <a:latin typeface="Times New Roman" panose="02020603050405020304" pitchFamily="18" charset="0"/>
                <a:cs typeface="Times New Roman" panose="02020603050405020304" pitchFamily="18" charset="0"/>
              </a:rPr>
              <a:t> Services (DiffServ)</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DZ" dirty="0" err="1">
                <a:latin typeface="Times New Roman" panose="02020603050405020304" pitchFamily="18" charset="0"/>
                <a:cs typeface="Times New Roman" panose="02020603050405020304" pitchFamily="18" charset="0"/>
              </a:rPr>
              <a:t>Multiprotocol</a:t>
            </a:r>
            <a:r>
              <a:rPr lang="fr-DZ" dirty="0">
                <a:latin typeface="Times New Roman" panose="02020603050405020304" pitchFamily="18" charset="0"/>
                <a:cs typeface="Times New Roman" panose="02020603050405020304" pitchFamily="18" charset="0"/>
              </a:rPr>
              <a:t> Label </a:t>
            </a:r>
            <a:r>
              <a:rPr lang="fr-DZ" dirty="0" err="1">
                <a:latin typeface="Times New Roman" panose="02020603050405020304" pitchFamily="18" charset="0"/>
                <a:cs typeface="Times New Roman" panose="02020603050405020304" pitchFamily="18" charset="0"/>
              </a:rPr>
              <a:t>Switching</a:t>
            </a:r>
            <a:r>
              <a:rPr lang="fr-FR" dirty="0">
                <a:latin typeface="Times New Roman" panose="02020603050405020304" pitchFamily="18" charset="0"/>
                <a:cs typeface="Times New Roman" panose="02020603050405020304" pitchFamily="18" charset="0"/>
              </a:rPr>
              <a:t> </a:t>
            </a:r>
            <a:r>
              <a:rPr lang="fr-DZ" dirty="0">
                <a:latin typeface="Times New Roman" panose="02020603050405020304" pitchFamily="18" charset="0"/>
                <a:cs typeface="Times New Roman" panose="02020603050405020304" pitchFamily="18" charset="0"/>
              </a:rPr>
              <a:t>(MPLS</a:t>
            </a:r>
            <a:r>
              <a:rPr lang="fr-FR"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endParaRPr lang="fr-FR"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QoS Key Concepts for marking and signaling mechanisms to identify, prioritize, and control traffic across the network.</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RSVP (Resource Reservation Protocol)	</a:t>
            </a:r>
          </a:p>
          <a:p>
            <a:pPr marL="742950" lvl="1"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CoS</a:t>
            </a:r>
            <a:r>
              <a:rPr lang="en-US" dirty="0">
                <a:latin typeface="Times New Roman" panose="02020603050405020304" pitchFamily="18" charset="0"/>
                <a:cs typeface="Times New Roman" panose="02020603050405020304" pitchFamily="18" charset="0"/>
              </a:rPr>
              <a:t> (Class of Service)</a:t>
            </a:r>
          </a:p>
          <a:p>
            <a:pPr marL="742950" lvl="1"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ToS</a:t>
            </a:r>
            <a:r>
              <a:rPr lang="en-US" dirty="0">
                <a:latin typeface="Times New Roman" panose="02020603050405020304" pitchFamily="18" charset="0"/>
                <a:cs typeface="Times New Roman" panose="02020603050405020304" pitchFamily="18" charset="0"/>
              </a:rPr>
              <a:t> (Type of Service)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DSCP (Differentiated Services Code Point)</a:t>
            </a:r>
          </a:p>
          <a:p>
            <a:pPr lvl="1"/>
            <a:endParaRPr lang="fr-F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7D872F6-F176-310C-E3E2-47366A4FEA0F}"/>
              </a:ext>
            </a:extLst>
          </p:cNvPr>
          <p:cNvSpPr txBox="1"/>
          <p:nvPr/>
        </p:nvSpPr>
        <p:spPr>
          <a:xfrm>
            <a:off x="951729" y="260648"/>
            <a:ext cx="10111235" cy="646331"/>
          </a:xfrm>
          <a:prstGeom prst="rect">
            <a:avLst/>
          </a:prstGeom>
          <a:noFill/>
        </p:spPr>
        <p:txBody>
          <a:bodyPr wrap="square">
            <a:spAutoFit/>
          </a:bodyPr>
          <a:lstStyle/>
          <a:p>
            <a:pPr algn="ctr"/>
            <a:r>
              <a:rPr lang="fr-DZ" sz="3600" b="1" dirty="0">
                <a:latin typeface="Times New Roman" panose="02020603050405020304" pitchFamily="18" charset="0"/>
                <a:cs typeface="Times New Roman" panose="02020603050405020304" pitchFamily="18" charset="0"/>
              </a:rPr>
              <a:t>QoS </a:t>
            </a:r>
            <a:r>
              <a:rPr lang="fr-DZ" sz="3600" b="1" dirty="0" err="1">
                <a:latin typeface="Times New Roman" panose="02020603050405020304" pitchFamily="18" charset="0"/>
                <a:cs typeface="Times New Roman" panose="02020603050405020304" pitchFamily="18" charset="0"/>
              </a:rPr>
              <a:t>Models</a:t>
            </a:r>
            <a:endParaRPr lang="fr-DZ"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2212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74D4B0-4B05-D9F6-5751-EB722A594B10}"/>
              </a:ext>
            </a:extLst>
          </p:cNvPr>
          <p:cNvSpPr txBox="1"/>
          <p:nvPr/>
        </p:nvSpPr>
        <p:spPr>
          <a:xfrm>
            <a:off x="2061964" y="332656"/>
            <a:ext cx="7826988" cy="646331"/>
          </a:xfrm>
          <a:prstGeom prst="rect">
            <a:avLst/>
          </a:prstGeom>
          <a:noFill/>
        </p:spPr>
        <p:txBody>
          <a:bodyPr wrap="square">
            <a:spAutoFit/>
          </a:bodyPr>
          <a:lstStyle/>
          <a:p>
            <a:r>
              <a:rPr lang="fr-FR" sz="3600" b="1" dirty="0">
                <a:latin typeface="Times New Roman" panose="02020603050405020304" pitchFamily="18" charset="0"/>
                <a:cs typeface="Times New Roman" panose="02020603050405020304" pitchFamily="18" charset="0"/>
              </a:rPr>
              <a:t>Resource </a:t>
            </a:r>
            <a:r>
              <a:rPr lang="fr-FR" sz="3600" b="1" dirty="0" err="1">
                <a:latin typeface="Times New Roman" panose="02020603050405020304" pitchFamily="18" charset="0"/>
                <a:cs typeface="Times New Roman" panose="02020603050405020304" pitchFamily="18" charset="0"/>
              </a:rPr>
              <a:t>Reservation</a:t>
            </a:r>
            <a:r>
              <a:rPr lang="fr-FR" sz="3600" b="1" dirty="0">
                <a:latin typeface="Times New Roman" panose="02020603050405020304" pitchFamily="18" charset="0"/>
                <a:cs typeface="Times New Roman" panose="02020603050405020304" pitchFamily="18" charset="0"/>
              </a:rPr>
              <a:t> Protocol (RSVP)</a:t>
            </a:r>
            <a:endParaRPr lang="fr-DZ"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C5317D2-CE95-D5A2-76F9-CC127AEDA6CA}"/>
              </a:ext>
            </a:extLst>
          </p:cNvPr>
          <p:cNvSpPr txBox="1"/>
          <p:nvPr/>
        </p:nvSpPr>
        <p:spPr>
          <a:xfrm>
            <a:off x="1269876" y="1124744"/>
            <a:ext cx="9433048"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control protocol used to reserve network resources to provide quality of service (QoS) for real-time applications like video conferencing</a:t>
            </a:r>
            <a:r>
              <a:rPr lang="en-US" b="0" i="0" dirty="0">
                <a:solidFill>
                  <a:srgbClr val="E6E8F0"/>
                </a:solidFill>
                <a:effectLst/>
                <a:latin typeface="Times New Roman" panose="02020603050405020304" pitchFamily="18" charset="0"/>
                <a:cs typeface="Times New Roman" panose="02020603050405020304" pitchFamily="18" charset="0"/>
              </a:rPr>
              <a:t>. </a:t>
            </a:r>
            <a:endParaRPr lang="fr-DZ" dirty="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2F23FDEF-400D-5B1D-834E-AF253D9EFADC}"/>
              </a:ext>
            </a:extLst>
          </p:cNvPr>
          <p:cNvGrpSpPr/>
          <p:nvPr/>
        </p:nvGrpSpPr>
        <p:grpSpPr>
          <a:xfrm>
            <a:off x="1788801" y="1916832"/>
            <a:ext cx="8064897" cy="4804640"/>
            <a:chOff x="2291375" y="1916832"/>
            <a:chExt cx="7390049" cy="4716504"/>
          </a:xfrm>
        </p:grpSpPr>
        <p:pic>
          <p:nvPicPr>
            <p:cNvPr id="7" name="Picture 6">
              <a:extLst>
                <a:ext uri="{FF2B5EF4-FFF2-40B4-BE49-F238E27FC236}">
                  <a16:creationId xmlns:a16="http://schemas.microsoft.com/office/drawing/2014/main" id="{1FB21AED-3C88-131B-56BB-42052040697A}"/>
                </a:ext>
              </a:extLst>
            </p:cNvPr>
            <p:cNvPicPr>
              <a:picLocks noChangeAspect="1"/>
            </p:cNvPicPr>
            <p:nvPr/>
          </p:nvPicPr>
          <p:blipFill>
            <a:blip r:embed="rId2"/>
            <a:srcRect l="16917" r="5692" b="12191"/>
            <a:stretch>
              <a:fillRect/>
            </a:stretch>
          </p:blipFill>
          <p:spPr>
            <a:xfrm>
              <a:off x="2291375" y="1916832"/>
              <a:ext cx="7390049" cy="4716504"/>
            </a:xfrm>
            <a:prstGeom prst="rect">
              <a:avLst/>
            </a:prstGeom>
          </p:spPr>
        </p:pic>
        <p:pic>
          <p:nvPicPr>
            <p:cNvPr id="8" name="Picture 7">
              <a:extLst>
                <a:ext uri="{FF2B5EF4-FFF2-40B4-BE49-F238E27FC236}">
                  <a16:creationId xmlns:a16="http://schemas.microsoft.com/office/drawing/2014/main" id="{60600508-5206-A486-F017-78ED7FBEF1C1}"/>
                </a:ext>
              </a:extLst>
            </p:cNvPr>
            <p:cNvPicPr>
              <a:picLocks noChangeAspect="1"/>
            </p:cNvPicPr>
            <p:nvPr/>
          </p:nvPicPr>
          <p:blipFill>
            <a:blip r:embed="rId2"/>
            <a:srcRect l="77770" t="61511" r="5692" b="31786"/>
            <a:stretch>
              <a:fillRect/>
            </a:stretch>
          </p:blipFill>
          <p:spPr>
            <a:xfrm>
              <a:off x="8102252" y="6237312"/>
              <a:ext cx="1579172" cy="396024"/>
            </a:xfrm>
            <a:prstGeom prst="rect">
              <a:avLst/>
            </a:prstGeom>
          </p:spPr>
        </p:pic>
        <p:pic>
          <p:nvPicPr>
            <p:cNvPr id="9" name="Picture 8">
              <a:extLst>
                <a:ext uri="{FF2B5EF4-FFF2-40B4-BE49-F238E27FC236}">
                  <a16:creationId xmlns:a16="http://schemas.microsoft.com/office/drawing/2014/main" id="{8BC4A585-85EA-37A9-ACFB-CE743509A533}"/>
                </a:ext>
              </a:extLst>
            </p:cNvPr>
            <p:cNvPicPr>
              <a:picLocks noChangeAspect="1"/>
            </p:cNvPicPr>
            <p:nvPr/>
          </p:nvPicPr>
          <p:blipFill>
            <a:blip r:embed="rId2"/>
            <a:srcRect l="77770" t="61511" r="5692" b="31786"/>
            <a:stretch>
              <a:fillRect/>
            </a:stretch>
          </p:blipFill>
          <p:spPr>
            <a:xfrm>
              <a:off x="2291375" y="1982577"/>
              <a:ext cx="1066733" cy="222287"/>
            </a:xfrm>
            <a:prstGeom prst="rect">
              <a:avLst/>
            </a:prstGeom>
          </p:spPr>
        </p:pic>
      </p:grpSp>
    </p:spTree>
    <p:extLst>
      <p:ext uri="{BB962C8B-B14F-4D97-AF65-F5344CB8AC3E}">
        <p14:creationId xmlns:p14="http://schemas.microsoft.com/office/powerpoint/2010/main" val="183920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54EA40-38CC-7DD4-93A7-D4CFBA978FA4}"/>
              </a:ext>
            </a:extLst>
          </p:cNvPr>
          <p:cNvSpPr txBox="1"/>
          <p:nvPr/>
        </p:nvSpPr>
        <p:spPr>
          <a:xfrm>
            <a:off x="1341884" y="1340768"/>
            <a:ext cx="9073008" cy="2308324"/>
          </a:xfrm>
          <a:prstGeom prst="rect">
            <a:avLst/>
          </a:prstGeom>
          <a:noFill/>
        </p:spPr>
        <p:txBody>
          <a:bodyPr wrap="square">
            <a:spAutoFit/>
          </a:bodyPr>
          <a:lstStyle/>
          <a:p>
            <a:pPr marL="285750"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Defined</a:t>
            </a:r>
            <a:r>
              <a:rPr lang="fr-FR" dirty="0">
                <a:latin typeface="Times New Roman" panose="02020603050405020304" pitchFamily="18" charset="0"/>
                <a:cs typeface="Times New Roman" panose="02020603050405020304" pitchFamily="18" charset="0"/>
              </a:rPr>
              <a:t> in Layer 2 (Data Link Layer) – IEEE 802.1Q VLAN tag.</a:t>
            </a:r>
          </a:p>
          <a:p>
            <a:pPr marL="285750"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Uses 3 bits </a:t>
            </a:r>
            <a:r>
              <a:rPr lang="fr-FR" dirty="0" err="1">
                <a:latin typeface="Times New Roman" panose="02020603050405020304" pitchFamily="18" charset="0"/>
                <a:cs typeface="Times New Roman" panose="02020603050405020304" pitchFamily="18" charset="0"/>
              </a:rPr>
              <a:t>called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Priority</a:t>
            </a:r>
            <a:r>
              <a:rPr lang="fr-FR" dirty="0">
                <a:latin typeface="Times New Roman" panose="02020603050405020304" pitchFamily="18" charset="0"/>
                <a:cs typeface="Times New Roman" panose="02020603050405020304" pitchFamily="18" charset="0"/>
              </a:rPr>
              <a:t> Code Point (PCP) in the VLAN header → </a:t>
            </a:r>
            <a:r>
              <a:rPr lang="fr-FR" dirty="0" err="1">
                <a:latin typeface="Times New Roman" panose="02020603050405020304" pitchFamily="18" charset="0"/>
                <a:cs typeface="Times New Roman" panose="02020603050405020304" pitchFamily="18" charset="0"/>
              </a:rPr>
              <a:t>allows</a:t>
            </a:r>
            <a:r>
              <a:rPr lang="fr-FR" dirty="0">
                <a:latin typeface="Times New Roman" panose="02020603050405020304" pitchFamily="18" charset="0"/>
                <a:cs typeface="Times New Roman" panose="02020603050405020304" pitchFamily="18" charset="0"/>
              </a:rPr>
              <a:t> 8 </a:t>
            </a:r>
            <a:r>
              <a:rPr lang="fr-FR" dirty="0" err="1">
                <a:latin typeface="Times New Roman" panose="02020603050405020304" pitchFamily="18" charset="0"/>
                <a:cs typeface="Times New Roman" panose="02020603050405020304" pitchFamily="18" charset="0"/>
              </a:rPr>
              <a:t>priority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levels</a:t>
            </a:r>
            <a:r>
              <a:rPr lang="fr-FR" dirty="0">
                <a:latin typeface="Times New Roman" panose="02020603050405020304" pitchFamily="18" charset="0"/>
                <a:cs typeface="Times New Roman" panose="02020603050405020304" pitchFamily="18" charset="0"/>
              </a:rPr>
              <a:t> (0–7).</a:t>
            </a:r>
          </a:p>
          <a:p>
            <a:pPr marL="285750"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Classifies </a:t>
            </a:r>
            <a:r>
              <a:rPr lang="fr-FR" dirty="0" err="1">
                <a:latin typeface="Times New Roman" panose="02020603050405020304" pitchFamily="18" charset="0"/>
                <a:cs typeface="Times New Roman" panose="02020603050405020304" pitchFamily="18" charset="0"/>
              </a:rPr>
              <a:t>traffic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before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reaches</a:t>
            </a:r>
            <a:r>
              <a:rPr lang="fr-FR" dirty="0">
                <a:latin typeface="Times New Roman" panose="02020603050405020304" pitchFamily="18" charset="0"/>
                <a:cs typeface="Times New Roman" panose="02020603050405020304" pitchFamily="18" charset="0"/>
              </a:rPr>
              <a:t> Layer 3 (IP).</a:t>
            </a:r>
          </a:p>
          <a:p>
            <a:r>
              <a:rPr lang="fr-FR" dirty="0" err="1">
                <a:latin typeface="Times New Roman" panose="02020603050405020304" pitchFamily="18" charset="0"/>
                <a:cs typeface="Times New Roman" panose="02020603050405020304" pitchFamily="18" charset="0"/>
              </a:rPr>
              <a:t>Typical</a:t>
            </a:r>
            <a:r>
              <a:rPr lang="fr-FR" dirty="0">
                <a:latin typeface="Times New Roman" panose="02020603050405020304" pitchFamily="18" charset="0"/>
                <a:cs typeface="Times New Roman" panose="02020603050405020304" pitchFamily="18" charset="0"/>
              </a:rPr>
              <a:t> values:</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6-7 </a:t>
            </a:r>
            <a:r>
              <a:rPr lang="fr-FR" dirty="0" err="1">
                <a:latin typeface="Times New Roman" panose="02020603050405020304" pitchFamily="18" charset="0"/>
                <a:cs typeface="Times New Roman" panose="02020603050405020304" pitchFamily="18" charset="0"/>
              </a:rPr>
              <a:t>reserved</a:t>
            </a:r>
            <a:r>
              <a:rPr lang="fr-FR" dirty="0">
                <a:latin typeface="Times New Roman" panose="02020603050405020304" pitchFamily="18" charset="0"/>
                <a:cs typeface="Times New Roman" panose="02020603050405020304" pitchFamily="18" charset="0"/>
              </a:rPr>
              <a:t> for Network control</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5 </a:t>
            </a:r>
            <a:r>
              <a:rPr lang="fr-FR" dirty="0" err="1">
                <a:latin typeface="Times New Roman" panose="02020603050405020304" pitchFamily="18" charset="0"/>
                <a:cs typeface="Times New Roman" panose="02020603050405020304" pitchFamily="18" charset="0"/>
              </a:rPr>
              <a:t>reserved</a:t>
            </a:r>
            <a:r>
              <a:rPr lang="fr-FR" dirty="0">
                <a:latin typeface="Times New Roman" panose="02020603050405020304" pitchFamily="18" charset="0"/>
                <a:cs typeface="Times New Roman" panose="02020603050405020304" pitchFamily="18" charset="0"/>
              </a:rPr>
              <a:t> for Voice over IP (high </a:t>
            </a:r>
            <a:r>
              <a:rPr lang="fr-FR" dirty="0" err="1">
                <a:latin typeface="Times New Roman" panose="02020603050405020304" pitchFamily="18" charset="0"/>
                <a:cs typeface="Times New Roman" panose="02020603050405020304" pitchFamily="18" charset="0"/>
              </a:rPr>
              <a:t>priority</a:t>
            </a:r>
            <a:r>
              <a:rPr lang="fr-FR"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0 </a:t>
            </a:r>
            <a:r>
              <a:rPr lang="fr-FR" dirty="0" err="1">
                <a:latin typeface="Times New Roman" panose="02020603050405020304" pitchFamily="18" charset="0"/>
                <a:cs typeface="Times New Roman" panose="02020603050405020304" pitchFamily="18" charset="0"/>
              </a:rPr>
              <a:t>reserved</a:t>
            </a:r>
            <a:r>
              <a:rPr lang="fr-FR" dirty="0">
                <a:latin typeface="Times New Roman" panose="02020603050405020304" pitchFamily="18" charset="0"/>
                <a:cs typeface="Times New Roman" panose="02020603050405020304" pitchFamily="18" charset="0"/>
              </a:rPr>
              <a:t> for Best effort</a:t>
            </a:r>
          </a:p>
        </p:txBody>
      </p:sp>
      <p:sp>
        <p:nvSpPr>
          <p:cNvPr id="5" name="TextBox 4">
            <a:extLst>
              <a:ext uri="{FF2B5EF4-FFF2-40B4-BE49-F238E27FC236}">
                <a16:creationId xmlns:a16="http://schemas.microsoft.com/office/drawing/2014/main" id="{144002A7-4D0A-EACA-63D7-261853C5EBB6}"/>
              </a:ext>
            </a:extLst>
          </p:cNvPr>
          <p:cNvSpPr txBox="1"/>
          <p:nvPr/>
        </p:nvSpPr>
        <p:spPr>
          <a:xfrm>
            <a:off x="3045087" y="548680"/>
            <a:ext cx="6098650" cy="646331"/>
          </a:xfrm>
          <a:prstGeom prst="rect">
            <a:avLst/>
          </a:prstGeom>
          <a:noFill/>
        </p:spPr>
        <p:txBody>
          <a:bodyPr wrap="square">
            <a:spAutoFit/>
          </a:bodyPr>
          <a:lstStyle/>
          <a:p>
            <a:pPr algn="ctr">
              <a:buNone/>
            </a:pPr>
            <a:r>
              <a:rPr lang="fr-FR" sz="3600" b="1" i="1" dirty="0">
                <a:latin typeface="Times New Roman" panose="02020603050405020304" pitchFamily="18" charset="0"/>
                <a:cs typeface="Times New Roman" panose="02020603050405020304" pitchFamily="18" charset="0"/>
              </a:rPr>
              <a:t>Class of Service (</a:t>
            </a:r>
            <a:r>
              <a:rPr lang="fr-FR" sz="3600" b="1" i="1" dirty="0" err="1">
                <a:latin typeface="Times New Roman" panose="02020603050405020304" pitchFamily="18" charset="0"/>
                <a:cs typeface="Times New Roman" panose="02020603050405020304" pitchFamily="18" charset="0"/>
              </a:rPr>
              <a:t>CoS</a:t>
            </a:r>
            <a:r>
              <a:rPr lang="fr-FR" sz="3600" b="1" i="1" dirty="0">
                <a:latin typeface="Times New Roman" panose="02020603050405020304" pitchFamily="18" charset="0"/>
                <a:cs typeface="Times New Roman" panose="02020603050405020304" pitchFamily="18" charset="0"/>
              </a:rPr>
              <a:t>)</a:t>
            </a:r>
            <a:endParaRPr lang="fr-FR" sz="3600" b="1" dirty="0">
              <a:latin typeface="Times New Roman" panose="02020603050405020304" pitchFamily="18" charset="0"/>
              <a:cs typeface="Times New Roman" panose="02020603050405020304" pitchFamily="18" charset="0"/>
            </a:endParaRPr>
          </a:p>
        </p:txBody>
      </p:sp>
      <p:pic>
        <p:nvPicPr>
          <p:cNvPr id="1026" name="Picture 2" descr="Class of Service and DSCP configuration in voice prioritization – Plasma  Cloud">
            <a:extLst>
              <a:ext uri="{FF2B5EF4-FFF2-40B4-BE49-F238E27FC236}">
                <a16:creationId xmlns:a16="http://schemas.microsoft.com/office/drawing/2014/main" id="{8A89644A-83F2-ED68-AA28-14C127D3A6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6060" y="3789040"/>
            <a:ext cx="5146462" cy="2774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096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BA8288-A643-591A-A8F4-CA997CF1DED0}"/>
              </a:ext>
            </a:extLst>
          </p:cNvPr>
          <p:cNvSpPr txBox="1"/>
          <p:nvPr/>
        </p:nvSpPr>
        <p:spPr>
          <a:xfrm>
            <a:off x="1413892" y="1397675"/>
            <a:ext cx="9577064" cy="1754326"/>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Defined in the </a:t>
            </a:r>
            <a:r>
              <a:rPr lang="en-US" b="1" dirty="0">
                <a:latin typeface="Times New Roman" panose="02020603050405020304" pitchFamily="18" charset="0"/>
                <a:cs typeface="Times New Roman" panose="02020603050405020304" pitchFamily="18" charset="0"/>
              </a:rPr>
              <a:t>IPv4 header (8-bit field)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Originally used for prioritizing IP packets by delay, throughput, and reliability.</a:t>
            </a:r>
          </a:p>
          <a:p>
            <a:r>
              <a:rPr lang="en-US" dirty="0">
                <a:latin typeface="Times New Roman" panose="02020603050405020304" pitchFamily="18" charset="0"/>
                <a:cs typeface="Times New Roman" panose="02020603050405020304" pitchFamily="18" charset="0"/>
              </a:rPr>
              <a:t>Structure:</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3 bits precedence</a:t>
            </a:r>
            <a:r>
              <a:rPr lang="en-US" dirty="0">
                <a:latin typeface="Times New Roman" panose="02020603050405020304" pitchFamily="18" charset="0"/>
                <a:cs typeface="Times New Roman" panose="02020603050405020304" pitchFamily="18" charset="0"/>
              </a:rPr>
              <a:t> → IPP</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3 bits </a:t>
            </a:r>
            <a:r>
              <a:rPr lang="en-US" b="1" dirty="0" err="1">
                <a:latin typeface="Times New Roman" panose="02020603050405020304" pitchFamily="18" charset="0"/>
                <a:cs typeface="Times New Roman" panose="02020603050405020304" pitchFamily="18" charset="0"/>
              </a:rPr>
              <a:t>ToS</a:t>
            </a:r>
            <a:r>
              <a:rPr lang="en-US" b="1" dirty="0">
                <a:latin typeface="Times New Roman" panose="02020603050405020304" pitchFamily="18" charset="0"/>
                <a:cs typeface="Times New Roman" panose="02020603050405020304" pitchFamily="18" charset="0"/>
              </a:rPr>
              <a:t> flags</a:t>
            </a:r>
            <a:r>
              <a:rPr lang="en-US" dirty="0">
                <a:latin typeface="Times New Roman" panose="02020603050405020304" pitchFamily="18" charset="0"/>
                <a:cs typeface="Times New Roman" panose="02020603050405020304" pitchFamily="18" charset="0"/>
              </a:rPr>
              <a:t> → DSCP</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2 bit unused </a:t>
            </a:r>
            <a:r>
              <a:rPr lang="en-US" dirty="0">
                <a:latin typeface="Times New Roman" panose="02020603050405020304" pitchFamily="18" charset="0"/>
                <a:cs typeface="Times New Roman" panose="02020603050405020304" pitchFamily="18" charset="0"/>
              </a:rPr>
              <a:t>→ ECN</a:t>
            </a:r>
          </a:p>
        </p:txBody>
      </p:sp>
      <p:pic>
        <p:nvPicPr>
          <p:cNvPr id="2050" name="Picture 2" descr="QoS Marking Mechanism Explained - Study CCNP">
            <a:extLst>
              <a:ext uri="{FF2B5EF4-FFF2-40B4-BE49-F238E27FC236}">
                <a16:creationId xmlns:a16="http://schemas.microsoft.com/office/drawing/2014/main" id="{054DE73D-FB64-DFBB-1947-7A511B67D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3851"/>
          <a:stretch>
            <a:fillRect/>
          </a:stretch>
        </p:blipFill>
        <p:spPr bwMode="auto">
          <a:xfrm>
            <a:off x="1437078" y="3284984"/>
            <a:ext cx="8452541" cy="30963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DFA3EE8-93DF-40BD-FD34-1298580529FD}"/>
              </a:ext>
            </a:extLst>
          </p:cNvPr>
          <p:cNvSpPr txBox="1"/>
          <p:nvPr/>
        </p:nvSpPr>
        <p:spPr>
          <a:xfrm>
            <a:off x="3045087" y="548680"/>
            <a:ext cx="6098650"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Type of Service (</a:t>
            </a:r>
            <a:r>
              <a:rPr lang="en-US" sz="3600" b="1" dirty="0" err="1">
                <a:latin typeface="Times New Roman" panose="02020603050405020304" pitchFamily="18" charset="0"/>
                <a:cs typeface="Times New Roman" panose="02020603050405020304" pitchFamily="18" charset="0"/>
              </a:rPr>
              <a:t>ToS</a:t>
            </a:r>
            <a:r>
              <a:rPr lang="en-US" sz="3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71210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038EF2-A61E-A6A8-F1A2-0641861833AC}"/>
              </a:ext>
            </a:extLst>
          </p:cNvPr>
          <p:cNvSpPr txBox="1"/>
          <p:nvPr/>
        </p:nvSpPr>
        <p:spPr>
          <a:xfrm>
            <a:off x="1269876" y="550421"/>
            <a:ext cx="8568952" cy="646331"/>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Differentiated Services Code Point (DSCP)</a:t>
            </a:r>
          </a:p>
        </p:txBody>
      </p:sp>
      <p:graphicFrame>
        <p:nvGraphicFramePr>
          <p:cNvPr id="5" name="Table 4">
            <a:extLst>
              <a:ext uri="{FF2B5EF4-FFF2-40B4-BE49-F238E27FC236}">
                <a16:creationId xmlns:a16="http://schemas.microsoft.com/office/drawing/2014/main" id="{0BC3F82E-8D43-1610-CA44-87A84FA1B906}"/>
              </a:ext>
            </a:extLst>
          </p:cNvPr>
          <p:cNvGraphicFramePr>
            <a:graphicFrameLocks noGrp="1"/>
          </p:cNvGraphicFramePr>
          <p:nvPr>
            <p:extLst>
              <p:ext uri="{D42A27DB-BD31-4B8C-83A1-F6EECF244321}">
                <p14:modId xmlns:p14="http://schemas.microsoft.com/office/powerpoint/2010/main" val="1884979059"/>
              </p:ext>
            </p:extLst>
          </p:nvPr>
        </p:nvGraphicFramePr>
        <p:xfrm>
          <a:off x="1557908" y="1484784"/>
          <a:ext cx="8388933" cy="4608512"/>
        </p:xfrm>
        <a:graphic>
          <a:graphicData uri="http://schemas.openxmlformats.org/drawingml/2006/table">
            <a:tbl>
              <a:tblPr/>
              <a:tblGrid>
                <a:gridCol w="2796311">
                  <a:extLst>
                    <a:ext uri="{9D8B030D-6E8A-4147-A177-3AD203B41FA5}">
                      <a16:colId xmlns:a16="http://schemas.microsoft.com/office/drawing/2014/main" val="3951498079"/>
                    </a:ext>
                  </a:extLst>
                </a:gridCol>
                <a:gridCol w="2796311">
                  <a:extLst>
                    <a:ext uri="{9D8B030D-6E8A-4147-A177-3AD203B41FA5}">
                      <a16:colId xmlns:a16="http://schemas.microsoft.com/office/drawing/2014/main" val="2177301517"/>
                    </a:ext>
                  </a:extLst>
                </a:gridCol>
                <a:gridCol w="2796311">
                  <a:extLst>
                    <a:ext uri="{9D8B030D-6E8A-4147-A177-3AD203B41FA5}">
                      <a16:colId xmlns:a16="http://schemas.microsoft.com/office/drawing/2014/main" val="1006729941"/>
                    </a:ext>
                  </a:extLst>
                </a:gridCol>
              </a:tblGrid>
              <a:tr h="744364">
                <a:tc>
                  <a:txBody>
                    <a:bodyPr/>
                    <a:lstStyle/>
                    <a:p>
                      <a:pPr>
                        <a:buNone/>
                      </a:pPr>
                      <a:r>
                        <a:rPr lang="fr-FR" sz="1800" b="1">
                          <a:latin typeface="Times New Roman" panose="02020603050405020304" pitchFamily="18" charset="0"/>
                          <a:cs typeface="Times New Roman" panose="02020603050405020304" pitchFamily="18" charset="0"/>
                        </a:rPr>
                        <a:t>PHB (Per-Hop Behavior)</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ctr">
                        <a:buNone/>
                      </a:pPr>
                      <a:r>
                        <a:rPr lang="fr-FR" sz="1800" b="1" dirty="0" err="1">
                          <a:latin typeface="Times New Roman" panose="02020603050405020304" pitchFamily="18" charset="0"/>
                          <a:cs typeface="Times New Roman" panose="02020603050405020304" pitchFamily="18" charset="0"/>
                        </a:rPr>
                        <a:t>Decimal</a:t>
                      </a:r>
                      <a:r>
                        <a:rPr lang="fr-FR" sz="1800" b="1" dirty="0">
                          <a:latin typeface="Times New Roman" panose="02020603050405020304" pitchFamily="18" charset="0"/>
                          <a:cs typeface="Times New Roman" panose="02020603050405020304" pitchFamily="18" charset="0"/>
                        </a:rPr>
                        <a:t> Value</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ctr">
                        <a:buNone/>
                      </a:pPr>
                      <a:r>
                        <a:rPr lang="fr-FR" sz="1800" b="1" dirty="0" err="1">
                          <a:latin typeface="Times New Roman" panose="02020603050405020304" pitchFamily="18" charset="0"/>
                          <a:cs typeface="Times New Roman" panose="02020603050405020304" pitchFamily="18" charset="0"/>
                        </a:rPr>
                        <a:t>Binary</a:t>
                      </a:r>
                      <a:r>
                        <a:rPr lang="fr-FR" sz="1800" b="1" dirty="0">
                          <a:latin typeface="Times New Roman" panose="02020603050405020304" pitchFamily="18" charset="0"/>
                          <a:cs typeface="Times New Roman" panose="02020603050405020304" pitchFamily="18" charset="0"/>
                        </a:rPr>
                        <a:t> (6 bits)</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2377944983"/>
                  </a:ext>
                </a:extLst>
              </a:tr>
              <a:tr h="389973">
                <a:tc>
                  <a:txBody>
                    <a:bodyPr/>
                    <a:lstStyle/>
                    <a:p>
                      <a:pPr>
                        <a:buNone/>
                      </a:pPr>
                      <a:r>
                        <a:rPr lang="fr-FR" sz="1800" b="0">
                          <a:latin typeface="Times New Roman" panose="02020603050405020304" pitchFamily="18" charset="0"/>
                          <a:cs typeface="Times New Roman" panose="02020603050405020304" pitchFamily="18" charset="0"/>
                        </a:rPr>
                        <a:t>Default (Best Effort)</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000000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424219175"/>
                  </a:ext>
                </a:extLst>
              </a:tr>
              <a:tr h="389973">
                <a:tc>
                  <a:txBody>
                    <a:bodyPr/>
                    <a:lstStyle/>
                    <a:p>
                      <a:pPr>
                        <a:buNone/>
                      </a:pPr>
                      <a:r>
                        <a:rPr lang="fr-FR" sz="1800" b="0">
                          <a:latin typeface="Times New Roman" panose="02020603050405020304" pitchFamily="18" charset="0"/>
                          <a:cs typeface="Times New Roman" panose="02020603050405020304" pitchFamily="18" charset="0"/>
                        </a:rPr>
                        <a:t>CS1 (Class Selector 1)</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8</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001000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730880723"/>
                  </a:ext>
                </a:extLst>
              </a:tr>
              <a:tr h="389973">
                <a:tc>
                  <a:txBody>
                    <a:bodyPr/>
                    <a:lstStyle/>
                    <a:p>
                      <a:pPr>
                        <a:buNone/>
                      </a:pPr>
                      <a:r>
                        <a:rPr lang="fr-FR" sz="1800" b="0">
                          <a:latin typeface="Times New Roman" panose="02020603050405020304" pitchFamily="18" charset="0"/>
                          <a:cs typeface="Times New Roman" panose="02020603050405020304" pitchFamily="18" charset="0"/>
                        </a:rPr>
                        <a:t>CS2 (Class Selector 2)</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16</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010000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4090747754"/>
                  </a:ext>
                </a:extLst>
              </a:tr>
              <a:tr h="389973">
                <a:tc>
                  <a:txBody>
                    <a:bodyPr/>
                    <a:lstStyle/>
                    <a:p>
                      <a:pPr>
                        <a:buNone/>
                      </a:pPr>
                      <a:r>
                        <a:rPr lang="fr-FR" sz="1800" b="0">
                          <a:latin typeface="Times New Roman" panose="02020603050405020304" pitchFamily="18" charset="0"/>
                          <a:cs typeface="Times New Roman" panose="02020603050405020304" pitchFamily="18" charset="0"/>
                        </a:rPr>
                        <a:t>CS3 (Class Selector 3)</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24</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011000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06091252"/>
                  </a:ext>
                </a:extLst>
              </a:tr>
              <a:tr h="389973">
                <a:tc>
                  <a:txBody>
                    <a:bodyPr/>
                    <a:lstStyle/>
                    <a:p>
                      <a:pPr>
                        <a:buNone/>
                      </a:pPr>
                      <a:r>
                        <a:rPr lang="fr-FR" sz="1800" b="0">
                          <a:latin typeface="Times New Roman" panose="02020603050405020304" pitchFamily="18" charset="0"/>
                          <a:cs typeface="Times New Roman" panose="02020603050405020304" pitchFamily="18" charset="0"/>
                        </a:rPr>
                        <a:t>CS4 (Class Selector 4)</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32</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100000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031097249"/>
                  </a:ext>
                </a:extLst>
              </a:tr>
              <a:tr h="389973">
                <a:tc>
                  <a:txBody>
                    <a:bodyPr/>
                    <a:lstStyle/>
                    <a:p>
                      <a:pPr>
                        <a:buNone/>
                      </a:pPr>
                      <a:r>
                        <a:rPr lang="fr-FR" sz="1800" b="0">
                          <a:latin typeface="Times New Roman" panose="02020603050405020304" pitchFamily="18" charset="0"/>
                          <a:cs typeface="Times New Roman" panose="02020603050405020304" pitchFamily="18" charset="0"/>
                        </a:rPr>
                        <a:t>CS5 (Class Selector 5)</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40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101000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583801433"/>
                  </a:ext>
                </a:extLst>
              </a:tr>
              <a:tr h="389973">
                <a:tc>
                  <a:txBody>
                    <a:bodyPr/>
                    <a:lstStyle/>
                    <a:p>
                      <a:pPr>
                        <a:buNone/>
                      </a:pPr>
                      <a:r>
                        <a:rPr lang="fr-FR" sz="1800" b="0">
                          <a:latin typeface="Times New Roman" panose="02020603050405020304" pitchFamily="18" charset="0"/>
                          <a:cs typeface="Times New Roman" panose="02020603050405020304" pitchFamily="18" charset="0"/>
                        </a:rPr>
                        <a:t>CS6 (Class Selector 6)</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48</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110000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4249042579"/>
                  </a:ext>
                </a:extLst>
              </a:tr>
              <a:tr h="389973">
                <a:tc>
                  <a:txBody>
                    <a:bodyPr/>
                    <a:lstStyle/>
                    <a:p>
                      <a:pPr>
                        <a:buNone/>
                      </a:pPr>
                      <a:r>
                        <a:rPr lang="fr-FR" sz="1800" b="0">
                          <a:latin typeface="Times New Roman" panose="02020603050405020304" pitchFamily="18" charset="0"/>
                          <a:cs typeface="Times New Roman" panose="02020603050405020304" pitchFamily="18" charset="0"/>
                        </a:rPr>
                        <a:t>CS7 (Class Selector 7)</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56</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111000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730618323"/>
                  </a:ext>
                </a:extLst>
              </a:tr>
              <a:tr h="744364">
                <a:tc>
                  <a:txBody>
                    <a:bodyPr/>
                    <a:lstStyle/>
                    <a:p>
                      <a:pPr>
                        <a:buNone/>
                      </a:pPr>
                      <a:r>
                        <a:rPr lang="fr-FR" sz="1800" b="0" dirty="0">
                          <a:latin typeface="Times New Roman" panose="02020603050405020304" pitchFamily="18" charset="0"/>
                          <a:cs typeface="Times New Roman" panose="02020603050405020304" pitchFamily="18" charset="0"/>
                        </a:rPr>
                        <a:t>EF (</a:t>
                      </a:r>
                      <a:r>
                        <a:rPr lang="fr-FR" sz="1800" b="0" dirty="0" err="1">
                          <a:latin typeface="Times New Roman" panose="02020603050405020304" pitchFamily="18" charset="0"/>
                          <a:cs typeface="Times New Roman" panose="02020603050405020304" pitchFamily="18" charset="0"/>
                        </a:rPr>
                        <a:t>Expedited</a:t>
                      </a:r>
                      <a:r>
                        <a:rPr lang="fr-FR" sz="1800" b="0" dirty="0">
                          <a:latin typeface="Times New Roman" panose="02020603050405020304" pitchFamily="18" charset="0"/>
                          <a:cs typeface="Times New Roman" panose="02020603050405020304" pitchFamily="18" charset="0"/>
                        </a:rPr>
                        <a:t> </a:t>
                      </a:r>
                      <a:r>
                        <a:rPr lang="fr-FR" sz="1800" b="0" dirty="0" err="1">
                          <a:latin typeface="Times New Roman" panose="02020603050405020304" pitchFamily="18" charset="0"/>
                          <a:cs typeface="Times New Roman" panose="02020603050405020304" pitchFamily="18" charset="0"/>
                        </a:rPr>
                        <a:t>Forwarding</a:t>
                      </a:r>
                      <a:r>
                        <a:rPr lang="fr-FR" sz="1800" b="0" dirty="0">
                          <a:latin typeface="Times New Roman" panose="02020603050405020304" pitchFamily="18" charset="0"/>
                          <a:cs typeface="Times New Roman" panose="02020603050405020304" pitchFamily="18" charset="0"/>
                        </a:rPr>
                        <a:t>)</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46</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101110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398849"/>
                  </a:ext>
                </a:extLst>
              </a:tr>
            </a:tbl>
          </a:graphicData>
        </a:graphic>
      </p:graphicFrame>
    </p:spTree>
    <p:extLst>
      <p:ext uri="{BB962C8B-B14F-4D97-AF65-F5344CB8AC3E}">
        <p14:creationId xmlns:p14="http://schemas.microsoft.com/office/powerpoint/2010/main" val="1311233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801D5-B37F-3759-9A5A-3D38BFD314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3BF8CFA-1151-1BA2-ADBA-3E36B0BCF582}"/>
              </a:ext>
            </a:extLst>
          </p:cNvPr>
          <p:cNvSpPr txBox="1"/>
          <p:nvPr/>
        </p:nvSpPr>
        <p:spPr>
          <a:xfrm>
            <a:off x="1269876" y="262389"/>
            <a:ext cx="8568952"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DSCP Assured Forwarding Values</a:t>
            </a:r>
          </a:p>
        </p:txBody>
      </p:sp>
      <p:graphicFrame>
        <p:nvGraphicFramePr>
          <p:cNvPr id="2" name="Table 1">
            <a:extLst>
              <a:ext uri="{FF2B5EF4-FFF2-40B4-BE49-F238E27FC236}">
                <a16:creationId xmlns:a16="http://schemas.microsoft.com/office/drawing/2014/main" id="{51D36DEE-983A-E747-88CC-7D57C57A3542}"/>
              </a:ext>
            </a:extLst>
          </p:cNvPr>
          <p:cNvGraphicFramePr>
            <a:graphicFrameLocks noGrp="1"/>
          </p:cNvGraphicFramePr>
          <p:nvPr>
            <p:extLst>
              <p:ext uri="{D42A27DB-BD31-4B8C-83A1-F6EECF244321}">
                <p14:modId xmlns:p14="http://schemas.microsoft.com/office/powerpoint/2010/main" val="2441863265"/>
              </p:ext>
            </p:extLst>
          </p:nvPr>
        </p:nvGraphicFramePr>
        <p:xfrm>
          <a:off x="1125860" y="1052736"/>
          <a:ext cx="8928992" cy="5057066"/>
        </p:xfrm>
        <a:graphic>
          <a:graphicData uri="http://schemas.openxmlformats.org/drawingml/2006/table">
            <a:tbl>
              <a:tblPr/>
              <a:tblGrid>
                <a:gridCol w="4301558">
                  <a:extLst>
                    <a:ext uri="{9D8B030D-6E8A-4147-A177-3AD203B41FA5}">
                      <a16:colId xmlns:a16="http://schemas.microsoft.com/office/drawing/2014/main" val="1003495545"/>
                    </a:ext>
                  </a:extLst>
                </a:gridCol>
                <a:gridCol w="2672180">
                  <a:extLst>
                    <a:ext uri="{9D8B030D-6E8A-4147-A177-3AD203B41FA5}">
                      <a16:colId xmlns:a16="http://schemas.microsoft.com/office/drawing/2014/main" val="843823917"/>
                    </a:ext>
                  </a:extLst>
                </a:gridCol>
                <a:gridCol w="670948">
                  <a:extLst>
                    <a:ext uri="{9D8B030D-6E8A-4147-A177-3AD203B41FA5}">
                      <a16:colId xmlns:a16="http://schemas.microsoft.com/office/drawing/2014/main" val="3767917178"/>
                    </a:ext>
                  </a:extLst>
                </a:gridCol>
                <a:gridCol w="1284306">
                  <a:extLst>
                    <a:ext uri="{9D8B030D-6E8A-4147-A177-3AD203B41FA5}">
                      <a16:colId xmlns:a16="http://schemas.microsoft.com/office/drawing/2014/main" val="2901957337"/>
                    </a:ext>
                  </a:extLst>
                </a:gridCol>
              </a:tblGrid>
              <a:tr h="581097">
                <a:tc>
                  <a:txBody>
                    <a:bodyPr/>
                    <a:lstStyle/>
                    <a:p>
                      <a:pPr>
                        <a:buNone/>
                      </a:pPr>
                      <a:r>
                        <a:rPr lang="fr-FR" sz="1800" b="1" dirty="0">
                          <a:latin typeface="Times New Roman" panose="02020603050405020304" pitchFamily="18" charset="0"/>
                          <a:cs typeface="Times New Roman" panose="02020603050405020304" pitchFamily="18" charset="0"/>
                        </a:rPr>
                        <a:t>PHB (Per-Hop </a:t>
                      </a:r>
                      <a:r>
                        <a:rPr lang="fr-FR" sz="1800" b="1" dirty="0" err="1">
                          <a:latin typeface="Times New Roman" panose="02020603050405020304" pitchFamily="18" charset="0"/>
                          <a:cs typeface="Times New Roman" panose="02020603050405020304" pitchFamily="18" charset="0"/>
                        </a:rPr>
                        <a:t>Behavior</a:t>
                      </a:r>
                      <a:r>
                        <a:rPr lang="fr-FR" sz="1800" b="1" dirty="0">
                          <a:latin typeface="Times New Roman" panose="02020603050405020304" pitchFamily="18" charset="0"/>
                          <a:cs typeface="Times New Roman" panose="02020603050405020304" pitchFamily="18" charset="0"/>
                        </a:rPr>
                        <a:t>)</a:t>
                      </a:r>
                      <a:endParaRPr lang="fr-FR" sz="1800" dirty="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tx1">
                        <a:lumMod val="40000"/>
                        <a:lumOff val="60000"/>
                      </a:schemeClr>
                    </a:solidFill>
                  </a:tcPr>
                </a:tc>
                <a:tc>
                  <a:txBody>
                    <a:bodyPr/>
                    <a:lstStyle/>
                    <a:p>
                      <a:pPr>
                        <a:buNone/>
                      </a:pPr>
                      <a:r>
                        <a:rPr lang="fr-FR" sz="1800" b="1">
                          <a:latin typeface="Times New Roman" panose="02020603050405020304" pitchFamily="18" charset="0"/>
                          <a:cs typeface="Times New Roman" panose="02020603050405020304" pitchFamily="18" charset="0"/>
                        </a:rPr>
                        <a:t>Description</a:t>
                      </a:r>
                      <a:endParaRPr lang="fr-FR"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tx1">
                        <a:lumMod val="40000"/>
                        <a:lumOff val="60000"/>
                      </a:schemeClr>
                    </a:solidFill>
                  </a:tcPr>
                </a:tc>
                <a:tc>
                  <a:txBody>
                    <a:bodyPr/>
                    <a:lstStyle/>
                    <a:p>
                      <a:pPr algn="ctr">
                        <a:buNone/>
                      </a:pPr>
                      <a:r>
                        <a:rPr lang="fr-FR" sz="1800" b="1">
                          <a:latin typeface="Times New Roman" panose="02020603050405020304" pitchFamily="18" charset="0"/>
                          <a:cs typeface="Times New Roman" panose="02020603050405020304" pitchFamily="18" charset="0"/>
                        </a:rPr>
                        <a:t>Decimal Value</a:t>
                      </a:r>
                      <a:endParaRPr lang="fr-FR"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tx1">
                        <a:lumMod val="40000"/>
                        <a:lumOff val="60000"/>
                      </a:schemeClr>
                    </a:solidFill>
                  </a:tcPr>
                </a:tc>
                <a:tc>
                  <a:txBody>
                    <a:bodyPr/>
                    <a:lstStyle/>
                    <a:p>
                      <a:pPr algn="ctr">
                        <a:buNone/>
                      </a:pPr>
                      <a:r>
                        <a:rPr lang="fr-FR" sz="1800" b="1" dirty="0" err="1">
                          <a:latin typeface="Times New Roman" panose="02020603050405020304" pitchFamily="18" charset="0"/>
                          <a:cs typeface="Times New Roman" panose="02020603050405020304" pitchFamily="18" charset="0"/>
                        </a:rPr>
                        <a:t>Binary</a:t>
                      </a:r>
                      <a:r>
                        <a:rPr lang="fr-FR" sz="1800" b="1" dirty="0">
                          <a:latin typeface="Times New Roman" panose="02020603050405020304" pitchFamily="18" charset="0"/>
                          <a:cs typeface="Times New Roman" panose="02020603050405020304" pitchFamily="18" charset="0"/>
                        </a:rPr>
                        <a:t> (6 bits)</a:t>
                      </a:r>
                      <a:endParaRPr lang="fr-FR" sz="1800" dirty="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tx1">
                        <a:lumMod val="40000"/>
                        <a:lumOff val="60000"/>
                      </a:schemeClr>
                    </a:solidFill>
                  </a:tcPr>
                </a:tc>
                <a:extLst>
                  <a:ext uri="{0D108BD9-81ED-4DB2-BD59-A6C34878D82A}">
                    <a16:rowId xmlns:a16="http://schemas.microsoft.com/office/drawing/2014/main" val="456883461"/>
                  </a:ext>
                </a:extLst>
              </a:tr>
              <a:tr h="581097">
                <a:tc>
                  <a:txBody>
                    <a:bodyPr/>
                    <a:lstStyle/>
                    <a:p>
                      <a:pPr>
                        <a:buNone/>
                      </a:pPr>
                      <a:r>
                        <a:rPr lang="en-US" sz="1800" b="1" dirty="0">
                          <a:latin typeface="Times New Roman" panose="02020603050405020304" pitchFamily="18" charset="0"/>
                          <a:cs typeface="Times New Roman" panose="02020603050405020304" pitchFamily="18" charset="0"/>
                        </a:rPr>
                        <a:t>AF11 (Assured Forwarding 1 Low)</a:t>
                      </a:r>
                      <a:endParaRPr lang="en-US" sz="1800" dirty="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Low drop probability</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001010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64876010"/>
                  </a:ext>
                </a:extLst>
              </a:tr>
              <a:tr h="304437">
                <a:tc>
                  <a:txBody>
                    <a:bodyPr/>
                    <a:lstStyle/>
                    <a:p>
                      <a:pPr>
                        <a:buNone/>
                      </a:pPr>
                      <a:r>
                        <a:rPr lang="fr-FR" sz="1800" b="1">
                          <a:latin typeface="Times New Roman" panose="02020603050405020304" pitchFamily="18" charset="0"/>
                          <a:cs typeface="Times New Roman" panose="02020603050405020304" pitchFamily="18" charset="0"/>
                        </a:rPr>
                        <a:t>AF12 (Assured Forwarding 1 Medium)</a:t>
                      </a:r>
                      <a:endParaRPr lang="fr-FR"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dirty="0">
                          <a:latin typeface="Times New Roman" panose="02020603050405020304" pitchFamily="18" charset="0"/>
                          <a:cs typeface="Times New Roman" panose="02020603050405020304" pitchFamily="18" charset="0"/>
                        </a:rPr>
                        <a:t>Medium drop </a:t>
                      </a:r>
                      <a:r>
                        <a:rPr lang="fr-FR" sz="1800" dirty="0" err="1">
                          <a:latin typeface="Times New Roman" panose="02020603050405020304" pitchFamily="18" charset="0"/>
                          <a:cs typeface="Times New Roman" panose="02020603050405020304" pitchFamily="18" charset="0"/>
                        </a:rPr>
                        <a:t>precedence</a:t>
                      </a:r>
                      <a:endParaRPr lang="fr-FR" sz="1800" dirty="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12</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001100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480093556"/>
                  </a:ext>
                </a:extLst>
              </a:tr>
              <a:tr h="304437">
                <a:tc>
                  <a:txBody>
                    <a:bodyPr/>
                    <a:lstStyle/>
                    <a:p>
                      <a:pPr>
                        <a:buNone/>
                      </a:pPr>
                      <a:r>
                        <a:rPr lang="en-US" sz="1800" b="1">
                          <a:latin typeface="Times New Roman" panose="02020603050405020304" pitchFamily="18" charset="0"/>
                          <a:cs typeface="Times New Roman" panose="02020603050405020304" pitchFamily="18" charset="0"/>
                        </a:rPr>
                        <a:t>AF13 (Assured Forwarding 1 High)</a:t>
                      </a:r>
                      <a:endParaRPr lang="en-US"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dirty="0">
                          <a:latin typeface="Times New Roman" panose="02020603050405020304" pitchFamily="18" charset="0"/>
                          <a:cs typeface="Times New Roman" panose="02020603050405020304" pitchFamily="18" charset="0"/>
                        </a:rPr>
                        <a:t>High drop </a:t>
                      </a:r>
                      <a:r>
                        <a:rPr lang="fr-FR" sz="1800" dirty="0" err="1">
                          <a:latin typeface="Times New Roman" panose="02020603050405020304" pitchFamily="18" charset="0"/>
                          <a:cs typeface="Times New Roman" panose="02020603050405020304" pitchFamily="18" charset="0"/>
                        </a:rPr>
                        <a:t>precedence</a:t>
                      </a:r>
                      <a:endParaRPr lang="fr-FR" sz="1800" dirty="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14</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001110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073443478"/>
                  </a:ext>
                </a:extLst>
              </a:tr>
              <a:tr h="304437">
                <a:tc>
                  <a:txBody>
                    <a:bodyPr/>
                    <a:lstStyle/>
                    <a:p>
                      <a:pPr>
                        <a:buNone/>
                      </a:pPr>
                      <a:r>
                        <a:rPr lang="en-US" sz="1800" b="1">
                          <a:latin typeface="Times New Roman" panose="02020603050405020304" pitchFamily="18" charset="0"/>
                          <a:cs typeface="Times New Roman" panose="02020603050405020304" pitchFamily="18" charset="0"/>
                        </a:rPr>
                        <a:t>AF21 (Assured Forwarding 2 Low)</a:t>
                      </a:r>
                      <a:endParaRPr lang="en-US"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dirty="0" err="1">
                          <a:latin typeface="Times New Roman" panose="02020603050405020304" pitchFamily="18" charset="0"/>
                          <a:cs typeface="Times New Roman" panose="02020603050405020304" pitchFamily="18" charset="0"/>
                        </a:rPr>
                        <a:t>Higher</a:t>
                      </a:r>
                      <a:r>
                        <a:rPr lang="fr-FR" sz="1800" dirty="0">
                          <a:latin typeface="Times New Roman" panose="02020603050405020304" pitchFamily="18" charset="0"/>
                          <a:cs typeface="Times New Roman" panose="02020603050405020304" pitchFamily="18" charset="0"/>
                        </a:rPr>
                        <a:t> service class</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18</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010010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914770044"/>
                  </a:ext>
                </a:extLst>
              </a:tr>
              <a:tr h="304437">
                <a:tc>
                  <a:txBody>
                    <a:bodyPr/>
                    <a:lstStyle/>
                    <a:p>
                      <a:pPr>
                        <a:buNone/>
                      </a:pPr>
                      <a:r>
                        <a:rPr lang="fr-FR" sz="1800" b="1">
                          <a:latin typeface="Times New Roman" panose="02020603050405020304" pitchFamily="18" charset="0"/>
                          <a:cs typeface="Times New Roman" panose="02020603050405020304" pitchFamily="18" charset="0"/>
                        </a:rPr>
                        <a:t>AF22 (Assured Forwarding 2 Medium)</a:t>
                      </a:r>
                      <a:endParaRPr lang="fr-FR"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Medium drop precedence</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20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010100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951237238"/>
                  </a:ext>
                </a:extLst>
              </a:tr>
              <a:tr h="304437">
                <a:tc>
                  <a:txBody>
                    <a:bodyPr/>
                    <a:lstStyle/>
                    <a:p>
                      <a:pPr>
                        <a:buNone/>
                      </a:pPr>
                      <a:r>
                        <a:rPr lang="en-US" sz="1800" b="1">
                          <a:latin typeface="Times New Roman" panose="02020603050405020304" pitchFamily="18" charset="0"/>
                          <a:cs typeface="Times New Roman" panose="02020603050405020304" pitchFamily="18" charset="0"/>
                        </a:rPr>
                        <a:t>AF23 (Assured Forwarding 2 High)</a:t>
                      </a:r>
                      <a:endParaRPr lang="en-US"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High drop precedence</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22</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010110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712461425"/>
                  </a:ext>
                </a:extLst>
              </a:tr>
              <a:tr h="304437">
                <a:tc>
                  <a:txBody>
                    <a:bodyPr/>
                    <a:lstStyle/>
                    <a:p>
                      <a:pPr>
                        <a:buNone/>
                      </a:pPr>
                      <a:r>
                        <a:rPr lang="en-US" sz="1800" b="1">
                          <a:latin typeface="Times New Roman" panose="02020603050405020304" pitchFamily="18" charset="0"/>
                          <a:cs typeface="Times New Roman" panose="02020603050405020304" pitchFamily="18" charset="0"/>
                        </a:rPr>
                        <a:t>AF31 (Assured Forwarding 3 Low)</a:t>
                      </a:r>
                      <a:endParaRPr lang="en-US"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Higher reliability traffic</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26</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011010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889263034"/>
                  </a:ext>
                </a:extLst>
              </a:tr>
              <a:tr h="304437">
                <a:tc>
                  <a:txBody>
                    <a:bodyPr/>
                    <a:lstStyle/>
                    <a:p>
                      <a:pPr>
                        <a:buNone/>
                      </a:pPr>
                      <a:r>
                        <a:rPr lang="fr-FR" sz="1800" b="1">
                          <a:latin typeface="Times New Roman" panose="02020603050405020304" pitchFamily="18" charset="0"/>
                          <a:cs typeface="Times New Roman" panose="02020603050405020304" pitchFamily="18" charset="0"/>
                        </a:rPr>
                        <a:t>AF32 (Assured Forwarding 3 Medium)</a:t>
                      </a:r>
                      <a:endParaRPr lang="fr-FR"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Medium drop precedence</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28</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011100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892801020"/>
                  </a:ext>
                </a:extLst>
              </a:tr>
              <a:tr h="304437">
                <a:tc>
                  <a:txBody>
                    <a:bodyPr/>
                    <a:lstStyle/>
                    <a:p>
                      <a:pPr>
                        <a:buNone/>
                      </a:pPr>
                      <a:r>
                        <a:rPr lang="en-US" sz="1800" b="1">
                          <a:latin typeface="Times New Roman" panose="02020603050405020304" pitchFamily="18" charset="0"/>
                          <a:cs typeface="Times New Roman" panose="02020603050405020304" pitchFamily="18" charset="0"/>
                        </a:rPr>
                        <a:t>AF33 (Assured Forwarding 3 High)</a:t>
                      </a:r>
                      <a:endParaRPr lang="en-US"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High drop precedence</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30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011110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891570362"/>
                  </a:ext>
                </a:extLst>
              </a:tr>
              <a:tr h="581097">
                <a:tc>
                  <a:txBody>
                    <a:bodyPr/>
                    <a:lstStyle/>
                    <a:p>
                      <a:pPr>
                        <a:buNone/>
                      </a:pPr>
                      <a:r>
                        <a:rPr lang="en-US" sz="1800" b="1" dirty="0">
                          <a:latin typeface="Times New Roman" panose="02020603050405020304" pitchFamily="18" charset="0"/>
                          <a:cs typeface="Times New Roman" panose="02020603050405020304" pitchFamily="18" charset="0"/>
                        </a:rPr>
                        <a:t>AF41 (Assured Forwarding 4 Low)</a:t>
                      </a:r>
                      <a:endParaRPr lang="en-US" sz="1800" dirty="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dirty="0">
                          <a:latin typeface="Times New Roman" panose="02020603050405020304" pitchFamily="18" charset="0"/>
                          <a:cs typeface="Times New Roman" panose="02020603050405020304" pitchFamily="18" charset="0"/>
                        </a:rPr>
                        <a:t>Premium applications (e.g., </a:t>
                      </a:r>
                      <a:r>
                        <a:rPr lang="fr-FR" sz="1800" dirty="0" err="1">
                          <a:latin typeface="Times New Roman" panose="02020603050405020304" pitchFamily="18" charset="0"/>
                          <a:cs typeface="Times New Roman" panose="02020603050405020304" pitchFamily="18" charset="0"/>
                        </a:rPr>
                        <a:t>video</a:t>
                      </a:r>
                      <a:r>
                        <a:rPr lang="fr-FR" sz="1800" dirty="0">
                          <a:latin typeface="Times New Roman" panose="02020603050405020304" pitchFamily="18" charset="0"/>
                          <a:cs typeface="Times New Roman" panose="02020603050405020304" pitchFamily="18" charset="0"/>
                        </a:rPr>
                        <a:t>)</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34</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100010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044988455"/>
                  </a:ext>
                </a:extLst>
              </a:tr>
              <a:tr h="304437">
                <a:tc>
                  <a:txBody>
                    <a:bodyPr/>
                    <a:lstStyle/>
                    <a:p>
                      <a:pPr>
                        <a:buNone/>
                      </a:pPr>
                      <a:r>
                        <a:rPr lang="fr-FR" sz="1800" b="1" dirty="0">
                          <a:latin typeface="Times New Roman" panose="02020603050405020304" pitchFamily="18" charset="0"/>
                          <a:cs typeface="Times New Roman" panose="02020603050405020304" pitchFamily="18" charset="0"/>
                        </a:rPr>
                        <a:t>AF42 (</a:t>
                      </a:r>
                      <a:r>
                        <a:rPr lang="fr-FR" sz="1800" b="1" dirty="0" err="1">
                          <a:latin typeface="Times New Roman" panose="02020603050405020304" pitchFamily="18" charset="0"/>
                          <a:cs typeface="Times New Roman" panose="02020603050405020304" pitchFamily="18" charset="0"/>
                        </a:rPr>
                        <a:t>Assured</a:t>
                      </a:r>
                      <a:r>
                        <a:rPr lang="fr-FR" sz="1800" b="1" dirty="0">
                          <a:latin typeface="Times New Roman" panose="02020603050405020304" pitchFamily="18" charset="0"/>
                          <a:cs typeface="Times New Roman" panose="02020603050405020304" pitchFamily="18" charset="0"/>
                        </a:rPr>
                        <a:t> </a:t>
                      </a:r>
                      <a:r>
                        <a:rPr lang="fr-FR" sz="1800" b="1" dirty="0" err="1">
                          <a:latin typeface="Times New Roman" panose="02020603050405020304" pitchFamily="18" charset="0"/>
                          <a:cs typeface="Times New Roman" panose="02020603050405020304" pitchFamily="18" charset="0"/>
                        </a:rPr>
                        <a:t>Forwarding</a:t>
                      </a:r>
                      <a:r>
                        <a:rPr lang="fr-FR" sz="1800" b="1" dirty="0">
                          <a:latin typeface="Times New Roman" panose="02020603050405020304" pitchFamily="18" charset="0"/>
                          <a:cs typeface="Times New Roman" panose="02020603050405020304" pitchFamily="18" charset="0"/>
                        </a:rPr>
                        <a:t> 4 Medium)</a:t>
                      </a:r>
                      <a:endParaRPr lang="fr-FR" sz="1800" dirty="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Medium drop precedence</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36</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fr-DZ" sz="1800">
                          <a:latin typeface="Times New Roman" panose="02020603050405020304" pitchFamily="18" charset="0"/>
                          <a:cs typeface="Times New Roman" panose="02020603050405020304" pitchFamily="18" charset="0"/>
                        </a:rPr>
                        <a:t>100100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53643050"/>
                  </a:ext>
                </a:extLst>
              </a:tr>
              <a:tr h="304437">
                <a:tc>
                  <a:txBody>
                    <a:bodyPr/>
                    <a:lstStyle/>
                    <a:p>
                      <a:pPr>
                        <a:buNone/>
                      </a:pPr>
                      <a:r>
                        <a:rPr lang="en-US" sz="1800" b="1">
                          <a:latin typeface="Times New Roman" panose="02020603050405020304" pitchFamily="18" charset="0"/>
                          <a:cs typeface="Times New Roman" panose="02020603050405020304" pitchFamily="18" charset="0"/>
                        </a:rPr>
                        <a:t>AF43 (Assured Forwarding 4 High)</a:t>
                      </a:r>
                      <a:endParaRPr lang="en-US" sz="1800">
                        <a:latin typeface="Times New Roman" panose="02020603050405020304" pitchFamily="18" charset="0"/>
                        <a:cs typeface="Times New Roman" panose="02020603050405020304" pitchFamily="18" charset="0"/>
                      </a:endParaRP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fr-FR" sz="1800">
                          <a:latin typeface="Times New Roman" panose="02020603050405020304" pitchFamily="18" charset="0"/>
                          <a:cs typeface="Times New Roman" panose="02020603050405020304" pitchFamily="18" charset="0"/>
                        </a:rPr>
                        <a:t>High drop precedence</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38</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fr-DZ" sz="1800" dirty="0">
                          <a:latin typeface="Times New Roman" panose="02020603050405020304" pitchFamily="18" charset="0"/>
                          <a:cs typeface="Times New Roman" panose="02020603050405020304" pitchFamily="18" charset="0"/>
                        </a:rPr>
                        <a:t>100110</a:t>
                      </a:r>
                    </a:p>
                  </a:txBody>
                  <a:tcPr marL="27542" marR="27542" marT="13771" marB="13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947293"/>
                  </a:ext>
                </a:extLst>
              </a:tr>
            </a:tbl>
          </a:graphicData>
        </a:graphic>
      </p:graphicFrame>
    </p:spTree>
    <p:extLst>
      <p:ext uri="{BB962C8B-B14F-4D97-AF65-F5344CB8AC3E}">
        <p14:creationId xmlns:p14="http://schemas.microsoft.com/office/powerpoint/2010/main" val="42986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71B7-118F-B2CD-9AC4-39DAB089BBA4}"/>
              </a:ext>
            </a:extLst>
          </p:cNvPr>
          <p:cNvSpPr>
            <a:spLocks noGrp="1"/>
          </p:cNvSpPr>
          <p:nvPr>
            <p:ph type="title"/>
          </p:nvPr>
        </p:nvSpPr>
        <p:spPr/>
        <p:txBody>
          <a:bodyPr/>
          <a:lstStyle/>
          <a:p>
            <a:pPr algn="ctr"/>
            <a:r>
              <a:rPr lang="fr-DZ" b="1" dirty="0">
                <a:latin typeface="Times New Roman" panose="02020603050405020304" pitchFamily="18" charset="0"/>
                <a:cs typeface="Times New Roman" panose="02020603050405020304" pitchFamily="18" charset="0"/>
              </a:rPr>
              <a:t>Best Effort Model</a:t>
            </a:r>
            <a:r>
              <a:rPr lang="fr-FR" b="1" dirty="0">
                <a:latin typeface="Times New Roman" panose="02020603050405020304" pitchFamily="18" charset="0"/>
                <a:cs typeface="Times New Roman" panose="02020603050405020304" pitchFamily="18" charset="0"/>
              </a:rPr>
              <a:t> (No QoS)</a:t>
            </a:r>
            <a:br>
              <a:rPr lang="fr-DZ" b="1" dirty="0">
                <a:latin typeface="Times New Roman" panose="02020603050405020304" pitchFamily="18" charset="0"/>
                <a:cs typeface="Times New Roman" panose="02020603050405020304" pitchFamily="18" charset="0"/>
              </a:rPr>
            </a:br>
            <a:endParaRPr lang="fr-DZ"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0DD2786-61CD-6F5B-15C2-C52E45F40F3E}"/>
              </a:ext>
            </a:extLst>
          </p:cNvPr>
          <p:cNvSpPr txBox="1"/>
          <p:nvPr/>
        </p:nvSpPr>
        <p:spPr>
          <a:xfrm>
            <a:off x="1485899" y="1268760"/>
            <a:ext cx="9890337" cy="3970318"/>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is the default QoS model used for Internet and it doesn’t implement any QoS mechanism at all, that is the reason why there isn’t any complexity associated to this QoS model. </a:t>
            </a:r>
          </a:p>
          <a:p>
            <a:pPr marL="285750" indent="-285750">
              <a:buFont typeface="Arial" panose="020B0604020202020204" pitchFamily="34" charset="0"/>
              <a:buChar char="•"/>
            </a:pPr>
            <a:r>
              <a:rPr lang="fr-DZ" dirty="0">
                <a:latin typeface="Times New Roman" panose="02020603050405020304" pitchFamily="18" charset="0"/>
                <a:cs typeface="Times New Roman" panose="02020603050405020304" pitchFamily="18" charset="0"/>
              </a:rPr>
              <a:t>“</a:t>
            </a:r>
            <a:r>
              <a:rPr lang="fr-DZ" dirty="0" err="1">
                <a:latin typeface="Times New Roman" panose="02020603050405020304" pitchFamily="18" charset="0"/>
                <a:cs typeface="Times New Roman" panose="02020603050405020304" pitchFamily="18" charset="0"/>
              </a:rPr>
              <a:t>send</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hope</a:t>
            </a:r>
            <a:r>
              <a:rPr lang="fr-DZ" dirty="0">
                <a:latin typeface="Times New Roman" panose="02020603050405020304" pitchFamily="18" charset="0"/>
                <a:cs typeface="Times New Roman" panose="02020603050405020304" pitchFamily="18" charset="0"/>
              </a:rPr>
              <a:t> for the best.”</a:t>
            </a:r>
          </a:p>
          <a:p>
            <a:pPr marL="285750" indent="-285750">
              <a:buFont typeface="Arial" panose="020B0604020202020204" pitchFamily="34" charset="0"/>
              <a:buChar char="•"/>
            </a:pPr>
            <a:r>
              <a:rPr lang="fr-DZ" dirty="0">
                <a:latin typeface="Times New Roman" panose="02020603050405020304" pitchFamily="18" charset="0"/>
                <a:cs typeface="Times New Roman" panose="02020603050405020304" pitchFamily="18" charset="0"/>
              </a:rPr>
              <a:t>All </a:t>
            </a:r>
            <a:r>
              <a:rPr lang="fr-DZ" dirty="0" err="1">
                <a:latin typeface="Times New Roman" panose="02020603050405020304" pitchFamily="18" charset="0"/>
                <a:cs typeface="Times New Roman" panose="02020603050405020304" pitchFamily="18" charset="0"/>
              </a:rPr>
              <a:t>packets</a:t>
            </a:r>
            <a:r>
              <a:rPr lang="fr-DZ" dirty="0">
                <a:latin typeface="Times New Roman" panose="02020603050405020304" pitchFamily="18" charset="0"/>
                <a:cs typeface="Times New Roman" panose="02020603050405020304" pitchFamily="18" charset="0"/>
              </a:rPr>
              <a:t> are </a:t>
            </a:r>
            <a:r>
              <a:rPr lang="fr-DZ" dirty="0" err="1">
                <a:latin typeface="Times New Roman" panose="02020603050405020304" pitchFamily="18" charset="0"/>
                <a:cs typeface="Times New Roman" panose="02020603050405020304" pitchFamily="18" charset="0"/>
              </a:rPr>
              <a:t>treated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equally</a:t>
            </a:r>
            <a:r>
              <a:rPr lang="fr-DZ" dirty="0">
                <a:latin typeface="Times New Roman" panose="02020603050405020304" pitchFamily="18" charset="0"/>
                <a:cs typeface="Times New Roman" panose="02020603050405020304" pitchFamily="18" charset="0"/>
              </a:rPr>
              <a:t>; no </a:t>
            </a:r>
            <a:r>
              <a:rPr lang="fr-DZ" dirty="0" err="1">
                <a:latin typeface="Times New Roman" panose="02020603050405020304" pitchFamily="18" charset="0"/>
                <a:cs typeface="Times New Roman" panose="02020603050405020304" pitchFamily="18" charset="0"/>
              </a:rPr>
              <a:t>prioritization</a:t>
            </a:r>
            <a:r>
              <a:rPr lang="fr-DZ" dirty="0">
                <a:latin typeface="Times New Roman" panose="02020603050405020304" pitchFamily="18" charset="0"/>
                <a:cs typeface="Times New Roman" panose="02020603050405020304" pitchFamily="18" charset="0"/>
              </a:rPr>
              <a:t> or </a:t>
            </a:r>
            <a:r>
              <a:rPr lang="fr-DZ" dirty="0" err="1">
                <a:latin typeface="Times New Roman" panose="02020603050405020304" pitchFamily="18" charset="0"/>
                <a:cs typeface="Times New Roman" panose="02020603050405020304" pitchFamily="18" charset="0"/>
              </a:rPr>
              <a:t>resource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reservation</a:t>
            </a:r>
            <a:r>
              <a:rPr lang="fr-DZ" dirty="0">
                <a:latin typeface="Times New Roman" panose="02020603050405020304" pitchFamily="18" charset="0"/>
                <a:cs typeface="Times New Roman" panose="02020603050405020304" pitchFamily="18" charset="0"/>
              </a:rPr>
              <a:t>.</a:t>
            </a:r>
          </a:p>
          <a:p>
            <a:endParaRPr lang="fr-DZ" dirty="0">
              <a:latin typeface="Times New Roman" panose="02020603050405020304" pitchFamily="18" charset="0"/>
              <a:cs typeface="Times New Roman" panose="02020603050405020304" pitchFamily="18" charset="0"/>
            </a:endParaRPr>
          </a:p>
          <a:p>
            <a:r>
              <a:rPr lang="fr-DZ" dirty="0">
                <a:latin typeface="Times New Roman" panose="02020603050405020304" pitchFamily="18" charset="0"/>
                <a:cs typeface="Times New Roman" panose="02020603050405020304" pitchFamily="18" charset="0"/>
              </a:rPr>
              <a:t>How It Works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network forwards packets based on available resources.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congestion happens, packets are dropped randomly.</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Characteristics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to implement.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 overhead (no QoS setup needed).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certainty about delay, loss, or throughput.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Performs poorly for real-time traffic (voice, video).</a:t>
            </a:r>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635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C9794-4236-1611-8056-E5170F0FCD06}"/>
              </a:ext>
            </a:extLst>
          </p:cNvPr>
          <p:cNvSpPr>
            <a:spLocks noGrp="1"/>
          </p:cNvSpPr>
          <p:nvPr>
            <p:ph type="title"/>
          </p:nvPr>
        </p:nvSpPr>
        <p:spPr>
          <a:xfrm>
            <a:off x="1593436" y="-315416"/>
            <a:ext cx="9782801" cy="1239837"/>
          </a:xfrm>
        </p:spPr>
        <p:txBody>
          <a:bodyPr/>
          <a:lstStyle/>
          <a:p>
            <a:r>
              <a:rPr lang="fr-FR" b="1" dirty="0">
                <a:latin typeface="Times New Roman" panose="02020603050405020304" pitchFamily="18" charset="0"/>
                <a:cs typeface="Times New Roman" panose="02020603050405020304" pitchFamily="18" charset="0"/>
              </a:rPr>
              <a:t>Integrated Services (IntServ)</a:t>
            </a:r>
            <a:endParaRPr lang="fr-D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64C979-8D25-E237-593D-9653F03DFCE4}"/>
              </a:ext>
            </a:extLst>
          </p:cNvPr>
          <p:cNvSpPr>
            <a:spLocks noGrp="1"/>
          </p:cNvSpPr>
          <p:nvPr>
            <p:ph sz="half" idx="1"/>
          </p:nvPr>
        </p:nvSpPr>
        <p:spPr>
          <a:xfrm>
            <a:off x="1593436" y="1052736"/>
            <a:ext cx="9782800" cy="4572000"/>
          </a:xfrm>
        </p:spPr>
        <p:txBody>
          <a:bodyPr>
            <a:normAutofit/>
          </a:bodyPr>
          <a:lstStyle/>
          <a:p>
            <a:pPr marL="0" indent="0">
              <a:buNone/>
            </a:pPr>
            <a:r>
              <a:rPr lang="en-US" sz="1800" dirty="0">
                <a:solidFill>
                  <a:srgbClr val="58585B"/>
                </a:solidFill>
                <a:latin typeface="Times New Roman" panose="02020603050405020304" pitchFamily="18" charset="0"/>
                <a:cs typeface="Times New Roman" panose="02020603050405020304" pitchFamily="18" charset="0"/>
              </a:rPr>
              <a:t>It’s a model based on flows, i.e., source and destination IP addresses and ports.</a:t>
            </a:r>
            <a:endParaRPr lang="fr-DZ"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applications ask to the network for an explicit resource reservation per flow. Network devices keep track of all the flows traversing the nodes checking if new packets belong to an existing flow and if there are enough network resources available to accept the packet.</a:t>
            </a:r>
          </a:p>
          <a:p>
            <a:pPr marL="0" indent="0">
              <a:buNone/>
            </a:pPr>
            <a:r>
              <a:rPr lang="en-US" sz="1800" dirty="0">
                <a:latin typeface="Times New Roman" panose="02020603050405020304" pitchFamily="18" charset="0"/>
                <a:cs typeface="Times New Roman" panose="02020603050405020304" pitchFamily="18" charset="0"/>
              </a:rPr>
              <a:t>The implementation of this model requires the presence of </a:t>
            </a:r>
            <a:r>
              <a:rPr lang="en-US" sz="1800" dirty="0" err="1">
                <a:latin typeface="Times New Roman" panose="02020603050405020304" pitchFamily="18" charset="0"/>
                <a:cs typeface="Times New Roman" panose="02020603050405020304" pitchFamily="18" charset="0"/>
              </a:rPr>
              <a:t>IntServ</a:t>
            </a:r>
            <a:r>
              <a:rPr lang="en-US" sz="1800" dirty="0">
                <a:latin typeface="Times New Roman" panose="02020603050405020304" pitchFamily="18" charset="0"/>
                <a:cs typeface="Times New Roman" panose="02020603050405020304" pitchFamily="18" charset="0"/>
              </a:rPr>
              <a:t> capable routers in the network and uses RSVP for end-to-end resource reservation. RSVP enables a host to establish a connection over connectionless IP Internet: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Applications request some level of service to the network before sending data.</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network admits or rejects the reservation (per flow) based on available resources.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Once cleared, the network expects the application to remain within the requested traffic profile.</a:t>
            </a:r>
          </a:p>
          <a:p>
            <a:pPr marL="0" indent="0">
              <a:buNone/>
            </a:pPr>
            <a:r>
              <a:rPr lang="en-US" sz="1800" dirty="0">
                <a:latin typeface="Times New Roman" panose="02020603050405020304" pitchFamily="18" charset="0"/>
                <a:cs typeface="Times New Roman" panose="02020603050405020304" pitchFamily="18" charset="0"/>
              </a:rPr>
              <a:t>The scalability of this model is limited by the fact that exists a high resource consumption on network nodes caused by per flow processing and associated state. Remember that network nodes need to maintain the reservation state for each flow traversing the node.</a:t>
            </a:r>
            <a:endParaRPr lang="fr-DZ"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9727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A3ED9-93CB-5079-295A-EF990973141E}"/>
              </a:ext>
            </a:extLst>
          </p:cNvPr>
          <p:cNvSpPr>
            <a:spLocks noGrp="1"/>
          </p:cNvSpPr>
          <p:nvPr>
            <p:ph type="title"/>
          </p:nvPr>
        </p:nvSpPr>
        <p:spPr/>
        <p:txBody>
          <a:bodyPr/>
          <a:lstStyle/>
          <a:p>
            <a:r>
              <a:rPr lang="en-US" b="1" dirty="0">
                <a:latin typeface="Times New Roman" panose="02020603050405020304" pitchFamily="18" charset="0"/>
                <a:ea typeface="Tahoma" panose="020B0604030504040204" pitchFamily="34" charset="0"/>
                <a:cs typeface="Times New Roman" panose="02020603050405020304" pitchFamily="18" charset="0"/>
              </a:rPr>
              <a:t>Differentiated Services (</a:t>
            </a:r>
            <a:r>
              <a:rPr lang="en-US" b="1" dirty="0" err="1">
                <a:latin typeface="Times New Roman" panose="02020603050405020304" pitchFamily="18" charset="0"/>
                <a:ea typeface="Tahoma" panose="020B0604030504040204" pitchFamily="34" charset="0"/>
                <a:cs typeface="Times New Roman" panose="02020603050405020304" pitchFamily="18" charset="0"/>
              </a:rPr>
              <a:t>DiffServ</a:t>
            </a:r>
            <a:r>
              <a:rPr lang="en-US" b="1" dirty="0">
                <a:latin typeface="Times New Roman" panose="02020603050405020304" pitchFamily="18" charset="0"/>
                <a:ea typeface="Tahoma" panose="020B0604030504040204" pitchFamily="34" charset="0"/>
                <a:cs typeface="Times New Roman" panose="02020603050405020304" pitchFamily="18" charset="0"/>
              </a:rPr>
              <a:t>)</a:t>
            </a:r>
            <a:br>
              <a:rPr lang="en-US" dirty="0"/>
            </a:br>
            <a:endParaRPr lang="fr-DZ" dirty="0"/>
          </a:p>
        </p:txBody>
      </p:sp>
      <p:sp>
        <p:nvSpPr>
          <p:cNvPr id="3" name="Content Placeholder 2">
            <a:extLst>
              <a:ext uri="{FF2B5EF4-FFF2-40B4-BE49-F238E27FC236}">
                <a16:creationId xmlns:a16="http://schemas.microsoft.com/office/drawing/2014/main" id="{9C7FB7EA-1755-E3DC-C9BC-90D4AA7D2126}"/>
              </a:ext>
            </a:extLst>
          </p:cNvPr>
          <p:cNvSpPr>
            <a:spLocks noGrp="1"/>
          </p:cNvSpPr>
          <p:nvPr>
            <p:ph sz="half" idx="1"/>
          </p:nvPr>
        </p:nvSpPr>
        <p:spPr>
          <a:xfrm>
            <a:off x="1593436" y="1600200"/>
            <a:ext cx="9782800" cy="4572000"/>
          </a:xfrm>
        </p:spPr>
        <p:txBody>
          <a:bodyPr>
            <a:normAutofit/>
          </a:bodyPr>
          <a:lstStyle/>
          <a:p>
            <a:pPr marL="0" indent="0">
              <a:buNone/>
            </a:pPr>
            <a:r>
              <a:rPr lang="en-US" sz="2100" dirty="0">
                <a:latin typeface="Times New Roman" panose="02020603050405020304" pitchFamily="18" charset="0"/>
                <a:cs typeface="Times New Roman" panose="02020603050405020304" pitchFamily="18" charset="0"/>
              </a:rPr>
              <a:t>Differentiated Services (</a:t>
            </a:r>
            <a:r>
              <a:rPr lang="en-US" sz="2100" dirty="0" err="1">
                <a:latin typeface="Times New Roman" panose="02020603050405020304" pitchFamily="18" charset="0"/>
                <a:cs typeface="Times New Roman" panose="02020603050405020304" pitchFamily="18" charset="0"/>
              </a:rPr>
              <a:t>Diffserv</a:t>
            </a:r>
            <a:r>
              <a:rPr lang="en-US" sz="2100" dirty="0">
                <a:latin typeface="Times New Roman" panose="02020603050405020304" pitchFamily="18" charset="0"/>
                <a:cs typeface="Times New Roman" panose="02020603050405020304" pitchFamily="18" charset="0"/>
              </a:rPr>
              <a:t>) model is also known as a soft QoS model. It’s a model based in service classes and per hop </a:t>
            </a:r>
            <a:r>
              <a:rPr lang="en-US" sz="2100" dirty="0" err="1">
                <a:latin typeface="Times New Roman" panose="02020603050405020304" pitchFamily="18" charset="0"/>
                <a:cs typeface="Times New Roman" panose="02020603050405020304" pitchFamily="18" charset="0"/>
              </a:rPr>
              <a:t>behaviours</a:t>
            </a:r>
            <a:r>
              <a:rPr lang="en-US" sz="2100" dirty="0">
                <a:latin typeface="Times New Roman" panose="02020603050405020304" pitchFamily="18" charset="0"/>
                <a:cs typeface="Times New Roman" panose="02020603050405020304" pitchFamily="18" charset="0"/>
              </a:rPr>
              <a:t> associated to each class.</a:t>
            </a:r>
          </a:p>
          <a:p>
            <a:pPr marL="0" indent="0">
              <a:buNone/>
            </a:pPr>
            <a:r>
              <a:rPr lang="en-US" sz="2100" dirty="0">
                <a:latin typeface="Times New Roman" panose="02020603050405020304" pitchFamily="18" charset="0"/>
                <a:cs typeface="Times New Roman" panose="02020603050405020304" pitchFamily="18" charset="0"/>
              </a:rPr>
              <a:t>In this case, there is no need for an explicit request for resource reservation by applications to the network. Differentiated Services is based on statistical preferences per traffic class.</a:t>
            </a:r>
          </a:p>
          <a:p>
            <a:pPr marL="0" indent="0">
              <a:buNone/>
            </a:pPr>
            <a:r>
              <a:rPr lang="en-US" sz="2100" dirty="0" err="1">
                <a:latin typeface="Times New Roman" panose="02020603050405020304" pitchFamily="18" charset="0"/>
                <a:cs typeface="Times New Roman" panose="02020603050405020304" pitchFamily="18" charset="0"/>
              </a:rPr>
              <a:t>DiffServ</a:t>
            </a:r>
            <a:r>
              <a:rPr lang="en-US" sz="2100" dirty="0">
                <a:latin typeface="Times New Roman" panose="02020603050405020304" pitchFamily="18" charset="0"/>
                <a:cs typeface="Times New Roman" panose="02020603050405020304" pitchFamily="18" charset="0"/>
              </a:rPr>
              <a:t> allows end devices or hosts to classify packets into different treatment categories or Traffic Classes (TC), each of which will receive a different Per-Hop-</a:t>
            </a:r>
            <a:r>
              <a:rPr lang="en-US" sz="2100" dirty="0" err="1">
                <a:latin typeface="Times New Roman" panose="02020603050405020304" pitchFamily="18" charset="0"/>
                <a:cs typeface="Times New Roman" panose="02020603050405020304" pitchFamily="18" charset="0"/>
              </a:rPr>
              <a:t>Behaviour</a:t>
            </a:r>
            <a:r>
              <a:rPr lang="en-US" sz="2100" dirty="0">
                <a:latin typeface="Times New Roman" panose="02020603050405020304" pitchFamily="18" charset="0"/>
                <a:cs typeface="Times New Roman" panose="02020603050405020304" pitchFamily="18" charset="0"/>
              </a:rPr>
              <a:t> (PHB) at each hop from the source to the destination. Each network device on the path treats packets according to the locally defined PHB.</a:t>
            </a:r>
          </a:p>
          <a:p>
            <a:pPr marL="0" indent="0">
              <a:buNone/>
            </a:pPr>
            <a:r>
              <a:rPr lang="en-US" sz="2100" dirty="0">
                <a:latin typeface="Times New Roman" panose="02020603050405020304" pitchFamily="18" charset="0"/>
                <a:cs typeface="Times New Roman" panose="02020603050405020304" pitchFamily="18" charset="0"/>
              </a:rPr>
              <a:t>Priorities are marked in each packet using DSCP for traffic classification. This marking is performed per packet usually at the QoS domain boundary. The marking can be done at several levels of the networking layers (MPLS EXP, </a:t>
            </a:r>
            <a:r>
              <a:rPr lang="en-US" sz="2100" dirty="0" err="1">
                <a:latin typeface="Times New Roman" panose="02020603050405020304" pitchFamily="18" charset="0"/>
                <a:cs typeface="Times New Roman" panose="02020603050405020304" pitchFamily="18" charset="0"/>
              </a:rPr>
              <a:t>CoS</a:t>
            </a:r>
            <a:r>
              <a:rPr lang="en-US" sz="2100" dirty="0">
                <a:latin typeface="Times New Roman" panose="02020603050405020304" pitchFamily="18" charset="0"/>
                <a:cs typeface="Times New Roman" panose="02020603050405020304" pitchFamily="18" charset="0"/>
              </a:rPr>
              <a:t>).</a:t>
            </a:r>
            <a:endParaRPr lang="fr-DZ"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465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DD8E8-D60A-A9D1-377F-2A360F4759B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7C2F741-B425-DD81-7ECF-6A77CFFAAEF2}"/>
              </a:ext>
            </a:extLst>
          </p:cNvPr>
          <p:cNvSpPr>
            <a:spLocks noGrp="1"/>
          </p:cNvSpPr>
          <p:nvPr>
            <p:ph type="body" idx="1"/>
          </p:nvPr>
        </p:nvSpPr>
        <p:spPr>
          <a:xfrm>
            <a:off x="981844" y="1340768"/>
            <a:ext cx="7264623" cy="1150203"/>
          </a:xfrm>
        </p:spPr>
        <p:txBody>
          <a:bodyPr/>
          <a:lstStyle/>
          <a:p>
            <a:r>
              <a:rPr lang="fr-FR" dirty="0" err="1">
                <a:latin typeface="Agency FB" panose="020B0503020202020204" pitchFamily="34" charset="0"/>
                <a:cs typeface="Times New Roman" panose="02020603050405020304" pitchFamily="18" charset="0"/>
              </a:rPr>
              <a:t>Chapter</a:t>
            </a:r>
            <a:r>
              <a:rPr lang="fr-FR" dirty="0">
                <a:latin typeface="Agency FB" panose="020B0503020202020204" pitchFamily="34" charset="0"/>
                <a:cs typeface="Times New Roman" panose="02020603050405020304" pitchFamily="18" charset="0"/>
              </a:rPr>
              <a:t> 04</a:t>
            </a:r>
            <a:endParaRPr lang="en-US" dirty="0">
              <a:latin typeface="Agency FB" panose="020B0503020202020204" pitchFamily="34" charset="0"/>
            </a:endParaRPr>
          </a:p>
        </p:txBody>
      </p:sp>
      <p:sp>
        <p:nvSpPr>
          <p:cNvPr id="4" name="Title 1">
            <a:extLst>
              <a:ext uri="{FF2B5EF4-FFF2-40B4-BE49-F238E27FC236}">
                <a16:creationId xmlns:a16="http://schemas.microsoft.com/office/drawing/2014/main" id="{520069A5-895A-22AC-10C2-DA00007F4317}"/>
              </a:ext>
            </a:extLst>
          </p:cNvPr>
          <p:cNvSpPr txBox="1">
            <a:spLocks/>
          </p:cNvSpPr>
          <p:nvPr/>
        </p:nvSpPr>
        <p:spPr>
          <a:xfrm>
            <a:off x="1134243" y="620688"/>
            <a:ext cx="10472463" cy="26540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0" kern="1200" cap="none" baseline="0">
                <a:solidFill>
                  <a:schemeClr val="tx1">
                    <a:lumMod val="75000"/>
                  </a:schemeClr>
                </a:solidFill>
                <a:latin typeface="+mj-lt"/>
                <a:ea typeface="+mj-ea"/>
                <a:cs typeface="+mj-cs"/>
              </a:defRPr>
            </a:lvl1pPr>
          </a:lstStyle>
          <a:p>
            <a:pPr algn="ctr"/>
            <a:r>
              <a:rPr lang="fr-FR" sz="7200" b="1" dirty="0" err="1">
                <a:latin typeface="Bahnschrift Condensed" panose="020B0502040204020203" pitchFamily="34" charset="0"/>
                <a:cs typeface="Times New Roman" panose="02020603050405020304" pitchFamily="18" charset="0"/>
              </a:rPr>
              <a:t>Emerging</a:t>
            </a:r>
            <a:r>
              <a:rPr lang="fr-FR" sz="7200" b="1" dirty="0">
                <a:latin typeface="Bahnschrift Condensed" panose="020B0502040204020203" pitchFamily="34" charset="0"/>
                <a:cs typeface="Times New Roman" panose="02020603050405020304" pitchFamily="18" charset="0"/>
              </a:rPr>
              <a:t> Network Technologies</a:t>
            </a:r>
            <a:endParaRPr lang="en-US" sz="7200" b="1" dirty="0">
              <a:latin typeface="Bahnschrift Condensed" panose="020B0502040204020203"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26E56AF-80CE-CC17-381D-E233A0D7ECC3}"/>
              </a:ext>
            </a:extLst>
          </p:cNvPr>
          <p:cNvSpPr txBox="1"/>
          <p:nvPr/>
        </p:nvSpPr>
        <p:spPr>
          <a:xfrm>
            <a:off x="981844" y="3583249"/>
            <a:ext cx="6692858" cy="1200329"/>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Objectives: </a:t>
            </a:r>
            <a:r>
              <a:rPr lang="en-US" dirty="0">
                <a:latin typeface="Times New Roman" panose="02020603050405020304" pitchFamily="18" charset="0"/>
                <a:cs typeface="Times New Roman" panose="02020603050405020304" pitchFamily="18" charset="0"/>
              </a:rPr>
              <a:t>by the end of this chapter, students will be able to:</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Understand SDN, NFV, and IoT architectures.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 key protocols and control mechanisms.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Explain how these technologies integrate in modern networks.</a:t>
            </a:r>
          </a:p>
        </p:txBody>
      </p:sp>
    </p:spTree>
    <p:extLst>
      <p:ext uri="{BB962C8B-B14F-4D97-AF65-F5344CB8AC3E}">
        <p14:creationId xmlns:p14="http://schemas.microsoft.com/office/powerpoint/2010/main" val="277450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9AD771-8FD0-97B7-E47A-5C6632798D4B}"/>
              </a:ext>
            </a:extLst>
          </p:cNvPr>
          <p:cNvSpPr txBox="1"/>
          <p:nvPr/>
        </p:nvSpPr>
        <p:spPr>
          <a:xfrm>
            <a:off x="1341884" y="1340768"/>
            <a:ext cx="9235686" cy="5355312"/>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Emerging Network Technologies refer to new and evolving approaches in networking that aim to overcome the limitations of traditional networks — such as rigidity, manual configuration, scalability issues, and lack of automation.</a:t>
            </a:r>
          </a:p>
          <a:p>
            <a:pPr algn="just"/>
            <a:r>
              <a:rPr lang="en-US" dirty="0">
                <a:latin typeface="Times New Roman" panose="02020603050405020304" pitchFamily="18" charset="0"/>
                <a:cs typeface="Times New Roman" panose="02020603050405020304" pitchFamily="18" charset="0"/>
              </a:rPr>
              <a:t>They leverage virtualization, programmability, and intelligence to make networks more flexible, efficient, and adaptable to modern demands like 5G, IoT, and cloud computing.</a:t>
            </a:r>
          </a:p>
          <a:p>
            <a:r>
              <a:rPr lang="en-US" dirty="0">
                <a:latin typeface="Times New Roman" panose="02020603050405020304" pitchFamily="18" charset="0"/>
                <a:cs typeface="Times New Roman" panose="02020603050405020304" pitchFamily="18" charset="0"/>
              </a:rPr>
              <a:t>Traditional networks were designed for fixed infrastructure, limited devices, and predictable traffic. However, today’s networks must handle massive connectivity dynamic services high performance and </a:t>
            </a:r>
            <a:r>
              <a:rPr lang="en-US" dirty="0" err="1">
                <a:latin typeface="Times New Roman" panose="02020603050405020304" pitchFamily="18" charset="0"/>
                <a:cs typeface="Times New Roman" panose="02020603050405020304" pitchFamily="18" charset="0"/>
              </a:rPr>
              <a:t>reliability,To</a:t>
            </a:r>
            <a:r>
              <a:rPr lang="en-US" dirty="0">
                <a:latin typeface="Times New Roman" panose="02020603050405020304" pitchFamily="18" charset="0"/>
                <a:cs typeface="Times New Roman" panose="02020603050405020304" pitchFamily="18" charset="0"/>
              </a:rPr>
              <a:t> meet these challenges, new paradigms such as: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have emerged to reshape how networks are built, managed, and optimized.</a:t>
            </a:r>
          </a:p>
          <a:p>
            <a:pPr algn="just"/>
            <a:endParaRPr lang="en-US"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F8DEE00-A6D3-5A54-7C2F-A4FCD600781D}"/>
              </a:ext>
            </a:extLst>
          </p:cNvPr>
          <p:cNvSpPr txBox="1">
            <a:spLocks/>
          </p:cNvSpPr>
          <p:nvPr/>
        </p:nvSpPr>
        <p:spPr>
          <a:xfrm>
            <a:off x="1593436" y="460971"/>
            <a:ext cx="9782801" cy="1239837"/>
          </a:xfrm>
          <a:prstGeom prst="rect">
            <a:avLst/>
          </a:prstGeom>
        </p:spPr>
        <p:txBody>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en-US" b="1" dirty="0">
                <a:latin typeface="Times New Roman" panose="02020603050405020304" pitchFamily="18" charset="0"/>
                <a:ea typeface="Tahoma" panose="020B0604030504040204" pitchFamily="34" charset="0"/>
                <a:cs typeface="Times New Roman" panose="02020603050405020304" pitchFamily="18" charset="0"/>
              </a:rPr>
              <a:t>What Are Emerging Network Technologies?</a:t>
            </a:r>
          </a:p>
          <a:p>
            <a:br>
              <a:rPr lang="en-US" dirty="0"/>
            </a:br>
            <a:endParaRPr lang="fr-DZ" dirty="0"/>
          </a:p>
        </p:txBody>
      </p:sp>
      <p:pic>
        <p:nvPicPr>
          <p:cNvPr id="1026" name="Picture 2" descr="What is Software Defined Network (SDN)? - Grandmetric">
            <a:extLst>
              <a:ext uri="{FF2B5EF4-FFF2-40B4-BE49-F238E27FC236}">
                <a16:creationId xmlns:a16="http://schemas.microsoft.com/office/drawing/2014/main" id="{A716CADB-AC9F-AF1D-894D-7E83229682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851" t="5226" r="8454" b="5226"/>
          <a:stretch>
            <a:fillRect/>
          </a:stretch>
        </p:blipFill>
        <p:spPr bwMode="auto">
          <a:xfrm>
            <a:off x="4726260" y="4149849"/>
            <a:ext cx="2388586" cy="16931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What you're already using without knowing it: IoT explained simply - KINEIS">
            <a:extLst>
              <a:ext uri="{FF2B5EF4-FFF2-40B4-BE49-F238E27FC236}">
                <a16:creationId xmlns:a16="http://schemas.microsoft.com/office/drawing/2014/main" id="{0EFE0252-84EA-BA18-943F-72873F86E5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872" r="8012"/>
          <a:stretch>
            <a:fillRect/>
          </a:stretch>
        </p:blipFill>
        <p:spPr bwMode="auto">
          <a:xfrm>
            <a:off x="7750596" y="4149849"/>
            <a:ext cx="2388586" cy="16931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Virtualization Technology and How Does It Work?">
            <a:extLst>
              <a:ext uri="{FF2B5EF4-FFF2-40B4-BE49-F238E27FC236}">
                <a16:creationId xmlns:a16="http://schemas.microsoft.com/office/drawing/2014/main" id="{F1816BE8-2E6E-24A2-B50F-9A2C1C69F1D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640" r="11802"/>
          <a:stretch>
            <a:fillRect/>
          </a:stretch>
        </p:blipFill>
        <p:spPr bwMode="auto">
          <a:xfrm>
            <a:off x="2047701" y="4077072"/>
            <a:ext cx="2016224" cy="1771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32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Secret Sauce for Cloud Desktop Success | Workspot">
            <a:extLst>
              <a:ext uri="{FF2B5EF4-FFF2-40B4-BE49-F238E27FC236}">
                <a16:creationId xmlns:a16="http://schemas.microsoft.com/office/drawing/2014/main" id="{0E5AFBB0-053F-6E24-7E12-8996489D76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32" b="44282"/>
          <a:stretch>
            <a:fillRect/>
          </a:stretch>
        </p:blipFill>
        <p:spPr bwMode="auto">
          <a:xfrm>
            <a:off x="2542368" y="2276872"/>
            <a:ext cx="7104087" cy="250073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44EF7A2-F293-DF43-13A4-02940EF7A580}"/>
              </a:ext>
            </a:extLst>
          </p:cNvPr>
          <p:cNvSpPr txBox="1"/>
          <p:nvPr/>
        </p:nvSpPr>
        <p:spPr>
          <a:xfrm>
            <a:off x="1125860" y="980728"/>
            <a:ext cx="9649072" cy="1200329"/>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ea typeface="Tahoma" panose="020B0604030504040204" pitchFamily="34" charset="0"/>
                <a:cs typeface="Times New Roman" panose="02020603050405020304" pitchFamily="18" charset="0"/>
              </a:rPr>
              <a:t>The </a:t>
            </a:r>
            <a:r>
              <a:rPr lang="en-US" b="1" dirty="0">
                <a:latin typeface="Times New Roman" panose="02020603050405020304" pitchFamily="18" charset="0"/>
                <a:ea typeface="Tahoma" panose="020B0604030504040204" pitchFamily="34" charset="0"/>
                <a:cs typeface="Times New Roman" panose="02020603050405020304" pitchFamily="18" charset="0"/>
              </a:rPr>
              <a:t>control plane</a:t>
            </a:r>
            <a:r>
              <a:rPr lang="en-US" dirty="0">
                <a:latin typeface="Times New Roman" panose="02020603050405020304" pitchFamily="18" charset="0"/>
                <a:ea typeface="Tahoma" panose="020B0604030504040204" pitchFamily="34" charset="0"/>
                <a:cs typeface="Times New Roman" panose="02020603050405020304" pitchFamily="18" charset="0"/>
              </a:rPr>
              <a:t> is the “brain” of the network, it makes </a:t>
            </a:r>
            <a:r>
              <a:rPr lang="en-US" b="1" dirty="0">
                <a:latin typeface="Times New Roman" panose="02020603050405020304" pitchFamily="18" charset="0"/>
                <a:ea typeface="Tahoma" panose="020B0604030504040204" pitchFamily="34" charset="0"/>
                <a:cs typeface="Times New Roman" panose="02020603050405020304" pitchFamily="18" charset="0"/>
              </a:rPr>
              <a:t>decisions</a:t>
            </a:r>
            <a:r>
              <a:rPr lang="en-US" dirty="0">
                <a:latin typeface="Times New Roman" panose="02020603050405020304" pitchFamily="18" charset="0"/>
                <a:ea typeface="Tahoma" panose="020B0604030504040204" pitchFamily="34" charset="0"/>
                <a:cs typeface="Times New Roman" panose="02020603050405020304" pitchFamily="18" charset="0"/>
              </a:rPr>
              <a:t> about how packets should be handled. In SDN, this plane is </a:t>
            </a:r>
            <a:r>
              <a:rPr lang="en-US" b="1" dirty="0">
                <a:latin typeface="Times New Roman" panose="02020603050405020304" pitchFamily="18" charset="0"/>
                <a:ea typeface="Tahoma" panose="020B0604030504040204" pitchFamily="34" charset="0"/>
                <a:cs typeface="Times New Roman" panose="02020603050405020304" pitchFamily="18" charset="0"/>
              </a:rPr>
              <a:t>centralized</a:t>
            </a:r>
            <a:r>
              <a:rPr lang="en-US" dirty="0">
                <a:latin typeface="Times New Roman" panose="02020603050405020304" pitchFamily="18" charset="0"/>
                <a:ea typeface="Tahoma" panose="020B0604030504040204" pitchFamily="34" charset="0"/>
                <a:cs typeface="Times New Roman" panose="02020603050405020304" pitchFamily="18" charset="0"/>
              </a:rPr>
              <a:t> in a </a:t>
            </a:r>
            <a:r>
              <a:rPr lang="en-US" b="1" dirty="0">
                <a:latin typeface="Times New Roman" panose="02020603050405020304" pitchFamily="18" charset="0"/>
                <a:ea typeface="Tahoma" panose="020B0604030504040204" pitchFamily="34" charset="0"/>
                <a:cs typeface="Times New Roman" panose="02020603050405020304" pitchFamily="18" charset="0"/>
              </a:rPr>
              <a:t>controller</a:t>
            </a:r>
            <a:r>
              <a:rPr lang="en-US" dirty="0">
                <a:latin typeface="Times New Roman" panose="02020603050405020304" pitchFamily="18" charset="0"/>
                <a:ea typeface="Tahoma" panose="020B0604030504040204" pitchFamily="34" charset="0"/>
                <a:cs typeface="Times New Roman" panose="02020603050405020304" pitchFamily="18" charset="0"/>
              </a:rPr>
              <a:t> rather than distributed across devices.</a:t>
            </a:r>
          </a:p>
          <a:p>
            <a:pPr marL="285750" indent="-285750" algn="just">
              <a:buFont typeface="Arial" panose="020B0604020202020204" pitchFamily="34" charset="0"/>
              <a:buChar char="•"/>
            </a:pPr>
            <a:r>
              <a:rPr lang="en-US" dirty="0">
                <a:latin typeface="Times New Roman" panose="02020603050405020304" pitchFamily="18" charset="0"/>
                <a:ea typeface="Tahoma" panose="020B0604030504040204" pitchFamily="34" charset="0"/>
                <a:cs typeface="Times New Roman" panose="02020603050405020304" pitchFamily="18" charset="0"/>
              </a:rPr>
              <a:t>The </a:t>
            </a:r>
            <a:r>
              <a:rPr lang="en-US" b="1" dirty="0">
                <a:latin typeface="Times New Roman" panose="02020603050405020304" pitchFamily="18" charset="0"/>
                <a:ea typeface="Tahoma" panose="020B0604030504040204" pitchFamily="34" charset="0"/>
                <a:cs typeface="Times New Roman" panose="02020603050405020304" pitchFamily="18" charset="0"/>
              </a:rPr>
              <a:t>data plane</a:t>
            </a:r>
            <a:r>
              <a:rPr lang="en-US" dirty="0">
                <a:latin typeface="Times New Roman" panose="02020603050405020304" pitchFamily="18" charset="0"/>
                <a:ea typeface="Tahoma" panose="020B0604030504040204" pitchFamily="34" charset="0"/>
                <a:cs typeface="Times New Roman" panose="02020603050405020304" pitchFamily="18" charset="0"/>
              </a:rPr>
              <a:t> (or </a:t>
            </a:r>
            <a:r>
              <a:rPr lang="en-US" b="1" dirty="0">
                <a:latin typeface="Times New Roman" panose="02020603050405020304" pitchFamily="18" charset="0"/>
                <a:ea typeface="Tahoma" panose="020B0604030504040204" pitchFamily="34" charset="0"/>
                <a:cs typeface="Times New Roman" panose="02020603050405020304" pitchFamily="18" charset="0"/>
              </a:rPr>
              <a:t>forwarding plane</a:t>
            </a:r>
            <a:r>
              <a:rPr lang="en-US" dirty="0">
                <a:latin typeface="Times New Roman" panose="02020603050405020304" pitchFamily="18" charset="0"/>
                <a:ea typeface="Tahoma" panose="020B0604030504040204" pitchFamily="34" charset="0"/>
                <a:cs typeface="Times New Roman" panose="02020603050405020304" pitchFamily="18" charset="0"/>
              </a:rPr>
              <a:t>) is responsible for </a:t>
            </a:r>
            <a:r>
              <a:rPr lang="en-US" b="1" dirty="0">
                <a:latin typeface="Times New Roman" panose="02020603050405020304" pitchFamily="18" charset="0"/>
                <a:ea typeface="Tahoma" panose="020B0604030504040204" pitchFamily="34" charset="0"/>
                <a:cs typeface="Times New Roman" panose="02020603050405020304" pitchFamily="18" charset="0"/>
              </a:rPr>
              <a:t>moving packets</a:t>
            </a:r>
            <a:r>
              <a:rPr lang="en-US" dirty="0">
                <a:latin typeface="Times New Roman" panose="02020603050405020304" pitchFamily="18" charset="0"/>
                <a:ea typeface="Tahoma" panose="020B0604030504040204" pitchFamily="34" charset="0"/>
                <a:cs typeface="Times New Roman" panose="02020603050405020304" pitchFamily="18" charset="0"/>
              </a:rPr>
              <a:t> from one interface to another according to pre-defined rules.</a:t>
            </a:r>
            <a:endParaRPr lang="fr-DZ"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F12BDC9D-1A2D-AFA9-248D-D78223667A0A}"/>
              </a:ext>
            </a:extLst>
          </p:cNvPr>
          <p:cNvSpPr txBox="1"/>
          <p:nvPr/>
        </p:nvSpPr>
        <p:spPr>
          <a:xfrm>
            <a:off x="2638028" y="188640"/>
            <a:ext cx="9649072" cy="646331"/>
          </a:xfrm>
          <a:prstGeom prst="rect">
            <a:avLst/>
          </a:prstGeom>
          <a:noFill/>
        </p:spPr>
        <p:txBody>
          <a:bodyPr wrap="square" rtlCol="0">
            <a:spAutoFit/>
          </a:bodyPr>
          <a:lstStyle/>
          <a:p>
            <a:r>
              <a:rPr lang="en-US" sz="3600" b="1" dirty="0">
                <a:latin typeface="Times New Roman" panose="02020603050405020304" pitchFamily="18" charset="0"/>
                <a:ea typeface="Tahoma" panose="020B0604030504040204" pitchFamily="34" charset="0"/>
                <a:cs typeface="Times New Roman" panose="02020603050405020304" pitchFamily="18" charset="0"/>
              </a:rPr>
              <a:t>Control plane and data plane</a:t>
            </a:r>
            <a:endParaRPr lang="fr-DZ" sz="36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3F9C05D-CB0C-414E-EBF9-1092E1B91C1E}"/>
              </a:ext>
            </a:extLst>
          </p:cNvPr>
          <p:cNvSpPr txBox="1"/>
          <p:nvPr/>
        </p:nvSpPr>
        <p:spPr>
          <a:xfrm>
            <a:off x="1233872" y="4869160"/>
            <a:ext cx="9433048" cy="1477328"/>
          </a:xfrm>
          <a:prstGeom prst="rect">
            <a:avLst/>
          </a:prstGeom>
          <a:noFill/>
        </p:spPr>
        <p:txBody>
          <a:bodyPr wrap="square">
            <a:spAutoFit/>
          </a:bodyPr>
          <a:lstStyle/>
          <a:p>
            <a:pPr>
              <a:buNone/>
            </a:pPr>
            <a:r>
              <a:rPr lang="fr-FR" dirty="0" err="1">
                <a:latin typeface="Times New Roman" panose="02020603050405020304" pitchFamily="18" charset="0"/>
                <a:ea typeface="Tahoma" panose="020B0604030504040204" pitchFamily="34" charset="0"/>
                <a:cs typeface="Times New Roman" panose="02020603050405020304" pitchFamily="18" charset="0"/>
              </a:rPr>
              <a:t>Why</a:t>
            </a:r>
            <a:r>
              <a:rPr lang="fr-FR" dirty="0">
                <a:latin typeface="Times New Roman" panose="02020603050405020304" pitchFamily="18" charset="0"/>
                <a:ea typeface="Tahoma" panose="020B0604030504040204" pitchFamily="34" charset="0"/>
                <a:cs typeface="Times New Roman" panose="02020603050405020304" pitchFamily="18" charset="0"/>
              </a:rPr>
              <a:t> SDN </a:t>
            </a:r>
            <a:r>
              <a:rPr lang="fr-FR" dirty="0" err="1">
                <a:latin typeface="Times New Roman" panose="02020603050405020304" pitchFamily="18" charset="0"/>
                <a:ea typeface="Tahoma" panose="020B0604030504040204" pitchFamily="34" charset="0"/>
                <a:cs typeface="Times New Roman" panose="02020603050405020304" pitchFamily="18" charset="0"/>
              </a:rPr>
              <a:t>Separation</a:t>
            </a:r>
            <a:r>
              <a:rPr lang="fr-FR" dirty="0">
                <a:latin typeface="Times New Roman" panose="02020603050405020304" pitchFamily="18" charset="0"/>
                <a:ea typeface="Tahoma" panose="020B0604030504040204" pitchFamily="34" charset="0"/>
                <a:cs typeface="Times New Roman" panose="02020603050405020304" pitchFamily="18" charset="0"/>
              </a:rPr>
              <a:t> </a:t>
            </a:r>
            <a:r>
              <a:rPr lang="fr-FR" dirty="0" err="1">
                <a:latin typeface="Times New Roman" panose="02020603050405020304" pitchFamily="18" charset="0"/>
                <a:ea typeface="Tahoma" panose="020B0604030504040204" pitchFamily="34" charset="0"/>
                <a:cs typeface="Times New Roman" panose="02020603050405020304" pitchFamily="18" charset="0"/>
              </a:rPr>
              <a:t>Matters</a:t>
            </a:r>
            <a:endParaRPr lang="fr-FR"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fr-FR" dirty="0">
                <a:latin typeface="Times New Roman" panose="02020603050405020304" pitchFamily="18" charset="0"/>
                <a:ea typeface="Tahoma" panose="020B0604030504040204" pitchFamily="34" charset="0"/>
                <a:cs typeface="Times New Roman" panose="02020603050405020304" pitchFamily="18" charset="0"/>
              </a:rPr>
              <a:t>Simplifies management: Central control = </a:t>
            </a:r>
            <a:r>
              <a:rPr lang="fr-FR" dirty="0" err="1">
                <a:latin typeface="Times New Roman" panose="02020603050405020304" pitchFamily="18" charset="0"/>
                <a:ea typeface="Tahoma" panose="020B0604030504040204" pitchFamily="34" charset="0"/>
                <a:cs typeface="Times New Roman" panose="02020603050405020304" pitchFamily="18" charset="0"/>
              </a:rPr>
              <a:t>easier</a:t>
            </a:r>
            <a:r>
              <a:rPr lang="fr-FR" dirty="0">
                <a:latin typeface="Times New Roman" panose="02020603050405020304" pitchFamily="18" charset="0"/>
                <a:ea typeface="Tahoma" panose="020B0604030504040204" pitchFamily="34" charset="0"/>
                <a:cs typeface="Times New Roman" panose="02020603050405020304" pitchFamily="18" charset="0"/>
              </a:rPr>
              <a:t> configuration and troubleshooting.</a:t>
            </a:r>
          </a:p>
          <a:p>
            <a:pPr marL="285750" indent="-285750">
              <a:buFont typeface="Arial" panose="020B0604020202020204" pitchFamily="34" charset="0"/>
              <a:buChar char="•"/>
            </a:pPr>
            <a:r>
              <a:rPr lang="fr-FR" dirty="0" err="1">
                <a:latin typeface="Times New Roman" panose="02020603050405020304" pitchFamily="18" charset="0"/>
                <a:ea typeface="Tahoma" panose="020B0604030504040204" pitchFamily="34" charset="0"/>
                <a:cs typeface="Times New Roman" panose="02020603050405020304" pitchFamily="18" charset="0"/>
              </a:rPr>
              <a:t>Programmability</a:t>
            </a:r>
            <a:r>
              <a:rPr lang="fr-FR" dirty="0">
                <a:latin typeface="Times New Roman" panose="02020603050405020304" pitchFamily="18" charset="0"/>
                <a:ea typeface="Tahoma" panose="020B0604030504040204" pitchFamily="34" charset="0"/>
                <a:cs typeface="Times New Roman" panose="02020603050405020304" pitchFamily="18" charset="0"/>
              </a:rPr>
              <a:t>: </a:t>
            </a:r>
            <a:r>
              <a:rPr lang="fr-FR" dirty="0" err="1">
                <a:latin typeface="Times New Roman" panose="02020603050405020304" pitchFamily="18" charset="0"/>
                <a:ea typeface="Tahoma" panose="020B0604030504040204" pitchFamily="34" charset="0"/>
                <a:cs typeface="Times New Roman" panose="02020603050405020304" pitchFamily="18" charset="0"/>
              </a:rPr>
              <a:t>Controllers</a:t>
            </a:r>
            <a:r>
              <a:rPr lang="fr-FR" dirty="0">
                <a:latin typeface="Times New Roman" panose="02020603050405020304" pitchFamily="18" charset="0"/>
                <a:ea typeface="Tahoma" panose="020B0604030504040204" pitchFamily="34" charset="0"/>
                <a:cs typeface="Times New Roman" panose="02020603050405020304" pitchFamily="18" charset="0"/>
              </a:rPr>
              <a:t> expose APIs to automate network </a:t>
            </a:r>
            <a:r>
              <a:rPr lang="fr-FR" dirty="0" err="1">
                <a:latin typeface="Times New Roman" panose="02020603050405020304" pitchFamily="18" charset="0"/>
                <a:ea typeface="Tahoma" panose="020B0604030504040204" pitchFamily="34" charset="0"/>
                <a:cs typeface="Times New Roman" panose="02020603050405020304" pitchFamily="18" charset="0"/>
              </a:rPr>
              <a:t>policies</a:t>
            </a:r>
            <a:r>
              <a:rPr lang="fr-FR"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buFont typeface="Arial" panose="020B0604020202020204" pitchFamily="34" charset="0"/>
              <a:buChar char="•"/>
            </a:pPr>
            <a:r>
              <a:rPr lang="fr-FR" dirty="0" err="1">
                <a:latin typeface="Times New Roman" panose="02020603050405020304" pitchFamily="18" charset="0"/>
                <a:ea typeface="Tahoma" panose="020B0604030504040204" pitchFamily="34" charset="0"/>
                <a:cs typeface="Times New Roman" panose="02020603050405020304" pitchFamily="18" charset="0"/>
              </a:rPr>
              <a:t>Flexibility</a:t>
            </a:r>
            <a:r>
              <a:rPr lang="fr-FR" dirty="0">
                <a:latin typeface="Times New Roman" panose="02020603050405020304" pitchFamily="18" charset="0"/>
                <a:ea typeface="Tahoma" panose="020B0604030504040204" pitchFamily="34" charset="0"/>
                <a:cs typeface="Times New Roman" panose="02020603050405020304" pitchFamily="18" charset="0"/>
              </a:rPr>
              <a:t>: Network </a:t>
            </a:r>
            <a:r>
              <a:rPr lang="fr-FR" dirty="0" err="1">
                <a:latin typeface="Times New Roman" panose="02020603050405020304" pitchFamily="18" charset="0"/>
                <a:ea typeface="Tahoma" panose="020B0604030504040204" pitchFamily="34" charset="0"/>
                <a:cs typeface="Times New Roman" panose="02020603050405020304" pitchFamily="18" charset="0"/>
              </a:rPr>
              <a:t>behavior</a:t>
            </a:r>
            <a:r>
              <a:rPr lang="fr-FR" dirty="0">
                <a:latin typeface="Times New Roman" panose="02020603050405020304" pitchFamily="18" charset="0"/>
                <a:ea typeface="Tahoma" panose="020B0604030504040204" pitchFamily="34" charset="0"/>
                <a:cs typeface="Times New Roman" panose="02020603050405020304" pitchFamily="18" charset="0"/>
              </a:rPr>
              <a:t> can change </a:t>
            </a:r>
            <a:r>
              <a:rPr lang="fr-FR" dirty="0" err="1">
                <a:latin typeface="Times New Roman" panose="02020603050405020304" pitchFamily="18" charset="0"/>
                <a:ea typeface="Tahoma" panose="020B0604030504040204" pitchFamily="34" charset="0"/>
                <a:cs typeface="Times New Roman" panose="02020603050405020304" pitchFamily="18" charset="0"/>
              </a:rPr>
              <a:t>dynamically</a:t>
            </a:r>
            <a:r>
              <a:rPr lang="fr-FR" dirty="0">
                <a:latin typeface="Times New Roman" panose="02020603050405020304" pitchFamily="18" charset="0"/>
                <a:ea typeface="Tahoma" panose="020B0604030504040204" pitchFamily="34" charset="0"/>
                <a:cs typeface="Times New Roman" panose="02020603050405020304" pitchFamily="18" charset="0"/>
              </a:rPr>
              <a:t> (e.g., </a:t>
            </a:r>
            <a:r>
              <a:rPr lang="fr-FR" dirty="0" err="1">
                <a:latin typeface="Times New Roman" panose="02020603050405020304" pitchFamily="18" charset="0"/>
                <a:ea typeface="Tahoma" panose="020B0604030504040204" pitchFamily="34" charset="0"/>
                <a:cs typeface="Times New Roman" panose="02020603050405020304" pitchFamily="18" charset="0"/>
              </a:rPr>
              <a:t>prioritizing</a:t>
            </a:r>
            <a:r>
              <a:rPr lang="fr-FR" dirty="0">
                <a:latin typeface="Times New Roman" panose="02020603050405020304" pitchFamily="18" charset="0"/>
                <a:ea typeface="Tahoma" panose="020B0604030504040204" pitchFamily="34" charset="0"/>
                <a:cs typeface="Times New Roman" panose="02020603050405020304" pitchFamily="18" charset="0"/>
              </a:rPr>
              <a:t> </a:t>
            </a:r>
            <a:r>
              <a:rPr lang="fr-FR" dirty="0" err="1">
                <a:latin typeface="Times New Roman" panose="02020603050405020304" pitchFamily="18" charset="0"/>
                <a:ea typeface="Tahoma" panose="020B0604030504040204" pitchFamily="34" charset="0"/>
                <a:cs typeface="Times New Roman" panose="02020603050405020304" pitchFamily="18" charset="0"/>
              </a:rPr>
              <a:t>video</a:t>
            </a:r>
            <a:r>
              <a:rPr lang="fr-FR" dirty="0">
                <a:latin typeface="Times New Roman" panose="02020603050405020304" pitchFamily="18" charset="0"/>
                <a:ea typeface="Tahoma" panose="020B0604030504040204" pitchFamily="34" charset="0"/>
                <a:cs typeface="Times New Roman" panose="02020603050405020304" pitchFamily="18" charset="0"/>
              </a:rPr>
              <a:t> </a:t>
            </a:r>
            <a:r>
              <a:rPr lang="fr-FR" dirty="0" err="1">
                <a:latin typeface="Times New Roman" panose="02020603050405020304" pitchFamily="18" charset="0"/>
                <a:ea typeface="Tahoma" panose="020B0604030504040204" pitchFamily="34" charset="0"/>
                <a:cs typeface="Times New Roman" panose="02020603050405020304" pitchFamily="18" charset="0"/>
              </a:rPr>
              <a:t>traffic</a:t>
            </a:r>
            <a:r>
              <a:rPr lang="fr-FR"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buFont typeface="Arial" panose="020B0604020202020204" pitchFamily="34" charset="0"/>
              <a:buChar char="•"/>
            </a:pPr>
            <a:r>
              <a:rPr lang="fr-FR" dirty="0">
                <a:latin typeface="Times New Roman" panose="02020603050405020304" pitchFamily="18" charset="0"/>
                <a:ea typeface="Tahoma" panose="020B0604030504040204" pitchFamily="34" charset="0"/>
                <a:cs typeface="Times New Roman" panose="02020603050405020304" pitchFamily="18" charset="0"/>
              </a:rPr>
              <a:t>Security: Central </a:t>
            </a:r>
            <a:r>
              <a:rPr lang="fr-FR" dirty="0" err="1">
                <a:latin typeface="Times New Roman" panose="02020603050405020304" pitchFamily="18" charset="0"/>
                <a:ea typeface="Tahoma" panose="020B0604030504040204" pitchFamily="34" charset="0"/>
                <a:cs typeface="Times New Roman" panose="02020603050405020304" pitchFamily="18" charset="0"/>
              </a:rPr>
              <a:t>view</a:t>
            </a:r>
            <a:r>
              <a:rPr lang="fr-FR" dirty="0">
                <a:latin typeface="Times New Roman" panose="02020603050405020304" pitchFamily="18" charset="0"/>
                <a:ea typeface="Tahoma" panose="020B0604030504040204" pitchFamily="34" charset="0"/>
                <a:cs typeface="Times New Roman" panose="02020603050405020304" pitchFamily="18" charset="0"/>
              </a:rPr>
              <a:t> </a:t>
            </a:r>
            <a:r>
              <a:rPr lang="fr-FR" dirty="0" err="1">
                <a:latin typeface="Times New Roman" panose="02020603050405020304" pitchFamily="18" charset="0"/>
                <a:ea typeface="Tahoma" panose="020B0604030504040204" pitchFamily="34" charset="0"/>
                <a:cs typeface="Times New Roman" panose="02020603050405020304" pitchFamily="18" charset="0"/>
              </a:rPr>
              <a:t>allows</a:t>
            </a:r>
            <a:r>
              <a:rPr lang="fr-FR" dirty="0">
                <a:latin typeface="Times New Roman" panose="02020603050405020304" pitchFamily="18" charset="0"/>
                <a:ea typeface="Tahoma" panose="020B0604030504040204" pitchFamily="34" charset="0"/>
                <a:cs typeface="Times New Roman" panose="02020603050405020304" pitchFamily="18" charset="0"/>
              </a:rPr>
              <a:t> for </a:t>
            </a:r>
            <a:r>
              <a:rPr lang="fr-FR" dirty="0" err="1">
                <a:latin typeface="Times New Roman" panose="02020603050405020304" pitchFamily="18" charset="0"/>
                <a:ea typeface="Tahoma" panose="020B0604030504040204" pitchFamily="34" charset="0"/>
                <a:cs typeface="Times New Roman" panose="02020603050405020304" pitchFamily="18" charset="0"/>
              </a:rPr>
              <a:t>rapid</a:t>
            </a:r>
            <a:r>
              <a:rPr lang="fr-FR" dirty="0">
                <a:latin typeface="Times New Roman" panose="02020603050405020304" pitchFamily="18" charset="0"/>
                <a:ea typeface="Tahoma" panose="020B0604030504040204" pitchFamily="34" charset="0"/>
                <a:cs typeface="Times New Roman" panose="02020603050405020304" pitchFamily="18" charset="0"/>
              </a:rPr>
              <a:t> </a:t>
            </a:r>
            <a:r>
              <a:rPr lang="fr-FR" dirty="0" err="1">
                <a:latin typeface="Times New Roman" panose="02020603050405020304" pitchFamily="18" charset="0"/>
                <a:ea typeface="Tahoma" panose="020B0604030504040204" pitchFamily="34" charset="0"/>
                <a:cs typeface="Times New Roman" panose="02020603050405020304" pitchFamily="18" charset="0"/>
              </a:rPr>
              <a:t>detection</a:t>
            </a:r>
            <a:r>
              <a:rPr lang="fr-FR" dirty="0">
                <a:latin typeface="Times New Roman" panose="02020603050405020304" pitchFamily="18" charset="0"/>
                <a:ea typeface="Tahoma" panose="020B0604030504040204" pitchFamily="34" charset="0"/>
                <a:cs typeface="Times New Roman" panose="02020603050405020304" pitchFamily="18" charset="0"/>
              </a:rPr>
              <a:t> and mitigation of </a:t>
            </a:r>
            <a:r>
              <a:rPr lang="fr-FR" dirty="0" err="1">
                <a:latin typeface="Times New Roman" panose="02020603050405020304" pitchFamily="18" charset="0"/>
                <a:ea typeface="Tahoma" panose="020B0604030504040204" pitchFamily="34" charset="0"/>
                <a:cs typeface="Times New Roman" panose="02020603050405020304" pitchFamily="18" charset="0"/>
              </a:rPr>
              <a:t>attacks</a:t>
            </a:r>
            <a:r>
              <a:rPr lang="fr-FR" dirty="0">
                <a:latin typeface="Times New Roman" panose="02020603050405020304" pitchFamily="18" charset="0"/>
                <a:ea typeface="Tahoma" panose="020B0604030504040204" pitchFamily="34" charset="0"/>
                <a:cs typeface="Times New Roman" panose="02020603050405020304" pitchFamily="18" charset="0"/>
              </a:rPr>
              <a:t>.</a:t>
            </a:r>
          </a:p>
        </p:txBody>
      </p:sp>
    </p:spTree>
    <p:extLst>
      <p:ext uri="{BB962C8B-B14F-4D97-AF65-F5344CB8AC3E}">
        <p14:creationId xmlns:p14="http://schemas.microsoft.com/office/powerpoint/2010/main" val="237836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7C575D-D500-E676-FBC0-805FBFB8DE8E}"/>
              </a:ext>
            </a:extLst>
          </p:cNvPr>
          <p:cNvSpPr txBox="1"/>
          <p:nvPr/>
        </p:nvSpPr>
        <p:spPr>
          <a:xfrm>
            <a:off x="1053852" y="1556792"/>
            <a:ext cx="5400601" cy="4524315"/>
          </a:xfrm>
          <a:prstGeom prst="rect">
            <a:avLst/>
          </a:prstGeom>
          <a:noFill/>
        </p:spPr>
        <p:txBody>
          <a:bodyPr wrap="square">
            <a:spAutoFit/>
          </a:bodyPr>
          <a:lstStyle/>
          <a:p>
            <a:pPr algn="just">
              <a:buNone/>
            </a:pPr>
            <a:r>
              <a:rPr lang="fr-FR" dirty="0">
                <a:latin typeface="Times New Roman" panose="02020603050405020304" pitchFamily="18" charset="0"/>
                <a:cs typeface="Times New Roman" panose="02020603050405020304" pitchFamily="18" charset="0"/>
              </a:rPr>
              <a:t>SDN </a:t>
            </a:r>
            <a:r>
              <a:rPr lang="fr-FR" dirty="0" err="1">
                <a:latin typeface="Times New Roman" panose="02020603050405020304" pitchFamily="18" charset="0"/>
                <a:cs typeface="Times New Roman" panose="02020603050405020304" pitchFamily="18" charset="0"/>
              </a:rPr>
              <a:t>separates</a:t>
            </a:r>
            <a:r>
              <a:rPr lang="fr-FR" dirty="0">
                <a:latin typeface="Times New Roman" panose="02020603050405020304" pitchFamily="18" charset="0"/>
                <a:cs typeface="Times New Roman" panose="02020603050405020304" pitchFamily="18" charset="0"/>
              </a:rPr>
              <a:t> the control plane (</a:t>
            </a:r>
            <a:r>
              <a:rPr lang="fr-FR" dirty="0" err="1">
                <a:latin typeface="Times New Roman" panose="02020603050405020304" pitchFamily="18" charset="0"/>
                <a:cs typeface="Times New Roman" panose="02020603050405020304" pitchFamily="18" charset="0"/>
              </a:rPr>
              <a:t>decision-making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from</a:t>
            </a:r>
            <a:r>
              <a:rPr lang="fr-FR" dirty="0">
                <a:latin typeface="Times New Roman" panose="02020603050405020304" pitchFamily="18" charset="0"/>
                <a:cs typeface="Times New Roman" panose="02020603050405020304" pitchFamily="18" charset="0"/>
              </a:rPr>
              <a:t> the data plane (packet </a:t>
            </a:r>
            <a:r>
              <a:rPr lang="fr-FR" dirty="0" err="1">
                <a:latin typeface="Times New Roman" panose="02020603050405020304" pitchFamily="18" charset="0"/>
                <a:cs typeface="Times New Roman" panose="02020603050405020304" pitchFamily="18" charset="0"/>
              </a:rPr>
              <a:t>forwarding</a:t>
            </a:r>
            <a:r>
              <a:rPr lang="fr-FR" dirty="0">
                <a:latin typeface="Times New Roman" panose="02020603050405020304" pitchFamily="18" charset="0"/>
                <a:cs typeface="Times New Roman" panose="02020603050405020304" pitchFamily="18" charset="0"/>
              </a:rPr>
              <a:t>).</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This </a:t>
            </a:r>
            <a:r>
              <a:rPr lang="fr-FR" dirty="0" err="1">
                <a:latin typeface="Times New Roman" panose="02020603050405020304" pitchFamily="18" charset="0"/>
                <a:cs typeface="Times New Roman" panose="02020603050405020304" pitchFamily="18" charset="0"/>
              </a:rPr>
              <a:t>separation</a:t>
            </a:r>
            <a:r>
              <a:rPr lang="fr-FR" dirty="0">
                <a:latin typeface="Times New Roman" panose="02020603050405020304" pitchFamily="18" charset="0"/>
                <a:cs typeface="Times New Roman" panose="02020603050405020304" pitchFamily="18" charset="0"/>
              </a:rPr>
              <a:t> enables </a:t>
            </a:r>
            <a:r>
              <a:rPr lang="fr-FR" dirty="0" err="1">
                <a:latin typeface="Times New Roman" panose="02020603050405020304" pitchFamily="18" charset="0"/>
                <a:cs typeface="Times New Roman" panose="02020603050405020304" pitchFamily="18" charset="0"/>
              </a:rPr>
              <a:t>centralized</a:t>
            </a:r>
            <a:r>
              <a:rPr lang="fr-FR" dirty="0">
                <a:latin typeface="Times New Roman" panose="02020603050405020304" pitchFamily="18" charset="0"/>
                <a:cs typeface="Times New Roman" panose="02020603050405020304" pitchFamily="18" charset="0"/>
              </a:rPr>
              <a:t> control, automation, and programmable management of the network.</a:t>
            </a:r>
          </a:p>
          <a:p>
            <a:pPr algn="just">
              <a:buNone/>
            </a:pPr>
            <a:r>
              <a:rPr lang="fr-FR" dirty="0" err="1">
                <a:latin typeface="Times New Roman" panose="02020603050405020304" pitchFamily="18" charset="0"/>
                <a:cs typeface="Times New Roman" panose="02020603050405020304" pitchFamily="18" charset="0"/>
              </a:rPr>
              <a:t>Traditional</a:t>
            </a:r>
            <a:r>
              <a:rPr lang="fr-FR" dirty="0">
                <a:latin typeface="Times New Roman" panose="02020603050405020304" pitchFamily="18" charset="0"/>
                <a:cs typeface="Times New Roman" panose="02020603050405020304" pitchFamily="18" charset="0"/>
              </a:rPr>
              <a:t> vs. SDN Network:</a:t>
            </a:r>
          </a:p>
          <a:p>
            <a:pPr marL="285750" indent="-285750" algn="just">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Traditional</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Each</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device</a:t>
            </a:r>
            <a:r>
              <a:rPr lang="fr-FR" dirty="0">
                <a:latin typeface="Times New Roman" panose="02020603050405020304" pitchFamily="18" charset="0"/>
                <a:cs typeface="Times New Roman" panose="02020603050405020304" pitchFamily="18" charset="0"/>
              </a:rPr>
              <a:t> (router/switch) </a:t>
            </a:r>
            <a:r>
              <a:rPr lang="fr-FR" dirty="0" err="1">
                <a:latin typeface="Times New Roman" panose="02020603050405020304" pitchFamily="18" charset="0"/>
                <a:cs typeface="Times New Roman" panose="02020603050405020304" pitchFamily="18" charset="0"/>
              </a:rPr>
              <a:t>makes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own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decisions</a:t>
            </a:r>
            <a:r>
              <a:rPr lang="fr-FR"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SDN: A central </a:t>
            </a:r>
            <a:r>
              <a:rPr lang="fr-FR" dirty="0" err="1">
                <a:latin typeface="Times New Roman" panose="02020603050405020304" pitchFamily="18" charset="0"/>
                <a:cs typeface="Times New Roman" panose="02020603050405020304" pitchFamily="18" charset="0"/>
              </a:rPr>
              <a:t>controller</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dictates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forwarding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rules</a:t>
            </a:r>
            <a:r>
              <a:rPr lang="fr-FR" dirty="0">
                <a:latin typeface="Times New Roman" panose="02020603050405020304" pitchFamily="18" charset="0"/>
                <a:cs typeface="Times New Roman" panose="02020603050405020304" pitchFamily="18" charset="0"/>
              </a:rPr>
              <a:t> for all </a:t>
            </a:r>
            <a:r>
              <a:rPr lang="fr-FR" dirty="0" err="1">
                <a:latin typeface="Times New Roman" panose="02020603050405020304" pitchFamily="18" charset="0"/>
                <a:cs typeface="Times New Roman" panose="02020603050405020304" pitchFamily="18" charset="0"/>
              </a:rPr>
              <a:t>devices</a:t>
            </a:r>
            <a:r>
              <a:rPr lang="fr-FR" dirty="0">
                <a:latin typeface="Times New Roman" panose="02020603050405020304" pitchFamily="18" charset="0"/>
                <a:cs typeface="Times New Roman" panose="02020603050405020304" pitchFamily="18" charset="0"/>
              </a:rPr>
              <a:t>.</a:t>
            </a:r>
          </a:p>
          <a:p>
            <a:pPr algn="just">
              <a:buNone/>
            </a:pPr>
            <a:r>
              <a:rPr lang="fr-FR" dirty="0">
                <a:latin typeface="Times New Roman" panose="02020603050405020304" pitchFamily="18" charset="0"/>
                <a:cs typeface="Times New Roman" panose="02020603050405020304" pitchFamily="18" charset="0"/>
              </a:rPr>
              <a:t>Key Components:</a:t>
            </a:r>
          </a:p>
          <a:p>
            <a:pPr marL="285750" indent="-285750" algn="just">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Application Layer – Network applications (firewall apps, </a:t>
            </a:r>
            <a:r>
              <a:rPr lang="fr-FR" dirty="0" err="1">
                <a:latin typeface="Times New Roman" panose="02020603050405020304" pitchFamily="18" charset="0"/>
                <a:cs typeface="Times New Roman" panose="02020603050405020304" pitchFamily="18" charset="0"/>
              </a:rPr>
              <a:t>load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balancers</a:t>
            </a:r>
            <a:r>
              <a:rPr lang="fr-FR"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Control Layer – SDN </a:t>
            </a:r>
            <a:r>
              <a:rPr lang="fr-FR" dirty="0" err="1">
                <a:latin typeface="Times New Roman" panose="02020603050405020304" pitchFamily="18" charset="0"/>
                <a:cs typeface="Times New Roman" panose="02020603050405020304" pitchFamily="18" charset="0"/>
              </a:rPr>
              <a:t>controller</a:t>
            </a:r>
            <a:r>
              <a:rPr lang="fr-FR" dirty="0">
                <a:latin typeface="Times New Roman" panose="02020603050405020304" pitchFamily="18" charset="0"/>
                <a:cs typeface="Times New Roman" panose="02020603050405020304" pitchFamily="18" charset="0"/>
              </a:rPr>
              <a:t> (e.g., </a:t>
            </a:r>
            <a:r>
              <a:rPr lang="fr-FR" dirty="0" err="1">
                <a:latin typeface="Times New Roman" panose="02020603050405020304" pitchFamily="18" charset="0"/>
                <a:cs typeface="Times New Roman" panose="02020603050405020304" pitchFamily="18" charset="0"/>
              </a:rPr>
              <a:t>OpenDaylight</a:t>
            </a:r>
            <a:r>
              <a:rPr lang="fr-FR" dirty="0">
                <a:latin typeface="Times New Roman" panose="02020603050405020304" pitchFamily="18" charset="0"/>
                <a:cs typeface="Times New Roman" panose="02020603050405020304" pitchFamily="18" charset="0"/>
              </a:rPr>
              <a:t>, ONOS).</a:t>
            </a:r>
          </a:p>
          <a:p>
            <a:pPr marL="285750" indent="-285750" algn="just">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Infrastructure Layer – Physical/</a:t>
            </a:r>
            <a:r>
              <a:rPr lang="fr-FR" dirty="0" err="1">
                <a:latin typeface="Times New Roman" panose="02020603050405020304" pitchFamily="18" charset="0"/>
                <a:cs typeface="Times New Roman" panose="02020603050405020304" pitchFamily="18" charset="0"/>
              </a:rPr>
              <a:t>virtual</a:t>
            </a:r>
            <a:r>
              <a:rPr lang="fr-FR" dirty="0">
                <a:latin typeface="Times New Roman" panose="02020603050405020304" pitchFamily="18" charset="0"/>
                <a:cs typeface="Times New Roman" panose="02020603050405020304" pitchFamily="18" charset="0"/>
              </a:rPr>
              <a:t> switches and </a:t>
            </a:r>
            <a:r>
              <a:rPr lang="fr-FR" dirty="0" err="1">
                <a:latin typeface="Times New Roman" panose="02020603050405020304" pitchFamily="18" charset="0"/>
                <a:cs typeface="Times New Roman" panose="02020603050405020304" pitchFamily="18" charset="0"/>
              </a:rPr>
              <a:t>routers</a:t>
            </a:r>
            <a:r>
              <a:rPr lang="fr-FR" dirty="0">
                <a:latin typeface="Times New Roman" panose="02020603050405020304" pitchFamily="18" charset="0"/>
                <a:cs typeface="Times New Roman" panose="02020603050405020304" pitchFamily="18" charset="0"/>
              </a:rPr>
              <a:t>.</a:t>
            </a:r>
          </a:p>
        </p:txBody>
      </p:sp>
      <p:sp>
        <p:nvSpPr>
          <p:cNvPr id="4" name="Title 1">
            <a:extLst>
              <a:ext uri="{FF2B5EF4-FFF2-40B4-BE49-F238E27FC236}">
                <a16:creationId xmlns:a16="http://schemas.microsoft.com/office/drawing/2014/main" id="{876564D9-A07B-F1D3-0115-FE60F89C27E4}"/>
              </a:ext>
            </a:extLst>
          </p:cNvPr>
          <p:cNvSpPr txBox="1">
            <a:spLocks/>
          </p:cNvSpPr>
          <p:nvPr/>
        </p:nvSpPr>
        <p:spPr>
          <a:xfrm>
            <a:off x="2072251" y="604987"/>
            <a:ext cx="9782801" cy="1239837"/>
          </a:xfrm>
          <a:prstGeom prst="rect">
            <a:avLst/>
          </a:prstGeom>
        </p:spPr>
        <p:txBody>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fr-FR" b="1" dirty="0">
                <a:latin typeface="Times New Roman" panose="02020603050405020304" pitchFamily="18" charset="0"/>
                <a:ea typeface="Tahoma" panose="020B0604030504040204" pitchFamily="34" charset="0"/>
                <a:cs typeface="Times New Roman" panose="02020603050405020304" pitchFamily="18" charset="0"/>
              </a:rPr>
              <a:t>Software-</a:t>
            </a:r>
            <a:r>
              <a:rPr lang="fr-FR" b="1" dirty="0" err="1">
                <a:latin typeface="Times New Roman" panose="02020603050405020304" pitchFamily="18" charset="0"/>
                <a:ea typeface="Tahoma" panose="020B0604030504040204" pitchFamily="34" charset="0"/>
                <a:cs typeface="Times New Roman" panose="02020603050405020304" pitchFamily="18" charset="0"/>
              </a:rPr>
              <a:t>Defined</a:t>
            </a:r>
            <a:r>
              <a:rPr lang="fr-FR" b="1" dirty="0">
                <a:latin typeface="Times New Roman" panose="02020603050405020304" pitchFamily="18" charset="0"/>
                <a:ea typeface="Tahoma" panose="020B0604030504040204" pitchFamily="34" charset="0"/>
                <a:cs typeface="Times New Roman" panose="02020603050405020304" pitchFamily="18" charset="0"/>
              </a:rPr>
              <a:t> Networking (SDN) </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a:p>
            <a:br>
              <a:rPr lang="en-US" dirty="0"/>
            </a:br>
            <a:endParaRPr lang="fr-DZ" dirty="0"/>
          </a:p>
        </p:txBody>
      </p:sp>
      <p:pic>
        <p:nvPicPr>
          <p:cNvPr id="1026" name="Picture 2" descr="Cisco SDN - Software Defined Networking Explained - Study CCNA">
            <a:extLst>
              <a:ext uri="{FF2B5EF4-FFF2-40B4-BE49-F238E27FC236}">
                <a16:creationId xmlns:a16="http://schemas.microsoft.com/office/drawing/2014/main" id="{0D4692E8-A792-AAB8-C815-AF625500FB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0476" y="1844824"/>
            <a:ext cx="4124325"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98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9BF71-4C20-E843-3860-18836889B455}"/>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Why SDN?</a:t>
            </a:r>
            <a:br>
              <a:rPr lang="en-US" sz="3600" b="1" dirty="0">
                <a:latin typeface="Times New Roman" panose="02020603050405020304" pitchFamily="18" charset="0"/>
                <a:cs typeface="Times New Roman" panose="02020603050405020304" pitchFamily="18" charset="0"/>
              </a:rPr>
            </a:br>
            <a:endParaRPr lang="fr-DZ" sz="3600"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11246C66-85D2-4097-C8F7-91D794795FDF}"/>
              </a:ext>
            </a:extLst>
          </p:cNvPr>
          <p:cNvSpPr>
            <a:spLocks noGrp="1"/>
          </p:cNvSpPr>
          <p:nvPr>
            <p:ph type="pic" idx="1"/>
          </p:nvPr>
        </p:nvSpPr>
        <p:spPr/>
      </p:sp>
      <p:sp>
        <p:nvSpPr>
          <p:cNvPr id="6" name="TextBox 5">
            <a:extLst>
              <a:ext uri="{FF2B5EF4-FFF2-40B4-BE49-F238E27FC236}">
                <a16:creationId xmlns:a16="http://schemas.microsoft.com/office/drawing/2014/main" id="{A0AB4521-6ED4-108C-3301-07348FC9F492}"/>
              </a:ext>
            </a:extLst>
          </p:cNvPr>
          <p:cNvSpPr txBox="1"/>
          <p:nvPr/>
        </p:nvSpPr>
        <p:spPr>
          <a:xfrm>
            <a:off x="5374332" y="1340768"/>
            <a:ext cx="5904656" cy="313932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Limitations of Traditional Networking:</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Complex and error-prone configuration.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Vendor lock-in (proprietary hardware and software).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Slow adaptation to new policies or security requirements.</a:t>
            </a:r>
          </a:p>
          <a:p>
            <a:r>
              <a:rPr lang="en-US" b="1" dirty="0">
                <a:latin typeface="Times New Roman" panose="02020603050405020304" pitchFamily="18" charset="0"/>
                <a:cs typeface="Times New Roman" panose="02020603050405020304" pitchFamily="18" charset="0"/>
              </a:rPr>
              <a:t>SDN Advantages: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Centralized management</a:t>
            </a:r>
            <a:r>
              <a:rPr lang="en-US" dirty="0">
                <a:latin typeface="Times New Roman" panose="02020603050405020304" pitchFamily="18" charset="0"/>
                <a:cs typeface="Times New Roman" panose="02020603050405020304" pitchFamily="18" charset="0"/>
              </a:rPr>
              <a:t> via software controllers.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Programmability:</a:t>
            </a:r>
            <a:r>
              <a:rPr lang="en-US" dirty="0">
                <a:latin typeface="Times New Roman" panose="02020603050405020304" pitchFamily="18" charset="0"/>
                <a:cs typeface="Times New Roman" panose="02020603050405020304" pitchFamily="18" charset="0"/>
              </a:rPr>
              <a:t> networks can be configured through APIs.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Agility:</a:t>
            </a:r>
            <a:r>
              <a:rPr lang="en-US" dirty="0">
                <a:latin typeface="Times New Roman" panose="02020603050405020304" pitchFamily="18" charset="0"/>
                <a:cs typeface="Times New Roman" panose="02020603050405020304" pitchFamily="18" charset="0"/>
              </a:rPr>
              <a:t> quick deployment of new services.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Automation:</a:t>
            </a:r>
            <a:r>
              <a:rPr lang="en-US" dirty="0">
                <a:latin typeface="Times New Roman" panose="02020603050405020304" pitchFamily="18" charset="0"/>
                <a:cs typeface="Times New Roman" panose="02020603050405020304" pitchFamily="18" charset="0"/>
              </a:rPr>
              <a:t> reduces manual errors.</a:t>
            </a:r>
          </a:p>
        </p:txBody>
      </p:sp>
      <p:pic>
        <p:nvPicPr>
          <p:cNvPr id="7" name="Picture 2" descr="What is Software Defined Network (SDN)? - Grandmetric">
            <a:extLst>
              <a:ext uri="{FF2B5EF4-FFF2-40B4-BE49-F238E27FC236}">
                <a16:creationId xmlns:a16="http://schemas.microsoft.com/office/drawing/2014/main" id="{2C22A820-062E-D209-5503-71EADABC0A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851" t="5226" r="8454" b="5226"/>
          <a:stretch>
            <a:fillRect/>
          </a:stretch>
        </p:blipFill>
        <p:spPr bwMode="auto">
          <a:xfrm>
            <a:off x="765820" y="2015403"/>
            <a:ext cx="3988509" cy="28271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7575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2A750-8BDB-B57E-2101-7E9355716860}"/>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SDN Architecture (3-Layer Model)</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F0D34C8E-CAB8-CC8A-73AB-787FEEA8AD78}"/>
              </a:ext>
            </a:extLst>
          </p:cNvPr>
          <p:cNvSpPr>
            <a:spLocks noGrp="1"/>
          </p:cNvSpPr>
          <p:nvPr>
            <p:ph type="pic" idx="1"/>
          </p:nvPr>
        </p:nvSpPr>
        <p:spPr/>
      </p:sp>
      <p:sp>
        <p:nvSpPr>
          <p:cNvPr id="6" name="TextBox 5">
            <a:extLst>
              <a:ext uri="{FF2B5EF4-FFF2-40B4-BE49-F238E27FC236}">
                <a16:creationId xmlns:a16="http://schemas.microsoft.com/office/drawing/2014/main" id="{5A92A0BF-6BEE-8702-9C0E-C5EE35451957}"/>
              </a:ext>
            </a:extLst>
          </p:cNvPr>
          <p:cNvSpPr txBox="1"/>
          <p:nvPr/>
        </p:nvSpPr>
        <p:spPr>
          <a:xfrm>
            <a:off x="5311403" y="1342241"/>
            <a:ext cx="5895577" cy="3970318"/>
          </a:xfrm>
          <a:prstGeom prst="rect">
            <a:avLst/>
          </a:prstGeom>
          <a:noFill/>
        </p:spPr>
        <p:txBody>
          <a:bodyPr wrap="square">
            <a:spAutoFit/>
          </a:bodyPr>
          <a:lstStyle/>
          <a:p>
            <a:pPr algn="just">
              <a:buFont typeface="+mj-lt"/>
              <a:buAutoNum type="arabicPeriod"/>
            </a:pPr>
            <a:r>
              <a:rPr lang="en-US" b="1" dirty="0">
                <a:latin typeface="Times New Roman" panose="02020603050405020304" pitchFamily="18" charset="0"/>
                <a:cs typeface="Times New Roman" panose="02020603050405020304" pitchFamily="18" charset="0"/>
              </a:rPr>
              <a:t>Application Layer</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Contains network applications (e.g., load balancing, firewalls, routing).</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Communicates with the controller via </a:t>
            </a:r>
            <a:r>
              <a:rPr lang="en-US" b="1" dirty="0">
                <a:latin typeface="Times New Roman" panose="02020603050405020304" pitchFamily="18" charset="0"/>
                <a:cs typeface="Times New Roman" panose="02020603050405020304" pitchFamily="18" charset="0"/>
              </a:rPr>
              <a:t>Northbound APIs</a:t>
            </a:r>
            <a:r>
              <a:rPr lang="en-US" dirty="0">
                <a:latin typeface="Times New Roman" panose="02020603050405020304" pitchFamily="18" charset="0"/>
                <a:cs typeface="Times New Roman" panose="02020603050405020304" pitchFamily="18" charset="0"/>
              </a:rPr>
              <a:t>.</a:t>
            </a:r>
          </a:p>
          <a:p>
            <a:pPr algn="just">
              <a:buFont typeface="+mj-lt"/>
              <a:buAutoNum type="arabicPeriod"/>
            </a:pPr>
            <a:r>
              <a:rPr lang="en-US" b="1" dirty="0">
                <a:latin typeface="Times New Roman" panose="02020603050405020304" pitchFamily="18" charset="0"/>
                <a:cs typeface="Times New Roman" panose="02020603050405020304" pitchFamily="18" charset="0"/>
              </a:rPr>
              <a:t>Control Layer</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SDN Controller</a:t>
            </a:r>
            <a:r>
              <a:rPr lang="en-US" dirty="0">
                <a:latin typeface="Times New Roman" panose="02020603050405020304" pitchFamily="18" charset="0"/>
                <a:cs typeface="Times New Roman" panose="02020603050405020304" pitchFamily="18" charset="0"/>
              </a:rPr>
              <a:t> acts as the network’s “brain.”</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Southbound APIs</a:t>
            </a:r>
            <a:r>
              <a:rPr lang="en-US" dirty="0">
                <a:latin typeface="Times New Roman" panose="02020603050405020304" pitchFamily="18" charset="0"/>
                <a:cs typeface="Times New Roman" panose="02020603050405020304" pitchFamily="18" charset="0"/>
              </a:rPr>
              <a:t> (like OpenFlow) to communicate with devices.</a:t>
            </a:r>
          </a:p>
          <a:p>
            <a:pPr algn="just">
              <a:buFont typeface="+mj-lt"/>
              <a:buAutoNum type="arabicPeriod"/>
            </a:pPr>
            <a:r>
              <a:rPr lang="en-US" b="1" dirty="0">
                <a:latin typeface="Times New Roman" panose="02020603050405020304" pitchFamily="18" charset="0"/>
                <a:cs typeface="Times New Roman" panose="02020603050405020304" pitchFamily="18" charset="0"/>
              </a:rPr>
              <a:t>Infrastructure Layer</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Physical and virtual switches and routers (the </a:t>
            </a:r>
            <a:r>
              <a:rPr lang="en-US" b="1" dirty="0">
                <a:latin typeface="Times New Roman" panose="02020603050405020304" pitchFamily="18" charset="0"/>
                <a:cs typeface="Times New Roman" panose="02020603050405020304" pitchFamily="18" charset="0"/>
              </a:rPr>
              <a:t>data plane</a:t>
            </a:r>
            <a:r>
              <a:rPr lang="en-US" dirty="0">
                <a:latin typeface="Times New Roman" panose="02020603050405020304" pitchFamily="18" charset="0"/>
                <a:cs typeface="Times New Roman" panose="02020603050405020304" pitchFamily="18" charset="0"/>
              </a:rPr>
              <a:t>).</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Responsible for packet forwarding based on flow rules.</a:t>
            </a:r>
          </a:p>
        </p:txBody>
      </p:sp>
      <p:pic>
        <p:nvPicPr>
          <p:cNvPr id="2052" name="Picture 4">
            <a:extLst>
              <a:ext uri="{FF2B5EF4-FFF2-40B4-BE49-F238E27FC236}">
                <a16:creationId xmlns:a16="http://schemas.microsoft.com/office/drawing/2014/main" id="{1BB9D181-B4A0-D1EF-8C65-FF2891EEF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651" y="1916832"/>
            <a:ext cx="3858601" cy="4430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2348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3B80B-3B12-B59B-C71C-BE5610F343F9}"/>
              </a:ext>
            </a:extLst>
          </p:cNvPr>
          <p:cNvSpPr>
            <a:spLocks noGrp="1"/>
          </p:cNvSpPr>
          <p:nvPr>
            <p:ph type="title"/>
          </p:nvPr>
        </p:nvSpPr>
        <p:spPr/>
        <p:txBody>
          <a:bodyPr>
            <a:normAutofit fontScale="90000"/>
          </a:bodyPr>
          <a:lstStyle/>
          <a:p>
            <a:br>
              <a:rPr lang="fr-FR" b="1" dirty="0"/>
            </a:br>
            <a:r>
              <a:rPr lang="fr-FR" b="1" dirty="0">
                <a:latin typeface="Times New Roman" panose="02020603050405020304" pitchFamily="18" charset="0"/>
                <a:cs typeface="Times New Roman" panose="02020603050405020304" pitchFamily="18" charset="0"/>
              </a:rPr>
              <a:t>SDN Infrastructure Layer</a:t>
            </a:r>
            <a:endParaRPr lang="fr-DZ" dirty="0"/>
          </a:p>
        </p:txBody>
      </p:sp>
      <p:sp>
        <p:nvSpPr>
          <p:cNvPr id="3" name="Picture Placeholder 2">
            <a:extLst>
              <a:ext uri="{FF2B5EF4-FFF2-40B4-BE49-F238E27FC236}">
                <a16:creationId xmlns:a16="http://schemas.microsoft.com/office/drawing/2014/main" id="{4282523A-6B36-279D-A462-EA973307458E}"/>
              </a:ext>
            </a:extLst>
          </p:cNvPr>
          <p:cNvSpPr>
            <a:spLocks noGrp="1"/>
          </p:cNvSpPr>
          <p:nvPr>
            <p:ph type="pic" idx="1"/>
          </p:nvPr>
        </p:nvSpPr>
        <p:spPr/>
      </p:sp>
      <p:sp>
        <p:nvSpPr>
          <p:cNvPr id="6" name="TextBox 5">
            <a:extLst>
              <a:ext uri="{FF2B5EF4-FFF2-40B4-BE49-F238E27FC236}">
                <a16:creationId xmlns:a16="http://schemas.microsoft.com/office/drawing/2014/main" id="{13136226-9405-6EE8-1827-D6D1A946D0B5}"/>
              </a:ext>
            </a:extLst>
          </p:cNvPr>
          <p:cNvSpPr txBox="1"/>
          <p:nvPr/>
        </p:nvSpPr>
        <p:spPr>
          <a:xfrm>
            <a:off x="5306507" y="1828800"/>
            <a:ext cx="6094602" cy="2862322"/>
          </a:xfrm>
          <a:prstGeom prst="rect">
            <a:avLst/>
          </a:prstGeom>
          <a:noFill/>
        </p:spPr>
        <p:txBody>
          <a:bodyPr wrap="square">
            <a:spAutoFit/>
          </a:bodyPr>
          <a:lstStyle/>
          <a:p>
            <a:r>
              <a:rPr lang="fr-FR" b="1" dirty="0" err="1">
                <a:latin typeface="Times New Roman" panose="02020603050405020304" pitchFamily="18" charset="0"/>
                <a:cs typeface="Times New Roman" panose="02020603050405020304" pitchFamily="18" charset="0"/>
              </a:rPr>
              <a:t>Role</a:t>
            </a:r>
            <a:r>
              <a:rPr lang="fr-FR" b="1" dirty="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Execute</a:t>
            </a:r>
            <a:r>
              <a:rPr lang="fr-FR" dirty="0">
                <a:latin typeface="Times New Roman" panose="02020603050405020304" pitchFamily="18" charset="0"/>
                <a:cs typeface="Times New Roman" panose="02020603050405020304" pitchFamily="18" charset="0"/>
              </a:rPr>
              <a:t> the instructions </a:t>
            </a:r>
            <a:r>
              <a:rPr lang="fr-FR" dirty="0" err="1">
                <a:latin typeface="Times New Roman" panose="02020603050405020304" pitchFamily="18" charset="0"/>
                <a:cs typeface="Times New Roman" panose="02020603050405020304" pitchFamily="18" charset="0"/>
              </a:rPr>
              <a:t>from</a:t>
            </a:r>
            <a:r>
              <a:rPr lang="fr-FR" dirty="0">
                <a:latin typeface="Times New Roman" panose="02020603050405020304" pitchFamily="18" charset="0"/>
                <a:cs typeface="Times New Roman" panose="02020603050405020304" pitchFamily="18" charset="0"/>
              </a:rPr>
              <a:t> the </a:t>
            </a:r>
            <a:r>
              <a:rPr lang="fr-FR" dirty="0" err="1">
                <a:latin typeface="Times New Roman" panose="02020603050405020304" pitchFamily="18" charset="0"/>
                <a:cs typeface="Times New Roman" panose="02020603050405020304" pitchFamily="18" charset="0"/>
              </a:rPr>
              <a:t>controller</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forward</a:t>
            </a:r>
            <a:r>
              <a:rPr lang="fr-FR" dirty="0">
                <a:latin typeface="Times New Roman" panose="02020603050405020304" pitchFamily="18" charset="0"/>
                <a:cs typeface="Times New Roman" panose="02020603050405020304" pitchFamily="18" charset="0"/>
              </a:rPr>
              <a:t>, drop, </a:t>
            </a:r>
            <a:r>
              <a:rPr lang="fr-FR" dirty="0" err="1">
                <a:latin typeface="Times New Roman" panose="02020603050405020304" pitchFamily="18" charset="0"/>
                <a:cs typeface="Times New Roman" panose="02020603050405020304" pitchFamily="18" charset="0"/>
              </a:rPr>
              <a:t>modify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send</a:t>
            </a:r>
            <a:r>
              <a:rPr lang="fr-FR" dirty="0">
                <a:latin typeface="Times New Roman" panose="02020603050405020304" pitchFamily="18" charset="0"/>
                <a:cs typeface="Times New Roman" panose="02020603050405020304" pitchFamily="18" charset="0"/>
              </a:rPr>
              <a:t>).</a:t>
            </a:r>
          </a:p>
          <a:p>
            <a:r>
              <a:rPr lang="fr-FR" b="1" dirty="0">
                <a:latin typeface="Times New Roman" panose="02020603050405020304" pitchFamily="18" charset="0"/>
                <a:cs typeface="Times New Roman" panose="02020603050405020304" pitchFamily="18" charset="0"/>
              </a:rPr>
              <a:t>Components:</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b="1" dirty="0" err="1">
                <a:latin typeface="Times New Roman" panose="02020603050405020304" pitchFamily="18" charset="0"/>
                <a:cs typeface="Times New Roman" panose="02020603050405020304" pitchFamily="18" charset="0"/>
              </a:rPr>
              <a:t>OpenFlow</a:t>
            </a:r>
            <a:r>
              <a:rPr lang="fr-FR" b="1" dirty="0">
                <a:latin typeface="Times New Roman" panose="02020603050405020304" pitchFamily="18" charset="0"/>
                <a:cs typeface="Times New Roman" panose="02020603050405020304" pitchFamily="18" charset="0"/>
              </a:rPr>
              <a:t> Switches:</a:t>
            </a:r>
            <a:r>
              <a:rPr lang="fr-FR" dirty="0">
                <a:latin typeface="Times New Roman" panose="02020603050405020304" pitchFamily="18" charset="0"/>
                <a:cs typeface="Times New Roman" panose="02020603050405020304" pitchFamily="18" charset="0"/>
              </a:rPr>
              <a:t> Hardware or software-</a:t>
            </a:r>
            <a:r>
              <a:rPr lang="fr-FR" dirty="0" err="1">
                <a:latin typeface="Times New Roman" panose="02020603050405020304" pitchFamily="18" charset="0"/>
                <a:cs typeface="Times New Roman" panose="02020603050405020304" pitchFamily="18" charset="0"/>
              </a:rPr>
              <a:t>based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devices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that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understand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controller</a:t>
            </a:r>
            <a:r>
              <a:rPr lang="fr-FR" dirty="0">
                <a:latin typeface="Times New Roman" panose="02020603050405020304" pitchFamily="18" charset="0"/>
                <a:cs typeface="Times New Roman" panose="02020603050405020304" pitchFamily="18" charset="0"/>
              </a:rPr>
              <a:t> instructions.</a:t>
            </a: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Flow Tables: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Contain</a:t>
            </a:r>
            <a:r>
              <a:rPr lang="fr-FR" dirty="0">
                <a:latin typeface="Times New Roman" panose="02020603050405020304" pitchFamily="18" charset="0"/>
                <a:cs typeface="Times New Roman" panose="02020603050405020304" pitchFamily="18" charset="0"/>
              </a:rPr>
              <a:t> match–action </a:t>
            </a:r>
            <a:r>
              <a:rPr lang="fr-FR" dirty="0" err="1">
                <a:latin typeface="Times New Roman" panose="02020603050405020304" pitchFamily="18" charset="0"/>
                <a:cs typeface="Times New Roman" panose="02020603050405020304" pitchFamily="18" charset="0"/>
              </a:rPr>
              <a:t>rules</a:t>
            </a:r>
            <a:r>
              <a:rPr lang="fr-FR" dirty="0">
                <a:latin typeface="Times New Roman" panose="02020603050405020304" pitchFamily="18" charset="0"/>
                <a:cs typeface="Times New Roman" panose="02020603050405020304" pitchFamily="18" charset="0"/>
              </a:rPr>
              <a:t> (if packet matches </a:t>
            </a:r>
            <a:r>
              <a:rPr lang="fr-FR" dirty="0" err="1">
                <a:latin typeface="Times New Roman" panose="02020603050405020304" pitchFamily="18" charset="0"/>
                <a:cs typeface="Times New Roman" panose="02020603050405020304" pitchFamily="18" charset="0"/>
              </a:rPr>
              <a:t>criteria</a:t>
            </a:r>
            <a:r>
              <a:rPr lang="fr-FR" dirty="0">
                <a:latin typeface="Times New Roman" panose="02020603050405020304" pitchFamily="18" charset="0"/>
                <a:cs typeface="Times New Roman" panose="02020603050405020304" pitchFamily="18" charset="0"/>
              </a:rPr>
              <a:t> → </a:t>
            </a:r>
            <a:r>
              <a:rPr lang="fr-FR" dirty="0" err="1">
                <a:latin typeface="Times New Roman" panose="02020603050405020304" pitchFamily="18" charset="0"/>
                <a:cs typeface="Times New Roman" panose="02020603050405020304" pitchFamily="18" charset="0"/>
              </a:rPr>
              <a:t>perform</a:t>
            </a:r>
            <a:r>
              <a:rPr lang="fr-FR" dirty="0">
                <a:latin typeface="Times New Roman" panose="02020603050405020304" pitchFamily="18" charset="0"/>
                <a:cs typeface="Times New Roman" panose="02020603050405020304" pitchFamily="18" charset="0"/>
              </a:rPr>
              <a:t> action).</a:t>
            </a: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Virtual Switches (</a:t>
            </a:r>
            <a:r>
              <a:rPr lang="fr-FR" b="1" dirty="0" err="1">
                <a:latin typeface="Times New Roman" panose="02020603050405020304" pitchFamily="18" charset="0"/>
                <a:cs typeface="Times New Roman" panose="02020603050405020304" pitchFamily="18" charset="0"/>
              </a:rPr>
              <a:t>vSwitch</a:t>
            </a:r>
            <a:r>
              <a:rPr lang="fr-FR" b="1" dirty="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 Run in </a:t>
            </a:r>
            <a:r>
              <a:rPr lang="fr-FR" dirty="0" err="1">
                <a:latin typeface="Times New Roman" panose="02020603050405020304" pitchFamily="18" charset="0"/>
                <a:cs typeface="Times New Roman" panose="02020603050405020304" pitchFamily="18" charset="0"/>
              </a:rPr>
              <a:t>hypervisors</a:t>
            </a:r>
            <a:r>
              <a:rPr lang="fr-FR" dirty="0">
                <a:latin typeface="Times New Roman" panose="02020603050405020304" pitchFamily="18" charset="0"/>
                <a:cs typeface="Times New Roman" panose="02020603050405020304" pitchFamily="18" charset="0"/>
              </a:rPr>
              <a:t> or cloud </a:t>
            </a:r>
            <a:r>
              <a:rPr lang="fr-FR" dirty="0" err="1">
                <a:latin typeface="Times New Roman" panose="02020603050405020304" pitchFamily="18" charset="0"/>
                <a:cs typeface="Times New Roman" panose="02020603050405020304" pitchFamily="18" charset="0"/>
              </a:rPr>
              <a:t>environments</a:t>
            </a:r>
            <a:r>
              <a:rPr lang="fr-FR" dirty="0">
                <a:latin typeface="Times New Roman" panose="02020603050405020304" pitchFamily="18" charset="0"/>
                <a:cs typeface="Times New Roman" panose="02020603050405020304" pitchFamily="18" charset="0"/>
              </a:rPr>
              <a:t> (e.g., Open </a:t>
            </a:r>
            <a:r>
              <a:rPr lang="fr-FR" dirty="0" err="1">
                <a:latin typeface="Times New Roman" panose="02020603050405020304" pitchFamily="18" charset="0"/>
                <a:cs typeface="Times New Roman" panose="02020603050405020304" pitchFamily="18" charset="0"/>
              </a:rPr>
              <a:t>vSwitch</a:t>
            </a:r>
            <a:r>
              <a:rPr lang="fr-FR" dirty="0">
                <a:latin typeface="Times New Roman" panose="02020603050405020304" pitchFamily="18" charset="0"/>
                <a:cs typeface="Times New Roman" panose="02020603050405020304" pitchFamily="18" charset="0"/>
              </a:rPr>
              <a:t>).</a:t>
            </a:r>
          </a:p>
          <a:p>
            <a:r>
              <a:rPr lang="fr-FR" b="1" dirty="0">
                <a:latin typeface="Times New Roman" panose="02020603050405020304" pitchFamily="18" charset="0"/>
                <a:cs typeface="Times New Roman" panose="02020603050405020304" pitchFamily="18" charset="0"/>
              </a:rPr>
              <a:t>Protocol Example: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OpenFlow</a:t>
            </a:r>
            <a:r>
              <a:rPr lang="fr-FR" dirty="0">
                <a:latin typeface="Times New Roman" panose="02020603050405020304" pitchFamily="18" charset="0"/>
                <a:cs typeface="Times New Roman" panose="02020603050405020304" pitchFamily="18" charset="0"/>
              </a:rPr>
              <a:t>, NETCONF, </a:t>
            </a:r>
            <a:r>
              <a:rPr lang="fr-FR" dirty="0" err="1">
                <a:latin typeface="Times New Roman" panose="02020603050405020304" pitchFamily="18" charset="0"/>
                <a:cs typeface="Times New Roman" panose="02020603050405020304" pitchFamily="18" charset="0"/>
              </a:rPr>
              <a:t>gNMI</a:t>
            </a:r>
            <a:r>
              <a:rPr lang="fr-FR" dirty="0">
                <a:latin typeface="Times New Roman" panose="02020603050405020304" pitchFamily="18" charset="0"/>
                <a:cs typeface="Times New Roman" panose="02020603050405020304" pitchFamily="18" charset="0"/>
              </a:rPr>
              <a:t>.</a:t>
            </a:r>
          </a:p>
        </p:txBody>
      </p:sp>
      <p:pic>
        <p:nvPicPr>
          <p:cNvPr id="7" name="Picture 4">
            <a:extLst>
              <a:ext uri="{FF2B5EF4-FFF2-40B4-BE49-F238E27FC236}">
                <a16:creationId xmlns:a16="http://schemas.microsoft.com/office/drawing/2014/main" id="{671B1249-FC97-8E98-92F7-8C0786F4B1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651" y="1916832"/>
            <a:ext cx="3858601" cy="4430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8176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0AE6A-5D39-6E31-803E-2385082B02AD}"/>
              </a:ext>
            </a:extLst>
          </p:cNvPr>
          <p:cNvSpPr>
            <a:spLocks noGrp="1"/>
          </p:cNvSpPr>
          <p:nvPr>
            <p:ph type="title"/>
          </p:nvPr>
        </p:nvSpPr>
        <p:spPr/>
        <p:txBody>
          <a:bodyPr>
            <a:normAutofit/>
          </a:bodyPr>
          <a:lstStyle/>
          <a:p>
            <a:r>
              <a:rPr lang="fr-FR" b="1" dirty="0">
                <a:latin typeface="Times New Roman" panose="02020603050405020304" pitchFamily="18" charset="0"/>
                <a:cs typeface="Times New Roman" panose="02020603050405020304" pitchFamily="18" charset="0"/>
              </a:rPr>
              <a:t>SDN Control Plane (The Controller)</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78F22E8D-58A7-C38A-2E81-AE2732BD43FD}"/>
              </a:ext>
            </a:extLst>
          </p:cNvPr>
          <p:cNvSpPr>
            <a:spLocks noGrp="1"/>
          </p:cNvSpPr>
          <p:nvPr>
            <p:ph type="pic" idx="1"/>
          </p:nvPr>
        </p:nvSpPr>
        <p:spPr/>
      </p:sp>
      <p:sp>
        <p:nvSpPr>
          <p:cNvPr id="6" name="TextBox 5">
            <a:extLst>
              <a:ext uri="{FF2B5EF4-FFF2-40B4-BE49-F238E27FC236}">
                <a16:creationId xmlns:a16="http://schemas.microsoft.com/office/drawing/2014/main" id="{B1E7B1C8-387A-1521-A8FE-7B61408FFA70}"/>
              </a:ext>
            </a:extLst>
          </p:cNvPr>
          <p:cNvSpPr txBox="1"/>
          <p:nvPr/>
        </p:nvSpPr>
        <p:spPr>
          <a:xfrm>
            <a:off x="5662364" y="1480740"/>
            <a:ext cx="6094602" cy="3139321"/>
          </a:xfrm>
          <a:prstGeom prst="rect">
            <a:avLst/>
          </a:prstGeom>
          <a:noFill/>
        </p:spPr>
        <p:txBody>
          <a:bodyPr wrap="square">
            <a:spAutoFit/>
          </a:bodyPr>
          <a:lstStyle/>
          <a:p>
            <a:pPr>
              <a:buNone/>
            </a:pPr>
            <a:r>
              <a:rPr lang="fr-FR" b="1" dirty="0" err="1">
                <a:latin typeface="Times New Roman" panose="02020603050405020304" pitchFamily="18" charset="0"/>
                <a:cs typeface="Times New Roman" panose="02020603050405020304" pitchFamily="18" charset="0"/>
              </a:rPr>
              <a:t>Function</a:t>
            </a:r>
            <a:r>
              <a:rPr lang="fr-FR" b="1" dirty="0">
                <a:latin typeface="Times New Roman" panose="02020603050405020304" pitchFamily="18" charset="0"/>
                <a:cs typeface="Times New Roman" panose="02020603050405020304" pitchFamily="18" charset="0"/>
              </a:rPr>
              <a:t>:</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Central point </a:t>
            </a:r>
            <a:r>
              <a:rPr lang="fr-FR" dirty="0" err="1">
                <a:latin typeface="Times New Roman" panose="02020603050405020304" pitchFamily="18" charset="0"/>
                <a:cs typeface="Times New Roman" panose="02020603050405020304" pitchFamily="18" charset="0"/>
              </a:rPr>
              <a:t>that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determines</a:t>
            </a:r>
            <a:r>
              <a:rPr lang="fr-FR" dirty="0">
                <a:latin typeface="Times New Roman" panose="02020603050405020304" pitchFamily="18" charset="0"/>
                <a:cs typeface="Times New Roman" panose="02020603050405020304" pitchFamily="18" charset="0"/>
              </a:rPr>
              <a:t> how </a:t>
            </a:r>
            <a:r>
              <a:rPr lang="fr-FR" dirty="0" err="1">
                <a:latin typeface="Times New Roman" panose="02020603050405020304" pitchFamily="18" charset="0"/>
                <a:cs typeface="Times New Roman" panose="02020603050405020304" pitchFamily="18" charset="0"/>
              </a:rPr>
              <a:t>traffic</a:t>
            </a:r>
            <a:r>
              <a:rPr lang="fr-FR" dirty="0">
                <a:latin typeface="Times New Roman" panose="02020603050405020304" pitchFamily="18" charset="0"/>
                <a:cs typeface="Times New Roman" panose="02020603050405020304" pitchFamily="18" charset="0"/>
              </a:rPr>
              <a:t> flows in the network.</a:t>
            </a:r>
          </a:p>
          <a:p>
            <a:pPr>
              <a:buNone/>
            </a:pPr>
            <a:r>
              <a:rPr lang="fr-FR" b="1" dirty="0" err="1">
                <a:latin typeface="Times New Roman" panose="02020603050405020304" pitchFamily="18" charset="0"/>
                <a:cs typeface="Times New Roman" panose="02020603050405020304" pitchFamily="18" charset="0"/>
              </a:rPr>
              <a:t>Tasks</a:t>
            </a:r>
            <a:r>
              <a:rPr lang="fr-FR" b="1" dirty="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Maintains</a:t>
            </a:r>
            <a:r>
              <a:rPr lang="fr-FR" dirty="0">
                <a:latin typeface="Times New Roman" panose="02020603050405020304" pitchFamily="18" charset="0"/>
                <a:cs typeface="Times New Roman" panose="02020603050405020304" pitchFamily="18" charset="0"/>
              </a:rPr>
              <a:t> network </a:t>
            </a:r>
            <a:r>
              <a:rPr lang="fr-FR" dirty="0" err="1">
                <a:latin typeface="Times New Roman" panose="02020603050405020304" pitchFamily="18" charset="0"/>
                <a:cs typeface="Times New Roman" panose="02020603050405020304" pitchFamily="18" charset="0"/>
              </a:rPr>
              <a:t>topology</a:t>
            </a:r>
            <a:r>
              <a:rPr lang="fr-FR"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Installs</a:t>
            </a:r>
            <a:r>
              <a:rPr lang="fr-FR" dirty="0">
                <a:latin typeface="Times New Roman" panose="02020603050405020304" pitchFamily="18" charset="0"/>
                <a:cs typeface="Times New Roman" panose="02020603050405020304" pitchFamily="18" charset="0"/>
              </a:rPr>
              <a:t>, updates, or </a:t>
            </a:r>
            <a:r>
              <a:rPr lang="fr-FR" dirty="0" err="1">
                <a:latin typeface="Times New Roman" panose="02020603050405020304" pitchFamily="18" charset="0"/>
                <a:cs typeface="Times New Roman" panose="02020603050405020304" pitchFamily="18" charset="0"/>
              </a:rPr>
              <a:t>removes</a:t>
            </a:r>
            <a:r>
              <a:rPr lang="fr-FR" dirty="0">
                <a:latin typeface="Times New Roman" panose="02020603050405020304" pitchFamily="18" charset="0"/>
                <a:cs typeface="Times New Roman" panose="02020603050405020304" pitchFamily="18" charset="0"/>
              </a:rPr>
              <a:t> flow </a:t>
            </a:r>
            <a:r>
              <a:rPr lang="fr-FR" dirty="0" err="1">
                <a:latin typeface="Times New Roman" panose="02020603050405020304" pitchFamily="18" charset="0"/>
                <a:cs typeface="Times New Roman" panose="02020603050405020304" pitchFamily="18" charset="0"/>
              </a:rPr>
              <a:t>rules</a:t>
            </a:r>
            <a:r>
              <a:rPr lang="fr-FR"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Collects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statistics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from</a:t>
            </a:r>
            <a:r>
              <a:rPr lang="fr-FR" dirty="0">
                <a:latin typeface="Times New Roman" panose="02020603050405020304" pitchFamily="18" charset="0"/>
                <a:cs typeface="Times New Roman" panose="02020603050405020304" pitchFamily="18" charset="0"/>
              </a:rPr>
              <a:t> switches.</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Enforces </a:t>
            </a:r>
            <a:r>
              <a:rPr lang="fr-FR" dirty="0" err="1">
                <a:latin typeface="Times New Roman" panose="02020603050405020304" pitchFamily="18" charset="0"/>
                <a:cs typeface="Times New Roman" panose="02020603050405020304" pitchFamily="18" charset="0"/>
              </a:rPr>
              <a:t>policies</a:t>
            </a:r>
            <a:r>
              <a:rPr lang="fr-FR" dirty="0">
                <a:latin typeface="Times New Roman" panose="02020603050405020304" pitchFamily="18" charset="0"/>
                <a:cs typeface="Times New Roman" panose="02020603050405020304" pitchFamily="18" charset="0"/>
              </a:rPr>
              <a:t> (QoS, </a:t>
            </a:r>
            <a:r>
              <a:rPr lang="fr-FR" dirty="0" err="1">
                <a:latin typeface="Times New Roman" panose="02020603050405020304" pitchFamily="18" charset="0"/>
                <a:cs typeface="Times New Roman" panose="02020603050405020304" pitchFamily="18" charset="0"/>
              </a:rPr>
              <a:t>access</a:t>
            </a:r>
            <a:r>
              <a:rPr lang="fr-FR" dirty="0">
                <a:latin typeface="Times New Roman" panose="02020603050405020304" pitchFamily="18" charset="0"/>
                <a:cs typeface="Times New Roman" panose="02020603050405020304" pitchFamily="18" charset="0"/>
              </a:rPr>
              <a:t> control, </a:t>
            </a:r>
            <a:r>
              <a:rPr lang="fr-FR" dirty="0" err="1">
                <a:latin typeface="Times New Roman" panose="02020603050405020304" pitchFamily="18" charset="0"/>
                <a:cs typeface="Times New Roman" panose="02020603050405020304" pitchFamily="18" charset="0"/>
              </a:rPr>
              <a:t>routing</a:t>
            </a:r>
            <a:r>
              <a:rPr lang="fr-FR" dirty="0">
                <a:latin typeface="Times New Roman" panose="02020603050405020304" pitchFamily="18" charset="0"/>
                <a:cs typeface="Times New Roman" panose="02020603050405020304" pitchFamily="18" charset="0"/>
              </a:rPr>
              <a:t>).</a:t>
            </a:r>
          </a:p>
          <a:p>
            <a:pPr>
              <a:buNone/>
            </a:pPr>
            <a:r>
              <a:rPr lang="fr-FR" b="1" dirty="0" err="1">
                <a:latin typeface="Times New Roman" panose="02020603050405020304" pitchFamily="18" charset="0"/>
                <a:cs typeface="Times New Roman" panose="02020603050405020304" pitchFamily="18" charset="0"/>
              </a:rPr>
              <a:t>Examples</a:t>
            </a:r>
            <a:r>
              <a:rPr lang="fr-FR" b="1" dirty="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ONOS (Open Network Operating System)</a:t>
            </a:r>
            <a:endParaRPr lang="fr-FR"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fr-FR" b="1" dirty="0" err="1">
                <a:latin typeface="Times New Roman" panose="02020603050405020304" pitchFamily="18" charset="0"/>
                <a:cs typeface="Times New Roman" panose="02020603050405020304" pitchFamily="18" charset="0"/>
              </a:rPr>
              <a:t>OpenDaylight</a:t>
            </a:r>
            <a:endParaRPr lang="fr-FR"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fr-FR" b="1" dirty="0" err="1">
                <a:latin typeface="Times New Roman" panose="02020603050405020304" pitchFamily="18" charset="0"/>
                <a:cs typeface="Times New Roman" panose="02020603050405020304" pitchFamily="18" charset="0"/>
              </a:rPr>
              <a:t>Floodlight</a:t>
            </a:r>
            <a:r>
              <a:rPr lang="fr-FR"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Ryu</a:t>
            </a:r>
            <a:r>
              <a:rPr lang="fr-FR"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Cisco APIC</a:t>
            </a:r>
            <a:endParaRPr lang="fr-FR" dirty="0">
              <a:latin typeface="Times New Roman" panose="02020603050405020304" pitchFamily="18" charset="0"/>
              <a:cs typeface="Times New Roman" panose="02020603050405020304" pitchFamily="18" charset="0"/>
            </a:endParaRPr>
          </a:p>
        </p:txBody>
      </p:sp>
      <p:pic>
        <p:nvPicPr>
          <p:cNvPr id="7" name="Picture 4">
            <a:extLst>
              <a:ext uri="{FF2B5EF4-FFF2-40B4-BE49-F238E27FC236}">
                <a16:creationId xmlns:a16="http://schemas.microsoft.com/office/drawing/2014/main" id="{39228258-1B26-383F-F416-BD9EE26793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651" y="1916832"/>
            <a:ext cx="3858601" cy="4430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1545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4A642-AF89-A906-D0E5-163305A0B4E6}"/>
              </a:ext>
            </a:extLst>
          </p:cNvPr>
          <p:cNvSpPr>
            <a:spLocks noGrp="1"/>
          </p:cNvSpPr>
          <p:nvPr>
            <p:ph type="title"/>
          </p:nvPr>
        </p:nvSpPr>
        <p:spPr/>
        <p:txBody>
          <a:bodyPr/>
          <a:lstStyle/>
          <a:p>
            <a:r>
              <a:rPr lang="fr-FR" b="1" dirty="0">
                <a:latin typeface="Times New Roman" panose="02020603050405020304" pitchFamily="18" charset="0"/>
                <a:cs typeface="Times New Roman" panose="02020603050405020304" pitchFamily="18" charset="0"/>
              </a:rPr>
              <a:t>SDN Application Layer</a:t>
            </a:r>
            <a:endParaRPr lang="fr-DZ" dirty="0">
              <a:latin typeface="Times New Roman" panose="02020603050405020304" pitchFamily="18"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7D478926-AE86-F4F1-F175-4AECE440A9B7}"/>
              </a:ext>
            </a:extLst>
          </p:cNvPr>
          <p:cNvSpPr>
            <a:spLocks noGrp="1"/>
          </p:cNvSpPr>
          <p:nvPr>
            <p:ph type="pic" idx="1"/>
          </p:nvPr>
        </p:nvSpPr>
        <p:spPr/>
      </p:sp>
      <p:sp>
        <p:nvSpPr>
          <p:cNvPr id="6" name="TextBox 5">
            <a:extLst>
              <a:ext uri="{FF2B5EF4-FFF2-40B4-BE49-F238E27FC236}">
                <a16:creationId xmlns:a16="http://schemas.microsoft.com/office/drawing/2014/main" id="{3DFB3110-C6B8-7F29-D6B8-A30674FE81BE}"/>
              </a:ext>
            </a:extLst>
          </p:cNvPr>
          <p:cNvSpPr txBox="1"/>
          <p:nvPr/>
        </p:nvSpPr>
        <p:spPr>
          <a:xfrm>
            <a:off x="5328402" y="1619240"/>
            <a:ext cx="6094602" cy="3139321"/>
          </a:xfrm>
          <a:prstGeom prst="rect">
            <a:avLst/>
          </a:prstGeom>
          <a:noFill/>
        </p:spPr>
        <p:txBody>
          <a:bodyPr wrap="square">
            <a:spAutoFit/>
          </a:bodyPr>
          <a:lstStyle/>
          <a:p>
            <a:pPr>
              <a:buNone/>
            </a:pPr>
            <a:r>
              <a:rPr lang="fr-FR" b="1" dirty="0" err="1">
                <a:latin typeface="Times New Roman" panose="02020603050405020304" pitchFamily="18" charset="0"/>
                <a:cs typeface="Times New Roman" panose="02020603050405020304" pitchFamily="18" charset="0"/>
              </a:rPr>
              <a:t>Purpose</a:t>
            </a:r>
            <a:r>
              <a:rPr lang="fr-FR" b="1" dirty="0">
                <a:latin typeface="Times New Roman" panose="02020603050405020304" pitchFamily="18" charset="0"/>
                <a:cs typeface="Times New Roman" panose="02020603050405020304" pitchFamily="18" charset="0"/>
              </a:rPr>
              <a:t>:</a:t>
            </a:r>
            <a:br>
              <a:rPr lang="fr-FR" dirty="0">
                <a:latin typeface="Times New Roman" panose="02020603050405020304" pitchFamily="18" charset="0"/>
                <a:cs typeface="Times New Roman" panose="02020603050405020304" pitchFamily="18" charset="0"/>
              </a:rPr>
            </a:br>
            <a:r>
              <a:rPr lang="fr-FR" dirty="0" err="1">
                <a:latin typeface="Times New Roman" panose="02020603050405020304" pitchFamily="18" charset="0"/>
                <a:cs typeface="Times New Roman" panose="02020603050405020304" pitchFamily="18" charset="0"/>
              </a:rPr>
              <a:t>Provides</a:t>
            </a:r>
            <a:r>
              <a:rPr lang="fr-FR" dirty="0">
                <a:latin typeface="Times New Roman" panose="02020603050405020304" pitchFamily="18" charset="0"/>
                <a:cs typeface="Times New Roman" panose="02020603050405020304" pitchFamily="18" charset="0"/>
              </a:rPr>
              <a:t> user-</a:t>
            </a:r>
            <a:r>
              <a:rPr lang="fr-FR" dirty="0" err="1">
                <a:latin typeface="Times New Roman" panose="02020603050405020304" pitchFamily="18" charset="0"/>
                <a:cs typeface="Times New Roman" panose="02020603050405020304" pitchFamily="18" charset="0"/>
              </a:rPr>
              <a:t>facing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functionality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that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defines</a:t>
            </a:r>
            <a:r>
              <a:rPr lang="fr-FR" dirty="0">
                <a:latin typeface="Times New Roman" panose="02020603050405020304" pitchFamily="18" charset="0"/>
                <a:cs typeface="Times New Roman" panose="02020603050405020304" pitchFamily="18" charset="0"/>
              </a:rPr>
              <a:t> network </a:t>
            </a:r>
            <a:r>
              <a:rPr lang="fr-FR" dirty="0" err="1">
                <a:latin typeface="Times New Roman" panose="02020603050405020304" pitchFamily="18" charset="0"/>
                <a:cs typeface="Times New Roman" panose="02020603050405020304" pitchFamily="18" charset="0"/>
              </a:rPr>
              <a:t>behavior</a:t>
            </a:r>
            <a:r>
              <a:rPr lang="fr-FR" dirty="0">
                <a:latin typeface="Times New Roman" panose="02020603050405020304" pitchFamily="18" charset="0"/>
                <a:cs typeface="Times New Roman" panose="02020603050405020304" pitchFamily="18" charset="0"/>
              </a:rPr>
              <a:t>.</a:t>
            </a:r>
          </a:p>
          <a:p>
            <a:pPr>
              <a:buNone/>
            </a:pPr>
            <a:r>
              <a:rPr lang="fr-FR" b="1" dirty="0">
                <a:latin typeface="Times New Roman" panose="02020603050405020304" pitchFamily="18" charset="0"/>
                <a:cs typeface="Times New Roman" panose="02020603050405020304" pitchFamily="18" charset="0"/>
              </a:rPr>
              <a:t>Common SDN Applications:</a:t>
            </a:r>
            <a:endParaRPr lang="fr-FR"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Traffic Engineering: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Optimize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bandwidth</a:t>
            </a:r>
            <a:r>
              <a:rPr lang="fr-FR" dirty="0">
                <a:latin typeface="Times New Roman" panose="02020603050405020304" pitchFamily="18" charset="0"/>
                <a:cs typeface="Times New Roman" panose="02020603050405020304" pitchFamily="18" charset="0"/>
              </a:rPr>
              <a:t> usage.</a:t>
            </a:r>
          </a:p>
          <a:p>
            <a:pPr>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Security Monitoring:</a:t>
            </a:r>
            <a:r>
              <a:rPr lang="fr-FR" dirty="0">
                <a:latin typeface="Times New Roman" panose="02020603050405020304" pitchFamily="18" charset="0"/>
                <a:cs typeface="Times New Roman" panose="02020603050405020304" pitchFamily="18" charset="0"/>
              </a:rPr>
              <a:t> Intrusion </a:t>
            </a:r>
            <a:r>
              <a:rPr lang="fr-FR" dirty="0" err="1">
                <a:latin typeface="Times New Roman" panose="02020603050405020304" pitchFamily="18" charset="0"/>
                <a:cs typeface="Times New Roman" panose="02020603050405020304" pitchFamily="18" charset="0"/>
              </a:rPr>
              <a:t>detection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anomaly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detection</a:t>
            </a:r>
            <a:r>
              <a:rPr lang="fr-FR"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fr-FR" b="1" dirty="0" err="1">
                <a:latin typeface="Times New Roman" panose="02020603050405020304" pitchFamily="18" charset="0"/>
                <a:cs typeface="Times New Roman" panose="02020603050405020304" pitchFamily="18" charset="0"/>
              </a:rPr>
              <a:t>Load</a:t>
            </a:r>
            <a:r>
              <a:rPr lang="fr-FR" b="1" dirty="0">
                <a:latin typeface="Times New Roman" panose="02020603050405020304" pitchFamily="18" charset="0"/>
                <a:cs typeface="Times New Roman" panose="02020603050405020304" pitchFamily="18" charset="0"/>
              </a:rPr>
              <a:t> Balancing: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Distribute</a:t>
            </a:r>
            <a:r>
              <a:rPr lang="fr-FR" dirty="0">
                <a:latin typeface="Times New Roman" panose="02020603050405020304" pitchFamily="18" charset="0"/>
                <a:cs typeface="Times New Roman" panose="02020603050405020304" pitchFamily="18" charset="0"/>
              </a:rPr>
              <a:t> flows </a:t>
            </a:r>
            <a:r>
              <a:rPr lang="fr-FR" dirty="0" err="1">
                <a:latin typeface="Times New Roman" panose="02020603050405020304" pitchFamily="18" charset="0"/>
                <a:cs typeface="Times New Roman" panose="02020603050405020304" pitchFamily="18" charset="0"/>
              </a:rPr>
              <a:t>across</a:t>
            </a:r>
            <a:r>
              <a:rPr lang="fr-FR" dirty="0">
                <a:latin typeface="Times New Roman" panose="02020603050405020304" pitchFamily="18" charset="0"/>
                <a:cs typeface="Times New Roman" panose="02020603050405020304" pitchFamily="18" charset="0"/>
              </a:rPr>
              <a:t> multiple </a:t>
            </a:r>
            <a:r>
              <a:rPr lang="fr-FR" dirty="0" err="1">
                <a:latin typeface="Times New Roman" panose="02020603050405020304" pitchFamily="18" charset="0"/>
                <a:cs typeface="Times New Roman" panose="02020603050405020304" pitchFamily="18" charset="0"/>
              </a:rPr>
              <a:t>paths</a:t>
            </a:r>
            <a:r>
              <a:rPr lang="fr-FR"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QoS Management: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Prioritize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delay</a:t>
            </a:r>
            <a:r>
              <a:rPr lang="fr-FR" dirty="0">
                <a:latin typeface="Times New Roman" panose="02020603050405020304" pitchFamily="18" charset="0"/>
                <a:cs typeface="Times New Roman" panose="02020603050405020304" pitchFamily="18" charset="0"/>
              </a:rPr>
              <a:t>-sensitive </a:t>
            </a:r>
            <a:r>
              <a:rPr lang="fr-FR" dirty="0" err="1">
                <a:latin typeface="Times New Roman" panose="02020603050405020304" pitchFamily="18" charset="0"/>
                <a:cs typeface="Times New Roman" panose="02020603050405020304" pitchFamily="18" charset="0"/>
              </a:rPr>
              <a:t>traffic</a:t>
            </a:r>
            <a:r>
              <a:rPr lang="fr-FR" dirty="0">
                <a:latin typeface="Times New Roman" panose="02020603050405020304" pitchFamily="18" charset="0"/>
                <a:cs typeface="Times New Roman" panose="02020603050405020304" pitchFamily="18" charset="0"/>
              </a:rPr>
              <a:t>.</a:t>
            </a:r>
          </a:p>
          <a:p>
            <a:pPr>
              <a:buNone/>
            </a:pPr>
            <a:r>
              <a:rPr lang="fr-FR" b="1" dirty="0">
                <a:latin typeface="Times New Roman" panose="02020603050405020304" pitchFamily="18" charset="0"/>
                <a:cs typeface="Times New Roman" panose="02020603050405020304" pitchFamily="18" charset="0"/>
              </a:rPr>
              <a:t>Interface:</a:t>
            </a:r>
            <a:br>
              <a:rPr lang="fr-FR" dirty="0">
                <a:latin typeface="Times New Roman" panose="02020603050405020304" pitchFamily="18" charset="0"/>
                <a:cs typeface="Times New Roman" panose="02020603050405020304" pitchFamily="18" charset="0"/>
              </a:rPr>
            </a:br>
            <a:r>
              <a:rPr lang="fr-FR" dirty="0" err="1">
                <a:latin typeface="Times New Roman" panose="02020603050405020304" pitchFamily="18" charset="0"/>
                <a:cs typeface="Times New Roman" panose="02020603050405020304" pitchFamily="18" charset="0"/>
              </a:rPr>
              <a:t>Communicates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with</a:t>
            </a:r>
            <a:r>
              <a:rPr lang="fr-FR" dirty="0">
                <a:latin typeface="Times New Roman" panose="02020603050405020304" pitchFamily="18" charset="0"/>
                <a:cs typeface="Times New Roman" panose="02020603050405020304" pitchFamily="18" charset="0"/>
              </a:rPr>
              <a:t> the </a:t>
            </a:r>
            <a:r>
              <a:rPr lang="fr-FR" dirty="0" err="1">
                <a:latin typeface="Times New Roman" panose="02020603050405020304" pitchFamily="18" charset="0"/>
                <a:cs typeface="Times New Roman" panose="02020603050405020304" pitchFamily="18" charset="0"/>
              </a:rPr>
              <a:t>controller</a:t>
            </a:r>
            <a:r>
              <a:rPr lang="fr-FR" dirty="0">
                <a:latin typeface="Times New Roman" panose="02020603050405020304" pitchFamily="18" charset="0"/>
                <a:cs typeface="Times New Roman" panose="02020603050405020304" pitchFamily="18" charset="0"/>
              </a:rPr>
              <a:t> via </a:t>
            </a:r>
            <a:r>
              <a:rPr lang="fr-FR" b="1" dirty="0" err="1">
                <a:latin typeface="Times New Roman" panose="02020603050405020304" pitchFamily="18" charset="0"/>
                <a:cs typeface="Times New Roman" panose="02020603050405020304" pitchFamily="18" charset="0"/>
              </a:rPr>
              <a:t>Northbound</a:t>
            </a:r>
            <a:r>
              <a:rPr lang="fr-FR" b="1" dirty="0">
                <a:latin typeface="Times New Roman" panose="02020603050405020304" pitchFamily="18" charset="0"/>
                <a:cs typeface="Times New Roman" panose="02020603050405020304" pitchFamily="18" charset="0"/>
              </a:rPr>
              <a:t> APIs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usually</a:t>
            </a:r>
            <a:r>
              <a:rPr lang="fr-FR" dirty="0">
                <a:latin typeface="Times New Roman" panose="02020603050405020304" pitchFamily="18" charset="0"/>
                <a:cs typeface="Times New Roman" panose="02020603050405020304" pitchFamily="18" charset="0"/>
              </a:rPr>
              <a:t> RESTful APIs).</a:t>
            </a:r>
          </a:p>
        </p:txBody>
      </p:sp>
      <p:pic>
        <p:nvPicPr>
          <p:cNvPr id="7" name="Picture 4">
            <a:extLst>
              <a:ext uri="{FF2B5EF4-FFF2-40B4-BE49-F238E27FC236}">
                <a16:creationId xmlns:a16="http://schemas.microsoft.com/office/drawing/2014/main" id="{25A7E955-445F-DA78-FD1E-4B0BC6CF3F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651" y="1916832"/>
            <a:ext cx="3858601" cy="4430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477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38279B-FC45-E08F-BE5D-D05F2003BAF7}"/>
              </a:ext>
            </a:extLst>
          </p:cNvPr>
          <p:cNvSpPr txBox="1"/>
          <p:nvPr/>
        </p:nvSpPr>
        <p:spPr>
          <a:xfrm>
            <a:off x="1269876" y="1050995"/>
            <a:ext cx="5256584" cy="5355312"/>
          </a:xfrm>
          <a:prstGeom prst="rect">
            <a:avLst/>
          </a:prstGeom>
          <a:noFill/>
        </p:spPr>
        <p:txBody>
          <a:bodyPr wrap="square">
            <a:spAutoFit/>
          </a:bodyPr>
          <a:lstStyle/>
          <a:p>
            <a:pPr>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OpenFlow is the </a:t>
            </a:r>
            <a:r>
              <a:rPr lang="en-US" b="1" dirty="0">
                <a:latin typeface="Times New Roman" panose="02020603050405020304" pitchFamily="18" charset="0"/>
                <a:cs typeface="Times New Roman" panose="02020603050405020304" pitchFamily="18" charset="0"/>
              </a:rPr>
              <a:t>first and most widely used</a:t>
            </a:r>
            <a:r>
              <a:rPr lang="en-US" dirty="0">
                <a:latin typeface="Times New Roman" panose="02020603050405020304" pitchFamily="18" charset="0"/>
                <a:cs typeface="Times New Roman" panose="02020603050405020304" pitchFamily="18" charset="0"/>
              </a:rPr>
              <a:t> SDN protocol that defines communication between the controller and forwarding devices.</a:t>
            </a:r>
          </a:p>
          <a:p>
            <a:pPr>
              <a:buNone/>
            </a:pPr>
            <a:r>
              <a:rPr lang="en-US" b="1" dirty="0">
                <a:latin typeface="Times New Roman" panose="02020603050405020304" pitchFamily="18" charset="0"/>
                <a:cs typeface="Times New Roman" panose="02020603050405020304" pitchFamily="18" charset="0"/>
              </a:rPr>
              <a:t>How it Works:</a:t>
            </a:r>
            <a:endParaRPr lang="en-US" dirty="0">
              <a:latin typeface="Times New Roman" panose="02020603050405020304" pitchFamily="18" charset="0"/>
              <a:cs typeface="Times New Roman" panose="02020603050405020304" pitchFamily="18" charset="0"/>
            </a:endParaRPr>
          </a:p>
          <a:p>
            <a:pPr>
              <a:buFont typeface="+mj-lt"/>
              <a:buAutoNum type="arabicPeriod"/>
            </a:pPr>
            <a:r>
              <a:rPr lang="en-US" dirty="0">
                <a:latin typeface="Times New Roman" panose="02020603050405020304" pitchFamily="18" charset="0"/>
                <a:cs typeface="Times New Roman" panose="02020603050405020304" pitchFamily="18" charset="0"/>
              </a:rPr>
              <a:t>Controller installs </a:t>
            </a:r>
            <a:r>
              <a:rPr lang="en-US" b="1" dirty="0">
                <a:latin typeface="Times New Roman" panose="02020603050405020304" pitchFamily="18" charset="0"/>
                <a:cs typeface="Times New Roman" panose="02020603050405020304" pitchFamily="18" charset="0"/>
              </a:rPr>
              <a:t>flow entries</a:t>
            </a:r>
            <a:r>
              <a:rPr lang="en-US" dirty="0">
                <a:latin typeface="Times New Roman" panose="02020603050405020304" pitchFamily="18" charset="0"/>
                <a:cs typeface="Times New Roman" panose="02020603050405020304" pitchFamily="18" charset="0"/>
              </a:rPr>
              <a:t> into switches.</a:t>
            </a:r>
          </a:p>
          <a:p>
            <a:pPr>
              <a:buFont typeface="+mj-lt"/>
              <a:buAutoNum type="arabicPeriod"/>
            </a:pPr>
            <a:r>
              <a:rPr lang="en-US" dirty="0">
                <a:latin typeface="Times New Roman" panose="02020603050405020304" pitchFamily="18" charset="0"/>
                <a:cs typeface="Times New Roman" panose="02020603050405020304" pitchFamily="18" charset="0"/>
              </a:rPr>
              <a:t>Each entry includes:</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Match fields (IP, MAC, VLAN, TCP port).</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Actions (forward, drop, modify, send to controller).</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Counters (statistics).</a:t>
            </a:r>
          </a:p>
          <a:p>
            <a:pPr>
              <a:buNone/>
            </a:pPr>
            <a:r>
              <a:rPr lang="en-US" b="1" dirty="0">
                <a:latin typeface="Times New Roman" panose="02020603050405020304" pitchFamily="18" charset="0"/>
                <a:cs typeface="Times New Roman" panose="02020603050405020304" pitchFamily="18" charset="0"/>
              </a:rPr>
              <a:t>OpenFlow Messages: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Packet-In:</a:t>
            </a:r>
            <a:r>
              <a:rPr lang="en-US" dirty="0">
                <a:latin typeface="Times New Roman" panose="02020603050405020304" pitchFamily="18" charset="0"/>
                <a:cs typeface="Times New Roman" panose="02020603050405020304" pitchFamily="18" charset="0"/>
              </a:rPr>
              <a:t> Switch → Controller (no matching rule found).</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Flow-Mod:</a:t>
            </a:r>
            <a:r>
              <a:rPr lang="en-US" dirty="0">
                <a:latin typeface="Times New Roman" panose="02020603050405020304" pitchFamily="18" charset="0"/>
                <a:cs typeface="Times New Roman" panose="02020603050405020304" pitchFamily="18" charset="0"/>
              </a:rPr>
              <a:t> Controller → Switch (install or delete a flow rule).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Packet-Out:</a:t>
            </a:r>
            <a:r>
              <a:rPr lang="en-US" dirty="0">
                <a:latin typeface="Times New Roman" panose="02020603050405020304" pitchFamily="18" charset="0"/>
                <a:cs typeface="Times New Roman" panose="02020603050405020304" pitchFamily="18" charset="0"/>
              </a:rPr>
              <a:t> Controller → Switch (send specific packet).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Stats-Request/Reply:</a:t>
            </a:r>
            <a:r>
              <a:rPr lang="en-US" dirty="0">
                <a:latin typeface="Times New Roman" panose="02020603050405020304" pitchFamily="18" charset="0"/>
                <a:cs typeface="Times New Roman" panose="02020603050405020304" pitchFamily="18" charset="0"/>
              </a:rPr>
              <a:t> For monitoring traffic flows.</a:t>
            </a:r>
          </a:p>
        </p:txBody>
      </p:sp>
      <p:sp>
        <p:nvSpPr>
          <p:cNvPr id="5" name="TextBox 4">
            <a:extLst>
              <a:ext uri="{FF2B5EF4-FFF2-40B4-BE49-F238E27FC236}">
                <a16:creationId xmlns:a16="http://schemas.microsoft.com/office/drawing/2014/main" id="{EB2E5A8D-8810-BE82-07EE-D6D912D2DB20}"/>
              </a:ext>
            </a:extLst>
          </p:cNvPr>
          <p:cNvSpPr txBox="1"/>
          <p:nvPr/>
        </p:nvSpPr>
        <p:spPr>
          <a:xfrm>
            <a:off x="1687201" y="404664"/>
            <a:ext cx="8814422" cy="646331"/>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OpenFlow Protocol (Southbound Interface)</a:t>
            </a:r>
          </a:p>
        </p:txBody>
      </p:sp>
      <p:pic>
        <p:nvPicPr>
          <p:cNvPr id="3074" name="Picture 2" descr="Communications via OpenFlow protocol. [11] | Download Scientific Diagram">
            <a:extLst>
              <a:ext uri="{FF2B5EF4-FFF2-40B4-BE49-F238E27FC236}">
                <a16:creationId xmlns:a16="http://schemas.microsoft.com/office/drawing/2014/main" id="{62336F5C-C1AE-D009-CFCC-D6D2C80A3D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2162" y="2019736"/>
            <a:ext cx="4192142" cy="3417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024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CD6F79-8E59-E31D-6CE7-1C011902C694}"/>
              </a:ext>
            </a:extLst>
          </p:cNvPr>
          <p:cNvSpPr txBox="1"/>
          <p:nvPr/>
        </p:nvSpPr>
        <p:spPr>
          <a:xfrm>
            <a:off x="3502124" y="694437"/>
            <a:ext cx="6098796" cy="646331"/>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Flow Table Operation</a:t>
            </a:r>
          </a:p>
        </p:txBody>
      </p:sp>
      <p:sp>
        <p:nvSpPr>
          <p:cNvPr id="5" name="TextBox 4">
            <a:extLst>
              <a:ext uri="{FF2B5EF4-FFF2-40B4-BE49-F238E27FC236}">
                <a16:creationId xmlns:a16="http://schemas.microsoft.com/office/drawing/2014/main" id="{3992F2E1-8AAC-F165-A3DA-0E1DF90CD7D5}"/>
              </a:ext>
            </a:extLst>
          </p:cNvPr>
          <p:cNvSpPr txBox="1"/>
          <p:nvPr/>
        </p:nvSpPr>
        <p:spPr>
          <a:xfrm>
            <a:off x="1557908" y="1979548"/>
            <a:ext cx="6098796" cy="369332"/>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Flow Entry Example:</a:t>
            </a:r>
            <a:endParaRPr lang="en-US"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3D0CC7B-8440-6DB2-B08B-998A2657E64E}"/>
              </a:ext>
            </a:extLst>
          </p:cNvPr>
          <p:cNvGraphicFramePr>
            <a:graphicFrameLocks noGrp="1"/>
          </p:cNvGraphicFramePr>
          <p:nvPr>
            <p:extLst>
              <p:ext uri="{D42A27DB-BD31-4B8C-83A1-F6EECF244321}">
                <p14:modId xmlns:p14="http://schemas.microsoft.com/office/powerpoint/2010/main" val="2276960828"/>
              </p:ext>
            </p:extLst>
          </p:nvPr>
        </p:nvGraphicFramePr>
        <p:xfrm>
          <a:off x="1557909" y="2686040"/>
          <a:ext cx="9000999" cy="1463040"/>
        </p:xfrm>
        <a:graphic>
          <a:graphicData uri="http://schemas.openxmlformats.org/drawingml/2006/table">
            <a:tbl>
              <a:tblPr>
                <a:tableStyleId>{3C2FFA5D-87B4-456A-9821-1D502468CF0F}</a:tableStyleId>
              </a:tblPr>
              <a:tblGrid>
                <a:gridCol w="3000333">
                  <a:extLst>
                    <a:ext uri="{9D8B030D-6E8A-4147-A177-3AD203B41FA5}">
                      <a16:colId xmlns:a16="http://schemas.microsoft.com/office/drawing/2014/main" val="2378649873"/>
                    </a:ext>
                  </a:extLst>
                </a:gridCol>
                <a:gridCol w="3000333">
                  <a:extLst>
                    <a:ext uri="{9D8B030D-6E8A-4147-A177-3AD203B41FA5}">
                      <a16:colId xmlns:a16="http://schemas.microsoft.com/office/drawing/2014/main" val="1605265639"/>
                    </a:ext>
                  </a:extLst>
                </a:gridCol>
                <a:gridCol w="3000333">
                  <a:extLst>
                    <a:ext uri="{9D8B030D-6E8A-4147-A177-3AD203B41FA5}">
                      <a16:colId xmlns:a16="http://schemas.microsoft.com/office/drawing/2014/main" val="2886185846"/>
                    </a:ext>
                  </a:extLst>
                </a:gridCol>
              </a:tblGrid>
              <a:tr h="0">
                <a:tc>
                  <a:txBody>
                    <a:bodyPr/>
                    <a:lstStyle/>
                    <a:p>
                      <a:pPr>
                        <a:buNone/>
                      </a:pPr>
                      <a:r>
                        <a:rPr lang="fr-FR" b="1">
                          <a:latin typeface="Times New Roman" panose="02020603050405020304" pitchFamily="18" charset="0"/>
                          <a:cs typeface="Times New Roman" panose="02020603050405020304" pitchFamily="18" charset="0"/>
                        </a:rPr>
                        <a:t>Match Field</a:t>
                      </a:r>
                      <a:endParaRPr lang="fr-FR">
                        <a:latin typeface="Times New Roman" panose="02020603050405020304" pitchFamily="18" charset="0"/>
                        <a:cs typeface="Times New Roman" panose="02020603050405020304" pitchFamily="18" charset="0"/>
                      </a:endParaRPr>
                    </a:p>
                  </a:txBody>
                  <a:tcPr anchor="ctr">
                    <a:solidFill>
                      <a:schemeClr val="tx1">
                        <a:lumMod val="20000"/>
                        <a:lumOff val="80000"/>
                      </a:schemeClr>
                    </a:solidFill>
                  </a:tcPr>
                </a:tc>
                <a:tc>
                  <a:txBody>
                    <a:bodyPr/>
                    <a:lstStyle/>
                    <a:p>
                      <a:pPr>
                        <a:buNone/>
                      </a:pPr>
                      <a:r>
                        <a:rPr lang="fr-FR" b="1">
                          <a:latin typeface="Times New Roman" panose="02020603050405020304" pitchFamily="18" charset="0"/>
                          <a:cs typeface="Times New Roman" panose="02020603050405020304" pitchFamily="18" charset="0"/>
                        </a:rPr>
                        <a:t>Action</a:t>
                      </a:r>
                      <a:endParaRPr lang="fr-FR">
                        <a:latin typeface="Times New Roman" panose="02020603050405020304" pitchFamily="18" charset="0"/>
                        <a:cs typeface="Times New Roman" panose="02020603050405020304" pitchFamily="18" charset="0"/>
                      </a:endParaRPr>
                    </a:p>
                  </a:txBody>
                  <a:tcPr anchor="ctr">
                    <a:solidFill>
                      <a:schemeClr val="tx1">
                        <a:lumMod val="20000"/>
                        <a:lumOff val="80000"/>
                      </a:schemeClr>
                    </a:solidFill>
                  </a:tcPr>
                </a:tc>
                <a:tc>
                  <a:txBody>
                    <a:bodyPr/>
                    <a:lstStyle/>
                    <a:p>
                      <a:pPr>
                        <a:buNone/>
                      </a:pPr>
                      <a:r>
                        <a:rPr lang="fr-FR" b="1">
                          <a:latin typeface="Times New Roman" panose="02020603050405020304" pitchFamily="18" charset="0"/>
                          <a:cs typeface="Times New Roman" panose="02020603050405020304" pitchFamily="18" charset="0"/>
                        </a:rPr>
                        <a:t>Priority</a:t>
                      </a:r>
                      <a:endParaRPr lang="fr-FR">
                        <a:latin typeface="Times New Roman" panose="02020603050405020304" pitchFamily="18" charset="0"/>
                        <a:cs typeface="Times New Roman" panose="02020603050405020304" pitchFamily="18" charset="0"/>
                      </a:endParaRPr>
                    </a:p>
                  </a:txBody>
                  <a:tcPr anchor="ctr">
                    <a:solidFill>
                      <a:schemeClr val="tx1">
                        <a:lumMod val="20000"/>
                        <a:lumOff val="80000"/>
                      </a:schemeClr>
                    </a:solidFill>
                  </a:tcPr>
                </a:tc>
                <a:extLst>
                  <a:ext uri="{0D108BD9-81ED-4DB2-BD59-A6C34878D82A}">
                    <a16:rowId xmlns:a16="http://schemas.microsoft.com/office/drawing/2014/main" val="2621629169"/>
                  </a:ext>
                </a:extLst>
              </a:tr>
              <a:tr h="0">
                <a:tc>
                  <a:txBody>
                    <a:bodyPr/>
                    <a:lstStyle/>
                    <a:p>
                      <a:pPr>
                        <a:buNone/>
                      </a:pPr>
                      <a:r>
                        <a:rPr lang="fr-FR">
                          <a:latin typeface="Times New Roman" panose="02020603050405020304" pitchFamily="18" charset="0"/>
                          <a:cs typeface="Times New Roman" panose="02020603050405020304" pitchFamily="18" charset="0"/>
                        </a:rPr>
                        <a:t>IP src = 192.168.1.10</a:t>
                      </a:r>
                    </a:p>
                  </a:txBody>
                  <a:tcPr anchor="ctr">
                    <a:solidFill>
                      <a:schemeClr val="tx1">
                        <a:lumMod val="20000"/>
                        <a:lumOff val="80000"/>
                      </a:schemeClr>
                    </a:solidFill>
                  </a:tcPr>
                </a:tc>
                <a:tc>
                  <a:txBody>
                    <a:bodyPr/>
                    <a:lstStyle/>
                    <a:p>
                      <a:pPr>
                        <a:buNone/>
                      </a:pPr>
                      <a:r>
                        <a:rPr lang="fr-FR">
                          <a:latin typeface="Times New Roman" panose="02020603050405020304" pitchFamily="18" charset="0"/>
                          <a:cs typeface="Times New Roman" panose="02020603050405020304" pitchFamily="18" charset="0"/>
                        </a:rPr>
                        <a:t>Forward to port 3</a:t>
                      </a:r>
                    </a:p>
                  </a:txBody>
                  <a:tcPr anchor="ctr">
                    <a:solidFill>
                      <a:schemeClr val="tx1">
                        <a:lumMod val="20000"/>
                        <a:lumOff val="80000"/>
                      </a:schemeClr>
                    </a:solidFill>
                  </a:tcPr>
                </a:tc>
                <a:tc>
                  <a:txBody>
                    <a:bodyPr/>
                    <a:lstStyle/>
                    <a:p>
                      <a:pPr>
                        <a:buNone/>
                      </a:pPr>
                      <a:r>
                        <a:rPr lang="fr-DZ">
                          <a:latin typeface="Times New Roman" panose="02020603050405020304" pitchFamily="18" charset="0"/>
                          <a:cs typeface="Times New Roman" panose="02020603050405020304" pitchFamily="18" charset="0"/>
                        </a:rPr>
                        <a:t>10</a:t>
                      </a:r>
                    </a:p>
                  </a:txBody>
                  <a:tcPr anchor="ctr">
                    <a:solidFill>
                      <a:schemeClr val="tx1">
                        <a:lumMod val="20000"/>
                        <a:lumOff val="80000"/>
                      </a:schemeClr>
                    </a:solidFill>
                  </a:tcPr>
                </a:tc>
                <a:extLst>
                  <a:ext uri="{0D108BD9-81ED-4DB2-BD59-A6C34878D82A}">
                    <a16:rowId xmlns:a16="http://schemas.microsoft.com/office/drawing/2014/main" val="855726227"/>
                  </a:ext>
                </a:extLst>
              </a:tr>
              <a:tr h="0">
                <a:tc>
                  <a:txBody>
                    <a:bodyPr/>
                    <a:lstStyle/>
                    <a:p>
                      <a:pPr>
                        <a:buNone/>
                      </a:pPr>
                      <a:r>
                        <a:rPr lang="fr-FR">
                          <a:latin typeface="Times New Roman" panose="02020603050405020304" pitchFamily="18" charset="0"/>
                          <a:cs typeface="Times New Roman" panose="02020603050405020304" pitchFamily="18" charset="0"/>
                        </a:rPr>
                        <a:t>TCP dst = 80</a:t>
                      </a:r>
                    </a:p>
                  </a:txBody>
                  <a:tcPr anchor="ctr">
                    <a:solidFill>
                      <a:schemeClr val="tx1">
                        <a:lumMod val="20000"/>
                        <a:lumOff val="80000"/>
                      </a:schemeClr>
                    </a:solidFill>
                  </a:tcPr>
                </a:tc>
                <a:tc>
                  <a:txBody>
                    <a:bodyPr/>
                    <a:lstStyle/>
                    <a:p>
                      <a:pPr>
                        <a:buNone/>
                      </a:pPr>
                      <a:r>
                        <a:rPr lang="fr-FR">
                          <a:latin typeface="Times New Roman" panose="02020603050405020304" pitchFamily="18" charset="0"/>
                          <a:cs typeface="Times New Roman" panose="02020603050405020304" pitchFamily="18" charset="0"/>
                        </a:rPr>
                        <a:t>Forward to port 2</a:t>
                      </a:r>
                    </a:p>
                  </a:txBody>
                  <a:tcPr anchor="ctr">
                    <a:solidFill>
                      <a:schemeClr val="tx1">
                        <a:lumMod val="20000"/>
                        <a:lumOff val="80000"/>
                      </a:schemeClr>
                    </a:solidFill>
                  </a:tcPr>
                </a:tc>
                <a:tc>
                  <a:txBody>
                    <a:bodyPr/>
                    <a:lstStyle/>
                    <a:p>
                      <a:pPr>
                        <a:buNone/>
                      </a:pPr>
                      <a:r>
                        <a:rPr lang="fr-DZ">
                          <a:latin typeface="Times New Roman" panose="02020603050405020304" pitchFamily="18" charset="0"/>
                          <a:cs typeface="Times New Roman" panose="02020603050405020304" pitchFamily="18" charset="0"/>
                        </a:rPr>
                        <a:t>5</a:t>
                      </a:r>
                    </a:p>
                  </a:txBody>
                  <a:tcPr anchor="ctr">
                    <a:solidFill>
                      <a:schemeClr val="tx1">
                        <a:lumMod val="20000"/>
                        <a:lumOff val="80000"/>
                      </a:schemeClr>
                    </a:solidFill>
                  </a:tcPr>
                </a:tc>
                <a:extLst>
                  <a:ext uri="{0D108BD9-81ED-4DB2-BD59-A6C34878D82A}">
                    <a16:rowId xmlns:a16="http://schemas.microsoft.com/office/drawing/2014/main" val="1553631856"/>
                  </a:ext>
                </a:extLst>
              </a:tr>
              <a:tr h="0">
                <a:tc>
                  <a:txBody>
                    <a:bodyPr/>
                    <a:lstStyle/>
                    <a:p>
                      <a:pPr>
                        <a:buNone/>
                      </a:pPr>
                      <a:r>
                        <a:rPr lang="fr-FR">
                          <a:latin typeface="Times New Roman" panose="02020603050405020304" pitchFamily="18" charset="0"/>
                          <a:cs typeface="Times New Roman" panose="02020603050405020304" pitchFamily="18" charset="0"/>
                        </a:rPr>
                        <a:t>Any</a:t>
                      </a:r>
                    </a:p>
                  </a:txBody>
                  <a:tcPr anchor="ctr">
                    <a:solidFill>
                      <a:schemeClr val="tx1">
                        <a:lumMod val="20000"/>
                        <a:lumOff val="80000"/>
                      </a:schemeClr>
                    </a:solidFill>
                  </a:tcPr>
                </a:tc>
                <a:tc>
                  <a:txBody>
                    <a:bodyPr/>
                    <a:lstStyle/>
                    <a:p>
                      <a:pPr>
                        <a:buNone/>
                      </a:pPr>
                      <a:r>
                        <a:rPr lang="fr-FR">
                          <a:latin typeface="Times New Roman" panose="02020603050405020304" pitchFamily="18" charset="0"/>
                          <a:cs typeface="Times New Roman" panose="02020603050405020304" pitchFamily="18" charset="0"/>
                        </a:rPr>
                        <a:t>Send to controller</a:t>
                      </a:r>
                    </a:p>
                  </a:txBody>
                  <a:tcPr anchor="ctr">
                    <a:solidFill>
                      <a:schemeClr val="tx1">
                        <a:lumMod val="20000"/>
                        <a:lumOff val="80000"/>
                      </a:schemeClr>
                    </a:solidFill>
                  </a:tcPr>
                </a:tc>
                <a:tc>
                  <a:txBody>
                    <a:bodyPr/>
                    <a:lstStyle/>
                    <a:p>
                      <a:pPr>
                        <a:buNone/>
                      </a:pPr>
                      <a:r>
                        <a:rPr lang="fr-DZ" dirty="0">
                          <a:latin typeface="Times New Roman" panose="02020603050405020304" pitchFamily="18" charset="0"/>
                          <a:cs typeface="Times New Roman" panose="02020603050405020304" pitchFamily="18" charset="0"/>
                        </a:rPr>
                        <a:t>1</a:t>
                      </a:r>
                    </a:p>
                  </a:txBody>
                  <a:tcPr anchor="ctr">
                    <a:solidFill>
                      <a:schemeClr val="tx1">
                        <a:lumMod val="20000"/>
                        <a:lumOff val="80000"/>
                      </a:schemeClr>
                    </a:solidFill>
                  </a:tcPr>
                </a:tc>
                <a:extLst>
                  <a:ext uri="{0D108BD9-81ED-4DB2-BD59-A6C34878D82A}">
                    <a16:rowId xmlns:a16="http://schemas.microsoft.com/office/drawing/2014/main" val="3996298202"/>
                  </a:ext>
                </a:extLst>
              </a:tr>
            </a:tbl>
          </a:graphicData>
        </a:graphic>
      </p:graphicFrame>
      <p:sp>
        <p:nvSpPr>
          <p:cNvPr id="8" name="TextBox 7">
            <a:extLst>
              <a:ext uri="{FF2B5EF4-FFF2-40B4-BE49-F238E27FC236}">
                <a16:creationId xmlns:a16="http://schemas.microsoft.com/office/drawing/2014/main" id="{EE6B21D4-EB7F-FA6A-0403-73AE47D6D922}"/>
              </a:ext>
            </a:extLst>
          </p:cNvPr>
          <p:cNvSpPr txBox="1"/>
          <p:nvPr/>
        </p:nvSpPr>
        <p:spPr>
          <a:xfrm>
            <a:off x="1557908" y="4315682"/>
            <a:ext cx="6098796"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process: </a:t>
            </a:r>
          </a:p>
          <a:p>
            <a:pPr>
              <a:buFont typeface="+mj-lt"/>
              <a:buAutoNum type="arabicPeriod"/>
            </a:pPr>
            <a:r>
              <a:rPr lang="en-US" dirty="0">
                <a:latin typeface="Times New Roman" panose="02020603050405020304" pitchFamily="18" charset="0"/>
                <a:cs typeface="Times New Roman" panose="02020603050405020304" pitchFamily="18" charset="0"/>
              </a:rPr>
              <a:t>Packet arrives → matched against flow entries.</a:t>
            </a:r>
          </a:p>
          <a:p>
            <a:pPr>
              <a:buFont typeface="+mj-lt"/>
              <a:buAutoNum type="arabicPeriod"/>
            </a:pPr>
            <a:r>
              <a:rPr lang="en-US" dirty="0">
                <a:latin typeface="Times New Roman" panose="02020603050405020304" pitchFamily="18" charset="0"/>
                <a:cs typeface="Times New Roman" panose="02020603050405020304" pitchFamily="18" charset="0"/>
              </a:rPr>
              <a:t>Matching action executed.</a:t>
            </a:r>
          </a:p>
          <a:p>
            <a:pPr>
              <a:buFont typeface="+mj-lt"/>
              <a:buAutoNum type="arabicPeriod"/>
            </a:pPr>
            <a:r>
              <a:rPr lang="en-US" dirty="0">
                <a:latin typeface="Times New Roman" panose="02020603050405020304" pitchFamily="18" charset="0"/>
                <a:cs typeface="Times New Roman" panose="02020603050405020304" pitchFamily="18" charset="0"/>
              </a:rPr>
              <a:t>If no match → packet sent to controller for decision.</a:t>
            </a:r>
          </a:p>
        </p:txBody>
      </p:sp>
    </p:spTree>
    <p:extLst>
      <p:ext uri="{BB962C8B-B14F-4D97-AF65-F5344CB8AC3E}">
        <p14:creationId xmlns:p14="http://schemas.microsoft.com/office/powerpoint/2010/main" val="310319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h 16x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h education presentation with Pi  (widescreen).potx" id="{DF132673-7A8C-4FB7-A35E-0123B6C0D98B}" vid="{CCAAB50D-2EF2-4925-80C2-C83131AE58AC}"/>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Math education presentation with Pi  (widescreen)</Template>
  <TotalTime>7416</TotalTime>
  <Words>9276</Words>
  <Application>Microsoft Office PowerPoint</Application>
  <PresentationFormat>Custom</PresentationFormat>
  <Paragraphs>1030</Paragraphs>
  <Slides>76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76</vt:i4>
      </vt:variant>
    </vt:vector>
  </HeadingPairs>
  <TitlesOfParts>
    <vt:vector size="83" baseType="lpstr">
      <vt:lpstr>Agency FB</vt:lpstr>
      <vt:lpstr>Arial</vt:lpstr>
      <vt:lpstr>Bahnschrift Condensed</vt:lpstr>
      <vt:lpstr>Euphemia</vt:lpstr>
      <vt:lpstr>Forte</vt:lpstr>
      <vt:lpstr>Times New Roman</vt:lpstr>
      <vt:lpstr>Math 16x9</vt:lpstr>
      <vt:lpstr>PowerPoint Presentation</vt:lpstr>
      <vt:lpstr>Advanced Networks</vt:lpstr>
      <vt:lpstr>Chapters:</vt:lpstr>
      <vt:lpstr>Objective: Overview of the module objectives, structure, and assessment criteria. Review of fundamental networking concepts and protocols. Introduction to advanced networking topics and their relevance in modern network environments. </vt:lpstr>
      <vt:lpstr>What is a Network?</vt:lpstr>
      <vt:lpstr>Reference Models</vt:lpstr>
      <vt:lpstr>Application Protocols</vt:lpstr>
      <vt:lpstr>PowerPoint Presentation</vt:lpstr>
      <vt:lpstr>Network Devices</vt:lpstr>
      <vt:lpstr>Network Devices</vt:lpstr>
      <vt:lpstr>What is Advanced Networking?</vt:lpstr>
      <vt:lpstr>Why Advanced Networking</vt:lpstr>
      <vt:lpstr>Content: * Threats, vulnerabilities, and attacks in computer networks. * Cryptography and encryption techniques for securing data transmission.  * Firewalls, intrusion detection systems, and other security mechanisms.  * Secure network design principles and best practices.</vt:lpstr>
      <vt:lpstr>What Is Network Security?</vt:lpstr>
      <vt:lpstr>Threats, Vulnerabilities, and Attacks</vt:lpstr>
      <vt:lpstr>Common Network Threats, Attacks, and Vulnerabilities</vt:lpstr>
      <vt:lpstr>PowerPoint Presentation</vt:lpstr>
      <vt:lpstr>What Is Cryptography?</vt:lpstr>
      <vt:lpstr>Cryptographic Techniques</vt:lpstr>
      <vt:lpstr>PowerPoint Presentation</vt:lpstr>
      <vt:lpstr>Cryptographic Techniques</vt:lpstr>
      <vt:lpstr>PowerPoint Presentation</vt:lpstr>
      <vt:lpstr>Cryptographic Techniques</vt:lpstr>
      <vt:lpstr>PowerPoint Presentation</vt:lpstr>
      <vt:lpstr>Cryptographic Techniques</vt:lpstr>
      <vt:lpstr>PowerPoint Presentation</vt:lpstr>
      <vt:lpstr>Cryptographic Techniques</vt:lpstr>
      <vt:lpstr>PowerPoint Presentation</vt:lpstr>
      <vt:lpstr>PowerPoint Presentation</vt:lpstr>
      <vt:lpstr>Firewall types</vt:lpstr>
      <vt:lpstr>Firewall types</vt:lpstr>
      <vt:lpstr>Firewall types</vt:lpstr>
      <vt:lpstr>Firewall types</vt:lpstr>
      <vt:lpstr>Firewall types</vt:lpstr>
      <vt:lpstr>PowerPoint Presentation</vt:lpstr>
      <vt:lpstr>PowerPoint Presentation</vt:lpstr>
      <vt:lpstr>PowerPoint Presentation</vt:lpstr>
      <vt:lpstr>Intrusion Prevention System (IPS) </vt:lpstr>
      <vt:lpstr>Other Network Defense Mechanisms</vt:lpstr>
      <vt:lpstr>PowerPoint Presentation</vt:lpstr>
      <vt:lpstr>PowerPoint Presentation</vt:lpstr>
      <vt:lpstr>PowerPoint Presentation</vt:lpstr>
      <vt:lpstr>PowerPoint Presentation</vt:lpstr>
      <vt:lpstr>QoS Performance Metrics</vt:lpstr>
      <vt:lpstr>PowerPoint Presentation</vt:lpstr>
      <vt:lpstr>PowerPoint Presentation</vt:lpstr>
      <vt:lpstr>Main QoS Mechanisms</vt:lpstr>
      <vt:lpstr>Main QoS Mechanisms</vt:lpstr>
      <vt:lpstr>Main QoS Mechanisms</vt:lpstr>
      <vt:lpstr>Main QoS Mechanisms</vt:lpstr>
      <vt:lpstr>Main QoS Mechanisms</vt:lpstr>
      <vt:lpstr>Main QoS Mechanisms</vt:lpstr>
      <vt:lpstr>Main QoS Mechanisms</vt:lpstr>
      <vt:lpstr>Main QoS Mechanisms</vt:lpstr>
      <vt:lpstr>Main QoS Mechanisms</vt:lpstr>
      <vt:lpstr>Main QoS Mechanisms</vt:lpstr>
      <vt:lpstr>PowerPoint Presentation</vt:lpstr>
      <vt:lpstr>PowerPoint Presentation</vt:lpstr>
      <vt:lpstr>PowerPoint Presentation</vt:lpstr>
      <vt:lpstr>PowerPoint Presentation</vt:lpstr>
      <vt:lpstr>PowerPoint Presentation</vt:lpstr>
      <vt:lpstr>PowerPoint Presentation</vt:lpstr>
      <vt:lpstr>Best Effort Model (No QoS) </vt:lpstr>
      <vt:lpstr>Integrated Services (IntServ)</vt:lpstr>
      <vt:lpstr>Differentiated Services (DiffServ) </vt:lpstr>
      <vt:lpstr>PowerPoint Presentation</vt:lpstr>
      <vt:lpstr>PowerPoint Presentation</vt:lpstr>
      <vt:lpstr>PowerPoint Presentation</vt:lpstr>
      <vt:lpstr>PowerPoint Presentation</vt:lpstr>
      <vt:lpstr>Why SDN? </vt:lpstr>
      <vt:lpstr>SDN Architecture (3-Layer Model)</vt:lpstr>
      <vt:lpstr> SDN Infrastructure Layer</vt:lpstr>
      <vt:lpstr>SDN Control Plane (The Controller)</vt:lpstr>
      <vt:lpstr>SDN Application Layer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nouha selena</dc:creator>
  <cp:lastModifiedBy>Midou</cp:lastModifiedBy>
  <cp:revision>19</cp:revision>
  <dcterms:created xsi:type="dcterms:W3CDTF">2025-09-17T22:45:32Z</dcterms:created>
  <dcterms:modified xsi:type="dcterms:W3CDTF">2026-01-11T06:05:06Z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