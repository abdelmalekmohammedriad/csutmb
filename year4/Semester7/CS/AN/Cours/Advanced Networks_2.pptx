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handoutMasterIdLst>
    <p:handoutMasterId r:id="rId63"/>
  </p:handoutMasterIdLst>
  <p:sldIdLst>
    <p:sldId id="256" r:id="rId2"/>
    <p:sldId id="274" r:id="rId3"/>
    <p:sldId id="273" r:id="rId4"/>
    <p:sldId id="258" r:id="rId5"/>
    <p:sldId id="268" r:id="rId6"/>
    <p:sldId id="269" r:id="rId7"/>
    <p:sldId id="276" r:id="rId8"/>
    <p:sldId id="277" r:id="rId9"/>
    <p:sldId id="275" r:id="rId10"/>
    <p:sldId id="271" r:id="rId11"/>
    <p:sldId id="260" r:id="rId12"/>
    <p:sldId id="261" r:id="rId13"/>
    <p:sldId id="262" r:id="rId14"/>
    <p:sldId id="278" r:id="rId15"/>
    <p:sldId id="279" r:id="rId16"/>
    <p:sldId id="280" r:id="rId17"/>
    <p:sldId id="281" r:id="rId18"/>
    <p:sldId id="282" r:id="rId19"/>
    <p:sldId id="283" r:id="rId20"/>
    <p:sldId id="289" r:id="rId21"/>
    <p:sldId id="286" r:id="rId22"/>
    <p:sldId id="287" r:id="rId23"/>
    <p:sldId id="285" r:id="rId24"/>
    <p:sldId id="288" r:id="rId25"/>
    <p:sldId id="290" r:id="rId26"/>
    <p:sldId id="293" r:id="rId27"/>
    <p:sldId id="272" r:id="rId28"/>
    <p:sldId id="294" r:id="rId29"/>
    <p:sldId id="295" r:id="rId30"/>
    <p:sldId id="296" r:id="rId31"/>
    <p:sldId id="297" r:id="rId32"/>
    <p:sldId id="301" r:id="rId33"/>
    <p:sldId id="302" r:id="rId34"/>
    <p:sldId id="305" r:id="rId35"/>
    <p:sldId id="303" r:id="rId36"/>
    <p:sldId id="304" r:id="rId37"/>
    <p:sldId id="306" r:id="rId38"/>
    <p:sldId id="309" r:id="rId39"/>
    <p:sldId id="312" r:id="rId40"/>
    <p:sldId id="313" r:id="rId41"/>
    <p:sldId id="319" r:id="rId42"/>
    <p:sldId id="316" r:id="rId43"/>
    <p:sldId id="314" r:id="rId44"/>
    <p:sldId id="318" r:id="rId45"/>
    <p:sldId id="315" r:id="rId46"/>
    <p:sldId id="311" r:id="rId47"/>
    <p:sldId id="310" r:id="rId48"/>
    <p:sldId id="307" r:id="rId49"/>
    <p:sldId id="308" r:id="rId50"/>
    <p:sldId id="320" r:id="rId51"/>
    <p:sldId id="327" r:id="rId52"/>
    <p:sldId id="321" r:id="rId53"/>
    <p:sldId id="322" r:id="rId54"/>
    <p:sldId id="329" r:id="rId55"/>
    <p:sldId id="328" r:id="rId56"/>
    <p:sldId id="323" r:id="rId57"/>
    <p:sldId id="324" r:id="rId58"/>
    <p:sldId id="325" r:id="rId59"/>
    <p:sldId id="326" r:id="rId60"/>
    <p:sldId id="331" r:id="rId61"/>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4660"/>
  </p:normalViewPr>
  <p:slideViewPr>
    <p:cSldViewPr showGuides="1">
      <p:cViewPr varScale="1">
        <p:scale>
          <a:sx n="91" d="100"/>
          <a:sy n="91" d="100"/>
        </p:scale>
        <p:origin x="365" y="96"/>
      </p:cViewPr>
      <p:guideLst>
        <p:guide orient="horz" pos="2160"/>
        <p:guide pos="3839"/>
        <p:guide pos="1007"/>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E5A2D6-81ED-45D4-A97F-9727F4B17476}" type="doc">
      <dgm:prSet loTypeId="urn:microsoft.com/office/officeart/2008/layout/HorizontalMultiLevelHierarchy" loCatId="hierarchy" qsTypeId="urn:microsoft.com/office/officeart/2005/8/quickstyle/simple1" qsCatId="simple" csTypeId="urn:microsoft.com/office/officeart/2005/8/colors/colorful3" csCatId="colorful" phldr="1"/>
      <dgm:spPr/>
      <dgm:t>
        <a:bodyPr/>
        <a:lstStyle/>
        <a:p>
          <a:endParaRPr lang="fr-DZ"/>
        </a:p>
      </dgm:t>
    </dgm:pt>
    <dgm:pt modelId="{315D94B9-DB1C-45EC-A1B4-90899211F831}">
      <dgm:prSet phldrT="[Text]" phldr="0" custT="1"/>
      <dgm:spPr/>
      <dgm:t>
        <a:bodyPr/>
        <a:lstStyle/>
        <a:p>
          <a:r>
            <a:rPr lang="fr-FR" sz="2800" b="0" dirty="0">
              <a:solidFill>
                <a:schemeClr val="tx2"/>
              </a:solidFill>
              <a:latin typeface="Times New Roman" panose="02020603050405020304" pitchFamily="18" charset="0"/>
              <a:cs typeface="Times New Roman" panose="02020603050405020304" pitchFamily="18" charset="0"/>
            </a:rPr>
            <a:t>Dynamic </a:t>
          </a:r>
          <a:r>
            <a:rPr lang="fr-FR" sz="2800" b="0" dirty="0" err="1">
              <a:solidFill>
                <a:schemeClr val="tx2"/>
              </a:solidFill>
              <a:latin typeface="Times New Roman" panose="02020603050405020304" pitchFamily="18" charset="0"/>
              <a:cs typeface="Times New Roman" panose="02020603050405020304" pitchFamily="18" charset="0"/>
            </a:rPr>
            <a:t>Routing</a:t>
          </a:r>
          <a:r>
            <a:rPr lang="fr-FR" sz="2800" b="0" dirty="0">
              <a:solidFill>
                <a:schemeClr val="tx2"/>
              </a:solidFill>
              <a:latin typeface="Times New Roman" panose="02020603050405020304" pitchFamily="18" charset="0"/>
              <a:cs typeface="Times New Roman" panose="02020603050405020304" pitchFamily="18" charset="0"/>
            </a:rPr>
            <a:t> </a:t>
          </a:r>
          <a:r>
            <a:rPr lang="fr-FR" sz="2800" b="0" dirty="0" err="1">
              <a:solidFill>
                <a:schemeClr val="tx2"/>
              </a:solidFill>
              <a:latin typeface="Times New Roman" panose="02020603050405020304" pitchFamily="18" charset="0"/>
              <a:cs typeface="Times New Roman" panose="02020603050405020304" pitchFamily="18" charset="0"/>
            </a:rPr>
            <a:t>Protocols</a:t>
          </a:r>
          <a:endParaRPr lang="fr-DZ" sz="2800" b="0" dirty="0">
            <a:solidFill>
              <a:schemeClr val="tx2"/>
            </a:solidFill>
            <a:latin typeface="Times New Roman" panose="02020603050405020304" pitchFamily="18" charset="0"/>
            <a:cs typeface="Times New Roman" panose="02020603050405020304" pitchFamily="18" charset="0"/>
          </a:endParaRPr>
        </a:p>
      </dgm:t>
    </dgm:pt>
    <dgm:pt modelId="{5C698534-4AF6-4BC4-8B68-3C16AD1BE66A}" type="parTrans" cxnId="{08C9FDAF-4A85-4A4C-BCE3-ECF15B79891F}">
      <dgm:prSet/>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0F285F0A-08FE-4948-8378-CEE789B6F4CB}" type="sibTrans" cxnId="{08C9FDAF-4A85-4A4C-BCE3-ECF15B79891F}">
      <dgm:prSet/>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C7F34DAE-3BFD-4848-A837-916A988B66B4}">
      <dgm:prSet phldrT="[Text]" phldr="0" custT="1"/>
      <dgm:spPr/>
      <dgm:t>
        <a:bodyPr/>
        <a:lstStyle/>
        <a:p>
          <a:r>
            <a:rPr lang="fr-FR" sz="1800" b="0">
              <a:solidFill>
                <a:schemeClr val="tx2"/>
              </a:solidFill>
              <a:latin typeface="Times New Roman" panose="02020603050405020304" pitchFamily="18" charset="0"/>
              <a:cs typeface="Times New Roman" panose="02020603050405020304" pitchFamily="18" charset="0"/>
            </a:rPr>
            <a:t>Distance Vector Protocols</a:t>
          </a:r>
          <a:endParaRPr lang="fr-DZ" sz="1800" b="0" dirty="0">
            <a:solidFill>
              <a:schemeClr val="tx2"/>
            </a:solidFill>
            <a:latin typeface="Times New Roman" panose="02020603050405020304" pitchFamily="18" charset="0"/>
            <a:cs typeface="Times New Roman" panose="02020603050405020304" pitchFamily="18" charset="0"/>
          </a:endParaRPr>
        </a:p>
      </dgm:t>
    </dgm:pt>
    <dgm:pt modelId="{BB4802D1-0BA0-4C2F-8333-748936E6DFAB}" type="parTrans" cxnId="{9F122F12-8078-4BF7-BCBC-41FC7F21EA50}">
      <dgm:prSet custT="1"/>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317E7F22-B290-41F3-9433-159F0AB46936}" type="sibTrans" cxnId="{9F122F12-8078-4BF7-BCBC-41FC7F21EA50}">
      <dgm:prSet/>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FC9294E1-2052-4FE0-9611-A9474DDD59C2}">
      <dgm:prSet phldrT="[Text]" phldr="0" custT="1"/>
      <dgm:spPr/>
      <dgm:t>
        <a:bodyPr/>
        <a:lstStyle/>
        <a:p>
          <a:r>
            <a:rPr lang="fr-FR" sz="1800" b="0">
              <a:solidFill>
                <a:schemeClr val="tx2"/>
              </a:solidFill>
              <a:latin typeface="Times New Roman" panose="02020603050405020304" pitchFamily="18" charset="0"/>
              <a:cs typeface="Times New Roman" panose="02020603050405020304" pitchFamily="18" charset="0"/>
            </a:rPr>
            <a:t>Link Stat Protocols</a:t>
          </a:r>
          <a:endParaRPr lang="fr-DZ" sz="1800" b="0" dirty="0">
            <a:solidFill>
              <a:schemeClr val="tx2"/>
            </a:solidFill>
            <a:latin typeface="Times New Roman" panose="02020603050405020304" pitchFamily="18" charset="0"/>
            <a:cs typeface="Times New Roman" panose="02020603050405020304" pitchFamily="18" charset="0"/>
          </a:endParaRPr>
        </a:p>
      </dgm:t>
    </dgm:pt>
    <dgm:pt modelId="{5E91EED9-EF77-498B-A9B8-273AD41A1563}" type="parTrans" cxnId="{E419AFB4-72A2-4914-A07D-B972BADA8516}">
      <dgm:prSet custT="1"/>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EBF1D95A-B9A1-4217-A5CF-D97E8D9A2366}" type="sibTrans" cxnId="{E419AFB4-72A2-4914-A07D-B972BADA8516}">
      <dgm:prSet/>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4A956FBC-491F-495A-8CCB-BB96F1561EE7}">
      <dgm:prSet phldrT="[Text]" phldr="0" custT="1"/>
      <dgm:spPr/>
      <dgm:t>
        <a:bodyPr/>
        <a:lstStyle/>
        <a:p>
          <a:r>
            <a:rPr lang="fr-FR" sz="1800" b="0">
              <a:solidFill>
                <a:schemeClr val="tx2"/>
              </a:solidFill>
              <a:latin typeface="Times New Roman" panose="02020603050405020304" pitchFamily="18" charset="0"/>
              <a:cs typeface="Times New Roman" panose="02020603050405020304" pitchFamily="18" charset="0"/>
            </a:rPr>
            <a:t>Path Vector Protocols</a:t>
          </a:r>
          <a:endParaRPr lang="fr-DZ" sz="1800" b="0" dirty="0">
            <a:solidFill>
              <a:schemeClr val="tx2"/>
            </a:solidFill>
            <a:latin typeface="Times New Roman" panose="02020603050405020304" pitchFamily="18" charset="0"/>
            <a:cs typeface="Times New Roman" panose="02020603050405020304" pitchFamily="18" charset="0"/>
          </a:endParaRPr>
        </a:p>
      </dgm:t>
    </dgm:pt>
    <dgm:pt modelId="{DA96A4F4-B2D5-4AC5-B5BA-77ED52183D37}" type="parTrans" cxnId="{88732837-6EDC-43F4-AAC4-BC4D976C573A}">
      <dgm:prSet custT="1"/>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D36F2667-987F-4830-8A27-799BDC575B09}" type="sibTrans" cxnId="{88732837-6EDC-43F4-AAC4-BC4D976C573A}">
      <dgm:prSet/>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CB196D5B-763E-4176-B9CD-761ECC8EC1CD}">
      <dgm:prSet custT="1"/>
      <dgm:spPr/>
      <dgm:t>
        <a:bodyPr/>
        <a:lstStyle/>
        <a:p>
          <a:r>
            <a:rPr lang="fr-FR" sz="1800" b="0">
              <a:solidFill>
                <a:schemeClr val="tx2"/>
              </a:solidFill>
              <a:latin typeface="Times New Roman" panose="02020603050405020304" pitchFamily="18" charset="0"/>
              <a:cs typeface="Times New Roman" panose="02020603050405020304" pitchFamily="18" charset="0"/>
            </a:rPr>
            <a:t>BGP (Border Gateway Protocol)</a:t>
          </a:r>
          <a:endParaRPr lang="fr-DZ" sz="1800" b="0" dirty="0">
            <a:solidFill>
              <a:schemeClr val="tx2"/>
            </a:solidFill>
            <a:latin typeface="Times New Roman" panose="02020603050405020304" pitchFamily="18" charset="0"/>
            <a:cs typeface="Times New Roman" panose="02020603050405020304" pitchFamily="18" charset="0"/>
          </a:endParaRPr>
        </a:p>
      </dgm:t>
    </dgm:pt>
    <dgm:pt modelId="{406A07FB-D48D-48C5-AA42-766555D74E19}" type="parTrans" cxnId="{9CD384D7-B46B-43E7-9219-C402D1C4D3C0}">
      <dgm:prSet custT="1"/>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66B2C71B-C385-429B-A215-95A55627AF91}" type="sibTrans" cxnId="{9CD384D7-B46B-43E7-9219-C402D1C4D3C0}">
      <dgm:prSet/>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5ED8601D-2DAF-41B8-8024-7F5CA741BACA}">
      <dgm:prSet custT="1"/>
      <dgm:spPr/>
      <dgm:t>
        <a:bodyPr/>
        <a:lstStyle/>
        <a:p>
          <a:pPr>
            <a:buNone/>
          </a:pPr>
          <a:r>
            <a:rPr lang="fr-FR" sz="1800" b="0">
              <a:solidFill>
                <a:schemeClr val="tx2"/>
              </a:solidFill>
              <a:latin typeface="Times New Roman" panose="02020603050405020304" pitchFamily="18" charset="0"/>
              <a:cs typeface="Times New Roman" panose="02020603050405020304" pitchFamily="18" charset="0"/>
            </a:rPr>
            <a:t>RIP (Routing Information Protocol)</a:t>
          </a:r>
          <a:endParaRPr lang="fr-FR" sz="1800" b="0" dirty="0">
            <a:solidFill>
              <a:schemeClr val="tx2"/>
            </a:solidFill>
            <a:latin typeface="Times New Roman" panose="02020603050405020304" pitchFamily="18" charset="0"/>
            <a:cs typeface="Times New Roman" panose="02020603050405020304" pitchFamily="18" charset="0"/>
          </a:endParaRPr>
        </a:p>
      </dgm:t>
    </dgm:pt>
    <dgm:pt modelId="{41DA4631-77A9-4DF0-A8BA-4704B96CD905}" type="parTrans" cxnId="{1FE3643A-F64F-4FAB-9EAC-6A4094977DF8}">
      <dgm:prSet custT="1"/>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71C0C411-1B69-477F-B9A1-B61B13578CAD}" type="sibTrans" cxnId="{1FE3643A-F64F-4FAB-9EAC-6A4094977DF8}">
      <dgm:prSet/>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C0DE511B-77A3-42AE-845C-6543005EAD10}">
      <dgm:prSet custT="1"/>
      <dgm:spPr/>
      <dgm:t>
        <a:bodyPr/>
        <a:lstStyle/>
        <a:p>
          <a:pPr>
            <a:buNone/>
          </a:pPr>
          <a:r>
            <a:rPr lang="en-US" sz="1800" b="0">
              <a:solidFill>
                <a:schemeClr val="tx2"/>
              </a:solidFill>
              <a:latin typeface="Times New Roman" panose="02020603050405020304" pitchFamily="18" charset="0"/>
              <a:cs typeface="Times New Roman" panose="02020603050405020304" pitchFamily="18" charset="0"/>
            </a:rPr>
            <a:t>IGRP (Interior Gateway Routing Protocol)</a:t>
          </a:r>
        </a:p>
      </dgm:t>
    </dgm:pt>
    <dgm:pt modelId="{CB691382-383B-4D31-9319-4F7D7AF5BE9F}" type="parTrans" cxnId="{D955F839-82D7-4688-B714-1E2755AB7DD6}">
      <dgm:prSet custT="1"/>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BD249429-F9A2-4715-AB81-0451A767902E}" type="sibTrans" cxnId="{D955F839-82D7-4688-B714-1E2755AB7DD6}">
      <dgm:prSet/>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AC445753-39DF-4201-9B29-02A294F42281}">
      <dgm:prSet custT="1"/>
      <dgm:spPr/>
      <dgm:t>
        <a:bodyPr/>
        <a:lstStyle/>
        <a:p>
          <a:pPr>
            <a:buNone/>
          </a:pPr>
          <a:r>
            <a:rPr lang="en-US" sz="1800" b="0">
              <a:solidFill>
                <a:schemeClr val="tx2"/>
              </a:solidFill>
              <a:latin typeface="Times New Roman" panose="02020603050405020304" pitchFamily="18" charset="0"/>
              <a:cs typeface="Times New Roman" panose="02020603050405020304" pitchFamily="18" charset="0"/>
            </a:rPr>
            <a:t>OSPF (Open Shortest Path First)</a:t>
          </a:r>
        </a:p>
      </dgm:t>
    </dgm:pt>
    <dgm:pt modelId="{66FBE75B-F717-492D-9A22-AA78264A04C2}" type="parTrans" cxnId="{06C6BA4A-59A0-4B9B-B1AF-CB68A7197FD2}">
      <dgm:prSet custT="1"/>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5D6978E2-002C-47C5-B775-0DA32E74214B}" type="sibTrans" cxnId="{06C6BA4A-59A0-4B9B-B1AF-CB68A7197FD2}">
      <dgm:prSet/>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EA93490E-159C-4D6E-ADEA-D6583651A3F1}">
      <dgm:prSet custT="1"/>
      <dgm:spPr/>
      <dgm:t>
        <a:bodyPr/>
        <a:lstStyle/>
        <a:p>
          <a:pPr>
            <a:buNone/>
          </a:pPr>
          <a:r>
            <a:rPr lang="en-US" sz="1800" b="0">
              <a:solidFill>
                <a:schemeClr val="tx2"/>
              </a:solidFill>
              <a:latin typeface="Times New Roman" panose="02020603050405020304" pitchFamily="18" charset="0"/>
              <a:cs typeface="Times New Roman" panose="02020603050405020304" pitchFamily="18" charset="0"/>
            </a:rPr>
            <a:t>IS-IS (Intermediate System to Intermediate System)</a:t>
          </a:r>
        </a:p>
      </dgm:t>
    </dgm:pt>
    <dgm:pt modelId="{4A9CC95C-49CC-4C04-813C-1334A9E340F1}" type="parTrans" cxnId="{0A1B7BC6-BD94-442D-9663-4053D06EA241}">
      <dgm:prSet custT="1"/>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7A05239F-1AE6-414A-B710-8AAE66F6F018}" type="sibTrans" cxnId="{0A1B7BC6-BD94-442D-9663-4053D06EA241}">
      <dgm:prSet/>
      <dgm:spPr/>
      <dgm:t>
        <a:bodyPr/>
        <a:lstStyle/>
        <a:p>
          <a:endParaRPr lang="fr-DZ" sz="1800" b="0">
            <a:solidFill>
              <a:schemeClr val="tx2"/>
            </a:solidFill>
            <a:latin typeface="Times New Roman" panose="02020603050405020304" pitchFamily="18" charset="0"/>
            <a:cs typeface="Times New Roman" panose="02020603050405020304" pitchFamily="18" charset="0"/>
          </a:endParaRPr>
        </a:p>
      </dgm:t>
    </dgm:pt>
    <dgm:pt modelId="{0759891E-6E35-44D1-8EE0-4B306CA4E8E0}" type="pres">
      <dgm:prSet presAssocID="{CBE5A2D6-81ED-45D4-A97F-9727F4B17476}" presName="Name0" presStyleCnt="0">
        <dgm:presLayoutVars>
          <dgm:chPref val="1"/>
          <dgm:dir/>
          <dgm:animOne val="branch"/>
          <dgm:animLvl val="lvl"/>
          <dgm:resizeHandles val="exact"/>
        </dgm:presLayoutVars>
      </dgm:prSet>
      <dgm:spPr/>
    </dgm:pt>
    <dgm:pt modelId="{15595278-1110-4206-8831-B748DA08FCDF}" type="pres">
      <dgm:prSet presAssocID="{315D94B9-DB1C-45EC-A1B4-90899211F831}" presName="root1" presStyleCnt="0"/>
      <dgm:spPr/>
    </dgm:pt>
    <dgm:pt modelId="{1976B821-6392-4257-BF3A-0D96CD772E9D}" type="pres">
      <dgm:prSet presAssocID="{315D94B9-DB1C-45EC-A1B4-90899211F831}" presName="LevelOneTextNode" presStyleLbl="node0" presStyleIdx="0" presStyleCnt="1" custScaleX="159271">
        <dgm:presLayoutVars>
          <dgm:chPref val="3"/>
        </dgm:presLayoutVars>
      </dgm:prSet>
      <dgm:spPr/>
    </dgm:pt>
    <dgm:pt modelId="{DA3987C8-E704-4A19-AA43-6AEBCB9401BB}" type="pres">
      <dgm:prSet presAssocID="{315D94B9-DB1C-45EC-A1B4-90899211F831}" presName="level2hierChild" presStyleCnt="0"/>
      <dgm:spPr/>
    </dgm:pt>
    <dgm:pt modelId="{87A2B3D6-6B58-48E6-BB46-2712B03BFB10}" type="pres">
      <dgm:prSet presAssocID="{BB4802D1-0BA0-4C2F-8333-748936E6DFAB}" presName="conn2-1" presStyleLbl="parChTrans1D2" presStyleIdx="0" presStyleCnt="3"/>
      <dgm:spPr/>
    </dgm:pt>
    <dgm:pt modelId="{B4EB2863-7360-44E2-9F34-D294CFA0E6AD}" type="pres">
      <dgm:prSet presAssocID="{BB4802D1-0BA0-4C2F-8333-748936E6DFAB}" presName="connTx" presStyleLbl="parChTrans1D2" presStyleIdx="0" presStyleCnt="3"/>
      <dgm:spPr/>
    </dgm:pt>
    <dgm:pt modelId="{DB73EFEE-E66E-467C-B7EE-2D5EE56AB4FA}" type="pres">
      <dgm:prSet presAssocID="{C7F34DAE-3BFD-4848-A837-916A988B66B4}" presName="root2" presStyleCnt="0"/>
      <dgm:spPr/>
    </dgm:pt>
    <dgm:pt modelId="{07CC8F46-3026-4FCD-A1D5-25F414CF20BA}" type="pres">
      <dgm:prSet presAssocID="{C7F34DAE-3BFD-4848-A837-916A988B66B4}" presName="LevelTwoTextNode" presStyleLbl="node2" presStyleIdx="0" presStyleCnt="3">
        <dgm:presLayoutVars>
          <dgm:chPref val="3"/>
        </dgm:presLayoutVars>
      </dgm:prSet>
      <dgm:spPr/>
    </dgm:pt>
    <dgm:pt modelId="{EA180490-4CCA-4E97-8969-79AD552E7029}" type="pres">
      <dgm:prSet presAssocID="{C7F34DAE-3BFD-4848-A837-916A988B66B4}" presName="level3hierChild" presStyleCnt="0"/>
      <dgm:spPr/>
    </dgm:pt>
    <dgm:pt modelId="{CEFD3539-6DCE-41BC-A352-973C1BC82E15}" type="pres">
      <dgm:prSet presAssocID="{41DA4631-77A9-4DF0-A8BA-4704B96CD905}" presName="conn2-1" presStyleLbl="parChTrans1D3" presStyleIdx="0" presStyleCnt="5"/>
      <dgm:spPr/>
    </dgm:pt>
    <dgm:pt modelId="{C83326DB-BD30-4F72-9EAC-08E465D19A79}" type="pres">
      <dgm:prSet presAssocID="{41DA4631-77A9-4DF0-A8BA-4704B96CD905}" presName="connTx" presStyleLbl="parChTrans1D3" presStyleIdx="0" presStyleCnt="5"/>
      <dgm:spPr/>
    </dgm:pt>
    <dgm:pt modelId="{6682C716-D91D-409A-AF70-8FD6A1169736}" type="pres">
      <dgm:prSet presAssocID="{5ED8601D-2DAF-41B8-8024-7F5CA741BACA}" presName="root2" presStyleCnt="0"/>
      <dgm:spPr/>
    </dgm:pt>
    <dgm:pt modelId="{48312E1E-B2BC-4C6E-8B18-4C8F5B9381B0}" type="pres">
      <dgm:prSet presAssocID="{5ED8601D-2DAF-41B8-8024-7F5CA741BACA}" presName="LevelTwoTextNode" presStyleLbl="node3" presStyleIdx="0" presStyleCnt="5">
        <dgm:presLayoutVars>
          <dgm:chPref val="3"/>
        </dgm:presLayoutVars>
      </dgm:prSet>
      <dgm:spPr/>
    </dgm:pt>
    <dgm:pt modelId="{5DAE8C35-C299-4857-9732-272F971C0BEF}" type="pres">
      <dgm:prSet presAssocID="{5ED8601D-2DAF-41B8-8024-7F5CA741BACA}" presName="level3hierChild" presStyleCnt="0"/>
      <dgm:spPr/>
    </dgm:pt>
    <dgm:pt modelId="{10A49F63-2476-42D1-96DB-28F8A365A135}" type="pres">
      <dgm:prSet presAssocID="{CB691382-383B-4D31-9319-4F7D7AF5BE9F}" presName="conn2-1" presStyleLbl="parChTrans1D3" presStyleIdx="1" presStyleCnt="5"/>
      <dgm:spPr/>
    </dgm:pt>
    <dgm:pt modelId="{7FD80D6B-98A9-4F23-8343-0CE44B5721FB}" type="pres">
      <dgm:prSet presAssocID="{CB691382-383B-4D31-9319-4F7D7AF5BE9F}" presName="connTx" presStyleLbl="parChTrans1D3" presStyleIdx="1" presStyleCnt="5"/>
      <dgm:spPr/>
    </dgm:pt>
    <dgm:pt modelId="{7A8382F8-297A-4048-8295-6AF7C74E2FED}" type="pres">
      <dgm:prSet presAssocID="{C0DE511B-77A3-42AE-845C-6543005EAD10}" presName="root2" presStyleCnt="0"/>
      <dgm:spPr/>
    </dgm:pt>
    <dgm:pt modelId="{94D61AC6-BFD9-48D8-B165-029653DCEBC9}" type="pres">
      <dgm:prSet presAssocID="{C0DE511B-77A3-42AE-845C-6543005EAD10}" presName="LevelTwoTextNode" presStyleLbl="node3" presStyleIdx="1" presStyleCnt="5">
        <dgm:presLayoutVars>
          <dgm:chPref val="3"/>
        </dgm:presLayoutVars>
      </dgm:prSet>
      <dgm:spPr/>
    </dgm:pt>
    <dgm:pt modelId="{584066DC-4E30-4179-A411-EFC8C061E294}" type="pres">
      <dgm:prSet presAssocID="{C0DE511B-77A3-42AE-845C-6543005EAD10}" presName="level3hierChild" presStyleCnt="0"/>
      <dgm:spPr/>
    </dgm:pt>
    <dgm:pt modelId="{D565957E-C07B-4E66-8A83-7D27F1A080B1}" type="pres">
      <dgm:prSet presAssocID="{5E91EED9-EF77-498B-A9B8-273AD41A1563}" presName="conn2-1" presStyleLbl="parChTrans1D2" presStyleIdx="1" presStyleCnt="3"/>
      <dgm:spPr/>
    </dgm:pt>
    <dgm:pt modelId="{9B11B39B-5660-4015-8814-F7069CDEDBD2}" type="pres">
      <dgm:prSet presAssocID="{5E91EED9-EF77-498B-A9B8-273AD41A1563}" presName="connTx" presStyleLbl="parChTrans1D2" presStyleIdx="1" presStyleCnt="3"/>
      <dgm:spPr/>
    </dgm:pt>
    <dgm:pt modelId="{251AB3BE-906B-4143-932C-3B4B06D7D796}" type="pres">
      <dgm:prSet presAssocID="{FC9294E1-2052-4FE0-9611-A9474DDD59C2}" presName="root2" presStyleCnt="0"/>
      <dgm:spPr/>
    </dgm:pt>
    <dgm:pt modelId="{BBA967E8-A5BE-4BBC-BF46-FA9642073D0E}" type="pres">
      <dgm:prSet presAssocID="{FC9294E1-2052-4FE0-9611-A9474DDD59C2}" presName="LevelTwoTextNode" presStyleLbl="node2" presStyleIdx="1" presStyleCnt="3">
        <dgm:presLayoutVars>
          <dgm:chPref val="3"/>
        </dgm:presLayoutVars>
      </dgm:prSet>
      <dgm:spPr/>
    </dgm:pt>
    <dgm:pt modelId="{0F34E71A-CCCC-407C-ACCB-36B2810361C4}" type="pres">
      <dgm:prSet presAssocID="{FC9294E1-2052-4FE0-9611-A9474DDD59C2}" presName="level3hierChild" presStyleCnt="0"/>
      <dgm:spPr/>
    </dgm:pt>
    <dgm:pt modelId="{BCD21622-6BD9-43E0-AA7B-53E55D3FBFB7}" type="pres">
      <dgm:prSet presAssocID="{66FBE75B-F717-492D-9A22-AA78264A04C2}" presName="conn2-1" presStyleLbl="parChTrans1D3" presStyleIdx="2" presStyleCnt="5"/>
      <dgm:spPr/>
    </dgm:pt>
    <dgm:pt modelId="{B75F04D8-7C2C-4834-B725-6D9FB08DD0EC}" type="pres">
      <dgm:prSet presAssocID="{66FBE75B-F717-492D-9A22-AA78264A04C2}" presName="connTx" presStyleLbl="parChTrans1D3" presStyleIdx="2" presStyleCnt="5"/>
      <dgm:spPr/>
    </dgm:pt>
    <dgm:pt modelId="{72A42B29-2D26-4A54-A10B-9C9F0C4CEB58}" type="pres">
      <dgm:prSet presAssocID="{AC445753-39DF-4201-9B29-02A294F42281}" presName="root2" presStyleCnt="0"/>
      <dgm:spPr/>
    </dgm:pt>
    <dgm:pt modelId="{9C7C0558-EB9B-4326-91D1-617634ABC184}" type="pres">
      <dgm:prSet presAssocID="{AC445753-39DF-4201-9B29-02A294F42281}" presName="LevelTwoTextNode" presStyleLbl="node3" presStyleIdx="2" presStyleCnt="5">
        <dgm:presLayoutVars>
          <dgm:chPref val="3"/>
        </dgm:presLayoutVars>
      </dgm:prSet>
      <dgm:spPr/>
    </dgm:pt>
    <dgm:pt modelId="{9348F3D4-A0F7-4EA7-8719-6802A91891A2}" type="pres">
      <dgm:prSet presAssocID="{AC445753-39DF-4201-9B29-02A294F42281}" presName="level3hierChild" presStyleCnt="0"/>
      <dgm:spPr/>
    </dgm:pt>
    <dgm:pt modelId="{429B745E-2582-4E41-B0BF-3A8F16D0DBCE}" type="pres">
      <dgm:prSet presAssocID="{4A9CC95C-49CC-4C04-813C-1334A9E340F1}" presName="conn2-1" presStyleLbl="parChTrans1D3" presStyleIdx="3" presStyleCnt="5"/>
      <dgm:spPr/>
    </dgm:pt>
    <dgm:pt modelId="{9B379F14-9FE2-4146-9315-39621C75BCD6}" type="pres">
      <dgm:prSet presAssocID="{4A9CC95C-49CC-4C04-813C-1334A9E340F1}" presName="connTx" presStyleLbl="parChTrans1D3" presStyleIdx="3" presStyleCnt="5"/>
      <dgm:spPr/>
    </dgm:pt>
    <dgm:pt modelId="{C427D6D8-A751-40D2-804D-79630EF6E8B4}" type="pres">
      <dgm:prSet presAssocID="{EA93490E-159C-4D6E-ADEA-D6583651A3F1}" presName="root2" presStyleCnt="0"/>
      <dgm:spPr/>
    </dgm:pt>
    <dgm:pt modelId="{DA7FDFDC-95E6-446F-B57F-AF7C1CE049D1}" type="pres">
      <dgm:prSet presAssocID="{EA93490E-159C-4D6E-ADEA-D6583651A3F1}" presName="LevelTwoTextNode" presStyleLbl="node3" presStyleIdx="3" presStyleCnt="5">
        <dgm:presLayoutVars>
          <dgm:chPref val="3"/>
        </dgm:presLayoutVars>
      </dgm:prSet>
      <dgm:spPr/>
    </dgm:pt>
    <dgm:pt modelId="{2E0A6B09-70C5-436C-B5E6-55B52BB6F9F5}" type="pres">
      <dgm:prSet presAssocID="{EA93490E-159C-4D6E-ADEA-D6583651A3F1}" presName="level3hierChild" presStyleCnt="0"/>
      <dgm:spPr/>
    </dgm:pt>
    <dgm:pt modelId="{A2461101-0348-4FA8-8D36-300B2DF4B354}" type="pres">
      <dgm:prSet presAssocID="{DA96A4F4-B2D5-4AC5-B5BA-77ED52183D37}" presName="conn2-1" presStyleLbl="parChTrans1D2" presStyleIdx="2" presStyleCnt="3"/>
      <dgm:spPr/>
    </dgm:pt>
    <dgm:pt modelId="{D1000AF8-F7BD-45EA-B58F-C52CE5ABF6EB}" type="pres">
      <dgm:prSet presAssocID="{DA96A4F4-B2D5-4AC5-B5BA-77ED52183D37}" presName="connTx" presStyleLbl="parChTrans1D2" presStyleIdx="2" presStyleCnt="3"/>
      <dgm:spPr/>
    </dgm:pt>
    <dgm:pt modelId="{DF794007-5A50-45EA-BBC5-8B7F5224B0AC}" type="pres">
      <dgm:prSet presAssocID="{4A956FBC-491F-495A-8CCB-BB96F1561EE7}" presName="root2" presStyleCnt="0"/>
      <dgm:spPr/>
    </dgm:pt>
    <dgm:pt modelId="{99D1246E-AA67-49EF-8B5A-D63047DA0370}" type="pres">
      <dgm:prSet presAssocID="{4A956FBC-491F-495A-8CCB-BB96F1561EE7}" presName="LevelTwoTextNode" presStyleLbl="node2" presStyleIdx="2" presStyleCnt="3">
        <dgm:presLayoutVars>
          <dgm:chPref val="3"/>
        </dgm:presLayoutVars>
      </dgm:prSet>
      <dgm:spPr/>
    </dgm:pt>
    <dgm:pt modelId="{1F12444B-A38E-424F-AA24-8A3F5FA138DC}" type="pres">
      <dgm:prSet presAssocID="{4A956FBC-491F-495A-8CCB-BB96F1561EE7}" presName="level3hierChild" presStyleCnt="0"/>
      <dgm:spPr/>
    </dgm:pt>
    <dgm:pt modelId="{6686D00B-7DFE-4BDB-86C5-AA81FE693104}" type="pres">
      <dgm:prSet presAssocID="{406A07FB-D48D-48C5-AA42-766555D74E19}" presName="conn2-1" presStyleLbl="parChTrans1D3" presStyleIdx="4" presStyleCnt="5"/>
      <dgm:spPr/>
    </dgm:pt>
    <dgm:pt modelId="{0D30C8BF-D524-46D4-B2B5-81223B4AD05D}" type="pres">
      <dgm:prSet presAssocID="{406A07FB-D48D-48C5-AA42-766555D74E19}" presName="connTx" presStyleLbl="parChTrans1D3" presStyleIdx="4" presStyleCnt="5"/>
      <dgm:spPr/>
    </dgm:pt>
    <dgm:pt modelId="{F9D9742F-8F41-47A1-A54E-8FA0E05F3BB2}" type="pres">
      <dgm:prSet presAssocID="{CB196D5B-763E-4176-B9CD-761ECC8EC1CD}" presName="root2" presStyleCnt="0"/>
      <dgm:spPr/>
    </dgm:pt>
    <dgm:pt modelId="{EDEBBCCD-7272-4C87-AD94-DA7389F3FBB8}" type="pres">
      <dgm:prSet presAssocID="{CB196D5B-763E-4176-B9CD-761ECC8EC1CD}" presName="LevelTwoTextNode" presStyleLbl="node3" presStyleIdx="4" presStyleCnt="5">
        <dgm:presLayoutVars>
          <dgm:chPref val="3"/>
        </dgm:presLayoutVars>
      </dgm:prSet>
      <dgm:spPr/>
    </dgm:pt>
    <dgm:pt modelId="{8BEBE102-F0BD-4D1A-BEF9-EFFBEC77A574}" type="pres">
      <dgm:prSet presAssocID="{CB196D5B-763E-4176-B9CD-761ECC8EC1CD}" presName="level3hierChild" presStyleCnt="0"/>
      <dgm:spPr/>
    </dgm:pt>
  </dgm:ptLst>
  <dgm:cxnLst>
    <dgm:cxn modelId="{9F122F12-8078-4BF7-BCBC-41FC7F21EA50}" srcId="{315D94B9-DB1C-45EC-A1B4-90899211F831}" destId="{C7F34DAE-3BFD-4848-A837-916A988B66B4}" srcOrd="0" destOrd="0" parTransId="{BB4802D1-0BA0-4C2F-8333-748936E6DFAB}" sibTransId="{317E7F22-B290-41F3-9433-159F0AB46936}"/>
    <dgm:cxn modelId="{5FC74D1A-B152-4764-B6A5-E8F8197270BD}" type="presOf" srcId="{C7F34DAE-3BFD-4848-A837-916A988B66B4}" destId="{07CC8F46-3026-4FCD-A1D5-25F414CF20BA}" srcOrd="0" destOrd="0" presId="urn:microsoft.com/office/officeart/2008/layout/HorizontalMultiLevelHierarchy"/>
    <dgm:cxn modelId="{BC967B1C-C75C-4B6B-943D-755D9D8CA423}" type="presOf" srcId="{DA96A4F4-B2D5-4AC5-B5BA-77ED52183D37}" destId="{A2461101-0348-4FA8-8D36-300B2DF4B354}" srcOrd="0" destOrd="0" presId="urn:microsoft.com/office/officeart/2008/layout/HorizontalMultiLevelHierarchy"/>
    <dgm:cxn modelId="{64F0B220-F491-4519-A2F4-2D7BF0AAF32B}" type="presOf" srcId="{CBE5A2D6-81ED-45D4-A97F-9727F4B17476}" destId="{0759891E-6E35-44D1-8EE0-4B306CA4E8E0}" srcOrd="0" destOrd="0" presId="urn:microsoft.com/office/officeart/2008/layout/HorizontalMultiLevelHierarchy"/>
    <dgm:cxn modelId="{88732837-6EDC-43F4-AAC4-BC4D976C573A}" srcId="{315D94B9-DB1C-45EC-A1B4-90899211F831}" destId="{4A956FBC-491F-495A-8CCB-BB96F1561EE7}" srcOrd="2" destOrd="0" parTransId="{DA96A4F4-B2D5-4AC5-B5BA-77ED52183D37}" sibTransId="{D36F2667-987F-4830-8A27-799BDC575B09}"/>
    <dgm:cxn modelId="{D955F839-82D7-4688-B714-1E2755AB7DD6}" srcId="{C7F34DAE-3BFD-4848-A837-916A988B66B4}" destId="{C0DE511B-77A3-42AE-845C-6543005EAD10}" srcOrd="1" destOrd="0" parTransId="{CB691382-383B-4D31-9319-4F7D7AF5BE9F}" sibTransId="{BD249429-F9A2-4715-AB81-0451A767902E}"/>
    <dgm:cxn modelId="{1FE3643A-F64F-4FAB-9EAC-6A4094977DF8}" srcId="{C7F34DAE-3BFD-4848-A837-916A988B66B4}" destId="{5ED8601D-2DAF-41B8-8024-7F5CA741BACA}" srcOrd="0" destOrd="0" parTransId="{41DA4631-77A9-4DF0-A8BA-4704B96CD905}" sibTransId="{71C0C411-1B69-477F-B9A1-B61B13578CAD}"/>
    <dgm:cxn modelId="{5ADB813B-3870-4DCC-9B85-0232508751FF}" type="presOf" srcId="{C0DE511B-77A3-42AE-845C-6543005EAD10}" destId="{94D61AC6-BFD9-48D8-B165-029653DCEBC9}" srcOrd="0" destOrd="0" presId="urn:microsoft.com/office/officeart/2008/layout/HorizontalMultiLevelHierarchy"/>
    <dgm:cxn modelId="{6613133C-EE9D-4F4F-AE5B-5B9411FC9BF7}" type="presOf" srcId="{66FBE75B-F717-492D-9A22-AA78264A04C2}" destId="{B75F04D8-7C2C-4834-B725-6D9FB08DD0EC}" srcOrd="1" destOrd="0" presId="urn:microsoft.com/office/officeart/2008/layout/HorizontalMultiLevelHierarchy"/>
    <dgm:cxn modelId="{91A1A15B-0AEA-486E-97D3-D891E2B02D95}" type="presOf" srcId="{BB4802D1-0BA0-4C2F-8333-748936E6DFAB}" destId="{B4EB2863-7360-44E2-9F34-D294CFA0E6AD}" srcOrd="1" destOrd="0" presId="urn:microsoft.com/office/officeart/2008/layout/HorizontalMultiLevelHierarchy"/>
    <dgm:cxn modelId="{AC161461-BF88-4FE4-BFFF-7F57CE53A30A}" type="presOf" srcId="{315D94B9-DB1C-45EC-A1B4-90899211F831}" destId="{1976B821-6392-4257-BF3A-0D96CD772E9D}" srcOrd="0" destOrd="0" presId="urn:microsoft.com/office/officeart/2008/layout/HorizontalMultiLevelHierarchy"/>
    <dgm:cxn modelId="{07107065-21DE-4E64-9F16-8AFBEDBC0229}" type="presOf" srcId="{406A07FB-D48D-48C5-AA42-766555D74E19}" destId="{6686D00B-7DFE-4BDB-86C5-AA81FE693104}" srcOrd="0" destOrd="0" presId="urn:microsoft.com/office/officeart/2008/layout/HorizontalMultiLevelHierarchy"/>
    <dgm:cxn modelId="{06C6BA4A-59A0-4B9B-B1AF-CB68A7197FD2}" srcId="{FC9294E1-2052-4FE0-9611-A9474DDD59C2}" destId="{AC445753-39DF-4201-9B29-02A294F42281}" srcOrd="0" destOrd="0" parTransId="{66FBE75B-F717-492D-9A22-AA78264A04C2}" sibTransId="{5D6978E2-002C-47C5-B775-0DA32E74214B}"/>
    <dgm:cxn modelId="{B3E37057-4474-4450-B661-7F2877D1AE21}" type="presOf" srcId="{4A9CC95C-49CC-4C04-813C-1334A9E340F1}" destId="{9B379F14-9FE2-4146-9315-39621C75BCD6}" srcOrd="1" destOrd="0" presId="urn:microsoft.com/office/officeart/2008/layout/HorizontalMultiLevelHierarchy"/>
    <dgm:cxn modelId="{D9C8A778-24A7-45E6-A5F6-FFE24C63DA86}" type="presOf" srcId="{CB691382-383B-4D31-9319-4F7D7AF5BE9F}" destId="{7FD80D6B-98A9-4F23-8343-0CE44B5721FB}" srcOrd="1" destOrd="0" presId="urn:microsoft.com/office/officeart/2008/layout/HorizontalMultiLevelHierarchy"/>
    <dgm:cxn modelId="{611B675A-3C67-4C62-9F27-3F7F09A52ACF}" type="presOf" srcId="{CB691382-383B-4D31-9319-4F7D7AF5BE9F}" destId="{10A49F63-2476-42D1-96DB-28F8A365A135}" srcOrd="0" destOrd="0" presId="urn:microsoft.com/office/officeart/2008/layout/HorizontalMultiLevelHierarchy"/>
    <dgm:cxn modelId="{BD4A7D7A-2D8A-4460-A343-716A3BE14FA2}" type="presOf" srcId="{5E91EED9-EF77-498B-A9B8-273AD41A1563}" destId="{9B11B39B-5660-4015-8814-F7069CDEDBD2}" srcOrd="1" destOrd="0" presId="urn:microsoft.com/office/officeart/2008/layout/HorizontalMultiLevelHierarchy"/>
    <dgm:cxn modelId="{CF10EC82-9C91-4C33-8244-052FB72BFC56}" type="presOf" srcId="{4A9CC95C-49CC-4C04-813C-1334A9E340F1}" destId="{429B745E-2582-4E41-B0BF-3A8F16D0DBCE}" srcOrd="0" destOrd="0" presId="urn:microsoft.com/office/officeart/2008/layout/HorizontalMultiLevelHierarchy"/>
    <dgm:cxn modelId="{ECD5C697-52CB-4E57-A284-8B591B1251C6}" type="presOf" srcId="{4A956FBC-491F-495A-8CCB-BB96F1561EE7}" destId="{99D1246E-AA67-49EF-8B5A-D63047DA0370}" srcOrd="0" destOrd="0" presId="urn:microsoft.com/office/officeart/2008/layout/HorizontalMultiLevelHierarchy"/>
    <dgm:cxn modelId="{0380109B-2AA1-4DF5-BF91-1B3E3EA7F95E}" type="presOf" srcId="{AC445753-39DF-4201-9B29-02A294F42281}" destId="{9C7C0558-EB9B-4326-91D1-617634ABC184}" srcOrd="0" destOrd="0" presId="urn:microsoft.com/office/officeart/2008/layout/HorizontalMultiLevelHierarchy"/>
    <dgm:cxn modelId="{4903479C-BF79-47A8-AD1C-9804238EAC4F}" type="presOf" srcId="{BB4802D1-0BA0-4C2F-8333-748936E6DFAB}" destId="{87A2B3D6-6B58-48E6-BB46-2712B03BFB10}" srcOrd="0" destOrd="0" presId="urn:microsoft.com/office/officeart/2008/layout/HorizontalMultiLevelHierarchy"/>
    <dgm:cxn modelId="{2C8EF7A6-A9A7-4AD6-8A0C-35B657FECDF2}" type="presOf" srcId="{406A07FB-D48D-48C5-AA42-766555D74E19}" destId="{0D30C8BF-D524-46D4-B2B5-81223B4AD05D}" srcOrd="1" destOrd="0" presId="urn:microsoft.com/office/officeart/2008/layout/HorizontalMultiLevelHierarchy"/>
    <dgm:cxn modelId="{08C9FDAF-4A85-4A4C-BCE3-ECF15B79891F}" srcId="{CBE5A2D6-81ED-45D4-A97F-9727F4B17476}" destId="{315D94B9-DB1C-45EC-A1B4-90899211F831}" srcOrd="0" destOrd="0" parTransId="{5C698534-4AF6-4BC4-8B68-3C16AD1BE66A}" sibTransId="{0F285F0A-08FE-4948-8378-CEE789B6F4CB}"/>
    <dgm:cxn modelId="{AD8EDBB1-FA92-4B99-B221-7E89F86CF07B}" type="presOf" srcId="{5ED8601D-2DAF-41B8-8024-7F5CA741BACA}" destId="{48312E1E-B2BC-4C6E-8B18-4C8F5B9381B0}" srcOrd="0" destOrd="0" presId="urn:microsoft.com/office/officeart/2008/layout/HorizontalMultiLevelHierarchy"/>
    <dgm:cxn modelId="{E419AFB4-72A2-4914-A07D-B972BADA8516}" srcId="{315D94B9-DB1C-45EC-A1B4-90899211F831}" destId="{FC9294E1-2052-4FE0-9611-A9474DDD59C2}" srcOrd="1" destOrd="0" parTransId="{5E91EED9-EF77-498B-A9B8-273AD41A1563}" sibTransId="{EBF1D95A-B9A1-4217-A5CF-D97E8D9A2366}"/>
    <dgm:cxn modelId="{0A1B7BC6-BD94-442D-9663-4053D06EA241}" srcId="{FC9294E1-2052-4FE0-9611-A9474DDD59C2}" destId="{EA93490E-159C-4D6E-ADEA-D6583651A3F1}" srcOrd="1" destOrd="0" parTransId="{4A9CC95C-49CC-4C04-813C-1334A9E340F1}" sibTransId="{7A05239F-1AE6-414A-B710-8AAE66F6F018}"/>
    <dgm:cxn modelId="{BC3542C7-940A-4CCA-A29A-26120B495A7A}" type="presOf" srcId="{5E91EED9-EF77-498B-A9B8-273AD41A1563}" destId="{D565957E-C07B-4E66-8A83-7D27F1A080B1}" srcOrd="0" destOrd="0" presId="urn:microsoft.com/office/officeart/2008/layout/HorizontalMultiLevelHierarchy"/>
    <dgm:cxn modelId="{CD6988CA-B0E6-408C-BF66-829BB9ACBD98}" type="presOf" srcId="{EA93490E-159C-4D6E-ADEA-D6583651A3F1}" destId="{DA7FDFDC-95E6-446F-B57F-AF7C1CE049D1}" srcOrd="0" destOrd="0" presId="urn:microsoft.com/office/officeart/2008/layout/HorizontalMultiLevelHierarchy"/>
    <dgm:cxn modelId="{22BCA2D3-2E93-4965-BDA4-6A50CB9F5D24}" type="presOf" srcId="{DA96A4F4-B2D5-4AC5-B5BA-77ED52183D37}" destId="{D1000AF8-F7BD-45EA-B58F-C52CE5ABF6EB}" srcOrd="1" destOrd="0" presId="urn:microsoft.com/office/officeart/2008/layout/HorizontalMultiLevelHierarchy"/>
    <dgm:cxn modelId="{9CD384D7-B46B-43E7-9219-C402D1C4D3C0}" srcId="{4A956FBC-491F-495A-8CCB-BB96F1561EE7}" destId="{CB196D5B-763E-4176-B9CD-761ECC8EC1CD}" srcOrd="0" destOrd="0" parTransId="{406A07FB-D48D-48C5-AA42-766555D74E19}" sibTransId="{66B2C71B-C385-429B-A215-95A55627AF91}"/>
    <dgm:cxn modelId="{529B56DF-DE05-4DE5-BF9D-AF8F822D32C1}" type="presOf" srcId="{CB196D5B-763E-4176-B9CD-761ECC8EC1CD}" destId="{EDEBBCCD-7272-4C87-AD94-DA7389F3FBB8}" srcOrd="0" destOrd="0" presId="urn:microsoft.com/office/officeart/2008/layout/HorizontalMultiLevelHierarchy"/>
    <dgm:cxn modelId="{1F66AAE5-6EAB-45EB-BA7D-E5CFA9C758B5}" type="presOf" srcId="{FC9294E1-2052-4FE0-9611-A9474DDD59C2}" destId="{BBA967E8-A5BE-4BBC-BF46-FA9642073D0E}" srcOrd="0" destOrd="0" presId="urn:microsoft.com/office/officeart/2008/layout/HorizontalMultiLevelHierarchy"/>
    <dgm:cxn modelId="{B434B9E7-7205-499A-B517-E36105C469B4}" type="presOf" srcId="{66FBE75B-F717-492D-9A22-AA78264A04C2}" destId="{BCD21622-6BD9-43E0-AA7B-53E55D3FBFB7}" srcOrd="0" destOrd="0" presId="urn:microsoft.com/office/officeart/2008/layout/HorizontalMultiLevelHierarchy"/>
    <dgm:cxn modelId="{A4D140F6-5846-4E19-874F-C7434B650445}" type="presOf" srcId="{41DA4631-77A9-4DF0-A8BA-4704B96CD905}" destId="{C83326DB-BD30-4F72-9EAC-08E465D19A79}" srcOrd="1" destOrd="0" presId="urn:microsoft.com/office/officeart/2008/layout/HorizontalMultiLevelHierarchy"/>
    <dgm:cxn modelId="{698879F6-68C9-46F1-86BC-4B4E1BBD826E}" type="presOf" srcId="{41DA4631-77A9-4DF0-A8BA-4704B96CD905}" destId="{CEFD3539-6DCE-41BC-A352-973C1BC82E15}" srcOrd="0" destOrd="0" presId="urn:microsoft.com/office/officeart/2008/layout/HorizontalMultiLevelHierarchy"/>
    <dgm:cxn modelId="{F6BACE4E-12C5-4124-BB5F-D78245F3C3A8}" type="presParOf" srcId="{0759891E-6E35-44D1-8EE0-4B306CA4E8E0}" destId="{15595278-1110-4206-8831-B748DA08FCDF}" srcOrd="0" destOrd="0" presId="urn:microsoft.com/office/officeart/2008/layout/HorizontalMultiLevelHierarchy"/>
    <dgm:cxn modelId="{D315EAE6-0D48-406B-AD35-533300EC39B9}" type="presParOf" srcId="{15595278-1110-4206-8831-B748DA08FCDF}" destId="{1976B821-6392-4257-BF3A-0D96CD772E9D}" srcOrd="0" destOrd="0" presId="urn:microsoft.com/office/officeart/2008/layout/HorizontalMultiLevelHierarchy"/>
    <dgm:cxn modelId="{604246BF-8603-4877-B615-E0EC2D9F1C56}" type="presParOf" srcId="{15595278-1110-4206-8831-B748DA08FCDF}" destId="{DA3987C8-E704-4A19-AA43-6AEBCB9401BB}" srcOrd="1" destOrd="0" presId="urn:microsoft.com/office/officeart/2008/layout/HorizontalMultiLevelHierarchy"/>
    <dgm:cxn modelId="{E717BFE0-36DF-48D2-B197-96C6797F6111}" type="presParOf" srcId="{DA3987C8-E704-4A19-AA43-6AEBCB9401BB}" destId="{87A2B3D6-6B58-48E6-BB46-2712B03BFB10}" srcOrd="0" destOrd="0" presId="urn:microsoft.com/office/officeart/2008/layout/HorizontalMultiLevelHierarchy"/>
    <dgm:cxn modelId="{2B941159-3869-404D-ABCE-EDBD2896FD9E}" type="presParOf" srcId="{87A2B3D6-6B58-48E6-BB46-2712B03BFB10}" destId="{B4EB2863-7360-44E2-9F34-D294CFA0E6AD}" srcOrd="0" destOrd="0" presId="urn:microsoft.com/office/officeart/2008/layout/HorizontalMultiLevelHierarchy"/>
    <dgm:cxn modelId="{9FEA3B69-9A10-4F58-9134-300EC5683A2A}" type="presParOf" srcId="{DA3987C8-E704-4A19-AA43-6AEBCB9401BB}" destId="{DB73EFEE-E66E-467C-B7EE-2D5EE56AB4FA}" srcOrd="1" destOrd="0" presId="urn:microsoft.com/office/officeart/2008/layout/HorizontalMultiLevelHierarchy"/>
    <dgm:cxn modelId="{52F1AC0B-1440-4195-A4C0-607CD33D3206}" type="presParOf" srcId="{DB73EFEE-E66E-467C-B7EE-2D5EE56AB4FA}" destId="{07CC8F46-3026-4FCD-A1D5-25F414CF20BA}" srcOrd="0" destOrd="0" presId="urn:microsoft.com/office/officeart/2008/layout/HorizontalMultiLevelHierarchy"/>
    <dgm:cxn modelId="{61913DAB-3538-4B8A-9822-3D2266817FE3}" type="presParOf" srcId="{DB73EFEE-E66E-467C-B7EE-2D5EE56AB4FA}" destId="{EA180490-4CCA-4E97-8969-79AD552E7029}" srcOrd="1" destOrd="0" presId="urn:microsoft.com/office/officeart/2008/layout/HorizontalMultiLevelHierarchy"/>
    <dgm:cxn modelId="{1D2633D4-DE7F-4B52-9AD0-9C72498CF972}" type="presParOf" srcId="{EA180490-4CCA-4E97-8969-79AD552E7029}" destId="{CEFD3539-6DCE-41BC-A352-973C1BC82E15}" srcOrd="0" destOrd="0" presId="urn:microsoft.com/office/officeart/2008/layout/HorizontalMultiLevelHierarchy"/>
    <dgm:cxn modelId="{7186ECDF-A851-4D7D-9CE2-59A015A6C7CD}" type="presParOf" srcId="{CEFD3539-6DCE-41BC-A352-973C1BC82E15}" destId="{C83326DB-BD30-4F72-9EAC-08E465D19A79}" srcOrd="0" destOrd="0" presId="urn:microsoft.com/office/officeart/2008/layout/HorizontalMultiLevelHierarchy"/>
    <dgm:cxn modelId="{A7CA34C2-81F2-4D52-B734-B456B2E4B727}" type="presParOf" srcId="{EA180490-4CCA-4E97-8969-79AD552E7029}" destId="{6682C716-D91D-409A-AF70-8FD6A1169736}" srcOrd="1" destOrd="0" presId="urn:microsoft.com/office/officeart/2008/layout/HorizontalMultiLevelHierarchy"/>
    <dgm:cxn modelId="{B8B10A29-58BF-40AD-8CEF-41FD74F1DA7D}" type="presParOf" srcId="{6682C716-D91D-409A-AF70-8FD6A1169736}" destId="{48312E1E-B2BC-4C6E-8B18-4C8F5B9381B0}" srcOrd="0" destOrd="0" presId="urn:microsoft.com/office/officeart/2008/layout/HorizontalMultiLevelHierarchy"/>
    <dgm:cxn modelId="{4DDC0AA6-AEF6-4F8C-9237-0F2F103FC216}" type="presParOf" srcId="{6682C716-D91D-409A-AF70-8FD6A1169736}" destId="{5DAE8C35-C299-4857-9732-272F971C0BEF}" srcOrd="1" destOrd="0" presId="urn:microsoft.com/office/officeart/2008/layout/HorizontalMultiLevelHierarchy"/>
    <dgm:cxn modelId="{D0EA169B-2673-4CC1-8598-3552C536F0BC}" type="presParOf" srcId="{EA180490-4CCA-4E97-8969-79AD552E7029}" destId="{10A49F63-2476-42D1-96DB-28F8A365A135}" srcOrd="2" destOrd="0" presId="urn:microsoft.com/office/officeart/2008/layout/HorizontalMultiLevelHierarchy"/>
    <dgm:cxn modelId="{1AC02D47-B9C7-4798-83A7-11444826FB73}" type="presParOf" srcId="{10A49F63-2476-42D1-96DB-28F8A365A135}" destId="{7FD80D6B-98A9-4F23-8343-0CE44B5721FB}" srcOrd="0" destOrd="0" presId="urn:microsoft.com/office/officeart/2008/layout/HorizontalMultiLevelHierarchy"/>
    <dgm:cxn modelId="{23BB7E62-E9BF-4C60-9021-6D17BB166B7E}" type="presParOf" srcId="{EA180490-4CCA-4E97-8969-79AD552E7029}" destId="{7A8382F8-297A-4048-8295-6AF7C74E2FED}" srcOrd="3" destOrd="0" presId="urn:microsoft.com/office/officeart/2008/layout/HorizontalMultiLevelHierarchy"/>
    <dgm:cxn modelId="{C3C8DE77-F567-417F-8A41-0E65BAC1F111}" type="presParOf" srcId="{7A8382F8-297A-4048-8295-6AF7C74E2FED}" destId="{94D61AC6-BFD9-48D8-B165-029653DCEBC9}" srcOrd="0" destOrd="0" presId="urn:microsoft.com/office/officeart/2008/layout/HorizontalMultiLevelHierarchy"/>
    <dgm:cxn modelId="{1CD91E54-2E54-4510-9888-B6180DDD819E}" type="presParOf" srcId="{7A8382F8-297A-4048-8295-6AF7C74E2FED}" destId="{584066DC-4E30-4179-A411-EFC8C061E294}" srcOrd="1" destOrd="0" presId="urn:microsoft.com/office/officeart/2008/layout/HorizontalMultiLevelHierarchy"/>
    <dgm:cxn modelId="{B0442304-0FD6-4EF4-85FC-0D7E05A4B8FB}" type="presParOf" srcId="{DA3987C8-E704-4A19-AA43-6AEBCB9401BB}" destId="{D565957E-C07B-4E66-8A83-7D27F1A080B1}" srcOrd="2" destOrd="0" presId="urn:microsoft.com/office/officeart/2008/layout/HorizontalMultiLevelHierarchy"/>
    <dgm:cxn modelId="{ABC8F1C5-D86A-4910-A6AD-F255C8D6F824}" type="presParOf" srcId="{D565957E-C07B-4E66-8A83-7D27F1A080B1}" destId="{9B11B39B-5660-4015-8814-F7069CDEDBD2}" srcOrd="0" destOrd="0" presId="urn:microsoft.com/office/officeart/2008/layout/HorizontalMultiLevelHierarchy"/>
    <dgm:cxn modelId="{EA57D03A-77D1-4827-AF8B-70C806791EF5}" type="presParOf" srcId="{DA3987C8-E704-4A19-AA43-6AEBCB9401BB}" destId="{251AB3BE-906B-4143-932C-3B4B06D7D796}" srcOrd="3" destOrd="0" presId="urn:microsoft.com/office/officeart/2008/layout/HorizontalMultiLevelHierarchy"/>
    <dgm:cxn modelId="{CCADEB58-8CEB-4EB1-8AEC-574B5C935CB6}" type="presParOf" srcId="{251AB3BE-906B-4143-932C-3B4B06D7D796}" destId="{BBA967E8-A5BE-4BBC-BF46-FA9642073D0E}" srcOrd="0" destOrd="0" presId="urn:microsoft.com/office/officeart/2008/layout/HorizontalMultiLevelHierarchy"/>
    <dgm:cxn modelId="{9679A7C8-6494-4EAC-B4B9-7BE2A1BB7934}" type="presParOf" srcId="{251AB3BE-906B-4143-932C-3B4B06D7D796}" destId="{0F34E71A-CCCC-407C-ACCB-36B2810361C4}" srcOrd="1" destOrd="0" presId="urn:microsoft.com/office/officeart/2008/layout/HorizontalMultiLevelHierarchy"/>
    <dgm:cxn modelId="{16B8EF15-CFE2-4DB1-9FB5-19E077ED0430}" type="presParOf" srcId="{0F34E71A-CCCC-407C-ACCB-36B2810361C4}" destId="{BCD21622-6BD9-43E0-AA7B-53E55D3FBFB7}" srcOrd="0" destOrd="0" presId="urn:microsoft.com/office/officeart/2008/layout/HorizontalMultiLevelHierarchy"/>
    <dgm:cxn modelId="{A429CBD0-2A87-4575-A9F8-894180BD544C}" type="presParOf" srcId="{BCD21622-6BD9-43E0-AA7B-53E55D3FBFB7}" destId="{B75F04D8-7C2C-4834-B725-6D9FB08DD0EC}" srcOrd="0" destOrd="0" presId="urn:microsoft.com/office/officeart/2008/layout/HorizontalMultiLevelHierarchy"/>
    <dgm:cxn modelId="{B8DFFBCF-5FCF-43EE-AEFD-183FF36AFE2E}" type="presParOf" srcId="{0F34E71A-CCCC-407C-ACCB-36B2810361C4}" destId="{72A42B29-2D26-4A54-A10B-9C9F0C4CEB58}" srcOrd="1" destOrd="0" presId="urn:microsoft.com/office/officeart/2008/layout/HorizontalMultiLevelHierarchy"/>
    <dgm:cxn modelId="{BD315A16-8C6D-4FD5-B982-C1F3D120E2CA}" type="presParOf" srcId="{72A42B29-2D26-4A54-A10B-9C9F0C4CEB58}" destId="{9C7C0558-EB9B-4326-91D1-617634ABC184}" srcOrd="0" destOrd="0" presId="urn:microsoft.com/office/officeart/2008/layout/HorizontalMultiLevelHierarchy"/>
    <dgm:cxn modelId="{58BBE5CA-F2C5-4364-AF3D-B9B758BBB759}" type="presParOf" srcId="{72A42B29-2D26-4A54-A10B-9C9F0C4CEB58}" destId="{9348F3D4-A0F7-4EA7-8719-6802A91891A2}" srcOrd="1" destOrd="0" presId="urn:microsoft.com/office/officeart/2008/layout/HorizontalMultiLevelHierarchy"/>
    <dgm:cxn modelId="{518A5A55-B5DE-4CDC-8226-2C332905625C}" type="presParOf" srcId="{0F34E71A-CCCC-407C-ACCB-36B2810361C4}" destId="{429B745E-2582-4E41-B0BF-3A8F16D0DBCE}" srcOrd="2" destOrd="0" presId="urn:microsoft.com/office/officeart/2008/layout/HorizontalMultiLevelHierarchy"/>
    <dgm:cxn modelId="{09A9ACBF-567C-464A-8D9F-E631EE0ED7AC}" type="presParOf" srcId="{429B745E-2582-4E41-B0BF-3A8F16D0DBCE}" destId="{9B379F14-9FE2-4146-9315-39621C75BCD6}" srcOrd="0" destOrd="0" presId="urn:microsoft.com/office/officeart/2008/layout/HorizontalMultiLevelHierarchy"/>
    <dgm:cxn modelId="{D6721E84-BD79-4C6D-BCB2-E5BD2D04B9FA}" type="presParOf" srcId="{0F34E71A-CCCC-407C-ACCB-36B2810361C4}" destId="{C427D6D8-A751-40D2-804D-79630EF6E8B4}" srcOrd="3" destOrd="0" presId="urn:microsoft.com/office/officeart/2008/layout/HorizontalMultiLevelHierarchy"/>
    <dgm:cxn modelId="{5BA50BC5-D284-4B17-93DB-E8E8F8A094C5}" type="presParOf" srcId="{C427D6D8-A751-40D2-804D-79630EF6E8B4}" destId="{DA7FDFDC-95E6-446F-B57F-AF7C1CE049D1}" srcOrd="0" destOrd="0" presId="urn:microsoft.com/office/officeart/2008/layout/HorizontalMultiLevelHierarchy"/>
    <dgm:cxn modelId="{A9D45E72-A3CC-4ABF-A70D-34D0FA472F19}" type="presParOf" srcId="{C427D6D8-A751-40D2-804D-79630EF6E8B4}" destId="{2E0A6B09-70C5-436C-B5E6-55B52BB6F9F5}" srcOrd="1" destOrd="0" presId="urn:microsoft.com/office/officeart/2008/layout/HorizontalMultiLevelHierarchy"/>
    <dgm:cxn modelId="{A7EB6D37-4B78-41A1-A5E7-C7238025580D}" type="presParOf" srcId="{DA3987C8-E704-4A19-AA43-6AEBCB9401BB}" destId="{A2461101-0348-4FA8-8D36-300B2DF4B354}" srcOrd="4" destOrd="0" presId="urn:microsoft.com/office/officeart/2008/layout/HorizontalMultiLevelHierarchy"/>
    <dgm:cxn modelId="{DE3901B4-2DF1-4E79-8D5C-04C4175933B4}" type="presParOf" srcId="{A2461101-0348-4FA8-8D36-300B2DF4B354}" destId="{D1000AF8-F7BD-45EA-B58F-C52CE5ABF6EB}" srcOrd="0" destOrd="0" presId="urn:microsoft.com/office/officeart/2008/layout/HorizontalMultiLevelHierarchy"/>
    <dgm:cxn modelId="{7FBBD373-44D2-48ED-9F1C-87CAD5A0925C}" type="presParOf" srcId="{DA3987C8-E704-4A19-AA43-6AEBCB9401BB}" destId="{DF794007-5A50-45EA-BBC5-8B7F5224B0AC}" srcOrd="5" destOrd="0" presId="urn:microsoft.com/office/officeart/2008/layout/HorizontalMultiLevelHierarchy"/>
    <dgm:cxn modelId="{D784D9E0-A733-43C6-B6FC-CD76EEEC7296}" type="presParOf" srcId="{DF794007-5A50-45EA-BBC5-8B7F5224B0AC}" destId="{99D1246E-AA67-49EF-8B5A-D63047DA0370}" srcOrd="0" destOrd="0" presId="urn:microsoft.com/office/officeart/2008/layout/HorizontalMultiLevelHierarchy"/>
    <dgm:cxn modelId="{4F014A6F-777F-47E2-AACC-5479F300D2F3}" type="presParOf" srcId="{DF794007-5A50-45EA-BBC5-8B7F5224B0AC}" destId="{1F12444B-A38E-424F-AA24-8A3F5FA138DC}" srcOrd="1" destOrd="0" presId="urn:microsoft.com/office/officeart/2008/layout/HorizontalMultiLevelHierarchy"/>
    <dgm:cxn modelId="{88B1346A-DBE6-46FD-88FF-B0E52F5B5750}" type="presParOf" srcId="{1F12444B-A38E-424F-AA24-8A3F5FA138DC}" destId="{6686D00B-7DFE-4BDB-86C5-AA81FE693104}" srcOrd="0" destOrd="0" presId="urn:microsoft.com/office/officeart/2008/layout/HorizontalMultiLevelHierarchy"/>
    <dgm:cxn modelId="{2B368B83-C715-4A54-9721-1D1A1730867D}" type="presParOf" srcId="{6686D00B-7DFE-4BDB-86C5-AA81FE693104}" destId="{0D30C8BF-D524-46D4-B2B5-81223B4AD05D}" srcOrd="0" destOrd="0" presId="urn:microsoft.com/office/officeart/2008/layout/HorizontalMultiLevelHierarchy"/>
    <dgm:cxn modelId="{15F568AF-E911-4EAE-989A-F510B1185CFD}" type="presParOf" srcId="{1F12444B-A38E-424F-AA24-8A3F5FA138DC}" destId="{F9D9742F-8F41-47A1-A54E-8FA0E05F3BB2}" srcOrd="1" destOrd="0" presId="urn:microsoft.com/office/officeart/2008/layout/HorizontalMultiLevelHierarchy"/>
    <dgm:cxn modelId="{C67A9C39-57E4-41CF-A292-06F12736F5AC}" type="presParOf" srcId="{F9D9742F-8F41-47A1-A54E-8FA0E05F3BB2}" destId="{EDEBBCCD-7272-4C87-AD94-DA7389F3FBB8}" srcOrd="0" destOrd="0" presId="urn:microsoft.com/office/officeart/2008/layout/HorizontalMultiLevelHierarchy"/>
    <dgm:cxn modelId="{48F58227-2EA9-49B3-9444-AEFBB9DD456F}" type="presParOf" srcId="{F9D9742F-8F41-47A1-A54E-8FA0E05F3BB2}" destId="{8BEBE102-F0BD-4D1A-BEF9-EFFBEC77A574}"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86D00B-7DFE-4BDB-86C5-AA81FE693104}">
      <dsp:nvSpPr>
        <dsp:cNvPr id="0" name=""/>
        <dsp:cNvSpPr/>
      </dsp:nvSpPr>
      <dsp:spPr>
        <a:xfrm>
          <a:off x="5497744" y="4144759"/>
          <a:ext cx="499735" cy="91440"/>
        </a:xfrm>
        <a:custGeom>
          <a:avLst/>
          <a:gdLst/>
          <a:ahLst/>
          <a:cxnLst/>
          <a:rect l="0" t="0" r="0" b="0"/>
          <a:pathLst>
            <a:path>
              <a:moveTo>
                <a:pt x="0" y="45720"/>
              </a:moveTo>
              <a:lnTo>
                <a:pt x="499735" y="4572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fr-DZ" sz="1800" b="0" kern="1200">
            <a:solidFill>
              <a:schemeClr val="tx2"/>
            </a:solidFill>
            <a:latin typeface="Times New Roman" panose="02020603050405020304" pitchFamily="18" charset="0"/>
            <a:cs typeface="Times New Roman" panose="02020603050405020304" pitchFamily="18" charset="0"/>
          </a:endParaRPr>
        </a:p>
      </dsp:txBody>
      <dsp:txXfrm>
        <a:off x="5735118" y="4177985"/>
        <a:ext cx="24986" cy="24986"/>
      </dsp:txXfrm>
    </dsp:sp>
    <dsp:sp modelId="{A2461101-0348-4FA8-8D36-300B2DF4B354}">
      <dsp:nvSpPr>
        <dsp:cNvPr id="0" name=""/>
        <dsp:cNvSpPr/>
      </dsp:nvSpPr>
      <dsp:spPr>
        <a:xfrm>
          <a:off x="2499332" y="2524059"/>
          <a:ext cx="499735" cy="1666419"/>
        </a:xfrm>
        <a:custGeom>
          <a:avLst/>
          <a:gdLst/>
          <a:ahLst/>
          <a:cxnLst/>
          <a:rect l="0" t="0" r="0" b="0"/>
          <a:pathLst>
            <a:path>
              <a:moveTo>
                <a:pt x="0" y="0"/>
              </a:moveTo>
              <a:lnTo>
                <a:pt x="249867" y="0"/>
              </a:lnTo>
              <a:lnTo>
                <a:pt x="249867" y="1666419"/>
              </a:lnTo>
              <a:lnTo>
                <a:pt x="499735" y="166641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fr-DZ" sz="1800" b="0" kern="1200">
            <a:solidFill>
              <a:schemeClr val="tx2"/>
            </a:solidFill>
            <a:latin typeface="Times New Roman" panose="02020603050405020304" pitchFamily="18" charset="0"/>
            <a:cs typeface="Times New Roman" panose="02020603050405020304" pitchFamily="18" charset="0"/>
          </a:endParaRPr>
        </a:p>
      </dsp:txBody>
      <dsp:txXfrm>
        <a:off x="2705706" y="3313776"/>
        <a:ext cx="86986" cy="86986"/>
      </dsp:txXfrm>
    </dsp:sp>
    <dsp:sp modelId="{429B745E-2582-4E41-B0BF-3A8F16D0DBCE}">
      <dsp:nvSpPr>
        <dsp:cNvPr id="0" name=""/>
        <dsp:cNvSpPr/>
      </dsp:nvSpPr>
      <dsp:spPr>
        <a:xfrm>
          <a:off x="5497744" y="2762119"/>
          <a:ext cx="499735" cy="476119"/>
        </a:xfrm>
        <a:custGeom>
          <a:avLst/>
          <a:gdLst/>
          <a:ahLst/>
          <a:cxnLst/>
          <a:rect l="0" t="0" r="0" b="0"/>
          <a:pathLst>
            <a:path>
              <a:moveTo>
                <a:pt x="0" y="0"/>
              </a:moveTo>
              <a:lnTo>
                <a:pt x="249867" y="0"/>
              </a:lnTo>
              <a:lnTo>
                <a:pt x="249867" y="476119"/>
              </a:lnTo>
              <a:lnTo>
                <a:pt x="499735" y="47611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fr-DZ" sz="1800" b="0" kern="1200">
            <a:solidFill>
              <a:schemeClr val="tx2"/>
            </a:solidFill>
            <a:latin typeface="Times New Roman" panose="02020603050405020304" pitchFamily="18" charset="0"/>
            <a:cs typeface="Times New Roman" panose="02020603050405020304" pitchFamily="18" charset="0"/>
          </a:endParaRPr>
        </a:p>
      </dsp:txBody>
      <dsp:txXfrm>
        <a:off x="5730355" y="2982923"/>
        <a:ext cx="34511" cy="34511"/>
      </dsp:txXfrm>
    </dsp:sp>
    <dsp:sp modelId="{BCD21622-6BD9-43E0-AA7B-53E55D3FBFB7}">
      <dsp:nvSpPr>
        <dsp:cNvPr id="0" name=""/>
        <dsp:cNvSpPr/>
      </dsp:nvSpPr>
      <dsp:spPr>
        <a:xfrm>
          <a:off x="5497744" y="2286000"/>
          <a:ext cx="499735" cy="476119"/>
        </a:xfrm>
        <a:custGeom>
          <a:avLst/>
          <a:gdLst/>
          <a:ahLst/>
          <a:cxnLst/>
          <a:rect l="0" t="0" r="0" b="0"/>
          <a:pathLst>
            <a:path>
              <a:moveTo>
                <a:pt x="0" y="476119"/>
              </a:moveTo>
              <a:lnTo>
                <a:pt x="249867" y="476119"/>
              </a:lnTo>
              <a:lnTo>
                <a:pt x="249867" y="0"/>
              </a:lnTo>
              <a:lnTo>
                <a:pt x="499735"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fr-DZ" sz="1800" b="0" kern="1200">
            <a:solidFill>
              <a:schemeClr val="tx2"/>
            </a:solidFill>
            <a:latin typeface="Times New Roman" panose="02020603050405020304" pitchFamily="18" charset="0"/>
            <a:cs typeface="Times New Roman" panose="02020603050405020304" pitchFamily="18" charset="0"/>
          </a:endParaRPr>
        </a:p>
      </dsp:txBody>
      <dsp:txXfrm>
        <a:off x="5730355" y="2506803"/>
        <a:ext cx="34511" cy="34511"/>
      </dsp:txXfrm>
    </dsp:sp>
    <dsp:sp modelId="{D565957E-C07B-4E66-8A83-7D27F1A080B1}">
      <dsp:nvSpPr>
        <dsp:cNvPr id="0" name=""/>
        <dsp:cNvSpPr/>
      </dsp:nvSpPr>
      <dsp:spPr>
        <a:xfrm>
          <a:off x="2499332" y="2524059"/>
          <a:ext cx="499735" cy="238059"/>
        </a:xfrm>
        <a:custGeom>
          <a:avLst/>
          <a:gdLst/>
          <a:ahLst/>
          <a:cxnLst/>
          <a:rect l="0" t="0" r="0" b="0"/>
          <a:pathLst>
            <a:path>
              <a:moveTo>
                <a:pt x="0" y="0"/>
              </a:moveTo>
              <a:lnTo>
                <a:pt x="249867" y="0"/>
              </a:lnTo>
              <a:lnTo>
                <a:pt x="249867" y="238059"/>
              </a:lnTo>
              <a:lnTo>
                <a:pt x="499735" y="23805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fr-DZ" sz="1800" b="0" kern="1200">
            <a:solidFill>
              <a:schemeClr val="tx2"/>
            </a:solidFill>
            <a:latin typeface="Times New Roman" panose="02020603050405020304" pitchFamily="18" charset="0"/>
            <a:cs typeface="Times New Roman" panose="02020603050405020304" pitchFamily="18" charset="0"/>
          </a:endParaRPr>
        </a:p>
      </dsp:txBody>
      <dsp:txXfrm>
        <a:off x="2735361" y="2629251"/>
        <a:ext cx="27677" cy="27677"/>
      </dsp:txXfrm>
    </dsp:sp>
    <dsp:sp modelId="{10A49F63-2476-42D1-96DB-28F8A365A135}">
      <dsp:nvSpPr>
        <dsp:cNvPr id="0" name=""/>
        <dsp:cNvSpPr/>
      </dsp:nvSpPr>
      <dsp:spPr>
        <a:xfrm>
          <a:off x="5497744" y="857640"/>
          <a:ext cx="499735" cy="476119"/>
        </a:xfrm>
        <a:custGeom>
          <a:avLst/>
          <a:gdLst/>
          <a:ahLst/>
          <a:cxnLst/>
          <a:rect l="0" t="0" r="0" b="0"/>
          <a:pathLst>
            <a:path>
              <a:moveTo>
                <a:pt x="0" y="0"/>
              </a:moveTo>
              <a:lnTo>
                <a:pt x="249867" y="0"/>
              </a:lnTo>
              <a:lnTo>
                <a:pt x="249867" y="476119"/>
              </a:lnTo>
              <a:lnTo>
                <a:pt x="499735" y="47611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fr-DZ" sz="1800" b="0" kern="1200">
            <a:solidFill>
              <a:schemeClr val="tx2"/>
            </a:solidFill>
            <a:latin typeface="Times New Roman" panose="02020603050405020304" pitchFamily="18" charset="0"/>
            <a:cs typeface="Times New Roman" panose="02020603050405020304" pitchFamily="18" charset="0"/>
          </a:endParaRPr>
        </a:p>
      </dsp:txBody>
      <dsp:txXfrm>
        <a:off x="5730355" y="1078444"/>
        <a:ext cx="34511" cy="34511"/>
      </dsp:txXfrm>
    </dsp:sp>
    <dsp:sp modelId="{CEFD3539-6DCE-41BC-A352-973C1BC82E15}">
      <dsp:nvSpPr>
        <dsp:cNvPr id="0" name=""/>
        <dsp:cNvSpPr/>
      </dsp:nvSpPr>
      <dsp:spPr>
        <a:xfrm>
          <a:off x="5497744" y="381520"/>
          <a:ext cx="499735" cy="476119"/>
        </a:xfrm>
        <a:custGeom>
          <a:avLst/>
          <a:gdLst/>
          <a:ahLst/>
          <a:cxnLst/>
          <a:rect l="0" t="0" r="0" b="0"/>
          <a:pathLst>
            <a:path>
              <a:moveTo>
                <a:pt x="0" y="476119"/>
              </a:moveTo>
              <a:lnTo>
                <a:pt x="249867" y="476119"/>
              </a:lnTo>
              <a:lnTo>
                <a:pt x="249867" y="0"/>
              </a:lnTo>
              <a:lnTo>
                <a:pt x="499735"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fr-DZ" sz="1800" b="0" kern="1200">
            <a:solidFill>
              <a:schemeClr val="tx2"/>
            </a:solidFill>
            <a:latin typeface="Times New Roman" panose="02020603050405020304" pitchFamily="18" charset="0"/>
            <a:cs typeface="Times New Roman" panose="02020603050405020304" pitchFamily="18" charset="0"/>
          </a:endParaRPr>
        </a:p>
      </dsp:txBody>
      <dsp:txXfrm>
        <a:off x="5730355" y="602324"/>
        <a:ext cx="34511" cy="34511"/>
      </dsp:txXfrm>
    </dsp:sp>
    <dsp:sp modelId="{87A2B3D6-6B58-48E6-BB46-2712B03BFB10}">
      <dsp:nvSpPr>
        <dsp:cNvPr id="0" name=""/>
        <dsp:cNvSpPr/>
      </dsp:nvSpPr>
      <dsp:spPr>
        <a:xfrm>
          <a:off x="2499332" y="857640"/>
          <a:ext cx="499735" cy="1666419"/>
        </a:xfrm>
        <a:custGeom>
          <a:avLst/>
          <a:gdLst/>
          <a:ahLst/>
          <a:cxnLst/>
          <a:rect l="0" t="0" r="0" b="0"/>
          <a:pathLst>
            <a:path>
              <a:moveTo>
                <a:pt x="0" y="1666419"/>
              </a:moveTo>
              <a:lnTo>
                <a:pt x="249867" y="1666419"/>
              </a:lnTo>
              <a:lnTo>
                <a:pt x="249867" y="0"/>
              </a:lnTo>
              <a:lnTo>
                <a:pt x="499735" y="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fr-DZ" sz="1800" b="0" kern="1200">
            <a:solidFill>
              <a:schemeClr val="tx2"/>
            </a:solidFill>
            <a:latin typeface="Times New Roman" panose="02020603050405020304" pitchFamily="18" charset="0"/>
            <a:cs typeface="Times New Roman" panose="02020603050405020304" pitchFamily="18" charset="0"/>
          </a:endParaRPr>
        </a:p>
      </dsp:txBody>
      <dsp:txXfrm>
        <a:off x="2705706" y="1647356"/>
        <a:ext cx="86986" cy="86986"/>
      </dsp:txXfrm>
    </dsp:sp>
    <dsp:sp modelId="{1976B821-6392-4257-BF3A-0D96CD772E9D}">
      <dsp:nvSpPr>
        <dsp:cNvPr id="0" name=""/>
        <dsp:cNvSpPr/>
      </dsp:nvSpPr>
      <dsp:spPr>
        <a:xfrm rot="16200000">
          <a:off x="-112039" y="1917403"/>
          <a:ext cx="4009429" cy="121331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fr-FR" sz="2800" b="0" kern="1200" dirty="0">
              <a:solidFill>
                <a:schemeClr val="tx2"/>
              </a:solidFill>
              <a:latin typeface="Times New Roman" panose="02020603050405020304" pitchFamily="18" charset="0"/>
              <a:cs typeface="Times New Roman" panose="02020603050405020304" pitchFamily="18" charset="0"/>
            </a:rPr>
            <a:t>Dynamic </a:t>
          </a:r>
          <a:r>
            <a:rPr lang="fr-FR" sz="2800" b="0" kern="1200" dirty="0" err="1">
              <a:solidFill>
                <a:schemeClr val="tx2"/>
              </a:solidFill>
              <a:latin typeface="Times New Roman" panose="02020603050405020304" pitchFamily="18" charset="0"/>
              <a:cs typeface="Times New Roman" panose="02020603050405020304" pitchFamily="18" charset="0"/>
            </a:rPr>
            <a:t>Routing</a:t>
          </a:r>
          <a:r>
            <a:rPr lang="fr-FR" sz="2800" b="0" kern="1200" dirty="0">
              <a:solidFill>
                <a:schemeClr val="tx2"/>
              </a:solidFill>
              <a:latin typeface="Times New Roman" panose="02020603050405020304" pitchFamily="18" charset="0"/>
              <a:cs typeface="Times New Roman" panose="02020603050405020304" pitchFamily="18" charset="0"/>
            </a:rPr>
            <a:t> </a:t>
          </a:r>
          <a:r>
            <a:rPr lang="fr-FR" sz="2800" b="0" kern="1200" dirty="0" err="1">
              <a:solidFill>
                <a:schemeClr val="tx2"/>
              </a:solidFill>
              <a:latin typeface="Times New Roman" panose="02020603050405020304" pitchFamily="18" charset="0"/>
              <a:cs typeface="Times New Roman" panose="02020603050405020304" pitchFamily="18" charset="0"/>
            </a:rPr>
            <a:t>Protocols</a:t>
          </a:r>
          <a:endParaRPr lang="fr-DZ" sz="2800" b="0" kern="1200" dirty="0">
            <a:solidFill>
              <a:schemeClr val="tx2"/>
            </a:solidFill>
            <a:latin typeface="Times New Roman" panose="02020603050405020304" pitchFamily="18" charset="0"/>
            <a:cs typeface="Times New Roman" panose="02020603050405020304" pitchFamily="18" charset="0"/>
          </a:endParaRPr>
        </a:p>
      </dsp:txBody>
      <dsp:txXfrm>
        <a:off x="-112039" y="1917403"/>
        <a:ext cx="4009429" cy="1213313"/>
      </dsp:txXfrm>
    </dsp:sp>
    <dsp:sp modelId="{07CC8F46-3026-4FCD-A1D5-25F414CF20BA}">
      <dsp:nvSpPr>
        <dsp:cNvPr id="0" name=""/>
        <dsp:cNvSpPr/>
      </dsp:nvSpPr>
      <dsp:spPr>
        <a:xfrm>
          <a:off x="2999067" y="476744"/>
          <a:ext cx="2498676" cy="76179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0" kern="1200">
              <a:solidFill>
                <a:schemeClr val="tx2"/>
              </a:solidFill>
              <a:latin typeface="Times New Roman" panose="02020603050405020304" pitchFamily="18" charset="0"/>
              <a:cs typeface="Times New Roman" panose="02020603050405020304" pitchFamily="18" charset="0"/>
            </a:rPr>
            <a:t>Distance Vector Protocols</a:t>
          </a:r>
          <a:endParaRPr lang="fr-DZ" sz="1800" b="0" kern="1200" dirty="0">
            <a:solidFill>
              <a:schemeClr val="tx2"/>
            </a:solidFill>
            <a:latin typeface="Times New Roman" panose="02020603050405020304" pitchFamily="18" charset="0"/>
            <a:cs typeface="Times New Roman" panose="02020603050405020304" pitchFamily="18" charset="0"/>
          </a:endParaRPr>
        </a:p>
      </dsp:txBody>
      <dsp:txXfrm>
        <a:off x="2999067" y="476744"/>
        <a:ext cx="2498676" cy="761791"/>
      </dsp:txXfrm>
    </dsp:sp>
    <dsp:sp modelId="{48312E1E-B2BC-4C6E-8B18-4C8F5B9381B0}">
      <dsp:nvSpPr>
        <dsp:cNvPr id="0" name=""/>
        <dsp:cNvSpPr/>
      </dsp:nvSpPr>
      <dsp:spPr>
        <a:xfrm>
          <a:off x="5997479" y="625"/>
          <a:ext cx="2498676" cy="76179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0" kern="1200">
              <a:solidFill>
                <a:schemeClr val="tx2"/>
              </a:solidFill>
              <a:latin typeface="Times New Roman" panose="02020603050405020304" pitchFamily="18" charset="0"/>
              <a:cs typeface="Times New Roman" panose="02020603050405020304" pitchFamily="18" charset="0"/>
            </a:rPr>
            <a:t>RIP (Routing Information Protocol)</a:t>
          </a:r>
          <a:endParaRPr lang="fr-FR" sz="1800" b="0" kern="1200" dirty="0">
            <a:solidFill>
              <a:schemeClr val="tx2"/>
            </a:solidFill>
            <a:latin typeface="Times New Roman" panose="02020603050405020304" pitchFamily="18" charset="0"/>
            <a:cs typeface="Times New Roman" panose="02020603050405020304" pitchFamily="18" charset="0"/>
          </a:endParaRPr>
        </a:p>
      </dsp:txBody>
      <dsp:txXfrm>
        <a:off x="5997479" y="625"/>
        <a:ext cx="2498676" cy="761791"/>
      </dsp:txXfrm>
    </dsp:sp>
    <dsp:sp modelId="{94D61AC6-BFD9-48D8-B165-029653DCEBC9}">
      <dsp:nvSpPr>
        <dsp:cNvPr id="0" name=""/>
        <dsp:cNvSpPr/>
      </dsp:nvSpPr>
      <dsp:spPr>
        <a:xfrm>
          <a:off x="5997479" y="952864"/>
          <a:ext cx="2498676" cy="76179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a:solidFill>
                <a:schemeClr val="tx2"/>
              </a:solidFill>
              <a:latin typeface="Times New Roman" panose="02020603050405020304" pitchFamily="18" charset="0"/>
              <a:cs typeface="Times New Roman" panose="02020603050405020304" pitchFamily="18" charset="0"/>
            </a:rPr>
            <a:t>IGRP (Interior Gateway Routing Protocol)</a:t>
          </a:r>
        </a:p>
      </dsp:txBody>
      <dsp:txXfrm>
        <a:off x="5997479" y="952864"/>
        <a:ext cx="2498676" cy="761791"/>
      </dsp:txXfrm>
    </dsp:sp>
    <dsp:sp modelId="{BBA967E8-A5BE-4BBC-BF46-FA9642073D0E}">
      <dsp:nvSpPr>
        <dsp:cNvPr id="0" name=""/>
        <dsp:cNvSpPr/>
      </dsp:nvSpPr>
      <dsp:spPr>
        <a:xfrm>
          <a:off x="2999067" y="2381223"/>
          <a:ext cx="2498676" cy="76179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0" kern="1200">
              <a:solidFill>
                <a:schemeClr val="tx2"/>
              </a:solidFill>
              <a:latin typeface="Times New Roman" panose="02020603050405020304" pitchFamily="18" charset="0"/>
              <a:cs typeface="Times New Roman" panose="02020603050405020304" pitchFamily="18" charset="0"/>
            </a:rPr>
            <a:t>Link Stat Protocols</a:t>
          </a:r>
          <a:endParaRPr lang="fr-DZ" sz="1800" b="0" kern="1200" dirty="0">
            <a:solidFill>
              <a:schemeClr val="tx2"/>
            </a:solidFill>
            <a:latin typeface="Times New Roman" panose="02020603050405020304" pitchFamily="18" charset="0"/>
            <a:cs typeface="Times New Roman" panose="02020603050405020304" pitchFamily="18" charset="0"/>
          </a:endParaRPr>
        </a:p>
      </dsp:txBody>
      <dsp:txXfrm>
        <a:off x="2999067" y="2381223"/>
        <a:ext cx="2498676" cy="761791"/>
      </dsp:txXfrm>
    </dsp:sp>
    <dsp:sp modelId="{9C7C0558-EB9B-4326-91D1-617634ABC184}">
      <dsp:nvSpPr>
        <dsp:cNvPr id="0" name=""/>
        <dsp:cNvSpPr/>
      </dsp:nvSpPr>
      <dsp:spPr>
        <a:xfrm>
          <a:off x="5997479" y="1905104"/>
          <a:ext cx="2498676" cy="76179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a:solidFill>
                <a:schemeClr val="tx2"/>
              </a:solidFill>
              <a:latin typeface="Times New Roman" panose="02020603050405020304" pitchFamily="18" charset="0"/>
              <a:cs typeface="Times New Roman" panose="02020603050405020304" pitchFamily="18" charset="0"/>
            </a:rPr>
            <a:t>OSPF (Open Shortest Path First)</a:t>
          </a:r>
        </a:p>
      </dsp:txBody>
      <dsp:txXfrm>
        <a:off x="5997479" y="1905104"/>
        <a:ext cx="2498676" cy="761791"/>
      </dsp:txXfrm>
    </dsp:sp>
    <dsp:sp modelId="{DA7FDFDC-95E6-446F-B57F-AF7C1CE049D1}">
      <dsp:nvSpPr>
        <dsp:cNvPr id="0" name=""/>
        <dsp:cNvSpPr/>
      </dsp:nvSpPr>
      <dsp:spPr>
        <a:xfrm>
          <a:off x="5997479" y="2857343"/>
          <a:ext cx="2498676" cy="76179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a:solidFill>
                <a:schemeClr val="tx2"/>
              </a:solidFill>
              <a:latin typeface="Times New Roman" panose="02020603050405020304" pitchFamily="18" charset="0"/>
              <a:cs typeface="Times New Roman" panose="02020603050405020304" pitchFamily="18" charset="0"/>
            </a:rPr>
            <a:t>IS-IS (Intermediate System to Intermediate System)</a:t>
          </a:r>
        </a:p>
      </dsp:txBody>
      <dsp:txXfrm>
        <a:off x="5997479" y="2857343"/>
        <a:ext cx="2498676" cy="761791"/>
      </dsp:txXfrm>
    </dsp:sp>
    <dsp:sp modelId="{99D1246E-AA67-49EF-8B5A-D63047DA0370}">
      <dsp:nvSpPr>
        <dsp:cNvPr id="0" name=""/>
        <dsp:cNvSpPr/>
      </dsp:nvSpPr>
      <dsp:spPr>
        <a:xfrm>
          <a:off x="2999067" y="3809583"/>
          <a:ext cx="2498676" cy="76179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0" kern="1200">
              <a:solidFill>
                <a:schemeClr val="tx2"/>
              </a:solidFill>
              <a:latin typeface="Times New Roman" panose="02020603050405020304" pitchFamily="18" charset="0"/>
              <a:cs typeface="Times New Roman" panose="02020603050405020304" pitchFamily="18" charset="0"/>
            </a:rPr>
            <a:t>Path Vector Protocols</a:t>
          </a:r>
          <a:endParaRPr lang="fr-DZ" sz="1800" b="0" kern="1200" dirty="0">
            <a:solidFill>
              <a:schemeClr val="tx2"/>
            </a:solidFill>
            <a:latin typeface="Times New Roman" panose="02020603050405020304" pitchFamily="18" charset="0"/>
            <a:cs typeface="Times New Roman" panose="02020603050405020304" pitchFamily="18" charset="0"/>
          </a:endParaRPr>
        </a:p>
      </dsp:txBody>
      <dsp:txXfrm>
        <a:off x="2999067" y="3809583"/>
        <a:ext cx="2498676" cy="761791"/>
      </dsp:txXfrm>
    </dsp:sp>
    <dsp:sp modelId="{EDEBBCCD-7272-4C87-AD94-DA7389F3FBB8}">
      <dsp:nvSpPr>
        <dsp:cNvPr id="0" name=""/>
        <dsp:cNvSpPr/>
      </dsp:nvSpPr>
      <dsp:spPr>
        <a:xfrm>
          <a:off x="5997479" y="3809583"/>
          <a:ext cx="2498676" cy="76179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0" kern="1200">
              <a:solidFill>
                <a:schemeClr val="tx2"/>
              </a:solidFill>
              <a:latin typeface="Times New Roman" panose="02020603050405020304" pitchFamily="18" charset="0"/>
              <a:cs typeface="Times New Roman" panose="02020603050405020304" pitchFamily="18" charset="0"/>
            </a:rPr>
            <a:t>BGP (Border Gateway Protocol)</a:t>
          </a:r>
          <a:endParaRPr lang="fr-DZ" sz="1800" b="0" kern="1200" dirty="0">
            <a:solidFill>
              <a:schemeClr val="tx2"/>
            </a:solidFill>
            <a:latin typeface="Times New Roman" panose="02020603050405020304" pitchFamily="18" charset="0"/>
            <a:cs typeface="Times New Roman" panose="02020603050405020304" pitchFamily="18" charset="0"/>
          </a:endParaRPr>
        </a:p>
      </dsp:txBody>
      <dsp:txXfrm>
        <a:off x="5997479" y="3809583"/>
        <a:ext cx="2498676" cy="761791"/>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1/6/2026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1/6/2026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bwMode="ltGray">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0" name="Rectangle 9"/>
          <p:cNvSpPr/>
          <p:nvPr/>
        </p:nvSpPr>
        <p:spPr bwMode="ltGray">
          <a:xfrm>
            <a:off x="121888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1" name="Rectangle 10"/>
          <p:cNvSpPr/>
          <p:nvPr/>
        </p:nvSpPr>
        <p:spPr bwMode="gray">
          <a:xfrm>
            <a:off x="0" y="0"/>
            <a:ext cx="121888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2" name="Rectangle 11"/>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13" name="Straight Connector 12"/>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15" name="Straight Connector 14"/>
          <p:cNvCxnSpPr/>
          <p:nvPr/>
        </p:nvCxnSpPr>
        <p:spPr bwMode="white">
          <a:xfrm>
            <a:off x="1218884"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white">
          <a:xfrm>
            <a:off x="0" y="5631204"/>
            <a:ext cx="18283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anchor="t" anchorCtr="0" compatLnSpc="1">
            <a:prstTxWarp prst="textNoShape">
              <a:avLst/>
            </a:prstTxWarp>
          </a:bodyPr>
          <a:lstStyle/>
          <a:p>
            <a:endParaRPr/>
          </a:p>
        </p:txBody>
      </p:sp>
      <p:sp>
        <p:nvSpPr>
          <p:cNvPr id="2" name="Title 1"/>
          <p:cNvSpPr>
            <a:spLocks noGrp="1"/>
          </p:cNvSpPr>
          <p:nvPr>
            <p:ph type="ctrTitle"/>
          </p:nvPr>
        </p:nvSpPr>
        <p:spPr>
          <a:xfrm>
            <a:off x="2428669" y="1600200"/>
            <a:ext cx="8329031" cy="2680127"/>
          </a:xfrm>
        </p:spPr>
        <p:txBody>
          <a:bodyPr>
            <a:no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2428669" y="4344915"/>
            <a:ext cx="7516442" cy="1116085"/>
          </a:xfrm>
        </p:spPr>
        <p:txBody>
          <a:bodyPr>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lvl1pPr>
              <a:defRPr baseline="0">
                <a:solidFill>
                  <a:schemeClr val="tx2"/>
                </a:solidFill>
              </a:defRPr>
            </a:lvl1pPr>
          </a:lstStyle>
          <a:p>
            <a:fld id="{C2C6F8EA-316C-41DE-B9A4-EDCC3A85ED9A}" type="datetimeFigureOut">
              <a:rPr lang="en-US" smtClean="0"/>
              <a:pPr/>
              <a:t>1/6/2026</a:t>
            </a:fld>
            <a:endParaRPr lang="en-US" dirty="0"/>
          </a:p>
        </p:txBody>
      </p:sp>
      <p:sp>
        <p:nvSpPr>
          <p:cNvPr id="5" name="Footer Placeholder 4"/>
          <p:cNvSpPr>
            <a:spLocks noGrp="1"/>
          </p:cNvSpPr>
          <p:nvPr>
            <p:ph type="ftr" sz="quarter" idx="11"/>
          </p:nvPr>
        </p:nvSpPr>
        <p:spPr/>
        <p:txBody>
          <a:bodyPr/>
          <a:lstStyle>
            <a:lvl1pPr>
              <a:defRPr baseline="0">
                <a:solidFill>
                  <a:schemeClr val="tx2"/>
                </a:solidFill>
              </a:defRPr>
            </a:lvl1pPr>
          </a:lstStyle>
          <a:p>
            <a:r>
              <a:rPr lang="en-US"/>
              <a:t>Add a footer</a:t>
            </a:r>
            <a:endParaRPr lang="en-US" dirty="0"/>
          </a:p>
        </p:txBody>
      </p:sp>
      <p:sp>
        <p:nvSpPr>
          <p:cNvPr id="6" name="Slide Number Placeholder 5"/>
          <p:cNvSpPr>
            <a:spLocks noGrp="1"/>
          </p:cNvSpPr>
          <p:nvPr>
            <p:ph type="sldNum" sz="quarter" idx="12"/>
          </p:nvPr>
        </p:nvSpPr>
        <p:spPr>
          <a:xfrm>
            <a:off x="10666412" y="6356351"/>
            <a:ext cx="609441" cy="365125"/>
          </a:xfrm>
        </p:spPr>
        <p:txBody>
          <a:bodyPr/>
          <a:lstStyle>
            <a:lvl1pPr>
              <a:defRPr baseline="0">
                <a:solidFill>
                  <a:schemeClr val="tx2"/>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381795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C2C6F8EA-316C-41DE-B9A4-EDCC3A85ED9A}" type="datetimeFigureOut">
              <a:rPr lang="en-US"/>
              <a:t>1/6/2026</a:t>
            </a:fld>
            <a:endParaRPr dirty="0"/>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1855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bwMode="black">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0" name="Rectangle 19"/>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4" name="Rectangle 23"/>
          <p:cNvSpPr/>
          <p:nvPr/>
        </p:nvSpPr>
        <p:spPr bwMode="gray">
          <a:xfrm>
            <a:off x="1216152"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1" name="Rectangle 20"/>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22" name="Straight Connector 21"/>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8"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anchor="t" anchorCtr="0" compatLnSpc="1">
            <a:prstTxWarp prst="textNoShape">
              <a:avLst/>
            </a:prstTxWarp>
          </a:bodyPr>
          <a:lstStyle/>
          <a:p>
            <a:endParaRPr/>
          </a:p>
        </p:txBody>
      </p:sp>
      <p:cxnSp>
        <p:nvCxnSpPr>
          <p:cNvPr id="23" name="Straight Connector 22"/>
          <p:cNvCxnSpPr/>
          <p:nvPr/>
        </p:nvCxnSpPr>
        <p:spPr bwMode="white">
          <a:xfrm>
            <a:off x="1216152"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bwMode="black">
          <a:xfrm>
            <a:off x="11579384"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7" name="Rectangle 26"/>
          <p:cNvSpPr/>
          <p:nvPr/>
        </p:nvSpPr>
        <p:spPr bwMode="gray">
          <a:xfrm>
            <a:off x="11274663" y="0"/>
            <a:ext cx="304721"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8" name="Rectangle 27"/>
          <p:cNvSpPr/>
          <p:nvPr/>
        </p:nvSpPr>
        <p:spPr bwMode="gray">
          <a:xfrm>
            <a:off x="1218883"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9" name="Rectangle 28"/>
          <p:cNvSpPr/>
          <p:nvPr/>
        </p:nvSpPr>
        <p:spPr>
          <a:xfrm>
            <a:off x="-2" y="0"/>
            <a:ext cx="1218883"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30" name="Rectangle 29"/>
          <p:cNvSpPr/>
          <p:nvPr/>
        </p:nvSpPr>
        <p:spPr bwMode="ltGray">
          <a:xfrm>
            <a:off x="0" y="0"/>
            <a:ext cx="12188825" cy="6096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31" name="Straight Connector 30"/>
          <p:cNvCxnSpPr/>
          <p:nvPr/>
        </p:nvCxnSpPr>
        <p:spPr bwMode="white">
          <a:xfrm>
            <a:off x="11573293"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bwMode="black">
          <a:xfrm>
            <a:off x="0" y="0"/>
            <a:ext cx="1216152"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33" name="Straight Connector 32"/>
          <p:cNvCxnSpPr/>
          <p:nvPr/>
        </p:nvCxnSpPr>
        <p:spPr bwMode="white">
          <a:xfrm>
            <a:off x="1218884"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98613" y="1600201"/>
            <a:ext cx="8283272" cy="2654064"/>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598613" y="4259996"/>
            <a:ext cx="7264623" cy="1150203"/>
          </a:xfrm>
        </p:spPr>
        <p:txBody>
          <a:bodyPr anchor="t">
            <a:normAutofit/>
          </a:bodyPr>
          <a:lstStyle>
            <a:lvl1pPr marL="0" indent="0">
              <a:spcBef>
                <a:spcPts val="0"/>
              </a:spcBef>
              <a:buNone/>
              <a:defRPr sz="3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baseline="0">
                <a:solidFill>
                  <a:schemeClr val="tx2"/>
                </a:solidFill>
              </a:defRPr>
            </a:lvl1pPr>
          </a:lstStyle>
          <a:p>
            <a:fld id="{C2C6F8EA-316C-41DE-B9A4-EDCC3A85ED9A}" type="datetimeFigureOut">
              <a:rPr lang="en-US" smtClean="0"/>
              <a:pPr/>
              <a:t>1/6/2026</a:t>
            </a:fld>
            <a:endParaRPr lang="en-US" dirty="0"/>
          </a:p>
        </p:txBody>
      </p:sp>
      <p:sp>
        <p:nvSpPr>
          <p:cNvPr id="5" name="Footer Placeholder 4"/>
          <p:cNvSpPr>
            <a:spLocks noGrp="1"/>
          </p:cNvSpPr>
          <p:nvPr>
            <p:ph type="ftr" sz="quarter" idx="11"/>
          </p:nvPr>
        </p:nvSpPr>
        <p:spPr/>
        <p:txBody>
          <a:bodyPr/>
          <a:lstStyle>
            <a:lvl1pPr>
              <a:defRPr baseline="0">
                <a:solidFill>
                  <a:schemeClr val="tx2"/>
                </a:solidFill>
              </a:defRPr>
            </a:lvl1pPr>
          </a:lstStyle>
          <a:p>
            <a:r>
              <a:rPr lang="en-US"/>
              <a:t>Add a footer</a:t>
            </a:r>
            <a:endParaRPr lang="en-US" dirty="0"/>
          </a:p>
        </p:txBody>
      </p:sp>
      <p:sp>
        <p:nvSpPr>
          <p:cNvPr id="6" name="Slide Number Placeholder 5"/>
          <p:cNvSpPr>
            <a:spLocks noGrp="1"/>
          </p:cNvSpPr>
          <p:nvPr>
            <p:ph type="sldNum" sz="quarter" idx="12"/>
          </p:nvPr>
        </p:nvSpPr>
        <p:spPr>
          <a:xfrm>
            <a:off x="10666571" y="6356351"/>
            <a:ext cx="609441" cy="365125"/>
          </a:xfrm>
        </p:spPr>
        <p:txBody>
          <a:bodyPr/>
          <a:lstStyle>
            <a:lvl1pPr>
              <a:defRPr baseline="0">
                <a:solidFill>
                  <a:schemeClr val="tx2"/>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323446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93436" y="1600200"/>
            <a:ext cx="4814586"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61651" y="1600200"/>
            <a:ext cx="4814586" cy="4572000"/>
          </a:xfrm>
        </p:spPr>
        <p:txBody>
          <a:bodyPr/>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C2C6F8EA-316C-41DE-B9A4-EDCC3A85ED9A}" type="datetimeFigureOut">
              <a:rPr lang="en-US"/>
              <a:t>1/6/2026</a:t>
            </a:fld>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7" name="Slide Number Placeholder 6"/>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1239113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93436" y="1499616"/>
            <a:ext cx="4818888" cy="938784"/>
          </a:xfrm>
        </p:spPr>
        <p:txBody>
          <a:bodyPr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93436" y="2514706"/>
            <a:ext cx="4814586" cy="365749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6557349" y="1499616"/>
            <a:ext cx="4818888" cy="938784"/>
          </a:xfrm>
        </p:spPr>
        <p:txBody>
          <a:bodyPr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7349" y="2514600"/>
            <a:ext cx="4818888" cy="365556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C2C6F8EA-316C-41DE-B9A4-EDCC3A85ED9A}" type="datetimeFigureOut">
              <a:rPr lang="en-US"/>
              <a:t>1/6/2026</a:t>
            </a:fld>
            <a:endParaRPr/>
          </a:p>
        </p:txBody>
      </p:sp>
      <p:sp>
        <p:nvSpPr>
          <p:cNvPr id="8" name="Footer Placeholder 7"/>
          <p:cNvSpPr>
            <a:spLocks noGrp="1"/>
          </p:cNvSpPr>
          <p:nvPr>
            <p:ph type="ftr" sz="quarter" idx="11"/>
          </p:nvPr>
        </p:nvSpPr>
        <p:spPr/>
        <p:txBody>
          <a:bodyPr/>
          <a:lstStyle/>
          <a:p>
            <a:r>
              <a:rPr lang="en-US" dirty="0"/>
              <a:t>Add a footer</a:t>
            </a:r>
            <a:endParaRPr dirty="0"/>
          </a:p>
        </p:txBody>
      </p:sp>
      <p:sp>
        <p:nvSpPr>
          <p:cNvPr id="9" name="Slide Number Placeholder 8"/>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13835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C2C6F8EA-316C-41DE-B9A4-EDCC3A85ED9A}" type="datetimeFigureOut">
              <a:rPr lang="en-US"/>
              <a:t>1/6/2026</a:t>
            </a:fld>
            <a:endParaRPr/>
          </a:p>
        </p:txBody>
      </p:sp>
      <p:sp>
        <p:nvSpPr>
          <p:cNvPr id="4" name="Footer Placeholder 3"/>
          <p:cNvSpPr>
            <a:spLocks noGrp="1"/>
          </p:cNvSpPr>
          <p:nvPr>
            <p:ph type="ftr" sz="quarter" idx="11"/>
          </p:nvPr>
        </p:nvSpPr>
        <p:spPr/>
        <p:txBody>
          <a:bodyPr/>
          <a:lstStyle/>
          <a:p>
            <a:r>
              <a:rPr lang="en-US" dirty="0"/>
              <a:t>Add a footer</a:t>
            </a:r>
            <a:endParaRPr dirty="0"/>
          </a:p>
        </p:txBody>
      </p:sp>
      <p:sp>
        <p:nvSpPr>
          <p:cNvPr id="5" name="Slide Number Placeholder 4"/>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31635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bwMode="ltGray">
          <a:xfrm>
            <a:off x="626239" y="0"/>
            <a:ext cx="30472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6" name="Rectangle 5"/>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cxnSp>
        <p:nvCxnSpPr>
          <p:cNvPr id="7" name="Straight Connector 6"/>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bwMode="gray">
          <a:xfrm>
            <a:off x="10969942" y="0"/>
            <a:ext cx="922621" cy="6858000"/>
          </a:xfrm>
          <a:prstGeom prst="rect">
            <a:avLst/>
          </a:prstGeom>
          <a:solidFill>
            <a:schemeClr val="accent1">
              <a:lumMod val="7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9" name="Rectangle 8"/>
          <p:cNvSpPr/>
          <p:nvPr/>
        </p:nvSpPr>
        <p:spPr bwMode="black">
          <a:xfrm>
            <a:off x="11892563"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2" name="Date Placeholder 1"/>
          <p:cNvSpPr>
            <a:spLocks noGrp="1"/>
          </p:cNvSpPr>
          <p:nvPr>
            <p:ph type="dt" sz="half" idx="10"/>
          </p:nvPr>
        </p:nvSpPr>
        <p:spPr/>
        <p:txBody>
          <a:bodyPr/>
          <a:lstStyle/>
          <a:p>
            <a:fld id="{C2C6F8EA-316C-41DE-B9A4-EDCC3A85ED9A}" type="datetimeFigureOut">
              <a:rPr lang="en-US"/>
              <a:t>1/6/2026</a:t>
            </a:fld>
            <a:endParaRPr/>
          </a:p>
        </p:txBody>
      </p:sp>
      <p:sp>
        <p:nvSpPr>
          <p:cNvPr id="3" name="Footer Placeholder 2"/>
          <p:cNvSpPr>
            <a:spLocks noGrp="1"/>
          </p:cNvSpPr>
          <p:nvPr>
            <p:ph type="ftr" sz="quarter" idx="11"/>
          </p:nvPr>
        </p:nvSpPr>
        <p:spPr/>
        <p:txBody>
          <a:bodyPr/>
          <a:lstStyle/>
          <a:p>
            <a:r>
              <a:rPr lang="en-US" dirty="0"/>
              <a:t>Add a footer</a:t>
            </a:r>
            <a:endParaRPr dirty="0"/>
          </a:p>
        </p:txBody>
      </p:sp>
      <p:sp>
        <p:nvSpPr>
          <p:cNvPr id="4" name="Slide Number Placeholder 3"/>
          <p:cNvSpPr>
            <a:spLocks noGrp="1"/>
          </p:cNvSpPr>
          <p:nvPr>
            <p:ph type="sldNum" sz="quarter" idx="12"/>
          </p:nvPr>
        </p:nvSpPr>
        <p:spPr/>
        <p:txBody>
          <a:bodyPr/>
          <a:lstStyle>
            <a:lvl1pPr>
              <a:defRPr>
                <a:solidFill>
                  <a:schemeClr val="bg1"/>
                </a:solidFill>
              </a:defRPr>
            </a:lvl1pPr>
          </a:lstStyle>
          <a:p>
            <a:fld id="{7DC1BBB0-96F0-4077-A278-0F3FB5C104D3}" type="slidenum">
              <a:rPr/>
              <a:pPr/>
              <a:t>‹#›</a:t>
            </a:fld>
            <a:endParaRPr/>
          </a:p>
        </p:txBody>
      </p:sp>
    </p:spTree>
    <p:extLst>
      <p:ext uri="{BB962C8B-B14F-4D97-AF65-F5344CB8AC3E}">
        <p14:creationId xmlns:p14="http://schemas.microsoft.com/office/powerpoint/2010/main" val="17838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bwMode="gray">
          <a:xfrm>
            <a:off x="621792" y="0"/>
            <a:ext cx="4147717"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9" name="Rectangle 8"/>
          <p:cNvSpPr/>
          <p:nvPr/>
        </p:nvSpPr>
        <p:spPr bwMode="lt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cxnSp>
        <p:nvCxnSpPr>
          <p:cNvPr id="10" name="Straight Connector 9"/>
          <p:cNvCxnSpPr/>
          <p:nvPr/>
        </p:nvCxnSpPr>
        <p:spPr bwMode="white">
          <a:xfrm>
            <a:off x="621792"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bwMode="gray">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2" name="Title 1"/>
          <p:cNvSpPr>
            <a:spLocks noGrp="1"/>
          </p:cNvSpPr>
          <p:nvPr>
            <p:ph type="title"/>
          </p:nvPr>
        </p:nvSpPr>
        <p:spPr bwMode="white">
          <a:xfrm>
            <a:off x="1074240" y="381000"/>
            <a:ext cx="3293422" cy="1371600"/>
          </a:xfrm>
        </p:spPr>
        <p:txBody>
          <a:bodyPr anchor="b">
            <a:normAutofit/>
          </a:bodyPr>
          <a:lstStyle>
            <a:lvl1pPr algn="l">
              <a:defRPr sz="2800" b="0" cap="all" baseline="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5180251" y="482600"/>
            <a:ext cx="6195986" cy="56896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baseline="0"/>
            </a:lvl8pPr>
            <a:lvl9pPr>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bwMode="white">
          <a:xfrm>
            <a:off x="1074240" y="1828800"/>
            <a:ext cx="3293422" cy="4343400"/>
          </a:xfrm>
        </p:spPr>
        <p:txBody>
          <a:bodyPr>
            <a:normAutofit/>
          </a:bodyPr>
          <a:lstStyle>
            <a:lvl1pPr marL="0" indent="0">
              <a:buNone/>
              <a:defRPr sz="20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C6F8EA-316C-41DE-B9A4-EDCC3A85ED9A}" type="datetimeFigureOut">
              <a:rPr lang="en-US"/>
              <a:t>1/6/2026</a:t>
            </a:fld>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7" name="Slide Number Placeholder 6"/>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351804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8" name="Rectangle 7"/>
          <p:cNvSpPr/>
          <p:nvPr/>
        </p:nvSpPr>
        <p:spPr bwMode="black">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9" name="Rectangle 8"/>
          <p:cNvSpPr/>
          <p:nvPr/>
        </p:nvSpPr>
        <p:spPr bwMode="ltGray">
          <a:xfrm>
            <a:off x="4875530" y="0"/>
            <a:ext cx="7017034" cy="6858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2" name="Title 1"/>
          <p:cNvSpPr>
            <a:spLocks noGrp="1"/>
          </p:cNvSpPr>
          <p:nvPr>
            <p:ph type="title"/>
          </p:nvPr>
        </p:nvSpPr>
        <p:spPr>
          <a:xfrm>
            <a:off x="1074240" y="381000"/>
            <a:ext cx="3293422" cy="1371600"/>
          </a:xfrm>
        </p:spPr>
        <p:txBody>
          <a:bodyPr anchor="b">
            <a:normAutofit/>
          </a:bodyPr>
          <a:lstStyle>
            <a:lvl1pPr algn="l">
              <a:defRPr sz="2800" b="0" cap="all" baseline="0">
                <a:solidFill>
                  <a:schemeClr val="tx1">
                    <a:lumMod val="75000"/>
                  </a:schemeClr>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bwMode="auto">
          <a:xfrm>
            <a:off x="5180251" y="482600"/>
            <a:ext cx="6195986" cy="5689600"/>
          </a:xfrm>
          <a:ln w="19050">
            <a:solidFill>
              <a:schemeClr val="bg1"/>
            </a:solidFill>
          </a:ln>
        </p:spPr>
        <p:txBody>
          <a:bodyPr>
            <a:normAutofit/>
          </a:bodyPr>
          <a:lstStyle>
            <a:lvl1pPr marL="0" indent="0">
              <a:buNone/>
              <a:defRPr sz="28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1074240" y="1828800"/>
            <a:ext cx="3293422" cy="4343400"/>
          </a:xfrm>
        </p:spPr>
        <p:txBody>
          <a:bodyPr>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baseline="0">
                <a:solidFill>
                  <a:schemeClr val="tx2"/>
                </a:solidFill>
              </a:defRPr>
            </a:lvl1pPr>
          </a:lstStyle>
          <a:p>
            <a:fld id="{C2C6F8EA-316C-41DE-B9A4-EDCC3A85ED9A}" type="datetimeFigureOut">
              <a:rPr lang="en-US" smtClean="0"/>
              <a:pPr/>
              <a:t>1/6/2026</a:t>
            </a:fld>
            <a:endParaRPr lang="en-US" dirty="0"/>
          </a:p>
        </p:txBody>
      </p:sp>
      <p:sp>
        <p:nvSpPr>
          <p:cNvPr id="6" name="Footer Placeholder 5"/>
          <p:cNvSpPr>
            <a:spLocks noGrp="1"/>
          </p:cNvSpPr>
          <p:nvPr>
            <p:ph type="ftr" sz="quarter" idx="11"/>
          </p:nvPr>
        </p:nvSpPr>
        <p:spPr/>
        <p:txBody>
          <a:bodyPr/>
          <a:lstStyle>
            <a:lvl1pPr>
              <a:defRPr baseline="0">
                <a:solidFill>
                  <a:schemeClr val="tx2"/>
                </a:solidFill>
              </a:defRPr>
            </a:lvl1pPr>
          </a:lstStyle>
          <a:p>
            <a:r>
              <a:rPr lang="en-US"/>
              <a:t>Add a footer</a:t>
            </a:r>
            <a:endParaRPr lang="en-US" dirty="0"/>
          </a:p>
        </p:txBody>
      </p:sp>
      <p:sp>
        <p:nvSpPr>
          <p:cNvPr id="7" name="Slide Number Placeholder 6"/>
          <p:cNvSpPr>
            <a:spLocks noGrp="1"/>
          </p:cNvSpPr>
          <p:nvPr>
            <p:ph type="sldNum" sz="quarter" idx="12"/>
          </p:nvPr>
        </p:nvSpPr>
        <p:spPr/>
        <p:txBody>
          <a:bodyPr/>
          <a:lstStyle>
            <a:lvl1pPr>
              <a:defRPr baseline="0">
                <a:solidFill>
                  <a:schemeClr val="tx2"/>
                </a:solidFill>
              </a:defRPr>
            </a:lvl1pPr>
          </a:lstStyle>
          <a:p>
            <a:fld id="{7DC1BBB0-96F0-4077-A278-0F3FB5C104D3}" type="slidenum">
              <a:rPr lang="en-US" smtClean="0"/>
              <a:pPr/>
              <a:t>‹#›</a:t>
            </a:fld>
            <a:endParaRPr lang="en-US"/>
          </a:p>
        </p:txBody>
      </p:sp>
      <p:cxnSp>
        <p:nvCxnSpPr>
          <p:cNvPr id="10" name="Straight Connector 9"/>
          <p:cNvCxnSpPr/>
          <p:nvPr/>
        </p:nvCxnSpPr>
        <p:spPr bwMode="white">
          <a:xfrm>
            <a:off x="11879867"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90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C2C6F8EA-316C-41DE-B9A4-EDCC3A85ED9A}" type="datetimeFigureOut">
              <a:rPr lang="en-US"/>
              <a:t>1/6/2026</a:t>
            </a:fld>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04088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black">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8" name="Rectangle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0" name="Rectangle 9"/>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1" name="Straight Connector 10"/>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Pi"/>
          <p:cNvSpPr>
            <a:spLocks/>
          </p:cNvSpPr>
          <p:nvPr/>
        </p:nvSpPr>
        <p:spPr bwMode="white">
          <a:xfrm rot="5400000">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a:p>
        </p:txBody>
      </p:sp>
      <p:cxnSp>
        <p:nvCxnSpPr>
          <p:cNvPr id="14" name="Straight Connector 13"/>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Vertical Title 1"/>
          <p:cNvSpPr>
            <a:spLocks noGrp="1"/>
          </p:cNvSpPr>
          <p:nvPr>
            <p:ph type="title" orient="vert"/>
          </p:nvPr>
        </p:nvSpPr>
        <p:spPr>
          <a:xfrm>
            <a:off x="9599612" y="685800"/>
            <a:ext cx="1787526"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98613" y="685800"/>
            <a:ext cx="7848599"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C2C6F8EA-316C-41DE-B9A4-EDCC3A85ED9A}" type="datetimeFigureOut">
              <a:rPr lang="en-US"/>
              <a:t>1/6/2026</a:t>
            </a:fld>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61281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bwMode="gray">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8" name="Rectangle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3" name="Rectangle 12"/>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4" name="Straight Connector 13"/>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Pi"/>
          <p:cNvSpPr>
            <a:spLocks/>
          </p:cNvSpPr>
          <p:nvPr/>
        </p:nvSpPr>
        <p:spPr bwMode="white">
          <a:xfrm>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a:p>
        </p:txBody>
      </p:sp>
      <p:cxnSp>
        <p:nvCxnSpPr>
          <p:cNvPr id="16" name="Straight Connector 15"/>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593436" y="177800"/>
            <a:ext cx="9782801" cy="1239837"/>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93436" y="1600200"/>
            <a:ext cx="9782801"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5180250" y="6356351"/>
            <a:ext cx="1218883" cy="365125"/>
          </a:xfrm>
          <a:prstGeom prst="rect">
            <a:avLst/>
          </a:prstGeom>
        </p:spPr>
        <p:txBody>
          <a:bodyPr vert="horz" lIns="91440" tIns="45720" rIns="91440" bIns="45720" rtlCol="0" anchor="ctr"/>
          <a:lstStyle>
            <a:lvl1pPr algn="l">
              <a:defRPr sz="1200" cap="all" baseline="0">
                <a:solidFill>
                  <a:schemeClr val="tx1"/>
                </a:solidFill>
              </a:defRPr>
            </a:lvl1pPr>
          </a:lstStyle>
          <a:p>
            <a:fld id="{C2C6F8EA-316C-41DE-B9A4-EDCC3A85ED9A}" type="datetimeFigureOut">
              <a:rPr lang="en-US" smtClean="0"/>
              <a:pPr/>
              <a:t>1/6/2026</a:t>
            </a:fld>
            <a:endParaRPr lang="en-US" dirty="0"/>
          </a:p>
        </p:txBody>
      </p:sp>
      <p:sp>
        <p:nvSpPr>
          <p:cNvPr id="5" name="Footer Placeholder 4"/>
          <p:cNvSpPr>
            <a:spLocks noGrp="1"/>
          </p:cNvSpPr>
          <p:nvPr>
            <p:ph type="ftr" sz="quarter" idx="3"/>
          </p:nvPr>
        </p:nvSpPr>
        <p:spPr>
          <a:xfrm>
            <a:off x="6595933" y="6356351"/>
            <a:ext cx="3974065" cy="365125"/>
          </a:xfrm>
          <a:prstGeom prst="rect">
            <a:avLst/>
          </a:prstGeom>
        </p:spPr>
        <p:txBody>
          <a:bodyPr vert="horz" lIns="91440" tIns="45720" rIns="91440" bIns="45720" rtlCol="0" anchor="ctr"/>
          <a:lstStyle>
            <a:lvl1pPr algn="ctr">
              <a:defRPr sz="1200" cap="all" baseline="0">
                <a:solidFill>
                  <a:schemeClr val="tx1"/>
                </a:solidFill>
              </a:defRPr>
            </a:lvl1pPr>
          </a:lstStyle>
          <a:p>
            <a:r>
              <a:rPr lang="en-US"/>
              <a:t>Add a footer</a:t>
            </a:r>
            <a:endParaRPr lang="en-US" dirty="0"/>
          </a:p>
        </p:txBody>
      </p:sp>
      <p:sp>
        <p:nvSpPr>
          <p:cNvPr id="6" name="Slide Number Placeholder 5"/>
          <p:cNvSpPr>
            <a:spLocks noGrp="1"/>
          </p:cNvSpPr>
          <p:nvPr>
            <p:ph type="sldNum" sz="quarter" idx="4"/>
          </p:nvPr>
        </p:nvSpPr>
        <p:spPr>
          <a:xfrm>
            <a:off x="10766796" y="6356351"/>
            <a:ext cx="609441" cy="365125"/>
          </a:xfrm>
          <a:prstGeom prst="rect">
            <a:avLst/>
          </a:prstGeom>
        </p:spPr>
        <p:txBody>
          <a:bodyPr vert="horz" lIns="91440" tIns="45720" rIns="91440" bIns="45720" rtlCol="0" anchor="ctr"/>
          <a:lstStyle>
            <a:lvl1pPr algn="r">
              <a:defRPr sz="1200" cap="all" baseline="0">
                <a:solidFill>
                  <a:schemeClr val="tx1"/>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2054322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p:titleStyle>
    <p:body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google.com/search?q=shortest+path+first+%28SPF%29+algorithm&amp;sca_esv=fcbfcae5e87b23b9&amp;sxsrf=AE3TifP9hLHqKlnhQcsFLUS4fDIbkbhZvg%3A1763938794028&amp;ei=6pEjaYXCAaeHkdUPxazmyAc&amp;oq=ospf+lsa+ls&amp;gs_lp=Egxnd3Mtd2l6LXNlcnAiC29zcGYgbHNhIGxzKgIIADIGEAAYFhgeMgYQABgWGB4yBhAAGBYYHjIGEAAYFhgeMgsQABiABBiGAxiKBTILEAAYgAQYhgMYigUyCxAAGIAEGIYDGIoFMgsQABiABBiGAxiKBTIIEAAYgAQYogQyCBAAGIAEGKIESIcvUKcJWIUZcAF4AZABAJgBmQGgAbIFqgEDMC41uAEByAEA-AEBmAIGoAK4BsICChAAGLADGNYEGEfCAgcQIxiwAhgnwgIHEAAYgAQYDcICBBAjGCfCAgoQIxiABBgnGIoFwgIKEAAYgAQYFBiHAsICCxAAGIAEGJECGIoFwgIFEAAYgASYAwCIBgGQBgiSBwMxLjWgB6QosgcDMC41uAenBsIHBTMtMi40yAdx&amp;sclient=gws-wiz-serp&amp;mstk=AUtExfCMslcBrg1qRQQ45eLK698CcWxafmcNwnpXurxdJPrbMPIfoxO1VnHs3H-WQp0ZbS5-vBVNvbHKbx8028W9lnu9KMxitXO7FoBiw4eb0BJ3IOKy47oBUsyinPQokOgcHptYLKViwuaofTkhZ459GNcwXsGhXTkTAYZE8IJ4nYxNunEeQ54hSSsQaYhY7A7zIz8Srh-9BzJof1eCUDdE23BRI-3sC20_pLGr62Cswt4_K8M08Vl-FftZ-ovvgCYO8yDz-KS5fefOC3fjfyuXfJGx&amp;csui=3&amp;ved=2ahUKEwjxzYvAsImRAxWkpCcCHa6OK08QgK4QegQIARAC"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hyperlink" Target="https://www.google.com/search?q=Designated+Port&amp;oq=STP+STEP+BY+STEP&amp;gs_lcrp=EgZjaHJvbWUyBggAEEUYOTIKCAEQABgKGBYYHjIICAIQABgWGB4yCAgDEAAYFhgeMggIBBAAGBYYHjIICAUQABgWGB4yCAgGEAAYFhgeMggIBxAAGBYYHjIICAgQABgWGB4yCAgJEAAYFhge0gEINTg4OGowajeoAgCwAgA&amp;sourceid=chrome&amp;ie=UTF-8&amp;mstk=AUtExfCnzSG_zARa0vNQ4vvaSqOWqyDKH0JSZisSbmdURNlza0qdU5ffDOe6FEZrk6Th-ITSEAMHAbhLt5bxtPJArdH_gCl7difNXyCGMZUWmAvIcgc4MWUpHgC0pjrIG5M4d1L5xtIwp2VsUfr42mrXYiKifTm6G3CnKXGvvHUhtdVN9n0&amp;csui=3&amp;ved=2ahUKEwixt6G9wfaRAxW7nycCHV8uPYIQgK4QegQIChAD" TargetMode="External"/><Relationship Id="rId7" Type="http://schemas.openxmlformats.org/officeDocument/2006/relationships/image" Target="../media/image18.PNG"/><Relationship Id="rId2" Type="http://schemas.openxmlformats.org/officeDocument/2006/relationships/hyperlink" Target="https://www.google.com/search?q=Root+Port&amp;oq=STP+STEP+BY+STEP&amp;gs_lcrp=EgZjaHJvbWUyBggAEEUYOTIKCAEQABgKGBYYHjIICAIQABgWGB4yCAgDEAAYFhgeMggIBBAAGBYYHjIICAUQABgWGB4yCAgGEAAYFhgeMggIBxAAGBYYHjIICAgQABgWGB4yCAgJEAAYFhge0gEINTg4OGowajeoAgCwAgA&amp;sourceid=chrome&amp;ie=UTF-8&amp;mstk=AUtExfCnzSG_zARa0vNQ4vvaSqOWqyDKH0JSZisSbmdURNlza0qdU5ffDOe6FEZrk6Th-ITSEAMHAbhLt5bxtPJArdH_gCl7difNXyCGMZUWmAvIcgc4MWUpHgC0pjrIG5M4d1L5xtIwp2VsUfr42mrXYiKifTm6G3CnKXGvvHUhtdVN9n0&amp;csui=3&amp;ved=2ahUKEwixt6G9wfaRAxW7nycCHV8uPYIQgK4QegQIBxAF" TargetMode="External"/><Relationship Id="rId1" Type="http://schemas.openxmlformats.org/officeDocument/2006/relationships/slideLayout" Target="../slideLayouts/slideLayout5.xml"/><Relationship Id="rId6" Type="http://schemas.openxmlformats.org/officeDocument/2006/relationships/image" Target="../media/image17.jpeg"/><Relationship Id="rId5" Type="http://schemas.openxmlformats.org/officeDocument/2006/relationships/hyperlink" Target="https://www.google.com/search?q=Blocking+State&amp;oq=STP+STEP+BY+STEP&amp;gs_lcrp=EgZjaHJvbWUyBggAEEUYOTIKCAEQABgKGBYYHjIICAIQABgWGB4yCAgDEAAYFhgeMggIBBAAGBYYHjIICAUQABgWGB4yCAgGEAAYFhgeMggIBxAAGBYYHjIICAgQABgWGB4yCAgJEAAYFhge0gEINTg4OGowajeoAgCwAgA&amp;sourceid=chrome&amp;ie=UTF-8&amp;mstk=AUtExfCnzSG_zARa0vNQ4vvaSqOWqyDKH0JSZisSbmdURNlza0qdU5ffDOe6FEZrk6Th-ITSEAMHAbhLt5bxtPJArdH_gCl7difNXyCGMZUWmAvIcgc4MWUpHgC0pjrIG5M4d1L5xtIwp2VsUfr42mrXYiKifTm6G3CnKXGvvHUhtdVN9n0&amp;csui=3&amp;ved=2ahUKEwixt6G9wfaRAxW7nycCHV8uPYIQgK4QegQIDRAD" TargetMode="External"/><Relationship Id="rId4" Type="http://schemas.openxmlformats.org/officeDocument/2006/relationships/hyperlink" Target="https://www.google.com/search?q=Non-Designated+Port&amp;oq=STP+STEP+BY+STEP&amp;gs_lcrp=EgZjaHJvbWUyBggAEEUYOTIKCAEQABgKGBYYHjIICAIQABgWGB4yCAgDEAAYFhgeMggIBBAAGBYYHjIICAUQABgWGB4yCAgGEAAYFhgeMggIBxAAGBYYHjIICAgQABgWGB4yCAgJEAAYFhge0gEINTg4OGowajeoAgCwAgA&amp;sourceid=chrome&amp;ie=UTF-8&amp;mstk=AUtExfCnzSG_zARa0vNQ4vvaSqOWqyDKH0JSZisSbmdURNlza0qdU5ffDOe6FEZrk6Th-ITSEAMHAbhLt5bxtPJArdH_gCl7difNXyCGMZUWmAvIcgc4MWUpHgC0pjrIG5M4d1L5xtIwp2VsUfr42mrXYiKifTm6G3CnKXGvvHUhtdVN9n0&amp;csui=3&amp;ved=2ahUKEwixt6G9wfaRAxW7nycCHV8uPYIQgK4QegQIDRAB" TargetMode="External"/></Relationships>
</file>

<file path=ppt/slides/_rels/slide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hyperlink" Target="https://www.google.com/search?q=User+Equipment+%28UE%29&amp;sca_esv=41cf0e5ea23eebf2&amp;biw=1536&amp;bih=742&amp;sxsrf=AE3TifOq2bPlZ-n6-OByQo04PRcKTMjxSA%3A1767313027741&amp;ei=gw5XabL_LMurkdUPxcrqqAk&amp;ved=2ahUKEwianqKcy-uRAxWrUKQEHStOASQQgK4QegQIAxAB&amp;uact=5&amp;oq=Mobile+Network+Architecture&amp;gs_lp=Egxnd3Mtd2l6LXNlcnAiG01vYmlsZSBOZXR3b3JrIEFyY2hpdGVjdHVyZTILEAAYgAQYkQIYigUyBRAAGIAEMgUQABiABDIGEAAYFhgeMgYQABgWGB4yBhAAGBYYHjIGEAAYFhgeMgYQABgWGB4yBhAAGBYYHjIGEAAYFhgeSPEWUOQTWOQTcAR4AZABAJgBmgGgAZoBqgEDMC4xuAEDyAEA-AEC-AEBmAIFoALVAcICChAAGLADGNYEGEfCAg0QABiABBiwAxhDGIoFmAMAiAYBkAYKkgcDNC4xoAfiBrIHAzAuMbgHrAHCBwUyLTMuMsgHLoAIAA&amp;sclient=gws-wiz-serp&amp;mstk=AUtExfCfSUVtk7Ev8ncfjNwgTBLt3XhOvsKe2Ib0jepAOfPG9vmLd3dwUyXZIfF9vT-Sp-TqGehGBNeT1HRvUConJ716adZRxeOWgsZ0yNhDBBJrj4GzPT1DyUxv6EdDVG_wJm5tIyxwEtg-l_AMUMLuiZ-MEE9GbWMON2s1PH9tmyZWcCZ22vA0_2ETYNLgtG5Vv-uX4xzyXbt59BBDsadLtJh2mvZ5fSow2PyiJg6E3L_wENcpO7flAOcJw5ahMZi9N4SyL7telfOiyj78D1QdY6jaJGzNl7vqdi9g4bvZhoSKwQ&amp;csui=3" TargetMode="External"/><Relationship Id="rId2" Type="http://schemas.openxmlformats.org/officeDocument/2006/relationships/hyperlink" Target="https://www.google.com/search?q=Network+Function+Virtualization+%28NFV%29&amp;sca_esv=41cf0e5ea23eebf2&amp;biw=1536&amp;bih=742&amp;sxsrf=AE3TifOq2bPlZ-n6-OByQo04PRcKTMjxSA%3A1767313027741&amp;ei=gw5XabL_LMurkdUPxcrqqAk&amp;ved=2ahUKEwianqKcy-uRAxWrUKQEHStOASQQgK4QegQIARAE&amp;uact=5&amp;oq=Mobile+Network+Architecture&amp;gs_lp=Egxnd3Mtd2l6LXNlcnAiG01vYmlsZSBOZXR3b3JrIEFyY2hpdGVjdHVyZTILEAAYgAQYkQIYigUyBRAAGIAEMgUQABiABDIGEAAYFhgeMgYQABgWGB4yBhAAGBYYHjIGEAAYFhgeMgYQABgWGB4yBhAAGBYYHjIGEAAYFhgeSPEWUOQTWOQTcAR4AZABAJgBmgGgAZoBqgEDMC4xuAEDyAEA-AEC-AEBmAIFoALVAcICChAAGLADGNYEGEfCAg0QABiABBiwAxhDGIoFmAMAiAYBkAYKkgcDNC4xoAfiBrIHAzAuMbgHrAHCBwUyLTMuMsgHLoAIAA&amp;sclient=gws-wiz-serp&amp;mstk=AUtExfCfSUVtk7Ev8ncfjNwgTBLt3XhOvsKe2Ib0jepAOfPG9vmLd3dwUyXZIfF9vT-Sp-TqGehGBNeT1HRvUConJ716adZRxeOWgsZ0yNhDBBJrj4GzPT1DyUxv6EdDVG_wJm5tIyxwEtg-l_AMUMLuiZ-MEE9GbWMON2s1PH9tmyZWcCZ22vA0_2ETYNLgtG5Vv-uX4xzyXbt59BBDsadLtJh2mvZ5fSow2PyiJg6E3L_wENcpO7flAOcJw5ahMZi9N4SyL7telfOiyj78D1QdY6jaJGzNl7vqdi9g4bvZhoSKwQ&amp;csui=3" TargetMode="Externa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hyperlink" Target="https://www.google.com/search?q=Data+Network&amp;sca_esv=41cf0e5ea23eebf2&amp;biw=1536&amp;bih=742&amp;sxsrf=AE3TifOq2bPlZ-n6-OByQo04PRcKTMjxSA%3A1767313027741&amp;ei=gw5XabL_LMurkdUPxcrqqAk&amp;ved=2ahUKEwianqKcy-uRAxWrUKQEHStOASQQgK4QegQIAxAG&amp;uact=5&amp;oq=Mobile+Network+Architecture&amp;gs_lp=Egxnd3Mtd2l6LXNlcnAiG01vYmlsZSBOZXR3b3JrIEFyY2hpdGVjdHVyZTILEAAYgAQYkQIYigUyBRAAGIAEMgUQABiABDIGEAAYFhgeMgYQABgWGB4yBhAAGBYYHjIGEAAYFhgeMgYQABgWGB4yBhAAGBYYHjIGEAAYFhgeSPEWUOQTWOQTcAR4AZABAJgBmgGgAZoBqgEDMC4xuAEDyAEA-AEC-AEBmAIFoALVAcICChAAGLADGNYEGEfCAg0QABiABBiwAxhDGIoFmAMAiAYBkAYKkgcDNC4xoAfiBrIHAzAuMbgHrAHCBwUyLTMuMsgHLoAIAA&amp;sclient=gws-wiz-serp&amp;mstk=AUtExfCfSUVtk7Ev8ncfjNwgTBLt3XhOvsKe2Ib0jepAOfPG9vmLd3dwUyXZIfF9vT-Sp-TqGehGBNeT1HRvUConJ716adZRxeOWgsZ0yNhDBBJrj4GzPT1DyUxv6EdDVG_wJm5tIyxwEtg-l_AMUMLuiZ-MEE9GbWMON2s1PH9tmyZWcCZ22vA0_2ETYNLgtG5Vv-uX4xzyXbt59BBDsadLtJh2mvZ5fSow2PyiJg6E3L_wENcpO7flAOcJw5ahMZi9N4SyL7telfOiyj78D1QdY6jaJGzNl7vqdi9g4bvZhoSKwQ&amp;csui=3" TargetMode="External"/><Relationship Id="rId4" Type="http://schemas.openxmlformats.org/officeDocument/2006/relationships/hyperlink" Target="https://www.google.com/search?q=Core+Network+%28CN%29&amp;sca_esv=41cf0e5ea23eebf2&amp;biw=1536&amp;bih=742&amp;sxsrf=AE3TifOq2bPlZ-n6-OByQo04PRcKTMjxSA%3A1767313027741&amp;ei=gw5XabL_LMurkdUPxcrqqAk&amp;ved=2ahUKEwianqKcy-uRAxWrUKQEHStOASQQgK4QegQIAxAE&amp;uact=5&amp;oq=Mobile+Network+Architecture&amp;gs_lp=Egxnd3Mtd2l6LXNlcnAiG01vYmlsZSBOZXR3b3JrIEFyY2hpdGVjdHVyZTILEAAYgAQYkQIYigUyBRAAGIAEMgUQABiABDIGEAAYFhgeMgYQABgWGB4yBhAAGBYYHjIGEAAYFhgeMgYQABgWGB4yBhAAGBYYHjIGEAAYFhgeSPEWUOQTWOQTcAR4AZABAJgBmgGgAZoBqgEDMC4xuAEDyAEA-AEC-AEBmAIFoALVAcICChAAGLADGNYEGEfCAg0QABiABBiwAxhDGIoFmAMAiAYBkAYKkgcDNC4xoAfiBrIHAzAuMbgHrAHCBwUyLTMuMsgHLoAIAA&amp;sclient=gws-wiz-serp&amp;mstk=AUtExfCfSUVtk7Ev8ncfjNwgTBLt3XhOvsKe2Ib0jepAOfPG9vmLd3dwUyXZIfF9vT-Sp-TqGehGBNeT1HRvUConJ716adZRxeOWgsZ0yNhDBBJrj4GzPT1DyUxv6EdDVG_wJm5tIyxwEtg-l_AMUMLuiZ-MEE9GbWMON2s1PH9tmyZWcCZ22vA0_2ETYNLgtG5Vv-uX4xzyXbt59BBDsadLtJh2mvZ5fSow2PyiJg6E3L_wENcpO7flAOcJw5ahMZi9N4SyL7telfOiyj78D1QdY6jaJGzNl7vqdi9g4bvZhoSKwQ&amp;csui=3"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030BD33-7C43-A5AC-2A03-FAD26312CB7C}"/>
              </a:ext>
            </a:extLst>
          </p:cNvPr>
          <p:cNvPicPr>
            <a:picLocks noChangeAspect="1"/>
          </p:cNvPicPr>
          <p:nvPr/>
        </p:nvPicPr>
        <p:blipFill>
          <a:blip r:embed="rId2"/>
          <a:srcRect t="18900" b="19151"/>
          <a:stretch>
            <a:fillRect/>
          </a:stretch>
        </p:blipFill>
        <p:spPr>
          <a:xfrm>
            <a:off x="2926060" y="116632"/>
            <a:ext cx="8181528" cy="5068386"/>
          </a:xfrm>
          <a:prstGeom prst="rect">
            <a:avLst/>
          </a:prstGeom>
        </p:spPr>
      </p:pic>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8193D4-7E1C-C54B-5697-5E93ACE625E5}"/>
              </a:ext>
            </a:extLst>
          </p:cNvPr>
          <p:cNvSpPr>
            <a:spLocks noGrp="1"/>
          </p:cNvSpPr>
          <p:nvPr>
            <p:ph type="ctrTitle"/>
          </p:nvPr>
        </p:nvSpPr>
        <p:spPr>
          <a:xfrm>
            <a:off x="2422004" y="2276872"/>
            <a:ext cx="9361040" cy="1402044"/>
          </a:xfrm>
        </p:spPr>
        <p:txBody>
          <a:bodyPr/>
          <a:lstStyle/>
          <a:p>
            <a:r>
              <a:rPr lang="en-US" sz="11000" b="1" dirty="0">
                <a:latin typeface="Bahnschrift Condensed" panose="020B0502040204020203" pitchFamily="34" charset="0"/>
              </a:rPr>
              <a:t>Advanced Networks</a:t>
            </a:r>
          </a:p>
        </p:txBody>
      </p:sp>
      <p:sp>
        <p:nvSpPr>
          <p:cNvPr id="5" name="Subtitle 2">
            <a:extLst>
              <a:ext uri="{FF2B5EF4-FFF2-40B4-BE49-F238E27FC236}">
                <a16:creationId xmlns:a16="http://schemas.microsoft.com/office/drawing/2014/main" id="{76E79662-1C98-D0C9-4FD5-E8C32F217BEF}"/>
              </a:ext>
            </a:extLst>
          </p:cNvPr>
          <p:cNvSpPr>
            <a:spLocks noGrp="1"/>
          </p:cNvSpPr>
          <p:nvPr>
            <p:ph type="subTitle" idx="1"/>
          </p:nvPr>
        </p:nvSpPr>
        <p:spPr>
          <a:xfrm>
            <a:off x="5197643" y="4025347"/>
            <a:ext cx="3305703" cy="339757"/>
          </a:xfrm>
        </p:spPr>
        <p:txBody>
          <a:bodyPr>
            <a:normAutofit lnSpcReduction="10000"/>
          </a:bodyPr>
          <a:lstStyle/>
          <a:p>
            <a:r>
              <a:rPr lang="en-US" sz="2000" u="sng" dirty="0">
                <a:latin typeface="Times New Roman" panose="02020603050405020304" pitchFamily="18" charset="0"/>
                <a:cs typeface="Times New Roman" panose="02020603050405020304" pitchFamily="18" charset="0"/>
              </a:rPr>
              <a:t>Prepared by: Dr, Elhachi Hana</a:t>
            </a:r>
          </a:p>
        </p:txBody>
      </p:sp>
      <p:pic>
        <p:nvPicPr>
          <p:cNvPr id="6" name="Picture 4" descr="جامعة طاهري محمد -بشار. University of Bechar-Tahri Mohamed | Béchar">
            <a:extLst>
              <a:ext uri="{FF2B5EF4-FFF2-40B4-BE49-F238E27FC236}">
                <a16:creationId xmlns:a16="http://schemas.microsoft.com/office/drawing/2014/main" id="{152FB8F5-DD9F-F11C-B8B6-CF19192757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8948" y="347870"/>
            <a:ext cx="860302" cy="84888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72B730-C7F7-2748-F281-F4809858AAA4}"/>
              </a:ext>
            </a:extLst>
          </p:cNvPr>
          <p:cNvSpPr txBox="1"/>
          <p:nvPr/>
        </p:nvSpPr>
        <p:spPr>
          <a:xfrm>
            <a:off x="4150196" y="165389"/>
            <a:ext cx="5400600" cy="584775"/>
          </a:xfrm>
          <a:prstGeom prst="rect">
            <a:avLst/>
          </a:prstGeom>
          <a:noFill/>
        </p:spPr>
        <p:txBody>
          <a:bodyPr wrap="square">
            <a:spAutoFit/>
          </a:bodyPr>
          <a:lstStyle/>
          <a:p>
            <a:pPr algn="ctr"/>
            <a:r>
              <a:rPr lang="fr-DZ" sz="1600" dirty="0" err="1">
                <a:latin typeface="Forte" panose="03060902040502070203" pitchFamily="66" charset="0"/>
                <a:cs typeface="Times New Roman" panose="02020603050405020304" pitchFamily="18" charset="0"/>
              </a:rPr>
              <a:t>People's</a:t>
            </a:r>
            <a:r>
              <a:rPr lang="fr-DZ" sz="1600" dirty="0">
                <a:latin typeface="Forte" panose="03060902040502070203" pitchFamily="66" charset="0"/>
                <a:cs typeface="Times New Roman" panose="02020603050405020304" pitchFamily="18" charset="0"/>
              </a:rPr>
              <a:t> Democratic Republic of Algeria </a:t>
            </a:r>
            <a:endParaRPr lang="ar-DZ" sz="1600" dirty="0">
              <a:latin typeface="Forte" panose="03060902040502070203" pitchFamily="66" charset="0"/>
              <a:cs typeface="Times New Roman" panose="02020603050405020304" pitchFamily="18" charset="0"/>
            </a:endParaRPr>
          </a:p>
          <a:p>
            <a:pPr algn="ctr"/>
            <a:r>
              <a:rPr lang="fr-DZ" sz="1600" dirty="0">
                <a:latin typeface="Forte" panose="03060902040502070203" pitchFamily="66" charset="0"/>
                <a:cs typeface="Times New Roman" panose="02020603050405020304" pitchFamily="18" charset="0"/>
              </a:rPr>
              <a:t>Ministry of </a:t>
            </a:r>
            <a:r>
              <a:rPr lang="fr-DZ" sz="1600" dirty="0" err="1">
                <a:latin typeface="Forte" panose="03060902040502070203" pitchFamily="66" charset="0"/>
                <a:cs typeface="Times New Roman" panose="02020603050405020304" pitchFamily="18" charset="0"/>
              </a:rPr>
              <a:t>Higher</a:t>
            </a:r>
            <a:r>
              <a:rPr lang="fr-DZ" sz="1600" dirty="0">
                <a:latin typeface="Forte" panose="03060902040502070203" pitchFamily="66" charset="0"/>
                <a:cs typeface="Times New Roman" panose="02020603050405020304" pitchFamily="18" charset="0"/>
              </a:rPr>
              <a:t> </a:t>
            </a:r>
            <a:r>
              <a:rPr lang="fr-DZ" sz="1600" dirty="0" err="1">
                <a:latin typeface="Forte" panose="03060902040502070203" pitchFamily="66" charset="0"/>
                <a:cs typeface="Times New Roman" panose="02020603050405020304" pitchFamily="18" charset="0"/>
              </a:rPr>
              <a:t>Education</a:t>
            </a:r>
            <a:r>
              <a:rPr lang="fr-DZ" sz="1600" dirty="0">
                <a:latin typeface="Forte" panose="03060902040502070203" pitchFamily="66" charset="0"/>
                <a:cs typeface="Times New Roman" panose="02020603050405020304" pitchFamily="18" charset="0"/>
              </a:rPr>
              <a:t> and Scientific </a:t>
            </a:r>
            <a:r>
              <a:rPr lang="fr-DZ" sz="1600" dirty="0" err="1">
                <a:latin typeface="Forte" panose="03060902040502070203" pitchFamily="66" charset="0"/>
                <a:cs typeface="Times New Roman" panose="02020603050405020304" pitchFamily="18" charset="0"/>
              </a:rPr>
              <a:t>Research</a:t>
            </a:r>
            <a:endParaRPr lang="fr-DZ" sz="1600" dirty="0">
              <a:latin typeface="Forte" panose="03060902040502070203" pitchFamily="66" charset="0"/>
              <a:cs typeface="Times New Roman" panose="02020603050405020304" pitchFamily="18" charset="0"/>
            </a:endParaRPr>
          </a:p>
        </p:txBody>
      </p:sp>
      <p:pic>
        <p:nvPicPr>
          <p:cNvPr id="8" name="Picture 4" descr="جامعة طاهري محمد -بشار. University of Bechar-Tahri Mohamed | Béchar">
            <a:extLst>
              <a:ext uri="{FF2B5EF4-FFF2-40B4-BE49-F238E27FC236}">
                <a16:creationId xmlns:a16="http://schemas.microsoft.com/office/drawing/2014/main" id="{87BFD5FE-29C2-5606-272E-40B9391355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972" y="347870"/>
            <a:ext cx="860302" cy="84888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9740F6ED-5A9D-022E-E67B-5A7F4C04A24C}"/>
              </a:ext>
            </a:extLst>
          </p:cNvPr>
          <p:cNvSpPr txBox="1">
            <a:spLocks/>
          </p:cNvSpPr>
          <p:nvPr/>
        </p:nvSpPr>
        <p:spPr>
          <a:xfrm>
            <a:off x="2494012" y="4941168"/>
            <a:ext cx="9289032" cy="339757"/>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90000"/>
              </a:lnSpc>
              <a:spcBef>
                <a:spcPts val="0"/>
              </a:spcBef>
              <a:buFont typeface="Euphemia" pitchFamily="34" charset="0"/>
              <a:buNone/>
              <a:defRPr sz="3200" kern="1200">
                <a:solidFill>
                  <a:schemeClr val="tx1"/>
                </a:solidFill>
                <a:latin typeface="+mn-lt"/>
                <a:ea typeface="+mn-ea"/>
                <a:cs typeface="+mn-cs"/>
              </a:defRPr>
            </a:lvl1pPr>
            <a:lvl2pPr marL="457200" indent="0" algn="ctr" defTabSz="914400" rtl="0" eaLnBrk="1" latinLnBrk="0" hangingPunct="1">
              <a:lnSpc>
                <a:spcPct val="90000"/>
              </a:lnSpc>
              <a:spcBef>
                <a:spcPts val="600"/>
              </a:spcBef>
              <a:buFont typeface="Euphemia"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600"/>
              </a:spcBef>
              <a:buFont typeface="Euphemia"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Font typeface="Euphemia"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600"/>
              </a:spcBef>
              <a:buFont typeface="Euphemia"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600"/>
              </a:spcBef>
              <a:buFont typeface="Euphemia"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600"/>
              </a:spcBef>
              <a:buFont typeface="Euphemia" pitchFamily="34" charset="0"/>
              <a:buNone/>
              <a:defRPr sz="1800" kern="1200" baseline="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600"/>
              </a:spcBef>
              <a:buFont typeface="Euphemia" pitchFamily="34" charset="0"/>
              <a:buNone/>
              <a:defRPr sz="1800" kern="1200" baseline="0">
                <a:solidFill>
                  <a:schemeClr val="tx1">
                    <a:tint val="75000"/>
                  </a:schemeClr>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Semester: 7                                                 Credit: 5                                               Coefficient: 4</a:t>
            </a:r>
          </a:p>
        </p:txBody>
      </p:sp>
      <p:sp>
        <p:nvSpPr>
          <p:cNvPr id="10" name="Subtitle 2">
            <a:extLst>
              <a:ext uri="{FF2B5EF4-FFF2-40B4-BE49-F238E27FC236}">
                <a16:creationId xmlns:a16="http://schemas.microsoft.com/office/drawing/2014/main" id="{86AB062F-0BCF-AAB8-743B-BD0AFFF037C8}"/>
              </a:ext>
            </a:extLst>
          </p:cNvPr>
          <p:cNvSpPr txBox="1">
            <a:spLocks/>
          </p:cNvSpPr>
          <p:nvPr/>
        </p:nvSpPr>
        <p:spPr>
          <a:xfrm>
            <a:off x="4917006" y="1313596"/>
            <a:ext cx="3866979" cy="41750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0"/>
              </a:spcBef>
              <a:buFont typeface="Euphemia" pitchFamily="34" charset="0"/>
              <a:buNone/>
              <a:defRPr sz="3200" kern="1200">
                <a:solidFill>
                  <a:schemeClr val="tx1"/>
                </a:solidFill>
                <a:latin typeface="+mn-lt"/>
                <a:ea typeface="+mn-ea"/>
                <a:cs typeface="+mn-cs"/>
              </a:defRPr>
            </a:lvl1pPr>
            <a:lvl2pPr marL="457200" indent="0" algn="ctr" defTabSz="914400" rtl="0" eaLnBrk="1" latinLnBrk="0" hangingPunct="1">
              <a:lnSpc>
                <a:spcPct val="90000"/>
              </a:lnSpc>
              <a:spcBef>
                <a:spcPts val="600"/>
              </a:spcBef>
              <a:buFont typeface="Euphemia"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600"/>
              </a:spcBef>
              <a:buFont typeface="Euphemia"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Font typeface="Euphemia"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600"/>
              </a:spcBef>
              <a:buFont typeface="Euphemia"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600"/>
              </a:spcBef>
              <a:buFont typeface="Euphemia"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600"/>
              </a:spcBef>
              <a:buFont typeface="Euphemia" pitchFamily="34" charset="0"/>
              <a:buNone/>
              <a:defRPr sz="1800" kern="1200" baseline="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600"/>
              </a:spcBef>
              <a:buFont typeface="Euphemia" pitchFamily="34" charset="0"/>
              <a:buNone/>
              <a:defRPr sz="1800" kern="1200" baseline="0">
                <a:solidFill>
                  <a:schemeClr val="tx1">
                    <a:tint val="75000"/>
                  </a:schemeClr>
                </a:solidFill>
                <a:latin typeface="+mn-lt"/>
                <a:ea typeface="+mn-ea"/>
                <a:cs typeface="+mn-cs"/>
              </a:defRPr>
            </a:lvl9pPr>
          </a:lstStyle>
          <a:p>
            <a:r>
              <a:rPr lang="en-US" sz="2400" u="sng" dirty="0">
                <a:latin typeface="Times New Roman" panose="02020603050405020304" pitchFamily="18" charset="0"/>
                <a:cs typeface="Times New Roman" panose="02020603050405020304" pitchFamily="18" charset="0"/>
              </a:rPr>
              <a:t>Specialty: Computer Security</a:t>
            </a:r>
          </a:p>
        </p:txBody>
      </p:sp>
    </p:spTree>
    <p:extLst>
      <p:ext uri="{BB962C8B-B14F-4D97-AF65-F5344CB8AC3E}">
        <p14:creationId xmlns:p14="http://schemas.microsoft.com/office/powerpoint/2010/main" val="3286924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0D48B8CC-1552-578E-F324-FE42721BB53C}"/>
              </a:ext>
            </a:extLst>
          </p:cNvPr>
          <p:cNvSpPr>
            <a:spLocks noGrp="1"/>
          </p:cNvSpPr>
          <p:nvPr>
            <p:ph type="title"/>
          </p:nvPr>
        </p:nvSpPr>
        <p:spPr>
          <a:xfrm>
            <a:off x="1593436" y="392907"/>
            <a:ext cx="9782801" cy="731837"/>
          </a:xfrm>
        </p:spPr>
        <p:txBody>
          <a:bodyPr>
            <a:normAutofit/>
          </a:bodyPr>
          <a:lstStyle/>
          <a:p>
            <a:pPr algn="ctr"/>
            <a:r>
              <a:rPr lang="en-US" sz="4400" b="1" dirty="0">
                <a:latin typeface="Bahnschrift Condensed" panose="020B0502040204020203" pitchFamily="34" charset="0"/>
                <a:cs typeface="Times New Roman" panose="02020603050405020304" pitchFamily="18" charset="0"/>
              </a:rPr>
              <a:t>Chapters</a:t>
            </a:r>
            <a:r>
              <a:rPr lang="en-US" dirty="0">
                <a:latin typeface="Times New Roman" panose="02020603050405020304" pitchFamily="18" charset="0"/>
                <a:cs typeface="Times New Roman" panose="02020603050405020304" pitchFamily="18" charset="0"/>
              </a:rPr>
              <a:t>:</a:t>
            </a:r>
          </a:p>
        </p:txBody>
      </p:sp>
      <p:sp>
        <p:nvSpPr>
          <p:cNvPr id="5" name="Content Placeholder 13">
            <a:extLst>
              <a:ext uri="{FF2B5EF4-FFF2-40B4-BE49-F238E27FC236}">
                <a16:creationId xmlns:a16="http://schemas.microsoft.com/office/drawing/2014/main" id="{356C87EE-C2A1-8933-6306-8181712ED8A7}"/>
              </a:ext>
            </a:extLst>
          </p:cNvPr>
          <p:cNvSpPr>
            <a:spLocks noGrp="1"/>
          </p:cNvSpPr>
          <p:nvPr>
            <p:ph idx="1"/>
          </p:nvPr>
        </p:nvSpPr>
        <p:spPr>
          <a:xfrm>
            <a:off x="1593436" y="1405880"/>
            <a:ext cx="9782801" cy="5191472"/>
          </a:xfrm>
        </p:spPr>
        <p:txBody>
          <a:bodyPr>
            <a:normAutofit/>
          </a:bodyPr>
          <a:lstStyle/>
          <a:p>
            <a:r>
              <a:rPr lang="en-US" sz="2400" dirty="0">
                <a:latin typeface="Times New Roman" panose="02020603050405020304" pitchFamily="18" charset="0"/>
                <a:cs typeface="Times New Roman" panose="02020603050405020304" pitchFamily="18" charset="0"/>
              </a:rPr>
              <a:t>Introduction to Advanced Computer Networks</a:t>
            </a:r>
          </a:p>
          <a:p>
            <a:r>
              <a:rPr lang="fr-FR" sz="2400" dirty="0">
                <a:latin typeface="Times New Roman" panose="02020603050405020304" pitchFamily="18" charset="0"/>
                <a:cs typeface="Times New Roman" panose="02020603050405020304" pitchFamily="18" charset="0"/>
              </a:rPr>
              <a:t>Network Security</a:t>
            </a:r>
          </a:p>
          <a:p>
            <a:r>
              <a:rPr lang="fr-FR" sz="2400" dirty="0" err="1">
                <a:latin typeface="Times New Roman" panose="02020603050405020304" pitchFamily="18" charset="0"/>
                <a:cs typeface="Times New Roman" panose="02020603050405020304" pitchFamily="18" charset="0"/>
              </a:rPr>
              <a:t>Quality</a:t>
            </a:r>
            <a:r>
              <a:rPr lang="fr-FR" sz="2400" dirty="0">
                <a:latin typeface="Times New Roman" panose="02020603050405020304" pitchFamily="18" charset="0"/>
                <a:cs typeface="Times New Roman" panose="02020603050405020304" pitchFamily="18" charset="0"/>
              </a:rPr>
              <a:t> of Service (QoS)</a:t>
            </a:r>
          </a:p>
          <a:p>
            <a:r>
              <a:rPr lang="fr-FR" sz="2400" dirty="0" err="1">
                <a:latin typeface="Times New Roman" panose="02020603050405020304" pitchFamily="18" charset="0"/>
                <a:cs typeface="Times New Roman" panose="02020603050405020304" pitchFamily="18" charset="0"/>
              </a:rPr>
              <a:t>Emerging</a:t>
            </a:r>
            <a:r>
              <a:rPr lang="fr-FR" sz="2400" dirty="0">
                <a:latin typeface="Times New Roman" panose="02020603050405020304" pitchFamily="18" charset="0"/>
                <a:cs typeface="Times New Roman" panose="02020603050405020304" pitchFamily="18" charset="0"/>
              </a:rPr>
              <a:t> Network Technologies</a:t>
            </a:r>
          </a:p>
          <a:p>
            <a:r>
              <a:rPr lang="fr-FR" sz="2400" dirty="0">
                <a:latin typeface="Times New Roman" panose="02020603050405020304" pitchFamily="18" charset="0"/>
                <a:cs typeface="Times New Roman" panose="02020603050405020304" pitchFamily="18" charset="0"/>
              </a:rPr>
              <a:t>Advanced </a:t>
            </a:r>
            <a:r>
              <a:rPr lang="fr-FR" sz="2400" dirty="0" err="1">
                <a:latin typeface="Times New Roman" panose="02020603050405020304" pitchFamily="18" charset="0"/>
                <a:cs typeface="Times New Roman" panose="02020603050405020304" pitchFamily="18" charset="0"/>
              </a:rPr>
              <a:t>Routing</a:t>
            </a:r>
            <a:r>
              <a:rPr lang="fr-FR" sz="2400" dirty="0">
                <a:latin typeface="Times New Roman" panose="02020603050405020304" pitchFamily="18" charset="0"/>
                <a:cs typeface="Times New Roman" panose="02020603050405020304" pitchFamily="18" charset="0"/>
              </a:rPr>
              <a:t> and </a:t>
            </a:r>
            <a:r>
              <a:rPr lang="fr-FR" sz="2400" dirty="0" err="1">
                <a:latin typeface="Times New Roman" panose="02020603050405020304" pitchFamily="18" charset="0"/>
                <a:cs typeface="Times New Roman" panose="02020603050405020304" pitchFamily="18" charset="0"/>
              </a:rPr>
              <a:t>Switching</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Network Management and Monitoring</a:t>
            </a:r>
          </a:p>
          <a:p>
            <a:r>
              <a:rPr lang="fr-FR" sz="2400" dirty="0">
                <a:latin typeface="Times New Roman" panose="02020603050405020304" pitchFamily="18" charset="0"/>
                <a:cs typeface="Times New Roman" panose="02020603050405020304" pitchFamily="18" charset="0"/>
              </a:rPr>
              <a:t>Wireless and Mobile Networks</a:t>
            </a:r>
          </a:p>
          <a:p>
            <a:r>
              <a:rPr lang="fr-FR" sz="2400" dirty="0">
                <a:latin typeface="Times New Roman" panose="02020603050405020304" pitchFamily="18" charset="0"/>
                <a:cs typeface="Times New Roman" panose="02020603050405020304" pitchFamily="18" charset="0"/>
              </a:rPr>
              <a:t>Future Trends and Challenges</a:t>
            </a:r>
            <a:endParaRPr lang="en-US" sz="2400" dirty="0">
              <a:latin typeface="Times New Roman" panose="02020603050405020304" pitchFamily="18" charset="0"/>
              <a:cs typeface="Times New Roman" panose="02020603050405020304" pitchFamily="18" charset="0"/>
            </a:endParaRPr>
          </a:p>
        </p:txBody>
      </p:sp>
      <p:sp>
        <p:nvSpPr>
          <p:cNvPr id="6" name="Slide Number Placeholder 1">
            <a:extLst>
              <a:ext uri="{FF2B5EF4-FFF2-40B4-BE49-F238E27FC236}">
                <a16:creationId xmlns:a16="http://schemas.microsoft.com/office/drawing/2014/main" id="{F87DD3B8-FFF8-5997-C192-CB02C077AC7C}"/>
              </a:ext>
            </a:extLst>
          </p:cNvPr>
          <p:cNvSpPr>
            <a:spLocks noGrp="1"/>
          </p:cNvSpPr>
          <p:nvPr>
            <p:ph type="sldNum" sz="quarter" idx="12"/>
          </p:nvPr>
        </p:nvSpPr>
        <p:spPr>
          <a:xfrm>
            <a:off x="10766796" y="6356351"/>
            <a:ext cx="609441" cy="365125"/>
          </a:xfrm>
        </p:spPr>
        <p:txBody>
          <a:bodyPr/>
          <a:lstStyle/>
          <a:p>
            <a:fld id="{7DC1BBB0-96F0-4077-A278-0F3FB5C104D3}" type="slidenum">
              <a:rPr lang="fr-DZ" smtClean="0"/>
              <a:t>3</a:t>
            </a:fld>
            <a:endParaRPr lang="fr-DZ"/>
          </a:p>
        </p:txBody>
      </p:sp>
    </p:spTree>
    <p:extLst>
      <p:ext uri="{BB962C8B-B14F-4D97-AF65-F5344CB8AC3E}">
        <p14:creationId xmlns:p14="http://schemas.microsoft.com/office/powerpoint/2010/main" val="1143588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A0395F-1C4E-1430-EDDD-20E3B9CEFDDD}"/>
              </a:ext>
            </a:extLst>
          </p:cNvPr>
          <p:cNvSpPr>
            <a:spLocks noGrp="1"/>
          </p:cNvSpPr>
          <p:nvPr>
            <p:ph type="title"/>
          </p:nvPr>
        </p:nvSpPr>
        <p:spPr>
          <a:xfrm>
            <a:off x="981844" y="3543976"/>
            <a:ext cx="9541060" cy="2117272"/>
          </a:xfrm>
        </p:spPr>
        <p:txBody>
          <a:bodyPr>
            <a:norm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Objective: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Understand advanced routing algorithms and protocols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Configure and analyze OSPF, EIGRP, and BGP</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Explain VLANs, STP, EtherChannel</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Apply redundancy and high-availability mechanisms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Identify Layer 2 &amp; 3 security attacks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Understand modern SD-Access / SD-WAN routing concepts</a:t>
            </a:r>
            <a:br>
              <a:rPr lang="en-US" sz="1800" dirty="0"/>
            </a:br>
            <a:endParaRPr lang="en-US" sz="1800" dirty="0"/>
          </a:p>
        </p:txBody>
      </p:sp>
      <p:sp>
        <p:nvSpPr>
          <p:cNvPr id="7" name="Text Placeholder 4">
            <a:extLst>
              <a:ext uri="{FF2B5EF4-FFF2-40B4-BE49-F238E27FC236}">
                <a16:creationId xmlns:a16="http://schemas.microsoft.com/office/drawing/2014/main" id="{8841695A-0DF3-29D3-BA0E-7A3F2F98EE75}"/>
              </a:ext>
            </a:extLst>
          </p:cNvPr>
          <p:cNvSpPr>
            <a:spLocks noGrp="1"/>
          </p:cNvSpPr>
          <p:nvPr>
            <p:ph type="body" idx="1"/>
          </p:nvPr>
        </p:nvSpPr>
        <p:spPr>
          <a:xfrm>
            <a:off x="981844" y="1124744"/>
            <a:ext cx="7264623" cy="1150203"/>
          </a:xfrm>
        </p:spPr>
        <p:txBody>
          <a:bodyPr/>
          <a:lstStyle/>
          <a:p>
            <a:r>
              <a:rPr lang="fr-FR" dirty="0" err="1">
                <a:latin typeface="Times New Roman" panose="02020603050405020304" pitchFamily="18" charset="0"/>
                <a:cs typeface="Times New Roman" panose="02020603050405020304" pitchFamily="18" charset="0"/>
              </a:rPr>
              <a:t>Chapter</a:t>
            </a:r>
            <a:r>
              <a:rPr lang="fr-FR" dirty="0">
                <a:latin typeface="Times New Roman" panose="02020603050405020304" pitchFamily="18" charset="0"/>
                <a:cs typeface="Times New Roman" panose="02020603050405020304" pitchFamily="18" charset="0"/>
              </a:rPr>
              <a:t> 05</a:t>
            </a:r>
            <a:endParaRPr lang="en-US" dirty="0"/>
          </a:p>
        </p:txBody>
      </p:sp>
      <p:sp>
        <p:nvSpPr>
          <p:cNvPr id="8" name="Title 1">
            <a:extLst>
              <a:ext uri="{FF2B5EF4-FFF2-40B4-BE49-F238E27FC236}">
                <a16:creationId xmlns:a16="http://schemas.microsoft.com/office/drawing/2014/main" id="{C3E921D3-F709-134C-D8A0-0482143DBF67}"/>
              </a:ext>
            </a:extLst>
          </p:cNvPr>
          <p:cNvSpPr txBox="1">
            <a:spLocks/>
          </p:cNvSpPr>
          <p:nvPr/>
        </p:nvSpPr>
        <p:spPr>
          <a:xfrm>
            <a:off x="1134243" y="1206984"/>
            <a:ext cx="10472463" cy="265406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400" b="0" kern="1200" cap="none" baseline="0">
                <a:solidFill>
                  <a:schemeClr val="tx1">
                    <a:lumMod val="75000"/>
                  </a:schemeClr>
                </a:solidFill>
                <a:latin typeface="+mj-lt"/>
                <a:ea typeface="+mj-ea"/>
                <a:cs typeface="+mj-cs"/>
              </a:defRPr>
            </a:lvl1pPr>
          </a:lstStyle>
          <a:p>
            <a:pPr algn="ctr"/>
            <a:r>
              <a:rPr lang="fr-FR" sz="6000" b="1" dirty="0">
                <a:latin typeface="Bahnschrift Condensed" panose="020B0502040204020203" pitchFamily="34" charset="0"/>
                <a:cs typeface="Times New Roman" panose="02020603050405020304" pitchFamily="18" charset="0"/>
              </a:rPr>
              <a:t>Advanced </a:t>
            </a:r>
            <a:r>
              <a:rPr lang="fr-FR" sz="6000" b="1" dirty="0" err="1">
                <a:latin typeface="Bahnschrift Condensed" panose="020B0502040204020203" pitchFamily="34" charset="0"/>
                <a:cs typeface="Times New Roman" panose="02020603050405020304" pitchFamily="18" charset="0"/>
              </a:rPr>
              <a:t>Routing</a:t>
            </a:r>
            <a:r>
              <a:rPr lang="fr-FR" sz="6000" b="1" dirty="0">
                <a:latin typeface="Bahnschrift Condensed" panose="020B0502040204020203" pitchFamily="34" charset="0"/>
                <a:cs typeface="Times New Roman" panose="02020603050405020304" pitchFamily="18" charset="0"/>
              </a:rPr>
              <a:t> and </a:t>
            </a:r>
            <a:r>
              <a:rPr lang="fr-FR" sz="6000" b="1" dirty="0" err="1">
                <a:latin typeface="Bahnschrift Condensed" panose="020B0502040204020203" pitchFamily="34" charset="0"/>
                <a:cs typeface="Times New Roman" panose="02020603050405020304" pitchFamily="18" charset="0"/>
              </a:rPr>
              <a:t>Switching</a:t>
            </a:r>
            <a:endParaRPr lang="fr-FR" sz="6000" b="1" dirty="0">
              <a:latin typeface="Bahnschrift Condensed" panose="020B0502040204020203" pitchFamily="34" charset="0"/>
              <a:cs typeface="Times New Roman" panose="02020603050405020304" pitchFamily="18" charset="0"/>
            </a:endParaRPr>
          </a:p>
          <a:p>
            <a:pPr algn="ctr"/>
            <a:endParaRPr lang="en-US" sz="6000" b="1" dirty="0">
              <a:latin typeface="Bahnschrift Condensed" panose="020B0502040204020203" pitchFamily="34" charset="0"/>
            </a:endParaRPr>
          </a:p>
        </p:txBody>
      </p:sp>
    </p:spTree>
    <p:extLst>
      <p:ext uri="{BB962C8B-B14F-4D97-AF65-F5344CB8AC3E}">
        <p14:creationId xmlns:p14="http://schemas.microsoft.com/office/powerpoint/2010/main" val="352090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b="1" dirty="0">
                <a:solidFill>
                  <a:schemeClr val="tx2"/>
                </a:solidFill>
                <a:latin typeface="Times New Roman" panose="02020603050405020304" pitchFamily="18" charset="0"/>
                <a:cs typeface="Times New Roman" panose="02020603050405020304" pitchFamily="18" charset="0"/>
              </a:rPr>
              <a:t>Dynamic </a:t>
            </a:r>
            <a:r>
              <a:rPr lang="fr-FR" b="1" dirty="0" err="1">
                <a:solidFill>
                  <a:schemeClr val="tx2"/>
                </a:solidFill>
                <a:latin typeface="Times New Roman" panose="02020603050405020304" pitchFamily="18" charset="0"/>
                <a:cs typeface="Times New Roman" panose="02020603050405020304" pitchFamily="18" charset="0"/>
              </a:rPr>
              <a:t>Routing</a:t>
            </a:r>
            <a:r>
              <a:rPr lang="fr-FR" b="1" dirty="0">
                <a:solidFill>
                  <a:schemeClr val="tx2"/>
                </a:solidFill>
                <a:latin typeface="Times New Roman" panose="02020603050405020304" pitchFamily="18" charset="0"/>
                <a:cs typeface="Times New Roman" panose="02020603050405020304" pitchFamily="18" charset="0"/>
              </a:rPr>
              <a:t> </a:t>
            </a:r>
            <a:r>
              <a:rPr lang="fr-FR" b="1" dirty="0" err="1">
                <a:solidFill>
                  <a:schemeClr val="tx2"/>
                </a:solidFill>
                <a:latin typeface="Times New Roman" panose="02020603050405020304" pitchFamily="18" charset="0"/>
                <a:cs typeface="Times New Roman" panose="02020603050405020304" pitchFamily="18" charset="0"/>
              </a:rPr>
              <a:t>Protocols</a:t>
            </a:r>
            <a:endParaRPr lang="en-US" b="1" dirty="0"/>
          </a:p>
        </p:txBody>
      </p:sp>
      <p:graphicFrame>
        <p:nvGraphicFramePr>
          <p:cNvPr id="5" name="Content Placeholder 4">
            <a:extLst>
              <a:ext uri="{FF2B5EF4-FFF2-40B4-BE49-F238E27FC236}">
                <a16:creationId xmlns:a16="http://schemas.microsoft.com/office/drawing/2014/main" id="{E78BD0D4-C687-EF84-71A0-F8080CD44764}"/>
              </a:ext>
            </a:extLst>
          </p:cNvPr>
          <p:cNvGraphicFramePr>
            <a:graphicFrameLocks noGrp="1"/>
          </p:cNvGraphicFramePr>
          <p:nvPr>
            <p:ph idx="1"/>
            <p:extLst>
              <p:ext uri="{D42A27DB-BD31-4B8C-83A1-F6EECF244321}">
                <p14:modId xmlns:p14="http://schemas.microsoft.com/office/powerpoint/2010/main" val="3510208769"/>
              </p:ext>
            </p:extLst>
          </p:nvPr>
        </p:nvGraphicFramePr>
        <p:xfrm>
          <a:off x="1593850" y="1600200"/>
          <a:ext cx="9782175"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1916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Distance Vector Routing Protocols</a:t>
            </a:r>
            <a:br>
              <a:rPr lang="en-US" b="1" dirty="0">
                <a:latin typeface="Times New Roman" panose="02020603050405020304" pitchFamily="18" charset="0"/>
                <a:cs typeface="Times New Roman" panose="02020603050405020304" pitchFamily="18" charset="0"/>
              </a:rPr>
            </a:br>
            <a:endParaRPr lang="en-US" dirty="0"/>
          </a:p>
        </p:txBody>
      </p:sp>
      <p:sp>
        <p:nvSpPr>
          <p:cNvPr id="6" name="Content Placeholder 5">
            <a:extLst>
              <a:ext uri="{FF2B5EF4-FFF2-40B4-BE49-F238E27FC236}">
                <a16:creationId xmlns:a16="http://schemas.microsoft.com/office/drawing/2014/main" id="{60393629-434D-29CE-856B-5058A1E5ADD3}"/>
              </a:ext>
            </a:extLst>
          </p:cNvPr>
          <p:cNvSpPr>
            <a:spLocks noGrp="1"/>
          </p:cNvSpPr>
          <p:nvPr>
            <p:ph sz="half" idx="2"/>
          </p:nvPr>
        </p:nvSpPr>
        <p:spPr>
          <a:xfrm>
            <a:off x="1269876" y="1089248"/>
            <a:ext cx="10369152" cy="5768752"/>
          </a:xfrm>
        </p:spPr>
        <p:txBody>
          <a:bodyPr>
            <a:noAutofit/>
          </a:bodyPr>
          <a:lstStyle/>
          <a:p>
            <a:pPr marL="0" indent="0">
              <a:buNone/>
            </a:pPr>
            <a:r>
              <a:rPr lang="en-US" sz="1800" dirty="0">
                <a:latin typeface="Times New Roman" panose="02020603050405020304" pitchFamily="18" charset="0"/>
                <a:cs typeface="Times New Roman" panose="02020603050405020304" pitchFamily="18" charset="0"/>
              </a:rPr>
              <a:t>A </a:t>
            </a:r>
            <a:r>
              <a:rPr lang="en-US" sz="1800" b="1" dirty="0">
                <a:latin typeface="Times New Roman" panose="02020603050405020304" pitchFamily="18" charset="0"/>
                <a:cs typeface="Times New Roman" panose="02020603050405020304" pitchFamily="18" charset="0"/>
              </a:rPr>
              <a:t>Distance Vector (DV)</a:t>
            </a:r>
            <a:r>
              <a:rPr lang="en-US" sz="1800" dirty="0">
                <a:latin typeface="Times New Roman" panose="02020603050405020304" pitchFamily="18" charset="0"/>
                <a:cs typeface="Times New Roman" panose="02020603050405020304" pitchFamily="18" charset="0"/>
              </a:rPr>
              <a:t> routing protocol determines the best path to a destination based on:</a:t>
            </a:r>
          </a:p>
          <a:p>
            <a:pPr lvl="1">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Distance</a:t>
            </a:r>
            <a:r>
              <a:rPr lang="en-US" sz="1800" dirty="0">
                <a:latin typeface="Times New Roman" panose="02020603050405020304" pitchFamily="18" charset="0"/>
                <a:cs typeface="Times New Roman" panose="02020603050405020304" pitchFamily="18" charset="0"/>
              </a:rPr>
              <a:t> → A metric (hop count, delay, bandwidth, composite metric)</a:t>
            </a:r>
          </a:p>
          <a:p>
            <a:pPr lvl="1">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Vector</a:t>
            </a:r>
            <a:r>
              <a:rPr lang="en-US" sz="1800" dirty="0">
                <a:latin typeface="Times New Roman" panose="02020603050405020304" pitchFamily="18" charset="0"/>
                <a:cs typeface="Times New Roman" panose="02020603050405020304" pitchFamily="18" charset="0"/>
              </a:rPr>
              <a:t> → The direction or </a:t>
            </a:r>
            <a:r>
              <a:rPr lang="en-US" sz="1800" b="1" dirty="0">
                <a:latin typeface="Times New Roman" panose="02020603050405020304" pitchFamily="18" charset="0"/>
                <a:cs typeface="Times New Roman" panose="02020603050405020304" pitchFamily="18" charset="0"/>
              </a:rPr>
              <a:t>next-hop router</a:t>
            </a:r>
            <a:r>
              <a:rPr lang="en-US" sz="1800" dirty="0">
                <a:latin typeface="Times New Roman" panose="02020603050405020304" pitchFamily="18" charset="0"/>
                <a:cs typeface="Times New Roman" panose="02020603050405020304" pitchFamily="18" charset="0"/>
              </a:rPr>
              <a:t> to reach that destination</a:t>
            </a:r>
          </a:p>
          <a:p>
            <a:pPr marL="0" indent="0">
              <a:buNone/>
            </a:pPr>
            <a:r>
              <a:rPr lang="en-US" sz="1800" b="1" dirty="0">
                <a:latin typeface="Times New Roman" panose="02020603050405020304" pitchFamily="18" charset="0"/>
                <a:cs typeface="Times New Roman" panose="02020603050405020304" pitchFamily="18" charset="0"/>
              </a:rPr>
              <a:t>Key Concept</a:t>
            </a:r>
          </a:p>
          <a:p>
            <a:pPr marL="0" indent="0">
              <a:buNone/>
            </a:pPr>
            <a:r>
              <a:rPr lang="en-US" sz="1800" dirty="0">
                <a:latin typeface="Times New Roman" panose="02020603050405020304" pitchFamily="18" charset="0"/>
                <a:cs typeface="Times New Roman" panose="02020603050405020304" pitchFamily="18" charset="0"/>
              </a:rPr>
              <a:t>Routers using DV have </a:t>
            </a:r>
            <a:r>
              <a:rPr lang="en-US" sz="1800" b="1" dirty="0">
                <a:latin typeface="Times New Roman" panose="02020603050405020304" pitchFamily="18" charset="0"/>
                <a:cs typeface="Times New Roman" panose="02020603050405020304" pitchFamily="18" charset="0"/>
              </a:rPr>
              <a:t>NO full understanding</a:t>
            </a:r>
            <a:r>
              <a:rPr lang="en-US" sz="1800" dirty="0">
                <a:latin typeface="Times New Roman" panose="02020603050405020304" pitchFamily="18" charset="0"/>
                <a:cs typeface="Times New Roman" panose="02020603050405020304" pitchFamily="18" charset="0"/>
              </a:rPr>
              <a:t> of the network topology.</a:t>
            </a:r>
          </a:p>
          <a:p>
            <a:pPr marL="0" indent="0">
              <a:buNone/>
            </a:pPr>
            <a:r>
              <a:rPr lang="en-US" sz="1800" dirty="0">
                <a:latin typeface="Times New Roman" panose="02020603050405020304" pitchFamily="18" charset="0"/>
                <a:cs typeface="Times New Roman" panose="02020603050405020304" pitchFamily="18" charset="0"/>
              </a:rPr>
              <a:t>They rely entirely on what their </a:t>
            </a:r>
            <a:r>
              <a:rPr lang="en-US" sz="1800" b="1" dirty="0">
                <a:latin typeface="Times New Roman" panose="02020603050405020304" pitchFamily="18" charset="0"/>
                <a:cs typeface="Times New Roman" panose="02020603050405020304" pitchFamily="18" charset="0"/>
              </a:rPr>
              <a:t>neighbors tell them</a:t>
            </a:r>
            <a:r>
              <a:rPr lang="en-US" sz="1800" dirty="0">
                <a:latin typeface="Times New Roman" panose="02020603050405020304" pitchFamily="18" charset="0"/>
                <a:cs typeface="Times New Roman" panose="02020603050405020304" pitchFamily="18" charset="0"/>
              </a:rPr>
              <a:t> → “Routing by rumor.”</a:t>
            </a:r>
          </a:p>
          <a:p>
            <a:pPr marL="0" indent="0">
              <a:buNone/>
            </a:pPr>
            <a:r>
              <a:rPr lang="en-US" sz="1800" b="1" dirty="0">
                <a:latin typeface="Times New Roman" panose="02020603050405020304" pitchFamily="18" charset="0"/>
                <a:cs typeface="Times New Roman" panose="02020603050405020304" pitchFamily="18" charset="0"/>
              </a:rPr>
              <a:t>How routers behave:</a:t>
            </a:r>
          </a:p>
          <a:p>
            <a:pPr marL="0" indent="0">
              <a:buNone/>
            </a:pPr>
            <a:r>
              <a:rPr lang="en-US" sz="1800" dirty="0">
                <a:latin typeface="Times New Roman" panose="02020603050405020304" pitchFamily="18" charset="0"/>
                <a:cs typeface="Times New Roman" panose="02020603050405020304" pitchFamily="18" charset="0"/>
              </a:rPr>
              <a:t>Each router builds a routing table based on:</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Self-connected networks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Information received from neighbors</a:t>
            </a:r>
          </a:p>
          <a:p>
            <a:pPr marL="0" indent="0">
              <a:buNone/>
            </a:pPr>
            <a:r>
              <a:rPr lang="en-US" sz="1800" dirty="0">
                <a:latin typeface="Times New Roman" panose="02020603050405020304" pitchFamily="18" charset="0"/>
                <a:cs typeface="Times New Roman" panose="02020603050405020304" pitchFamily="18" charset="0"/>
              </a:rPr>
              <a:t>The router </a:t>
            </a:r>
            <a:r>
              <a:rPr lang="en-US" sz="1800" i="1" dirty="0">
                <a:latin typeface="Times New Roman" panose="02020603050405020304" pitchFamily="18" charset="0"/>
                <a:cs typeface="Times New Roman" panose="02020603050405020304" pitchFamily="18" charset="0"/>
              </a:rPr>
              <a:t>trusts</a:t>
            </a:r>
            <a:r>
              <a:rPr lang="en-US" sz="1800" dirty="0">
                <a:latin typeface="Times New Roman" panose="02020603050405020304" pitchFamily="18" charset="0"/>
                <a:cs typeface="Times New Roman" panose="02020603050405020304" pitchFamily="18" charset="0"/>
              </a:rPr>
              <a:t> that its neighbors provide valid information.</a:t>
            </a:r>
          </a:p>
          <a:p>
            <a:pPr marL="0" indent="0">
              <a:buNone/>
            </a:pPr>
            <a:r>
              <a:rPr lang="en-US" sz="1800" dirty="0">
                <a:latin typeface="Times New Roman" panose="02020603050405020304" pitchFamily="18" charset="0"/>
                <a:cs typeface="Times New Roman" panose="02020603050405020304" pitchFamily="18" charset="0"/>
              </a:rPr>
              <a:t>Decisions are </a:t>
            </a:r>
            <a:r>
              <a:rPr lang="en-US" sz="1800" b="1" dirty="0">
                <a:latin typeface="Times New Roman" panose="02020603050405020304" pitchFamily="18" charset="0"/>
                <a:cs typeface="Times New Roman" panose="02020603050405020304" pitchFamily="18" charset="0"/>
              </a:rPr>
              <a:t>local</a:t>
            </a:r>
            <a:r>
              <a:rPr lang="en-US" sz="1800" dirty="0">
                <a:latin typeface="Times New Roman" panose="02020603050405020304" pitchFamily="18" charset="0"/>
                <a:cs typeface="Times New Roman" panose="02020603050405020304" pitchFamily="18" charset="0"/>
              </a:rPr>
              <a:t>, not based on global topology.</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buNone/>
            </a:pPr>
            <a:endParaRPr lang="fr-DZ"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339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13E08-9482-19E6-8355-EF5BDE0BBD88}"/>
              </a:ext>
            </a:extLst>
          </p:cNvPr>
          <p:cNvSpPr>
            <a:spLocks noGrp="1"/>
          </p:cNvSpPr>
          <p:nvPr>
            <p:ph type="title"/>
          </p:nvPr>
        </p:nvSpPr>
        <p:spPr>
          <a:xfrm>
            <a:off x="1593436" y="-43085"/>
            <a:ext cx="9782801" cy="1239837"/>
          </a:xfrm>
        </p:spPr>
        <p:txBody>
          <a:bodyPr/>
          <a:lstStyle/>
          <a:p>
            <a:r>
              <a:rPr lang="en-US" b="1" dirty="0">
                <a:latin typeface="Times New Roman" panose="02020603050405020304" pitchFamily="18" charset="0"/>
                <a:cs typeface="Times New Roman" panose="02020603050405020304" pitchFamily="18" charset="0"/>
              </a:rPr>
              <a:t>How Distance Vector Works</a:t>
            </a:r>
            <a:endParaRPr lang="fr-DZ" dirty="0"/>
          </a:p>
        </p:txBody>
      </p:sp>
      <p:sp>
        <p:nvSpPr>
          <p:cNvPr id="5" name="TextBox 4">
            <a:extLst>
              <a:ext uri="{FF2B5EF4-FFF2-40B4-BE49-F238E27FC236}">
                <a16:creationId xmlns:a16="http://schemas.microsoft.com/office/drawing/2014/main" id="{9A320090-B486-CC74-9D41-F11F834ADCD5}"/>
              </a:ext>
            </a:extLst>
          </p:cNvPr>
          <p:cNvSpPr txBox="1"/>
          <p:nvPr/>
        </p:nvSpPr>
        <p:spPr>
          <a:xfrm>
            <a:off x="1593436" y="1196752"/>
            <a:ext cx="10261616" cy="563231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 Periodic Updates</a:t>
            </a:r>
          </a:p>
          <a:p>
            <a:r>
              <a:rPr lang="en-US" dirty="0">
                <a:latin typeface="Times New Roman" panose="02020603050405020304" pitchFamily="18" charset="0"/>
                <a:cs typeface="Times New Roman" panose="02020603050405020304" pitchFamily="18" charset="0"/>
              </a:rPr>
              <a:t>Routers send their </a:t>
            </a:r>
            <a:r>
              <a:rPr lang="en-US" b="1" dirty="0">
                <a:latin typeface="Times New Roman" panose="02020603050405020304" pitchFamily="18" charset="0"/>
                <a:cs typeface="Times New Roman" panose="02020603050405020304" pitchFamily="18" charset="0"/>
              </a:rPr>
              <a:t>entire routing table</a:t>
            </a:r>
            <a:r>
              <a:rPr lang="en-US" dirty="0">
                <a:latin typeface="Times New Roman" panose="02020603050405020304" pitchFamily="18" charset="0"/>
                <a:cs typeface="Times New Roman" panose="02020603050405020304" pitchFamily="18" charset="0"/>
              </a:rPr>
              <a:t> to neighbors at fixed intervals (e.g., RIP = every 30 seconds).</a:t>
            </a:r>
          </a:p>
          <a:p>
            <a:r>
              <a:rPr lang="en-US" b="1" dirty="0">
                <a:latin typeface="Times New Roman" panose="02020603050405020304" pitchFamily="18" charset="0"/>
                <a:cs typeface="Times New Roman" panose="02020603050405020304" pitchFamily="18" charset="0"/>
              </a:rPr>
              <a:t>2. Routing Table Exchange</a:t>
            </a:r>
          </a:p>
          <a:p>
            <a:r>
              <a:rPr lang="en-US" dirty="0">
                <a:latin typeface="Times New Roman" panose="02020603050405020304" pitchFamily="18" charset="0"/>
                <a:cs typeface="Times New Roman" panose="02020603050405020304" pitchFamily="18" charset="0"/>
              </a:rPr>
              <a:t>Each update includes:</a:t>
            </a:r>
          </a:p>
          <a:p>
            <a:r>
              <a:rPr lang="en-US" dirty="0">
                <a:latin typeface="Times New Roman" panose="02020603050405020304" pitchFamily="18" charset="0"/>
                <a:cs typeface="Times New Roman" panose="02020603050405020304" pitchFamily="18" charset="0"/>
              </a:rPr>
              <a:t>Destination network</a:t>
            </a:r>
          </a:p>
          <a:p>
            <a:r>
              <a:rPr lang="en-US" dirty="0">
                <a:latin typeface="Times New Roman" panose="02020603050405020304" pitchFamily="18" charset="0"/>
                <a:cs typeface="Times New Roman" panose="02020603050405020304" pitchFamily="18" charset="0"/>
              </a:rPr>
              <a:t>Metric to reach it</a:t>
            </a:r>
          </a:p>
          <a:p>
            <a:r>
              <a:rPr lang="en-US" dirty="0">
                <a:latin typeface="Times New Roman" panose="02020603050405020304" pitchFamily="18" charset="0"/>
                <a:cs typeface="Times New Roman" panose="02020603050405020304" pitchFamily="18" charset="0"/>
              </a:rPr>
              <a:t>Next-hop address</a:t>
            </a:r>
          </a:p>
          <a:p>
            <a:r>
              <a:rPr lang="en-US" b="1" dirty="0">
                <a:latin typeface="Times New Roman" panose="02020603050405020304" pitchFamily="18" charset="0"/>
                <a:cs typeface="Times New Roman" panose="02020603050405020304" pitchFamily="18" charset="0"/>
              </a:rPr>
              <a:t>3. Update Logic</a:t>
            </a:r>
          </a:p>
          <a:p>
            <a:r>
              <a:rPr lang="en-US" dirty="0">
                <a:latin typeface="Times New Roman" panose="02020603050405020304" pitchFamily="18" charset="0"/>
                <a:cs typeface="Times New Roman" panose="02020603050405020304" pitchFamily="18" charset="0"/>
              </a:rPr>
              <a:t>When a router receives an update:</a:t>
            </a:r>
          </a:p>
          <a:p>
            <a:r>
              <a:rPr lang="en-US" dirty="0">
                <a:latin typeface="Times New Roman" panose="02020603050405020304" pitchFamily="18" charset="0"/>
                <a:cs typeface="Times New Roman" panose="02020603050405020304" pitchFamily="18" charset="0"/>
              </a:rPr>
              <a:t>It increments the metric</a:t>
            </a:r>
          </a:p>
          <a:p>
            <a:r>
              <a:rPr lang="en-US" dirty="0">
                <a:latin typeface="Times New Roman" panose="02020603050405020304" pitchFamily="18" charset="0"/>
                <a:cs typeface="Times New Roman" panose="02020603050405020304" pitchFamily="18" charset="0"/>
              </a:rPr>
              <a:t>Compares it to the existing route</a:t>
            </a:r>
          </a:p>
          <a:p>
            <a:r>
              <a:rPr lang="en-US" dirty="0">
                <a:latin typeface="Times New Roman" panose="02020603050405020304" pitchFamily="18" charset="0"/>
                <a:cs typeface="Times New Roman" panose="02020603050405020304" pitchFamily="18" charset="0"/>
              </a:rPr>
              <a:t>Chooses the route with the shortest metric</a:t>
            </a:r>
          </a:p>
          <a:p>
            <a:r>
              <a:rPr lang="en-US" dirty="0">
                <a:latin typeface="Times New Roman" panose="02020603050405020304" pitchFamily="18" charset="0"/>
                <a:cs typeface="Times New Roman" panose="02020603050405020304" pitchFamily="18" charset="0"/>
              </a:rPr>
              <a:t>Updates its table if the new route is better</a:t>
            </a:r>
          </a:p>
          <a:p>
            <a:r>
              <a:rPr lang="en-US" b="1" dirty="0">
                <a:latin typeface="Times New Roman" panose="02020603050405020304" pitchFamily="18" charset="0"/>
                <a:cs typeface="Times New Roman" panose="02020603050405020304" pitchFamily="18" charset="0"/>
              </a:rPr>
              <a:t>4. Limited Visibility</a:t>
            </a:r>
          </a:p>
          <a:p>
            <a:r>
              <a:rPr lang="en-US" dirty="0">
                <a:latin typeface="Times New Roman" panose="02020603050405020304" pitchFamily="18" charset="0"/>
                <a:cs typeface="Times New Roman" panose="02020603050405020304" pitchFamily="18" charset="0"/>
              </a:rPr>
              <a:t>Routers know:</a:t>
            </a:r>
          </a:p>
          <a:p>
            <a:r>
              <a:rPr lang="en-US" dirty="0">
                <a:latin typeface="Times New Roman" panose="02020603050405020304" pitchFamily="18" charset="0"/>
                <a:cs typeface="Times New Roman" panose="02020603050405020304" pitchFamily="18" charset="0"/>
              </a:rPr>
              <a:t>Only the </a:t>
            </a:r>
            <a:r>
              <a:rPr lang="en-US" b="1" dirty="0">
                <a:latin typeface="Times New Roman" panose="02020603050405020304" pitchFamily="18" charset="0"/>
                <a:cs typeface="Times New Roman" panose="02020603050405020304" pitchFamily="18" charset="0"/>
              </a:rPr>
              <a:t>best next hop</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Not the full path</a:t>
            </a:r>
          </a:p>
          <a:p>
            <a:r>
              <a:rPr lang="en-US" dirty="0">
                <a:latin typeface="Times New Roman" panose="02020603050405020304" pitchFamily="18" charset="0"/>
                <a:cs typeface="Times New Roman" panose="02020603050405020304" pitchFamily="18" charset="0"/>
              </a:rPr>
              <a:t>Not the entire network map</a:t>
            </a:r>
          </a:p>
          <a:p>
            <a:r>
              <a:rPr lang="en-US" dirty="0">
                <a:latin typeface="Times New Roman" panose="02020603050405020304" pitchFamily="18" charset="0"/>
                <a:cs typeface="Times New Roman" panose="02020603050405020304" pitchFamily="18" charset="0"/>
              </a:rPr>
              <a:t>This is why DV converges slowly and is prone to routing loops.</a:t>
            </a:r>
          </a:p>
          <a:p>
            <a:endParaRPr lang="fr-DZ" dirty="0">
              <a:latin typeface="Times New Roman" panose="02020603050405020304" pitchFamily="18" charset="0"/>
              <a:cs typeface="Times New Roman" panose="02020603050405020304" pitchFamily="18" charset="0"/>
            </a:endParaRPr>
          </a:p>
        </p:txBody>
      </p:sp>
      <p:pic>
        <p:nvPicPr>
          <p:cNvPr id="1026" name="Picture 2" descr="Sources of Routing Information | Routing Technologies and Bandwidth  Management | Pearson IT Certification">
            <a:extLst>
              <a:ext uri="{FF2B5EF4-FFF2-40B4-BE49-F238E27FC236}">
                <a16:creationId xmlns:a16="http://schemas.microsoft.com/office/drawing/2014/main" id="{2193A24E-70EE-9838-C7E9-06372158B6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4412" y="2060848"/>
            <a:ext cx="5057300" cy="2894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4575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8E439-C0ED-504D-2387-899F3EB8D56F}"/>
              </a:ext>
            </a:extLst>
          </p:cNvPr>
          <p:cNvSpPr>
            <a:spLocks noGrp="1"/>
          </p:cNvSpPr>
          <p:nvPr>
            <p:ph type="title"/>
          </p:nvPr>
        </p:nvSpPr>
        <p:spPr>
          <a:xfrm>
            <a:off x="1593436" y="-315416"/>
            <a:ext cx="9782801" cy="1239837"/>
          </a:xfrm>
        </p:spPr>
        <p:txBody>
          <a:bodyPr/>
          <a:lstStyle/>
          <a:p>
            <a:pPr algn="ctr"/>
            <a:r>
              <a:rPr lang="en-US" b="1" dirty="0">
                <a:latin typeface="Times New Roman" panose="02020603050405020304" pitchFamily="18" charset="0"/>
                <a:cs typeface="Times New Roman" panose="02020603050405020304" pitchFamily="18" charset="0"/>
              </a:rPr>
              <a:t>DV Characteristics</a:t>
            </a:r>
            <a:endParaRPr lang="fr-DZ"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608B9FC-E21C-A000-3E45-F43C55620AAF}"/>
              </a:ext>
            </a:extLst>
          </p:cNvPr>
          <p:cNvSpPr txBox="1"/>
          <p:nvPr/>
        </p:nvSpPr>
        <p:spPr>
          <a:xfrm>
            <a:off x="1413892" y="1052736"/>
            <a:ext cx="5832648" cy="535531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No Topology Awareness</a:t>
            </a:r>
          </a:p>
          <a:p>
            <a:r>
              <a:rPr lang="en-US" dirty="0">
                <a:latin typeface="Times New Roman" panose="02020603050405020304" pitchFamily="18" charset="0"/>
                <a:cs typeface="Times New Roman" panose="02020603050405020304" pitchFamily="18" charset="0"/>
              </a:rPr>
              <a:t>Routers know only:</a:t>
            </a:r>
          </a:p>
          <a:p>
            <a:r>
              <a:rPr lang="en-US" dirty="0">
                <a:latin typeface="Times New Roman" panose="02020603050405020304" pitchFamily="18" charset="0"/>
                <a:cs typeface="Times New Roman" panose="02020603050405020304" pitchFamily="18" charset="0"/>
              </a:rPr>
              <a:t>Destination → Metric → Next Hop</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They have </a:t>
            </a:r>
            <a:r>
              <a:rPr lang="en-US" i="1" dirty="0">
                <a:latin typeface="Times New Roman" panose="02020603050405020304" pitchFamily="18" charset="0"/>
                <a:cs typeface="Times New Roman" panose="02020603050405020304" pitchFamily="18" charset="0"/>
              </a:rPr>
              <a:t>no</a:t>
            </a:r>
            <a:r>
              <a:rPr lang="en-US" dirty="0">
                <a:latin typeface="Times New Roman" panose="02020603050405020304" pitchFamily="18" charset="0"/>
                <a:cs typeface="Times New Roman" panose="02020603050405020304" pitchFamily="18" charset="0"/>
              </a:rPr>
              <a:t> concept of links or full network map.</a:t>
            </a:r>
          </a:p>
          <a:p>
            <a:r>
              <a:rPr lang="en-US" b="1" dirty="0">
                <a:latin typeface="Times New Roman" panose="02020603050405020304" pitchFamily="18" charset="0"/>
                <a:cs typeface="Times New Roman" panose="02020603050405020304" pitchFamily="18" charset="0"/>
              </a:rPr>
              <a:t>Simple Implementation</a:t>
            </a:r>
          </a:p>
          <a:p>
            <a:r>
              <a:rPr lang="en-US" dirty="0">
                <a:latin typeface="Times New Roman" panose="02020603050405020304" pitchFamily="18" charset="0"/>
                <a:cs typeface="Times New Roman" panose="02020603050405020304" pitchFamily="18" charset="0"/>
              </a:rPr>
              <a:t>Very low CPU and memory requirements:</a:t>
            </a:r>
          </a:p>
          <a:p>
            <a:r>
              <a:rPr lang="en-US" dirty="0">
                <a:latin typeface="Times New Roman" panose="02020603050405020304" pitchFamily="18" charset="0"/>
                <a:cs typeface="Times New Roman" panose="02020603050405020304" pitchFamily="18" charset="0"/>
              </a:rPr>
              <a:t>Suitable for small or low-power routers.</a:t>
            </a:r>
          </a:p>
          <a:p>
            <a:r>
              <a:rPr lang="en-US" b="1" dirty="0">
                <a:latin typeface="Times New Roman" panose="02020603050405020304" pitchFamily="18" charset="0"/>
                <a:cs typeface="Times New Roman" panose="02020603050405020304" pitchFamily="18" charset="0"/>
              </a:rPr>
              <a:t>Periodic &amp; Full Table Updates</a:t>
            </a:r>
          </a:p>
          <a:p>
            <a:r>
              <a:rPr lang="en-US" dirty="0">
                <a:latin typeface="Times New Roman" panose="02020603050405020304" pitchFamily="18" charset="0"/>
                <a:cs typeface="Times New Roman" panose="02020603050405020304" pitchFamily="18" charset="0"/>
              </a:rPr>
              <a:t>Even if nothing changes, routers keep broadcasting all known routes.</a:t>
            </a:r>
          </a:p>
          <a:p>
            <a:r>
              <a:rPr lang="en-US" b="1" dirty="0">
                <a:latin typeface="Times New Roman" panose="02020603050405020304" pitchFamily="18" charset="0"/>
                <a:cs typeface="Times New Roman" panose="02020603050405020304" pitchFamily="18" charset="0"/>
              </a:rPr>
              <a:t>Slow Convergence</a:t>
            </a:r>
          </a:p>
          <a:p>
            <a:r>
              <a:rPr lang="en-US" dirty="0">
                <a:latin typeface="Times New Roman" panose="02020603050405020304" pitchFamily="18" charset="0"/>
                <a:cs typeface="Times New Roman" panose="02020603050405020304" pitchFamily="18" charset="0"/>
              </a:rPr>
              <a:t>A change (link failure, new route, metric update) requires several update cycles to propagate.</a:t>
            </a:r>
          </a:p>
          <a:p>
            <a:r>
              <a:rPr lang="en-US" b="1" dirty="0">
                <a:latin typeface="Times New Roman" panose="02020603050405020304" pitchFamily="18" charset="0"/>
                <a:cs typeface="Times New Roman" panose="02020603050405020304" pitchFamily="18" charset="0"/>
              </a:rPr>
              <a:t>Loop Vulnerability</a:t>
            </a:r>
          </a:p>
          <a:p>
            <a:r>
              <a:rPr lang="en-US" dirty="0">
                <a:latin typeface="Times New Roman" panose="02020603050405020304" pitchFamily="18" charset="0"/>
                <a:cs typeface="Times New Roman" panose="02020603050405020304" pitchFamily="18" charset="0"/>
              </a:rPr>
              <a:t>DV protocols naturally risk:</a:t>
            </a:r>
          </a:p>
          <a:p>
            <a:r>
              <a:rPr lang="en-US" dirty="0">
                <a:latin typeface="Times New Roman" panose="02020603050405020304" pitchFamily="18" charset="0"/>
                <a:cs typeface="Times New Roman" panose="02020603050405020304" pitchFamily="18" charset="0"/>
              </a:rPr>
              <a:t>Counting to infinity</a:t>
            </a:r>
          </a:p>
          <a:p>
            <a:r>
              <a:rPr lang="en-US" dirty="0">
                <a:latin typeface="Times New Roman" panose="02020603050405020304" pitchFamily="18" charset="0"/>
                <a:cs typeface="Times New Roman" panose="02020603050405020304" pitchFamily="18" charset="0"/>
              </a:rPr>
              <a:t>Temporary routing loops</a:t>
            </a:r>
          </a:p>
          <a:p>
            <a:r>
              <a:rPr lang="en-US" dirty="0">
                <a:latin typeface="Times New Roman" panose="02020603050405020304" pitchFamily="18" charset="0"/>
                <a:cs typeface="Times New Roman" panose="02020603050405020304" pitchFamily="18" charset="0"/>
              </a:rPr>
              <a:t>Inconsistent routing tables during changes</a:t>
            </a:r>
          </a:p>
          <a:p>
            <a:endParaRPr lang="fr-DZ" dirty="0">
              <a:latin typeface="Times New Roman" panose="02020603050405020304" pitchFamily="18" charset="0"/>
              <a:cs typeface="Times New Roman" panose="02020603050405020304" pitchFamily="18" charset="0"/>
            </a:endParaRPr>
          </a:p>
        </p:txBody>
      </p:sp>
      <p:pic>
        <p:nvPicPr>
          <p:cNvPr id="2050" name="Picture 2" descr="Distance Vector Routing Explained">
            <a:extLst>
              <a:ext uri="{FF2B5EF4-FFF2-40B4-BE49-F238E27FC236}">
                <a16:creationId xmlns:a16="http://schemas.microsoft.com/office/drawing/2014/main" id="{4616C766-703A-4642-2264-5FDB1F4F57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8548" y="1844824"/>
            <a:ext cx="4353372" cy="3318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2645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241FF-0766-EC18-9037-F13F407BD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B0B4A1-F161-4634-BAE8-A604CB8D33B4}"/>
              </a:ext>
            </a:extLst>
          </p:cNvPr>
          <p:cNvSpPr>
            <a:spLocks noGrp="1"/>
          </p:cNvSpPr>
          <p:nvPr>
            <p:ph type="title"/>
          </p:nvPr>
        </p:nvSpPr>
        <p:spPr/>
        <p:txBody>
          <a:bodyPr/>
          <a:lstStyle/>
          <a:p>
            <a:pPr algn="ctr"/>
            <a:r>
              <a:rPr lang="fr-FR" b="1" dirty="0" err="1">
                <a:latin typeface="Times New Roman" panose="02020603050405020304" pitchFamily="18" charset="0"/>
                <a:cs typeface="Times New Roman" panose="02020603050405020304" pitchFamily="18" charset="0"/>
              </a:rPr>
              <a:t>Routing</a:t>
            </a:r>
            <a:r>
              <a:rPr lang="fr-FR" b="1" dirty="0">
                <a:latin typeface="Times New Roman" panose="02020603050405020304" pitchFamily="18" charset="0"/>
                <a:cs typeface="Times New Roman" panose="02020603050405020304" pitchFamily="18" charset="0"/>
              </a:rPr>
              <a:t> Information Protocol (</a:t>
            </a:r>
            <a:r>
              <a:rPr lang="en-US" b="1" dirty="0">
                <a:latin typeface="Times New Roman" panose="02020603050405020304" pitchFamily="18" charset="0"/>
                <a:cs typeface="Times New Roman" panose="02020603050405020304" pitchFamily="18" charset="0"/>
              </a:rPr>
              <a:t>RIP) </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8D928B36-CB9A-B8A9-C117-C6A8949EBE68}"/>
              </a:ext>
            </a:extLst>
          </p:cNvPr>
          <p:cNvSpPr>
            <a:spLocks noGrp="1"/>
          </p:cNvSpPr>
          <p:nvPr>
            <p:ph sz="half" idx="2"/>
          </p:nvPr>
        </p:nvSpPr>
        <p:spPr>
          <a:xfrm>
            <a:off x="1269876" y="980728"/>
            <a:ext cx="6192688" cy="5768752"/>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RIP is one of the oldest distance vector protocols, originally defined in RFC 1058 (RIP v1) and later improved in RFC 2453 (RIP v2). It is widely used in small to medium-sized networks.</a:t>
            </a:r>
          </a:p>
          <a:p>
            <a:pPr marL="0" indent="0" algn="just">
              <a:buNone/>
            </a:pPr>
            <a:r>
              <a:rPr lang="en-US" sz="1800" b="1" dirty="0">
                <a:latin typeface="Times New Roman" panose="02020603050405020304" pitchFamily="18" charset="0"/>
                <a:cs typeface="Times New Roman" panose="02020603050405020304" pitchFamily="18" charset="0"/>
              </a:rPr>
              <a:t>Key Characteristics: </a:t>
            </a:r>
            <a:r>
              <a:rPr lang="en-US" sz="1800" dirty="0">
                <a:latin typeface="Times New Roman" panose="02020603050405020304" pitchFamily="18" charset="0"/>
                <a:cs typeface="Times New Roman" panose="02020603050405020304" pitchFamily="18" charset="0"/>
              </a:rPr>
              <a:t>Metric: Hop count, Maximum hop count: 15 (16 = unreachable), Update interval: 30 seconds, Algorithm: Bellman–Ford, Protocol type: DV</a:t>
            </a:r>
          </a:p>
          <a:p>
            <a:pPr marL="0" indent="0" algn="just">
              <a:buNone/>
            </a:pPr>
            <a:r>
              <a:rPr lang="en-US" sz="1800" b="1" dirty="0">
                <a:latin typeface="Times New Roman" panose="02020603050405020304" pitchFamily="18" charset="0"/>
                <a:cs typeface="Times New Roman" panose="02020603050405020304" pitchFamily="18" charset="0"/>
              </a:rPr>
              <a:t>Operation</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RIP routers periodically broadcast their entire routing table to all neighbors. Each entry includes a destination network and hop count. Upon receiving neighbor routes, the router:</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Adds 1 hop to each received metric.</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Selects the route with the lowest hop count.</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Updates its routing table.</a:t>
            </a:r>
          </a:p>
          <a:p>
            <a:pPr marL="0" indent="0" algn="just">
              <a:buNone/>
            </a:pPr>
            <a:endParaRPr lang="en-US" dirty="0"/>
          </a:p>
          <a:p>
            <a:endParaRPr lang="fr-DZ" dirty="0"/>
          </a:p>
        </p:txBody>
      </p:sp>
      <p:pic>
        <p:nvPicPr>
          <p:cNvPr id="1026" name="Picture 2" descr="Routing Information Protocol (RIP) ⋆ | Basic Routing Protocol RIPv2">
            <a:extLst>
              <a:ext uri="{FF2B5EF4-FFF2-40B4-BE49-F238E27FC236}">
                <a16:creationId xmlns:a16="http://schemas.microsoft.com/office/drawing/2014/main" id="{25B07FAC-F34E-626F-E2DC-5D199A117D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2092" y="1916833"/>
            <a:ext cx="4234426" cy="3096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22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D777690-86BC-D2D3-5493-032EAEB03A3B}"/>
              </a:ext>
            </a:extLst>
          </p:cNvPr>
          <p:cNvSpPr txBox="1"/>
          <p:nvPr/>
        </p:nvSpPr>
        <p:spPr>
          <a:xfrm>
            <a:off x="1751490" y="1284461"/>
            <a:ext cx="3634328" cy="1200329"/>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Very simple to configure</a:t>
            </a:r>
          </a:p>
          <a:p>
            <a:r>
              <a:rPr lang="en-US" dirty="0">
                <a:latin typeface="Times New Roman" panose="02020603050405020304" pitchFamily="18" charset="0"/>
                <a:cs typeface="Times New Roman" panose="02020603050405020304" pitchFamily="18" charset="0"/>
              </a:rPr>
              <a:t>Low computational and memory cost</a:t>
            </a:r>
          </a:p>
          <a:p>
            <a:r>
              <a:rPr lang="en-US" dirty="0">
                <a:latin typeface="Times New Roman" panose="02020603050405020304" pitchFamily="18" charset="0"/>
                <a:cs typeface="Times New Roman" panose="02020603050405020304" pitchFamily="18" charset="0"/>
              </a:rPr>
              <a:t>Suitable for small networks</a:t>
            </a:r>
          </a:p>
        </p:txBody>
      </p:sp>
      <p:sp>
        <p:nvSpPr>
          <p:cNvPr id="11" name="TextBox 10">
            <a:extLst>
              <a:ext uri="{FF2B5EF4-FFF2-40B4-BE49-F238E27FC236}">
                <a16:creationId xmlns:a16="http://schemas.microsoft.com/office/drawing/2014/main" id="{F70C163D-0571-4311-3599-AF9279539BFC}"/>
              </a:ext>
            </a:extLst>
          </p:cNvPr>
          <p:cNvSpPr txBox="1"/>
          <p:nvPr/>
        </p:nvSpPr>
        <p:spPr>
          <a:xfrm>
            <a:off x="1773932" y="2522807"/>
            <a:ext cx="3589444" cy="2031325"/>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Limitations</a:t>
            </a:r>
          </a:p>
          <a:p>
            <a:r>
              <a:rPr lang="en-US" dirty="0">
                <a:latin typeface="Times New Roman" panose="02020603050405020304" pitchFamily="18" charset="0"/>
                <a:cs typeface="Times New Roman" panose="02020603050405020304" pitchFamily="18" charset="0"/>
              </a:rPr>
              <a:t>Slow convergence</a:t>
            </a:r>
          </a:p>
          <a:p>
            <a:r>
              <a:rPr lang="en-US" dirty="0">
                <a:latin typeface="Times New Roman" panose="02020603050405020304" pitchFamily="18" charset="0"/>
                <a:cs typeface="Times New Roman" panose="02020603050405020304" pitchFamily="18" charset="0"/>
              </a:rPr>
              <a:t>Susceptible to routing loops</a:t>
            </a:r>
          </a:p>
          <a:p>
            <a:r>
              <a:rPr lang="en-US" dirty="0">
                <a:latin typeface="Times New Roman" panose="02020603050405020304" pitchFamily="18" charset="0"/>
                <a:cs typeface="Times New Roman" panose="02020603050405020304" pitchFamily="18" charset="0"/>
              </a:rPr>
              <a:t>Hop-count metric is too simplistic</a:t>
            </a:r>
          </a:p>
          <a:p>
            <a:r>
              <a:rPr lang="en-US" dirty="0">
                <a:latin typeface="Times New Roman" panose="02020603050405020304" pitchFamily="18" charset="0"/>
                <a:cs typeface="Times New Roman" panose="02020603050405020304" pitchFamily="18" charset="0"/>
              </a:rPr>
              <a:t>Poor scalability</a:t>
            </a:r>
          </a:p>
          <a:p>
            <a:r>
              <a:rPr lang="en-US" dirty="0">
                <a:latin typeface="Times New Roman" panose="02020603050405020304" pitchFamily="18" charset="0"/>
                <a:cs typeface="Times New Roman" panose="02020603050405020304" pitchFamily="18" charset="0"/>
              </a:rPr>
              <a:t>Does not consider bandwidth or load</a:t>
            </a:r>
          </a:p>
          <a:p>
            <a:endParaRPr lang="fr-DZ" dirty="0">
              <a:latin typeface="Times New Roman" panose="02020603050405020304" pitchFamily="18" charset="0"/>
              <a:cs typeface="Times New Roman" panose="02020603050405020304" pitchFamily="18" charset="0"/>
            </a:endParaRPr>
          </a:p>
        </p:txBody>
      </p:sp>
      <p:pic>
        <p:nvPicPr>
          <p:cNvPr id="12" name="Picture 2" descr="Routing Information Protocol (RIP) ⋆ | Basic Routing Protocol RIPv2">
            <a:extLst>
              <a:ext uri="{FF2B5EF4-FFF2-40B4-BE49-F238E27FC236}">
                <a16:creationId xmlns:a16="http://schemas.microsoft.com/office/drawing/2014/main" id="{BEEA7F7B-274C-5666-E287-F77381516D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4572" y="2996952"/>
            <a:ext cx="4234426" cy="3096344"/>
          </a:xfrm>
          <a:prstGeom prst="rect">
            <a:avLst/>
          </a:prstGeom>
          <a:noFill/>
          <a:extLst>
            <a:ext uri="{909E8E84-426E-40DD-AFC4-6F175D3DCCD1}">
              <a14:hiddenFill xmlns:a14="http://schemas.microsoft.com/office/drawing/2010/main">
                <a:solidFill>
                  <a:srgbClr val="FFFFFF"/>
                </a:solidFill>
              </a14:hiddenFill>
            </a:ext>
          </a:extLst>
        </p:spPr>
      </p:pic>
      <p:sp>
        <p:nvSpPr>
          <p:cNvPr id="15" name="Title 1">
            <a:extLst>
              <a:ext uri="{FF2B5EF4-FFF2-40B4-BE49-F238E27FC236}">
                <a16:creationId xmlns:a16="http://schemas.microsoft.com/office/drawing/2014/main" id="{96DD74FB-E38B-4500-EA7D-4D714468C7E3}"/>
              </a:ext>
            </a:extLst>
          </p:cNvPr>
          <p:cNvSpPr>
            <a:spLocks noGrp="1"/>
          </p:cNvSpPr>
          <p:nvPr>
            <p:ph type="title"/>
          </p:nvPr>
        </p:nvSpPr>
        <p:spPr>
          <a:xfrm>
            <a:off x="1593436" y="44624"/>
            <a:ext cx="9782801" cy="1239837"/>
          </a:xfrm>
        </p:spPr>
        <p:txBody>
          <a:bodyPr/>
          <a:lstStyle/>
          <a:p>
            <a:pPr algn="ctr"/>
            <a:r>
              <a:rPr lang="fr-FR" b="1" dirty="0" err="1">
                <a:latin typeface="Times New Roman" panose="02020603050405020304" pitchFamily="18" charset="0"/>
                <a:cs typeface="Times New Roman" panose="02020603050405020304" pitchFamily="18" charset="0"/>
              </a:rPr>
              <a:t>Routing</a:t>
            </a:r>
            <a:r>
              <a:rPr lang="fr-FR" b="1" dirty="0">
                <a:latin typeface="Times New Roman" panose="02020603050405020304" pitchFamily="18" charset="0"/>
                <a:cs typeface="Times New Roman" panose="02020603050405020304" pitchFamily="18" charset="0"/>
              </a:rPr>
              <a:t> Information Protocol (</a:t>
            </a:r>
            <a:r>
              <a:rPr lang="en-US" b="1" dirty="0">
                <a:latin typeface="Times New Roman" panose="02020603050405020304" pitchFamily="18" charset="0"/>
                <a:cs typeface="Times New Roman" panose="02020603050405020304" pitchFamily="18" charset="0"/>
              </a:rPr>
              <a:t>RIP) </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3726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65857C-EE3F-58D3-C7AD-00365FCC6CF0}"/>
              </a:ext>
            </a:extLst>
          </p:cNvPr>
          <p:cNvSpPr txBox="1"/>
          <p:nvPr/>
        </p:nvSpPr>
        <p:spPr>
          <a:xfrm>
            <a:off x="1197869" y="836712"/>
            <a:ext cx="10585176" cy="4801314"/>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Overview</a:t>
            </a:r>
          </a:p>
          <a:p>
            <a:pPr algn="just"/>
            <a:r>
              <a:rPr lang="en-US" dirty="0">
                <a:latin typeface="Times New Roman" panose="02020603050405020304" pitchFamily="18" charset="0"/>
                <a:cs typeface="Times New Roman" panose="02020603050405020304" pitchFamily="18" charset="0"/>
              </a:rPr>
              <a:t>IGRP was developed by Cisco as an improvement over RIP. Although based on distance vector principles, it uses a composite metric for better routing decisions.</a:t>
            </a:r>
          </a:p>
          <a:p>
            <a:pPr algn="just"/>
            <a:r>
              <a:rPr lang="en-US" b="1" dirty="0">
                <a:latin typeface="Times New Roman" panose="02020603050405020304" pitchFamily="18" charset="0"/>
                <a:cs typeface="Times New Roman" panose="02020603050405020304" pitchFamily="18" charset="0"/>
              </a:rPr>
              <a:t>Key Characteristics</a:t>
            </a:r>
          </a:p>
          <a:p>
            <a:pPr algn="just"/>
            <a:r>
              <a:rPr lang="en-US" b="1" dirty="0">
                <a:latin typeface="Times New Roman" panose="02020603050405020304" pitchFamily="18" charset="0"/>
                <a:cs typeface="Times New Roman" panose="02020603050405020304" pitchFamily="18" charset="0"/>
              </a:rPr>
              <a:t>Metric:</a:t>
            </a:r>
            <a:r>
              <a:rPr lang="en-US" dirty="0">
                <a:latin typeface="Times New Roman" panose="02020603050405020304" pitchFamily="18" charset="0"/>
                <a:cs typeface="Times New Roman" panose="02020603050405020304" pitchFamily="18" charset="0"/>
              </a:rPr>
              <a:t> Composite (bandwidth, delay), </a:t>
            </a:r>
            <a:r>
              <a:rPr lang="en-US" b="1" dirty="0">
                <a:latin typeface="Times New Roman" panose="02020603050405020304" pitchFamily="18" charset="0"/>
                <a:cs typeface="Times New Roman" panose="02020603050405020304" pitchFamily="18" charset="0"/>
              </a:rPr>
              <a:t>Maximum hop count:</a:t>
            </a:r>
            <a:r>
              <a:rPr lang="en-US" dirty="0">
                <a:latin typeface="Times New Roman" panose="02020603050405020304" pitchFamily="18" charset="0"/>
                <a:cs typeface="Times New Roman" panose="02020603050405020304" pitchFamily="18" charset="0"/>
              </a:rPr>
              <a:t> 255 (default 100)</a:t>
            </a:r>
          </a:p>
          <a:p>
            <a:pPr algn="just"/>
            <a:r>
              <a:rPr lang="en-US" b="1" dirty="0">
                <a:latin typeface="Times New Roman" panose="02020603050405020304" pitchFamily="18" charset="0"/>
                <a:cs typeface="Times New Roman" panose="02020603050405020304" pitchFamily="18" charset="0"/>
              </a:rPr>
              <a:t>Update interval:</a:t>
            </a:r>
            <a:r>
              <a:rPr lang="en-US" dirty="0">
                <a:latin typeface="Times New Roman" panose="02020603050405020304" pitchFamily="18" charset="0"/>
                <a:cs typeface="Times New Roman" panose="02020603050405020304" pitchFamily="18" charset="0"/>
              </a:rPr>
              <a:t> 90 seconds, </a:t>
            </a:r>
            <a:r>
              <a:rPr lang="en-US" b="1" dirty="0">
                <a:latin typeface="Times New Roman" panose="02020603050405020304" pitchFamily="18" charset="0"/>
                <a:cs typeface="Times New Roman" panose="02020603050405020304" pitchFamily="18" charset="0"/>
              </a:rPr>
              <a:t>Algorithm:</a:t>
            </a:r>
            <a:r>
              <a:rPr lang="en-US" dirty="0">
                <a:latin typeface="Times New Roman" panose="02020603050405020304" pitchFamily="18" charset="0"/>
                <a:cs typeface="Times New Roman" panose="02020603050405020304" pitchFamily="18" charset="0"/>
              </a:rPr>
              <a:t> Distance vector with advanced metric weighting</a:t>
            </a:r>
          </a:p>
          <a:p>
            <a:pPr algn="just"/>
            <a:r>
              <a:rPr lang="en-US" b="1" dirty="0">
                <a:latin typeface="Times New Roman" panose="02020603050405020304" pitchFamily="18" charset="0"/>
                <a:cs typeface="Times New Roman" panose="02020603050405020304" pitchFamily="18" charset="0"/>
              </a:rPr>
              <a:t>Composite Metric Formula: </a:t>
            </a:r>
            <a:r>
              <a:rPr lang="en-US" dirty="0">
                <a:latin typeface="Times New Roman" panose="02020603050405020304" pitchFamily="18" charset="0"/>
                <a:cs typeface="Times New Roman" panose="02020603050405020304" pitchFamily="18" charset="0"/>
              </a:rPr>
              <a:t>Bandwidth, Delay</a:t>
            </a:r>
          </a:p>
          <a:p>
            <a:pPr algn="just"/>
            <a:r>
              <a:rPr lang="en-US" dirty="0">
                <a:latin typeface="Times New Roman" panose="02020603050405020304" pitchFamily="18" charset="0"/>
                <a:cs typeface="Times New Roman" panose="02020603050405020304" pitchFamily="18" charset="0"/>
              </a:rPr>
              <a:t>This makes routing decisions much more reflective of real network conditions than RIP.</a:t>
            </a:r>
          </a:p>
          <a:p>
            <a:r>
              <a:rPr lang="en-US" b="1" dirty="0">
                <a:latin typeface="Times New Roman" panose="02020603050405020304" pitchFamily="18" charset="0"/>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Better scalability than RIP</a:t>
            </a:r>
          </a:p>
          <a:p>
            <a:r>
              <a:rPr lang="en-US" dirty="0">
                <a:latin typeface="Times New Roman" panose="02020603050405020304" pitchFamily="18" charset="0"/>
                <a:cs typeface="Times New Roman" panose="02020603050405020304" pitchFamily="18" charset="0"/>
              </a:rPr>
              <a:t>Supports larger networks</a:t>
            </a:r>
          </a:p>
          <a:p>
            <a:r>
              <a:rPr lang="en-US" dirty="0">
                <a:latin typeface="Times New Roman" panose="02020603050405020304" pitchFamily="18" charset="0"/>
                <a:cs typeface="Times New Roman" panose="02020603050405020304" pitchFamily="18" charset="0"/>
              </a:rPr>
              <a:t>More accurate routing via composite metrics</a:t>
            </a:r>
          </a:p>
          <a:p>
            <a:r>
              <a:rPr lang="en-US" b="1" dirty="0">
                <a:latin typeface="Times New Roman" panose="02020603050405020304" pitchFamily="18" charset="0"/>
                <a:cs typeface="Times New Roman" panose="02020603050405020304" pitchFamily="18" charset="0"/>
              </a:rPr>
              <a:t>Limitations</a:t>
            </a:r>
          </a:p>
          <a:p>
            <a:r>
              <a:rPr lang="en-US" dirty="0">
                <a:latin typeface="Times New Roman" panose="02020603050405020304" pitchFamily="18" charset="0"/>
                <a:cs typeface="Times New Roman" panose="02020603050405020304" pitchFamily="18" charset="0"/>
              </a:rPr>
              <a:t>Still suffers from loops and slow convergence</a:t>
            </a:r>
          </a:p>
          <a:p>
            <a:r>
              <a:rPr lang="en-US" dirty="0">
                <a:latin typeface="Times New Roman" panose="02020603050405020304" pitchFamily="18" charset="0"/>
                <a:cs typeface="Times New Roman" panose="02020603050405020304" pitchFamily="18" charset="0"/>
              </a:rPr>
              <a:t>Proprietary (Cisco only)</a:t>
            </a:r>
          </a:p>
          <a:p>
            <a:r>
              <a:rPr lang="en-US" dirty="0">
                <a:latin typeface="Times New Roman" panose="02020603050405020304" pitchFamily="18" charset="0"/>
                <a:cs typeface="Times New Roman" panose="02020603050405020304" pitchFamily="18" charset="0"/>
              </a:rPr>
              <a:t>Eventually replaced by EIGRP</a:t>
            </a:r>
          </a:p>
          <a:p>
            <a:endParaRPr lang="fr-DZ" dirty="0">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63B8219F-8D51-BA1D-D51E-602269F55D37}"/>
              </a:ext>
            </a:extLst>
          </p:cNvPr>
          <p:cNvSpPr>
            <a:spLocks noGrp="1"/>
          </p:cNvSpPr>
          <p:nvPr>
            <p:ph type="title"/>
          </p:nvPr>
        </p:nvSpPr>
        <p:spPr>
          <a:xfrm>
            <a:off x="-326921" y="-459432"/>
            <a:ext cx="12842665" cy="1239837"/>
          </a:xfrm>
        </p:spPr>
        <p:txBody>
          <a:bodyPr/>
          <a:lstStyle/>
          <a:p>
            <a:pPr algn="ctr"/>
            <a:r>
              <a:rPr lang="en-US" b="1" dirty="0">
                <a:latin typeface="Times New Roman" panose="02020603050405020304" pitchFamily="18" charset="0"/>
                <a:cs typeface="Times New Roman" panose="02020603050405020304" pitchFamily="18" charset="0"/>
              </a:rPr>
              <a:t> Interior Gateway Routing Protocol </a:t>
            </a:r>
            <a:r>
              <a:rPr lang="fr-FR" b="1"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IGRP) </a:t>
            </a:r>
          </a:p>
        </p:txBody>
      </p:sp>
      <p:pic>
        <p:nvPicPr>
          <p:cNvPr id="13" name="Picture 12">
            <a:extLst>
              <a:ext uri="{FF2B5EF4-FFF2-40B4-BE49-F238E27FC236}">
                <a16:creationId xmlns:a16="http://schemas.microsoft.com/office/drawing/2014/main" id="{694C566C-A657-9551-78B1-A09543CF3E53}"/>
              </a:ext>
            </a:extLst>
          </p:cNvPr>
          <p:cNvPicPr>
            <a:picLocks noChangeAspect="1"/>
          </p:cNvPicPr>
          <p:nvPr/>
        </p:nvPicPr>
        <p:blipFill>
          <a:blip r:embed="rId2"/>
          <a:stretch>
            <a:fillRect/>
          </a:stretch>
        </p:blipFill>
        <p:spPr>
          <a:xfrm>
            <a:off x="6238428" y="3212976"/>
            <a:ext cx="4957812" cy="2890893"/>
          </a:xfrm>
          <a:prstGeom prst="rect">
            <a:avLst/>
          </a:prstGeom>
        </p:spPr>
      </p:pic>
    </p:spTree>
    <p:extLst>
      <p:ext uri="{BB962C8B-B14F-4D97-AF65-F5344CB8AC3E}">
        <p14:creationId xmlns:p14="http://schemas.microsoft.com/office/powerpoint/2010/main" val="1061194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00BF921-58CE-4D18-FC28-77C74CC1CB7B}"/>
              </a:ext>
            </a:extLst>
          </p:cNvPr>
          <p:cNvSpPr txBox="1"/>
          <p:nvPr/>
        </p:nvSpPr>
        <p:spPr>
          <a:xfrm>
            <a:off x="1269876" y="620688"/>
            <a:ext cx="10369152" cy="590931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Overview</a:t>
            </a:r>
          </a:p>
          <a:p>
            <a:r>
              <a:rPr lang="en-US" dirty="0">
                <a:latin typeface="Times New Roman" panose="02020603050405020304" pitchFamily="18" charset="0"/>
                <a:cs typeface="Times New Roman" panose="02020603050405020304" pitchFamily="18" charset="0"/>
              </a:rPr>
              <a:t>EIGRP is often classified as an </a:t>
            </a:r>
            <a:r>
              <a:rPr lang="en-US" b="1" dirty="0">
                <a:latin typeface="Times New Roman" panose="02020603050405020304" pitchFamily="18" charset="0"/>
                <a:cs typeface="Times New Roman" panose="02020603050405020304" pitchFamily="18" charset="0"/>
              </a:rPr>
              <a:t>advanced distance vector</a:t>
            </a:r>
            <a:r>
              <a:rPr lang="en-US" dirty="0">
                <a:latin typeface="Times New Roman" panose="02020603050405020304" pitchFamily="18" charset="0"/>
                <a:cs typeface="Times New Roman" panose="02020603050405020304" pitchFamily="18" charset="0"/>
              </a:rPr>
              <a:t> or a </a:t>
            </a:r>
            <a:r>
              <a:rPr lang="en-US" b="1" dirty="0">
                <a:latin typeface="Times New Roman" panose="02020603050405020304" pitchFamily="18" charset="0"/>
                <a:cs typeface="Times New Roman" panose="02020603050405020304" pitchFamily="18" charset="0"/>
              </a:rPr>
              <a:t>hybrid routing protocol</a:t>
            </a:r>
            <a:r>
              <a:rPr lang="en-US" dirty="0">
                <a:latin typeface="Times New Roman" panose="02020603050405020304" pitchFamily="18" charset="0"/>
                <a:cs typeface="Times New Roman" panose="02020603050405020304" pitchFamily="18" charset="0"/>
              </a:rPr>
              <a:t> because it incorporates both distance-vector and link-state features. It uses the Diffusing Update Algorithm (DUAL) to guarantee loop-free and fast route convergence.</a:t>
            </a:r>
          </a:p>
          <a:p>
            <a:r>
              <a:rPr lang="en-US" b="1" dirty="0">
                <a:latin typeface="Times New Roman" panose="02020603050405020304" pitchFamily="18" charset="0"/>
                <a:cs typeface="Times New Roman" panose="02020603050405020304" pitchFamily="18" charset="0"/>
              </a:rPr>
              <a:t>Key Characteristics: </a:t>
            </a:r>
            <a:r>
              <a:rPr lang="en-US" b="1" dirty="0" err="1">
                <a:latin typeface="Times New Roman" panose="02020603050405020304" pitchFamily="18" charset="0"/>
                <a:cs typeface="Times New Roman" panose="02020603050405020304" pitchFamily="18" charset="0"/>
              </a:rPr>
              <a:t>Metric:</a:t>
            </a:r>
            <a:r>
              <a:rPr lang="en-US" dirty="0" err="1">
                <a:latin typeface="Times New Roman" panose="02020603050405020304" pitchFamily="18" charset="0"/>
                <a:cs typeface="Times New Roman" panose="02020603050405020304" pitchFamily="18" charset="0"/>
              </a:rPr>
              <a:t>Composite</a:t>
            </a:r>
            <a:r>
              <a:rPr lang="en-US" dirty="0">
                <a:latin typeface="Times New Roman" panose="02020603050405020304" pitchFamily="18" charset="0"/>
                <a:cs typeface="Times New Roman" panose="02020603050405020304" pitchFamily="18" charset="0"/>
              </a:rPr>
              <a:t> (bandwidth, delay, reliability, load, MTU), </a:t>
            </a:r>
            <a:r>
              <a:rPr lang="en-US" b="1" dirty="0">
                <a:latin typeface="Times New Roman" panose="02020603050405020304" pitchFamily="18" charset="0"/>
                <a:cs typeface="Times New Roman" panose="02020603050405020304" pitchFamily="18" charset="0"/>
              </a:rPr>
              <a:t>Convergence:</a:t>
            </a:r>
            <a:r>
              <a:rPr lang="en-US" dirty="0">
                <a:latin typeface="Times New Roman" panose="02020603050405020304" pitchFamily="18" charset="0"/>
                <a:cs typeface="Times New Roman" panose="02020603050405020304" pitchFamily="18" charset="0"/>
              </a:rPr>
              <a:t> Very fast (thanks to DUAL), </a:t>
            </a:r>
            <a:r>
              <a:rPr lang="en-US" b="1" dirty="0">
                <a:latin typeface="Times New Roman" panose="02020603050405020304" pitchFamily="18" charset="0"/>
                <a:cs typeface="Times New Roman" panose="02020603050405020304" pitchFamily="18" charset="0"/>
              </a:rPr>
              <a:t>Update mechanism:</a:t>
            </a:r>
            <a:r>
              <a:rPr lang="en-US" dirty="0">
                <a:latin typeface="Times New Roman" panose="02020603050405020304" pitchFamily="18" charset="0"/>
                <a:cs typeface="Times New Roman" panose="02020603050405020304" pitchFamily="18" charset="0"/>
              </a:rPr>
              <a:t> Partial, triggered updates, </a:t>
            </a:r>
            <a:r>
              <a:rPr lang="en-US" b="1" dirty="0">
                <a:latin typeface="Times New Roman" panose="02020603050405020304" pitchFamily="18" charset="0"/>
                <a:cs typeface="Times New Roman" panose="02020603050405020304" pitchFamily="18" charset="0"/>
              </a:rPr>
              <a:t>Proprietary:</a:t>
            </a:r>
            <a:r>
              <a:rPr lang="en-US" dirty="0">
                <a:latin typeface="Times New Roman" panose="02020603050405020304" pitchFamily="18" charset="0"/>
                <a:cs typeface="Times New Roman" panose="02020603050405020304" pitchFamily="18" charset="0"/>
              </a:rPr>
              <a:t> Originally Cisco-only; now partially open standard</a:t>
            </a:r>
          </a:p>
          <a:p>
            <a:r>
              <a:rPr lang="en-US" b="1" dirty="0">
                <a:latin typeface="Times New Roman" panose="02020603050405020304" pitchFamily="18" charset="0"/>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Fast convergence</a:t>
            </a:r>
          </a:p>
          <a:p>
            <a:r>
              <a:rPr lang="en-US" dirty="0">
                <a:latin typeface="Times New Roman" panose="02020603050405020304" pitchFamily="18" charset="0"/>
                <a:cs typeface="Times New Roman" panose="02020603050405020304" pitchFamily="18" charset="0"/>
              </a:rPr>
              <a:t>Loop-free routing (mathematically guaranteed)</a:t>
            </a:r>
          </a:p>
          <a:p>
            <a:r>
              <a:rPr lang="en-US" dirty="0">
                <a:latin typeface="Times New Roman" panose="02020603050405020304" pitchFamily="18" charset="0"/>
                <a:cs typeface="Times New Roman" panose="02020603050405020304" pitchFamily="18" charset="0"/>
              </a:rPr>
              <a:t>Uses partial updates (more efficient)</a:t>
            </a:r>
          </a:p>
          <a:p>
            <a:r>
              <a:rPr lang="en-US" dirty="0">
                <a:latin typeface="Times New Roman" panose="02020603050405020304" pitchFamily="18" charset="0"/>
                <a:cs typeface="Times New Roman" panose="02020603050405020304" pitchFamily="18" charset="0"/>
              </a:rPr>
              <a:t>Scalable and suitable for large enterprise networks</a:t>
            </a:r>
          </a:p>
          <a:p>
            <a:r>
              <a:rPr lang="en-US" dirty="0">
                <a:latin typeface="Times New Roman" panose="02020603050405020304" pitchFamily="18" charset="0"/>
                <a:cs typeface="Times New Roman" panose="02020603050405020304" pitchFamily="18" charset="0"/>
              </a:rPr>
              <a:t>Supports unequal-cost load balancing</a:t>
            </a:r>
          </a:p>
          <a:p>
            <a:r>
              <a:rPr lang="en-US" b="1" dirty="0">
                <a:latin typeface="Times New Roman" panose="02020603050405020304" pitchFamily="18" charset="0"/>
                <a:cs typeface="Times New Roman" panose="02020603050405020304" pitchFamily="18" charset="0"/>
              </a:rPr>
              <a:t>Limitations</a:t>
            </a:r>
          </a:p>
          <a:p>
            <a:r>
              <a:rPr lang="en-US" dirty="0">
                <a:latin typeface="Times New Roman" panose="02020603050405020304" pitchFamily="18" charset="0"/>
                <a:cs typeface="Times New Roman" panose="02020603050405020304" pitchFamily="18" charset="0"/>
              </a:rPr>
              <a:t>More complex than RIP</a:t>
            </a:r>
          </a:p>
          <a:p>
            <a:r>
              <a:rPr lang="en-US" dirty="0">
                <a:latin typeface="Times New Roman" panose="02020603050405020304" pitchFamily="18" charset="0"/>
                <a:cs typeface="Times New Roman" panose="02020603050405020304" pitchFamily="18" charset="0"/>
              </a:rPr>
              <a:t>Was proprietary for decades (now open but still primarily Cisco-based)</a:t>
            </a:r>
          </a:p>
          <a:p>
            <a:r>
              <a:rPr lang="en-US" b="1" dirty="0">
                <a:latin typeface="Times New Roman" panose="02020603050405020304" pitchFamily="18" charset="0"/>
                <a:cs typeface="Times New Roman" panose="02020603050405020304" pitchFamily="18" charset="0"/>
              </a:rPr>
              <a:t>Metric Calculation</a:t>
            </a:r>
          </a:p>
          <a:p>
            <a:r>
              <a:rPr lang="en-US" dirty="0">
                <a:latin typeface="Times New Roman" panose="02020603050405020304" pitchFamily="18" charset="0"/>
                <a:cs typeface="Times New Roman" panose="02020603050405020304" pitchFamily="18" charset="0"/>
              </a:rPr>
              <a:t>EIGRP metric is based on a weighted formula using:</a:t>
            </a:r>
          </a:p>
          <a:p>
            <a:r>
              <a:rPr lang="en-US" dirty="0">
                <a:latin typeface="Times New Roman" panose="02020603050405020304" pitchFamily="18" charset="0"/>
                <a:cs typeface="Times New Roman" panose="02020603050405020304" pitchFamily="18" charset="0"/>
              </a:rPr>
              <a:t>Minimum bandwidth</a:t>
            </a:r>
          </a:p>
          <a:p>
            <a:r>
              <a:rPr lang="en-US" dirty="0">
                <a:latin typeface="Times New Roman" panose="02020603050405020304" pitchFamily="18" charset="0"/>
                <a:cs typeface="Times New Roman" panose="02020603050405020304" pitchFamily="18" charset="0"/>
              </a:rPr>
              <a:t>Cumulative delay</a:t>
            </a:r>
          </a:p>
          <a:p>
            <a:r>
              <a:rPr lang="en-US" dirty="0">
                <a:latin typeface="Times New Roman" panose="02020603050405020304" pitchFamily="18" charset="0"/>
                <a:cs typeface="Times New Roman" panose="02020603050405020304" pitchFamily="18" charset="0"/>
              </a:rPr>
              <a:t>Optionally: reliability and load</a:t>
            </a:r>
          </a:p>
        </p:txBody>
      </p:sp>
      <p:sp>
        <p:nvSpPr>
          <p:cNvPr id="8" name="TextBox 7">
            <a:extLst>
              <a:ext uri="{FF2B5EF4-FFF2-40B4-BE49-F238E27FC236}">
                <a16:creationId xmlns:a16="http://schemas.microsoft.com/office/drawing/2014/main" id="{DA2E27BB-04E0-DF91-2B6D-9B31F0CB6F1E}"/>
              </a:ext>
            </a:extLst>
          </p:cNvPr>
          <p:cNvSpPr txBox="1"/>
          <p:nvPr/>
        </p:nvSpPr>
        <p:spPr>
          <a:xfrm>
            <a:off x="1125860" y="116632"/>
            <a:ext cx="11017224" cy="646331"/>
          </a:xfrm>
          <a:prstGeom prst="rect">
            <a:avLst/>
          </a:prstGeom>
          <a:noFill/>
        </p:spPr>
        <p:txBody>
          <a:bodyPr wrap="square">
            <a:spAutoFit/>
          </a:bodyPr>
          <a:lstStyle/>
          <a:p>
            <a:pPr>
              <a:buNone/>
            </a:pPr>
            <a:r>
              <a:rPr lang="en-US" sz="3600" b="1" dirty="0">
                <a:latin typeface="Times New Roman" panose="02020603050405020304" pitchFamily="18" charset="0"/>
                <a:cs typeface="Times New Roman" panose="02020603050405020304" pitchFamily="18" charset="0"/>
              </a:rPr>
              <a:t>EIGRP (Enhanced Interior Gateway Routing Protocol) </a:t>
            </a:r>
          </a:p>
        </p:txBody>
      </p:sp>
      <p:pic>
        <p:nvPicPr>
          <p:cNvPr id="2050" name="Picture 2">
            <a:extLst>
              <a:ext uri="{FF2B5EF4-FFF2-40B4-BE49-F238E27FC236}">
                <a16:creationId xmlns:a16="http://schemas.microsoft.com/office/drawing/2014/main" id="{35BB85F4-29A3-7EB9-45DF-F05F06C36C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6620" y="2717983"/>
            <a:ext cx="3902229" cy="3816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786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837CCD4-2E2D-F6D4-C0AB-30041F99A55E}"/>
              </a:ext>
            </a:extLst>
          </p:cNvPr>
          <p:cNvGraphicFramePr>
            <a:graphicFrameLocks noGrp="1"/>
          </p:cNvGraphicFramePr>
          <p:nvPr>
            <p:extLst>
              <p:ext uri="{D42A27DB-BD31-4B8C-83A1-F6EECF244321}">
                <p14:modId xmlns:p14="http://schemas.microsoft.com/office/powerpoint/2010/main" val="3299929357"/>
              </p:ext>
            </p:extLst>
          </p:nvPr>
        </p:nvGraphicFramePr>
        <p:xfrm>
          <a:off x="1053852" y="1988840"/>
          <a:ext cx="9782176" cy="3608432"/>
        </p:xfrm>
        <a:graphic>
          <a:graphicData uri="http://schemas.openxmlformats.org/drawingml/2006/table">
            <a:tbl>
              <a:tblPr/>
              <a:tblGrid>
                <a:gridCol w="2445544">
                  <a:extLst>
                    <a:ext uri="{9D8B030D-6E8A-4147-A177-3AD203B41FA5}">
                      <a16:colId xmlns:a16="http://schemas.microsoft.com/office/drawing/2014/main" val="2312551880"/>
                    </a:ext>
                  </a:extLst>
                </a:gridCol>
                <a:gridCol w="2445544">
                  <a:extLst>
                    <a:ext uri="{9D8B030D-6E8A-4147-A177-3AD203B41FA5}">
                      <a16:colId xmlns:a16="http://schemas.microsoft.com/office/drawing/2014/main" val="1957393563"/>
                    </a:ext>
                  </a:extLst>
                </a:gridCol>
                <a:gridCol w="2445544">
                  <a:extLst>
                    <a:ext uri="{9D8B030D-6E8A-4147-A177-3AD203B41FA5}">
                      <a16:colId xmlns:a16="http://schemas.microsoft.com/office/drawing/2014/main" val="1388724973"/>
                    </a:ext>
                  </a:extLst>
                </a:gridCol>
                <a:gridCol w="2445544">
                  <a:extLst>
                    <a:ext uri="{9D8B030D-6E8A-4147-A177-3AD203B41FA5}">
                      <a16:colId xmlns:a16="http://schemas.microsoft.com/office/drawing/2014/main" val="2078761526"/>
                    </a:ext>
                  </a:extLst>
                </a:gridCol>
              </a:tblGrid>
              <a:tr h="408032">
                <a:tc>
                  <a:txBody>
                    <a:bodyPr/>
                    <a:lstStyle/>
                    <a:p>
                      <a:pPr>
                        <a:buNone/>
                      </a:pPr>
                      <a:r>
                        <a:rPr lang="fr-FR" sz="1800">
                          <a:latin typeface="Times New Roman" panose="02020603050405020304" pitchFamily="18" charset="0"/>
                          <a:cs typeface="Times New Roman" panose="02020603050405020304" pitchFamily="18"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40000"/>
                        <a:lumOff val="60000"/>
                      </a:schemeClr>
                    </a:solidFill>
                  </a:tcPr>
                </a:tc>
                <a:tc>
                  <a:txBody>
                    <a:bodyPr/>
                    <a:lstStyle/>
                    <a:p>
                      <a:pPr>
                        <a:buNone/>
                      </a:pPr>
                      <a:r>
                        <a:rPr lang="fr-FR" sz="1800">
                          <a:latin typeface="Times New Roman" panose="02020603050405020304" pitchFamily="18" charset="0"/>
                          <a:cs typeface="Times New Roman" panose="02020603050405020304" pitchFamily="18" charset="0"/>
                        </a:rPr>
                        <a:t>RIP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40000"/>
                        <a:lumOff val="60000"/>
                      </a:schemeClr>
                    </a:solidFill>
                  </a:tcPr>
                </a:tc>
                <a:tc>
                  <a:txBody>
                    <a:bodyPr/>
                    <a:lstStyle/>
                    <a:p>
                      <a:pPr>
                        <a:buNone/>
                      </a:pPr>
                      <a:r>
                        <a:rPr lang="fr-FR" sz="1800">
                          <a:latin typeface="Times New Roman" panose="02020603050405020304" pitchFamily="18" charset="0"/>
                          <a:cs typeface="Times New Roman" panose="02020603050405020304" pitchFamily="18" charset="0"/>
                        </a:rPr>
                        <a:t>IGRP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40000"/>
                        <a:lumOff val="60000"/>
                      </a:schemeClr>
                    </a:solidFill>
                  </a:tcPr>
                </a:tc>
                <a:tc>
                  <a:txBody>
                    <a:bodyPr/>
                    <a:lstStyle/>
                    <a:p>
                      <a:pPr>
                        <a:buNone/>
                      </a:pPr>
                      <a:r>
                        <a:rPr lang="fr-FR" sz="1800" dirty="0">
                          <a:latin typeface="Times New Roman" panose="02020603050405020304" pitchFamily="18" charset="0"/>
                          <a:cs typeface="Times New Roman" panose="02020603050405020304" pitchFamily="18" charset="0"/>
                        </a:rPr>
                        <a:t>EIGRP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946162628"/>
                  </a:ext>
                </a:extLst>
              </a:tr>
              <a:tr h="365760">
                <a:tc>
                  <a:txBody>
                    <a:bodyPr/>
                    <a:lstStyle/>
                    <a:p>
                      <a:pPr>
                        <a:buNone/>
                      </a:pPr>
                      <a:r>
                        <a:rPr lang="fr-FR" sz="1800">
                          <a:latin typeface="Times New Roman" panose="02020603050405020304" pitchFamily="18" charset="0"/>
                          <a:cs typeface="Times New Roman" panose="02020603050405020304" pitchFamily="18" charset="0"/>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Hop 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Composite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Composite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950674950"/>
                  </a:ext>
                </a:extLst>
              </a:tr>
              <a:tr h="365760">
                <a:tc>
                  <a:txBody>
                    <a:bodyPr/>
                    <a:lstStyle/>
                    <a:p>
                      <a:pPr>
                        <a:buNone/>
                      </a:pPr>
                      <a:r>
                        <a:rPr lang="fr-FR" sz="1800">
                          <a:latin typeface="Times New Roman" panose="02020603050405020304" pitchFamily="18" charset="0"/>
                          <a:cs typeface="Times New Roman" panose="02020603050405020304" pitchFamily="18" charset="0"/>
                        </a:rPr>
                        <a:t>Max Hop 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DZ" sz="1800">
                          <a:latin typeface="Times New Roman" panose="02020603050405020304" pitchFamily="18" charset="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DZ" sz="1800">
                          <a:latin typeface="Times New Roman" panose="02020603050405020304" pitchFamily="18" charset="0"/>
                          <a:cs typeface="Times New Roman" panose="02020603050405020304" pitchFamily="18" charset="0"/>
                        </a:rPr>
                        <a:t>255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None (uses 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217121766"/>
                  </a:ext>
                </a:extLst>
              </a:tr>
              <a:tr h="365760">
                <a:tc>
                  <a:txBody>
                    <a:bodyPr/>
                    <a:lstStyle/>
                    <a:p>
                      <a:pPr>
                        <a:buNone/>
                      </a:pPr>
                      <a:r>
                        <a:rPr lang="fr-FR" sz="1800">
                          <a:latin typeface="Times New Roman" panose="02020603050405020304" pitchFamily="18" charset="0"/>
                          <a:cs typeface="Times New Roman" panose="02020603050405020304" pitchFamily="18" charset="0"/>
                        </a:rPr>
                        <a:t>Update Interval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30s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90s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Triggered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666796338"/>
                  </a:ext>
                </a:extLst>
              </a:tr>
              <a:tr h="365760">
                <a:tc>
                  <a:txBody>
                    <a:bodyPr/>
                    <a:lstStyle/>
                    <a:p>
                      <a:pPr>
                        <a:buNone/>
                      </a:pPr>
                      <a:r>
                        <a:rPr lang="fr-FR" sz="1800">
                          <a:latin typeface="Times New Roman" panose="02020603050405020304" pitchFamily="18" charset="0"/>
                          <a:cs typeface="Times New Roman" panose="02020603050405020304" pitchFamily="18" charset="0"/>
                        </a:rPr>
                        <a:t>Convergence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Slow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035164565"/>
                  </a:ext>
                </a:extLst>
              </a:tr>
              <a:tr h="365760">
                <a:tc>
                  <a:txBody>
                    <a:bodyPr/>
                    <a:lstStyle/>
                    <a:p>
                      <a:pPr>
                        <a:buNone/>
                      </a:pPr>
                      <a:r>
                        <a:rPr lang="fr-FR" sz="1800">
                          <a:latin typeface="Times New Roman" panose="02020603050405020304" pitchFamily="18" charset="0"/>
                          <a:cs typeface="Times New Roman" panose="02020603050405020304" pitchFamily="18" charset="0"/>
                        </a:rPr>
                        <a:t>Algorithm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Bellman-Ford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DV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DUAL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51602934"/>
                  </a:ext>
                </a:extLst>
              </a:tr>
              <a:tr h="365760">
                <a:tc>
                  <a:txBody>
                    <a:bodyPr/>
                    <a:lstStyle/>
                    <a:p>
                      <a:pPr>
                        <a:buNone/>
                      </a:pPr>
                      <a:r>
                        <a:rPr lang="fr-FR" sz="1800">
                          <a:latin typeface="Times New Roman" panose="02020603050405020304" pitchFamily="18" charset="0"/>
                          <a:cs typeface="Times New Roman" panose="02020603050405020304" pitchFamily="18" charset="0"/>
                        </a:rPr>
                        <a:t>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531935622"/>
                  </a:ext>
                </a:extLst>
              </a:tr>
              <a:tr h="365760">
                <a:tc>
                  <a:txBody>
                    <a:bodyPr/>
                    <a:lstStyle/>
                    <a:p>
                      <a:pPr>
                        <a:buNone/>
                      </a:pPr>
                      <a:r>
                        <a:rPr lang="fr-FR" sz="1800">
                          <a:latin typeface="Times New Roman" panose="02020603050405020304" pitchFamily="18" charset="0"/>
                          <a:cs typeface="Times New Roman" panose="02020603050405020304" pitchFamily="18" charset="0"/>
                        </a:rPr>
                        <a:t>Proprietary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Yes (Cisco)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sz="1800">
                          <a:latin typeface="Times New Roman" panose="02020603050405020304" pitchFamily="18" charset="0"/>
                          <a:cs typeface="Times New Roman" panose="02020603050405020304" pitchFamily="18" charset="0"/>
                        </a:rPr>
                        <a:t>Yes/Partial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646412424"/>
                  </a:ext>
                </a:extLst>
              </a:tr>
              <a:tr h="640080">
                <a:tc>
                  <a:txBody>
                    <a:bodyPr/>
                    <a:lstStyle/>
                    <a:p>
                      <a:pPr>
                        <a:buNone/>
                      </a:pPr>
                      <a:r>
                        <a:rPr lang="fr-FR" sz="1800">
                          <a:latin typeface="Times New Roman" panose="02020603050405020304" pitchFamily="18" charset="0"/>
                          <a:cs typeface="Times New Roman" panose="02020603050405020304" pitchFamily="18" charset="0"/>
                        </a:rPr>
                        <a:t>Loop Avoidance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fr-FR" sz="1800">
                          <a:latin typeface="Times New Roman" panose="02020603050405020304" pitchFamily="18" charset="0"/>
                          <a:cs typeface="Times New Roman" panose="02020603050405020304" pitchFamily="18" charset="0"/>
                        </a:rPr>
                        <a:t>Basic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fr-FR" sz="1800">
                          <a:latin typeface="Times New Roman" panose="02020603050405020304" pitchFamily="18" charset="0"/>
                          <a:cs typeface="Times New Roman" panose="02020603050405020304" pitchFamily="18" charset="0"/>
                        </a:rPr>
                        <a:t>Basic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fr-FR" sz="1800" dirty="0" err="1">
                          <a:latin typeface="Times New Roman" panose="02020603050405020304" pitchFamily="18" charset="0"/>
                          <a:cs typeface="Times New Roman" panose="02020603050405020304" pitchFamily="18" charset="0"/>
                        </a:rPr>
                        <a:t>Built-in</a:t>
                      </a:r>
                      <a:r>
                        <a:rPr lang="fr-FR" sz="1800" dirty="0">
                          <a:latin typeface="Times New Roman" panose="02020603050405020304" pitchFamily="18" charset="0"/>
                          <a:cs typeface="Times New Roman" panose="02020603050405020304" pitchFamily="18" charset="0"/>
                        </a:rPr>
                        <a:t> </a:t>
                      </a:r>
                      <a:r>
                        <a:rPr lang="fr-FR" sz="1800" dirty="0" err="1">
                          <a:latin typeface="Times New Roman" panose="02020603050405020304" pitchFamily="18" charset="0"/>
                          <a:cs typeface="Times New Roman" panose="02020603050405020304" pitchFamily="18" charset="0"/>
                        </a:rPr>
                        <a:t>loop</a:t>
                      </a:r>
                      <a:r>
                        <a:rPr lang="fr-FR" sz="1800" dirty="0">
                          <a:latin typeface="Times New Roman" panose="02020603050405020304" pitchFamily="18" charset="0"/>
                          <a:cs typeface="Times New Roman" panose="02020603050405020304" pitchFamily="18" charset="0"/>
                        </a:rPr>
                        <a:t>-free design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2191559"/>
                  </a:ext>
                </a:extLst>
              </a:tr>
            </a:tbl>
          </a:graphicData>
        </a:graphic>
      </p:graphicFrame>
      <p:sp>
        <p:nvSpPr>
          <p:cNvPr id="5" name="TextBox 4">
            <a:extLst>
              <a:ext uri="{FF2B5EF4-FFF2-40B4-BE49-F238E27FC236}">
                <a16:creationId xmlns:a16="http://schemas.microsoft.com/office/drawing/2014/main" id="{5607859A-61DB-FA7C-A8E1-F58FEB024618}"/>
              </a:ext>
            </a:extLst>
          </p:cNvPr>
          <p:cNvSpPr txBox="1"/>
          <p:nvPr/>
        </p:nvSpPr>
        <p:spPr>
          <a:xfrm>
            <a:off x="436328" y="836712"/>
            <a:ext cx="11017224" cy="646331"/>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Comparison</a:t>
            </a:r>
          </a:p>
        </p:txBody>
      </p:sp>
    </p:spTree>
    <p:extLst>
      <p:ext uri="{BB962C8B-B14F-4D97-AF65-F5344CB8AC3E}">
        <p14:creationId xmlns:p14="http://schemas.microsoft.com/office/powerpoint/2010/main" val="4022862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12EA7-6D93-EDFB-C0CC-FD6A0979B3E2}"/>
              </a:ext>
            </a:extLst>
          </p:cNvPr>
          <p:cNvSpPr>
            <a:spLocks noGrp="1"/>
          </p:cNvSpPr>
          <p:nvPr>
            <p:ph type="title"/>
          </p:nvPr>
        </p:nvSpPr>
        <p:spPr>
          <a:xfrm>
            <a:off x="1593436" y="-315416"/>
            <a:ext cx="9782801" cy="1239837"/>
          </a:xfrm>
        </p:spPr>
        <p:txBody>
          <a:bodyPr/>
          <a:lstStyle/>
          <a:p>
            <a:pPr algn="ctr"/>
            <a:r>
              <a:rPr lang="fr-FR" b="1" dirty="0">
                <a:latin typeface="Times New Roman" panose="02020603050405020304" pitchFamily="18" charset="0"/>
                <a:cs typeface="Times New Roman" panose="02020603050405020304" pitchFamily="18" charset="0"/>
              </a:rPr>
              <a:t>Link State Protocol?</a:t>
            </a:r>
            <a:endParaRPr lang="fr-DZ"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57D2868-19ED-77BB-7321-106345BB19EE}"/>
              </a:ext>
            </a:extLst>
          </p:cNvPr>
          <p:cNvSpPr txBox="1"/>
          <p:nvPr/>
        </p:nvSpPr>
        <p:spPr>
          <a:xfrm>
            <a:off x="1485900" y="1124744"/>
            <a:ext cx="10225136" cy="5078313"/>
          </a:xfrm>
          <a:prstGeom prst="rect">
            <a:avLst/>
          </a:prstGeom>
          <a:noFill/>
        </p:spPr>
        <p:txBody>
          <a:bodyPr wrap="square" rtlCol="0">
            <a:spAutoFit/>
          </a:bodyPr>
          <a:lstStyle/>
          <a:p>
            <a:r>
              <a:rPr lang="fr-FR" dirty="0">
                <a:latin typeface="Times New Roman" panose="02020603050405020304" pitchFamily="18" charset="0"/>
                <a:cs typeface="Times New Roman" panose="02020603050405020304" pitchFamily="18" charset="0"/>
              </a:rPr>
              <a:t>Link State (LS) </a:t>
            </a:r>
            <a:r>
              <a:rPr lang="fr-FR" dirty="0" err="1">
                <a:latin typeface="Times New Roman" panose="02020603050405020304" pitchFamily="18" charset="0"/>
                <a:cs typeface="Times New Roman" panose="02020603050405020304" pitchFamily="18" charset="0"/>
              </a:rPr>
              <a:t>protocols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build</a:t>
            </a:r>
            <a:r>
              <a:rPr lang="fr-FR" dirty="0">
                <a:latin typeface="Times New Roman" panose="02020603050405020304" pitchFamily="18" charset="0"/>
                <a:cs typeface="Times New Roman" panose="02020603050405020304" pitchFamily="18" charset="0"/>
              </a:rPr>
              <a:t> and </a:t>
            </a:r>
            <a:r>
              <a:rPr lang="fr-FR" dirty="0" err="1">
                <a:latin typeface="Times New Roman" panose="02020603050405020304" pitchFamily="18" charset="0"/>
                <a:cs typeface="Times New Roman" panose="02020603050405020304" pitchFamily="18" charset="0"/>
              </a:rPr>
              <a:t>maintain</a:t>
            </a:r>
            <a:r>
              <a:rPr lang="fr-FR" dirty="0">
                <a:latin typeface="Times New Roman" panose="02020603050405020304" pitchFamily="18" charset="0"/>
                <a:cs typeface="Times New Roman" panose="02020603050405020304" pitchFamily="18" charset="0"/>
              </a:rPr>
              <a:t> a </a:t>
            </a:r>
            <a:r>
              <a:rPr lang="fr-FR" b="1" dirty="0" err="1">
                <a:latin typeface="Times New Roman" panose="02020603050405020304" pitchFamily="18" charset="0"/>
                <a:cs typeface="Times New Roman" panose="02020603050405020304" pitchFamily="18" charset="0"/>
              </a:rPr>
              <a:t>synchronized</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map</a:t>
            </a:r>
            <a:r>
              <a:rPr lang="fr-FR" b="1" dirty="0">
                <a:latin typeface="Times New Roman" panose="02020603050405020304" pitchFamily="18" charset="0"/>
                <a:cs typeface="Times New Roman" panose="02020603050405020304" pitchFamily="18" charset="0"/>
              </a:rPr>
              <a:t> of the </a:t>
            </a:r>
            <a:r>
              <a:rPr lang="fr-FR" b="1" dirty="0" err="1">
                <a:latin typeface="Times New Roman" panose="02020603050405020304" pitchFamily="18" charset="0"/>
                <a:cs typeface="Times New Roman" panose="02020603050405020304" pitchFamily="18" charset="0"/>
              </a:rPr>
              <a:t>entire</a:t>
            </a:r>
            <a:r>
              <a:rPr lang="fr-FR" b="1" dirty="0">
                <a:latin typeface="Times New Roman" panose="02020603050405020304" pitchFamily="18" charset="0"/>
                <a:cs typeface="Times New Roman" panose="02020603050405020304" pitchFamily="18" charset="0"/>
              </a:rPr>
              <a:t> network</a:t>
            </a:r>
            <a:r>
              <a:rPr lang="fr-FR" dirty="0">
                <a:latin typeface="Times New Roman" panose="02020603050405020304" pitchFamily="18" charset="0"/>
                <a:cs typeface="Times New Roman" panose="02020603050405020304" pitchFamily="18" charset="0"/>
              </a:rPr>
              <a:t>.</a:t>
            </a:r>
          </a:p>
          <a:p>
            <a:r>
              <a:rPr lang="fr-FR" dirty="0" err="1">
                <a:latin typeface="Times New Roman" panose="02020603050405020304" pitchFamily="18" charset="0"/>
                <a:cs typeface="Times New Roman" panose="02020603050405020304" pitchFamily="18" charset="0"/>
              </a:rPr>
              <a:t>Each</a:t>
            </a:r>
            <a:r>
              <a:rPr lang="fr-FR" dirty="0">
                <a:latin typeface="Times New Roman" panose="02020603050405020304" pitchFamily="18" charset="0"/>
                <a:cs typeface="Times New Roman" panose="02020603050405020304" pitchFamily="18" charset="0"/>
              </a:rPr>
              <a:t> router:</a:t>
            </a:r>
          </a:p>
          <a:p>
            <a:pPr marL="742950" lvl="1"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Discovers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neighbors</a:t>
            </a:r>
            <a:endParaRPr lang="fr-FR"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Measures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link</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costs</a:t>
            </a:r>
            <a:endParaRPr lang="fr-FR"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Generates</a:t>
            </a:r>
            <a:r>
              <a:rPr lang="fr-FR" dirty="0">
                <a:latin typeface="Times New Roman" panose="02020603050405020304" pitchFamily="18" charset="0"/>
                <a:cs typeface="Times New Roman" panose="02020603050405020304" pitchFamily="18" charset="0"/>
              </a:rPr>
              <a:t> Link State </a:t>
            </a:r>
            <a:r>
              <a:rPr lang="fr-FR" dirty="0" err="1">
                <a:latin typeface="Times New Roman" panose="02020603050405020304" pitchFamily="18" charset="0"/>
                <a:cs typeface="Times New Roman" panose="02020603050405020304" pitchFamily="18" charset="0"/>
              </a:rPr>
              <a:t>Advertisements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LSAs</a:t>
            </a:r>
            <a:r>
              <a:rPr lang="fr-FR"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Floods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LSAs</a:t>
            </a:r>
            <a:r>
              <a:rPr lang="fr-FR" dirty="0">
                <a:latin typeface="Times New Roman" panose="02020603050405020304" pitchFamily="18" charset="0"/>
                <a:cs typeface="Times New Roman" panose="02020603050405020304" pitchFamily="18" charset="0"/>
              </a:rPr>
              <a:t> to all </a:t>
            </a:r>
            <a:r>
              <a:rPr lang="fr-FR" dirty="0" err="1">
                <a:latin typeface="Times New Roman" panose="02020603050405020304" pitchFamily="18" charset="0"/>
                <a:cs typeface="Times New Roman" panose="02020603050405020304" pitchFamily="18" charset="0"/>
              </a:rPr>
              <a:t>routers</a:t>
            </a:r>
            <a:r>
              <a:rPr lang="fr-FR" dirty="0">
                <a:latin typeface="Times New Roman" panose="02020603050405020304" pitchFamily="18" charset="0"/>
                <a:cs typeface="Times New Roman" panose="02020603050405020304" pitchFamily="18" charset="0"/>
              </a:rPr>
              <a:t> in the area</a:t>
            </a:r>
          </a:p>
          <a:p>
            <a:pPr marL="742950" lvl="1"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Builds</a:t>
            </a:r>
            <a:r>
              <a:rPr lang="fr-FR" dirty="0">
                <a:latin typeface="Times New Roman" panose="02020603050405020304" pitchFamily="18" charset="0"/>
                <a:cs typeface="Times New Roman" panose="02020603050405020304" pitchFamily="18" charset="0"/>
              </a:rPr>
              <a:t> a Link State </a:t>
            </a:r>
            <a:r>
              <a:rPr lang="fr-FR" dirty="0" err="1">
                <a:latin typeface="Times New Roman" panose="02020603050405020304" pitchFamily="18" charset="0"/>
                <a:cs typeface="Times New Roman" panose="02020603050405020304" pitchFamily="18" charset="0"/>
              </a:rPr>
              <a:t>Database</a:t>
            </a:r>
            <a:r>
              <a:rPr lang="fr-FR" dirty="0">
                <a:latin typeface="Times New Roman" panose="02020603050405020304" pitchFamily="18" charset="0"/>
                <a:cs typeface="Times New Roman" panose="02020603050405020304" pitchFamily="18" charset="0"/>
              </a:rPr>
              <a:t> (LSDB)</a:t>
            </a:r>
          </a:p>
          <a:p>
            <a:pPr marL="742950" lvl="1"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Runs </a:t>
            </a:r>
            <a:r>
              <a:rPr lang="fr-FR" dirty="0" err="1">
                <a:latin typeface="Times New Roman" panose="02020603050405020304" pitchFamily="18" charset="0"/>
                <a:cs typeface="Times New Roman" panose="02020603050405020304" pitchFamily="18" charset="0"/>
              </a:rPr>
              <a:t>Dijkstra’s</a:t>
            </a:r>
            <a:r>
              <a:rPr lang="fr-FR" dirty="0">
                <a:latin typeface="Times New Roman" panose="02020603050405020304" pitchFamily="18" charset="0"/>
                <a:cs typeface="Times New Roman" panose="02020603050405020304" pitchFamily="18" charset="0"/>
              </a:rPr>
              <a:t> SPF </a:t>
            </a:r>
            <a:r>
              <a:rPr lang="fr-FR" dirty="0" err="1">
                <a:latin typeface="Times New Roman" panose="02020603050405020304" pitchFamily="18" charset="0"/>
                <a:cs typeface="Times New Roman" panose="02020603050405020304" pitchFamily="18" charset="0"/>
              </a:rPr>
              <a:t>algorithm</a:t>
            </a:r>
            <a:r>
              <a:rPr lang="fr-FR" dirty="0">
                <a:latin typeface="Times New Roman" panose="02020603050405020304" pitchFamily="18" charset="0"/>
                <a:cs typeface="Times New Roman" panose="02020603050405020304" pitchFamily="18" charset="0"/>
              </a:rPr>
              <a:t> to </a:t>
            </a:r>
            <a:r>
              <a:rPr lang="fr-FR" dirty="0" err="1">
                <a:latin typeface="Times New Roman" panose="02020603050405020304" pitchFamily="18" charset="0"/>
                <a:cs typeface="Times New Roman" panose="02020603050405020304" pitchFamily="18" charset="0"/>
              </a:rPr>
              <a:t>compute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shortest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paths</a:t>
            </a:r>
            <a:endParaRPr lang="fr-FR"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Link State </a:t>
            </a:r>
            <a:r>
              <a:rPr lang="fr-FR" dirty="0" err="1">
                <a:latin typeface="Times New Roman" panose="02020603050405020304" pitchFamily="18" charset="0"/>
                <a:cs typeface="Times New Roman" panose="02020603050405020304" pitchFamily="18" charset="0"/>
              </a:rPr>
              <a:t>Characteristics</a:t>
            </a:r>
            <a:r>
              <a:rPr lang="fr-FR"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Event-Driven Updates</a:t>
            </a:r>
          </a:p>
          <a:p>
            <a:pPr marL="742950" lvl="1"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Routers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send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LSAs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only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when</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topology</a:t>
            </a:r>
            <a:r>
              <a:rPr lang="fr-FR" dirty="0">
                <a:latin typeface="Times New Roman" panose="02020603050405020304" pitchFamily="18" charset="0"/>
                <a:cs typeface="Times New Roman" panose="02020603050405020304" pitchFamily="18" charset="0"/>
              </a:rPr>
              <a:t> changes.</a:t>
            </a:r>
          </a:p>
          <a:p>
            <a:pPr marL="742950" lvl="1"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High Resource </a:t>
            </a:r>
            <a:r>
              <a:rPr lang="fr-FR" dirty="0" err="1">
                <a:latin typeface="Times New Roman" panose="02020603050405020304" pitchFamily="18" charset="0"/>
                <a:cs typeface="Times New Roman" panose="02020603050405020304" pitchFamily="18" charset="0"/>
              </a:rPr>
              <a:t>Consumption</a:t>
            </a:r>
            <a:r>
              <a:rPr lang="fr-FR" dirty="0">
                <a:latin typeface="Times New Roman" panose="02020603050405020304" pitchFamily="18" charset="0"/>
                <a:cs typeface="Times New Roman" panose="02020603050405020304" pitchFamily="18" charset="0"/>
              </a:rPr>
              <a:t> More CPU More RAM </a:t>
            </a:r>
            <a:r>
              <a:rPr lang="fr-FR" dirty="0" err="1">
                <a:latin typeface="Times New Roman" panose="02020603050405020304" pitchFamily="18" charset="0"/>
                <a:cs typeface="Times New Roman" panose="02020603050405020304" pitchFamily="18" charset="0"/>
              </a:rPr>
              <a:t>Larger</a:t>
            </a:r>
            <a:r>
              <a:rPr lang="fr-FR" dirty="0">
                <a:latin typeface="Times New Roman" panose="02020603050405020304" pitchFamily="18" charset="0"/>
                <a:cs typeface="Times New Roman" panose="02020603050405020304" pitchFamily="18" charset="0"/>
              </a:rPr>
              <a:t> control plane </a:t>
            </a:r>
            <a:r>
              <a:rPr lang="fr-FR" dirty="0" err="1">
                <a:latin typeface="Times New Roman" panose="02020603050405020304" pitchFamily="18" charset="0"/>
                <a:cs typeface="Times New Roman" panose="02020603050405020304" pitchFamily="18" charset="0"/>
              </a:rPr>
              <a:t>capacity</a:t>
            </a:r>
            <a:endParaRPr lang="fr-FR"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Fast Convergence Changes are </a:t>
            </a:r>
            <a:r>
              <a:rPr lang="fr-FR" dirty="0" err="1">
                <a:latin typeface="Times New Roman" panose="02020603050405020304" pitchFamily="18" charset="0"/>
                <a:cs typeface="Times New Roman" panose="02020603050405020304" pitchFamily="18" charset="0"/>
              </a:rPr>
              <a:t>detected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quickly</a:t>
            </a:r>
            <a:r>
              <a:rPr lang="fr-FR" dirty="0">
                <a:latin typeface="Times New Roman" panose="02020603050405020304" pitchFamily="18" charset="0"/>
                <a:cs typeface="Times New Roman" panose="02020603050405020304" pitchFamily="18" charset="0"/>
              </a:rPr>
              <a:t> (Hello </a:t>
            </a:r>
            <a:r>
              <a:rPr lang="fr-FR" dirty="0" err="1">
                <a:latin typeface="Times New Roman" panose="02020603050405020304" pitchFamily="18" charset="0"/>
                <a:cs typeface="Times New Roman" panose="02020603050405020304" pitchFamily="18" charset="0"/>
              </a:rPr>
              <a:t>packets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Only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incremental</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LSAs</a:t>
            </a:r>
            <a:r>
              <a:rPr lang="fr-FR" dirty="0">
                <a:latin typeface="Times New Roman" panose="02020603050405020304" pitchFamily="18" charset="0"/>
                <a:cs typeface="Times New Roman" panose="02020603050405020304" pitchFamily="18" charset="0"/>
              </a:rPr>
              <a:t> are </a:t>
            </a:r>
            <a:r>
              <a:rPr lang="fr-FR" dirty="0" err="1">
                <a:latin typeface="Times New Roman" panose="02020603050405020304" pitchFamily="18" charset="0"/>
                <a:cs typeface="Times New Roman" panose="02020603050405020304" pitchFamily="18" charset="0"/>
              </a:rPr>
              <a:t>exchanged</a:t>
            </a:r>
            <a:r>
              <a:rPr lang="fr-FR" dirty="0">
                <a:latin typeface="Times New Roman" panose="02020603050405020304" pitchFamily="18" charset="0"/>
                <a:cs typeface="Times New Roman" panose="02020603050405020304" pitchFamily="18" charset="0"/>
              </a:rPr>
              <a:t> SPF </a:t>
            </a:r>
            <a:r>
              <a:rPr lang="fr-FR" dirty="0" err="1">
                <a:latin typeface="Times New Roman" panose="02020603050405020304" pitchFamily="18" charset="0"/>
                <a:cs typeface="Times New Roman" panose="02020603050405020304" pitchFamily="18" charset="0"/>
              </a:rPr>
              <a:t>is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executed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locally</a:t>
            </a:r>
            <a:endParaRPr lang="fr-FR"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Hierarchical</a:t>
            </a:r>
            <a:r>
              <a:rPr lang="fr-FR" dirty="0">
                <a:latin typeface="Times New Roman" panose="02020603050405020304" pitchFamily="18" charset="0"/>
                <a:cs typeface="Times New Roman" panose="02020603050405020304" pitchFamily="18" charset="0"/>
              </a:rPr>
              <a:t> Design </a:t>
            </a:r>
            <a:r>
              <a:rPr lang="fr-FR" dirty="0" err="1">
                <a:latin typeface="Times New Roman" panose="02020603050405020304" pitchFamily="18" charset="0"/>
                <a:cs typeface="Times New Roman" panose="02020603050405020304" pitchFamily="18" charset="0"/>
              </a:rPr>
              <a:t>Allows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splitting</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into</a:t>
            </a:r>
            <a:r>
              <a:rPr lang="fr-FR" dirty="0">
                <a:latin typeface="Times New Roman" panose="02020603050405020304" pitchFamily="18" charset="0"/>
                <a:cs typeface="Times New Roman" panose="02020603050405020304" pitchFamily="18" charset="0"/>
              </a:rPr>
              <a:t> areas (OSPF Area 0 (backbone) </a:t>
            </a:r>
            <a:r>
              <a:rPr lang="fr-FR" dirty="0" err="1">
                <a:latin typeface="Times New Roman" panose="02020603050405020304" pitchFamily="18" charset="0"/>
                <a:cs typeface="Times New Roman" panose="02020603050405020304" pitchFamily="18" charset="0"/>
              </a:rPr>
              <a:t>Reduces</a:t>
            </a:r>
            <a:r>
              <a:rPr lang="fr-FR" dirty="0">
                <a:latin typeface="Times New Roman" panose="02020603050405020304" pitchFamily="18" charset="0"/>
                <a:cs typeface="Times New Roman" panose="02020603050405020304" pitchFamily="18" charset="0"/>
              </a:rPr>
              <a:t> LSDB sizes </a:t>
            </a:r>
            <a:r>
              <a:rPr lang="fr-FR" dirty="0" err="1">
                <a:latin typeface="Times New Roman" panose="02020603050405020304" pitchFamily="18" charset="0"/>
                <a:cs typeface="Times New Roman" panose="02020603050405020304" pitchFamily="18" charset="0"/>
              </a:rPr>
              <a:t>Improves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scalability</a:t>
            </a:r>
            <a:r>
              <a:rPr lang="fr-FR" dirty="0">
                <a:latin typeface="Times New Roman" panose="02020603050405020304" pitchFamily="18" charset="0"/>
                <a:cs typeface="Times New Roman" panose="02020603050405020304" pitchFamily="18" charset="0"/>
              </a:rPr>
              <a:t>)</a:t>
            </a:r>
          </a:p>
          <a:p>
            <a:pPr lvl="1"/>
            <a:endParaRPr lang="fr-FR" dirty="0">
              <a:latin typeface="Times New Roman" panose="02020603050405020304" pitchFamily="18" charset="0"/>
              <a:cs typeface="Times New Roman" panose="02020603050405020304" pitchFamily="18" charset="0"/>
            </a:endParaRPr>
          </a:p>
          <a:p>
            <a:endParaRPr lang="fr-D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362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y does distance vector routing scale better than link state routing |  Blog | Adroit Information">
            <a:extLst>
              <a:ext uri="{FF2B5EF4-FFF2-40B4-BE49-F238E27FC236}">
                <a16:creationId xmlns:a16="http://schemas.microsoft.com/office/drawing/2014/main" id="{59D82E03-AB33-162E-7236-D0C2E27B43E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7503"/>
          <a:stretch>
            <a:fillRect/>
          </a:stretch>
        </p:blipFill>
        <p:spPr bwMode="auto">
          <a:xfrm>
            <a:off x="5374332" y="2132856"/>
            <a:ext cx="5544430" cy="352839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9DE0B43-558B-E121-F5B4-E02DABE176EA}"/>
              </a:ext>
            </a:extLst>
          </p:cNvPr>
          <p:cNvSpPr txBox="1"/>
          <p:nvPr/>
        </p:nvSpPr>
        <p:spPr>
          <a:xfrm>
            <a:off x="1125860" y="1109057"/>
            <a:ext cx="5498977" cy="5632311"/>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Step-by-Step Operation</a:t>
            </a:r>
          </a:p>
          <a:p>
            <a:pPr>
              <a:buFont typeface="+mj-lt"/>
              <a:buAutoNum type="arabicPeriod"/>
            </a:pPr>
            <a:r>
              <a:rPr lang="en-US" b="1" dirty="0">
                <a:latin typeface="Times New Roman" panose="02020603050405020304" pitchFamily="18" charset="0"/>
                <a:cs typeface="Times New Roman" panose="02020603050405020304" pitchFamily="18" charset="0"/>
              </a:rPr>
              <a:t>Neighbor Discovery</a:t>
            </a:r>
            <a:endParaRPr lang="en-US"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Routers exchange Hello packets</a:t>
            </a: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Build an adjacency list</a:t>
            </a:r>
          </a:p>
          <a:p>
            <a:pPr>
              <a:buFont typeface="+mj-lt"/>
              <a:buAutoNum type="arabicPeriod"/>
            </a:pPr>
            <a:r>
              <a:rPr lang="en-US" b="1" dirty="0">
                <a:latin typeface="Times New Roman" panose="02020603050405020304" pitchFamily="18" charset="0"/>
                <a:cs typeface="Times New Roman" panose="02020603050405020304" pitchFamily="18" charset="0"/>
              </a:rPr>
              <a:t>LSA Generation</a:t>
            </a:r>
            <a:endParaRPr lang="en-US"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Each router creates LSAs describing local links:</a:t>
            </a:r>
          </a:p>
          <a:p>
            <a:pPr marL="1143000" lvl="2" indent="-228600">
              <a:buFont typeface="+mj-lt"/>
              <a:buAutoNum type="arabicPeriod"/>
            </a:pPr>
            <a:r>
              <a:rPr lang="en-US" dirty="0">
                <a:latin typeface="Times New Roman" panose="02020603050405020304" pitchFamily="18" charset="0"/>
                <a:cs typeface="Times New Roman" panose="02020603050405020304" pitchFamily="18" charset="0"/>
              </a:rPr>
              <a:t>Link interfaces</a:t>
            </a:r>
          </a:p>
          <a:p>
            <a:pPr marL="1143000" lvl="2" indent="-228600">
              <a:buFont typeface="+mj-lt"/>
              <a:buAutoNum type="arabicPeriod"/>
            </a:pPr>
            <a:r>
              <a:rPr lang="en-US" dirty="0">
                <a:latin typeface="Times New Roman" panose="02020603050405020304" pitchFamily="18" charset="0"/>
                <a:cs typeface="Times New Roman" panose="02020603050405020304" pitchFamily="18" charset="0"/>
              </a:rPr>
              <a:t>Connected networks</a:t>
            </a:r>
          </a:p>
          <a:p>
            <a:pPr marL="1143000" lvl="2" indent="-228600">
              <a:buFont typeface="+mj-lt"/>
              <a:buAutoNum type="arabicPeriod"/>
            </a:pPr>
            <a:r>
              <a:rPr lang="en-US" dirty="0">
                <a:latin typeface="Times New Roman" panose="02020603050405020304" pitchFamily="18" charset="0"/>
                <a:cs typeface="Times New Roman" panose="02020603050405020304" pitchFamily="18" charset="0"/>
              </a:rPr>
              <a:t>Link metrics</a:t>
            </a:r>
          </a:p>
          <a:p>
            <a:pPr marL="1143000" lvl="2" indent="-228600">
              <a:buFont typeface="+mj-lt"/>
              <a:buAutoNum type="arabicPeriod"/>
            </a:pPr>
            <a:r>
              <a:rPr lang="en-US" dirty="0">
                <a:latin typeface="Times New Roman" panose="02020603050405020304" pitchFamily="18" charset="0"/>
                <a:cs typeface="Times New Roman" panose="02020603050405020304" pitchFamily="18" charset="0"/>
              </a:rPr>
              <a:t>Router IDs</a:t>
            </a:r>
          </a:p>
          <a:p>
            <a:pPr>
              <a:buFont typeface="+mj-lt"/>
              <a:buAutoNum type="arabicPeriod"/>
            </a:pPr>
            <a:r>
              <a:rPr lang="en-US" b="1" dirty="0">
                <a:latin typeface="Times New Roman" panose="02020603050405020304" pitchFamily="18" charset="0"/>
                <a:cs typeface="Times New Roman" panose="02020603050405020304" pitchFamily="18" charset="0"/>
              </a:rPr>
              <a:t>Flooding (Not Broadcasting)</a:t>
            </a:r>
            <a:endParaRPr lang="en-US"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LSAs are </a:t>
            </a:r>
            <a:r>
              <a:rPr lang="en-US" i="1" dirty="0">
                <a:latin typeface="Times New Roman" panose="02020603050405020304" pitchFamily="18" charset="0"/>
                <a:cs typeface="Times New Roman" panose="02020603050405020304" pitchFamily="18" charset="0"/>
              </a:rPr>
              <a:t>reliable flooded</a:t>
            </a:r>
            <a:r>
              <a:rPr lang="en-US" dirty="0">
                <a:latin typeface="Times New Roman" panose="02020603050405020304" pitchFamily="18" charset="0"/>
                <a:cs typeface="Times New Roman" panose="02020603050405020304" pitchFamily="18" charset="0"/>
              </a:rPr>
              <a:t> to all routers in the area</a:t>
            </a: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Ensures synchronized LSDBs</a:t>
            </a:r>
          </a:p>
          <a:p>
            <a:pPr>
              <a:buFont typeface="+mj-lt"/>
              <a:buAutoNum type="arabicPeriod"/>
            </a:pPr>
            <a:r>
              <a:rPr lang="en-US" b="1" dirty="0">
                <a:latin typeface="Times New Roman" panose="02020603050405020304" pitchFamily="18" charset="0"/>
                <a:cs typeface="Times New Roman" panose="02020603050405020304" pitchFamily="18" charset="0"/>
              </a:rPr>
              <a:t>LSDB Construction</a:t>
            </a:r>
            <a:endParaRPr lang="en-US"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All routers hold the same database</a:t>
            </a: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A “map” of the network</a:t>
            </a:r>
          </a:p>
          <a:p>
            <a:pPr>
              <a:buFont typeface="+mj-lt"/>
              <a:buAutoNum type="arabicPeriod"/>
            </a:pPr>
            <a:r>
              <a:rPr lang="en-US" b="1" dirty="0">
                <a:latin typeface="Times New Roman" panose="02020603050405020304" pitchFamily="18" charset="0"/>
                <a:cs typeface="Times New Roman" panose="02020603050405020304" pitchFamily="18" charset="0"/>
              </a:rPr>
              <a:t>SPF Calculation</a:t>
            </a:r>
            <a:endParaRPr lang="en-US"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Dijkstra’s algorithm computes shortest paths</a:t>
            </a: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Creates the routing table</a:t>
            </a:r>
          </a:p>
        </p:txBody>
      </p:sp>
      <p:sp>
        <p:nvSpPr>
          <p:cNvPr id="5" name="TextBox 4">
            <a:extLst>
              <a:ext uri="{FF2B5EF4-FFF2-40B4-BE49-F238E27FC236}">
                <a16:creationId xmlns:a16="http://schemas.microsoft.com/office/drawing/2014/main" id="{DC0BC483-7921-5785-9F85-AA02C4F994A4}"/>
              </a:ext>
            </a:extLst>
          </p:cNvPr>
          <p:cNvSpPr txBox="1"/>
          <p:nvPr/>
        </p:nvSpPr>
        <p:spPr>
          <a:xfrm>
            <a:off x="3045014" y="260648"/>
            <a:ext cx="6098796"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How Link State Works </a:t>
            </a:r>
            <a:endParaRPr lang="fr-DZ"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5330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2B97F02-058D-387B-2B3E-968DB17CBE75}"/>
              </a:ext>
            </a:extLst>
          </p:cNvPr>
          <p:cNvGraphicFramePr>
            <a:graphicFrameLocks noGrp="1"/>
          </p:cNvGraphicFramePr>
          <p:nvPr>
            <p:extLst>
              <p:ext uri="{D42A27DB-BD31-4B8C-83A1-F6EECF244321}">
                <p14:modId xmlns:p14="http://schemas.microsoft.com/office/powerpoint/2010/main" val="1084983845"/>
              </p:ext>
            </p:extLst>
          </p:nvPr>
        </p:nvGraphicFramePr>
        <p:xfrm>
          <a:off x="1053852" y="1787624"/>
          <a:ext cx="9782175" cy="3657600"/>
        </p:xfrm>
        <a:graphic>
          <a:graphicData uri="http://schemas.openxmlformats.org/drawingml/2006/table">
            <a:tbl>
              <a:tblPr/>
              <a:tblGrid>
                <a:gridCol w="3260725">
                  <a:extLst>
                    <a:ext uri="{9D8B030D-6E8A-4147-A177-3AD203B41FA5}">
                      <a16:colId xmlns:a16="http://schemas.microsoft.com/office/drawing/2014/main" val="4166294600"/>
                    </a:ext>
                  </a:extLst>
                </a:gridCol>
                <a:gridCol w="3260725">
                  <a:extLst>
                    <a:ext uri="{9D8B030D-6E8A-4147-A177-3AD203B41FA5}">
                      <a16:colId xmlns:a16="http://schemas.microsoft.com/office/drawing/2014/main" val="1952362992"/>
                    </a:ext>
                  </a:extLst>
                </a:gridCol>
                <a:gridCol w="3260725">
                  <a:extLst>
                    <a:ext uri="{9D8B030D-6E8A-4147-A177-3AD203B41FA5}">
                      <a16:colId xmlns:a16="http://schemas.microsoft.com/office/drawing/2014/main" val="1179390523"/>
                    </a:ext>
                  </a:extLst>
                </a:gridCol>
              </a:tblGrid>
              <a:tr h="0">
                <a:tc>
                  <a:txBody>
                    <a:bodyPr/>
                    <a:lstStyle/>
                    <a:p>
                      <a:pPr>
                        <a:buNone/>
                      </a:pPr>
                      <a:r>
                        <a:rPr lang="fr-FR">
                          <a:latin typeface="Times New Roman" panose="02020603050405020304" pitchFamily="18" charset="0"/>
                          <a:cs typeface="Times New Roman" panose="02020603050405020304" pitchFamily="18"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40000"/>
                        <a:lumOff val="60000"/>
                      </a:schemeClr>
                    </a:solidFill>
                  </a:tcPr>
                </a:tc>
                <a:tc>
                  <a:txBody>
                    <a:bodyPr/>
                    <a:lstStyle/>
                    <a:p>
                      <a:pPr>
                        <a:buNone/>
                      </a:pPr>
                      <a:r>
                        <a:rPr lang="fr-FR">
                          <a:latin typeface="Times New Roman" panose="02020603050405020304" pitchFamily="18" charset="0"/>
                          <a:cs typeface="Times New Roman" panose="02020603050405020304" pitchFamily="18" charset="0"/>
                        </a:rPr>
                        <a:t>Distance Vector (DV)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40000"/>
                        <a:lumOff val="60000"/>
                      </a:schemeClr>
                    </a:solidFill>
                  </a:tcPr>
                </a:tc>
                <a:tc>
                  <a:txBody>
                    <a:bodyPr/>
                    <a:lstStyle/>
                    <a:p>
                      <a:pPr>
                        <a:buNone/>
                      </a:pPr>
                      <a:r>
                        <a:rPr lang="fr-FR" dirty="0">
                          <a:latin typeface="Times New Roman" panose="02020603050405020304" pitchFamily="18" charset="0"/>
                          <a:cs typeface="Times New Roman" panose="02020603050405020304" pitchFamily="18" charset="0"/>
                        </a:rPr>
                        <a:t>Link State (LS)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4070589800"/>
                  </a:ext>
                </a:extLst>
              </a:tr>
              <a:tr h="0">
                <a:tc>
                  <a:txBody>
                    <a:bodyPr/>
                    <a:lstStyle/>
                    <a:p>
                      <a:pPr>
                        <a:buNone/>
                      </a:pPr>
                      <a:r>
                        <a:rPr lang="fr-FR">
                          <a:latin typeface="Times New Roman" panose="02020603050405020304" pitchFamily="18" charset="0"/>
                          <a:cs typeface="Times New Roman" panose="02020603050405020304" pitchFamily="18" charset="0"/>
                        </a:rPr>
                        <a:t>Topology Knowledge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buNone/>
                      </a:pPr>
                      <a:r>
                        <a:rPr lang="fr-FR">
                          <a:latin typeface="Times New Roman" panose="02020603050405020304" pitchFamily="18" charset="0"/>
                          <a:cs typeface="Times New Roman" panose="02020603050405020304" pitchFamily="18" charset="0"/>
                        </a:rPr>
                        <a:t>Neighbors only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buNone/>
                      </a:pPr>
                      <a:r>
                        <a:rPr lang="fr-FR">
                          <a:latin typeface="Times New Roman" panose="02020603050405020304" pitchFamily="18" charset="0"/>
                          <a:cs typeface="Times New Roman" panose="02020603050405020304" pitchFamily="18" charset="0"/>
                        </a:rPr>
                        <a:t>Full network map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829989030"/>
                  </a:ext>
                </a:extLst>
              </a:tr>
              <a:tr h="0">
                <a:tc>
                  <a:txBody>
                    <a:bodyPr/>
                    <a:lstStyle/>
                    <a:p>
                      <a:pPr>
                        <a:buNone/>
                      </a:pPr>
                      <a:r>
                        <a:rPr lang="fr-FR">
                          <a:latin typeface="Times New Roman" panose="02020603050405020304" pitchFamily="18" charset="0"/>
                          <a:cs typeface="Times New Roman" panose="02020603050405020304" pitchFamily="18" charset="0"/>
                        </a:rPr>
                        <a:t>Update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a:latin typeface="Times New Roman" panose="02020603050405020304" pitchFamily="18" charset="0"/>
                          <a:cs typeface="Times New Roman" panose="02020603050405020304" pitchFamily="18" charset="0"/>
                        </a:rPr>
                        <a:t>Periodic, full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a:latin typeface="Times New Roman" panose="02020603050405020304" pitchFamily="18" charset="0"/>
                          <a:cs typeface="Times New Roman" panose="02020603050405020304" pitchFamily="18" charset="0"/>
                        </a:rPr>
                        <a:t>Event-driven incremental LSAs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427412064"/>
                  </a:ext>
                </a:extLst>
              </a:tr>
              <a:tr h="0">
                <a:tc>
                  <a:txBody>
                    <a:bodyPr/>
                    <a:lstStyle/>
                    <a:p>
                      <a:pPr>
                        <a:buNone/>
                      </a:pPr>
                      <a:r>
                        <a:rPr lang="fr-FR">
                          <a:latin typeface="Times New Roman" panose="02020603050405020304" pitchFamily="18" charset="0"/>
                          <a:cs typeface="Times New Roman" panose="02020603050405020304" pitchFamily="18" charset="0"/>
                        </a:rPr>
                        <a:t>Convergence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a:latin typeface="Times New Roman" panose="02020603050405020304" pitchFamily="18" charset="0"/>
                          <a:cs typeface="Times New Roman" panose="02020603050405020304" pitchFamily="18" charset="0"/>
                        </a:rPr>
                        <a:t>Slow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a:latin typeface="Times New Roman" panose="02020603050405020304" pitchFamily="18" charset="0"/>
                          <a:cs typeface="Times New Roman" panose="02020603050405020304" pitchFamily="18" charset="0"/>
                        </a:rPr>
                        <a:t>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724448054"/>
                  </a:ext>
                </a:extLst>
              </a:tr>
              <a:tr h="0">
                <a:tc>
                  <a:txBody>
                    <a:bodyPr/>
                    <a:lstStyle/>
                    <a:p>
                      <a:pPr>
                        <a:buNone/>
                      </a:pPr>
                      <a:r>
                        <a:rPr lang="fr-FR">
                          <a:latin typeface="Times New Roman" panose="02020603050405020304" pitchFamily="18" charset="0"/>
                          <a:cs typeface="Times New Roman" panose="02020603050405020304" pitchFamily="18" charset="0"/>
                        </a:rPr>
                        <a:t>Complexity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a:latin typeface="Times New Roman" panose="02020603050405020304" pitchFamily="18" charset="0"/>
                          <a:cs typeface="Times New Roman" panose="02020603050405020304" pitchFamily="18" charset="0"/>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a:latin typeface="Times New Roman" panose="02020603050405020304" pitchFamily="18" charset="0"/>
                          <a:cs typeface="Times New Roman" panose="02020603050405020304"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557571451"/>
                  </a:ext>
                </a:extLst>
              </a:tr>
              <a:tr h="0">
                <a:tc>
                  <a:txBody>
                    <a:bodyPr/>
                    <a:lstStyle/>
                    <a:p>
                      <a:pPr>
                        <a:buNone/>
                      </a:pPr>
                      <a:r>
                        <a:rPr lang="fr-FR">
                          <a:latin typeface="Times New Roman" panose="02020603050405020304" pitchFamily="18" charset="0"/>
                          <a:cs typeface="Times New Roman" panose="02020603050405020304" pitchFamily="18" charset="0"/>
                        </a:rPr>
                        <a:t>Resource 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a:latin typeface="Times New Roman" panose="02020603050405020304" pitchFamily="18" charset="0"/>
                          <a:cs typeface="Times New Roman" panose="02020603050405020304" pitchFamily="18" charset="0"/>
                        </a:rPr>
                        <a:t>Low CPU/memory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a:latin typeface="Times New Roman" panose="02020603050405020304" pitchFamily="18" charset="0"/>
                          <a:cs typeface="Times New Roman" panose="02020603050405020304" pitchFamily="18" charset="0"/>
                        </a:rPr>
                        <a:t>High CPU/memory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711269802"/>
                  </a:ext>
                </a:extLst>
              </a:tr>
              <a:tr h="0">
                <a:tc>
                  <a:txBody>
                    <a:bodyPr/>
                    <a:lstStyle/>
                    <a:p>
                      <a:pPr>
                        <a:buNone/>
                      </a:pPr>
                      <a:r>
                        <a:rPr lang="fr-FR">
                          <a:latin typeface="Times New Roman" panose="02020603050405020304" pitchFamily="18" charset="0"/>
                          <a:cs typeface="Times New Roman" panose="02020603050405020304" pitchFamily="18" charset="0"/>
                        </a:rPr>
                        <a:t>Loop Risk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a:latin typeface="Times New Roman" panose="02020603050405020304" pitchFamily="18" charset="0"/>
                          <a:cs typeface="Times New Roman" panose="02020603050405020304"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a:latin typeface="Times New Roman" panose="02020603050405020304" pitchFamily="18" charset="0"/>
                          <a:cs typeface="Times New Roman" panose="02020603050405020304" pitchFamily="18" charset="0"/>
                        </a:rPr>
                        <a:t>Very 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623488285"/>
                  </a:ext>
                </a:extLst>
              </a:tr>
              <a:tr h="0">
                <a:tc>
                  <a:txBody>
                    <a:bodyPr/>
                    <a:lstStyle/>
                    <a:p>
                      <a:pPr>
                        <a:buNone/>
                      </a:pPr>
                      <a:r>
                        <a:rPr lang="fr-FR">
                          <a:latin typeface="Times New Roman" panose="02020603050405020304" pitchFamily="18" charset="0"/>
                          <a:cs typeface="Times New Roman" panose="02020603050405020304" pitchFamily="18" charset="0"/>
                        </a:rPr>
                        <a:t>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a:latin typeface="Times New Roman" panose="02020603050405020304" pitchFamily="18" charset="0"/>
                          <a:cs typeface="Times New Roman" panose="02020603050405020304" pitchFamily="18" charset="0"/>
                        </a:rPr>
                        <a:t>Small networks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a:latin typeface="Times New Roman" panose="02020603050405020304" pitchFamily="18" charset="0"/>
                          <a:cs typeface="Times New Roman" panose="02020603050405020304" pitchFamily="18" charset="0"/>
                        </a:rPr>
                        <a:t>Large enterprises &amp; ISPs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080270630"/>
                  </a:ext>
                </a:extLst>
              </a:tr>
              <a:tr h="0">
                <a:tc>
                  <a:txBody>
                    <a:bodyPr/>
                    <a:lstStyle/>
                    <a:p>
                      <a:pPr>
                        <a:buNone/>
                      </a:pPr>
                      <a:r>
                        <a:rPr lang="fr-FR">
                          <a:latin typeface="Times New Roman" panose="02020603050405020304" pitchFamily="18" charset="0"/>
                          <a:cs typeface="Times New Roman" panose="02020603050405020304" pitchFamily="18" charset="0"/>
                        </a:rPr>
                        <a:t>Examples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a:latin typeface="Times New Roman" panose="02020603050405020304" pitchFamily="18" charset="0"/>
                          <a:cs typeface="Times New Roman" panose="02020603050405020304" pitchFamily="18" charset="0"/>
                        </a:rPr>
                        <a:t>RIP, EIGRP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fr-FR">
                          <a:latin typeface="Times New Roman" panose="02020603050405020304" pitchFamily="18" charset="0"/>
                          <a:cs typeface="Times New Roman" panose="02020603050405020304" pitchFamily="18" charset="0"/>
                        </a:rPr>
                        <a:t>OSPF, IS-IS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588950953"/>
                  </a:ext>
                </a:extLst>
              </a:tr>
              <a:tr h="0">
                <a:tc>
                  <a:txBody>
                    <a:bodyPr/>
                    <a:lstStyle/>
                    <a:p>
                      <a:pPr>
                        <a:buNone/>
                      </a:pPr>
                      <a:r>
                        <a:rPr lang="fr-FR">
                          <a:latin typeface="Times New Roman" panose="02020603050405020304" pitchFamily="18" charset="0"/>
                          <a:cs typeface="Times New Roman" panose="02020603050405020304" pitchFamily="18" charset="0"/>
                        </a:rPr>
                        <a:t>Algorithm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fr-FR">
                          <a:latin typeface="Times New Roman" panose="02020603050405020304" pitchFamily="18" charset="0"/>
                          <a:cs typeface="Times New Roman" panose="02020603050405020304" pitchFamily="18" charset="0"/>
                        </a:rPr>
                        <a:t>Bellman-Ford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fr-FR" dirty="0">
                          <a:latin typeface="Times New Roman" panose="02020603050405020304" pitchFamily="18" charset="0"/>
                          <a:cs typeface="Times New Roman" panose="02020603050405020304" pitchFamily="18" charset="0"/>
                        </a:rPr>
                        <a:t>Dijkstra (SPF)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1726806"/>
                  </a:ext>
                </a:extLst>
              </a:tr>
            </a:tbl>
          </a:graphicData>
        </a:graphic>
      </p:graphicFrame>
      <p:sp>
        <p:nvSpPr>
          <p:cNvPr id="3" name="TextBox 2">
            <a:extLst>
              <a:ext uri="{FF2B5EF4-FFF2-40B4-BE49-F238E27FC236}">
                <a16:creationId xmlns:a16="http://schemas.microsoft.com/office/drawing/2014/main" id="{490732EE-70E5-24BC-741C-884AE7B8D0A7}"/>
              </a:ext>
            </a:extLst>
          </p:cNvPr>
          <p:cNvSpPr txBox="1"/>
          <p:nvPr/>
        </p:nvSpPr>
        <p:spPr>
          <a:xfrm>
            <a:off x="3045014" y="550421"/>
            <a:ext cx="6098796"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DV vs LS</a:t>
            </a:r>
            <a:endParaRPr lang="fr-DZ"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3488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ow OSPF Protocol Works &amp; Basic Concepts: OSPF Neighbor, Topology &amp; Routing  Table, OSPF Areas &amp;">
            <a:extLst>
              <a:ext uri="{FF2B5EF4-FFF2-40B4-BE49-F238E27FC236}">
                <a16:creationId xmlns:a16="http://schemas.microsoft.com/office/drawing/2014/main" id="{3EC295D4-A782-FBFD-B710-36901C1D3F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4957" y="3815045"/>
            <a:ext cx="4623991" cy="285431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B0B10C7-2717-9363-4245-67C13C0E7045}"/>
              </a:ext>
            </a:extLst>
          </p:cNvPr>
          <p:cNvSpPr txBox="1"/>
          <p:nvPr/>
        </p:nvSpPr>
        <p:spPr>
          <a:xfrm>
            <a:off x="3045014" y="550421"/>
            <a:ext cx="6098796"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OSPF</a:t>
            </a:r>
            <a:endParaRPr lang="fr-DZ" sz="3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0F53AEC-5DEE-C52F-AEEF-A93274A9C6A0}"/>
              </a:ext>
            </a:extLst>
          </p:cNvPr>
          <p:cNvSpPr txBox="1"/>
          <p:nvPr/>
        </p:nvSpPr>
        <p:spPr>
          <a:xfrm>
            <a:off x="981844" y="1330890"/>
            <a:ext cx="9505056" cy="535531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Open Shortest Path First is a Link-State Interior Gateway Protocol (IGP) used inside an Autonomous System to exchange routing information.</a:t>
            </a:r>
          </a:p>
          <a:p>
            <a:r>
              <a:rPr lang="en-US" dirty="0">
                <a:latin typeface="Times New Roman" panose="02020603050405020304" pitchFamily="18" charset="0"/>
                <a:cs typeface="Times New Roman" panose="02020603050405020304" pitchFamily="18" charset="0"/>
              </a:rPr>
              <a:t>Key properties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Link-State → routers maintain a synchronized map of the entire area</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Standardized (v1 for IPv4, v2 for IPv6)</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Fast convergence (thanks to SPF and incremental LSAs)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Hierarchical design using multiple areas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Widely used in enterprises and service provider networks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Area 0 is the core of the OSPF domain. All other areas must connect to Area 0.</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Area Border Router (ABR) is a router with</a:t>
            </a:r>
          </a:p>
          <a:p>
            <a:pPr lvl="1"/>
            <a:r>
              <a:rPr lang="en-US" dirty="0">
                <a:latin typeface="Times New Roman" panose="02020603050405020304" pitchFamily="18" charset="0"/>
                <a:cs typeface="Times New Roman" panose="02020603050405020304" pitchFamily="18" charset="0"/>
              </a:rPr>
              <a:t> interfaces in Area 0 and at least one non-backbone </a:t>
            </a:r>
          </a:p>
          <a:p>
            <a:pPr lvl="1"/>
            <a:r>
              <a:rPr lang="en-US" dirty="0">
                <a:latin typeface="Times New Roman" panose="02020603050405020304" pitchFamily="18" charset="0"/>
                <a:cs typeface="Times New Roman" panose="02020603050405020304" pitchFamily="18" charset="0"/>
              </a:rPr>
              <a:t>area.</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ASBR connects the OSPF domain to an </a:t>
            </a:r>
          </a:p>
          <a:p>
            <a:pPr lvl="1"/>
            <a:r>
              <a:rPr lang="en-US" dirty="0">
                <a:latin typeface="Times New Roman" panose="02020603050405020304" pitchFamily="18" charset="0"/>
                <a:cs typeface="Times New Roman" panose="02020603050405020304" pitchFamily="18" charset="0"/>
              </a:rPr>
              <a:t>external routing domain,</a:t>
            </a:r>
          </a:p>
          <a:p>
            <a:pPr lvl="1"/>
            <a:r>
              <a:rPr lang="en-US" dirty="0">
                <a:latin typeface="Times New Roman" panose="02020603050405020304" pitchFamily="18" charset="0"/>
                <a:cs typeface="Times New Roman" panose="02020603050405020304" pitchFamily="18" charset="0"/>
              </a:rPr>
              <a:t>OSPF has three main phases: </a:t>
            </a:r>
          </a:p>
          <a:p>
            <a:pPr marL="800100" lvl="1" indent="-342900">
              <a:buAutoNum type="arabicParenR"/>
            </a:pPr>
            <a:r>
              <a:rPr lang="en-US" dirty="0">
                <a:latin typeface="Times New Roman" panose="02020603050405020304" pitchFamily="18" charset="0"/>
                <a:cs typeface="Times New Roman" panose="02020603050405020304" pitchFamily="18" charset="0"/>
              </a:rPr>
              <a:t>Becoming neighbors </a:t>
            </a:r>
          </a:p>
          <a:p>
            <a:pPr marL="800100" lvl="1" indent="-342900">
              <a:buAutoNum type="arabicParenR"/>
            </a:pPr>
            <a:r>
              <a:rPr lang="en-US" dirty="0">
                <a:latin typeface="Times New Roman" panose="02020603050405020304" pitchFamily="18" charset="0"/>
                <a:cs typeface="Times New Roman" panose="02020603050405020304" pitchFamily="18" charset="0"/>
              </a:rPr>
              <a:t>Exchanging databases </a:t>
            </a:r>
          </a:p>
          <a:p>
            <a:pPr marL="800100" lvl="1" indent="-342900">
              <a:buAutoNum type="arabicParenR"/>
            </a:pPr>
            <a:r>
              <a:rPr lang="en-US" dirty="0">
                <a:latin typeface="Times New Roman" panose="02020603050405020304" pitchFamily="18" charset="0"/>
                <a:cs typeface="Times New Roman" panose="02020603050405020304" pitchFamily="18" charset="0"/>
              </a:rPr>
              <a:t>Adding the best routes</a:t>
            </a:r>
          </a:p>
          <a:p>
            <a:pPr lvl="1"/>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2372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BE9FE86-1F7A-6B0C-D421-8B05E4F6A71D}"/>
              </a:ext>
            </a:extLst>
          </p:cNvPr>
          <p:cNvSpPr txBox="1"/>
          <p:nvPr/>
        </p:nvSpPr>
        <p:spPr>
          <a:xfrm>
            <a:off x="3045014" y="332656"/>
            <a:ext cx="6098796"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OSPF States</a:t>
            </a:r>
            <a:endParaRPr lang="fr-DZ" sz="3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E5439A2-3CF0-EAD3-E344-BE0E9439B112}"/>
              </a:ext>
            </a:extLst>
          </p:cNvPr>
          <p:cNvSpPr txBox="1"/>
          <p:nvPr/>
        </p:nvSpPr>
        <p:spPr>
          <a:xfrm>
            <a:off x="1413892" y="1196752"/>
            <a:ext cx="9793088" cy="3970318"/>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Becoming Neighbors (Neighbor Discovery)</a:t>
            </a:r>
          </a:p>
          <a:p>
            <a:pPr>
              <a:buNone/>
            </a:pPr>
            <a:r>
              <a:rPr lang="en-US" dirty="0">
                <a:latin typeface="Times New Roman" panose="02020603050405020304" pitchFamily="18" charset="0"/>
                <a:cs typeface="Times New Roman" panose="02020603050405020304" pitchFamily="18" charset="0"/>
              </a:rPr>
              <a:t>In this phase, OSPF routers identify each other and decide whether they should form an </a:t>
            </a:r>
            <a:r>
              <a:rPr lang="en-US" b="1" dirty="0">
                <a:latin typeface="Times New Roman" panose="02020603050405020304" pitchFamily="18" charset="0"/>
                <a:cs typeface="Times New Roman" panose="02020603050405020304" pitchFamily="18" charset="0"/>
              </a:rPr>
              <a:t>adjacency</a:t>
            </a:r>
            <a:r>
              <a:rPr lang="en-US"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Init state</a:t>
            </a: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Hello packets are exchanged on multicast address 224.0.0.5</a:t>
            </a: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Routers check OSPF parameters: </a:t>
            </a:r>
          </a:p>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Area ID</a:t>
            </a:r>
          </a:p>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Hello/Dead timers</a:t>
            </a:r>
          </a:p>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Authentication type and key</a:t>
            </a:r>
          </a:p>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Stub area flag</a:t>
            </a:r>
          </a:p>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Network mask</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2-Way state</a:t>
            </a:r>
          </a:p>
          <a:p>
            <a:pPr marL="800100" lvl="1" indent="-342900">
              <a:buFont typeface="+mj-lt"/>
              <a:buAutoNum type="arabicPeriod"/>
            </a:pPr>
            <a:r>
              <a:rPr lang="en-US" dirty="0">
                <a:latin typeface="Times New Roman" panose="02020603050405020304" pitchFamily="18" charset="0"/>
                <a:cs typeface="Times New Roman" panose="02020603050405020304" pitchFamily="18" charset="0"/>
              </a:rPr>
              <a:t>If parameters match → routers become </a:t>
            </a:r>
          </a:p>
          <a:p>
            <a:r>
              <a:rPr lang="en-US" b="1" dirty="0">
                <a:latin typeface="Times New Roman" panose="02020603050405020304" pitchFamily="18" charset="0"/>
                <a:cs typeface="Times New Roman" panose="02020603050405020304" pitchFamily="18" charset="0"/>
              </a:rPr>
              <a:t>neighbors</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637A17B6-7E0D-4AD7-5A1B-8E5B885F0E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2404" y="2420888"/>
            <a:ext cx="5472608" cy="3868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077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5FC975-5F0A-F981-D165-984A8C89C4B2}"/>
              </a:ext>
            </a:extLst>
          </p:cNvPr>
          <p:cNvSpPr txBox="1"/>
          <p:nvPr/>
        </p:nvSpPr>
        <p:spPr>
          <a:xfrm>
            <a:off x="1125860" y="980728"/>
            <a:ext cx="9721080" cy="3970318"/>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LSAs (Link State Advertisements) are the basic building blocks of OSPF topology information, and the LSDB (Link State Database) is a collection of these LSAs that all routers in an OSPF area use to maintain an identical map of the network. </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Routers flood LSAs to share information about their links and neighbors, and the LSDB contains all this data to allow each router to independently run the </a:t>
            </a:r>
            <a:r>
              <a:rPr lang="en-US"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shortest path first (SPF) algorithm</a:t>
            </a:r>
            <a:r>
              <a:rPr lang="en-US" dirty="0">
                <a:latin typeface="Times New Roman" panose="02020603050405020304" pitchFamily="18" charset="0"/>
                <a:cs typeface="Times New Roman" panose="02020603050405020304" pitchFamily="18" charset="0"/>
              </a:rPr>
              <a:t> and calculate the best routes. </a:t>
            </a:r>
          </a:p>
          <a:p>
            <a:pPr>
              <a:buNone/>
            </a:pPr>
            <a:r>
              <a:rPr lang="en-US" b="1" dirty="0">
                <a:latin typeface="Times New Roman" panose="02020603050405020304" pitchFamily="18" charset="0"/>
                <a:cs typeface="Times New Roman" panose="02020603050405020304" pitchFamily="18" charset="0"/>
              </a:rPr>
              <a:t>LSA contains: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RID</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Links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Addresses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Status info</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Cost </a:t>
            </a:r>
          </a:p>
          <a:p>
            <a:pPr>
              <a:buNone/>
            </a:pPr>
            <a:endParaRPr lang="fr-FR"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0C52EF2-A573-020C-3F85-CCF70FD95EC9}"/>
              </a:ext>
            </a:extLst>
          </p:cNvPr>
          <p:cNvSpPr txBox="1"/>
          <p:nvPr/>
        </p:nvSpPr>
        <p:spPr>
          <a:xfrm>
            <a:off x="3045014" y="188640"/>
            <a:ext cx="6098796"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OSPF States</a:t>
            </a:r>
            <a:endParaRPr lang="fr-DZ" sz="3600" dirty="0">
              <a:latin typeface="Times New Roman" panose="02020603050405020304" pitchFamily="18" charset="0"/>
              <a:cs typeface="Times New Roman" panose="02020603050405020304" pitchFamily="18" charset="0"/>
            </a:endParaRPr>
          </a:p>
        </p:txBody>
      </p:sp>
      <p:pic>
        <p:nvPicPr>
          <p:cNvPr id="2054" name="Picture 6" descr="Open Shortest Path First (OSPF) Explained">
            <a:extLst>
              <a:ext uri="{FF2B5EF4-FFF2-40B4-BE49-F238E27FC236}">
                <a16:creationId xmlns:a16="http://schemas.microsoft.com/office/drawing/2014/main" id="{4655C5BE-D04D-7BCE-F955-0AF27A5B0A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1890" y="3140968"/>
            <a:ext cx="3725044" cy="3271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308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4D066-6FB4-D40C-D1FC-036E3CE8DA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F7DCB2F-EC87-267C-2F92-8CB43ED1869A}"/>
              </a:ext>
            </a:extLst>
          </p:cNvPr>
          <p:cNvSpPr txBox="1"/>
          <p:nvPr/>
        </p:nvSpPr>
        <p:spPr>
          <a:xfrm>
            <a:off x="981844" y="1402898"/>
            <a:ext cx="9721080" cy="4801314"/>
          </a:xfrm>
          <a:prstGeom prst="rect">
            <a:avLst/>
          </a:prstGeom>
          <a:noFill/>
        </p:spPr>
        <p:txBody>
          <a:bodyPr wrap="square">
            <a:spAutoFit/>
          </a:bodyPr>
          <a:lstStyle/>
          <a:p>
            <a:pPr>
              <a:buNone/>
            </a:pPr>
            <a:r>
              <a:rPr lang="fr-FR" b="1" dirty="0" err="1">
                <a:latin typeface="Times New Roman" panose="02020603050405020304" pitchFamily="18" charset="0"/>
                <a:cs typeface="Times New Roman" panose="02020603050405020304" pitchFamily="18" charset="0"/>
              </a:rPr>
              <a:t>Exchanging</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Databases</a:t>
            </a:r>
            <a:r>
              <a:rPr lang="fr-FR" b="1" dirty="0">
                <a:latin typeface="Times New Roman" panose="02020603050405020304" pitchFamily="18" charset="0"/>
                <a:cs typeface="Times New Roman" panose="02020603050405020304" pitchFamily="18" charset="0"/>
              </a:rPr>
              <a:t> (LSA Exchange)</a:t>
            </a:r>
          </a:p>
          <a:p>
            <a:pPr>
              <a:buNone/>
            </a:pPr>
            <a:r>
              <a:rPr lang="fr-FR" dirty="0">
                <a:latin typeface="Times New Roman" panose="02020603050405020304" pitchFamily="18" charset="0"/>
                <a:cs typeface="Times New Roman" panose="02020603050405020304" pitchFamily="18" charset="0"/>
              </a:rPr>
              <a:t>Once </a:t>
            </a:r>
            <a:r>
              <a:rPr lang="fr-FR" dirty="0" err="1">
                <a:latin typeface="Times New Roman" panose="02020603050405020304" pitchFamily="18" charset="0"/>
                <a:cs typeface="Times New Roman" panose="02020603050405020304" pitchFamily="18" charset="0"/>
              </a:rPr>
              <a:t>routers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become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neighbors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they</a:t>
            </a:r>
            <a:r>
              <a:rPr lang="fr-FR" dirty="0">
                <a:latin typeface="Times New Roman" panose="02020603050405020304" pitchFamily="18" charset="0"/>
                <a:cs typeface="Times New Roman" panose="02020603050405020304" pitchFamily="18" charset="0"/>
              </a:rPr>
              <a:t> must </a:t>
            </a:r>
            <a:r>
              <a:rPr lang="fr-FR" dirty="0" err="1">
                <a:latin typeface="Times New Roman" panose="02020603050405020304" pitchFamily="18" charset="0"/>
                <a:cs typeface="Times New Roman" panose="02020603050405020304" pitchFamily="18" charset="0"/>
              </a:rPr>
              <a:t>synchronize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their</a:t>
            </a:r>
            <a:r>
              <a:rPr lang="fr-FR" dirty="0">
                <a:latin typeface="Times New Roman" panose="02020603050405020304" pitchFamily="18" charset="0"/>
                <a:cs typeface="Times New Roman" panose="02020603050405020304" pitchFamily="18" charset="0"/>
              </a:rPr>
              <a:t> </a:t>
            </a:r>
            <a:r>
              <a:rPr lang="fr-FR" b="1" dirty="0">
                <a:latin typeface="Times New Roman" panose="02020603050405020304" pitchFamily="18" charset="0"/>
                <a:cs typeface="Times New Roman" panose="02020603050405020304" pitchFamily="18" charset="0"/>
              </a:rPr>
              <a:t>Link-State </a:t>
            </a:r>
            <a:r>
              <a:rPr lang="fr-FR" b="1" dirty="0" err="1">
                <a:latin typeface="Times New Roman" panose="02020603050405020304" pitchFamily="18" charset="0"/>
                <a:cs typeface="Times New Roman" panose="02020603050405020304" pitchFamily="18" charset="0"/>
              </a:rPr>
              <a:t>Databases</a:t>
            </a:r>
            <a:r>
              <a:rPr lang="fr-FR" b="1" dirty="0">
                <a:latin typeface="Times New Roman" panose="02020603050405020304" pitchFamily="18" charset="0"/>
                <a:cs typeface="Times New Roman" panose="02020603050405020304" pitchFamily="18" charset="0"/>
              </a:rPr>
              <a:t> (LSDB)</a:t>
            </a:r>
            <a:r>
              <a:rPr lang="fr-FR" dirty="0">
                <a:latin typeface="Times New Roman" panose="02020603050405020304" pitchFamily="18" charset="0"/>
                <a:cs typeface="Times New Roman" panose="02020603050405020304" pitchFamily="18" charset="0"/>
              </a:rPr>
              <a:t>.</a:t>
            </a:r>
          </a:p>
          <a:p>
            <a:pPr>
              <a:buNone/>
            </a:pPr>
            <a:r>
              <a:rPr lang="fr-FR" b="1" dirty="0" err="1">
                <a:latin typeface="Times New Roman" panose="02020603050405020304" pitchFamily="18" charset="0"/>
                <a:cs typeface="Times New Roman" panose="02020603050405020304" pitchFamily="18" charset="0"/>
              </a:rPr>
              <a:t>ExStart</a:t>
            </a:r>
            <a:r>
              <a:rPr lang="fr-FR" b="1" dirty="0">
                <a:latin typeface="Times New Roman" panose="02020603050405020304" pitchFamily="18" charset="0"/>
                <a:cs typeface="Times New Roman" panose="02020603050405020304" pitchFamily="18" charset="0"/>
              </a:rPr>
              <a:t>/Exchange states: </a:t>
            </a:r>
          </a:p>
          <a:p>
            <a:pPr>
              <a:buNone/>
            </a:pPr>
            <a:r>
              <a:rPr lang="fr-FR" dirty="0" err="1">
                <a:latin typeface="Times New Roman" panose="02020603050405020304" pitchFamily="18" charset="0"/>
                <a:cs typeface="Times New Roman" panose="02020603050405020304" pitchFamily="18" charset="0"/>
              </a:rPr>
              <a:t>Database</a:t>
            </a:r>
            <a:r>
              <a:rPr lang="fr-FR" dirty="0">
                <a:latin typeface="Times New Roman" panose="02020603050405020304" pitchFamily="18" charset="0"/>
                <a:cs typeface="Times New Roman" panose="02020603050405020304" pitchFamily="18" charset="0"/>
              </a:rPr>
              <a:t> Description </a:t>
            </a:r>
            <a:r>
              <a:rPr lang="fr-FR" dirty="0" err="1">
                <a:latin typeface="Times New Roman" panose="02020603050405020304" pitchFamily="18" charset="0"/>
                <a:cs typeface="Times New Roman" panose="02020603050405020304" pitchFamily="18" charset="0"/>
              </a:rPr>
              <a:t>Packets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DBDs</a:t>
            </a:r>
            <a:r>
              <a:rPr lang="fr-FR"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Summary</a:t>
            </a:r>
            <a:r>
              <a:rPr lang="fr-FR" dirty="0">
                <a:latin typeface="Times New Roman" panose="02020603050405020304" pitchFamily="18" charset="0"/>
                <a:cs typeface="Times New Roman" panose="02020603050405020304" pitchFamily="18" charset="0"/>
              </a:rPr>
              <a:t> of LSA headers</a:t>
            </a:r>
          </a:p>
          <a:p>
            <a:pPr marL="285750"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Used</a:t>
            </a:r>
            <a:r>
              <a:rPr lang="fr-FR" dirty="0">
                <a:latin typeface="Times New Roman" panose="02020603050405020304" pitchFamily="18" charset="0"/>
                <a:cs typeface="Times New Roman" panose="02020603050405020304" pitchFamily="18" charset="0"/>
              </a:rPr>
              <a:t> to compare </a:t>
            </a:r>
            <a:r>
              <a:rPr lang="fr-FR" dirty="0" err="1">
                <a:latin typeface="Times New Roman" panose="02020603050405020304" pitchFamily="18" charset="0"/>
                <a:cs typeface="Times New Roman" panose="02020603050405020304" pitchFamily="18" charset="0"/>
              </a:rPr>
              <a:t>what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each</a:t>
            </a:r>
            <a:r>
              <a:rPr lang="fr-FR" dirty="0">
                <a:latin typeface="Times New Roman" panose="02020603050405020304" pitchFamily="18" charset="0"/>
                <a:cs typeface="Times New Roman" panose="02020603050405020304" pitchFamily="18" charset="0"/>
              </a:rPr>
              <a:t> router has</a:t>
            </a:r>
          </a:p>
          <a:p>
            <a:r>
              <a:rPr lang="fr-FR" b="1" dirty="0" err="1">
                <a:latin typeface="Times New Roman" panose="02020603050405020304" pitchFamily="18" charset="0"/>
                <a:cs typeface="Times New Roman" panose="02020603050405020304" pitchFamily="18" charset="0"/>
              </a:rPr>
              <a:t>Loading</a:t>
            </a:r>
            <a:r>
              <a:rPr lang="fr-FR" b="1" dirty="0">
                <a:latin typeface="Times New Roman" panose="02020603050405020304" pitchFamily="18" charset="0"/>
                <a:cs typeface="Times New Roman" panose="02020603050405020304" pitchFamily="18" charset="0"/>
              </a:rPr>
              <a:t> states:</a:t>
            </a:r>
          </a:p>
          <a:p>
            <a:r>
              <a:rPr lang="fr-FR" dirty="0">
                <a:latin typeface="Times New Roman" panose="02020603050405020304" pitchFamily="18" charset="0"/>
                <a:cs typeface="Times New Roman" panose="02020603050405020304" pitchFamily="18" charset="0"/>
              </a:rPr>
              <a:t>Link-State </a:t>
            </a:r>
            <a:r>
              <a:rPr lang="fr-FR" dirty="0" err="1">
                <a:latin typeface="Times New Roman" panose="02020603050405020304" pitchFamily="18" charset="0"/>
                <a:cs typeface="Times New Roman" panose="02020603050405020304" pitchFamily="18" charset="0"/>
              </a:rPr>
              <a:t>Request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Packets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LSRs</a:t>
            </a:r>
            <a:r>
              <a:rPr lang="fr-FR"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Routers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request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missing</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LSAs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found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during</a:t>
            </a:r>
            <a:r>
              <a:rPr lang="fr-FR" dirty="0">
                <a:latin typeface="Times New Roman" panose="02020603050405020304" pitchFamily="18" charset="0"/>
                <a:cs typeface="Times New Roman" panose="02020603050405020304" pitchFamily="18" charset="0"/>
              </a:rPr>
              <a:t> DBD </a:t>
            </a:r>
          </a:p>
          <a:p>
            <a:pPr marL="285750"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comparison</a:t>
            </a:r>
            <a:endParaRPr lang="fr-FR"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Link-State Update </a:t>
            </a:r>
            <a:r>
              <a:rPr lang="fr-FR" dirty="0" err="1">
                <a:latin typeface="Times New Roman" panose="02020603050405020304" pitchFamily="18" charset="0"/>
                <a:cs typeface="Times New Roman" panose="02020603050405020304" pitchFamily="18" charset="0"/>
              </a:rPr>
              <a:t>Packets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LSUs</a:t>
            </a:r>
            <a:r>
              <a:rPr lang="fr-FR"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Contain</a:t>
            </a:r>
            <a:r>
              <a:rPr lang="fr-FR" dirty="0">
                <a:latin typeface="Times New Roman" panose="02020603050405020304" pitchFamily="18" charset="0"/>
                <a:cs typeface="Times New Roman" panose="02020603050405020304" pitchFamily="18" charset="0"/>
              </a:rPr>
              <a:t> full </a:t>
            </a:r>
            <a:r>
              <a:rPr lang="fr-FR" dirty="0" err="1">
                <a:latin typeface="Times New Roman" panose="02020603050405020304" pitchFamily="18" charset="0"/>
                <a:cs typeface="Times New Roman" panose="02020603050405020304" pitchFamily="18" charset="0"/>
              </a:rPr>
              <a:t>LSAs</a:t>
            </a:r>
            <a:r>
              <a:rPr lang="fr-FR" dirty="0">
                <a:latin typeface="Times New Roman" panose="02020603050405020304" pitchFamily="18" charset="0"/>
                <a:cs typeface="Times New Roman" panose="02020603050405020304" pitchFamily="18" charset="0"/>
              </a:rPr>
              <a:t> sent in </a:t>
            </a:r>
            <a:r>
              <a:rPr lang="fr-FR" dirty="0" err="1">
                <a:latin typeface="Times New Roman" panose="02020603050405020304" pitchFamily="18" charset="0"/>
                <a:cs typeface="Times New Roman" panose="02020603050405020304" pitchFamily="18" charset="0"/>
              </a:rPr>
              <a:t>response</a:t>
            </a:r>
            <a:r>
              <a:rPr lang="fr-FR" dirty="0">
                <a:latin typeface="Times New Roman" panose="02020603050405020304" pitchFamily="18" charset="0"/>
                <a:cs typeface="Times New Roman" panose="02020603050405020304" pitchFamily="18" charset="0"/>
              </a:rPr>
              <a:t> to </a:t>
            </a:r>
            <a:r>
              <a:rPr lang="fr-FR" dirty="0" err="1">
                <a:latin typeface="Times New Roman" panose="02020603050405020304" pitchFamily="18" charset="0"/>
                <a:cs typeface="Times New Roman" panose="02020603050405020304" pitchFamily="18" charset="0"/>
              </a:rPr>
              <a:t>LSRs</a:t>
            </a:r>
            <a:endParaRPr lang="fr-FR"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Carry Types 1–5 (and 7 if </a:t>
            </a:r>
            <a:r>
              <a:rPr lang="fr-FR" dirty="0" err="1">
                <a:latin typeface="Times New Roman" panose="02020603050405020304" pitchFamily="18" charset="0"/>
                <a:cs typeface="Times New Roman" panose="02020603050405020304" pitchFamily="18" charset="0"/>
              </a:rPr>
              <a:t>using</a:t>
            </a:r>
            <a:r>
              <a:rPr lang="fr-FR" dirty="0">
                <a:latin typeface="Times New Roman" panose="02020603050405020304" pitchFamily="18" charset="0"/>
                <a:cs typeface="Times New Roman" panose="02020603050405020304" pitchFamily="18" charset="0"/>
              </a:rPr>
              <a:t> NSSA)</a:t>
            </a:r>
          </a:p>
          <a:p>
            <a:r>
              <a:rPr lang="fr-FR" dirty="0">
                <a:latin typeface="Times New Roman" panose="02020603050405020304" pitchFamily="18" charset="0"/>
                <a:cs typeface="Times New Roman" panose="02020603050405020304" pitchFamily="18" charset="0"/>
              </a:rPr>
              <a:t>Link-State </a:t>
            </a:r>
            <a:r>
              <a:rPr lang="fr-FR" dirty="0" err="1">
                <a:latin typeface="Times New Roman" panose="02020603050405020304" pitchFamily="18" charset="0"/>
                <a:cs typeface="Times New Roman" panose="02020603050405020304" pitchFamily="18" charset="0"/>
              </a:rPr>
              <a:t>Acknowledgments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LSAscks</a:t>
            </a:r>
            <a:r>
              <a:rPr lang="fr-FR"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Ensure</a:t>
            </a:r>
            <a:r>
              <a:rPr lang="fr-FR" dirty="0">
                <a:latin typeface="Times New Roman" panose="02020603050405020304" pitchFamily="18" charset="0"/>
                <a:cs typeface="Times New Roman" panose="02020603050405020304" pitchFamily="18" charset="0"/>
              </a:rPr>
              <a:t> reliable </a:t>
            </a:r>
            <a:r>
              <a:rPr lang="fr-FR" dirty="0" err="1">
                <a:latin typeface="Times New Roman" panose="02020603050405020304" pitchFamily="18" charset="0"/>
                <a:cs typeface="Times New Roman" panose="02020603050405020304" pitchFamily="18" charset="0"/>
              </a:rPr>
              <a:t>flooding</a:t>
            </a:r>
            <a:r>
              <a:rPr lang="fr-FR" dirty="0">
                <a:latin typeface="Times New Roman" panose="02020603050405020304" pitchFamily="18" charset="0"/>
                <a:cs typeface="Times New Roman" panose="02020603050405020304" pitchFamily="18" charset="0"/>
              </a:rPr>
              <a:t> of </a:t>
            </a:r>
            <a:r>
              <a:rPr lang="fr-FR" dirty="0" err="1">
                <a:latin typeface="Times New Roman" panose="02020603050405020304" pitchFamily="18" charset="0"/>
                <a:cs typeface="Times New Roman" panose="02020603050405020304" pitchFamily="18" charset="0"/>
              </a:rPr>
              <a:t>LSAs</a:t>
            </a:r>
            <a:endParaRPr lang="fr-FR" dirty="0">
              <a:latin typeface="Times New Roman" panose="02020603050405020304" pitchFamily="18" charset="0"/>
              <a:cs typeface="Times New Roman" panose="02020603050405020304" pitchFamily="18" charset="0"/>
            </a:endParaRPr>
          </a:p>
          <a:p>
            <a:r>
              <a:rPr lang="fr-FR" b="1" dirty="0">
                <a:latin typeface="Times New Roman" panose="02020603050405020304" pitchFamily="18" charset="0"/>
                <a:cs typeface="Times New Roman" panose="02020603050405020304" pitchFamily="18" charset="0"/>
              </a:rPr>
              <a:t>Full state:</a:t>
            </a:r>
          </a:p>
          <a:p>
            <a:r>
              <a:rPr lang="fr-FR" dirty="0">
                <a:latin typeface="Times New Roman" panose="02020603050405020304" pitchFamily="18" charset="0"/>
                <a:cs typeface="Times New Roman" panose="02020603050405020304" pitchFamily="18" charset="0"/>
              </a:rPr>
              <a:t>Complete </a:t>
            </a:r>
            <a:r>
              <a:rPr lang="fr-FR" dirty="0" err="1">
                <a:latin typeface="Times New Roman" panose="02020603050405020304" pitchFamily="18" charset="0"/>
                <a:cs typeface="Times New Roman" panose="02020603050405020304" pitchFamily="18" charset="0"/>
              </a:rPr>
              <a:t>exchanging</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databases</a:t>
            </a:r>
            <a:r>
              <a:rPr lang="fr-FR"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26B4CCE2-DFFC-050E-C895-7CE724727AA1}"/>
              </a:ext>
            </a:extLst>
          </p:cNvPr>
          <p:cNvSpPr txBox="1"/>
          <p:nvPr/>
        </p:nvSpPr>
        <p:spPr>
          <a:xfrm>
            <a:off x="3045014" y="406405"/>
            <a:ext cx="6098796"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OSPF States</a:t>
            </a:r>
            <a:endParaRPr lang="fr-DZ" sz="36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3E3FAAC-792C-4A9C-7E3A-D4AC13BC8F5A}"/>
              </a:ext>
            </a:extLst>
          </p:cNvPr>
          <p:cNvPicPr>
            <a:picLocks noChangeAspect="1"/>
          </p:cNvPicPr>
          <p:nvPr/>
        </p:nvPicPr>
        <p:blipFill>
          <a:blip r:embed="rId2"/>
          <a:stretch>
            <a:fillRect/>
          </a:stretch>
        </p:blipFill>
        <p:spPr>
          <a:xfrm>
            <a:off x="5369188" y="2351521"/>
            <a:ext cx="5549809" cy="2877679"/>
          </a:xfrm>
          <a:prstGeom prst="rect">
            <a:avLst/>
          </a:prstGeom>
        </p:spPr>
      </p:pic>
    </p:spTree>
    <p:extLst>
      <p:ext uri="{BB962C8B-B14F-4D97-AF65-F5344CB8AC3E}">
        <p14:creationId xmlns:p14="http://schemas.microsoft.com/office/powerpoint/2010/main" val="3843346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8DFAE61-D405-5DBB-1424-42ED277227E4}"/>
              </a:ext>
            </a:extLst>
          </p:cNvPr>
          <p:cNvSpPr txBox="1"/>
          <p:nvPr/>
        </p:nvSpPr>
        <p:spPr>
          <a:xfrm>
            <a:off x="3045014" y="406405"/>
            <a:ext cx="6098796"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OSPF States</a:t>
            </a:r>
            <a:endParaRPr lang="fr-DZ" sz="3600" dirty="0">
              <a:latin typeface="Times New Roman" panose="02020603050405020304" pitchFamily="18" charset="0"/>
              <a:cs typeface="Times New Roman" panose="02020603050405020304" pitchFamily="18" charset="0"/>
            </a:endParaRPr>
          </a:p>
        </p:txBody>
      </p:sp>
      <p:pic>
        <p:nvPicPr>
          <p:cNvPr id="4098" name="Picture 2" descr="OSPF Cost and SPF Algorithm ⋆ | Default OSPF Cost Values">
            <a:extLst>
              <a:ext uri="{FF2B5EF4-FFF2-40B4-BE49-F238E27FC236}">
                <a16:creationId xmlns:a16="http://schemas.microsoft.com/office/drawing/2014/main" id="{5C86E252-6413-19C9-0829-7C5B1A1801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271" y="1484785"/>
            <a:ext cx="4608512" cy="4608512"/>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21297A3B-AD11-D54F-C4C6-12E93F01DF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274638"/>
            <a:ext cx="204206" cy="20420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B91B341-31FC-0D9E-6D39-991D9CEF331F}"/>
              </a:ext>
            </a:extLst>
          </p:cNvPr>
          <p:cNvSpPr txBox="1"/>
          <p:nvPr/>
        </p:nvSpPr>
        <p:spPr>
          <a:xfrm>
            <a:off x="1413892" y="1094830"/>
            <a:ext cx="5606379" cy="2862322"/>
          </a:xfrm>
          <a:prstGeom prst="rect">
            <a:avLst/>
          </a:prstGeom>
          <a:noFill/>
        </p:spPr>
        <p:txBody>
          <a:bodyPr wrap="square">
            <a:spAutoFit/>
          </a:bodyPr>
          <a:lstStyle/>
          <a:p>
            <a:r>
              <a:rPr lang="fr-FR" b="1" dirty="0" err="1">
                <a:latin typeface="Times New Roman" panose="02020603050405020304" pitchFamily="18" charset="0"/>
                <a:cs typeface="Times New Roman" panose="02020603050405020304" pitchFamily="18" charset="0"/>
              </a:rPr>
              <a:t>Adding</a:t>
            </a:r>
            <a:r>
              <a:rPr lang="fr-FR" b="1" dirty="0">
                <a:latin typeface="Times New Roman" panose="02020603050405020304" pitchFamily="18" charset="0"/>
                <a:cs typeface="Times New Roman" panose="02020603050405020304" pitchFamily="18" charset="0"/>
              </a:rPr>
              <a:t> the Best Routes (SPF Calculation)</a:t>
            </a:r>
          </a:p>
          <a:p>
            <a:r>
              <a:rPr lang="fr-FR" dirty="0" err="1">
                <a:latin typeface="Times New Roman" panose="02020603050405020304" pitchFamily="18" charset="0"/>
                <a:cs typeface="Times New Roman" panose="02020603050405020304" pitchFamily="18" charset="0"/>
              </a:rPr>
              <a:t>After</a:t>
            </a:r>
            <a:r>
              <a:rPr lang="fr-FR" dirty="0">
                <a:latin typeface="Times New Roman" panose="02020603050405020304" pitchFamily="18" charset="0"/>
                <a:cs typeface="Times New Roman" panose="02020603050405020304" pitchFamily="18" charset="0"/>
              </a:rPr>
              <a:t> the LSDB </a:t>
            </a:r>
            <a:r>
              <a:rPr lang="fr-FR" dirty="0" err="1">
                <a:latin typeface="Times New Roman" panose="02020603050405020304" pitchFamily="18" charset="0"/>
                <a:cs typeface="Times New Roman" panose="02020603050405020304" pitchFamily="18" charset="0"/>
              </a:rPr>
              <a:t>is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synchronized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each</a:t>
            </a:r>
            <a:r>
              <a:rPr lang="fr-FR" dirty="0">
                <a:latin typeface="Times New Roman" panose="02020603050405020304" pitchFamily="18" charset="0"/>
                <a:cs typeface="Times New Roman" panose="02020603050405020304" pitchFamily="18" charset="0"/>
              </a:rPr>
              <a:t> router </a:t>
            </a:r>
            <a:r>
              <a:rPr lang="fr-FR" dirty="0" err="1">
                <a:latin typeface="Times New Roman" panose="02020603050405020304" pitchFamily="18" charset="0"/>
                <a:cs typeface="Times New Roman" panose="02020603050405020304" pitchFamily="18" charset="0"/>
              </a:rPr>
              <a:t>independently</a:t>
            </a:r>
            <a:r>
              <a:rPr lang="fr-FR" dirty="0">
                <a:latin typeface="Times New Roman" panose="02020603050405020304" pitchFamily="18" charset="0"/>
                <a:cs typeface="Times New Roman" panose="02020603050405020304" pitchFamily="18" charset="0"/>
              </a:rPr>
              <a:t> runs:</a:t>
            </a:r>
          </a:p>
          <a:p>
            <a:r>
              <a:rPr lang="fr-FR" b="1" dirty="0" err="1">
                <a:latin typeface="Times New Roman" panose="02020603050405020304" pitchFamily="18" charset="0"/>
                <a:cs typeface="Times New Roman" panose="02020603050405020304" pitchFamily="18" charset="0"/>
              </a:rPr>
              <a:t>Dijkstra’s</a:t>
            </a:r>
            <a:r>
              <a:rPr lang="fr-FR" b="1" dirty="0">
                <a:latin typeface="Times New Roman" panose="02020603050405020304" pitchFamily="18" charset="0"/>
                <a:cs typeface="Times New Roman" panose="02020603050405020304" pitchFamily="18" charset="0"/>
              </a:rPr>
              <a:t> SPF </a:t>
            </a:r>
            <a:r>
              <a:rPr lang="fr-FR" b="1" dirty="0" err="1">
                <a:latin typeface="Times New Roman" panose="02020603050405020304" pitchFamily="18" charset="0"/>
                <a:cs typeface="Times New Roman" panose="02020603050405020304" pitchFamily="18" charset="0"/>
              </a:rPr>
              <a:t>Algorithm</a:t>
            </a:r>
            <a:endParaRPr lang="fr-FR" b="1"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Computes</a:t>
            </a:r>
            <a:r>
              <a:rPr lang="fr-FR" dirty="0">
                <a:latin typeface="Times New Roman" panose="02020603050405020304" pitchFamily="18" charset="0"/>
                <a:cs typeface="Times New Roman" panose="02020603050405020304" pitchFamily="18" charset="0"/>
              </a:rPr>
              <a:t> the </a:t>
            </a:r>
            <a:r>
              <a:rPr lang="fr-FR" b="1" dirty="0" err="1">
                <a:latin typeface="Times New Roman" panose="02020603050405020304" pitchFamily="18" charset="0"/>
                <a:cs typeface="Times New Roman" panose="02020603050405020304" pitchFamily="18" charset="0"/>
              </a:rPr>
              <a:t>shortest</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path</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tree</a:t>
            </a:r>
            <a:r>
              <a:rPr lang="fr-FR" b="1" dirty="0">
                <a:latin typeface="Times New Roman" panose="02020603050405020304" pitchFamily="18" charset="0"/>
                <a:cs typeface="Times New Roman" panose="02020603050405020304" pitchFamily="18" charset="0"/>
              </a:rPr>
              <a:t> (SPT)</a:t>
            </a:r>
            <a:endParaRPr lang="fr-FR"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Determines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metric</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cost</a:t>
            </a:r>
            <a:r>
              <a:rPr lang="fr-FR" dirty="0">
                <a:latin typeface="Times New Roman" panose="02020603050405020304" pitchFamily="18" charset="0"/>
                <a:cs typeface="Times New Roman" panose="02020603050405020304" pitchFamily="18" charset="0"/>
              </a:rPr>
              <a:t> = </a:t>
            </a:r>
            <a:r>
              <a:rPr lang="fr-FR" dirty="0" err="1">
                <a:latin typeface="Times New Roman" panose="02020603050405020304" pitchFamily="18" charset="0"/>
                <a:cs typeface="Times New Roman" panose="02020603050405020304" pitchFamily="18" charset="0"/>
              </a:rPr>
              <a:t>reference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bandwidth</a:t>
            </a:r>
            <a:r>
              <a:rPr lang="fr-FR" dirty="0">
                <a:latin typeface="Times New Roman" panose="02020603050405020304" pitchFamily="18" charset="0"/>
                <a:cs typeface="Times New Roman" panose="02020603050405020304" pitchFamily="18" charset="0"/>
              </a:rPr>
              <a:t> / interface </a:t>
            </a:r>
            <a:r>
              <a:rPr lang="fr-FR" dirty="0" err="1">
                <a:latin typeface="Times New Roman" panose="02020603050405020304" pitchFamily="18" charset="0"/>
                <a:cs typeface="Times New Roman" panose="02020603050405020304" pitchFamily="18" charset="0"/>
              </a:rPr>
              <a:t>bandwidth</a:t>
            </a:r>
            <a:r>
              <a:rPr lang="fr-FR"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Selects the best </a:t>
            </a:r>
            <a:r>
              <a:rPr lang="fr-FR" dirty="0" err="1">
                <a:latin typeface="Times New Roman" panose="02020603050405020304" pitchFamily="18" charset="0"/>
                <a:cs typeface="Times New Roman" panose="02020603050405020304" pitchFamily="18" charset="0"/>
              </a:rPr>
              <a:t>path</a:t>
            </a:r>
            <a:r>
              <a:rPr lang="fr-FR" dirty="0">
                <a:latin typeface="Times New Roman" panose="02020603050405020304" pitchFamily="18" charset="0"/>
                <a:cs typeface="Times New Roman" panose="02020603050405020304" pitchFamily="18" charset="0"/>
              </a:rPr>
              <a:t> to </a:t>
            </a:r>
            <a:r>
              <a:rPr lang="fr-FR" dirty="0" err="1">
                <a:latin typeface="Times New Roman" panose="02020603050405020304" pitchFamily="18" charset="0"/>
                <a:cs typeface="Times New Roman" panose="02020603050405020304" pitchFamily="18" charset="0"/>
              </a:rPr>
              <a:t>every</a:t>
            </a:r>
            <a:r>
              <a:rPr lang="fr-FR" dirty="0">
                <a:latin typeface="Times New Roman" panose="02020603050405020304" pitchFamily="18" charset="0"/>
                <a:cs typeface="Times New Roman" panose="02020603050405020304" pitchFamily="18" charset="0"/>
              </a:rPr>
              <a:t> destination</a:t>
            </a:r>
          </a:p>
          <a:p>
            <a:pPr marL="742950" lvl="1" indent="-285750">
              <a:buFont typeface="Arial" panose="020B0604020202020204" pitchFamily="34" charset="0"/>
              <a:buChar char="•"/>
            </a:pPr>
            <a:endParaRPr lang="fr-FR"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DZ" altLang="fr-DZ"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C1758741-DDD2-0B52-D779-EE154C710AC7}"/>
              </a:ext>
            </a:extLst>
          </p:cNvPr>
          <p:cNvSpPr txBox="1"/>
          <p:nvPr/>
        </p:nvSpPr>
        <p:spPr>
          <a:xfrm>
            <a:off x="981844" y="3645024"/>
            <a:ext cx="5760640" cy="2308324"/>
          </a:xfrm>
          <a:prstGeom prst="rect">
            <a:avLst/>
          </a:prstGeom>
          <a:noFill/>
        </p:spPr>
        <p:txBody>
          <a:bodyPr wrap="square">
            <a:spAutoFit/>
          </a:bodyPr>
          <a:lstStyle/>
          <a:p>
            <a:pPr lvl="1" algn="just"/>
            <a:r>
              <a:rPr lang="en-US" dirty="0">
                <a:latin typeface="Times New Roman" panose="02020603050405020304" pitchFamily="18" charset="0"/>
                <a:cs typeface="Times New Roman" panose="02020603050405020304" pitchFamily="18" charset="0"/>
              </a:rPr>
              <a:t>The formula ”cost = reference bandwidth / interface bandwidth” is used by the OSPF routing protocol to calculate the cost of a network interface. The default reference bandwidth is 100 Mbps, and OSPF divides this value by the interface's bandwidth to determine its cost. This cost is used by the Shortest Path First (SPF) algorithm to determine the most efficient path for data to travel. </a:t>
            </a:r>
            <a:endParaRPr lang="fr-D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9699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207238-A2E7-87F1-1712-3987B9248ABD}"/>
              </a:ext>
            </a:extLst>
          </p:cNvPr>
          <p:cNvSpPr txBox="1"/>
          <p:nvPr/>
        </p:nvSpPr>
        <p:spPr>
          <a:xfrm>
            <a:off x="2771909" y="190381"/>
            <a:ext cx="6746868" cy="646331"/>
          </a:xfrm>
          <a:prstGeom prst="rect">
            <a:avLst/>
          </a:prstGeom>
          <a:noFill/>
        </p:spPr>
        <p:txBody>
          <a:bodyPr wrap="square">
            <a:spAutoFit/>
          </a:bodyPr>
          <a:lstStyle/>
          <a:p>
            <a:pPr algn="ctr"/>
            <a:r>
              <a:rPr lang="fr-FR" sz="3600" b="1" dirty="0">
                <a:latin typeface="Times New Roman" panose="02020603050405020304" pitchFamily="18" charset="0"/>
                <a:cs typeface="Times New Roman" panose="02020603050405020304" pitchFamily="18" charset="0"/>
              </a:rPr>
              <a:t> Border Gateway Protocol (BGP)</a:t>
            </a:r>
            <a:endParaRPr lang="fr-DZ" sz="36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0599F2E-C01F-547C-BE3F-B2A2E946088F}"/>
              </a:ext>
            </a:extLst>
          </p:cNvPr>
          <p:cNvSpPr txBox="1"/>
          <p:nvPr/>
        </p:nvSpPr>
        <p:spPr>
          <a:xfrm>
            <a:off x="1053852" y="1196752"/>
            <a:ext cx="9577064" cy="4801314"/>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BGP is the </a:t>
            </a:r>
            <a:r>
              <a:rPr lang="en-US" b="1" dirty="0">
                <a:latin typeface="Times New Roman" panose="02020603050405020304" pitchFamily="18" charset="0"/>
                <a:cs typeface="Times New Roman" panose="02020603050405020304" pitchFamily="18" charset="0"/>
              </a:rPr>
              <a:t>main routing protocol of the Internet</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It decides how data travels </a:t>
            </a:r>
            <a:r>
              <a:rPr lang="en-US" b="1" dirty="0">
                <a:latin typeface="Times New Roman" panose="02020603050405020304" pitchFamily="18" charset="0"/>
                <a:cs typeface="Times New Roman" panose="02020603050405020304" pitchFamily="18" charset="0"/>
              </a:rPr>
              <a:t>between different organizations</a:t>
            </a:r>
            <a:r>
              <a:rPr lang="en-US" dirty="0">
                <a:latin typeface="Times New Roman" panose="02020603050405020304" pitchFamily="18" charset="0"/>
                <a:cs typeface="Times New Roman" panose="02020603050405020304" pitchFamily="18" charset="0"/>
              </a:rPr>
              <a:t>, called </a:t>
            </a:r>
            <a:r>
              <a:rPr lang="en-US" b="1" dirty="0">
                <a:latin typeface="Times New Roman" panose="02020603050405020304" pitchFamily="18" charset="0"/>
                <a:cs typeface="Times New Roman" panose="02020603050405020304" pitchFamily="18" charset="0"/>
              </a:rPr>
              <a:t>Autonomous Systems (AS)</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Unlike OSPF or RIP (which find the shortest path), BGP focuses on </a:t>
            </a:r>
            <a:r>
              <a:rPr lang="en-US" b="1" dirty="0">
                <a:latin typeface="Times New Roman" panose="02020603050405020304" pitchFamily="18" charset="0"/>
                <a:cs typeface="Times New Roman" panose="02020603050405020304" pitchFamily="18" charset="0"/>
              </a:rPr>
              <a:t>policy</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control</a:t>
            </a:r>
            <a:r>
              <a:rPr lang="en-US"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Which ISP you want to use</a:t>
            </a:r>
            <a:r>
              <a:rPr lang="en-US" dirty="0">
                <a:latin typeface="Times New Roman" panose="02020603050405020304" pitchFamily="18" charset="0"/>
                <a:cs typeface="Times New Roman" panose="02020603050405020304" pitchFamily="18" charset="0"/>
              </a:rPr>
              <a:t>: Network operators can choose which Internet Service Providers to route traffic through based on criteria such as cost, reliability, and performance metrics.</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Which paths you want to avoid</a:t>
            </a:r>
            <a:r>
              <a:rPr lang="en-US" dirty="0">
                <a:latin typeface="Times New Roman" panose="02020603050405020304" pitchFamily="18" charset="0"/>
                <a:cs typeface="Times New Roman" panose="02020603050405020304" pitchFamily="18" charset="0"/>
              </a:rPr>
              <a:t>: BGP allows administrators to designate certain routes as less desirable, enabling them to prevent traffic from traversing specific paths that might be slower, more congested, or less secure.</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How you want traffic to enter or leave your network</a:t>
            </a:r>
            <a:r>
              <a:rPr lang="en-US" dirty="0">
                <a:latin typeface="Times New Roman" panose="02020603050405020304" pitchFamily="18" charset="0"/>
                <a:cs typeface="Times New Roman" panose="02020603050405020304" pitchFamily="18" charset="0"/>
              </a:rPr>
              <a:t>: With BGP, organizations possess the capability to dictate how data enters and exits their networks, allowing them to manage bandwidth usage effectively and optimize performance for end-users.</a:t>
            </a:r>
          </a:p>
          <a:p>
            <a:pPr algn="just"/>
            <a:r>
              <a:rPr lang="en-US" b="1" dirty="0">
                <a:latin typeface="Times New Roman" panose="02020603050405020304" pitchFamily="18" charset="0"/>
                <a:cs typeface="Times New Roman" panose="02020603050405020304" pitchFamily="18" charset="0"/>
              </a:rPr>
              <a:t>Why is BGP necessary?</a:t>
            </a:r>
          </a:p>
          <a:p>
            <a:pPr algn="just"/>
            <a:r>
              <a:rPr lang="en-US" dirty="0">
                <a:latin typeface="Times New Roman" panose="02020603050405020304" pitchFamily="18" charset="0"/>
                <a:cs typeface="Times New Roman" panose="02020603050405020304" pitchFamily="18" charset="0"/>
              </a:rPr>
              <a:t>The Internet is made of </a:t>
            </a:r>
            <a:r>
              <a:rPr lang="en-US" b="1" dirty="0">
                <a:latin typeface="Times New Roman" panose="02020603050405020304" pitchFamily="18" charset="0"/>
                <a:cs typeface="Times New Roman" panose="02020603050405020304" pitchFamily="18" charset="0"/>
              </a:rPr>
              <a:t>thousands of independent networks (</a:t>
            </a:r>
            <a:r>
              <a:rPr lang="en-US" b="1" dirty="0" err="1">
                <a:latin typeface="Times New Roman" panose="02020603050405020304" pitchFamily="18" charset="0"/>
                <a:cs typeface="Times New Roman" panose="02020603050405020304" pitchFamily="18" charset="0"/>
              </a:rPr>
              <a:t>ASes</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Each AS may have different goals, pricing agreements, and traffic rules.</a:t>
            </a:r>
          </a:p>
          <a:p>
            <a:pPr algn="just"/>
            <a:r>
              <a:rPr lang="en-US" dirty="0">
                <a:latin typeface="Times New Roman" panose="02020603050405020304" pitchFamily="18" charset="0"/>
                <a:cs typeface="Times New Roman" panose="02020603050405020304" pitchFamily="18" charset="0"/>
              </a:rPr>
              <a:t>BGP allows them to exchange routes </a:t>
            </a:r>
            <a:r>
              <a:rPr lang="en-US" b="1" dirty="0">
                <a:latin typeface="Times New Roman" panose="02020603050405020304" pitchFamily="18" charset="0"/>
                <a:cs typeface="Times New Roman" panose="02020603050405020304" pitchFamily="18" charset="0"/>
              </a:rPr>
              <a:t>in a flexible and controlled way</a:t>
            </a:r>
            <a:r>
              <a:rPr lang="en-US" dirty="0">
                <a:latin typeface="Times New Roman" panose="02020603050405020304" pitchFamily="18" charset="0"/>
                <a:cs typeface="Times New Roman" panose="02020603050405020304" pitchFamily="18" charset="0"/>
              </a:rPr>
              <a:t>, not just “fastest path.”</a:t>
            </a:r>
          </a:p>
          <a:p>
            <a:pPr algn="just"/>
            <a:endParaRPr lang="en-US" dirty="0">
              <a:latin typeface="Times New Roman" panose="02020603050405020304" pitchFamily="18" charset="0"/>
              <a:cs typeface="Times New Roman" panose="02020603050405020304" pitchFamily="18" charset="0"/>
            </a:endParaRPr>
          </a:p>
          <a:p>
            <a:pPr algn="just"/>
            <a:endParaRPr lang="fr-D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6630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B11BB59-CABC-380C-F474-2C5991678220}"/>
              </a:ext>
            </a:extLst>
          </p:cNvPr>
          <p:cNvSpPr txBox="1"/>
          <p:nvPr/>
        </p:nvSpPr>
        <p:spPr>
          <a:xfrm>
            <a:off x="1485900" y="1052736"/>
            <a:ext cx="10441160" cy="3139321"/>
          </a:xfrm>
          <a:prstGeom prst="rect">
            <a:avLst/>
          </a:prstGeom>
          <a:noFill/>
        </p:spPr>
        <p:txBody>
          <a:bodyPr wrap="square">
            <a:spAutoFit/>
          </a:bodyPr>
          <a:lstStyle/>
          <a:p>
            <a:pPr algn="just">
              <a:buNone/>
            </a:pPr>
            <a:r>
              <a:rPr lang="en-US" b="1" dirty="0">
                <a:latin typeface="Times New Roman" panose="02020603050405020304" pitchFamily="18" charset="0"/>
                <a:cs typeface="Times New Roman" panose="02020603050405020304" pitchFamily="18" charset="0"/>
              </a:rPr>
              <a:t>1. eBGP (External BGP)</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Runs </a:t>
            </a:r>
            <a:r>
              <a:rPr lang="en-US" b="1" dirty="0">
                <a:latin typeface="Times New Roman" panose="02020603050405020304" pitchFamily="18" charset="0"/>
                <a:cs typeface="Times New Roman" panose="02020603050405020304" pitchFamily="18" charset="0"/>
              </a:rPr>
              <a:t>between different autonomous systems</a:t>
            </a:r>
            <a:r>
              <a:rPr lang="en-US"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Example:</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company connecting to an ISP.</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Two ISPs exchanging global routes.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eBGP neighbors are usually </a:t>
            </a:r>
            <a:r>
              <a:rPr lang="en-US" b="1" dirty="0">
                <a:latin typeface="Times New Roman" panose="02020603050405020304" pitchFamily="18" charset="0"/>
                <a:cs typeface="Times New Roman" panose="02020603050405020304" pitchFamily="18" charset="0"/>
              </a:rPr>
              <a:t>directly connected</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Routes learned from eBGP are usually preferred as exit points because they lead “outside.”</a:t>
            </a:r>
          </a:p>
          <a:p>
            <a:pPr algn="just">
              <a:buNone/>
            </a:pPr>
            <a:r>
              <a:rPr lang="en-US" b="1" dirty="0">
                <a:latin typeface="Times New Roman" panose="02020603050405020304" pitchFamily="18" charset="0"/>
                <a:cs typeface="Times New Roman" panose="02020603050405020304" pitchFamily="18" charset="0"/>
              </a:rPr>
              <a:t>2. iBGP (Internal BGP)</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Runs </a:t>
            </a:r>
            <a:r>
              <a:rPr lang="en-US" b="1" dirty="0">
                <a:latin typeface="Times New Roman" panose="02020603050405020304" pitchFamily="18" charset="0"/>
                <a:cs typeface="Times New Roman" panose="02020603050405020304" pitchFamily="18" charset="0"/>
              </a:rPr>
              <a:t>inside the same autonomous system</a:t>
            </a:r>
            <a:r>
              <a:rPr lang="en-US"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Used to distribute BGP routes across routers inside one organization.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iBGP neighbors don’t have to be directly connected.</a:t>
            </a:r>
          </a:p>
        </p:txBody>
      </p:sp>
      <p:sp>
        <p:nvSpPr>
          <p:cNvPr id="10" name="TextBox 9">
            <a:extLst>
              <a:ext uri="{FF2B5EF4-FFF2-40B4-BE49-F238E27FC236}">
                <a16:creationId xmlns:a16="http://schemas.microsoft.com/office/drawing/2014/main" id="{18C4F727-D69C-F801-7462-9C6AB342E2EA}"/>
              </a:ext>
            </a:extLst>
          </p:cNvPr>
          <p:cNvSpPr txBox="1"/>
          <p:nvPr/>
        </p:nvSpPr>
        <p:spPr>
          <a:xfrm>
            <a:off x="3286100" y="260648"/>
            <a:ext cx="6094602" cy="646331"/>
          </a:xfrm>
          <a:prstGeom prst="rect">
            <a:avLst/>
          </a:prstGeom>
          <a:noFill/>
        </p:spPr>
        <p:txBody>
          <a:bodyPr wrap="square">
            <a:spAutoFit/>
          </a:bodyPr>
          <a:lstStyle/>
          <a:p>
            <a:pPr>
              <a:buNone/>
            </a:pPr>
            <a:r>
              <a:rPr lang="en-US" sz="3600" b="1" dirty="0">
                <a:latin typeface="Times New Roman" panose="02020603050405020304" pitchFamily="18" charset="0"/>
                <a:cs typeface="Times New Roman" panose="02020603050405020304" pitchFamily="18" charset="0"/>
              </a:rPr>
              <a:t>Types of BGP: eBGP vs iBGP</a:t>
            </a:r>
          </a:p>
        </p:txBody>
      </p:sp>
      <p:pic>
        <p:nvPicPr>
          <p:cNvPr id="1026" name="Picture 2" descr="Differences between iBGP and eBGP">
            <a:extLst>
              <a:ext uri="{FF2B5EF4-FFF2-40B4-BE49-F238E27FC236}">
                <a16:creationId xmlns:a16="http://schemas.microsoft.com/office/drawing/2014/main" id="{E5569EA9-5FF3-2FA7-101F-0573E32365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9996" y="4423370"/>
            <a:ext cx="7286625"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5296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917F11-04C7-6C0F-5D6B-4F896EA929C1}"/>
              </a:ext>
            </a:extLst>
          </p:cNvPr>
          <p:cNvSpPr txBox="1"/>
          <p:nvPr/>
        </p:nvSpPr>
        <p:spPr>
          <a:xfrm>
            <a:off x="981844" y="1340768"/>
            <a:ext cx="9865096" cy="5355312"/>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BGP forms neighbors using a step-by-step state machine:</a:t>
            </a:r>
            <a:endParaRPr lang="fr-FR" dirty="0">
              <a:latin typeface="Times New Roman" panose="02020603050405020304" pitchFamily="18" charset="0"/>
              <a:cs typeface="Times New Roman" panose="02020603050405020304" pitchFamily="18" charset="0"/>
            </a:endParaRPr>
          </a:p>
          <a:p>
            <a:pPr algn="just"/>
            <a:r>
              <a:rPr lang="fr-DZ" dirty="0">
                <a:latin typeface="Times New Roman" panose="02020603050405020304" pitchFamily="18" charset="0"/>
                <a:cs typeface="Times New Roman" panose="02020603050405020304" pitchFamily="18" charset="0"/>
              </a:rPr>
              <a:t>1. </a:t>
            </a:r>
            <a:r>
              <a:rPr lang="fr-DZ" b="1" dirty="0" err="1">
                <a:latin typeface="Times New Roman" panose="02020603050405020304" pitchFamily="18" charset="0"/>
                <a:cs typeface="Times New Roman" panose="02020603050405020304" pitchFamily="18" charset="0"/>
              </a:rPr>
              <a:t>Idle</a:t>
            </a:r>
            <a:r>
              <a:rPr lang="fr-DZ" dirty="0">
                <a:latin typeface="Times New Roman" panose="02020603050405020304" pitchFamily="18" charset="0"/>
                <a:cs typeface="Times New Roman" panose="02020603050405020304" pitchFamily="18" charset="0"/>
              </a:rPr>
              <a:t>: At </a:t>
            </a:r>
            <a:r>
              <a:rPr lang="fr-DZ" dirty="0" err="1">
                <a:latin typeface="Times New Roman" panose="02020603050405020304" pitchFamily="18" charset="0"/>
                <a:cs typeface="Times New Roman" panose="02020603050405020304" pitchFamily="18" charset="0"/>
              </a:rPr>
              <a:t>this</a:t>
            </a:r>
            <a:r>
              <a:rPr lang="fr-DZ" dirty="0">
                <a:latin typeface="Times New Roman" panose="02020603050405020304" pitchFamily="18" charset="0"/>
                <a:cs typeface="Times New Roman" panose="02020603050405020304" pitchFamily="18" charset="0"/>
              </a:rPr>
              <a:t> initial stage, the router </a:t>
            </a:r>
            <a:r>
              <a:rPr lang="fr-DZ" dirty="0" err="1">
                <a:latin typeface="Times New Roman" panose="02020603050405020304" pitchFamily="18" charset="0"/>
                <a:cs typeface="Times New Roman" panose="02020603050405020304" pitchFamily="18" charset="0"/>
              </a:rPr>
              <a:t>enters</a:t>
            </a:r>
            <a:r>
              <a:rPr lang="fr-DZ" dirty="0">
                <a:latin typeface="Times New Roman" panose="02020603050405020304" pitchFamily="18" charset="0"/>
                <a:cs typeface="Times New Roman" panose="02020603050405020304" pitchFamily="18" charset="0"/>
              </a:rPr>
              <a:t> a state of </a:t>
            </a:r>
            <a:r>
              <a:rPr lang="fr-DZ" dirty="0" err="1">
                <a:latin typeface="Times New Roman" panose="02020603050405020304" pitchFamily="18" charset="0"/>
                <a:cs typeface="Times New Roman" panose="02020603050405020304" pitchFamily="18" charset="0"/>
              </a:rPr>
              <a:t>rest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awaiting</a:t>
            </a:r>
            <a:r>
              <a:rPr lang="fr-DZ" dirty="0">
                <a:latin typeface="Times New Roman" panose="02020603050405020304" pitchFamily="18" charset="0"/>
                <a:cs typeface="Times New Roman" panose="02020603050405020304" pitchFamily="18" charset="0"/>
              </a:rPr>
              <a:t> configuration inputs. It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essentially</a:t>
            </a:r>
            <a:r>
              <a:rPr lang="fr-DZ" dirty="0">
                <a:latin typeface="Times New Roman" panose="02020603050405020304" pitchFamily="18" charset="0"/>
                <a:cs typeface="Times New Roman" panose="02020603050405020304" pitchFamily="18" charset="0"/>
              </a:rPr>
              <a:t> dormant, </a:t>
            </a:r>
            <a:r>
              <a:rPr lang="fr-DZ" dirty="0" err="1">
                <a:latin typeface="Times New Roman" panose="02020603050405020304" pitchFamily="18" charset="0"/>
                <a:cs typeface="Times New Roman" panose="02020603050405020304" pitchFamily="18" charset="0"/>
              </a:rPr>
              <a:t>preparing</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initiate</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connection</a:t>
            </a:r>
            <a:r>
              <a:rPr lang="fr-DZ" dirty="0">
                <a:latin typeface="Times New Roman" panose="02020603050405020304" pitchFamily="18" charset="0"/>
                <a:cs typeface="Times New Roman" panose="02020603050405020304" pitchFamily="18" charset="0"/>
              </a:rPr>
              <a:t> process </a:t>
            </a:r>
            <a:r>
              <a:rPr lang="fr-DZ" dirty="0" err="1">
                <a:latin typeface="Times New Roman" panose="02020603050405020304" pitchFamily="18" charset="0"/>
                <a:cs typeface="Times New Roman" panose="02020603050405020304" pitchFamily="18" charset="0"/>
              </a:rPr>
              <a:t>based</a:t>
            </a:r>
            <a:r>
              <a:rPr lang="fr-DZ" dirty="0">
                <a:latin typeface="Times New Roman" panose="02020603050405020304" pitchFamily="18" charset="0"/>
                <a:cs typeface="Times New Roman" panose="02020603050405020304" pitchFamily="18" charset="0"/>
              </a:rPr>
              <a:t> on the </a:t>
            </a:r>
            <a:r>
              <a:rPr lang="fr-DZ" dirty="0" err="1">
                <a:latin typeface="Times New Roman" panose="02020603050405020304" pitchFamily="18" charset="0"/>
                <a:cs typeface="Times New Roman" panose="02020603050405020304" pitchFamily="18" charset="0"/>
              </a:rPr>
              <a:t>specified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parameters</a:t>
            </a:r>
            <a:r>
              <a:rPr lang="fr-DZ" dirty="0">
                <a:latin typeface="Times New Roman" panose="02020603050405020304" pitchFamily="18" charset="0"/>
                <a:cs typeface="Times New Roman" panose="02020603050405020304" pitchFamily="18" charset="0"/>
              </a:rPr>
              <a:t>.</a:t>
            </a:r>
          </a:p>
          <a:p>
            <a:pPr algn="just"/>
            <a:r>
              <a:rPr lang="fr-DZ" dirty="0">
                <a:latin typeface="Times New Roman" panose="02020603050405020304" pitchFamily="18" charset="0"/>
                <a:cs typeface="Times New Roman" panose="02020603050405020304" pitchFamily="18" charset="0"/>
              </a:rPr>
              <a:t>2. </a:t>
            </a:r>
            <a:r>
              <a:rPr lang="fr-DZ" b="1" dirty="0" err="1">
                <a:latin typeface="Times New Roman" panose="02020603050405020304" pitchFamily="18" charset="0"/>
                <a:cs typeface="Times New Roman" panose="02020603050405020304" pitchFamily="18" charset="0"/>
              </a:rPr>
              <a:t>Connect</a:t>
            </a:r>
            <a:r>
              <a:rPr lang="fr-DZ" dirty="0">
                <a:latin typeface="Times New Roman" panose="02020603050405020304" pitchFamily="18" charset="0"/>
                <a:cs typeface="Times New Roman" panose="02020603050405020304" pitchFamily="18" charset="0"/>
              </a:rPr>
              <a:t>: In </a:t>
            </a:r>
            <a:r>
              <a:rPr lang="fr-DZ" dirty="0" err="1">
                <a:latin typeface="Times New Roman" panose="02020603050405020304" pitchFamily="18" charset="0"/>
                <a:cs typeface="Times New Roman" panose="02020603050405020304" pitchFamily="18" charset="0"/>
              </a:rPr>
              <a:t>this</a:t>
            </a:r>
            <a:r>
              <a:rPr lang="fr-DZ" dirty="0">
                <a:latin typeface="Times New Roman" panose="02020603050405020304" pitchFamily="18" charset="0"/>
                <a:cs typeface="Times New Roman" panose="02020603050405020304" pitchFamily="18" charset="0"/>
              </a:rPr>
              <a:t> phase, the router </a:t>
            </a:r>
            <a:r>
              <a:rPr lang="fr-DZ" dirty="0" err="1">
                <a:latin typeface="Times New Roman" panose="02020603050405020304" pitchFamily="18" charset="0"/>
                <a:cs typeface="Times New Roman" panose="02020603050405020304" pitchFamily="18" charset="0"/>
              </a:rPr>
              <a:t>actively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attempts</a:t>
            </a:r>
            <a:r>
              <a:rPr lang="fr-DZ" dirty="0">
                <a:latin typeface="Times New Roman" panose="02020603050405020304" pitchFamily="18" charset="0"/>
                <a:cs typeface="Times New Roman" panose="02020603050405020304" pitchFamily="18" charset="0"/>
              </a:rPr>
              <a:t> to open a TCP </a:t>
            </a:r>
            <a:r>
              <a:rPr lang="fr-DZ" dirty="0" err="1">
                <a:latin typeface="Times New Roman" panose="02020603050405020304" pitchFamily="18" charset="0"/>
                <a:cs typeface="Times New Roman" panose="02020603050405020304" pitchFamily="18" charset="0"/>
              </a:rPr>
              <a:t>connection</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its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designated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peer</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specifically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targeting</a:t>
            </a:r>
            <a:r>
              <a:rPr lang="fr-DZ" dirty="0">
                <a:latin typeface="Times New Roman" panose="02020603050405020304" pitchFamily="18" charset="0"/>
                <a:cs typeface="Times New Roman" panose="02020603050405020304" pitchFamily="18" charset="0"/>
              </a:rPr>
              <a:t> port 179. This </a:t>
            </a:r>
            <a:r>
              <a:rPr lang="fr-DZ" dirty="0" err="1">
                <a:latin typeface="Times New Roman" panose="02020603050405020304" pitchFamily="18" charset="0"/>
                <a:cs typeface="Times New Roman" panose="02020603050405020304" pitchFamily="18" charset="0"/>
              </a:rPr>
              <a:t>step</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crucial as </a:t>
            </a:r>
            <a:r>
              <a:rPr lang="fr-DZ" dirty="0" err="1">
                <a:latin typeface="Times New Roman" panose="02020603050405020304" pitchFamily="18" charset="0"/>
                <a:cs typeface="Times New Roman" panose="02020603050405020304" pitchFamily="18" charset="0"/>
              </a:rPr>
              <a:t>it</a:t>
            </a:r>
            <a:r>
              <a:rPr lang="fr-DZ" dirty="0">
                <a:latin typeface="Times New Roman" panose="02020603050405020304" pitchFamily="18" charset="0"/>
                <a:cs typeface="Times New Roman" panose="02020603050405020304" pitchFamily="18" charset="0"/>
              </a:rPr>
              <a:t> sets the </a:t>
            </a:r>
            <a:r>
              <a:rPr lang="fr-DZ" dirty="0" err="1">
                <a:latin typeface="Times New Roman" panose="02020603050405020304" pitchFamily="18" charset="0"/>
                <a:cs typeface="Times New Roman" panose="02020603050405020304" pitchFamily="18" charset="0"/>
              </a:rPr>
              <a:t>foundation</a:t>
            </a:r>
            <a:r>
              <a:rPr lang="fr-DZ" dirty="0">
                <a:latin typeface="Times New Roman" panose="02020603050405020304" pitchFamily="18" charset="0"/>
                <a:cs typeface="Times New Roman" panose="02020603050405020304" pitchFamily="18" charset="0"/>
              </a:rPr>
              <a:t> for future communication </a:t>
            </a:r>
            <a:r>
              <a:rPr lang="fr-DZ" dirty="0" err="1">
                <a:latin typeface="Times New Roman" panose="02020603050405020304" pitchFamily="18" charset="0"/>
                <a:cs typeface="Times New Roman" panose="02020603050405020304" pitchFamily="18" charset="0"/>
              </a:rPr>
              <a:t>between</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routers</a:t>
            </a:r>
            <a:r>
              <a:rPr lang="fr-DZ" dirty="0">
                <a:latin typeface="Times New Roman" panose="02020603050405020304" pitchFamily="18" charset="0"/>
                <a:cs typeface="Times New Roman" panose="02020603050405020304" pitchFamily="18" charset="0"/>
              </a:rPr>
              <a:t>.</a:t>
            </a:r>
          </a:p>
          <a:p>
            <a:pPr algn="just"/>
            <a:r>
              <a:rPr lang="fr-DZ" dirty="0">
                <a:latin typeface="Times New Roman" panose="02020603050405020304" pitchFamily="18" charset="0"/>
                <a:cs typeface="Times New Roman" panose="02020603050405020304" pitchFamily="18" charset="0"/>
              </a:rPr>
              <a:t>3. </a:t>
            </a:r>
            <a:r>
              <a:rPr lang="fr-DZ" b="1" dirty="0">
                <a:latin typeface="Times New Roman" panose="02020603050405020304" pitchFamily="18" charset="0"/>
                <a:cs typeface="Times New Roman" panose="02020603050405020304" pitchFamily="18" charset="0"/>
              </a:rPr>
              <a:t>Active</a:t>
            </a:r>
            <a:r>
              <a:rPr lang="fr-DZ" dirty="0">
                <a:latin typeface="Times New Roman" panose="02020603050405020304" pitchFamily="18" charset="0"/>
                <a:cs typeface="Times New Roman" panose="02020603050405020304" pitchFamily="18" charset="0"/>
              </a:rPr>
              <a:t>: If the TCP </a:t>
            </a:r>
            <a:r>
              <a:rPr lang="fr-DZ" dirty="0" err="1">
                <a:latin typeface="Times New Roman" panose="02020603050405020304" pitchFamily="18" charset="0"/>
                <a:cs typeface="Times New Roman" panose="02020603050405020304" pitchFamily="18" charset="0"/>
              </a:rPr>
              <a:t>connection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attempt</a:t>
            </a:r>
            <a:r>
              <a:rPr lang="fr-DZ" dirty="0">
                <a:latin typeface="Times New Roman" panose="02020603050405020304" pitchFamily="18" charset="0"/>
                <a:cs typeface="Times New Roman" panose="02020603050405020304" pitchFamily="18" charset="0"/>
              </a:rPr>
              <a:t> fails, the router shifts </a:t>
            </a:r>
            <a:r>
              <a:rPr lang="fr-DZ" dirty="0" err="1">
                <a:latin typeface="Times New Roman" panose="02020603050405020304" pitchFamily="18" charset="0"/>
                <a:cs typeface="Times New Roman" panose="02020603050405020304" pitchFamily="18" charset="0"/>
              </a:rPr>
              <a:t>into</a:t>
            </a:r>
            <a:r>
              <a:rPr lang="fr-DZ" dirty="0">
                <a:latin typeface="Times New Roman" panose="02020603050405020304" pitchFamily="18" charset="0"/>
                <a:cs typeface="Times New Roman" panose="02020603050405020304" pitchFamily="18" charset="0"/>
              </a:rPr>
              <a:t> the Active state, </a:t>
            </a:r>
            <a:r>
              <a:rPr lang="fr-DZ" dirty="0" err="1">
                <a:latin typeface="Times New Roman" panose="02020603050405020304" pitchFamily="18" charset="0"/>
                <a:cs typeface="Times New Roman" panose="02020603050405020304" pitchFamily="18" charset="0"/>
              </a:rPr>
              <a:t>where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persistently</a:t>
            </a:r>
            <a:r>
              <a:rPr lang="fr-DZ" dirty="0">
                <a:latin typeface="Times New Roman" panose="02020603050405020304" pitchFamily="18" charset="0"/>
                <a:cs typeface="Times New Roman" panose="02020603050405020304" pitchFamily="18" charset="0"/>
              </a:rPr>
              <a:t> retries to </a:t>
            </a:r>
            <a:r>
              <a:rPr lang="fr-DZ" dirty="0" err="1">
                <a:latin typeface="Times New Roman" panose="02020603050405020304" pitchFamily="18" charset="0"/>
                <a:cs typeface="Times New Roman" panose="02020603050405020304" pitchFamily="18" charset="0"/>
              </a:rPr>
              <a:t>establish</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connection</a:t>
            </a:r>
            <a:r>
              <a:rPr lang="fr-DZ" dirty="0">
                <a:latin typeface="Times New Roman" panose="02020603050405020304" pitchFamily="18" charset="0"/>
                <a:cs typeface="Times New Roman" panose="02020603050405020304" pitchFamily="18" charset="0"/>
              </a:rPr>
              <a:t>. This </a:t>
            </a:r>
            <a:r>
              <a:rPr lang="fr-DZ" dirty="0" err="1">
                <a:latin typeface="Times New Roman" panose="02020603050405020304" pitchFamily="18" charset="0"/>
                <a:cs typeface="Times New Roman" panose="02020603050405020304" pitchFamily="18" charset="0"/>
              </a:rPr>
              <a:t>determination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ensures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doesn’t</a:t>
            </a:r>
            <a:r>
              <a:rPr lang="fr-DZ" dirty="0">
                <a:latin typeface="Times New Roman" panose="02020603050405020304" pitchFamily="18" charset="0"/>
                <a:cs typeface="Times New Roman" panose="02020603050405020304" pitchFamily="18" charset="0"/>
              </a:rPr>
              <a:t> miss </a:t>
            </a:r>
            <a:r>
              <a:rPr lang="fr-DZ" dirty="0" err="1">
                <a:latin typeface="Times New Roman" panose="02020603050405020304" pitchFamily="18" charset="0"/>
                <a:cs typeface="Times New Roman" panose="02020603050405020304" pitchFamily="18" charset="0"/>
              </a:rPr>
              <a:t>opportunities</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connect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with</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potential</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neighbors</a:t>
            </a:r>
            <a:r>
              <a:rPr lang="fr-DZ" dirty="0">
                <a:latin typeface="Times New Roman" panose="02020603050405020304" pitchFamily="18" charset="0"/>
                <a:cs typeface="Times New Roman" panose="02020603050405020304" pitchFamily="18" charset="0"/>
              </a:rPr>
              <a:t>.</a:t>
            </a:r>
          </a:p>
          <a:p>
            <a:pPr algn="just"/>
            <a:r>
              <a:rPr lang="fr-DZ" dirty="0">
                <a:latin typeface="Times New Roman" panose="02020603050405020304" pitchFamily="18" charset="0"/>
                <a:cs typeface="Times New Roman" panose="02020603050405020304" pitchFamily="18" charset="0"/>
              </a:rPr>
              <a:t>4. </a:t>
            </a:r>
            <a:r>
              <a:rPr lang="fr-DZ" b="1" dirty="0" err="1">
                <a:latin typeface="Times New Roman" panose="02020603050405020304" pitchFamily="18" charset="0"/>
                <a:cs typeface="Times New Roman" panose="02020603050405020304" pitchFamily="18" charset="0"/>
              </a:rPr>
              <a:t>OpenSent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Upon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successfully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establishing</a:t>
            </a:r>
            <a:r>
              <a:rPr lang="fr-DZ" dirty="0">
                <a:latin typeface="Times New Roman" panose="02020603050405020304" pitchFamily="18" charset="0"/>
                <a:cs typeface="Times New Roman" panose="02020603050405020304" pitchFamily="18" charset="0"/>
              </a:rPr>
              <a:t> a TCP </a:t>
            </a:r>
            <a:r>
              <a:rPr lang="fr-DZ" dirty="0" err="1">
                <a:latin typeface="Times New Roman" panose="02020603050405020304" pitchFamily="18" charset="0"/>
                <a:cs typeface="Times New Roman" panose="02020603050405020304" pitchFamily="18" charset="0"/>
              </a:rPr>
              <a:t>connection</a:t>
            </a:r>
            <a:r>
              <a:rPr lang="fr-DZ" dirty="0">
                <a:latin typeface="Times New Roman" panose="02020603050405020304" pitchFamily="18" charset="0"/>
                <a:cs typeface="Times New Roman" panose="02020603050405020304" pitchFamily="18" charset="0"/>
              </a:rPr>
              <a:t>, the router progresses to the </a:t>
            </a:r>
            <a:r>
              <a:rPr lang="fr-DZ" dirty="0" err="1">
                <a:latin typeface="Times New Roman" panose="02020603050405020304" pitchFamily="18" charset="0"/>
                <a:cs typeface="Times New Roman" panose="02020603050405020304" pitchFamily="18" charset="0"/>
              </a:rPr>
              <a:t>OpenSent</a:t>
            </a:r>
            <a:r>
              <a:rPr lang="fr-DZ" dirty="0">
                <a:latin typeface="Times New Roman" panose="02020603050405020304" pitchFamily="18" charset="0"/>
                <a:cs typeface="Times New Roman" panose="02020603050405020304" pitchFamily="18" charset="0"/>
              </a:rPr>
              <a:t> state. </a:t>
            </a:r>
            <a:r>
              <a:rPr lang="fr-DZ" dirty="0" err="1">
                <a:latin typeface="Times New Roman" panose="02020603050405020304" pitchFamily="18" charset="0"/>
                <a:cs typeface="Times New Roman" panose="02020603050405020304" pitchFamily="18" charset="0"/>
              </a:rPr>
              <a:t>Here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sends</a:t>
            </a:r>
            <a:r>
              <a:rPr lang="fr-DZ" dirty="0">
                <a:latin typeface="Times New Roman" panose="02020603050405020304" pitchFamily="18" charset="0"/>
                <a:cs typeface="Times New Roman" panose="02020603050405020304" pitchFamily="18" charset="0"/>
              </a:rPr>
              <a:t> an OPEN message to the </a:t>
            </a:r>
            <a:r>
              <a:rPr lang="fr-DZ" dirty="0" err="1">
                <a:latin typeface="Times New Roman" panose="02020603050405020304" pitchFamily="18" charset="0"/>
                <a:cs typeface="Times New Roman" panose="02020603050405020304" pitchFamily="18" charset="0"/>
              </a:rPr>
              <a:t>peer</a:t>
            </a:r>
            <a:r>
              <a:rPr lang="fr-DZ" dirty="0">
                <a:latin typeface="Times New Roman" panose="02020603050405020304" pitchFamily="18" charset="0"/>
                <a:cs typeface="Times New Roman" panose="02020603050405020304" pitchFamily="18" charset="0"/>
              </a:rPr>
              <a:t> router, </a:t>
            </a:r>
            <a:r>
              <a:rPr lang="fr-DZ" dirty="0" err="1">
                <a:latin typeface="Times New Roman" panose="02020603050405020304" pitchFamily="18" charset="0"/>
                <a:cs typeface="Times New Roman" panose="02020603050405020304" pitchFamily="18" charset="0"/>
              </a:rPr>
              <a:t>which</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contains</a:t>
            </a:r>
            <a:r>
              <a:rPr lang="fr-DZ" dirty="0">
                <a:latin typeface="Times New Roman" panose="02020603050405020304" pitchFamily="18" charset="0"/>
                <a:cs typeface="Times New Roman" panose="02020603050405020304" pitchFamily="18" charset="0"/>
              </a:rPr>
              <a:t> essential information </a:t>
            </a:r>
            <a:r>
              <a:rPr lang="fr-DZ" dirty="0" err="1">
                <a:latin typeface="Times New Roman" panose="02020603050405020304" pitchFamily="18" charset="0"/>
                <a:cs typeface="Times New Roman" panose="02020603050405020304" pitchFamily="18" charset="0"/>
              </a:rPr>
              <a:t>such</a:t>
            </a:r>
            <a:r>
              <a:rPr lang="fr-DZ" dirty="0">
                <a:latin typeface="Times New Roman" panose="02020603050405020304" pitchFamily="18" charset="0"/>
                <a:cs typeface="Times New Roman" panose="02020603050405020304" pitchFamily="18" charset="0"/>
              </a:rPr>
              <a:t> as the </a:t>
            </a:r>
            <a:r>
              <a:rPr lang="fr-DZ" dirty="0" err="1">
                <a:latin typeface="Times New Roman" panose="02020603050405020304" pitchFamily="18" charset="0"/>
                <a:cs typeface="Times New Roman" panose="02020603050405020304" pitchFamily="18" charset="0"/>
              </a:rPr>
              <a:t>Autonomous</a:t>
            </a:r>
            <a:r>
              <a:rPr lang="fr-DZ" dirty="0">
                <a:latin typeface="Times New Roman" panose="02020603050405020304" pitchFamily="18" charset="0"/>
                <a:cs typeface="Times New Roman" panose="02020603050405020304" pitchFamily="18" charset="0"/>
              </a:rPr>
              <a:t> System (AS) </a:t>
            </a:r>
            <a:r>
              <a:rPr lang="fr-DZ" dirty="0" err="1">
                <a:latin typeface="Times New Roman" panose="02020603050405020304" pitchFamily="18" charset="0"/>
                <a:cs typeface="Times New Roman" panose="02020603050405020304" pitchFamily="18" charset="0"/>
              </a:rPr>
              <a:t>number</a:t>
            </a:r>
            <a:r>
              <a:rPr lang="fr-DZ" dirty="0">
                <a:latin typeface="Times New Roman" panose="02020603050405020304" pitchFamily="18" charset="0"/>
                <a:cs typeface="Times New Roman" panose="02020603050405020304" pitchFamily="18" charset="0"/>
              </a:rPr>
              <a:t>, router ID, and the </a:t>
            </a:r>
            <a:r>
              <a:rPr lang="fr-DZ" dirty="0" err="1">
                <a:latin typeface="Times New Roman" panose="02020603050405020304" pitchFamily="18" charset="0"/>
                <a:cs typeface="Times New Roman" panose="02020603050405020304" pitchFamily="18" charset="0"/>
              </a:rPr>
              <a:t>timers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govern</a:t>
            </a:r>
            <a:r>
              <a:rPr lang="fr-DZ" dirty="0">
                <a:latin typeface="Times New Roman" panose="02020603050405020304" pitchFamily="18" charset="0"/>
                <a:cs typeface="Times New Roman" panose="02020603050405020304" pitchFamily="18" charset="0"/>
              </a:rPr>
              <a:t> the session.</a:t>
            </a:r>
          </a:p>
          <a:p>
            <a:pPr algn="just"/>
            <a:r>
              <a:rPr lang="fr-DZ" dirty="0">
                <a:latin typeface="Times New Roman" panose="02020603050405020304" pitchFamily="18" charset="0"/>
                <a:cs typeface="Times New Roman" panose="02020603050405020304" pitchFamily="18" charset="0"/>
              </a:rPr>
              <a:t>5. </a:t>
            </a:r>
            <a:r>
              <a:rPr lang="fr-DZ" b="1" dirty="0" err="1">
                <a:latin typeface="Times New Roman" panose="02020603050405020304" pitchFamily="18" charset="0"/>
                <a:cs typeface="Times New Roman" panose="02020603050405020304" pitchFamily="18" charset="0"/>
              </a:rPr>
              <a:t>OpenConfirm</a:t>
            </a:r>
            <a:r>
              <a:rPr lang="fr-DZ" dirty="0">
                <a:latin typeface="Times New Roman" panose="02020603050405020304" pitchFamily="18" charset="0"/>
                <a:cs typeface="Times New Roman" panose="02020603050405020304" pitchFamily="18" charset="0"/>
              </a:rPr>
              <a:t>: In </a:t>
            </a:r>
            <a:r>
              <a:rPr lang="fr-DZ" dirty="0" err="1">
                <a:latin typeface="Times New Roman" panose="02020603050405020304" pitchFamily="18" charset="0"/>
                <a:cs typeface="Times New Roman" panose="02020603050405020304" pitchFamily="18" charset="0"/>
              </a:rPr>
              <a:t>this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transitional</a:t>
            </a:r>
            <a:r>
              <a:rPr lang="fr-DZ" dirty="0">
                <a:latin typeface="Times New Roman" panose="02020603050405020304" pitchFamily="18" charset="0"/>
                <a:cs typeface="Times New Roman" panose="02020603050405020304" pitchFamily="18" charset="0"/>
              </a:rPr>
              <a:t> phase, the router </a:t>
            </a:r>
            <a:r>
              <a:rPr lang="fr-DZ" dirty="0" err="1">
                <a:latin typeface="Times New Roman" panose="02020603050405020304" pitchFamily="18" charset="0"/>
                <a:cs typeface="Times New Roman" panose="02020603050405020304" pitchFamily="18" charset="0"/>
              </a:rPr>
              <a:t>patiently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awaits</a:t>
            </a:r>
            <a:r>
              <a:rPr lang="fr-DZ" dirty="0">
                <a:latin typeface="Times New Roman" panose="02020603050405020304" pitchFamily="18" charset="0"/>
                <a:cs typeface="Times New Roman" panose="02020603050405020304" pitchFamily="18" charset="0"/>
              </a:rPr>
              <a:t> a KEEPALIVE message </a:t>
            </a:r>
            <a:r>
              <a:rPr lang="fr-DZ" dirty="0" err="1">
                <a:latin typeface="Times New Roman" panose="02020603050405020304" pitchFamily="18" charset="0"/>
                <a:cs typeface="Times New Roman" panose="02020603050405020304" pitchFamily="18" charset="0"/>
              </a:rPr>
              <a:t>from</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neighboring</a:t>
            </a:r>
            <a:r>
              <a:rPr lang="fr-DZ" dirty="0">
                <a:latin typeface="Times New Roman" panose="02020603050405020304" pitchFamily="18" charset="0"/>
                <a:cs typeface="Times New Roman" panose="02020603050405020304" pitchFamily="18" charset="0"/>
              </a:rPr>
              <a:t> router. This message serves as a confirmation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peer</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ready</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proceed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with</a:t>
            </a:r>
            <a:r>
              <a:rPr lang="fr-DZ" dirty="0">
                <a:latin typeface="Times New Roman" panose="02020603050405020304" pitchFamily="18" charset="0"/>
                <a:cs typeface="Times New Roman" panose="02020603050405020304" pitchFamily="18" charset="0"/>
              </a:rPr>
              <a:t> the session, </a:t>
            </a:r>
            <a:r>
              <a:rPr lang="fr-DZ" dirty="0" err="1">
                <a:latin typeface="Times New Roman" panose="02020603050405020304" pitchFamily="18" charset="0"/>
                <a:cs typeface="Times New Roman" panose="02020603050405020304" pitchFamily="18" charset="0"/>
              </a:rPr>
              <a:t>ensuring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both</a:t>
            </a:r>
            <a:r>
              <a:rPr lang="fr-DZ" dirty="0">
                <a:latin typeface="Times New Roman" panose="02020603050405020304" pitchFamily="18" charset="0"/>
                <a:cs typeface="Times New Roman" panose="02020603050405020304" pitchFamily="18" charset="0"/>
              </a:rPr>
              <a:t> parties are </a:t>
            </a:r>
            <a:r>
              <a:rPr lang="fr-DZ" dirty="0" err="1">
                <a:latin typeface="Times New Roman" panose="02020603050405020304" pitchFamily="18" charset="0"/>
                <a:cs typeface="Times New Roman" panose="02020603050405020304" pitchFamily="18" charset="0"/>
              </a:rPr>
              <a:t>aligned</a:t>
            </a:r>
            <a:r>
              <a:rPr lang="fr-DZ" dirty="0">
                <a:latin typeface="Times New Roman" panose="02020603050405020304" pitchFamily="18" charset="0"/>
                <a:cs typeface="Times New Roman" panose="02020603050405020304" pitchFamily="18" charset="0"/>
              </a:rPr>
              <a:t>.</a:t>
            </a:r>
          </a:p>
          <a:p>
            <a:pPr algn="just"/>
            <a:r>
              <a:rPr lang="fr-DZ" dirty="0">
                <a:latin typeface="Times New Roman" panose="02020603050405020304" pitchFamily="18" charset="0"/>
                <a:cs typeface="Times New Roman" panose="02020603050405020304" pitchFamily="18" charset="0"/>
              </a:rPr>
              <a:t>6. </a:t>
            </a:r>
            <a:r>
              <a:rPr lang="fr-DZ" b="1" dirty="0" err="1">
                <a:latin typeface="Times New Roman" panose="02020603050405020304" pitchFamily="18" charset="0"/>
                <a:cs typeface="Times New Roman" panose="02020603050405020304" pitchFamily="18" charset="0"/>
              </a:rPr>
              <a:t>Established</a:t>
            </a:r>
            <a:r>
              <a:rPr lang="fr-DZ" dirty="0">
                <a:latin typeface="Times New Roman" panose="02020603050405020304" pitchFamily="18" charset="0"/>
                <a:cs typeface="Times New Roman" panose="02020603050405020304" pitchFamily="18" charset="0"/>
              </a:rPr>
              <a:t>: Once the KEEPALIVE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received</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routers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reach</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Established</a:t>
            </a:r>
            <a:r>
              <a:rPr lang="fr-DZ" dirty="0">
                <a:latin typeface="Times New Roman" panose="02020603050405020304" pitchFamily="18" charset="0"/>
                <a:cs typeface="Times New Roman" panose="02020603050405020304" pitchFamily="18" charset="0"/>
              </a:rPr>
              <a:t> state, </a:t>
            </a:r>
            <a:r>
              <a:rPr lang="fr-DZ" dirty="0" err="1">
                <a:latin typeface="Times New Roman" panose="02020603050405020304" pitchFamily="18" charset="0"/>
                <a:cs typeface="Times New Roman" panose="02020603050405020304" pitchFamily="18" charset="0"/>
              </a:rPr>
              <a:t>marking</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successful</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completion</a:t>
            </a:r>
            <a:r>
              <a:rPr lang="fr-DZ" dirty="0">
                <a:latin typeface="Times New Roman" panose="02020603050405020304" pitchFamily="18" charset="0"/>
                <a:cs typeface="Times New Roman" panose="02020603050405020304" pitchFamily="18" charset="0"/>
              </a:rPr>
              <a:t> of the </a:t>
            </a:r>
            <a:r>
              <a:rPr lang="fr-DZ" dirty="0" err="1">
                <a:latin typeface="Times New Roman" panose="02020603050405020304" pitchFamily="18" charset="0"/>
                <a:cs typeface="Times New Roman" panose="02020603050405020304" pitchFamily="18" charset="0"/>
              </a:rPr>
              <a:t>peering</a:t>
            </a:r>
            <a:r>
              <a:rPr lang="fr-DZ" dirty="0">
                <a:latin typeface="Times New Roman" panose="02020603050405020304" pitchFamily="18" charset="0"/>
                <a:cs typeface="Times New Roman" panose="02020603050405020304" pitchFamily="18" charset="0"/>
              </a:rPr>
              <a:t> process. In </a:t>
            </a:r>
            <a:r>
              <a:rPr lang="fr-DZ" dirty="0" err="1">
                <a:latin typeface="Times New Roman" panose="02020603050405020304" pitchFamily="18" charset="0"/>
                <a:cs typeface="Times New Roman" panose="02020603050405020304" pitchFamily="18" charset="0"/>
              </a:rPr>
              <a:t>this</a:t>
            </a:r>
            <a:r>
              <a:rPr lang="fr-DZ" dirty="0">
                <a:latin typeface="Times New Roman" panose="02020603050405020304" pitchFamily="18" charset="0"/>
                <a:cs typeface="Times New Roman" panose="02020603050405020304" pitchFamily="18" charset="0"/>
              </a:rPr>
              <a:t> final phase, the </a:t>
            </a:r>
            <a:r>
              <a:rPr lang="fr-DZ" dirty="0" err="1">
                <a:latin typeface="Times New Roman" panose="02020603050405020304" pitchFamily="18" charset="0"/>
                <a:cs typeface="Times New Roman" panose="02020603050405020304" pitchFamily="18" charset="0"/>
              </a:rPr>
              <a:t>routers</a:t>
            </a:r>
            <a:r>
              <a:rPr lang="fr-DZ" dirty="0">
                <a:latin typeface="Times New Roman" panose="02020603050405020304" pitchFamily="18" charset="0"/>
                <a:cs typeface="Times New Roman" panose="02020603050405020304" pitchFamily="18" charset="0"/>
              </a:rPr>
              <a:t> are </a:t>
            </a:r>
            <a:r>
              <a:rPr lang="fr-DZ" dirty="0" err="1">
                <a:latin typeface="Times New Roman" panose="02020603050405020304" pitchFamily="18" charset="0"/>
                <a:cs typeface="Times New Roman" panose="02020603050405020304" pitchFamily="18" charset="0"/>
              </a:rPr>
              <a:t>now</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fully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connected</a:t>
            </a:r>
            <a:r>
              <a:rPr lang="fr-DZ" dirty="0">
                <a:latin typeface="Times New Roman" panose="02020603050405020304" pitchFamily="18" charset="0"/>
                <a:cs typeface="Times New Roman" panose="02020603050405020304" pitchFamily="18" charset="0"/>
              </a:rPr>
              <a:t> and can </a:t>
            </a:r>
            <a:r>
              <a:rPr lang="fr-DZ" dirty="0" err="1">
                <a:latin typeface="Times New Roman" panose="02020603050405020304" pitchFamily="18" charset="0"/>
                <a:cs typeface="Times New Roman" panose="02020603050405020304" pitchFamily="18" charset="0"/>
              </a:rPr>
              <a:t>freely</a:t>
            </a:r>
            <a:r>
              <a:rPr lang="fr-DZ" dirty="0">
                <a:latin typeface="Times New Roman" panose="02020603050405020304" pitchFamily="18" charset="0"/>
                <a:cs typeface="Times New Roman" panose="02020603050405020304" pitchFamily="18" charset="0"/>
              </a:rPr>
              <a:t> exchange </a:t>
            </a:r>
            <a:r>
              <a:rPr lang="fr-DZ" dirty="0" err="1">
                <a:latin typeface="Times New Roman" panose="02020603050405020304" pitchFamily="18" charset="0"/>
                <a:cs typeface="Times New Roman" panose="02020603050405020304" pitchFamily="18" charset="0"/>
              </a:rPr>
              <a:t>routing</a:t>
            </a:r>
            <a:r>
              <a:rPr lang="fr-DZ" dirty="0">
                <a:latin typeface="Times New Roman" panose="02020603050405020304" pitchFamily="18" charset="0"/>
                <a:cs typeface="Times New Roman" panose="02020603050405020304" pitchFamily="18" charset="0"/>
              </a:rPr>
              <a:t> updates, </a:t>
            </a:r>
            <a:r>
              <a:rPr lang="fr-DZ" dirty="0" err="1">
                <a:latin typeface="Times New Roman" panose="02020603050405020304" pitchFamily="18" charset="0"/>
                <a:cs typeface="Times New Roman" panose="02020603050405020304" pitchFamily="18" charset="0"/>
              </a:rPr>
              <a:t>facilitating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seamless</a:t>
            </a:r>
            <a:r>
              <a:rPr lang="fr-DZ" dirty="0">
                <a:latin typeface="Times New Roman" panose="02020603050405020304" pitchFamily="18" charset="0"/>
                <a:cs typeface="Times New Roman" panose="02020603050405020304" pitchFamily="18" charset="0"/>
              </a:rPr>
              <a:t> communication and optimal </a:t>
            </a:r>
            <a:r>
              <a:rPr lang="fr-DZ" dirty="0" err="1">
                <a:latin typeface="Times New Roman" panose="02020603050405020304" pitchFamily="18" charset="0"/>
                <a:cs typeface="Times New Roman" panose="02020603050405020304" pitchFamily="18" charset="0"/>
              </a:rPr>
              <a:t>routing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decisions</a:t>
            </a:r>
            <a:r>
              <a:rPr lang="fr-DZ" dirty="0">
                <a:latin typeface="Times New Roman" panose="02020603050405020304" pitchFamily="18" charset="0"/>
                <a:cs typeface="Times New Roman" panose="02020603050405020304" pitchFamily="18" charset="0"/>
              </a:rPr>
              <a:t>.</a:t>
            </a:r>
          </a:p>
          <a:p>
            <a:pPr algn="just"/>
            <a:endParaRPr lang="fr-DZ"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5A382B7-7E68-F6CB-AC20-70C57A69959B}"/>
              </a:ext>
            </a:extLst>
          </p:cNvPr>
          <p:cNvSpPr txBox="1"/>
          <p:nvPr/>
        </p:nvSpPr>
        <p:spPr>
          <a:xfrm>
            <a:off x="2227864" y="260648"/>
            <a:ext cx="7250924" cy="646331"/>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BGP Neighbor (Peer) Establishment</a:t>
            </a:r>
          </a:p>
        </p:txBody>
      </p:sp>
    </p:spTree>
    <p:extLst>
      <p:ext uri="{BB962C8B-B14F-4D97-AF65-F5344CB8AC3E}">
        <p14:creationId xmlns:p14="http://schemas.microsoft.com/office/powerpoint/2010/main" val="3609733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3B75E34-929E-33AB-A417-C30EA4622408}"/>
              </a:ext>
            </a:extLst>
          </p:cNvPr>
          <p:cNvSpPr txBox="1"/>
          <p:nvPr/>
        </p:nvSpPr>
        <p:spPr>
          <a:xfrm>
            <a:off x="3047111" y="188640"/>
            <a:ext cx="6094602" cy="646331"/>
          </a:xfrm>
          <a:prstGeom prst="rect">
            <a:avLst/>
          </a:prstGeom>
          <a:noFill/>
        </p:spPr>
        <p:txBody>
          <a:bodyPr wrap="square">
            <a:spAutoFit/>
          </a:bodyPr>
          <a:lstStyle/>
          <a:p>
            <a:pPr algn="ctr"/>
            <a:r>
              <a:rPr lang="fr-DZ" sz="3600" b="1" dirty="0">
                <a:latin typeface="Times New Roman" panose="02020603050405020304" pitchFamily="18" charset="0"/>
                <a:cs typeface="Times New Roman" panose="02020603050405020304" pitchFamily="18" charset="0"/>
              </a:rPr>
              <a:t>Path </a:t>
            </a:r>
            <a:r>
              <a:rPr lang="fr-DZ" sz="3600" b="1" dirty="0" err="1">
                <a:latin typeface="Times New Roman" panose="02020603050405020304" pitchFamily="18" charset="0"/>
                <a:cs typeface="Times New Roman" panose="02020603050405020304" pitchFamily="18" charset="0"/>
              </a:rPr>
              <a:t>Attributes</a:t>
            </a:r>
            <a:r>
              <a:rPr lang="fr-DZ" sz="3600" b="1" dirty="0">
                <a:latin typeface="Times New Roman" panose="02020603050405020304" pitchFamily="18" charset="0"/>
                <a:cs typeface="Times New Roman" panose="02020603050405020304" pitchFamily="18" charset="0"/>
              </a:rPr>
              <a:t> (</a:t>
            </a:r>
            <a:r>
              <a:rPr lang="fr-DZ" sz="3600" b="1" dirty="0" err="1">
                <a:latin typeface="Times New Roman" panose="02020603050405020304" pitchFamily="18" charset="0"/>
                <a:cs typeface="Times New Roman" panose="02020603050405020304" pitchFamily="18" charset="0"/>
              </a:rPr>
              <a:t>PAs</a:t>
            </a:r>
            <a:r>
              <a:rPr lang="fr-DZ" sz="3600" b="1"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092B397A-E2BC-E9D8-45EA-E79F8F6CE3DB}"/>
              </a:ext>
            </a:extLst>
          </p:cNvPr>
          <p:cNvSpPr txBox="1"/>
          <p:nvPr/>
        </p:nvSpPr>
        <p:spPr>
          <a:xfrm>
            <a:off x="1269876" y="908720"/>
            <a:ext cx="10441160" cy="5078313"/>
          </a:xfrm>
          <a:prstGeom prst="rect">
            <a:avLst/>
          </a:prstGeom>
          <a:noFill/>
        </p:spPr>
        <p:txBody>
          <a:bodyPr wrap="square">
            <a:spAutoFit/>
          </a:bodyPr>
          <a:lstStyle/>
          <a:p>
            <a:pPr algn="just"/>
            <a:r>
              <a:rPr lang="fr-DZ" dirty="0">
                <a:latin typeface="Times New Roman" panose="02020603050405020304" pitchFamily="18" charset="0"/>
                <a:cs typeface="Times New Roman" panose="02020603050405020304" pitchFamily="18" charset="0"/>
              </a:rPr>
              <a:t>Path </a:t>
            </a:r>
            <a:r>
              <a:rPr lang="fr-DZ" dirty="0" err="1">
                <a:latin typeface="Times New Roman" panose="02020603050405020304" pitchFamily="18" charset="0"/>
                <a:cs typeface="Times New Roman" panose="02020603050405020304" pitchFamily="18" charset="0"/>
              </a:rPr>
              <a:t>attributes</a:t>
            </a:r>
            <a:r>
              <a:rPr lang="fr-DZ" dirty="0">
                <a:latin typeface="Times New Roman" panose="02020603050405020304" pitchFamily="18" charset="0"/>
                <a:cs typeface="Times New Roman" panose="02020603050405020304" pitchFamily="18" charset="0"/>
              </a:rPr>
              <a:t> serve as crucial </a:t>
            </a:r>
            <a:r>
              <a:rPr lang="fr-DZ" dirty="0" err="1">
                <a:latin typeface="Times New Roman" panose="02020603050405020304" pitchFamily="18" charset="0"/>
                <a:cs typeface="Times New Roman" panose="02020603050405020304" pitchFamily="18" charset="0"/>
              </a:rPr>
              <a:t>indicators</a:t>
            </a:r>
            <a:r>
              <a:rPr lang="fr-DZ" dirty="0">
                <a:latin typeface="Times New Roman" panose="02020603050405020304" pitchFamily="18" charset="0"/>
                <a:cs typeface="Times New Roman" panose="02020603050405020304" pitchFamily="18" charset="0"/>
              </a:rPr>
              <a:t> in the Border Gateway Protocol (BGP), </a:t>
            </a:r>
            <a:r>
              <a:rPr lang="fr-DZ" dirty="0" err="1">
                <a:latin typeface="Times New Roman" panose="02020603050405020304" pitchFamily="18" charset="0"/>
                <a:cs typeface="Times New Roman" panose="02020603050405020304" pitchFamily="18" charset="0"/>
              </a:rPr>
              <a:t>guiding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routers</a:t>
            </a:r>
            <a:r>
              <a:rPr lang="fr-DZ" dirty="0">
                <a:latin typeface="Times New Roman" panose="02020603050405020304" pitchFamily="18" charset="0"/>
                <a:cs typeface="Times New Roman" panose="02020603050405020304" pitchFamily="18" charset="0"/>
              </a:rPr>
              <a:t> in </a:t>
            </a:r>
            <a:r>
              <a:rPr lang="fr-DZ" dirty="0" err="1">
                <a:latin typeface="Times New Roman" panose="02020603050405020304" pitchFamily="18" charset="0"/>
                <a:cs typeface="Times New Roman" panose="02020603050405020304" pitchFamily="18" charset="0"/>
              </a:rPr>
              <a:t>their</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quest</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identify</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most</a:t>
            </a:r>
            <a:r>
              <a:rPr lang="fr-DZ" dirty="0">
                <a:latin typeface="Times New Roman" panose="02020603050405020304" pitchFamily="18" charset="0"/>
                <a:cs typeface="Times New Roman" panose="02020603050405020304" pitchFamily="18" charset="0"/>
              </a:rPr>
              <a:t> optimal </a:t>
            </a:r>
            <a:r>
              <a:rPr lang="fr-DZ" dirty="0" err="1">
                <a:latin typeface="Times New Roman" panose="02020603050405020304" pitchFamily="18" charset="0"/>
                <a:cs typeface="Times New Roman" panose="02020603050405020304" pitchFamily="18" charset="0"/>
              </a:rPr>
              <a:t>path</a:t>
            </a:r>
            <a:r>
              <a:rPr lang="fr-DZ" dirty="0">
                <a:latin typeface="Times New Roman" panose="02020603050405020304" pitchFamily="18" charset="0"/>
                <a:cs typeface="Times New Roman" panose="02020603050405020304" pitchFamily="18" charset="0"/>
              </a:rPr>
              <a:t> for data transmission.</a:t>
            </a:r>
          </a:p>
          <a:p>
            <a:pPr algn="just"/>
            <a:r>
              <a:rPr lang="fr-DZ" b="1" dirty="0" err="1">
                <a:latin typeface="Times New Roman" panose="02020603050405020304" pitchFamily="18" charset="0"/>
                <a:cs typeface="Times New Roman" panose="02020603050405020304" pitchFamily="18" charset="0"/>
              </a:rPr>
              <a:t>Mandatory</a:t>
            </a:r>
            <a:r>
              <a:rPr lang="fr-DZ" b="1" dirty="0">
                <a:latin typeface="Times New Roman" panose="02020603050405020304" pitchFamily="18" charset="0"/>
                <a:cs typeface="Times New Roman" panose="02020603050405020304" pitchFamily="18" charset="0"/>
              </a:rPr>
              <a:t> </a:t>
            </a:r>
            <a:r>
              <a:rPr lang="fr-DZ" b="1" dirty="0" err="1">
                <a:latin typeface="Times New Roman" panose="02020603050405020304" pitchFamily="18" charset="0"/>
                <a:cs typeface="Times New Roman" panose="02020603050405020304" pitchFamily="18" charset="0"/>
              </a:rPr>
              <a:t>Attributes</a:t>
            </a:r>
            <a:endParaRPr lang="fr-DZ"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a:t>
            </a:r>
            <a:r>
              <a:rPr lang="fr-DZ" b="1" dirty="0">
                <a:latin typeface="Times New Roman" panose="02020603050405020304" pitchFamily="18" charset="0"/>
                <a:cs typeface="Times New Roman" panose="02020603050405020304" pitchFamily="18" charset="0"/>
              </a:rPr>
              <a:t>AS_PATH </a:t>
            </a:r>
          </a:p>
          <a:p>
            <a:pPr algn="just"/>
            <a:r>
              <a:rPr lang="fr-DZ" dirty="0">
                <a:latin typeface="Times New Roman" panose="02020603050405020304" pitchFamily="18" charset="0"/>
                <a:cs typeface="Times New Roman" panose="02020603050405020304" pitchFamily="18" charset="0"/>
              </a:rPr>
              <a:t>This </a:t>
            </a:r>
            <a:r>
              <a:rPr lang="fr-DZ" dirty="0" err="1">
                <a:latin typeface="Times New Roman" panose="02020603050405020304" pitchFamily="18" charset="0"/>
                <a:cs typeface="Times New Roman" panose="02020603050405020304" pitchFamily="18" charset="0"/>
              </a:rPr>
              <a:t>attribute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a </a:t>
            </a:r>
            <a:r>
              <a:rPr lang="fr-DZ" dirty="0" err="1">
                <a:latin typeface="Times New Roman" panose="02020603050405020304" pitchFamily="18" charset="0"/>
                <a:cs typeface="Times New Roman" panose="02020603050405020304" pitchFamily="18" charset="0"/>
              </a:rPr>
              <a:t>comprehensive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list</a:t>
            </a:r>
            <a:r>
              <a:rPr lang="fr-DZ" dirty="0">
                <a:latin typeface="Times New Roman" panose="02020603050405020304" pitchFamily="18" charset="0"/>
                <a:cs typeface="Times New Roman" panose="02020603050405020304" pitchFamily="18" charset="0"/>
              </a:rPr>
              <a:t> of </a:t>
            </a:r>
            <a:r>
              <a:rPr lang="fr-DZ" dirty="0" err="1">
                <a:latin typeface="Times New Roman" panose="02020603050405020304" pitchFamily="18" charset="0"/>
                <a:cs typeface="Times New Roman" panose="02020603050405020304" pitchFamily="18" charset="0"/>
              </a:rPr>
              <a:t>Autonomous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Systems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ASes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the route has </a:t>
            </a:r>
            <a:r>
              <a:rPr lang="fr-DZ" dirty="0" err="1">
                <a:latin typeface="Times New Roman" panose="02020603050405020304" pitchFamily="18" charset="0"/>
                <a:cs typeface="Times New Roman" panose="02020603050405020304" pitchFamily="18" charset="0"/>
              </a:rPr>
              <a:t>traversed</a:t>
            </a:r>
            <a:r>
              <a:rPr lang="fr-DZ" dirty="0">
                <a:latin typeface="Times New Roman" panose="02020603050405020304" pitchFamily="18" charset="0"/>
                <a:cs typeface="Times New Roman" panose="02020603050405020304" pitchFamily="18" charset="0"/>
              </a:rPr>
              <a:t>. It </a:t>
            </a:r>
            <a:r>
              <a:rPr lang="fr-DZ" dirty="0" err="1">
                <a:latin typeface="Times New Roman" panose="02020603050405020304" pitchFamily="18" charset="0"/>
                <a:cs typeface="Times New Roman" panose="02020603050405020304" pitchFamily="18" charset="0"/>
              </a:rPr>
              <a:t>plays</a:t>
            </a:r>
            <a:r>
              <a:rPr lang="fr-DZ" dirty="0">
                <a:latin typeface="Times New Roman" panose="02020603050405020304" pitchFamily="18" charset="0"/>
                <a:cs typeface="Times New Roman" panose="02020603050405020304" pitchFamily="18" charset="0"/>
              </a:rPr>
              <a:t> a vital </a:t>
            </a:r>
            <a:r>
              <a:rPr lang="fr-DZ" dirty="0" err="1">
                <a:latin typeface="Times New Roman" panose="02020603050405020304" pitchFamily="18" charset="0"/>
                <a:cs typeface="Times New Roman" panose="02020603050405020304" pitchFamily="18" charset="0"/>
              </a:rPr>
              <a:t>role</a:t>
            </a:r>
            <a:r>
              <a:rPr lang="fr-DZ" dirty="0">
                <a:latin typeface="Times New Roman" panose="02020603050405020304" pitchFamily="18" charset="0"/>
                <a:cs typeface="Times New Roman" panose="02020603050405020304" pitchFamily="18" charset="0"/>
              </a:rPr>
              <a:t> in </a:t>
            </a:r>
            <a:r>
              <a:rPr lang="fr-DZ" dirty="0" err="1">
                <a:latin typeface="Times New Roman" panose="02020603050405020304" pitchFamily="18" charset="0"/>
                <a:cs typeface="Times New Roman" panose="02020603050405020304" pitchFamily="18" charset="0"/>
              </a:rPr>
              <a:t>loop</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prevention</a:t>
            </a:r>
            <a:r>
              <a:rPr lang="fr-DZ" dirty="0">
                <a:latin typeface="Times New Roman" panose="02020603050405020304" pitchFamily="18" charset="0"/>
                <a:cs typeface="Times New Roman" panose="02020603050405020304" pitchFamily="18" charset="0"/>
              </a:rPr>
              <a:t> by </a:t>
            </a:r>
            <a:r>
              <a:rPr lang="fr-DZ" dirty="0" err="1">
                <a:latin typeface="Times New Roman" panose="02020603050405020304" pitchFamily="18" charset="0"/>
                <a:cs typeface="Times New Roman" panose="02020603050405020304" pitchFamily="18" charset="0"/>
              </a:rPr>
              <a:t>helping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routers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recognize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whether</a:t>
            </a:r>
            <a:r>
              <a:rPr lang="fr-DZ" dirty="0">
                <a:latin typeface="Times New Roman" panose="02020603050405020304" pitchFamily="18" charset="0"/>
                <a:cs typeface="Times New Roman" panose="02020603050405020304" pitchFamily="18" charset="0"/>
              </a:rPr>
              <a:t> a route has </a:t>
            </a:r>
            <a:r>
              <a:rPr lang="fr-DZ" dirty="0" err="1">
                <a:latin typeface="Times New Roman" panose="02020603050405020304" pitchFamily="18" charset="0"/>
                <a:cs typeface="Times New Roman" panose="02020603050405020304" pitchFamily="18" charset="0"/>
              </a:rPr>
              <a:t>already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passed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through</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their</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own</a:t>
            </a:r>
            <a:r>
              <a:rPr lang="fr-DZ" dirty="0">
                <a:latin typeface="Times New Roman" panose="02020603050405020304" pitchFamily="18" charset="0"/>
                <a:cs typeface="Times New Roman" panose="02020603050405020304" pitchFamily="18" charset="0"/>
              </a:rPr>
              <a:t> AS. </a:t>
            </a:r>
            <a:r>
              <a:rPr lang="fr-DZ" dirty="0" err="1">
                <a:latin typeface="Times New Roman" panose="02020603050405020304" pitchFamily="18" charset="0"/>
                <a:cs typeface="Times New Roman" panose="02020603050405020304" pitchFamily="18" charset="0"/>
              </a:rPr>
              <a:t>Additionally</a:t>
            </a:r>
            <a:r>
              <a:rPr lang="fr-DZ" dirty="0">
                <a:latin typeface="Times New Roman" panose="02020603050405020304" pitchFamily="18" charset="0"/>
                <a:cs typeface="Times New Roman" panose="02020603050405020304" pitchFamily="18" charset="0"/>
              </a:rPr>
              <a:t>, AS_PATH </a:t>
            </a:r>
            <a:r>
              <a:rPr lang="fr-DZ" dirty="0" err="1">
                <a:latin typeface="Times New Roman" panose="02020603050405020304" pitchFamily="18" charset="0"/>
                <a:cs typeface="Times New Roman" panose="02020603050405020304" pitchFamily="18" charset="0"/>
              </a:rPr>
              <a:t>contributes</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path</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selection</a:t>
            </a:r>
            <a:r>
              <a:rPr lang="fr-DZ" dirty="0">
                <a:latin typeface="Times New Roman" panose="02020603050405020304" pitchFamily="18" charset="0"/>
                <a:cs typeface="Times New Roman" panose="02020603050405020304" pitchFamily="18" charset="0"/>
              </a:rPr>
              <a:t>, as </a:t>
            </a:r>
            <a:r>
              <a:rPr lang="fr-DZ" b="1" dirty="0">
                <a:latin typeface="Times New Roman" panose="02020603050405020304" pitchFamily="18" charset="0"/>
                <a:cs typeface="Times New Roman" panose="02020603050405020304" pitchFamily="18" charset="0"/>
              </a:rPr>
              <a:t>routes </a:t>
            </a:r>
            <a:r>
              <a:rPr lang="fr-DZ" b="1" dirty="0" err="1">
                <a:latin typeface="Times New Roman" panose="02020603050405020304" pitchFamily="18" charset="0"/>
                <a:cs typeface="Times New Roman" panose="02020603050405020304" pitchFamily="18" charset="0"/>
              </a:rPr>
              <a:t>with</a:t>
            </a:r>
            <a:r>
              <a:rPr lang="fr-DZ" b="1" dirty="0">
                <a:latin typeface="Times New Roman" panose="02020603050405020304" pitchFamily="18" charset="0"/>
                <a:cs typeface="Times New Roman" panose="02020603050405020304" pitchFamily="18" charset="0"/>
              </a:rPr>
              <a:t> shorter </a:t>
            </a:r>
            <a:r>
              <a:rPr lang="fr-DZ" b="1" dirty="0" err="1">
                <a:latin typeface="Times New Roman" panose="02020603050405020304" pitchFamily="18" charset="0"/>
                <a:cs typeface="Times New Roman" panose="02020603050405020304" pitchFamily="18" charset="0"/>
              </a:rPr>
              <a:t>AS_PATHs</a:t>
            </a:r>
            <a:r>
              <a:rPr lang="fr-DZ" b="1" dirty="0">
                <a:latin typeface="Times New Roman" panose="02020603050405020304" pitchFamily="18" charset="0"/>
                <a:cs typeface="Times New Roman" panose="02020603050405020304" pitchFamily="18" charset="0"/>
              </a:rPr>
              <a:t> are </a:t>
            </a:r>
            <a:r>
              <a:rPr lang="fr-DZ" b="1" dirty="0" err="1">
                <a:latin typeface="Times New Roman" panose="02020603050405020304" pitchFamily="18" charset="0"/>
                <a:cs typeface="Times New Roman" panose="02020603050405020304" pitchFamily="18" charset="0"/>
              </a:rPr>
              <a:t>generally</a:t>
            </a:r>
            <a:r>
              <a:rPr lang="fr-DZ" b="1" dirty="0">
                <a:latin typeface="Times New Roman" panose="02020603050405020304" pitchFamily="18" charset="0"/>
                <a:cs typeface="Times New Roman" panose="02020603050405020304" pitchFamily="18" charset="0"/>
              </a:rPr>
              <a:t> </a:t>
            </a:r>
            <a:r>
              <a:rPr lang="fr-DZ" b="1" dirty="0" err="1">
                <a:latin typeface="Times New Roman" panose="02020603050405020304" pitchFamily="18" charset="0"/>
                <a:cs typeface="Times New Roman" panose="02020603050405020304" pitchFamily="18" charset="0"/>
              </a:rPr>
              <a:t>preferred</a:t>
            </a:r>
            <a:r>
              <a:rPr lang="fr-DZ" b="1" dirty="0">
                <a:latin typeface="Times New Roman" panose="02020603050405020304" pitchFamily="18" charset="0"/>
                <a:cs typeface="Times New Roman" panose="02020603050405020304" pitchFamily="18" charset="0"/>
              </a:rPr>
              <a:t>.</a:t>
            </a:r>
          </a:p>
          <a:p>
            <a:pPr algn="just"/>
            <a:r>
              <a:rPr lang="fr-FR" dirty="0">
                <a:latin typeface="Times New Roman" panose="02020603050405020304" pitchFamily="18" charset="0"/>
                <a:cs typeface="Times New Roman" panose="02020603050405020304" pitchFamily="18" charset="0"/>
              </a:rPr>
              <a:t>-</a:t>
            </a:r>
            <a:r>
              <a:rPr lang="fr-DZ" b="1" dirty="0">
                <a:latin typeface="Times New Roman" panose="02020603050405020304" pitchFamily="18" charset="0"/>
                <a:cs typeface="Times New Roman" panose="02020603050405020304" pitchFamily="18" charset="0"/>
              </a:rPr>
              <a:t>NEXT_HOP </a:t>
            </a:r>
          </a:p>
          <a:p>
            <a:pPr algn="just"/>
            <a:r>
              <a:rPr lang="fr-DZ" dirty="0">
                <a:latin typeface="Times New Roman" panose="02020603050405020304" pitchFamily="18" charset="0"/>
                <a:cs typeface="Times New Roman" panose="02020603050405020304" pitchFamily="18" charset="0"/>
              </a:rPr>
              <a:t>The NEXT_HOP </a:t>
            </a:r>
            <a:r>
              <a:rPr lang="fr-DZ" dirty="0" err="1">
                <a:latin typeface="Times New Roman" panose="02020603050405020304" pitchFamily="18" charset="0"/>
                <a:cs typeface="Times New Roman" panose="02020603050405020304" pitchFamily="18" charset="0"/>
              </a:rPr>
              <a:t>attribute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indicates</a:t>
            </a:r>
            <a:r>
              <a:rPr lang="fr-DZ" dirty="0">
                <a:latin typeface="Times New Roman" panose="02020603050405020304" pitchFamily="18" charset="0"/>
                <a:cs typeface="Times New Roman" panose="02020603050405020304" pitchFamily="18" charset="0"/>
              </a:rPr>
              <a:t> </a:t>
            </a:r>
            <a:r>
              <a:rPr lang="fr-DZ" b="1" dirty="0">
                <a:latin typeface="Times New Roman" panose="02020603050405020304" pitchFamily="18" charset="0"/>
                <a:cs typeface="Times New Roman" panose="02020603050405020304" pitchFamily="18" charset="0"/>
              </a:rPr>
              <a:t>the </a:t>
            </a:r>
            <a:r>
              <a:rPr lang="fr-DZ" b="1" dirty="0" err="1">
                <a:latin typeface="Times New Roman" panose="02020603050405020304" pitchFamily="18" charset="0"/>
                <a:cs typeface="Times New Roman" panose="02020603050405020304" pitchFamily="18" charset="0"/>
              </a:rPr>
              <a:t>next</a:t>
            </a:r>
            <a:r>
              <a:rPr lang="fr-DZ" b="1" dirty="0">
                <a:latin typeface="Times New Roman" panose="02020603050405020304" pitchFamily="18" charset="0"/>
                <a:cs typeface="Times New Roman" panose="02020603050405020304" pitchFamily="18" charset="0"/>
              </a:rPr>
              <a:t> router </a:t>
            </a:r>
            <a:r>
              <a:rPr lang="fr-DZ" b="1" dirty="0" err="1">
                <a:latin typeface="Times New Roman" panose="02020603050405020304" pitchFamily="18" charset="0"/>
                <a:cs typeface="Times New Roman" panose="02020603050405020304" pitchFamily="18" charset="0"/>
              </a:rPr>
              <a:t>that</a:t>
            </a:r>
            <a:r>
              <a:rPr lang="fr-DZ" b="1" dirty="0">
                <a:latin typeface="Times New Roman" panose="02020603050405020304" pitchFamily="18" charset="0"/>
                <a:cs typeface="Times New Roman" panose="02020603050405020304" pitchFamily="18" charset="0"/>
              </a:rPr>
              <a:t> must </a:t>
            </a:r>
            <a:r>
              <a:rPr lang="fr-DZ" b="1" dirty="0" err="1">
                <a:latin typeface="Times New Roman" panose="02020603050405020304" pitchFamily="18" charset="0"/>
                <a:cs typeface="Times New Roman" panose="02020603050405020304" pitchFamily="18" charset="0"/>
              </a:rPr>
              <a:t>be</a:t>
            </a:r>
            <a:r>
              <a:rPr lang="fr-DZ" b="1" dirty="0">
                <a:latin typeface="Times New Roman" panose="02020603050405020304" pitchFamily="18" charset="0"/>
                <a:cs typeface="Times New Roman" panose="02020603050405020304" pitchFamily="18" charset="0"/>
              </a:rPr>
              <a:t> </a:t>
            </a:r>
            <a:r>
              <a:rPr lang="fr-DZ" b="1" dirty="0" err="1">
                <a:latin typeface="Times New Roman" panose="02020603050405020304" pitchFamily="18" charset="0"/>
                <a:cs typeface="Times New Roman" panose="02020603050405020304" pitchFamily="18" charset="0"/>
              </a:rPr>
              <a:t>reached</a:t>
            </a:r>
            <a:r>
              <a:rPr lang="fr-DZ" b="1" dirty="0">
                <a:latin typeface="Times New Roman" panose="02020603050405020304" pitchFamily="18" charset="0"/>
                <a:cs typeface="Times New Roman" panose="02020603050405020304" pitchFamily="18" charset="0"/>
              </a:rPr>
              <a:t> </a:t>
            </a:r>
            <a:r>
              <a:rPr lang="fr-DZ" dirty="0">
                <a:latin typeface="Times New Roman" panose="02020603050405020304" pitchFamily="18" charset="0"/>
                <a:cs typeface="Times New Roman" panose="02020603050405020304" pitchFamily="18" charset="0"/>
              </a:rPr>
              <a:t>to continue the </a:t>
            </a:r>
            <a:r>
              <a:rPr lang="fr-DZ" dirty="0" err="1">
                <a:latin typeface="Times New Roman" panose="02020603050405020304" pitchFamily="18" charset="0"/>
                <a:cs typeface="Times New Roman" panose="02020603050405020304" pitchFamily="18" charset="0"/>
              </a:rPr>
              <a:t>journey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toward</a:t>
            </a:r>
            <a:r>
              <a:rPr lang="fr-DZ" dirty="0">
                <a:latin typeface="Times New Roman" panose="02020603050405020304" pitchFamily="18" charset="0"/>
                <a:cs typeface="Times New Roman" panose="02020603050405020304" pitchFamily="18" charset="0"/>
              </a:rPr>
              <a:t> the destination. This information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essential for </a:t>
            </a:r>
            <a:r>
              <a:rPr lang="fr-DZ" dirty="0" err="1">
                <a:latin typeface="Times New Roman" panose="02020603050405020304" pitchFamily="18" charset="0"/>
                <a:cs typeface="Times New Roman" panose="02020603050405020304" pitchFamily="18" charset="0"/>
              </a:rPr>
              <a:t>routing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decisions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ensuring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packets</a:t>
            </a:r>
            <a:r>
              <a:rPr lang="fr-DZ" dirty="0">
                <a:latin typeface="Times New Roman" panose="02020603050405020304" pitchFamily="18" charset="0"/>
                <a:cs typeface="Times New Roman" panose="02020603050405020304" pitchFamily="18" charset="0"/>
              </a:rPr>
              <a:t> are </a:t>
            </a:r>
            <a:r>
              <a:rPr lang="fr-DZ" dirty="0" err="1">
                <a:latin typeface="Times New Roman" panose="02020603050405020304" pitchFamily="18" charset="0"/>
                <a:cs typeface="Times New Roman" panose="02020603050405020304" pitchFamily="18" charset="0"/>
              </a:rPr>
              <a:t>directed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appropriately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along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their</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path</a:t>
            </a:r>
            <a:r>
              <a:rPr lang="fr-DZ" dirty="0">
                <a:latin typeface="Times New Roman" panose="02020603050405020304" pitchFamily="18" charset="0"/>
                <a:cs typeface="Times New Roman" panose="02020603050405020304" pitchFamily="18" charset="0"/>
              </a:rPr>
              <a:t>.</a:t>
            </a:r>
          </a:p>
          <a:p>
            <a:pPr algn="just"/>
            <a:r>
              <a:rPr lang="fr-FR" dirty="0">
                <a:latin typeface="Times New Roman" panose="02020603050405020304" pitchFamily="18" charset="0"/>
                <a:cs typeface="Times New Roman" panose="02020603050405020304" pitchFamily="18" charset="0"/>
              </a:rPr>
              <a:t>-</a:t>
            </a:r>
            <a:r>
              <a:rPr lang="fr-DZ" b="1" dirty="0">
                <a:latin typeface="Times New Roman" panose="02020603050405020304" pitchFamily="18" charset="0"/>
                <a:cs typeface="Times New Roman" panose="02020603050405020304" pitchFamily="18" charset="0"/>
              </a:rPr>
              <a:t>ORIGIN</a:t>
            </a:r>
          </a:p>
          <a:p>
            <a:pPr algn="just"/>
            <a:r>
              <a:rPr lang="fr-DZ" dirty="0">
                <a:latin typeface="Times New Roman" panose="02020603050405020304" pitchFamily="18" charset="0"/>
                <a:cs typeface="Times New Roman" panose="02020603050405020304" pitchFamily="18" charset="0"/>
              </a:rPr>
              <a:t>This </a:t>
            </a:r>
            <a:r>
              <a:rPr lang="fr-DZ" dirty="0" err="1">
                <a:latin typeface="Times New Roman" panose="02020603050405020304" pitchFamily="18" charset="0"/>
                <a:cs typeface="Times New Roman" panose="02020603050405020304" pitchFamily="18" charset="0"/>
              </a:rPr>
              <a:t>attribute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outlines</a:t>
            </a:r>
            <a:r>
              <a:rPr lang="fr-DZ" dirty="0">
                <a:latin typeface="Times New Roman" panose="02020603050405020304" pitchFamily="18" charset="0"/>
                <a:cs typeface="Times New Roman" panose="02020603050405020304" pitchFamily="18" charset="0"/>
              </a:rPr>
              <a:t> how the route </a:t>
            </a:r>
            <a:r>
              <a:rPr lang="fr-DZ" dirty="0" err="1">
                <a:latin typeface="Times New Roman" panose="02020603050405020304" pitchFamily="18" charset="0"/>
                <a:cs typeface="Times New Roman" panose="02020603050405020304" pitchFamily="18" charset="0"/>
              </a:rPr>
              <a:t>originated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categorizing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into</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three</a:t>
            </a:r>
            <a:r>
              <a:rPr lang="fr-DZ" dirty="0">
                <a:latin typeface="Times New Roman" panose="02020603050405020304" pitchFamily="18" charset="0"/>
                <a:cs typeface="Times New Roman" panose="02020603050405020304" pitchFamily="18" charset="0"/>
              </a:rPr>
              <a:t> types:  </a:t>
            </a:r>
          </a:p>
          <a:p>
            <a:pPr lvl="1" algn="just"/>
            <a:r>
              <a:rPr lang="fr-DZ" dirty="0">
                <a:latin typeface="Times New Roman" panose="02020603050405020304" pitchFamily="18" charset="0"/>
                <a:cs typeface="Times New Roman" panose="02020603050405020304" pitchFamily="18" charset="0"/>
              </a:rPr>
              <a:t>  - IGP (</a:t>
            </a:r>
            <a:r>
              <a:rPr lang="fr-DZ" dirty="0" err="1">
                <a:latin typeface="Times New Roman" panose="02020603050405020304" pitchFamily="18" charset="0"/>
                <a:cs typeface="Times New Roman" panose="02020603050405020304" pitchFamily="18" charset="0"/>
              </a:rPr>
              <a:t>Interior</a:t>
            </a:r>
            <a:r>
              <a:rPr lang="fr-DZ" dirty="0">
                <a:latin typeface="Times New Roman" panose="02020603050405020304" pitchFamily="18" charset="0"/>
                <a:cs typeface="Times New Roman" panose="02020603050405020304" pitchFamily="18" charset="0"/>
              </a:rPr>
              <a:t> Gateway Protocol), </a:t>
            </a:r>
            <a:r>
              <a:rPr lang="fr-DZ" b="1" dirty="0" err="1">
                <a:latin typeface="Times New Roman" panose="02020603050405020304" pitchFamily="18" charset="0"/>
                <a:cs typeface="Times New Roman" panose="02020603050405020304" pitchFamily="18" charset="0"/>
              </a:rPr>
              <a:t>which</a:t>
            </a:r>
            <a:r>
              <a:rPr lang="fr-DZ" b="1" dirty="0">
                <a:latin typeface="Times New Roman" panose="02020603050405020304" pitchFamily="18" charset="0"/>
                <a:cs typeface="Times New Roman" panose="02020603050405020304" pitchFamily="18" charset="0"/>
              </a:rPr>
              <a:t> </a:t>
            </a:r>
            <a:r>
              <a:rPr lang="fr-DZ" b="1" dirty="0" err="1">
                <a:latin typeface="Times New Roman" panose="02020603050405020304" pitchFamily="18" charset="0"/>
                <a:cs typeface="Times New Roman" panose="02020603050405020304" pitchFamily="18" charset="0"/>
              </a:rPr>
              <a:t>is</a:t>
            </a:r>
            <a:r>
              <a:rPr lang="fr-DZ" b="1" dirty="0">
                <a:latin typeface="Times New Roman" panose="02020603050405020304" pitchFamily="18" charset="0"/>
                <a:cs typeface="Times New Roman" panose="02020603050405020304" pitchFamily="18" charset="0"/>
              </a:rPr>
              <a:t> the </a:t>
            </a:r>
            <a:r>
              <a:rPr lang="fr-DZ" b="1" dirty="0" err="1">
                <a:latin typeface="Times New Roman" panose="02020603050405020304" pitchFamily="18" charset="0"/>
                <a:cs typeface="Times New Roman" panose="02020603050405020304" pitchFamily="18" charset="0"/>
              </a:rPr>
              <a:t>most</a:t>
            </a:r>
            <a:r>
              <a:rPr lang="fr-DZ" b="1" dirty="0">
                <a:latin typeface="Times New Roman" panose="02020603050405020304" pitchFamily="18" charset="0"/>
                <a:cs typeface="Times New Roman" panose="02020603050405020304" pitchFamily="18" charset="0"/>
              </a:rPr>
              <a:t> reliable and </a:t>
            </a:r>
            <a:r>
              <a:rPr lang="fr-DZ" b="1" dirty="0" err="1">
                <a:latin typeface="Times New Roman" panose="02020603050405020304" pitchFamily="18" charset="0"/>
                <a:cs typeface="Times New Roman" panose="02020603050405020304" pitchFamily="18" charset="0"/>
              </a:rPr>
              <a:t>preferred</a:t>
            </a:r>
            <a:r>
              <a:rPr lang="fr-DZ" b="1" dirty="0">
                <a:latin typeface="Times New Roman" panose="02020603050405020304" pitchFamily="18" charset="0"/>
                <a:cs typeface="Times New Roman" panose="02020603050405020304" pitchFamily="18" charset="0"/>
              </a:rPr>
              <a:t> type</a:t>
            </a:r>
            <a:r>
              <a:rPr lang="fr-DZ" dirty="0">
                <a:latin typeface="Times New Roman" panose="02020603050405020304" pitchFamily="18" charset="0"/>
                <a:cs typeface="Times New Roman" panose="02020603050405020304" pitchFamily="18" charset="0"/>
              </a:rPr>
              <a:t>,  </a:t>
            </a:r>
          </a:p>
          <a:p>
            <a:pPr lvl="1" algn="just"/>
            <a:r>
              <a:rPr lang="fr-DZ" dirty="0">
                <a:latin typeface="Times New Roman" panose="02020603050405020304" pitchFamily="18" charset="0"/>
                <a:cs typeface="Times New Roman" panose="02020603050405020304" pitchFamily="18" charset="0"/>
              </a:rPr>
              <a:t>  - EGP (</a:t>
            </a:r>
            <a:r>
              <a:rPr lang="fr-DZ" dirty="0" err="1">
                <a:latin typeface="Times New Roman" panose="02020603050405020304" pitchFamily="18" charset="0"/>
                <a:cs typeface="Times New Roman" panose="02020603050405020304" pitchFamily="18" charset="0"/>
              </a:rPr>
              <a:t>Exterior</a:t>
            </a:r>
            <a:r>
              <a:rPr lang="fr-DZ" dirty="0">
                <a:latin typeface="Times New Roman" panose="02020603050405020304" pitchFamily="18" charset="0"/>
                <a:cs typeface="Times New Roman" panose="02020603050405020304" pitchFamily="18" charset="0"/>
              </a:rPr>
              <a:t> Gateway Protocol),  </a:t>
            </a:r>
          </a:p>
          <a:p>
            <a:pPr lvl="1" algn="just"/>
            <a:r>
              <a:rPr lang="fr-DZ" dirty="0">
                <a:latin typeface="Times New Roman" panose="02020603050405020304" pitchFamily="18" charset="0"/>
                <a:cs typeface="Times New Roman" panose="02020603050405020304" pitchFamily="18" charset="0"/>
              </a:rPr>
              <a:t>  - </a:t>
            </a:r>
            <a:r>
              <a:rPr lang="fr-DZ" dirty="0" err="1">
                <a:latin typeface="Times New Roman" panose="02020603050405020304" pitchFamily="18" charset="0"/>
                <a:cs typeface="Times New Roman" panose="02020603050405020304" pitchFamily="18" charset="0"/>
              </a:rPr>
              <a:t>Incomplete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denoting</a:t>
            </a:r>
            <a:r>
              <a:rPr lang="fr-DZ" dirty="0">
                <a:latin typeface="Times New Roman" panose="02020603050405020304" pitchFamily="18" charset="0"/>
                <a:cs typeface="Times New Roman" panose="02020603050405020304" pitchFamily="18" charset="0"/>
              </a:rPr>
              <a:t> the least favorable option.  </a:t>
            </a:r>
          </a:p>
          <a:p>
            <a:pPr algn="just"/>
            <a:r>
              <a:rPr lang="fr-DZ" dirty="0" err="1">
                <a:latin typeface="Times New Roman" panose="02020603050405020304" pitchFamily="18" charset="0"/>
                <a:cs typeface="Times New Roman" panose="02020603050405020304" pitchFamily="18" charset="0"/>
              </a:rPr>
              <a:t>Understanding</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origin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helps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routers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assess</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reliability</a:t>
            </a:r>
            <a:r>
              <a:rPr lang="fr-DZ" dirty="0">
                <a:latin typeface="Times New Roman" panose="02020603050405020304" pitchFamily="18" charset="0"/>
                <a:cs typeface="Times New Roman" panose="02020603050405020304" pitchFamily="18" charset="0"/>
              </a:rPr>
              <a:t> of the routes.</a:t>
            </a:r>
          </a:p>
        </p:txBody>
      </p:sp>
    </p:spTree>
    <p:extLst>
      <p:ext uri="{BB962C8B-B14F-4D97-AF65-F5344CB8AC3E}">
        <p14:creationId xmlns:p14="http://schemas.microsoft.com/office/powerpoint/2010/main" val="154204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093768-607F-7EB4-0C20-54424B83459B}"/>
              </a:ext>
            </a:extLst>
          </p:cNvPr>
          <p:cNvSpPr txBox="1"/>
          <p:nvPr/>
        </p:nvSpPr>
        <p:spPr>
          <a:xfrm>
            <a:off x="981844" y="1181065"/>
            <a:ext cx="9865096" cy="4801314"/>
          </a:xfrm>
          <a:prstGeom prst="rect">
            <a:avLst/>
          </a:prstGeom>
          <a:noFill/>
        </p:spPr>
        <p:txBody>
          <a:bodyPr wrap="square">
            <a:spAutoFit/>
          </a:bodyPr>
          <a:lstStyle/>
          <a:p>
            <a:pPr algn="just"/>
            <a:r>
              <a:rPr lang="fr-DZ" dirty="0" err="1">
                <a:latin typeface="Times New Roman" panose="02020603050405020304" pitchFamily="18" charset="0"/>
                <a:cs typeface="Times New Roman" panose="02020603050405020304" pitchFamily="18" charset="0"/>
              </a:rPr>
              <a:t>Discretionary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Attributes</a:t>
            </a:r>
            <a:endParaRPr lang="fr-DZ" dirty="0">
              <a:latin typeface="Times New Roman" panose="02020603050405020304" pitchFamily="18" charset="0"/>
              <a:cs typeface="Times New Roman" panose="02020603050405020304" pitchFamily="18" charset="0"/>
            </a:endParaRPr>
          </a:p>
          <a:p>
            <a:pPr algn="just"/>
            <a:r>
              <a:rPr lang="fr-DZ" b="1" dirty="0">
                <a:latin typeface="Times New Roman" panose="02020603050405020304" pitchFamily="18" charset="0"/>
                <a:cs typeface="Times New Roman" panose="02020603050405020304" pitchFamily="18" charset="0"/>
              </a:rPr>
              <a:t>- LOCAL_PREF  </a:t>
            </a:r>
            <a:endParaRPr lang="fr-FR" b="1" dirty="0">
              <a:latin typeface="Times New Roman" panose="02020603050405020304" pitchFamily="18" charset="0"/>
              <a:cs typeface="Times New Roman" panose="02020603050405020304" pitchFamily="18" charset="0"/>
            </a:endParaRPr>
          </a:p>
          <a:p>
            <a:pPr algn="just"/>
            <a:r>
              <a:rPr lang="fr-DZ" dirty="0">
                <a:latin typeface="Times New Roman" panose="02020603050405020304" pitchFamily="18" charset="0"/>
                <a:cs typeface="Times New Roman" panose="02020603050405020304" pitchFamily="18" charset="0"/>
              </a:rPr>
              <a:t>This </a:t>
            </a:r>
            <a:r>
              <a:rPr lang="fr-DZ" dirty="0" err="1">
                <a:latin typeface="Times New Roman" panose="02020603050405020304" pitchFamily="18" charset="0"/>
                <a:cs typeface="Times New Roman" panose="02020603050405020304" pitchFamily="18" charset="0"/>
              </a:rPr>
              <a:t>attribute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represents</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preference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level</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within</a:t>
            </a:r>
            <a:r>
              <a:rPr lang="fr-DZ" dirty="0">
                <a:latin typeface="Times New Roman" panose="02020603050405020304" pitchFamily="18" charset="0"/>
                <a:cs typeface="Times New Roman" panose="02020603050405020304" pitchFamily="18" charset="0"/>
              </a:rPr>
              <a:t> an </a:t>
            </a:r>
            <a:r>
              <a:rPr lang="fr-DZ" dirty="0" err="1">
                <a:latin typeface="Times New Roman" panose="02020603050405020304" pitchFamily="18" charset="0"/>
                <a:cs typeface="Times New Roman" panose="02020603050405020304" pitchFamily="18" charset="0"/>
              </a:rPr>
              <a:t>Autonomous</a:t>
            </a:r>
            <a:r>
              <a:rPr lang="fr-DZ" dirty="0">
                <a:latin typeface="Times New Roman" panose="02020603050405020304" pitchFamily="18" charset="0"/>
                <a:cs typeface="Times New Roman" panose="02020603050405020304" pitchFamily="18" charset="0"/>
              </a:rPr>
              <a:t> System. A </a:t>
            </a:r>
            <a:r>
              <a:rPr lang="fr-DZ" b="1" dirty="0" err="1">
                <a:latin typeface="Times New Roman" panose="02020603050405020304" pitchFamily="18" charset="0"/>
                <a:cs typeface="Times New Roman" panose="02020603050405020304" pitchFamily="18" charset="0"/>
              </a:rPr>
              <a:t>higher</a:t>
            </a:r>
            <a:r>
              <a:rPr lang="fr-DZ" b="1" dirty="0">
                <a:latin typeface="Times New Roman" panose="02020603050405020304" pitchFamily="18" charset="0"/>
                <a:cs typeface="Times New Roman" panose="02020603050405020304" pitchFamily="18" charset="0"/>
              </a:rPr>
              <a:t> LOCAL_PREF value signifies </a:t>
            </a:r>
            <a:r>
              <a:rPr lang="fr-DZ" b="1" dirty="0" err="1">
                <a:latin typeface="Times New Roman" panose="02020603050405020304" pitchFamily="18" charset="0"/>
                <a:cs typeface="Times New Roman" panose="02020603050405020304" pitchFamily="18" charset="0"/>
              </a:rPr>
              <a:t>greater</a:t>
            </a:r>
            <a:r>
              <a:rPr lang="fr-DZ" b="1" dirty="0">
                <a:latin typeface="Times New Roman" panose="02020603050405020304" pitchFamily="18" charset="0"/>
                <a:cs typeface="Times New Roman" panose="02020603050405020304" pitchFamily="18" charset="0"/>
              </a:rPr>
              <a:t> </a:t>
            </a:r>
            <a:r>
              <a:rPr lang="fr-DZ" b="1" dirty="0" err="1">
                <a:latin typeface="Times New Roman" panose="02020603050405020304" pitchFamily="18" charset="0"/>
                <a:cs typeface="Times New Roman" panose="02020603050405020304" pitchFamily="18" charset="0"/>
              </a:rPr>
              <a:t>preference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allowing</a:t>
            </a:r>
            <a:r>
              <a:rPr lang="fr-DZ" dirty="0">
                <a:latin typeface="Times New Roman" panose="02020603050405020304" pitchFamily="18" charset="0"/>
                <a:cs typeface="Times New Roman" panose="02020603050405020304" pitchFamily="18" charset="0"/>
              </a:rPr>
              <a:t> network </a:t>
            </a:r>
            <a:r>
              <a:rPr lang="fr-DZ" dirty="0" err="1">
                <a:latin typeface="Times New Roman" panose="02020603050405020304" pitchFamily="18" charset="0"/>
                <a:cs typeface="Times New Roman" panose="02020603050405020304" pitchFamily="18" charset="0"/>
              </a:rPr>
              <a:t>operators</a:t>
            </a:r>
            <a:r>
              <a:rPr lang="fr-DZ" dirty="0">
                <a:latin typeface="Times New Roman" panose="02020603050405020304" pitchFamily="18" charset="0"/>
                <a:cs typeface="Times New Roman" panose="02020603050405020304" pitchFamily="18" charset="0"/>
              </a:rPr>
              <a:t> to influence the </a:t>
            </a:r>
            <a:r>
              <a:rPr lang="fr-DZ" dirty="0" err="1">
                <a:latin typeface="Times New Roman" panose="02020603050405020304" pitchFamily="18" charset="0"/>
                <a:cs typeface="Times New Roman" panose="02020603050405020304" pitchFamily="18" charset="0"/>
              </a:rPr>
              <a:t>selection</a:t>
            </a:r>
            <a:r>
              <a:rPr lang="fr-DZ" dirty="0">
                <a:latin typeface="Times New Roman" panose="02020603050405020304" pitchFamily="18" charset="0"/>
                <a:cs typeface="Times New Roman" panose="02020603050405020304" pitchFamily="18" charset="0"/>
              </a:rPr>
              <a:t> of </a:t>
            </a:r>
            <a:r>
              <a:rPr lang="fr-DZ" dirty="0" err="1">
                <a:latin typeface="Times New Roman" panose="02020603050405020304" pitchFamily="18" charset="0"/>
                <a:cs typeface="Times New Roman" panose="02020603050405020304" pitchFamily="18" charset="0"/>
              </a:rPr>
              <a:t>outbound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traffic</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thereby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optimizing</a:t>
            </a:r>
            <a:r>
              <a:rPr lang="fr-DZ" dirty="0">
                <a:latin typeface="Times New Roman" panose="02020603050405020304" pitchFamily="18" charset="0"/>
                <a:cs typeface="Times New Roman" panose="02020603050405020304" pitchFamily="18" charset="0"/>
              </a:rPr>
              <a:t> network performance.</a:t>
            </a:r>
            <a:endParaRPr lang="fr-FR" dirty="0">
              <a:latin typeface="Times New Roman" panose="02020603050405020304" pitchFamily="18" charset="0"/>
              <a:cs typeface="Times New Roman" panose="02020603050405020304" pitchFamily="18" charset="0"/>
            </a:endParaRPr>
          </a:p>
          <a:p>
            <a:pPr algn="just"/>
            <a:endParaRPr lang="fr-DZ" dirty="0">
              <a:latin typeface="Times New Roman" panose="02020603050405020304" pitchFamily="18" charset="0"/>
              <a:cs typeface="Times New Roman" panose="02020603050405020304" pitchFamily="18" charset="0"/>
            </a:endParaRPr>
          </a:p>
          <a:p>
            <a:pPr algn="just"/>
            <a:r>
              <a:rPr lang="fr-DZ" dirty="0" err="1">
                <a:latin typeface="Times New Roman" panose="02020603050405020304" pitchFamily="18" charset="0"/>
                <a:cs typeface="Times New Roman" panose="02020603050405020304" pitchFamily="18" charset="0"/>
              </a:rPr>
              <a:t>Optional</a:t>
            </a:r>
            <a:r>
              <a:rPr lang="fr-DZ" dirty="0">
                <a:latin typeface="Times New Roman" panose="02020603050405020304" pitchFamily="18" charset="0"/>
                <a:cs typeface="Times New Roman" panose="02020603050405020304" pitchFamily="18" charset="0"/>
              </a:rPr>
              <a:t> Transitive </a:t>
            </a:r>
            <a:r>
              <a:rPr lang="fr-DZ" dirty="0" err="1">
                <a:latin typeface="Times New Roman" panose="02020603050405020304" pitchFamily="18" charset="0"/>
                <a:cs typeface="Times New Roman" panose="02020603050405020304" pitchFamily="18" charset="0"/>
              </a:rPr>
              <a:t>Attributes</a:t>
            </a:r>
            <a:endParaRPr lang="fr-DZ" dirty="0">
              <a:latin typeface="Times New Roman" panose="02020603050405020304" pitchFamily="18" charset="0"/>
              <a:cs typeface="Times New Roman" panose="02020603050405020304" pitchFamily="18" charset="0"/>
            </a:endParaRPr>
          </a:p>
          <a:p>
            <a:pPr algn="just"/>
            <a:r>
              <a:rPr lang="fr-DZ" dirty="0">
                <a:latin typeface="Times New Roman" panose="02020603050405020304" pitchFamily="18" charset="0"/>
                <a:cs typeface="Times New Roman" panose="02020603050405020304" pitchFamily="18" charset="0"/>
              </a:rPr>
              <a:t>-</a:t>
            </a:r>
            <a:r>
              <a:rPr lang="fr-DZ" b="1" dirty="0">
                <a:latin typeface="Times New Roman" panose="02020603050405020304" pitchFamily="18" charset="0"/>
                <a:cs typeface="Times New Roman" panose="02020603050405020304" pitchFamily="18" charset="0"/>
              </a:rPr>
              <a:t>COMMUNITY</a:t>
            </a:r>
          </a:p>
          <a:p>
            <a:pPr algn="just"/>
            <a:r>
              <a:rPr lang="fr-DZ" dirty="0">
                <a:latin typeface="Times New Roman" panose="02020603050405020304" pitchFamily="18" charset="0"/>
                <a:cs typeface="Times New Roman" panose="02020603050405020304" pitchFamily="18" charset="0"/>
              </a:rPr>
              <a:t>The COMMUNITY </a:t>
            </a:r>
            <a:r>
              <a:rPr lang="fr-DZ" dirty="0" err="1">
                <a:latin typeface="Times New Roman" panose="02020603050405020304" pitchFamily="18" charset="0"/>
                <a:cs typeface="Times New Roman" panose="02020603050405020304" pitchFamily="18" charset="0"/>
              </a:rPr>
              <a:t>attribute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utilized</a:t>
            </a:r>
            <a:r>
              <a:rPr lang="fr-DZ" dirty="0">
                <a:latin typeface="Times New Roman" panose="02020603050405020304" pitchFamily="18" charset="0"/>
                <a:cs typeface="Times New Roman" panose="02020603050405020304" pitchFamily="18" charset="0"/>
              </a:rPr>
              <a:t> to tag routes </a:t>
            </a:r>
            <a:r>
              <a:rPr lang="fr-DZ" dirty="0" err="1">
                <a:latin typeface="Times New Roman" panose="02020603050405020304" pitchFamily="18" charset="0"/>
                <a:cs typeface="Times New Roman" panose="02020603050405020304" pitchFamily="18" charset="0"/>
              </a:rPr>
              <a:t>with</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specific</a:t>
            </a:r>
            <a:r>
              <a:rPr lang="fr-DZ" dirty="0">
                <a:latin typeface="Times New Roman" panose="02020603050405020304" pitchFamily="18" charset="0"/>
                <a:cs typeface="Times New Roman" panose="02020603050405020304" pitchFamily="18" charset="0"/>
              </a:rPr>
              <a:t> instructions or </a:t>
            </a:r>
            <a:r>
              <a:rPr lang="fr-DZ" dirty="0" err="1">
                <a:latin typeface="Times New Roman" panose="02020603050405020304" pitchFamily="18" charset="0"/>
                <a:cs typeface="Times New Roman" panose="02020603050405020304" pitchFamily="18" charset="0"/>
              </a:rPr>
              <a:t>policies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such</a:t>
            </a:r>
            <a:r>
              <a:rPr lang="fr-DZ" dirty="0">
                <a:latin typeface="Times New Roman" panose="02020603050405020304" pitchFamily="18" charset="0"/>
                <a:cs typeface="Times New Roman" panose="02020603050405020304" pitchFamily="18" charset="0"/>
              </a:rPr>
              <a:t> as </a:t>
            </a:r>
            <a:r>
              <a:rPr lang="fr-DZ" dirty="0" err="1">
                <a:latin typeface="Times New Roman" panose="02020603050405020304" pitchFamily="18" charset="0"/>
                <a:cs typeface="Times New Roman" panose="02020603050405020304" pitchFamily="18" charset="0"/>
              </a:rPr>
              <a:t>designating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a </a:t>
            </a:r>
            <a:r>
              <a:rPr lang="fr-DZ" dirty="0" err="1">
                <a:latin typeface="Times New Roman" panose="02020603050405020304" pitchFamily="18" charset="0"/>
                <a:cs typeface="Times New Roman" panose="02020603050405020304" pitchFamily="18" charset="0"/>
              </a:rPr>
              <a:t>particular</a:t>
            </a:r>
            <a:r>
              <a:rPr lang="fr-DZ" dirty="0">
                <a:latin typeface="Times New Roman" panose="02020603050405020304" pitchFamily="18" charset="0"/>
                <a:cs typeface="Times New Roman" panose="02020603050405020304" pitchFamily="18" charset="0"/>
              </a:rPr>
              <a:t> route </a:t>
            </a:r>
            <a:r>
              <a:rPr lang="fr-DZ" dirty="0" err="1">
                <a:latin typeface="Times New Roman" panose="02020603050405020304" pitchFamily="18" charset="0"/>
                <a:cs typeface="Times New Roman" panose="02020603050405020304" pitchFamily="18" charset="0"/>
              </a:rPr>
              <a:t>should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only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be</a:t>
            </a:r>
            <a:r>
              <a:rPr lang="fr-DZ" dirty="0">
                <a:latin typeface="Times New Roman" panose="02020603050405020304" pitchFamily="18" charset="0"/>
                <a:cs typeface="Times New Roman" panose="02020603050405020304" pitchFamily="18" charset="0"/>
              </a:rPr>
              <a:t> sent to a </a:t>
            </a:r>
            <a:r>
              <a:rPr lang="fr-DZ" dirty="0" err="1">
                <a:latin typeface="Times New Roman" panose="02020603050405020304" pitchFamily="18" charset="0"/>
                <a:cs typeface="Times New Roman" panose="02020603050405020304" pitchFamily="18" charset="0"/>
              </a:rPr>
              <a:t>specific</a:t>
            </a:r>
            <a:r>
              <a:rPr lang="fr-DZ" dirty="0">
                <a:latin typeface="Times New Roman" panose="02020603050405020304" pitchFamily="18" charset="0"/>
                <a:cs typeface="Times New Roman" panose="02020603050405020304" pitchFamily="18" charset="0"/>
              </a:rPr>
              <a:t> ISP, like “</a:t>
            </a:r>
            <a:r>
              <a:rPr lang="fr-DZ" dirty="0" err="1">
                <a:latin typeface="Times New Roman" panose="02020603050405020304" pitchFamily="18" charset="0"/>
                <a:cs typeface="Times New Roman" panose="02020603050405020304" pitchFamily="18" charset="0"/>
              </a:rPr>
              <a:t>send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this</a:t>
            </a:r>
            <a:r>
              <a:rPr lang="fr-DZ" dirty="0">
                <a:latin typeface="Times New Roman" panose="02020603050405020304" pitchFamily="18" charset="0"/>
                <a:cs typeface="Times New Roman" panose="02020603050405020304" pitchFamily="18" charset="0"/>
              </a:rPr>
              <a:t> to ISP1 </a:t>
            </a:r>
            <a:r>
              <a:rPr lang="fr-DZ" dirty="0" err="1">
                <a:latin typeface="Times New Roman" panose="02020603050405020304" pitchFamily="18" charset="0"/>
                <a:cs typeface="Times New Roman" panose="02020603050405020304" pitchFamily="18" charset="0"/>
              </a:rPr>
              <a:t>only</a:t>
            </a:r>
            <a:r>
              <a:rPr lang="fr-DZ" dirty="0">
                <a:latin typeface="Times New Roman" panose="02020603050405020304" pitchFamily="18" charset="0"/>
                <a:cs typeface="Times New Roman" panose="02020603050405020304" pitchFamily="18" charset="0"/>
              </a:rPr>
              <a:t>.” This </a:t>
            </a:r>
            <a:r>
              <a:rPr lang="fr-DZ" dirty="0" err="1">
                <a:latin typeface="Times New Roman" panose="02020603050405020304" pitchFamily="18" charset="0"/>
                <a:cs typeface="Times New Roman" panose="02020603050405020304" pitchFamily="18" charset="0"/>
              </a:rPr>
              <a:t>feature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enhances</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routing</a:t>
            </a:r>
            <a:r>
              <a:rPr lang="fr-DZ" dirty="0">
                <a:latin typeface="Times New Roman" panose="02020603050405020304" pitchFamily="18" charset="0"/>
                <a:cs typeface="Times New Roman" panose="02020603050405020304" pitchFamily="18" charset="0"/>
              </a:rPr>
              <a:t> control by </a:t>
            </a:r>
            <a:r>
              <a:rPr lang="fr-DZ" dirty="0" err="1">
                <a:latin typeface="Times New Roman" panose="02020603050405020304" pitchFamily="18" charset="0"/>
                <a:cs typeface="Times New Roman" panose="02020603050405020304" pitchFamily="18" charset="0"/>
              </a:rPr>
              <a:t>allowing</a:t>
            </a:r>
            <a:r>
              <a:rPr lang="fr-DZ" dirty="0">
                <a:latin typeface="Times New Roman" panose="02020603050405020304" pitchFamily="18" charset="0"/>
                <a:cs typeface="Times New Roman" panose="02020603050405020304" pitchFamily="18" charset="0"/>
              </a:rPr>
              <a:t> for </a:t>
            </a:r>
            <a:r>
              <a:rPr lang="fr-DZ" dirty="0" err="1">
                <a:latin typeface="Times New Roman" panose="02020603050405020304" pitchFamily="18" charset="0"/>
                <a:cs typeface="Times New Roman" panose="02020603050405020304" pitchFamily="18" charset="0"/>
              </a:rPr>
              <a:t>community-based</a:t>
            </a:r>
            <a:r>
              <a:rPr lang="fr-DZ" dirty="0">
                <a:latin typeface="Times New Roman" panose="02020603050405020304" pitchFamily="18" charset="0"/>
                <a:cs typeface="Times New Roman" panose="02020603050405020304" pitchFamily="18" charset="0"/>
              </a:rPr>
              <a:t> handling of routes.</a:t>
            </a:r>
          </a:p>
          <a:p>
            <a:pPr algn="just"/>
            <a:r>
              <a:rPr lang="fr-DZ" dirty="0" err="1">
                <a:latin typeface="Times New Roman" panose="02020603050405020304" pitchFamily="18" charset="0"/>
                <a:cs typeface="Times New Roman" panose="02020603050405020304" pitchFamily="18" charset="0"/>
              </a:rPr>
              <a:t>Optional</a:t>
            </a:r>
            <a:r>
              <a:rPr lang="fr-DZ" dirty="0">
                <a:latin typeface="Times New Roman" panose="02020603050405020304" pitchFamily="18" charset="0"/>
                <a:cs typeface="Times New Roman" panose="02020603050405020304" pitchFamily="18" charset="0"/>
              </a:rPr>
              <a:t> Non-Transitive </a:t>
            </a:r>
            <a:r>
              <a:rPr lang="fr-DZ" dirty="0" err="1">
                <a:latin typeface="Times New Roman" panose="02020603050405020304" pitchFamily="18" charset="0"/>
                <a:cs typeface="Times New Roman" panose="02020603050405020304" pitchFamily="18" charset="0"/>
              </a:rPr>
              <a:t>Attributes</a:t>
            </a:r>
            <a:endParaRPr lang="fr-DZ" dirty="0">
              <a:latin typeface="Times New Roman" panose="02020603050405020304" pitchFamily="18" charset="0"/>
              <a:cs typeface="Times New Roman" panose="02020603050405020304" pitchFamily="18" charset="0"/>
            </a:endParaRPr>
          </a:p>
          <a:p>
            <a:pPr algn="just"/>
            <a:r>
              <a:rPr lang="fr-DZ" dirty="0">
                <a:latin typeface="Times New Roman" panose="02020603050405020304" pitchFamily="18" charset="0"/>
                <a:cs typeface="Times New Roman" panose="02020603050405020304" pitchFamily="18" charset="0"/>
              </a:rPr>
              <a:t>- </a:t>
            </a:r>
            <a:r>
              <a:rPr lang="fr-DZ" b="1" dirty="0">
                <a:latin typeface="Times New Roman" panose="02020603050405020304" pitchFamily="18" charset="0"/>
                <a:cs typeface="Times New Roman" panose="02020603050405020304" pitchFamily="18" charset="0"/>
              </a:rPr>
              <a:t>MED</a:t>
            </a:r>
            <a:r>
              <a:rPr lang="fr-DZ" dirty="0">
                <a:latin typeface="Times New Roman" panose="02020603050405020304" pitchFamily="18" charset="0"/>
                <a:cs typeface="Times New Roman" panose="02020603050405020304" pitchFamily="18" charset="0"/>
              </a:rPr>
              <a:t> (Multi Exit </a:t>
            </a:r>
            <a:r>
              <a:rPr lang="fr-DZ" dirty="0" err="1">
                <a:latin typeface="Times New Roman" panose="02020603050405020304" pitchFamily="18" charset="0"/>
                <a:cs typeface="Times New Roman" panose="02020603050405020304" pitchFamily="18" charset="0"/>
              </a:rPr>
              <a:t>Discriminator</a:t>
            </a:r>
            <a:r>
              <a:rPr lang="fr-DZ" dirty="0">
                <a:latin typeface="Times New Roman" panose="02020603050405020304" pitchFamily="18" charset="0"/>
                <a:cs typeface="Times New Roman" panose="02020603050405020304" pitchFamily="18" charset="0"/>
              </a:rPr>
              <a:t>)</a:t>
            </a:r>
          </a:p>
          <a:p>
            <a:pPr algn="just"/>
            <a:r>
              <a:rPr lang="fr-DZ" dirty="0">
                <a:latin typeface="Times New Roman" panose="02020603050405020304" pitchFamily="18" charset="0"/>
                <a:cs typeface="Times New Roman" panose="02020603050405020304" pitchFamily="18" charset="0"/>
              </a:rPr>
              <a:t>The MED </a:t>
            </a:r>
            <a:r>
              <a:rPr lang="fr-DZ" dirty="0" err="1">
                <a:latin typeface="Times New Roman" panose="02020603050405020304" pitchFamily="18" charset="0"/>
                <a:cs typeface="Times New Roman" panose="02020603050405020304" pitchFamily="18" charset="0"/>
              </a:rPr>
              <a:t>attribute</a:t>
            </a:r>
            <a:r>
              <a:rPr lang="fr-DZ" dirty="0">
                <a:latin typeface="Times New Roman" panose="02020603050405020304" pitchFamily="18" charset="0"/>
                <a:cs typeface="Times New Roman" panose="02020603050405020304" pitchFamily="18" charset="0"/>
              </a:rPr>
              <a:t> serves as a suggestion to </a:t>
            </a:r>
            <a:r>
              <a:rPr lang="fr-DZ" dirty="0" err="1">
                <a:latin typeface="Times New Roman" panose="02020603050405020304" pitchFamily="18" charset="0"/>
                <a:cs typeface="Times New Roman" panose="02020603050405020304" pitchFamily="18" charset="0"/>
              </a:rPr>
              <a:t>neighboring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routers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indicating</a:t>
            </a:r>
            <a:r>
              <a:rPr lang="fr-DZ" dirty="0">
                <a:latin typeface="Times New Roman" panose="02020603050405020304" pitchFamily="18" charset="0"/>
                <a:cs typeface="Times New Roman" panose="02020603050405020304" pitchFamily="18" charset="0"/>
              </a:rPr>
              <a:t> a </a:t>
            </a:r>
            <a:r>
              <a:rPr lang="fr-DZ" dirty="0" err="1">
                <a:latin typeface="Times New Roman" panose="02020603050405020304" pitchFamily="18" charset="0"/>
                <a:cs typeface="Times New Roman" panose="02020603050405020304" pitchFamily="18" charset="0"/>
              </a:rPr>
              <a:t>preferred</a:t>
            </a:r>
            <a:r>
              <a:rPr lang="fr-DZ" dirty="0">
                <a:latin typeface="Times New Roman" panose="02020603050405020304" pitchFamily="18" charset="0"/>
                <a:cs typeface="Times New Roman" panose="02020603050405020304" pitchFamily="18" charset="0"/>
              </a:rPr>
              <a:t> inbound </a:t>
            </a:r>
            <a:r>
              <a:rPr lang="fr-DZ" dirty="0" err="1">
                <a:latin typeface="Times New Roman" panose="02020603050405020304" pitchFamily="18" charset="0"/>
                <a:cs typeface="Times New Roman" panose="02020603050405020304" pitchFamily="18" charset="0"/>
              </a:rPr>
              <a:t>path</a:t>
            </a:r>
            <a:r>
              <a:rPr lang="fr-DZ" dirty="0">
                <a:latin typeface="Times New Roman" panose="02020603050405020304" pitchFamily="18" charset="0"/>
                <a:cs typeface="Times New Roman" panose="02020603050405020304" pitchFamily="18" charset="0"/>
              </a:rPr>
              <a:t> for </a:t>
            </a:r>
            <a:r>
              <a:rPr lang="fr-DZ" dirty="0" err="1">
                <a:latin typeface="Times New Roman" panose="02020603050405020304" pitchFamily="18" charset="0"/>
                <a:cs typeface="Times New Roman" panose="02020603050405020304" pitchFamily="18" charset="0"/>
              </a:rPr>
              <a:t>reaching</a:t>
            </a:r>
            <a:r>
              <a:rPr lang="fr-DZ" dirty="0">
                <a:latin typeface="Times New Roman" panose="02020603050405020304" pitchFamily="18" charset="0"/>
                <a:cs typeface="Times New Roman" panose="02020603050405020304" pitchFamily="18" charset="0"/>
              </a:rPr>
              <a:t> a destination. </a:t>
            </a:r>
            <a:r>
              <a:rPr lang="fr-DZ" dirty="0" err="1">
                <a:latin typeface="Times New Roman" panose="02020603050405020304" pitchFamily="18" charset="0"/>
                <a:cs typeface="Times New Roman" panose="02020603050405020304" pitchFamily="18" charset="0"/>
              </a:rPr>
              <a:t>Although</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it’s</a:t>
            </a:r>
            <a:r>
              <a:rPr lang="fr-DZ" dirty="0">
                <a:latin typeface="Times New Roman" panose="02020603050405020304" pitchFamily="18" charset="0"/>
                <a:cs typeface="Times New Roman" panose="02020603050405020304" pitchFamily="18" charset="0"/>
              </a:rPr>
              <a:t> not </a:t>
            </a:r>
            <a:r>
              <a:rPr lang="fr-DZ" dirty="0" err="1">
                <a:latin typeface="Times New Roman" panose="02020603050405020304" pitchFamily="18" charset="0"/>
                <a:cs typeface="Times New Roman" panose="02020603050405020304" pitchFamily="18" charset="0"/>
              </a:rPr>
              <a:t>mandatory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provides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valuable</a:t>
            </a:r>
            <a:r>
              <a:rPr lang="fr-DZ" dirty="0">
                <a:latin typeface="Times New Roman" panose="02020603050405020304" pitchFamily="18" charset="0"/>
                <a:cs typeface="Times New Roman" panose="02020603050405020304" pitchFamily="18" charset="0"/>
              </a:rPr>
              <a:t> information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can influence route </a:t>
            </a:r>
            <a:r>
              <a:rPr lang="fr-DZ" dirty="0" err="1">
                <a:latin typeface="Times New Roman" panose="02020603050405020304" pitchFamily="18" charset="0"/>
                <a:cs typeface="Times New Roman" panose="02020603050405020304" pitchFamily="18" charset="0"/>
              </a:rPr>
              <a:t>selection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processes</a:t>
            </a:r>
            <a:r>
              <a:rPr lang="fr-DZ" dirty="0">
                <a:latin typeface="Times New Roman" panose="02020603050405020304" pitchFamily="18" charset="0"/>
                <a:cs typeface="Times New Roman" panose="02020603050405020304" pitchFamily="18" charset="0"/>
              </a:rPr>
              <a:t>.</a:t>
            </a:r>
          </a:p>
          <a:p>
            <a:pPr algn="just"/>
            <a:endParaRPr lang="fr-DZ"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5C804E1-20D5-7ED9-912E-01C41BA46C4A}"/>
              </a:ext>
            </a:extLst>
          </p:cNvPr>
          <p:cNvSpPr txBox="1"/>
          <p:nvPr/>
        </p:nvSpPr>
        <p:spPr>
          <a:xfrm>
            <a:off x="3047111" y="334397"/>
            <a:ext cx="6094602" cy="646331"/>
          </a:xfrm>
          <a:prstGeom prst="rect">
            <a:avLst/>
          </a:prstGeom>
          <a:noFill/>
        </p:spPr>
        <p:txBody>
          <a:bodyPr wrap="square">
            <a:spAutoFit/>
          </a:bodyPr>
          <a:lstStyle/>
          <a:p>
            <a:pPr algn="ctr"/>
            <a:r>
              <a:rPr lang="fr-DZ" sz="3600" b="1" dirty="0">
                <a:latin typeface="Times New Roman" panose="02020603050405020304" pitchFamily="18" charset="0"/>
                <a:cs typeface="Times New Roman" panose="02020603050405020304" pitchFamily="18" charset="0"/>
              </a:rPr>
              <a:t>Path </a:t>
            </a:r>
            <a:r>
              <a:rPr lang="fr-DZ" sz="3600" b="1" dirty="0" err="1">
                <a:latin typeface="Times New Roman" panose="02020603050405020304" pitchFamily="18" charset="0"/>
                <a:cs typeface="Times New Roman" panose="02020603050405020304" pitchFamily="18" charset="0"/>
              </a:rPr>
              <a:t>Attributes</a:t>
            </a:r>
            <a:r>
              <a:rPr lang="fr-DZ" sz="3600" b="1" dirty="0">
                <a:latin typeface="Times New Roman" panose="02020603050405020304" pitchFamily="18" charset="0"/>
                <a:cs typeface="Times New Roman" panose="02020603050405020304" pitchFamily="18" charset="0"/>
              </a:rPr>
              <a:t> (</a:t>
            </a:r>
            <a:r>
              <a:rPr lang="fr-DZ" sz="3600" b="1" dirty="0" err="1">
                <a:latin typeface="Times New Roman" panose="02020603050405020304" pitchFamily="18" charset="0"/>
                <a:cs typeface="Times New Roman" panose="02020603050405020304" pitchFamily="18" charset="0"/>
              </a:rPr>
              <a:t>PAs</a:t>
            </a:r>
            <a:r>
              <a:rPr lang="fr-DZ" sz="3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27208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BGP Best Path Selection (Step-by-Step)</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Highest LOCAL_PREF </a:t>
            </a:r>
          </a:p>
          <a:p>
            <a:r>
              <a:rPr lang="en-US" dirty="0">
                <a:latin typeface="Times New Roman" panose="02020603050405020304" pitchFamily="18" charset="0"/>
                <a:cs typeface="Times New Roman" panose="02020603050405020304" pitchFamily="18" charset="0"/>
              </a:rPr>
              <a:t>Shortest AS_PATH </a:t>
            </a:r>
          </a:p>
          <a:p>
            <a:r>
              <a:rPr lang="en-US" dirty="0">
                <a:latin typeface="Times New Roman" panose="02020603050405020304" pitchFamily="18" charset="0"/>
                <a:cs typeface="Times New Roman" panose="02020603050405020304" pitchFamily="18" charset="0"/>
              </a:rPr>
              <a:t>Lowest ORIGIN type </a:t>
            </a:r>
          </a:p>
          <a:p>
            <a:r>
              <a:rPr lang="en-US" dirty="0">
                <a:latin typeface="Times New Roman" panose="02020603050405020304" pitchFamily="18" charset="0"/>
                <a:cs typeface="Times New Roman" panose="02020603050405020304" pitchFamily="18" charset="0"/>
              </a:rPr>
              <a:t>Lowest MED Prefer </a:t>
            </a:r>
          </a:p>
          <a:p>
            <a:r>
              <a:rPr lang="en-US" dirty="0">
                <a:latin typeface="Times New Roman" panose="02020603050405020304" pitchFamily="18" charset="0"/>
                <a:cs typeface="Times New Roman" panose="02020603050405020304" pitchFamily="18" charset="0"/>
              </a:rPr>
              <a:t>eBGP over iBGP </a:t>
            </a:r>
          </a:p>
          <a:p>
            <a:r>
              <a:rPr lang="en-US" dirty="0">
                <a:latin typeface="Times New Roman" panose="02020603050405020304" pitchFamily="18" charset="0"/>
                <a:cs typeface="Times New Roman" panose="02020603050405020304" pitchFamily="18" charset="0"/>
              </a:rPr>
              <a:t>Lowest IGP cost to NEXT_HOP </a:t>
            </a:r>
          </a:p>
          <a:p>
            <a:r>
              <a:rPr lang="en-US" dirty="0">
                <a:latin typeface="Times New Roman" panose="02020603050405020304" pitchFamily="18" charset="0"/>
                <a:cs typeface="Times New Roman" panose="02020603050405020304" pitchFamily="18" charset="0"/>
              </a:rPr>
              <a:t>Oldest route (for stability) </a:t>
            </a:r>
          </a:p>
          <a:p>
            <a:r>
              <a:rPr lang="en-US" dirty="0">
                <a:latin typeface="Times New Roman" panose="02020603050405020304" pitchFamily="18" charset="0"/>
                <a:cs typeface="Times New Roman" panose="02020603050405020304" pitchFamily="18" charset="0"/>
              </a:rPr>
              <a:t>Lowest Router ID</a:t>
            </a:r>
          </a:p>
        </p:txBody>
      </p:sp>
      <p:sp>
        <p:nvSpPr>
          <p:cNvPr id="7" name="Text Placeholder 6"/>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When BGP has multiple paths to the same destination, it uses this order:</a:t>
            </a:r>
          </a:p>
        </p:txBody>
      </p:sp>
    </p:spTree>
    <p:extLst>
      <p:ext uri="{BB962C8B-B14F-4D97-AF65-F5344CB8AC3E}">
        <p14:creationId xmlns:p14="http://schemas.microsoft.com/office/powerpoint/2010/main" val="3614150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0B95B3-D23E-0174-7DED-FC6E915EDBEB}"/>
              </a:ext>
            </a:extLst>
          </p:cNvPr>
          <p:cNvSpPr txBox="1"/>
          <p:nvPr/>
        </p:nvSpPr>
        <p:spPr>
          <a:xfrm>
            <a:off x="1485900" y="332656"/>
            <a:ext cx="9217024" cy="646331"/>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Spanning Tree Protocol (STP)</a:t>
            </a:r>
          </a:p>
        </p:txBody>
      </p:sp>
      <p:sp>
        <p:nvSpPr>
          <p:cNvPr id="4" name="TextBox 3">
            <a:extLst>
              <a:ext uri="{FF2B5EF4-FFF2-40B4-BE49-F238E27FC236}">
                <a16:creationId xmlns:a16="http://schemas.microsoft.com/office/drawing/2014/main" id="{F10FE978-09E2-4ED1-6587-E1DB0C47628F}"/>
              </a:ext>
            </a:extLst>
          </p:cNvPr>
          <p:cNvSpPr txBox="1"/>
          <p:nvPr/>
        </p:nvSpPr>
        <p:spPr>
          <a:xfrm>
            <a:off x="1269876" y="1242626"/>
            <a:ext cx="9217024" cy="1754326"/>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What is STP?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Layer 2 protocol used in Ethernet switched networks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Designed to </a:t>
            </a:r>
            <a:r>
              <a:rPr lang="en-US" b="1" dirty="0">
                <a:latin typeface="Times New Roman" panose="02020603050405020304" pitchFamily="18" charset="0"/>
                <a:cs typeface="Times New Roman" panose="02020603050405020304" pitchFamily="18" charset="0"/>
              </a:rPr>
              <a:t>prevent loops</a:t>
            </a:r>
            <a:r>
              <a:rPr lang="en-US" dirty="0">
                <a:latin typeface="Times New Roman" panose="02020603050405020304" pitchFamily="18" charset="0"/>
                <a:cs typeface="Times New Roman" panose="02020603050405020304" pitchFamily="18" charset="0"/>
              </a:rPr>
              <a:t> when redundant links exist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Automatically creates a </a:t>
            </a:r>
            <a:r>
              <a:rPr lang="en-US" b="1" dirty="0">
                <a:latin typeface="Times New Roman" panose="02020603050405020304" pitchFamily="18" charset="0"/>
                <a:cs typeface="Times New Roman" panose="02020603050405020304" pitchFamily="18" charset="0"/>
              </a:rPr>
              <a:t>loop-free logical topology</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Defined in the IEEE </a:t>
            </a:r>
            <a:r>
              <a:rPr lang="en-US" b="1" dirty="0">
                <a:latin typeface="Times New Roman" panose="02020603050405020304" pitchFamily="18" charset="0"/>
                <a:cs typeface="Times New Roman" panose="02020603050405020304" pitchFamily="18" charset="0"/>
              </a:rPr>
              <a:t>802.1D</a:t>
            </a:r>
            <a:r>
              <a:rPr lang="en-US" dirty="0">
                <a:latin typeface="Times New Roman" panose="02020603050405020304" pitchFamily="18" charset="0"/>
                <a:cs typeface="Times New Roman" panose="02020603050405020304" pitchFamily="18" charset="0"/>
              </a:rPr>
              <a:t> standard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Essential for networks with multiple interconnections between switches</a:t>
            </a:r>
          </a:p>
        </p:txBody>
      </p:sp>
      <p:pic>
        <p:nvPicPr>
          <p:cNvPr id="1026" name="Picture 2" descr="Spanning Tree Protocol? STP Overview ...">
            <a:extLst>
              <a:ext uri="{FF2B5EF4-FFF2-40B4-BE49-F238E27FC236}">
                <a16:creationId xmlns:a16="http://schemas.microsoft.com/office/drawing/2014/main" id="{F5CD2526-3BD9-674F-EBCD-657A165C28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8826" y="3140968"/>
            <a:ext cx="5639123" cy="3321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891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D250ADC-1408-CF8D-52E6-CFB70072979E}"/>
              </a:ext>
            </a:extLst>
          </p:cNvPr>
          <p:cNvSpPr txBox="1"/>
          <p:nvPr/>
        </p:nvSpPr>
        <p:spPr>
          <a:xfrm>
            <a:off x="1485900" y="980728"/>
            <a:ext cx="10585176" cy="2862322"/>
          </a:xfrm>
          <a:prstGeom prst="rect">
            <a:avLst/>
          </a:prstGeom>
          <a:noFill/>
        </p:spPr>
        <p:txBody>
          <a:bodyPr wrap="square">
            <a:spAutoFit/>
          </a:bodyPr>
          <a:lstStyle/>
          <a:p>
            <a:r>
              <a:rPr lang="fr-FR" b="1" dirty="0" err="1">
                <a:latin typeface="Times New Roman" panose="02020603050405020304" pitchFamily="18" charset="0"/>
                <a:cs typeface="Times New Roman" panose="02020603050405020304" pitchFamily="18" charset="0"/>
              </a:rPr>
              <a:t>Why</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Redundant</a:t>
            </a:r>
            <a:r>
              <a:rPr lang="fr-FR" b="1" dirty="0">
                <a:latin typeface="Times New Roman" panose="02020603050405020304" pitchFamily="18" charset="0"/>
                <a:cs typeface="Times New Roman" panose="02020603050405020304" pitchFamily="18" charset="0"/>
              </a:rPr>
              <a:t> Links </a:t>
            </a:r>
            <a:r>
              <a:rPr lang="fr-FR" b="1" dirty="0" err="1">
                <a:latin typeface="Times New Roman" panose="02020603050405020304" pitchFamily="18" charset="0"/>
                <a:cs typeface="Times New Roman" panose="02020603050405020304" pitchFamily="18" charset="0"/>
              </a:rPr>
              <a:t>Create</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Problems</a:t>
            </a:r>
            <a:r>
              <a:rPr lang="fr-FR" b="1" dirty="0">
                <a:latin typeface="Times New Roman" panose="02020603050405020304" pitchFamily="18" charset="0"/>
                <a:cs typeface="Times New Roman" panose="02020603050405020304" pitchFamily="18" charset="0"/>
              </a:rPr>
              <a:t>?</a:t>
            </a:r>
          </a:p>
          <a:p>
            <a:pPr>
              <a:buNone/>
            </a:pPr>
            <a:r>
              <a:rPr lang="fr-FR" b="1" dirty="0" err="1">
                <a:latin typeface="Times New Roman" panose="02020603050405020304" pitchFamily="18" charset="0"/>
                <a:cs typeface="Times New Roman" panose="02020603050405020304" pitchFamily="18" charset="0"/>
              </a:rPr>
              <a:t>Problems</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Caused</a:t>
            </a:r>
            <a:r>
              <a:rPr lang="fr-FR" b="1" dirty="0">
                <a:latin typeface="Times New Roman" panose="02020603050405020304" pitchFamily="18" charset="0"/>
                <a:cs typeface="Times New Roman" panose="02020603050405020304" pitchFamily="18" charset="0"/>
              </a:rPr>
              <a:t> by Layer 2 </a:t>
            </a:r>
            <a:r>
              <a:rPr lang="fr-FR" b="1" dirty="0" err="1">
                <a:latin typeface="Times New Roman" panose="02020603050405020304" pitchFamily="18" charset="0"/>
                <a:cs typeface="Times New Roman" panose="02020603050405020304" pitchFamily="18" charset="0"/>
              </a:rPr>
              <a:t>Loops</a:t>
            </a:r>
            <a:endParaRPr lang="fr-FR" b="1"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Broadcast </a:t>
            </a:r>
            <a:r>
              <a:rPr lang="fr-FR" b="1" dirty="0" err="1">
                <a:latin typeface="Times New Roman" panose="02020603050405020304" pitchFamily="18" charset="0"/>
                <a:cs typeface="Times New Roman" panose="02020603050405020304" pitchFamily="18" charset="0"/>
              </a:rPr>
              <a:t>storms</a:t>
            </a:r>
            <a:r>
              <a:rPr lang="fr-FR" b="1" dirty="0">
                <a:latin typeface="Times New Roman" panose="02020603050405020304" pitchFamily="18" charset="0"/>
                <a:cs typeface="Times New Roman" panose="02020603050405020304" pitchFamily="18" charset="0"/>
              </a:rPr>
              <a:t>:</a:t>
            </a:r>
            <a:r>
              <a:rPr lang="fr-FR" dirty="0">
                <a:latin typeface="Times New Roman" panose="02020603050405020304" pitchFamily="18" charset="0"/>
                <a:cs typeface="Times New Roman" panose="02020603050405020304" pitchFamily="18" charset="0"/>
              </a:rPr>
              <a:t> Broadcast frames </a:t>
            </a:r>
            <a:r>
              <a:rPr lang="fr-FR" dirty="0" err="1">
                <a:latin typeface="Times New Roman" panose="02020603050405020304" pitchFamily="18" charset="0"/>
                <a:cs typeface="Times New Roman" panose="02020603050405020304" pitchFamily="18" charset="0"/>
              </a:rPr>
              <a:t>circulate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endlessly</a:t>
            </a:r>
            <a:endParaRPr lang="fr-FR"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MAC table </a:t>
            </a:r>
            <a:r>
              <a:rPr lang="fr-FR" b="1" dirty="0" err="1">
                <a:latin typeface="Times New Roman" panose="02020603050405020304" pitchFamily="18" charset="0"/>
                <a:cs typeface="Times New Roman" panose="02020603050405020304" pitchFamily="18" charset="0"/>
              </a:rPr>
              <a:t>instability</a:t>
            </a:r>
            <a:r>
              <a:rPr lang="fr-FR" b="1" dirty="0">
                <a:latin typeface="Times New Roman" panose="02020603050405020304" pitchFamily="18" charset="0"/>
                <a:cs typeface="Times New Roman" panose="02020603050405020304" pitchFamily="18" charset="0"/>
              </a:rPr>
              <a:t>:</a:t>
            </a:r>
            <a:r>
              <a:rPr lang="fr-FR" dirty="0">
                <a:latin typeface="Times New Roman" panose="02020603050405020304" pitchFamily="18" charset="0"/>
                <a:cs typeface="Times New Roman" panose="02020603050405020304" pitchFamily="18" charset="0"/>
              </a:rPr>
              <a:t> Switch MAC </a:t>
            </a:r>
            <a:r>
              <a:rPr lang="fr-FR" dirty="0" err="1">
                <a:latin typeface="Times New Roman" panose="02020603050405020304" pitchFamily="18" charset="0"/>
                <a:cs typeface="Times New Roman" panose="02020603050405020304" pitchFamily="18" charset="0"/>
              </a:rPr>
              <a:t>addresses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keep</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changing</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causing</a:t>
            </a:r>
            <a:r>
              <a:rPr lang="fr-FR" dirty="0">
                <a:latin typeface="Times New Roman" panose="02020603050405020304" pitchFamily="18" charset="0"/>
                <a:cs typeface="Times New Roman" panose="02020603050405020304" pitchFamily="18" charset="0"/>
              </a:rPr>
              <a:t> incorrect </a:t>
            </a:r>
            <a:r>
              <a:rPr lang="fr-FR" dirty="0" err="1">
                <a:latin typeface="Times New Roman" panose="02020603050405020304" pitchFamily="18" charset="0"/>
                <a:cs typeface="Times New Roman" panose="02020603050405020304" pitchFamily="18" charset="0"/>
              </a:rPr>
              <a:t>forwarding</a:t>
            </a:r>
            <a:endParaRPr lang="fr-FR"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Duplicate frames: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Same</a:t>
            </a:r>
            <a:r>
              <a:rPr lang="fr-FR" dirty="0">
                <a:latin typeface="Times New Roman" panose="02020603050405020304" pitchFamily="18" charset="0"/>
                <a:cs typeface="Times New Roman" panose="02020603050405020304" pitchFamily="18" charset="0"/>
              </a:rPr>
              <a:t> frame arrives multiple times → applications </a:t>
            </a:r>
            <a:r>
              <a:rPr lang="fr-FR" dirty="0" err="1">
                <a:latin typeface="Times New Roman" panose="02020603050405020304" pitchFamily="18" charset="0"/>
                <a:cs typeface="Times New Roman" panose="02020603050405020304" pitchFamily="18" charset="0"/>
              </a:rPr>
              <a:t>malfunction</a:t>
            </a:r>
            <a:endParaRPr lang="fr-FR"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Network congestion:</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Bandwidth</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becomes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saturated</a:t>
            </a:r>
            <a:endParaRPr lang="fr-FR" dirty="0">
              <a:latin typeface="Times New Roman" panose="02020603050405020304" pitchFamily="18" charset="0"/>
              <a:cs typeface="Times New Roman" panose="02020603050405020304" pitchFamily="18" charset="0"/>
            </a:endParaRPr>
          </a:p>
          <a:p>
            <a:r>
              <a:rPr lang="fr-FR" b="1" dirty="0" err="1">
                <a:latin typeface="Times New Roman" panose="02020603050405020304" pitchFamily="18" charset="0"/>
                <a:cs typeface="Times New Roman" panose="02020603050405020304" pitchFamily="18" charset="0"/>
              </a:rPr>
              <a:t>Why</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Redundancy</a:t>
            </a:r>
            <a:r>
              <a:rPr lang="fr-FR" b="1" dirty="0">
                <a:latin typeface="Times New Roman" panose="02020603050405020304" pitchFamily="18" charset="0"/>
                <a:cs typeface="Times New Roman" panose="02020603050405020304" pitchFamily="18" charset="0"/>
              </a:rPr>
              <a:t> Is </a:t>
            </a:r>
            <a:r>
              <a:rPr lang="fr-FR" b="1" dirty="0" err="1">
                <a:latin typeface="Times New Roman" panose="02020603050405020304" pitchFamily="18" charset="0"/>
                <a:cs typeface="Times New Roman" panose="02020603050405020304" pitchFamily="18" charset="0"/>
              </a:rPr>
              <a:t>Needed</a:t>
            </a:r>
            <a:endParaRPr lang="fr-FR" b="1"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Provides</a:t>
            </a:r>
            <a:r>
              <a:rPr lang="fr-FR" dirty="0">
                <a:latin typeface="Times New Roman" panose="02020603050405020304" pitchFamily="18" charset="0"/>
                <a:cs typeface="Times New Roman" panose="02020603050405020304" pitchFamily="18" charset="0"/>
              </a:rPr>
              <a:t> </a:t>
            </a:r>
            <a:r>
              <a:rPr lang="fr-FR" b="1" dirty="0">
                <a:latin typeface="Times New Roman" panose="02020603050405020304" pitchFamily="18" charset="0"/>
                <a:cs typeface="Times New Roman" panose="02020603050405020304" pitchFamily="18" charset="0"/>
              </a:rPr>
              <a:t>backup </a:t>
            </a:r>
            <a:r>
              <a:rPr lang="fr-FR" b="1" dirty="0" err="1">
                <a:latin typeface="Times New Roman" panose="02020603050405020304" pitchFamily="18" charset="0"/>
                <a:cs typeface="Times New Roman" panose="02020603050405020304" pitchFamily="18" charset="0"/>
              </a:rPr>
              <a:t>paths</a:t>
            </a:r>
            <a:endParaRPr lang="fr-FR"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Increases</a:t>
            </a:r>
            <a:r>
              <a:rPr lang="fr-FR"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fault</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tolerance</a:t>
            </a:r>
            <a:r>
              <a:rPr lang="fr-FR" b="1" dirty="0">
                <a:latin typeface="Times New Roman" panose="02020603050405020304" pitchFamily="18" charset="0"/>
                <a:cs typeface="Times New Roman" panose="02020603050405020304" pitchFamily="18" charset="0"/>
              </a:rPr>
              <a:t> and </a:t>
            </a:r>
            <a:r>
              <a:rPr lang="fr-FR" b="1" dirty="0" err="1">
                <a:latin typeface="Times New Roman" panose="02020603050405020304" pitchFamily="18" charset="0"/>
                <a:cs typeface="Times New Roman" panose="02020603050405020304" pitchFamily="18" charset="0"/>
              </a:rPr>
              <a:t>availability</a:t>
            </a: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 STP </a:t>
            </a:r>
            <a:r>
              <a:rPr lang="fr-FR" dirty="0" err="1">
                <a:latin typeface="Times New Roman" panose="02020603050405020304" pitchFamily="18" charset="0"/>
                <a:cs typeface="Times New Roman" panose="02020603050405020304" pitchFamily="18" charset="0"/>
              </a:rPr>
              <a:t>allows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redundancy</a:t>
            </a:r>
            <a:r>
              <a:rPr lang="fr-FR"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without</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creating</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loops</a:t>
            </a:r>
            <a:endParaRPr lang="fr-FR"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CF329E5-DA24-5A3E-9146-7FFB2D8DBAA9}"/>
              </a:ext>
            </a:extLst>
          </p:cNvPr>
          <p:cNvSpPr txBox="1"/>
          <p:nvPr/>
        </p:nvSpPr>
        <p:spPr>
          <a:xfrm>
            <a:off x="2494012" y="260648"/>
            <a:ext cx="8159869" cy="646331"/>
          </a:xfrm>
          <a:prstGeom prst="rect">
            <a:avLst/>
          </a:prstGeom>
          <a:noFill/>
        </p:spPr>
        <p:txBody>
          <a:bodyPr wrap="square">
            <a:spAutoFit/>
          </a:bodyPr>
          <a:lstStyle/>
          <a:p>
            <a:pPr algn="ctr">
              <a:buNone/>
            </a:pPr>
            <a:r>
              <a:rPr lang="fr-FR" sz="3600" b="1" dirty="0" err="1">
                <a:latin typeface="Times New Roman" panose="02020603050405020304" pitchFamily="18" charset="0"/>
                <a:cs typeface="Times New Roman" panose="02020603050405020304" pitchFamily="18" charset="0"/>
              </a:rPr>
              <a:t>Redundant</a:t>
            </a:r>
            <a:r>
              <a:rPr lang="fr-FR" sz="3600" b="1" dirty="0">
                <a:latin typeface="Times New Roman" panose="02020603050405020304" pitchFamily="18" charset="0"/>
                <a:cs typeface="Times New Roman" panose="02020603050405020304" pitchFamily="18" charset="0"/>
              </a:rPr>
              <a:t> Links</a:t>
            </a:r>
          </a:p>
        </p:txBody>
      </p:sp>
      <p:pic>
        <p:nvPicPr>
          <p:cNvPr id="11" name="Picture 2" descr="Spanning Tree Protocol? STP Overview ...">
            <a:extLst>
              <a:ext uri="{FF2B5EF4-FFF2-40B4-BE49-F238E27FC236}">
                <a16:creationId xmlns:a16="http://schemas.microsoft.com/office/drawing/2014/main" id="{7E4E013E-9DC7-695F-1F71-4B4CBBCEB5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6180" y="4005064"/>
            <a:ext cx="4619761" cy="2721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0708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E9B7C34-6BD4-D9E0-AB9F-2EE596E0805F}"/>
              </a:ext>
            </a:extLst>
          </p:cNvPr>
          <p:cNvSpPr txBox="1"/>
          <p:nvPr/>
        </p:nvSpPr>
        <p:spPr>
          <a:xfrm>
            <a:off x="3574132" y="188640"/>
            <a:ext cx="6094602" cy="646331"/>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STP Overview</a:t>
            </a:r>
          </a:p>
        </p:txBody>
      </p:sp>
      <p:sp>
        <p:nvSpPr>
          <p:cNvPr id="3" name="TextBox 2">
            <a:extLst>
              <a:ext uri="{FF2B5EF4-FFF2-40B4-BE49-F238E27FC236}">
                <a16:creationId xmlns:a16="http://schemas.microsoft.com/office/drawing/2014/main" id="{26C5D7F0-432C-0D49-980C-CB94B19B27E4}"/>
              </a:ext>
            </a:extLst>
          </p:cNvPr>
          <p:cNvSpPr txBox="1"/>
          <p:nvPr/>
        </p:nvSpPr>
        <p:spPr>
          <a:xfrm>
            <a:off x="1724889" y="980728"/>
            <a:ext cx="9793088" cy="3621504"/>
          </a:xfrm>
          <a:prstGeom prst="rect">
            <a:avLst/>
          </a:prstGeom>
          <a:noFill/>
        </p:spPr>
        <p:txBody>
          <a:bodyPr wrap="square">
            <a:spAutoFit/>
          </a:bodyPr>
          <a:lstStyle/>
          <a:p>
            <a:pPr algn="l">
              <a:lnSpc>
                <a:spcPts val="1800"/>
              </a:lnSpc>
              <a:spcBef>
                <a:spcPts val="750"/>
              </a:spcBef>
              <a:spcAft>
                <a:spcPts val="900"/>
              </a:spcAft>
            </a:pPr>
            <a:r>
              <a:rPr lang="en-US" b="1" dirty="0">
                <a:latin typeface="Times New Roman" panose="02020603050405020304" pitchFamily="18" charset="0"/>
                <a:cs typeface="Times New Roman" panose="02020603050405020304" pitchFamily="18" charset="0"/>
              </a:rPr>
              <a:t>Root Bridge </a:t>
            </a:r>
            <a:r>
              <a:rPr lang="en-US" b="1" i="0" dirty="0">
                <a:effectLst/>
                <a:latin typeface="Times New Roman" panose="02020603050405020304" pitchFamily="18" charset="0"/>
                <a:cs typeface="Times New Roman" panose="02020603050405020304" pitchFamily="18" charset="0"/>
              </a:rPr>
              <a:t>Election:</a:t>
            </a:r>
            <a:r>
              <a:rPr lang="en-US" b="0" i="0" dirty="0">
                <a:effectLst/>
                <a:latin typeface="Times New Roman" panose="02020603050405020304" pitchFamily="18" charset="0"/>
                <a:cs typeface="Times New Roman" panose="02020603050405020304" pitchFamily="18" charset="0"/>
              </a:rPr>
              <a:t> The switch with the </a:t>
            </a:r>
            <a:r>
              <a:rPr lang="en-US" b="1" i="0" dirty="0">
                <a:effectLst/>
                <a:latin typeface="Times New Roman" panose="02020603050405020304" pitchFamily="18" charset="0"/>
                <a:cs typeface="Times New Roman" panose="02020603050405020304" pitchFamily="18" charset="0"/>
              </a:rPr>
              <a:t>lowest </a:t>
            </a:r>
            <a:r>
              <a:rPr lang="en-US" b="0" i="0" dirty="0">
                <a:effectLst/>
                <a:latin typeface="Times New Roman" panose="02020603050405020304" pitchFamily="18" charset="0"/>
                <a:cs typeface="Times New Roman" panose="02020603050405020304" pitchFamily="18" charset="0"/>
              </a:rPr>
              <a:t>BID becomes the Root Bridge, the central point of the network. </a:t>
            </a:r>
          </a:p>
          <a:p>
            <a:pPr>
              <a:lnSpc>
                <a:spcPts val="1800"/>
              </a:lnSpc>
              <a:spcBef>
                <a:spcPts val="750"/>
              </a:spcBef>
              <a:spcAft>
                <a:spcPts val="900"/>
              </a:spcAft>
            </a:pPr>
            <a:r>
              <a:rPr lang="en-US" b="1"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Root Port</a:t>
            </a:r>
            <a:r>
              <a:rPr lang="en-US" b="1" dirty="0">
                <a:latin typeface="Times New Roman" panose="02020603050405020304" pitchFamily="18" charset="0"/>
                <a:cs typeface="Times New Roman" panose="02020603050405020304" pitchFamily="18" charset="0"/>
              </a:rPr>
              <a:t> (RP):</a:t>
            </a:r>
            <a:r>
              <a:rPr lang="en-US" dirty="0">
                <a:latin typeface="Times New Roman" panose="02020603050405020304" pitchFamily="18" charset="0"/>
                <a:cs typeface="Times New Roman" panose="02020603050405020304" pitchFamily="18" charset="0"/>
              </a:rPr>
              <a:t> On each non-root switch, the port with the lowest root path cost (bandwidth/link’s number) to the Root Bridge is selected as the Root Port, which forwards traffic towards the root. </a:t>
            </a:r>
          </a:p>
          <a:p>
            <a:r>
              <a:rPr lang="en-US" b="1"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Designated Port</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On each segment, the port with the lowest path cost (bandwidth/link’s number) to the Root Bridge is the Designated Port, responsible for forwarding traffic for that segment.</a:t>
            </a:r>
          </a:p>
          <a:p>
            <a:r>
              <a:rPr lang="en-US" b="1" dirty="0">
                <a:latin typeface="Times New Roman" panose="02020603050405020304" pitchFamily="18" charset="0"/>
                <a:cs typeface="Times New Roman" panose="02020603050405020304" pitchFamily="18" charset="0"/>
              </a:rPr>
              <a:t>Root Bridge Ports:</a:t>
            </a:r>
            <a:r>
              <a:rPr lang="en-US" dirty="0">
                <a:latin typeface="Times New Roman" panose="02020603050405020304" pitchFamily="18" charset="0"/>
                <a:cs typeface="Times New Roman" panose="02020603050405020304" pitchFamily="18" charset="0"/>
              </a:rPr>
              <a:t> All ports on the Root Bridge are Designated Ports. </a:t>
            </a:r>
          </a:p>
          <a:p>
            <a:r>
              <a:rPr lang="en-US" b="1"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Non-Designated Port</a:t>
            </a:r>
            <a:r>
              <a:rPr lang="en-US" b="1" dirty="0">
                <a:latin typeface="Times New Roman" panose="02020603050405020304" pitchFamily="18" charset="0"/>
                <a:cs typeface="Times New Roman" panose="02020603050405020304" pitchFamily="18" charset="0"/>
              </a:rPr>
              <a:t> (NDP):</a:t>
            </a:r>
            <a:r>
              <a:rPr lang="en-US" dirty="0">
                <a:latin typeface="Times New Roman" panose="02020603050405020304" pitchFamily="18" charset="0"/>
                <a:cs typeface="Times New Roman" panose="02020603050405020304" pitchFamily="18" charset="0"/>
              </a:rPr>
              <a:t> Any port that isn't a Root Port or a Designated Port.</a:t>
            </a:r>
          </a:p>
          <a:p>
            <a:r>
              <a:rPr lang="en-US" b="1"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Blocking State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These ports are placed in a blocking state, preventing them from forwarding user data and thus stopping network loops. </a:t>
            </a:r>
          </a:p>
          <a:p>
            <a:endParaRPr lang="en-US" dirty="0">
              <a:latin typeface="Times New Roman" panose="02020603050405020304" pitchFamily="18" charset="0"/>
              <a:cs typeface="Times New Roman" panose="02020603050405020304" pitchFamily="18" charset="0"/>
            </a:endParaRPr>
          </a:p>
          <a:p>
            <a:pPr algn="l">
              <a:lnSpc>
                <a:spcPts val="1800"/>
              </a:lnSpc>
              <a:spcBef>
                <a:spcPts val="750"/>
              </a:spcBef>
              <a:spcAft>
                <a:spcPts val="900"/>
              </a:spcAft>
              <a:buFont typeface="Arial" panose="020B0604020202020204" pitchFamily="34" charset="0"/>
              <a:buChar char="•"/>
            </a:pPr>
            <a:endParaRPr lang="en-US" b="0" i="0" dirty="0">
              <a:effectLst/>
              <a:latin typeface="Times New Roman" panose="02020603050405020304" pitchFamily="18" charset="0"/>
              <a:cs typeface="Times New Roman" panose="02020603050405020304" pitchFamily="18" charset="0"/>
            </a:endParaRPr>
          </a:p>
        </p:txBody>
      </p:sp>
      <p:pic>
        <p:nvPicPr>
          <p:cNvPr id="4" name="Picture 2" descr="What is Spanning Tree Protocol Explained? Spanning Tree Protocol (STP) is a  protocol that prevents Layer 2 loops by building a loop-free network  topology. It blocks redundant paths, ensuring only… | Ahmed">
            <a:extLst>
              <a:ext uri="{FF2B5EF4-FFF2-40B4-BE49-F238E27FC236}">
                <a16:creationId xmlns:a16="http://schemas.microsoft.com/office/drawing/2014/main" id="{F069EC1A-E742-DF90-A850-EDBA999556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72618" y="3696984"/>
            <a:ext cx="4222394" cy="300317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B52E064B-B8BD-E998-292C-A0FF329A9234}"/>
              </a:ext>
            </a:extLst>
          </p:cNvPr>
          <p:cNvPicPr>
            <a:picLocks noChangeAspect="1"/>
          </p:cNvPicPr>
          <p:nvPr/>
        </p:nvPicPr>
        <p:blipFill>
          <a:blip r:embed="rId7"/>
          <a:stretch>
            <a:fillRect/>
          </a:stretch>
        </p:blipFill>
        <p:spPr>
          <a:xfrm>
            <a:off x="1783448" y="3941281"/>
            <a:ext cx="5076126" cy="2897395"/>
          </a:xfrm>
          <a:prstGeom prst="rect">
            <a:avLst/>
          </a:prstGeom>
        </p:spPr>
      </p:pic>
    </p:spTree>
    <p:extLst>
      <p:ext uri="{BB962C8B-B14F-4D97-AF65-F5344CB8AC3E}">
        <p14:creationId xmlns:p14="http://schemas.microsoft.com/office/powerpoint/2010/main" val="3231317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A5680-4325-E36D-BC49-399FC23F3869}"/>
              </a:ext>
            </a:extLst>
          </p:cNvPr>
          <p:cNvSpPr>
            <a:spLocks noGrp="1"/>
          </p:cNvSpPr>
          <p:nvPr>
            <p:ph type="title"/>
          </p:nvPr>
        </p:nvSpPr>
        <p:spPr>
          <a:xfrm>
            <a:off x="1593436" y="-171400"/>
            <a:ext cx="9782801" cy="1239837"/>
          </a:xfrm>
        </p:spPr>
        <p:txBody>
          <a:bodyPr/>
          <a:lstStyle/>
          <a:p>
            <a:pPr algn="ctr"/>
            <a:r>
              <a:rPr lang="en-US" b="1" dirty="0">
                <a:latin typeface="Times New Roman" panose="02020603050405020304" pitchFamily="18" charset="0"/>
                <a:cs typeface="Times New Roman" panose="02020603050405020304" pitchFamily="18" charset="0"/>
              </a:rPr>
              <a:t>STP Port Roles</a:t>
            </a:r>
            <a:endParaRPr lang="fr-DZ"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FAAA6C1-A996-6C34-3F66-D721FD93018C}"/>
              </a:ext>
            </a:extLst>
          </p:cNvPr>
          <p:cNvSpPr txBox="1"/>
          <p:nvPr/>
        </p:nvSpPr>
        <p:spPr>
          <a:xfrm>
            <a:off x="1413892" y="1417637"/>
            <a:ext cx="5256584" cy="4247317"/>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1. Root Port (RP)</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One per non-root switch</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Port with the </a:t>
            </a:r>
            <a:r>
              <a:rPr lang="en-US" b="1" dirty="0">
                <a:latin typeface="Times New Roman" panose="02020603050405020304" pitchFamily="18" charset="0"/>
                <a:cs typeface="Times New Roman" panose="02020603050405020304" pitchFamily="18" charset="0"/>
              </a:rPr>
              <a:t>lowest cost path</a:t>
            </a:r>
            <a:r>
              <a:rPr lang="en-US" dirty="0">
                <a:latin typeface="Times New Roman" panose="02020603050405020304" pitchFamily="18" charset="0"/>
                <a:cs typeface="Times New Roman" panose="02020603050405020304" pitchFamily="18" charset="0"/>
              </a:rPr>
              <a:t> to the Root Bridge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Always in </a:t>
            </a:r>
            <a:r>
              <a:rPr lang="en-US" b="1" dirty="0">
                <a:latin typeface="Times New Roman" panose="02020603050405020304" pitchFamily="18" charset="0"/>
                <a:cs typeface="Times New Roman" panose="02020603050405020304" pitchFamily="18" charset="0"/>
              </a:rPr>
              <a:t>Forwarding</a:t>
            </a:r>
            <a:r>
              <a:rPr lang="en-US" dirty="0">
                <a:latin typeface="Times New Roman" panose="02020603050405020304" pitchFamily="18" charset="0"/>
                <a:cs typeface="Times New Roman" panose="02020603050405020304" pitchFamily="18" charset="0"/>
              </a:rPr>
              <a:t> state</a:t>
            </a:r>
          </a:p>
          <a:p>
            <a:pPr>
              <a:buNone/>
            </a:pPr>
            <a:r>
              <a:rPr lang="en-US" b="1" dirty="0">
                <a:latin typeface="Times New Roman" panose="02020603050405020304" pitchFamily="18" charset="0"/>
                <a:cs typeface="Times New Roman" panose="02020603050405020304" pitchFamily="18" charset="0"/>
              </a:rPr>
              <a:t>2. Designated Port (DP)</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One per network segment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Chosen as the best forwarding port on that segment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Also in </a:t>
            </a:r>
            <a:r>
              <a:rPr lang="en-US" b="1" dirty="0">
                <a:latin typeface="Times New Roman" panose="02020603050405020304" pitchFamily="18" charset="0"/>
                <a:cs typeface="Times New Roman" panose="02020603050405020304" pitchFamily="18" charset="0"/>
              </a:rPr>
              <a:t>Forwarding</a:t>
            </a:r>
            <a:r>
              <a:rPr lang="en-US" dirty="0">
                <a:latin typeface="Times New Roman" panose="02020603050405020304" pitchFamily="18" charset="0"/>
                <a:cs typeface="Times New Roman" panose="02020603050405020304" pitchFamily="18" charset="0"/>
              </a:rPr>
              <a:t> state</a:t>
            </a:r>
          </a:p>
          <a:p>
            <a:pPr>
              <a:buNone/>
            </a:pPr>
            <a:r>
              <a:rPr lang="en-US" b="1" dirty="0">
                <a:latin typeface="Times New Roman" panose="02020603050405020304" pitchFamily="18" charset="0"/>
                <a:cs typeface="Times New Roman" panose="02020603050405020304" pitchFamily="18" charset="0"/>
              </a:rPr>
              <a:t>3. Non-Designated Port (Blocked Port)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Put in </a:t>
            </a:r>
            <a:r>
              <a:rPr lang="en-US" b="1" dirty="0">
                <a:latin typeface="Times New Roman" panose="02020603050405020304" pitchFamily="18" charset="0"/>
                <a:cs typeface="Times New Roman" panose="02020603050405020304" pitchFamily="18" charset="0"/>
              </a:rPr>
              <a:t>Blocking</a:t>
            </a:r>
            <a:r>
              <a:rPr lang="en-US" dirty="0">
                <a:latin typeface="Times New Roman" panose="02020603050405020304" pitchFamily="18" charset="0"/>
                <a:cs typeface="Times New Roman" panose="02020603050405020304" pitchFamily="18" charset="0"/>
              </a:rPr>
              <a:t> state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Prevents loops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Does not forward user traffic but listens for BPDUs</a:t>
            </a:r>
          </a:p>
        </p:txBody>
      </p:sp>
      <p:pic>
        <p:nvPicPr>
          <p:cNvPr id="9" name="Picture 2" descr="What is Spanning Tree Protocol Explained? Spanning Tree Protocol (STP) is a  protocol that prevents Layer 2 loops by building a loop-free network  topology. It blocks redundant paths, ensuring only… | Ahmed">
            <a:extLst>
              <a:ext uri="{FF2B5EF4-FFF2-40B4-BE49-F238E27FC236}">
                <a16:creationId xmlns:a16="http://schemas.microsoft.com/office/drawing/2014/main" id="{771108C5-430A-E1FF-B356-0BBBAE17AE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0476" y="2204864"/>
            <a:ext cx="5112568" cy="363631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FD70EA2-2E17-5A2D-D0C8-1D7D08027DA9}"/>
              </a:ext>
            </a:extLst>
          </p:cNvPr>
          <p:cNvSpPr txBox="1"/>
          <p:nvPr/>
        </p:nvSpPr>
        <p:spPr>
          <a:xfrm>
            <a:off x="7246540" y="5533401"/>
            <a:ext cx="907621" cy="307777"/>
          </a:xfrm>
          <a:prstGeom prst="rect">
            <a:avLst/>
          </a:prstGeom>
          <a:noFill/>
        </p:spPr>
        <p:txBody>
          <a:bodyPr wrap="none" rtlCol="0">
            <a:spAutoFit/>
          </a:bodyPr>
          <a:lstStyle/>
          <a:p>
            <a:r>
              <a:rPr lang="fr-FR" sz="1400" dirty="0">
                <a:latin typeface="Times New Roman" panose="02020603050405020304" pitchFamily="18" charset="0"/>
                <a:cs typeface="Times New Roman" panose="02020603050405020304" pitchFamily="18" charset="0"/>
              </a:rPr>
              <a:t>Bridge ID</a:t>
            </a:r>
            <a:endParaRPr lang="fr-DZ"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2867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A82858-052D-167F-A9D2-4321927A4CEA}"/>
              </a:ext>
            </a:extLst>
          </p:cNvPr>
          <p:cNvSpPr txBox="1"/>
          <p:nvPr/>
        </p:nvSpPr>
        <p:spPr>
          <a:xfrm>
            <a:off x="1413892" y="1268760"/>
            <a:ext cx="7662294" cy="4524315"/>
          </a:xfrm>
          <a:prstGeom prst="rect">
            <a:avLst/>
          </a:prstGeom>
          <a:noFill/>
        </p:spPr>
        <p:txBody>
          <a:bodyPr wrap="square">
            <a:spAutoFit/>
          </a:bodyPr>
          <a:lstStyle/>
          <a:p>
            <a:pPr>
              <a:buNone/>
            </a:pPr>
            <a:r>
              <a:rPr lang="fr-FR" b="1" dirty="0">
                <a:latin typeface="Times New Roman" panose="02020603050405020304" pitchFamily="18" charset="0"/>
                <a:cs typeface="Times New Roman" panose="02020603050405020304" pitchFamily="18" charset="0"/>
              </a:rPr>
              <a:t>1. STP (802.1D)</a:t>
            </a:r>
          </a:p>
          <a:p>
            <a:pPr>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Original version</a:t>
            </a:r>
          </a:p>
          <a:p>
            <a:pPr>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Slow convergence (30–50 sec)</a:t>
            </a:r>
          </a:p>
          <a:p>
            <a:pPr>
              <a:buFont typeface="Arial" panose="020B0604020202020204" pitchFamily="34" charset="0"/>
              <a:buChar char="•"/>
            </a:pPr>
            <a:endParaRPr lang="fr-FR" dirty="0">
              <a:latin typeface="Times New Roman" panose="02020603050405020304" pitchFamily="18" charset="0"/>
              <a:cs typeface="Times New Roman" panose="02020603050405020304" pitchFamily="18" charset="0"/>
            </a:endParaRPr>
          </a:p>
          <a:p>
            <a:pPr>
              <a:buNone/>
            </a:pPr>
            <a:r>
              <a:rPr lang="fr-FR" b="1" dirty="0">
                <a:latin typeface="Times New Roman" panose="02020603050405020304" pitchFamily="18" charset="0"/>
                <a:cs typeface="Times New Roman" panose="02020603050405020304" pitchFamily="18" charset="0"/>
              </a:rPr>
              <a:t>2. RSTP (802.1w)</a:t>
            </a:r>
          </a:p>
          <a:p>
            <a:pPr>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Faster</a:t>
            </a:r>
            <a:r>
              <a:rPr lang="fr-FR" dirty="0">
                <a:latin typeface="Times New Roman" panose="02020603050405020304" pitchFamily="18" charset="0"/>
                <a:cs typeface="Times New Roman" panose="02020603050405020304" pitchFamily="18" charset="0"/>
              </a:rPr>
              <a:t>: </a:t>
            </a:r>
            <a:r>
              <a:rPr lang="fr-FR" b="1" dirty="0">
                <a:latin typeface="Times New Roman" panose="02020603050405020304" pitchFamily="18" charset="0"/>
                <a:cs typeface="Times New Roman" panose="02020603050405020304" pitchFamily="18" charset="0"/>
              </a:rPr>
              <a:t>1–3 sec convergence</a:t>
            </a:r>
            <a:endParaRPr lang="fr-FR"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Simplified</a:t>
            </a:r>
            <a:r>
              <a:rPr lang="fr-FR" dirty="0">
                <a:latin typeface="Times New Roman" panose="02020603050405020304" pitchFamily="18" charset="0"/>
                <a:cs typeface="Times New Roman" panose="02020603050405020304" pitchFamily="18" charset="0"/>
              </a:rPr>
              <a:t> states</a:t>
            </a:r>
          </a:p>
          <a:p>
            <a:pPr>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New port </a:t>
            </a:r>
            <a:r>
              <a:rPr lang="fr-FR" dirty="0" err="1">
                <a:latin typeface="Times New Roman" panose="02020603050405020304" pitchFamily="18" charset="0"/>
                <a:cs typeface="Times New Roman" panose="02020603050405020304" pitchFamily="18" charset="0"/>
              </a:rPr>
              <a:t>roles</a:t>
            </a:r>
            <a:endParaRPr lang="fr-FR"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fr-FR" dirty="0">
              <a:latin typeface="Times New Roman" panose="02020603050405020304" pitchFamily="18" charset="0"/>
              <a:cs typeface="Times New Roman" panose="02020603050405020304" pitchFamily="18" charset="0"/>
            </a:endParaRPr>
          </a:p>
          <a:p>
            <a:pPr>
              <a:buNone/>
            </a:pPr>
            <a:r>
              <a:rPr lang="fr-FR" b="1" dirty="0">
                <a:latin typeface="Times New Roman" panose="02020603050405020304" pitchFamily="18" charset="0"/>
                <a:cs typeface="Times New Roman" panose="02020603050405020304" pitchFamily="18" charset="0"/>
              </a:rPr>
              <a:t>3. MSTP (802.1s)</a:t>
            </a:r>
          </a:p>
          <a:p>
            <a:pPr>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Groups VLANs </a:t>
            </a:r>
            <a:r>
              <a:rPr lang="fr-FR" dirty="0" err="1">
                <a:latin typeface="Times New Roman" panose="02020603050405020304" pitchFamily="18" charset="0"/>
                <a:cs typeface="Times New Roman" panose="02020603050405020304" pitchFamily="18" charset="0"/>
              </a:rPr>
              <a:t>into</a:t>
            </a:r>
            <a:r>
              <a:rPr lang="fr-FR" dirty="0">
                <a:latin typeface="Times New Roman" panose="02020603050405020304" pitchFamily="18" charset="0"/>
                <a:cs typeface="Times New Roman" panose="02020603050405020304" pitchFamily="18" charset="0"/>
              </a:rPr>
              <a:t> multiple </a:t>
            </a:r>
            <a:r>
              <a:rPr lang="fr-FR" dirty="0" err="1">
                <a:latin typeface="Times New Roman" panose="02020603050405020304" pitchFamily="18" charset="0"/>
                <a:cs typeface="Times New Roman" panose="02020603050405020304" pitchFamily="18" charset="0"/>
              </a:rPr>
              <a:t>spanning-tree</a:t>
            </a:r>
            <a:r>
              <a:rPr lang="fr-FR" dirty="0">
                <a:latin typeface="Times New Roman" panose="02020603050405020304" pitchFamily="18" charset="0"/>
                <a:cs typeface="Times New Roman" panose="02020603050405020304" pitchFamily="18" charset="0"/>
              </a:rPr>
              <a:t> instances</a:t>
            </a:r>
          </a:p>
          <a:p>
            <a:pPr>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Scalable for large networks</a:t>
            </a:r>
          </a:p>
          <a:p>
            <a:pPr>
              <a:buFont typeface="Arial" panose="020B0604020202020204" pitchFamily="34" charset="0"/>
              <a:buChar char="•"/>
            </a:pPr>
            <a:endParaRPr lang="fr-FR" dirty="0">
              <a:latin typeface="Times New Roman" panose="02020603050405020304" pitchFamily="18" charset="0"/>
              <a:cs typeface="Times New Roman" panose="02020603050405020304" pitchFamily="18" charset="0"/>
            </a:endParaRPr>
          </a:p>
          <a:p>
            <a:pPr>
              <a:buNone/>
            </a:pPr>
            <a:r>
              <a:rPr lang="fr-FR" b="1" dirty="0">
                <a:latin typeface="Times New Roman" panose="02020603050405020304" pitchFamily="18" charset="0"/>
                <a:cs typeface="Times New Roman" panose="02020603050405020304" pitchFamily="18" charset="0"/>
              </a:rPr>
              <a:t>4. Cisco Variants</a:t>
            </a:r>
          </a:p>
          <a:p>
            <a:pPr>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PVST+</a:t>
            </a:r>
            <a:r>
              <a:rPr lang="fr-FR" dirty="0">
                <a:latin typeface="Times New Roman" panose="02020603050405020304" pitchFamily="18" charset="0"/>
                <a:cs typeface="Times New Roman" panose="02020603050405020304" pitchFamily="18" charset="0"/>
              </a:rPr>
              <a:t>: STP per VLAN</a:t>
            </a:r>
          </a:p>
          <a:p>
            <a:pPr>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Rapid-PVST+</a:t>
            </a:r>
            <a:r>
              <a:rPr lang="fr-FR" dirty="0">
                <a:latin typeface="Times New Roman" panose="02020603050405020304" pitchFamily="18" charset="0"/>
                <a:cs typeface="Times New Roman" panose="02020603050405020304" pitchFamily="18" charset="0"/>
              </a:rPr>
              <a:t>: RSTP per VLAN (fast + per-VLAN control)</a:t>
            </a:r>
          </a:p>
        </p:txBody>
      </p:sp>
      <p:sp>
        <p:nvSpPr>
          <p:cNvPr id="5" name="TextBox 4">
            <a:extLst>
              <a:ext uri="{FF2B5EF4-FFF2-40B4-BE49-F238E27FC236}">
                <a16:creationId xmlns:a16="http://schemas.microsoft.com/office/drawing/2014/main" id="{5205DFCD-7AD1-412F-FCF6-FE145BE260A1}"/>
              </a:ext>
            </a:extLst>
          </p:cNvPr>
          <p:cNvSpPr txBox="1"/>
          <p:nvPr/>
        </p:nvSpPr>
        <p:spPr>
          <a:xfrm>
            <a:off x="2710036" y="332656"/>
            <a:ext cx="6098796" cy="646331"/>
          </a:xfrm>
          <a:prstGeom prst="rect">
            <a:avLst/>
          </a:prstGeom>
          <a:noFill/>
        </p:spPr>
        <p:txBody>
          <a:bodyPr wrap="square">
            <a:spAutoFit/>
          </a:bodyPr>
          <a:lstStyle/>
          <a:p>
            <a:pPr algn="ctr">
              <a:buNone/>
            </a:pPr>
            <a:r>
              <a:rPr lang="fr-FR" sz="3600" b="1" dirty="0">
                <a:latin typeface="Times New Roman" panose="02020603050405020304" pitchFamily="18" charset="0"/>
                <a:cs typeface="Times New Roman" panose="02020603050405020304" pitchFamily="18" charset="0"/>
              </a:rPr>
              <a:t>STP Versions</a:t>
            </a:r>
          </a:p>
        </p:txBody>
      </p:sp>
    </p:spTree>
    <p:extLst>
      <p:ext uri="{BB962C8B-B14F-4D97-AF65-F5344CB8AC3E}">
        <p14:creationId xmlns:p14="http://schemas.microsoft.com/office/powerpoint/2010/main" val="1781348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9CA68F-152F-FC99-969C-09EE9BC3C5CC}"/>
              </a:ext>
            </a:extLst>
          </p:cNvPr>
          <p:cNvSpPr txBox="1"/>
          <p:nvPr/>
        </p:nvSpPr>
        <p:spPr>
          <a:xfrm>
            <a:off x="1485900" y="1268760"/>
            <a:ext cx="10081120" cy="419755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VLAN logically segments a single physical network into multiple isolated broadcast domains, grouping devices by function rather than location for better security, performance, and management.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Works at </a:t>
            </a:r>
            <a:r>
              <a:rPr lang="en-US" b="1" dirty="0">
                <a:latin typeface="Times New Roman" panose="02020603050405020304" pitchFamily="18" charset="0"/>
                <a:cs typeface="Times New Roman" panose="02020603050405020304" pitchFamily="18" charset="0"/>
              </a:rPr>
              <a:t>Layer 2 (Data Link Layer)</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Devices in the same VLAN communicate </a:t>
            </a:r>
            <a:r>
              <a:rPr lang="en-US" b="1" dirty="0">
                <a:latin typeface="Times New Roman" panose="02020603050405020304" pitchFamily="18" charset="0"/>
                <a:cs typeface="Times New Roman" panose="02020603050405020304" pitchFamily="18" charset="0"/>
              </a:rPr>
              <a:t>as if they were on the same switch</a:t>
            </a:r>
            <a:r>
              <a:rPr lang="en-US" dirty="0">
                <a:latin typeface="Times New Roman" panose="02020603050405020304" pitchFamily="18" charset="0"/>
                <a:cs typeface="Times New Roman" panose="02020603050405020304" pitchFamily="18" charset="0"/>
              </a:rPr>
              <a:t>, even if physically separated</a:t>
            </a:r>
          </a:p>
          <a:p>
            <a:pPr algn="just">
              <a:lnSpc>
                <a:spcPct val="150000"/>
              </a:lnSpc>
              <a:buNone/>
            </a:pPr>
            <a:r>
              <a:rPr lang="en-US" b="1" dirty="0">
                <a:latin typeface="Times New Roman" panose="02020603050405020304" pitchFamily="18" charset="0"/>
                <a:cs typeface="Times New Roman" panose="02020603050405020304" pitchFamily="18" charset="0"/>
              </a:rPr>
              <a:t>Why VLANs?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Better </a:t>
            </a:r>
            <a:r>
              <a:rPr lang="en-US" b="1" dirty="0">
                <a:latin typeface="Times New Roman" panose="02020603050405020304" pitchFamily="18" charset="0"/>
                <a:cs typeface="Times New Roman" panose="02020603050405020304" pitchFamily="18" charset="0"/>
              </a:rPr>
              <a:t>security</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Improved </a:t>
            </a:r>
            <a:r>
              <a:rPr lang="en-US" b="1" dirty="0">
                <a:latin typeface="Times New Roman" panose="02020603050405020304" pitchFamily="18" charset="0"/>
                <a:cs typeface="Times New Roman" panose="02020603050405020304" pitchFamily="18" charset="0"/>
              </a:rPr>
              <a:t>network performance</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Easier </a:t>
            </a:r>
            <a:r>
              <a:rPr lang="en-US" b="1" dirty="0">
                <a:latin typeface="Times New Roman" panose="02020603050405020304" pitchFamily="18" charset="0"/>
                <a:cs typeface="Times New Roman" panose="02020603050405020304" pitchFamily="18" charset="0"/>
              </a:rPr>
              <a:t>management</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a:t>
            </a:r>
            <a:r>
              <a:rPr lang="en-US" b="1" dirty="0">
                <a:latin typeface="Times New Roman" panose="02020603050405020304" pitchFamily="18" charset="0"/>
                <a:cs typeface="Times New Roman" panose="02020603050405020304" pitchFamily="18" charset="0"/>
              </a:rPr>
              <a:t>network segmentation</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9C4F641-AA2A-5F33-CB8D-AB313ED88252}"/>
              </a:ext>
            </a:extLst>
          </p:cNvPr>
          <p:cNvSpPr txBox="1"/>
          <p:nvPr/>
        </p:nvSpPr>
        <p:spPr>
          <a:xfrm>
            <a:off x="2399039" y="478413"/>
            <a:ext cx="7390746" cy="646331"/>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Virtual Local Area Network (VLAN)</a:t>
            </a:r>
          </a:p>
        </p:txBody>
      </p:sp>
      <p:pic>
        <p:nvPicPr>
          <p:cNvPr id="2050" name="Picture 2" descr="A Brief Introduction to VLANs | EtherWAN USA">
            <a:extLst>
              <a:ext uri="{FF2B5EF4-FFF2-40B4-BE49-F238E27FC236}">
                <a16:creationId xmlns:a16="http://schemas.microsoft.com/office/drawing/2014/main" id="{E1B7BBD0-AB42-5481-0098-82357D2577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43"/>
          <a:stretch>
            <a:fillRect/>
          </a:stretch>
        </p:blipFill>
        <p:spPr bwMode="auto">
          <a:xfrm>
            <a:off x="5302324" y="3035958"/>
            <a:ext cx="6048672" cy="3633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6659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48C27A-168E-7789-C709-155EEAAE9CC0}"/>
              </a:ext>
            </a:extLst>
          </p:cNvPr>
          <p:cNvSpPr txBox="1"/>
          <p:nvPr/>
        </p:nvSpPr>
        <p:spPr>
          <a:xfrm>
            <a:off x="981844" y="1679897"/>
            <a:ext cx="4824536" cy="3693319"/>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If all devices are in the same network:</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Large </a:t>
            </a:r>
            <a:r>
              <a:rPr lang="en-US" b="1" dirty="0">
                <a:latin typeface="Times New Roman" panose="02020603050405020304" pitchFamily="18" charset="0"/>
                <a:cs typeface="Times New Roman" panose="02020603050405020304" pitchFamily="18" charset="0"/>
              </a:rPr>
              <a:t>broadcast domain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Excessive broadcast traffic</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Poor performance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network segmentation (everyone can see everyone)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Difficult to isolate sensitive devices (servers, VoIP phones, etc.)</a:t>
            </a:r>
          </a:p>
          <a:p>
            <a:pPr>
              <a:buNone/>
            </a:pPr>
            <a:r>
              <a:rPr lang="en-US" b="1" dirty="0">
                <a:latin typeface="Times New Roman" panose="02020603050405020304" pitchFamily="18" charset="0"/>
                <a:cs typeface="Times New Roman" panose="02020603050405020304" pitchFamily="18" charset="0"/>
              </a:rPr>
              <a:t>VLANs solve these by: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Splitting one switch into multiple mini-networks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Reducing broadcast traffic</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Increasing control and security</a:t>
            </a:r>
          </a:p>
        </p:txBody>
      </p:sp>
      <p:sp>
        <p:nvSpPr>
          <p:cNvPr id="5" name="TextBox 4">
            <a:extLst>
              <a:ext uri="{FF2B5EF4-FFF2-40B4-BE49-F238E27FC236}">
                <a16:creationId xmlns:a16="http://schemas.microsoft.com/office/drawing/2014/main" id="{71E275CB-ACEA-634E-8FEE-EC56BB532DA3}"/>
              </a:ext>
            </a:extLst>
          </p:cNvPr>
          <p:cNvSpPr txBox="1"/>
          <p:nvPr/>
        </p:nvSpPr>
        <p:spPr>
          <a:xfrm>
            <a:off x="3049398" y="332656"/>
            <a:ext cx="6098796" cy="646331"/>
          </a:xfrm>
          <a:prstGeom prst="rect">
            <a:avLst/>
          </a:prstGeom>
          <a:noFill/>
        </p:spPr>
        <p:txBody>
          <a:bodyPr wrap="square">
            <a:spAutoFit/>
          </a:bodyPr>
          <a:lstStyle/>
          <a:p>
            <a:pPr>
              <a:buNone/>
            </a:pPr>
            <a:r>
              <a:rPr lang="en-US" sz="3600" b="1" dirty="0">
                <a:latin typeface="Times New Roman" panose="02020603050405020304" pitchFamily="18" charset="0"/>
                <a:cs typeface="Times New Roman" panose="02020603050405020304" pitchFamily="18" charset="0"/>
              </a:rPr>
              <a:t>Problems Without VLANs</a:t>
            </a:r>
          </a:p>
        </p:txBody>
      </p:sp>
      <p:pic>
        <p:nvPicPr>
          <p:cNvPr id="1028" name="Picture 4" descr="10: Traditional inter-VLAN 3.4.2 Router-on-a-stick | Download Scientific  Diagram">
            <a:extLst>
              <a:ext uri="{FF2B5EF4-FFF2-40B4-BE49-F238E27FC236}">
                <a16:creationId xmlns:a16="http://schemas.microsoft.com/office/drawing/2014/main" id="{F674FCAB-84EE-6682-0A96-F81675C4E0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9230" y="1988841"/>
            <a:ext cx="5349718" cy="3693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8659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BE0F77-21AF-5D5C-471A-5C3E9EB42731}"/>
              </a:ext>
            </a:extLst>
          </p:cNvPr>
          <p:cNvSpPr txBox="1"/>
          <p:nvPr/>
        </p:nvSpPr>
        <p:spPr>
          <a:xfrm>
            <a:off x="1629916" y="1916832"/>
            <a:ext cx="4608512" cy="3970318"/>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Key idea:</a:t>
            </a:r>
          </a:p>
          <a:p>
            <a:pPr>
              <a:buNone/>
            </a:pPr>
            <a:r>
              <a:rPr lang="en-US" dirty="0">
                <a:latin typeface="Times New Roman" panose="02020603050405020304" pitchFamily="18" charset="0"/>
                <a:cs typeface="Times New Roman" panose="02020603050405020304" pitchFamily="18" charset="0"/>
              </a:rPr>
              <a:t>VLANs separate a switch into </a:t>
            </a:r>
            <a:r>
              <a:rPr lang="en-US" b="1" dirty="0">
                <a:latin typeface="Times New Roman" panose="02020603050405020304" pitchFamily="18" charset="0"/>
                <a:cs typeface="Times New Roman" panose="02020603050405020304" pitchFamily="18" charset="0"/>
              </a:rPr>
              <a:t>multiple logical Layer 2 domains</a:t>
            </a:r>
            <a:r>
              <a:rPr lang="en-US" dirty="0">
                <a:latin typeface="Times New Roman" panose="02020603050405020304" pitchFamily="18" charset="0"/>
                <a:cs typeface="Times New Roman" panose="02020603050405020304" pitchFamily="18" charset="0"/>
              </a:rPr>
              <a:t>.</a:t>
            </a:r>
          </a:p>
          <a:p>
            <a:pPr>
              <a:buNone/>
            </a:pPr>
            <a:r>
              <a:rPr lang="en-US" b="1" dirty="0">
                <a:latin typeface="Times New Roman" panose="02020603050405020304" pitchFamily="18" charset="0"/>
                <a:cs typeface="Times New Roman" panose="02020603050405020304" pitchFamily="18" charset="0"/>
              </a:rPr>
              <a:t>Characteristics: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VLAN behaves like a separate physical switch</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Communication between VLANs requires a </a:t>
            </a:r>
            <a:r>
              <a:rPr lang="en-US" b="1" dirty="0">
                <a:latin typeface="Times New Roman" panose="02020603050405020304" pitchFamily="18" charset="0"/>
                <a:cs typeface="Times New Roman" panose="02020603050405020304" pitchFamily="18" charset="0"/>
              </a:rPr>
              <a:t>router or Layer 3 switch</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VLANs are identified by </a:t>
            </a:r>
            <a:r>
              <a:rPr lang="en-US" b="1" dirty="0">
                <a:latin typeface="Times New Roman" panose="02020603050405020304" pitchFamily="18" charset="0"/>
                <a:cs typeface="Times New Roman" panose="02020603050405020304" pitchFamily="18" charset="0"/>
              </a:rPr>
              <a:t>VLAN IDs (1–4094)</a:t>
            </a: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Implemented using:</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Port-based VLANs</a:t>
            </a:r>
            <a:r>
              <a:rPr lang="en-US" dirty="0">
                <a:latin typeface="Times New Roman" panose="02020603050405020304" pitchFamily="18" charset="0"/>
                <a:cs typeface="Times New Roman" panose="02020603050405020304" pitchFamily="18" charset="0"/>
              </a:rPr>
              <a:t> (most common)</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MAC-based VLANs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Protocol-based VLANs</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36CD9FC-ACEA-35DA-6C68-428162361ABB}"/>
              </a:ext>
            </a:extLst>
          </p:cNvPr>
          <p:cNvSpPr txBox="1"/>
          <p:nvPr/>
        </p:nvSpPr>
        <p:spPr>
          <a:xfrm>
            <a:off x="1582034" y="761187"/>
            <a:ext cx="9505056" cy="1200329"/>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  How VLANs Work                 </a:t>
            </a:r>
            <a:r>
              <a:rPr lang="fr-FR" sz="3600" b="1" dirty="0">
                <a:latin typeface="Times New Roman" panose="02020603050405020304" pitchFamily="18" charset="0"/>
                <a:cs typeface="Times New Roman" panose="02020603050405020304" pitchFamily="18" charset="0"/>
              </a:rPr>
              <a:t>VLANs Types</a:t>
            </a:r>
          </a:p>
          <a:p>
            <a:pPr>
              <a:buNone/>
            </a:pPr>
            <a:endParaRPr lang="en-US" sz="36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5D3D23B-F77C-AE74-7FDD-5459C88A01E0}"/>
              </a:ext>
            </a:extLst>
          </p:cNvPr>
          <p:cNvSpPr txBox="1"/>
          <p:nvPr/>
        </p:nvSpPr>
        <p:spPr>
          <a:xfrm>
            <a:off x="6840570" y="1772816"/>
            <a:ext cx="4654442" cy="4247317"/>
          </a:xfrm>
          <a:prstGeom prst="rect">
            <a:avLst/>
          </a:prstGeom>
          <a:noFill/>
        </p:spPr>
        <p:txBody>
          <a:bodyPr wrap="square">
            <a:spAutoFit/>
          </a:bodyPr>
          <a:lstStyle/>
          <a:p>
            <a:pPr>
              <a:buFont typeface="+mj-lt"/>
              <a:buAutoNum type="arabicPeriod"/>
            </a:pPr>
            <a:r>
              <a:rPr lang="fr-FR" b="1" dirty="0">
                <a:latin typeface="Times New Roman" panose="02020603050405020304" pitchFamily="18" charset="0"/>
                <a:cs typeface="Times New Roman" panose="02020603050405020304" pitchFamily="18" charset="0"/>
              </a:rPr>
              <a:t>Default VLAN</a:t>
            </a:r>
            <a:endParaRPr lang="fr-FR"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fr-FR" dirty="0">
                <a:latin typeface="Times New Roman" panose="02020603050405020304" pitchFamily="18" charset="0"/>
                <a:cs typeface="Times New Roman" panose="02020603050405020304" pitchFamily="18" charset="0"/>
              </a:rPr>
              <a:t>VLAN 1 on </a:t>
            </a:r>
            <a:r>
              <a:rPr lang="fr-FR" dirty="0" err="1">
                <a:latin typeface="Times New Roman" panose="02020603050405020304" pitchFamily="18" charset="0"/>
                <a:cs typeface="Times New Roman" panose="02020603050405020304" pitchFamily="18" charset="0"/>
              </a:rPr>
              <a:t>most</a:t>
            </a:r>
            <a:r>
              <a:rPr lang="fr-FR" dirty="0">
                <a:latin typeface="Times New Roman" panose="02020603050405020304" pitchFamily="18" charset="0"/>
                <a:cs typeface="Times New Roman" panose="02020603050405020304" pitchFamily="18" charset="0"/>
              </a:rPr>
              <a:t> switches</a:t>
            </a:r>
          </a:p>
          <a:p>
            <a:pPr marL="742950" lvl="1" indent="-285750">
              <a:buFont typeface="+mj-lt"/>
              <a:buAutoNum type="arabicPeriod"/>
            </a:pPr>
            <a:r>
              <a:rPr lang="fr-FR" dirty="0">
                <a:latin typeface="Times New Roman" panose="02020603050405020304" pitchFamily="18" charset="0"/>
                <a:cs typeface="Times New Roman" panose="02020603050405020304" pitchFamily="18" charset="0"/>
              </a:rPr>
              <a:t>All ports are </a:t>
            </a:r>
            <a:r>
              <a:rPr lang="fr-FR" dirty="0" err="1">
                <a:latin typeface="Times New Roman" panose="02020603050405020304" pitchFamily="18" charset="0"/>
                <a:cs typeface="Times New Roman" panose="02020603050405020304" pitchFamily="18" charset="0"/>
              </a:rPr>
              <a:t>members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until</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configured</a:t>
            </a:r>
            <a:endParaRPr lang="fr-FR" dirty="0">
              <a:latin typeface="Times New Roman" panose="02020603050405020304" pitchFamily="18" charset="0"/>
              <a:cs typeface="Times New Roman" panose="02020603050405020304" pitchFamily="18" charset="0"/>
            </a:endParaRPr>
          </a:p>
          <a:p>
            <a:pPr>
              <a:buFont typeface="+mj-lt"/>
              <a:buAutoNum type="arabicPeriod"/>
            </a:pPr>
            <a:r>
              <a:rPr lang="fr-FR" b="1" dirty="0">
                <a:latin typeface="Times New Roman" panose="02020603050405020304" pitchFamily="18" charset="0"/>
                <a:cs typeface="Times New Roman" panose="02020603050405020304" pitchFamily="18" charset="0"/>
              </a:rPr>
              <a:t>Data VLAN</a:t>
            </a:r>
            <a:endParaRPr lang="fr-FR"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fr-FR" dirty="0" err="1">
                <a:latin typeface="Times New Roman" panose="02020603050405020304" pitchFamily="18" charset="0"/>
                <a:cs typeface="Times New Roman" panose="02020603050405020304" pitchFamily="18" charset="0"/>
              </a:rPr>
              <a:t>Used</a:t>
            </a:r>
            <a:r>
              <a:rPr lang="fr-FR" dirty="0">
                <a:latin typeface="Times New Roman" panose="02020603050405020304" pitchFamily="18" charset="0"/>
                <a:cs typeface="Times New Roman" panose="02020603050405020304" pitchFamily="18" charset="0"/>
              </a:rPr>
              <a:t> for user </a:t>
            </a:r>
            <a:r>
              <a:rPr lang="fr-FR" dirty="0" err="1">
                <a:latin typeface="Times New Roman" panose="02020603050405020304" pitchFamily="18" charset="0"/>
                <a:cs typeface="Times New Roman" panose="02020603050405020304" pitchFamily="18" charset="0"/>
              </a:rPr>
              <a:t>devices</a:t>
            </a:r>
            <a:endParaRPr lang="fr-FR"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fr-FR" dirty="0">
                <a:latin typeface="Times New Roman" panose="02020603050405020304" pitchFamily="18" charset="0"/>
                <a:cs typeface="Times New Roman" panose="02020603050405020304" pitchFamily="18" charset="0"/>
              </a:rPr>
              <a:t>Most </a:t>
            </a:r>
            <a:r>
              <a:rPr lang="fr-FR" dirty="0" err="1">
                <a:latin typeface="Times New Roman" panose="02020603050405020304" pitchFamily="18" charset="0"/>
                <a:cs typeface="Times New Roman" panose="02020603050405020304" pitchFamily="18" charset="0"/>
              </a:rPr>
              <a:t>common</a:t>
            </a:r>
            <a:r>
              <a:rPr lang="fr-FR" dirty="0">
                <a:latin typeface="Times New Roman" panose="02020603050405020304" pitchFamily="18" charset="0"/>
                <a:cs typeface="Times New Roman" panose="02020603050405020304" pitchFamily="18" charset="0"/>
              </a:rPr>
              <a:t> type</a:t>
            </a:r>
          </a:p>
          <a:p>
            <a:pPr>
              <a:buFont typeface="+mj-lt"/>
              <a:buAutoNum type="arabicPeriod"/>
            </a:pPr>
            <a:r>
              <a:rPr lang="fr-FR" b="1" dirty="0">
                <a:latin typeface="Times New Roman" panose="02020603050405020304" pitchFamily="18" charset="0"/>
                <a:cs typeface="Times New Roman" panose="02020603050405020304" pitchFamily="18" charset="0"/>
              </a:rPr>
              <a:t>Voice VLAN</a:t>
            </a:r>
            <a:endParaRPr lang="fr-FR"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fr-FR" dirty="0" err="1">
                <a:latin typeface="Times New Roman" panose="02020603050405020304" pitchFamily="18" charset="0"/>
                <a:cs typeface="Times New Roman" panose="02020603050405020304" pitchFamily="18" charset="0"/>
              </a:rPr>
              <a:t>Dedicated</a:t>
            </a:r>
            <a:r>
              <a:rPr lang="fr-FR" dirty="0">
                <a:latin typeface="Times New Roman" panose="02020603050405020304" pitchFamily="18" charset="0"/>
                <a:cs typeface="Times New Roman" panose="02020603050405020304" pitchFamily="18" charset="0"/>
              </a:rPr>
              <a:t> for </a:t>
            </a:r>
            <a:r>
              <a:rPr lang="fr-FR" dirty="0" err="1">
                <a:latin typeface="Times New Roman" panose="02020603050405020304" pitchFamily="18" charset="0"/>
                <a:cs typeface="Times New Roman" panose="02020603050405020304" pitchFamily="18" charset="0"/>
              </a:rPr>
              <a:t>VoIP</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traffic</a:t>
            </a:r>
            <a:endParaRPr lang="fr-FR"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fr-FR" dirty="0" err="1">
                <a:latin typeface="Times New Roman" panose="02020603050405020304" pitchFamily="18" charset="0"/>
                <a:cs typeface="Times New Roman" panose="02020603050405020304" pitchFamily="18" charset="0"/>
              </a:rPr>
              <a:t>Prioritizes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voice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packets</a:t>
            </a:r>
            <a:r>
              <a:rPr lang="fr-FR" dirty="0">
                <a:latin typeface="Times New Roman" panose="02020603050405020304" pitchFamily="18" charset="0"/>
                <a:cs typeface="Times New Roman" panose="02020603050405020304" pitchFamily="18" charset="0"/>
              </a:rPr>
              <a:t> (QoS)</a:t>
            </a:r>
          </a:p>
          <a:p>
            <a:pPr>
              <a:buFont typeface="+mj-lt"/>
              <a:buAutoNum type="arabicPeriod"/>
            </a:pPr>
            <a:r>
              <a:rPr lang="fr-FR" b="1" dirty="0">
                <a:latin typeface="Times New Roman" panose="02020603050405020304" pitchFamily="18" charset="0"/>
                <a:cs typeface="Times New Roman" panose="02020603050405020304" pitchFamily="18" charset="0"/>
              </a:rPr>
              <a:t>Management VLAN</a:t>
            </a:r>
            <a:endParaRPr lang="fr-FR"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fr-FR" dirty="0" err="1">
                <a:latin typeface="Times New Roman" panose="02020603050405020304" pitchFamily="18" charset="0"/>
                <a:cs typeface="Times New Roman" panose="02020603050405020304" pitchFamily="18" charset="0"/>
              </a:rPr>
              <a:t>Used</a:t>
            </a:r>
            <a:r>
              <a:rPr lang="fr-FR" dirty="0">
                <a:latin typeface="Times New Roman" panose="02020603050405020304" pitchFamily="18" charset="0"/>
                <a:cs typeface="Times New Roman" panose="02020603050405020304" pitchFamily="18" charset="0"/>
              </a:rPr>
              <a:t> to </a:t>
            </a:r>
            <a:r>
              <a:rPr lang="fr-FR" dirty="0" err="1">
                <a:latin typeface="Times New Roman" panose="02020603050405020304" pitchFamily="18" charset="0"/>
                <a:cs typeface="Times New Roman" panose="02020603050405020304" pitchFamily="18" charset="0"/>
              </a:rPr>
              <a:t>access</a:t>
            </a:r>
            <a:r>
              <a:rPr lang="fr-FR" dirty="0">
                <a:latin typeface="Times New Roman" panose="02020603050405020304" pitchFamily="18" charset="0"/>
                <a:cs typeface="Times New Roman" panose="02020603050405020304" pitchFamily="18" charset="0"/>
              </a:rPr>
              <a:t> switch management interface</a:t>
            </a:r>
          </a:p>
          <a:p>
            <a:pPr marL="742950" lvl="1" indent="-285750">
              <a:buFont typeface="+mj-lt"/>
              <a:buAutoNum type="arabicPeriod"/>
            </a:pPr>
            <a:r>
              <a:rPr lang="fr-FR" dirty="0" err="1">
                <a:latin typeface="Times New Roman" panose="02020603050405020304" pitchFamily="18" charset="0"/>
                <a:cs typeface="Times New Roman" panose="02020603050405020304" pitchFamily="18" charset="0"/>
              </a:rPr>
              <a:t>Recommended</a:t>
            </a:r>
            <a:r>
              <a:rPr lang="fr-FR" dirty="0">
                <a:latin typeface="Times New Roman" panose="02020603050405020304" pitchFamily="18" charset="0"/>
                <a:cs typeface="Times New Roman" panose="02020603050405020304" pitchFamily="18" charset="0"/>
              </a:rPr>
              <a:t>: NOT VLAN 1</a:t>
            </a:r>
          </a:p>
          <a:p>
            <a:pPr>
              <a:buFont typeface="+mj-lt"/>
              <a:buAutoNum type="arabicPeriod"/>
            </a:pPr>
            <a:r>
              <a:rPr lang="fr-FR" b="1" dirty="0">
                <a:latin typeface="Times New Roman" panose="02020603050405020304" pitchFamily="18" charset="0"/>
                <a:cs typeface="Times New Roman" panose="02020603050405020304" pitchFamily="18" charset="0"/>
              </a:rPr>
              <a:t>Native VLAN</a:t>
            </a:r>
            <a:r>
              <a:rPr lang="fr-FR" dirty="0">
                <a:latin typeface="Times New Roman" panose="02020603050405020304" pitchFamily="18" charset="0"/>
                <a:cs typeface="Times New Roman" panose="02020603050405020304" pitchFamily="18" charset="0"/>
              </a:rPr>
              <a:t> (for </a:t>
            </a:r>
            <a:r>
              <a:rPr lang="fr-FR" dirty="0" err="1">
                <a:latin typeface="Times New Roman" panose="02020603050405020304" pitchFamily="18" charset="0"/>
                <a:cs typeface="Times New Roman" panose="02020603050405020304" pitchFamily="18" charset="0"/>
              </a:rPr>
              <a:t>trunks</a:t>
            </a:r>
            <a:r>
              <a:rPr lang="fr-FR"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fr-FR" dirty="0">
                <a:latin typeface="Times New Roman" panose="02020603050405020304" pitchFamily="18" charset="0"/>
                <a:cs typeface="Times New Roman" panose="02020603050405020304" pitchFamily="18" charset="0"/>
              </a:rPr>
              <a:t>Carries </a:t>
            </a:r>
            <a:r>
              <a:rPr lang="fr-FR" dirty="0" err="1">
                <a:latin typeface="Times New Roman" panose="02020603050405020304" pitchFamily="18" charset="0"/>
                <a:cs typeface="Times New Roman" panose="02020603050405020304" pitchFamily="18" charset="0"/>
              </a:rPr>
              <a:t>untagged</a:t>
            </a:r>
            <a:r>
              <a:rPr lang="fr-FR" dirty="0">
                <a:latin typeface="Times New Roman" panose="02020603050405020304" pitchFamily="18" charset="0"/>
                <a:cs typeface="Times New Roman" panose="02020603050405020304" pitchFamily="18" charset="0"/>
              </a:rPr>
              <a:t> frames on </a:t>
            </a:r>
            <a:r>
              <a:rPr lang="fr-FR" dirty="0" err="1">
                <a:latin typeface="Times New Roman" panose="02020603050405020304" pitchFamily="18" charset="0"/>
                <a:cs typeface="Times New Roman" panose="02020603050405020304" pitchFamily="18" charset="0"/>
              </a:rPr>
              <a:t>trunk</a:t>
            </a:r>
            <a:r>
              <a:rPr lang="fr-FR" dirty="0">
                <a:latin typeface="Times New Roman" panose="02020603050405020304" pitchFamily="18" charset="0"/>
                <a:cs typeface="Times New Roman" panose="02020603050405020304" pitchFamily="18" charset="0"/>
              </a:rPr>
              <a:t> ports</a:t>
            </a:r>
          </a:p>
        </p:txBody>
      </p:sp>
    </p:spTree>
    <p:extLst>
      <p:ext uri="{BB962C8B-B14F-4D97-AF65-F5344CB8AC3E}">
        <p14:creationId xmlns:p14="http://schemas.microsoft.com/office/powerpoint/2010/main" val="935678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witchport Access Mode vs Trunk Mode - IP With Ease">
            <a:extLst>
              <a:ext uri="{FF2B5EF4-FFF2-40B4-BE49-F238E27FC236}">
                <a16:creationId xmlns:a16="http://schemas.microsoft.com/office/drawing/2014/main" id="{B3C3E55B-8B26-F2E6-3581-A45A578A46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3307" y="3429000"/>
            <a:ext cx="5682209" cy="323175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69E6F94-259A-5A1A-EBFF-4802B655F449}"/>
              </a:ext>
            </a:extLst>
          </p:cNvPr>
          <p:cNvSpPr txBox="1"/>
          <p:nvPr/>
        </p:nvSpPr>
        <p:spPr>
          <a:xfrm>
            <a:off x="1125860" y="1156580"/>
            <a:ext cx="4824537" cy="1704569"/>
          </a:xfrm>
          <a:prstGeom prst="rect">
            <a:avLst/>
          </a:prstGeom>
          <a:noFill/>
        </p:spPr>
        <p:txBody>
          <a:bodyPr wrap="square">
            <a:spAutoFit/>
          </a:bodyPr>
          <a:lstStyle/>
          <a:p>
            <a:pPr algn="ctr">
              <a:lnSpc>
                <a:spcPct val="150000"/>
              </a:lnSpc>
              <a:buNone/>
            </a:pPr>
            <a:r>
              <a:rPr lang="en-US" b="1" dirty="0">
                <a:latin typeface="Times New Roman" panose="02020603050405020304" pitchFamily="18" charset="0"/>
                <a:cs typeface="Times New Roman" panose="02020603050405020304" pitchFamily="18" charset="0"/>
              </a:rPr>
              <a:t>Access Port</a:t>
            </a:r>
          </a:p>
          <a:p>
            <a:pPr marL="285750" indent="-285750" algn="ct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Belongs to </a:t>
            </a:r>
            <a:r>
              <a:rPr lang="en-US" b="1" dirty="0">
                <a:latin typeface="Times New Roman" panose="02020603050405020304" pitchFamily="18" charset="0"/>
                <a:cs typeface="Times New Roman" panose="02020603050405020304" pitchFamily="18" charset="0"/>
              </a:rPr>
              <a:t>one VLAN only</a:t>
            </a:r>
            <a:endParaRPr lang="en-US" dirty="0">
              <a:latin typeface="Times New Roman" panose="02020603050405020304" pitchFamily="18" charset="0"/>
              <a:cs typeface="Times New Roman" panose="02020603050405020304" pitchFamily="18" charset="0"/>
            </a:endParaRPr>
          </a:p>
          <a:p>
            <a:pPr marL="285750" indent="-285750" algn="ct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Used for end devices (PCs, printers, IP phones)</a:t>
            </a:r>
          </a:p>
          <a:p>
            <a:pPr marL="285750" indent="-285750" algn="ct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Sends/receives </a:t>
            </a:r>
            <a:r>
              <a:rPr lang="en-US" b="1" dirty="0">
                <a:latin typeface="Times New Roman" panose="02020603050405020304" pitchFamily="18" charset="0"/>
                <a:cs typeface="Times New Roman" panose="02020603050405020304" pitchFamily="18" charset="0"/>
              </a:rPr>
              <a:t>untagged</a:t>
            </a:r>
            <a:r>
              <a:rPr lang="en-US" dirty="0">
                <a:latin typeface="Times New Roman" panose="02020603050405020304" pitchFamily="18" charset="0"/>
                <a:cs typeface="Times New Roman" panose="02020603050405020304" pitchFamily="18" charset="0"/>
              </a:rPr>
              <a:t> frames</a:t>
            </a:r>
          </a:p>
        </p:txBody>
      </p:sp>
      <p:sp>
        <p:nvSpPr>
          <p:cNvPr id="5" name="TextBox 4">
            <a:extLst>
              <a:ext uri="{FF2B5EF4-FFF2-40B4-BE49-F238E27FC236}">
                <a16:creationId xmlns:a16="http://schemas.microsoft.com/office/drawing/2014/main" id="{ABB0C23E-3D55-A690-44DA-B0BD4C88C215}"/>
              </a:ext>
            </a:extLst>
          </p:cNvPr>
          <p:cNvSpPr txBox="1"/>
          <p:nvPr/>
        </p:nvSpPr>
        <p:spPr>
          <a:xfrm>
            <a:off x="5230316" y="1124744"/>
            <a:ext cx="6098796" cy="2120068"/>
          </a:xfrm>
          <a:prstGeom prst="rect">
            <a:avLst/>
          </a:prstGeom>
          <a:noFill/>
        </p:spPr>
        <p:txBody>
          <a:bodyPr wrap="square">
            <a:spAutoFit/>
          </a:bodyPr>
          <a:lstStyle/>
          <a:p>
            <a:pPr algn="ctr">
              <a:lnSpc>
                <a:spcPct val="150000"/>
              </a:lnSpc>
              <a:buNone/>
            </a:pPr>
            <a:r>
              <a:rPr lang="en-US" b="1" dirty="0">
                <a:latin typeface="Times New Roman" panose="02020603050405020304" pitchFamily="18" charset="0"/>
                <a:cs typeface="Times New Roman" panose="02020603050405020304" pitchFamily="18" charset="0"/>
              </a:rPr>
              <a:t>Trunk Port</a:t>
            </a:r>
          </a:p>
          <a:p>
            <a:pPr marL="285750" indent="-285750" algn="ct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Carries </a:t>
            </a:r>
            <a:r>
              <a:rPr lang="en-US" b="1" dirty="0">
                <a:latin typeface="Times New Roman" panose="02020603050405020304" pitchFamily="18" charset="0"/>
                <a:cs typeface="Times New Roman" panose="02020603050405020304" pitchFamily="18" charset="0"/>
              </a:rPr>
              <a:t>multiple VLANs</a:t>
            </a:r>
            <a:endParaRPr lang="en-US" dirty="0">
              <a:latin typeface="Times New Roman" panose="02020603050405020304" pitchFamily="18" charset="0"/>
              <a:cs typeface="Times New Roman" panose="02020603050405020304" pitchFamily="18" charset="0"/>
            </a:endParaRPr>
          </a:p>
          <a:p>
            <a:pPr marL="285750" indent="-285750" algn="ct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Used between switches, routers, and servers</a:t>
            </a:r>
          </a:p>
          <a:p>
            <a:pPr marL="285750" indent="-285750" algn="ct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Frames are </a:t>
            </a:r>
            <a:r>
              <a:rPr lang="en-US" b="1" dirty="0">
                <a:latin typeface="Times New Roman" panose="02020603050405020304" pitchFamily="18" charset="0"/>
                <a:cs typeface="Times New Roman" panose="02020603050405020304" pitchFamily="18" charset="0"/>
              </a:rPr>
              <a:t>tagged</a:t>
            </a:r>
            <a:r>
              <a:rPr lang="en-US" dirty="0">
                <a:latin typeface="Times New Roman" panose="02020603050405020304" pitchFamily="18" charset="0"/>
                <a:cs typeface="Times New Roman" panose="02020603050405020304" pitchFamily="18" charset="0"/>
              </a:rPr>
              <a:t> with VLAN ID</a:t>
            </a:r>
          </a:p>
          <a:p>
            <a:pPr marL="285750" indent="-285750" algn="ct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the </a:t>
            </a:r>
            <a:r>
              <a:rPr lang="en-US" b="1" dirty="0">
                <a:latin typeface="Times New Roman" panose="02020603050405020304" pitchFamily="18" charset="0"/>
                <a:cs typeface="Times New Roman" panose="02020603050405020304" pitchFamily="18" charset="0"/>
              </a:rPr>
              <a:t>802.1Q</a:t>
            </a:r>
            <a:r>
              <a:rPr lang="en-US" dirty="0">
                <a:latin typeface="Times New Roman" panose="02020603050405020304" pitchFamily="18" charset="0"/>
                <a:cs typeface="Times New Roman" panose="02020603050405020304" pitchFamily="18" charset="0"/>
              </a:rPr>
              <a:t> tagging standard</a:t>
            </a:r>
          </a:p>
        </p:txBody>
      </p:sp>
      <p:sp>
        <p:nvSpPr>
          <p:cNvPr id="7" name="TextBox 6">
            <a:extLst>
              <a:ext uri="{FF2B5EF4-FFF2-40B4-BE49-F238E27FC236}">
                <a16:creationId xmlns:a16="http://schemas.microsoft.com/office/drawing/2014/main" id="{E18B52E0-6023-9DD8-AED2-666C539C2796}"/>
              </a:ext>
            </a:extLst>
          </p:cNvPr>
          <p:cNvSpPr txBox="1"/>
          <p:nvPr/>
        </p:nvSpPr>
        <p:spPr>
          <a:xfrm>
            <a:off x="3009360" y="334397"/>
            <a:ext cx="6170102" cy="646331"/>
          </a:xfrm>
          <a:prstGeom prst="rect">
            <a:avLst/>
          </a:prstGeom>
          <a:noFill/>
        </p:spPr>
        <p:txBody>
          <a:bodyPr wrap="square">
            <a:spAutoFit/>
          </a:bodyPr>
          <a:lstStyle/>
          <a:p>
            <a:r>
              <a:rPr lang="sv-SE" sz="3600" b="1" dirty="0">
                <a:latin typeface="Times New Roman" panose="02020603050405020304" pitchFamily="18" charset="0"/>
                <a:cs typeface="Times New Roman" panose="02020603050405020304" pitchFamily="18" charset="0"/>
              </a:rPr>
              <a:t>Access Ports vs Trunk Ports</a:t>
            </a:r>
            <a:endParaRPr lang="fr-DZ"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9370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3BEC59-D6CA-82C0-AAE3-DB1A93604A43}"/>
              </a:ext>
            </a:extLst>
          </p:cNvPr>
          <p:cNvSpPr txBox="1"/>
          <p:nvPr/>
        </p:nvSpPr>
        <p:spPr>
          <a:xfrm>
            <a:off x="1629916" y="1196752"/>
            <a:ext cx="9937103" cy="923330"/>
          </a:xfrm>
          <a:prstGeom prst="rect">
            <a:avLst/>
          </a:prstGeom>
          <a:noFill/>
        </p:spPr>
        <p:txBody>
          <a:bodyPr wrap="square">
            <a:spAutoFit/>
          </a:bodyPr>
          <a:lstStyle/>
          <a:p>
            <a:pPr algn="just"/>
            <a:r>
              <a:rPr lang="en-US" b="0" i="0" dirty="0">
                <a:effectLst/>
                <a:latin typeface="Times New Roman" panose="02020603050405020304" pitchFamily="18" charset="0"/>
                <a:cs typeface="Times New Roman" panose="02020603050405020304" pitchFamily="18" charset="0"/>
              </a:rPr>
              <a:t>VLAN </a:t>
            </a:r>
            <a:r>
              <a:rPr lang="en-US" b="0" i="0" dirty="0" err="1">
                <a:effectLst/>
                <a:latin typeface="Times New Roman" panose="02020603050405020304" pitchFamily="18" charset="0"/>
                <a:cs typeface="Times New Roman" panose="02020603050405020304" pitchFamily="18" charset="0"/>
              </a:rPr>
              <a:t>trunking</a:t>
            </a:r>
            <a:r>
              <a:rPr lang="en-US" b="0" i="0" dirty="0">
                <a:effectLst/>
                <a:latin typeface="Times New Roman" panose="02020603050405020304" pitchFamily="18" charset="0"/>
                <a:cs typeface="Times New Roman" panose="02020603050405020304" pitchFamily="18" charset="0"/>
              </a:rPr>
              <a:t> is a networking feature that allows multiple Virtual Local Area Networks (VLANs) to traverse a single physical connection. By tagging network traffic with VLAN information, devices such as switches and routers can manage and isolate traffic without needing a dedicated port for each VLAN.</a:t>
            </a:r>
            <a:endParaRPr lang="fr-DZ"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E4BECE2-0E18-9E77-8FE8-EAF16D01E8CE}"/>
              </a:ext>
            </a:extLst>
          </p:cNvPr>
          <p:cNvSpPr txBox="1"/>
          <p:nvPr/>
        </p:nvSpPr>
        <p:spPr>
          <a:xfrm>
            <a:off x="3551166" y="404664"/>
            <a:ext cx="6094602" cy="646331"/>
          </a:xfrm>
          <a:prstGeom prst="rect">
            <a:avLst/>
          </a:prstGeom>
          <a:noFill/>
        </p:spPr>
        <p:txBody>
          <a:bodyPr wrap="square">
            <a:spAutoFit/>
          </a:bodyPr>
          <a:lstStyle/>
          <a:p>
            <a:r>
              <a:rPr lang="en-US" sz="3600" b="1" i="0" dirty="0">
                <a:effectLst/>
                <a:latin typeface="Times New Roman" panose="02020603050405020304" pitchFamily="18" charset="0"/>
                <a:cs typeface="Times New Roman" panose="02020603050405020304" pitchFamily="18" charset="0"/>
              </a:rPr>
              <a:t>VLAN </a:t>
            </a:r>
            <a:r>
              <a:rPr lang="en-US" sz="3600" b="1" dirty="0" err="1">
                <a:latin typeface="Times New Roman" panose="02020603050405020304" pitchFamily="18" charset="0"/>
                <a:cs typeface="Times New Roman" panose="02020603050405020304" pitchFamily="18" charset="0"/>
              </a:rPr>
              <a:t>T</a:t>
            </a:r>
            <a:r>
              <a:rPr lang="en-US" sz="3600" b="1" i="0" dirty="0" err="1">
                <a:effectLst/>
                <a:latin typeface="Times New Roman" panose="02020603050405020304" pitchFamily="18" charset="0"/>
                <a:cs typeface="Times New Roman" panose="02020603050405020304" pitchFamily="18" charset="0"/>
              </a:rPr>
              <a:t>runking</a:t>
            </a:r>
            <a:r>
              <a:rPr lang="en-US" sz="3600" b="1" i="0" dirty="0">
                <a:effectLst/>
                <a:latin typeface="Times New Roman" panose="02020603050405020304" pitchFamily="18" charset="0"/>
                <a:cs typeface="Times New Roman" panose="02020603050405020304" pitchFamily="18" charset="0"/>
              </a:rPr>
              <a:t> </a:t>
            </a:r>
            <a:r>
              <a:rPr lang="en-US" sz="3600" b="1" i="0" dirty="0" err="1">
                <a:effectLst/>
                <a:latin typeface="Times New Roman" panose="02020603050405020304" pitchFamily="18" charset="0"/>
                <a:cs typeface="Times New Roman" panose="02020603050405020304" pitchFamily="18" charset="0"/>
              </a:rPr>
              <a:t>Protocole</a:t>
            </a:r>
            <a:r>
              <a:rPr lang="en-US" sz="3600" b="1" i="0" dirty="0">
                <a:effectLst/>
                <a:latin typeface="Times New Roman" panose="02020603050405020304" pitchFamily="18" charset="0"/>
                <a:cs typeface="Times New Roman" panose="02020603050405020304" pitchFamily="18" charset="0"/>
              </a:rPr>
              <a:t> </a:t>
            </a:r>
            <a:endParaRPr lang="fr-DZ" sz="36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5EBB563-2BDF-FFE9-2431-8F0286E7AEB9}"/>
              </a:ext>
            </a:extLst>
          </p:cNvPr>
          <p:cNvSpPr txBox="1"/>
          <p:nvPr/>
        </p:nvSpPr>
        <p:spPr>
          <a:xfrm>
            <a:off x="1629916" y="2420888"/>
            <a:ext cx="6094602" cy="1754326"/>
          </a:xfrm>
          <a:prstGeom prst="rect">
            <a:avLst/>
          </a:prstGeom>
          <a:noFill/>
        </p:spPr>
        <p:txBody>
          <a:bodyPr wrap="square">
            <a:spAutoFit/>
          </a:bodyPr>
          <a:lstStyle/>
          <a:p>
            <a:pPr>
              <a:buNone/>
            </a:pPr>
            <a:r>
              <a:rPr lang="fr-FR" b="1" dirty="0">
                <a:latin typeface="Times New Roman" panose="02020603050405020304" pitchFamily="18" charset="0"/>
                <a:cs typeface="Times New Roman" panose="02020603050405020304" pitchFamily="18" charset="0"/>
              </a:rPr>
              <a:t>IEEE 802.1Q (Standard)</a:t>
            </a:r>
          </a:p>
          <a:p>
            <a:pPr marL="742950" lvl="1"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Industry</a:t>
            </a:r>
            <a:r>
              <a:rPr lang="fr-FR" dirty="0">
                <a:latin typeface="Times New Roman" panose="02020603050405020304" pitchFamily="18" charset="0"/>
                <a:cs typeface="Times New Roman" panose="02020603050405020304" pitchFamily="18" charset="0"/>
              </a:rPr>
              <a:t> standard VLAN </a:t>
            </a:r>
            <a:r>
              <a:rPr lang="fr-FR" dirty="0" err="1">
                <a:latin typeface="Times New Roman" panose="02020603050405020304" pitchFamily="18" charset="0"/>
                <a:cs typeface="Times New Roman" panose="02020603050405020304" pitchFamily="18" charset="0"/>
              </a:rPr>
              <a:t>tagging</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protocol</a:t>
            </a:r>
            <a:endParaRPr lang="fr-FR"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Inserts a </a:t>
            </a:r>
            <a:r>
              <a:rPr lang="fr-FR" b="1" dirty="0">
                <a:latin typeface="Times New Roman" panose="02020603050405020304" pitchFamily="18" charset="0"/>
                <a:cs typeface="Times New Roman" panose="02020603050405020304" pitchFamily="18" charset="0"/>
              </a:rPr>
              <a:t>VLAN tag</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into</a:t>
            </a:r>
            <a:r>
              <a:rPr lang="fr-FR" dirty="0">
                <a:latin typeface="Times New Roman" panose="02020603050405020304" pitchFamily="18" charset="0"/>
                <a:cs typeface="Times New Roman" panose="02020603050405020304" pitchFamily="18" charset="0"/>
              </a:rPr>
              <a:t> Ethernet frames</a:t>
            </a:r>
          </a:p>
          <a:p>
            <a:pPr marL="742950" lvl="1"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Supports VLAN IDs </a:t>
            </a:r>
            <a:r>
              <a:rPr lang="fr-FR" b="1" dirty="0">
                <a:latin typeface="Times New Roman" panose="02020603050405020304" pitchFamily="18" charset="0"/>
                <a:cs typeface="Times New Roman" panose="02020603050405020304" pitchFamily="18" charset="0"/>
              </a:rPr>
              <a:t>1–4094</a:t>
            </a:r>
            <a:endParaRPr lang="fr-FR"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Uses a </a:t>
            </a:r>
            <a:r>
              <a:rPr lang="fr-FR" b="1" dirty="0">
                <a:latin typeface="Times New Roman" panose="02020603050405020304" pitchFamily="18" charset="0"/>
                <a:cs typeface="Times New Roman" panose="02020603050405020304" pitchFamily="18" charset="0"/>
              </a:rPr>
              <a:t>Native VLAN</a:t>
            </a:r>
            <a:r>
              <a:rPr lang="fr-FR" dirty="0">
                <a:latin typeface="Times New Roman" panose="02020603050405020304" pitchFamily="18" charset="0"/>
                <a:cs typeface="Times New Roman" panose="02020603050405020304" pitchFamily="18" charset="0"/>
              </a:rPr>
              <a:t> for </a:t>
            </a:r>
            <a:r>
              <a:rPr lang="fr-FR" dirty="0" err="1">
                <a:latin typeface="Times New Roman" panose="02020603050405020304" pitchFamily="18" charset="0"/>
                <a:cs typeface="Times New Roman" panose="02020603050405020304" pitchFamily="18" charset="0"/>
              </a:rPr>
              <a:t>untagged</a:t>
            </a:r>
            <a:r>
              <a:rPr lang="fr-FR" dirty="0">
                <a:latin typeface="Times New Roman" panose="02020603050405020304" pitchFamily="18" charset="0"/>
                <a:cs typeface="Times New Roman" panose="02020603050405020304" pitchFamily="18" charset="0"/>
              </a:rPr>
              <a:t> frames</a:t>
            </a:r>
          </a:p>
          <a:p>
            <a:pPr marL="742950" lvl="1" indent="-285750">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Supported</a:t>
            </a:r>
            <a:r>
              <a:rPr lang="fr-FR" dirty="0">
                <a:latin typeface="Times New Roman" panose="02020603050405020304" pitchFamily="18" charset="0"/>
                <a:cs typeface="Times New Roman" panose="02020603050405020304" pitchFamily="18" charset="0"/>
              </a:rPr>
              <a:t> by all </a:t>
            </a:r>
            <a:r>
              <a:rPr lang="fr-FR" dirty="0" err="1">
                <a:latin typeface="Times New Roman" panose="02020603050405020304" pitchFamily="18" charset="0"/>
                <a:cs typeface="Times New Roman" panose="02020603050405020304" pitchFamily="18" charset="0"/>
              </a:rPr>
              <a:t>vendors</a:t>
            </a:r>
            <a:endParaRPr lang="fr-FR" dirty="0">
              <a:latin typeface="Times New Roman" panose="02020603050405020304" pitchFamily="18" charset="0"/>
              <a:cs typeface="Times New Roman" panose="02020603050405020304" pitchFamily="18" charset="0"/>
            </a:endParaRPr>
          </a:p>
        </p:txBody>
      </p:sp>
      <p:pic>
        <p:nvPicPr>
          <p:cNvPr id="4098" name="Picture 2" descr="Trunking protocols – ConfigNetworks">
            <a:extLst>
              <a:ext uri="{FF2B5EF4-FFF2-40B4-BE49-F238E27FC236}">
                <a16:creationId xmlns:a16="http://schemas.microsoft.com/office/drawing/2014/main" id="{2D329A63-295A-7F11-B122-7541E483AC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6060" y="4293096"/>
            <a:ext cx="6924675" cy="2076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7618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D8952-6BF6-59F9-6DFA-CC8F6C1503F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B9C4C47-29F4-68DE-31AA-99B0C29E350B}"/>
              </a:ext>
            </a:extLst>
          </p:cNvPr>
          <p:cNvSpPr>
            <a:spLocks noGrp="1"/>
          </p:cNvSpPr>
          <p:nvPr>
            <p:ph type="title"/>
          </p:nvPr>
        </p:nvSpPr>
        <p:spPr>
          <a:xfrm>
            <a:off x="981844" y="3543976"/>
            <a:ext cx="9541060" cy="2117272"/>
          </a:xfrm>
        </p:spPr>
        <p:txBody>
          <a:bodyPr>
            <a:normAutofit/>
          </a:bodyPr>
          <a:lstStyle/>
          <a:p>
            <a:pPr lvl="0" eaLnBrk="0" fontAlgn="base" hangingPunct="0">
              <a:lnSpc>
                <a:spcPct val="100000"/>
              </a:lnSpc>
              <a:spcAft>
                <a:spcPct val="0"/>
              </a:spcAft>
              <a:buFontTx/>
              <a:buChar char="•"/>
            </a:pPr>
            <a:r>
              <a:rPr lang="en-US" sz="1800" dirty="0">
                <a:latin typeface="Times New Roman" panose="02020603050405020304" pitchFamily="18" charset="0"/>
                <a:cs typeface="Times New Roman" panose="02020603050405020304" pitchFamily="18" charset="0"/>
              </a:rPr>
              <a:t>Objective: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fr-DZ" altLang="fr-DZ" sz="1800" dirty="0" err="1">
                <a:solidFill>
                  <a:schemeClr val="tx1"/>
                </a:solidFill>
                <a:latin typeface="Times New Roman" panose="02020603050405020304" pitchFamily="18" charset="0"/>
                <a:cs typeface="Times New Roman" panose="02020603050405020304" pitchFamily="18" charset="0"/>
              </a:rPr>
              <a:t>Understand</a:t>
            </a:r>
            <a:r>
              <a:rPr lang="fr-DZ" altLang="fr-DZ" sz="1800" dirty="0">
                <a:solidFill>
                  <a:schemeClr val="tx1"/>
                </a:solidFill>
                <a:latin typeface="Times New Roman" panose="02020603050405020304" pitchFamily="18" charset="0"/>
                <a:cs typeface="Times New Roman" panose="02020603050405020304" pitchFamily="18" charset="0"/>
              </a:rPr>
              <a:t> the </a:t>
            </a:r>
            <a:r>
              <a:rPr lang="fr-DZ" altLang="fr-DZ" sz="1800" b="1" dirty="0" err="1">
                <a:solidFill>
                  <a:schemeClr val="tx1"/>
                </a:solidFill>
                <a:latin typeface="Times New Roman" panose="02020603050405020304" pitchFamily="18" charset="0"/>
                <a:cs typeface="Times New Roman" panose="02020603050405020304" pitchFamily="18" charset="0"/>
              </a:rPr>
              <a:t>role</a:t>
            </a:r>
            <a:r>
              <a:rPr lang="fr-DZ" altLang="fr-DZ" sz="1800" b="1" dirty="0">
                <a:solidFill>
                  <a:schemeClr val="tx1"/>
                </a:solidFill>
                <a:latin typeface="Times New Roman" panose="02020603050405020304" pitchFamily="18" charset="0"/>
                <a:cs typeface="Times New Roman" panose="02020603050405020304" pitchFamily="18" charset="0"/>
              </a:rPr>
              <a:t> and importance of network management</a:t>
            </a:r>
            <a:r>
              <a:rPr lang="fr-DZ" altLang="fr-DZ" sz="1800" dirty="0">
                <a:solidFill>
                  <a:schemeClr val="tx1"/>
                </a:solidFill>
                <a:latin typeface="Times New Roman" panose="02020603050405020304" pitchFamily="18" charset="0"/>
                <a:cs typeface="Times New Roman" panose="02020603050405020304" pitchFamily="18" charset="0"/>
              </a:rPr>
              <a:t> in modern networks.</a:t>
            </a:r>
            <a:br>
              <a:rPr lang="fr-DZ" altLang="fr-DZ" sz="1800" dirty="0">
                <a:solidFill>
                  <a:schemeClr val="tx1"/>
                </a:solidFill>
                <a:latin typeface="Times New Roman" panose="02020603050405020304" pitchFamily="18" charset="0"/>
                <a:cs typeface="Times New Roman" panose="02020603050405020304" pitchFamily="18" charset="0"/>
              </a:rPr>
            </a:br>
            <a:r>
              <a:rPr lang="fr-FR" altLang="fr-DZ" sz="1800" dirty="0">
                <a:solidFill>
                  <a:schemeClr val="tx1"/>
                </a:solidFill>
                <a:latin typeface="Times New Roman" panose="02020603050405020304" pitchFamily="18" charset="0"/>
                <a:cs typeface="Times New Roman" panose="02020603050405020304" pitchFamily="18" charset="0"/>
              </a:rPr>
              <a:t>	</a:t>
            </a:r>
            <a:r>
              <a:rPr lang="fr-DZ" altLang="fr-DZ" sz="1800" dirty="0" err="1">
                <a:solidFill>
                  <a:schemeClr val="tx1"/>
                </a:solidFill>
                <a:latin typeface="Times New Roman" panose="02020603050405020304" pitchFamily="18" charset="0"/>
                <a:cs typeface="Times New Roman" panose="02020603050405020304" pitchFamily="18" charset="0"/>
              </a:rPr>
              <a:t>Explain</a:t>
            </a:r>
            <a:r>
              <a:rPr lang="fr-DZ" altLang="fr-DZ" sz="1800" dirty="0">
                <a:solidFill>
                  <a:schemeClr val="tx1"/>
                </a:solidFill>
                <a:latin typeface="Times New Roman" panose="02020603050405020304" pitchFamily="18" charset="0"/>
                <a:cs typeface="Times New Roman" panose="02020603050405020304" pitchFamily="18" charset="0"/>
              </a:rPr>
              <a:t> </a:t>
            </a:r>
            <a:r>
              <a:rPr lang="fr-DZ" altLang="fr-DZ" sz="1800" b="1" dirty="0">
                <a:solidFill>
                  <a:schemeClr val="tx1"/>
                </a:solidFill>
                <a:latin typeface="Times New Roman" panose="02020603050405020304" pitchFamily="18" charset="0"/>
                <a:cs typeface="Times New Roman" panose="02020603050405020304" pitchFamily="18" charset="0"/>
              </a:rPr>
              <a:t>network management architectures and </a:t>
            </a:r>
            <a:r>
              <a:rPr lang="fr-DZ" altLang="fr-DZ" sz="1800" b="1" dirty="0" err="1">
                <a:solidFill>
                  <a:schemeClr val="tx1"/>
                </a:solidFill>
                <a:latin typeface="Times New Roman" panose="02020603050405020304" pitchFamily="18" charset="0"/>
                <a:cs typeface="Times New Roman" panose="02020603050405020304" pitchFamily="18" charset="0"/>
              </a:rPr>
              <a:t>frameworks</a:t>
            </a:r>
            <a:r>
              <a:rPr lang="fr-DZ" altLang="fr-DZ" sz="1800" dirty="0">
                <a:solidFill>
                  <a:schemeClr val="tx1"/>
                </a:solidFill>
                <a:latin typeface="Times New Roman" panose="02020603050405020304" pitchFamily="18" charset="0"/>
                <a:cs typeface="Times New Roman" panose="02020603050405020304" pitchFamily="18" charset="0"/>
              </a:rPr>
              <a:t>.</a:t>
            </a:r>
            <a:br>
              <a:rPr lang="fr-DZ" altLang="fr-DZ" sz="1800" dirty="0">
                <a:solidFill>
                  <a:schemeClr val="tx1"/>
                </a:solidFill>
                <a:latin typeface="Times New Roman" panose="02020603050405020304" pitchFamily="18" charset="0"/>
                <a:cs typeface="Times New Roman" panose="02020603050405020304" pitchFamily="18" charset="0"/>
              </a:rPr>
            </a:br>
            <a:r>
              <a:rPr lang="fr-FR" altLang="fr-DZ" sz="1800" dirty="0">
                <a:solidFill>
                  <a:schemeClr val="tx1"/>
                </a:solidFill>
                <a:latin typeface="Times New Roman" panose="02020603050405020304" pitchFamily="18" charset="0"/>
                <a:cs typeface="Times New Roman" panose="02020603050405020304" pitchFamily="18" charset="0"/>
              </a:rPr>
              <a:t>	</a:t>
            </a:r>
            <a:r>
              <a:rPr lang="fr-DZ" altLang="fr-DZ" sz="1800" dirty="0" err="1">
                <a:solidFill>
                  <a:schemeClr val="tx1"/>
                </a:solidFill>
                <a:latin typeface="Times New Roman" panose="02020603050405020304" pitchFamily="18" charset="0"/>
                <a:cs typeface="Times New Roman" panose="02020603050405020304" pitchFamily="18" charset="0"/>
              </a:rPr>
              <a:t>Describe</a:t>
            </a:r>
            <a:r>
              <a:rPr lang="fr-DZ" altLang="fr-DZ" sz="1800" dirty="0">
                <a:solidFill>
                  <a:schemeClr val="tx1"/>
                </a:solidFill>
                <a:latin typeface="Times New Roman" panose="02020603050405020304" pitchFamily="18" charset="0"/>
                <a:cs typeface="Times New Roman" panose="02020603050405020304" pitchFamily="18" charset="0"/>
              </a:rPr>
              <a:t> key </a:t>
            </a:r>
            <a:r>
              <a:rPr lang="fr-DZ" altLang="fr-DZ" sz="1800" b="1" dirty="0">
                <a:solidFill>
                  <a:schemeClr val="tx1"/>
                </a:solidFill>
                <a:latin typeface="Times New Roman" panose="02020603050405020304" pitchFamily="18" charset="0"/>
                <a:cs typeface="Times New Roman" panose="02020603050405020304" pitchFamily="18" charset="0"/>
              </a:rPr>
              <a:t>monitoring </a:t>
            </a:r>
            <a:r>
              <a:rPr lang="fr-DZ" altLang="fr-DZ" sz="1800" b="1" dirty="0" err="1">
                <a:solidFill>
                  <a:schemeClr val="tx1"/>
                </a:solidFill>
                <a:latin typeface="Times New Roman" panose="02020603050405020304" pitchFamily="18" charset="0"/>
                <a:cs typeface="Times New Roman" panose="02020603050405020304" pitchFamily="18" charset="0"/>
              </a:rPr>
              <a:t>protocols</a:t>
            </a:r>
            <a:r>
              <a:rPr lang="fr-DZ" altLang="fr-DZ" sz="1800" b="1" dirty="0">
                <a:solidFill>
                  <a:schemeClr val="tx1"/>
                </a:solidFill>
                <a:latin typeface="Times New Roman" panose="02020603050405020304" pitchFamily="18" charset="0"/>
                <a:cs typeface="Times New Roman" panose="02020603050405020304" pitchFamily="18" charset="0"/>
              </a:rPr>
              <a:t> and </a:t>
            </a:r>
            <a:r>
              <a:rPr lang="fr-DZ" altLang="fr-DZ" sz="1800" b="1" dirty="0" err="1">
                <a:solidFill>
                  <a:schemeClr val="tx1"/>
                </a:solidFill>
                <a:latin typeface="Times New Roman" panose="02020603050405020304" pitchFamily="18" charset="0"/>
                <a:cs typeface="Times New Roman" panose="02020603050405020304" pitchFamily="18" charset="0"/>
              </a:rPr>
              <a:t>tools</a:t>
            </a:r>
            <a:r>
              <a:rPr lang="fr-DZ" altLang="fr-DZ" sz="1800" dirty="0">
                <a:solidFill>
                  <a:schemeClr val="tx1"/>
                </a:solidFill>
                <a:latin typeface="Times New Roman" panose="02020603050405020304" pitchFamily="18" charset="0"/>
                <a:cs typeface="Times New Roman" panose="02020603050405020304" pitchFamily="18" charset="0"/>
              </a:rPr>
              <a:t>.</a:t>
            </a:r>
            <a:br>
              <a:rPr lang="fr-DZ" altLang="fr-DZ" sz="1800" dirty="0">
                <a:solidFill>
                  <a:schemeClr val="tx1"/>
                </a:solidFill>
                <a:latin typeface="Times New Roman" panose="02020603050405020304" pitchFamily="18" charset="0"/>
                <a:cs typeface="Times New Roman" panose="02020603050405020304" pitchFamily="18" charset="0"/>
              </a:rPr>
            </a:br>
            <a:r>
              <a:rPr lang="fr-FR" altLang="fr-DZ" sz="1800" dirty="0">
                <a:solidFill>
                  <a:schemeClr val="tx1"/>
                </a:solidFill>
                <a:latin typeface="Times New Roman" panose="02020603050405020304" pitchFamily="18" charset="0"/>
                <a:cs typeface="Times New Roman" panose="02020603050405020304" pitchFamily="18" charset="0"/>
              </a:rPr>
              <a:t>	</a:t>
            </a:r>
            <a:r>
              <a:rPr lang="fr-DZ" altLang="fr-DZ" sz="1800" dirty="0" err="1">
                <a:solidFill>
                  <a:schemeClr val="tx1"/>
                </a:solidFill>
                <a:latin typeface="Times New Roman" panose="02020603050405020304" pitchFamily="18" charset="0"/>
                <a:cs typeface="Times New Roman" panose="02020603050405020304" pitchFamily="18" charset="0"/>
              </a:rPr>
              <a:t>Analyze</a:t>
            </a:r>
            <a:r>
              <a:rPr lang="fr-DZ" altLang="fr-DZ" sz="1800" dirty="0">
                <a:solidFill>
                  <a:schemeClr val="tx1"/>
                </a:solidFill>
                <a:latin typeface="Times New Roman" panose="02020603050405020304" pitchFamily="18" charset="0"/>
                <a:cs typeface="Times New Roman" panose="02020603050405020304" pitchFamily="18" charset="0"/>
              </a:rPr>
              <a:t> </a:t>
            </a:r>
            <a:r>
              <a:rPr lang="fr-DZ" altLang="fr-DZ" sz="1800" b="1" dirty="0">
                <a:solidFill>
                  <a:schemeClr val="tx1"/>
                </a:solidFill>
                <a:latin typeface="Times New Roman" panose="02020603050405020304" pitchFamily="18" charset="0"/>
                <a:cs typeface="Times New Roman" panose="02020603050405020304" pitchFamily="18" charset="0"/>
              </a:rPr>
              <a:t>performance, </a:t>
            </a:r>
            <a:r>
              <a:rPr lang="fr-DZ" altLang="fr-DZ" sz="1800" b="1" dirty="0" err="1">
                <a:solidFill>
                  <a:schemeClr val="tx1"/>
                </a:solidFill>
                <a:latin typeface="Times New Roman" panose="02020603050405020304" pitchFamily="18" charset="0"/>
                <a:cs typeface="Times New Roman" panose="02020603050405020304" pitchFamily="18" charset="0"/>
              </a:rPr>
              <a:t>fault</a:t>
            </a:r>
            <a:r>
              <a:rPr lang="fr-DZ" altLang="fr-DZ" sz="1800" b="1" dirty="0">
                <a:solidFill>
                  <a:schemeClr val="tx1"/>
                </a:solidFill>
                <a:latin typeface="Times New Roman" panose="02020603050405020304" pitchFamily="18" charset="0"/>
                <a:cs typeface="Times New Roman" panose="02020603050405020304" pitchFamily="18" charset="0"/>
              </a:rPr>
              <a:t>, and configuration management</a:t>
            </a:r>
            <a:r>
              <a:rPr lang="fr-DZ" altLang="fr-DZ" sz="1800" dirty="0">
                <a:solidFill>
                  <a:schemeClr val="tx1"/>
                </a:solidFill>
                <a:latin typeface="Times New Roman" panose="02020603050405020304" pitchFamily="18" charset="0"/>
                <a:cs typeface="Times New Roman" panose="02020603050405020304" pitchFamily="18" charset="0"/>
              </a:rPr>
              <a:t>.</a:t>
            </a:r>
            <a:br>
              <a:rPr lang="fr-DZ" altLang="fr-DZ" sz="1800" dirty="0">
                <a:solidFill>
                  <a:schemeClr val="tx1"/>
                </a:solidFill>
                <a:latin typeface="Times New Roman" panose="02020603050405020304" pitchFamily="18" charset="0"/>
                <a:cs typeface="Times New Roman" panose="02020603050405020304" pitchFamily="18" charset="0"/>
              </a:rPr>
            </a:br>
            <a:r>
              <a:rPr lang="fr-FR" altLang="fr-DZ" sz="1800" dirty="0">
                <a:solidFill>
                  <a:schemeClr val="tx1"/>
                </a:solidFill>
                <a:latin typeface="Times New Roman" panose="02020603050405020304" pitchFamily="18" charset="0"/>
                <a:cs typeface="Times New Roman" panose="02020603050405020304" pitchFamily="18" charset="0"/>
              </a:rPr>
              <a:t>	</a:t>
            </a:r>
            <a:r>
              <a:rPr lang="fr-DZ" altLang="fr-DZ" sz="1800" dirty="0">
                <a:solidFill>
                  <a:schemeClr val="tx1"/>
                </a:solidFill>
                <a:latin typeface="Times New Roman" panose="02020603050405020304" pitchFamily="18" charset="0"/>
                <a:cs typeface="Times New Roman" panose="02020603050405020304" pitchFamily="18" charset="0"/>
              </a:rPr>
              <a:t>Apply </a:t>
            </a:r>
            <a:r>
              <a:rPr lang="fr-DZ" altLang="fr-DZ" sz="1800" dirty="0" err="1">
                <a:solidFill>
                  <a:schemeClr val="tx1"/>
                </a:solidFill>
                <a:latin typeface="Times New Roman" panose="02020603050405020304" pitchFamily="18" charset="0"/>
                <a:cs typeface="Times New Roman" panose="02020603050405020304" pitchFamily="18" charset="0"/>
              </a:rPr>
              <a:t>systematic</a:t>
            </a:r>
            <a:r>
              <a:rPr lang="fr-DZ" altLang="fr-DZ" sz="1800" dirty="0">
                <a:solidFill>
                  <a:schemeClr val="tx1"/>
                </a:solidFill>
                <a:latin typeface="Times New Roman" panose="02020603050405020304" pitchFamily="18" charset="0"/>
                <a:cs typeface="Times New Roman" panose="02020603050405020304" pitchFamily="18" charset="0"/>
              </a:rPr>
              <a:t> </a:t>
            </a:r>
            <a:r>
              <a:rPr lang="fr-DZ" altLang="fr-DZ" sz="1800" b="1" dirty="0">
                <a:solidFill>
                  <a:schemeClr val="tx1"/>
                </a:solidFill>
                <a:latin typeface="Times New Roman" panose="02020603050405020304" pitchFamily="18" charset="0"/>
                <a:cs typeface="Times New Roman" panose="02020603050405020304" pitchFamily="18" charset="0"/>
              </a:rPr>
              <a:t>network troubleshooting </a:t>
            </a:r>
            <a:r>
              <a:rPr lang="fr-DZ" altLang="fr-DZ" sz="1800" b="1" dirty="0" err="1">
                <a:solidFill>
                  <a:schemeClr val="tx1"/>
                </a:solidFill>
                <a:latin typeface="Times New Roman" panose="02020603050405020304" pitchFamily="18" charset="0"/>
                <a:cs typeface="Times New Roman" panose="02020603050405020304" pitchFamily="18" charset="0"/>
              </a:rPr>
              <a:t>methodologies</a:t>
            </a:r>
            <a:br>
              <a:rPr lang="fr-DZ" altLang="fr-DZ" sz="1800" dirty="0">
                <a:solidFill>
                  <a:schemeClr val="tx1"/>
                </a:solidFill>
                <a:latin typeface="Arial" panose="020B0604020202020204" pitchFamily="34" charset="0"/>
              </a:rPr>
            </a:br>
            <a:endParaRPr lang="en-US" sz="1800" dirty="0"/>
          </a:p>
        </p:txBody>
      </p:sp>
      <p:sp>
        <p:nvSpPr>
          <p:cNvPr id="7" name="Text Placeholder 4">
            <a:extLst>
              <a:ext uri="{FF2B5EF4-FFF2-40B4-BE49-F238E27FC236}">
                <a16:creationId xmlns:a16="http://schemas.microsoft.com/office/drawing/2014/main" id="{52712954-D3D1-E63C-9411-F612A70048C3}"/>
              </a:ext>
            </a:extLst>
          </p:cNvPr>
          <p:cNvSpPr>
            <a:spLocks noGrp="1"/>
          </p:cNvSpPr>
          <p:nvPr>
            <p:ph type="body" idx="1"/>
          </p:nvPr>
        </p:nvSpPr>
        <p:spPr>
          <a:xfrm>
            <a:off x="981844" y="1124744"/>
            <a:ext cx="7264623" cy="1150203"/>
          </a:xfrm>
        </p:spPr>
        <p:txBody>
          <a:bodyPr/>
          <a:lstStyle/>
          <a:p>
            <a:r>
              <a:rPr lang="fr-FR" dirty="0" err="1">
                <a:latin typeface="Times New Roman" panose="02020603050405020304" pitchFamily="18" charset="0"/>
                <a:cs typeface="Times New Roman" panose="02020603050405020304" pitchFamily="18" charset="0"/>
              </a:rPr>
              <a:t>Chapter</a:t>
            </a:r>
            <a:r>
              <a:rPr lang="fr-FR" dirty="0">
                <a:latin typeface="Times New Roman" panose="02020603050405020304" pitchFamily="18" charset="0"/>
                <a:cs typeface="Times New Roman" panose="02020603050405020304" pitchFamily="18" charset="0"/>
              </a:rPr>
              <a:t> 06</a:t>
            </a:r>
            <a:endParaRPr lang="en-US" dirty="0"/>
          </a:p>
        </p:txBody>
      </p:sp>
      <p:sp>
        <p:nvSpPr>
          <p:cNvPr id="8" name="Title 1">
            <a:extLst>
              <a:ext uri="{FF2B5EF4-FFF2-40B4-BE49-F238E27FC236}">
                <a16:creationId xmlns:a16="http://schemas.microsoft.com/office/drawing/2014/main" id="{86A2ADB6-D5CE-DB99-D5FC-0FD318A7ACB7}"/>
              </a:ext>
            </a:extLst>
          </p:cNvPr>
          <p:cNvSpPr txBox="1">
            <a:spLocks/>
          </p:cNvSpPr>
          <p:nvPr/>
        </p:nvSpPr>
        <p:spPr>
          <a:xfrm>
            <a:off x="1134243" y="1206984"/>
            <a:ext cx="10472463" cy="193398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400" b="0" kern="1200" cap="none" baseline="0">
                <a:solidFill>
                  <a:schemeClr val="tx1">
                    <a:lumMod val="75000"/>
                  </a:schemeClr>
                </a:solidFill>
                <a:latin typeface="+mj-lt"/>
                <a:ea typeface="+mj-ea"/>
                <a:cs typeface="+mj-cs"/>
              </a:defRPr>
            </a:lvl1pPr>
          </a:lstStyle>
          <a:p>
            <a:pPr algn="ctr"/>
            <a:r>
              <a:rPr lang="fr-FR" sz="6000" b="1" dirty="0">
                <a:latin typeface="Bahnschrift Condensed" panose="020B0502040204020203" pitchFamily="34" charset="0"/>
                <a:cs typeface="Times New Roman" panose="02020603050405020304" pitchFamily="18" charset="0"/>
              </a:rPr>
              <a:t>Network Management and Monitoring</a:t>
            </a:r>
            <a:endParaRPr lang="en-US" sz="6000" b="1" dirty="0">
              <a:latin typeface="Bahnschrift Condensed"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3640983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What Is Network Management? - Cisco">
            <a:extLst>
              <a:ext uri="{FF2B5EF4-FFF2-40B4-BE49-F238E27FC236}">
                <a16:creationId xmlns:a16="http://schemas.microsoft.com/office/drawing/2014/main" id="{E56317D3-21A4-A4DF-DBE0-A6DCF1AEB1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3562" y="3379043"/>
            <a:ext cx="5981700" cy="33623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5E8CD58-781A-AE01-F068-9528C37D11F8}"/>
              </a:ext>
            </a:extLst>
          </p:cNvPr>
          <p:cNvSpPr txBox="1"/>
          <p:nvPr/>
        </p:nvSpPr>
        <p:spPr>
          <a:xfrm>
            <a:off x="1233872" y="1146795"/>
            <a:ext cx="9721080" cy="2308324"/>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Network management refers to the </a:t>
            </a:r>
            <a:r>
              <a:rPr lang="en-US" b="1" dirty="0">
                <a:latin typeface="Times New Roman" panose="02020603050405020304" pitchFamily="18" charset="0"/>
                <a:cs typeface="Times New Roman" panose="02020603050405020304" pitchFamily="18" charset="0"/>
              </a:rPr>
              <a:t>administration, operation, monitoring, and maintenance</a:t>
            </a:r>
            <a:r>
              <a:rPr lang="en-US" dirty="0">
                <a:latin typeface="Times New Roman" panose="02020603050405020304" pitchFamily="18" charset="0"/>
                <a:cs typeface="Times New Roman" panose="02020603050405020304" pitchFamily="18" charset="0"/>
              </a:rPr>
              <a:t> of computer networks to ensure: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Availability</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Performance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Reliability</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Security</a:t>
            </a:r>
          </a:p>
          <a:p>
            <a:pPr>
              <a:buNone/>
            </a:pPr>
            <a:r>
              <a:rPr lang="en-US" dirty="0">
                <a:latin typeface="Times New Roman" panose="02020603050405020304" pitchFamily="18" charset="0"/>
                <a:cs typeface="Times New Roman" panose="02020603050405020304" pitchFamily="18" charset="0"/>
              </a:rPr>
              <a:t>It enables network administrators to </a:t>
            </a:r>
            <a:r>
              <a:rPr lang="en-US" b="1" dirty="0">
                <a:latin typeface="Times New Roman" panose="02020603050405020304" pitchFamily="18" charset="0"/>
                <a:cs typeface="Times New Roman" panose="02020603050405020304" pitchFamily="18" charset="0"/>
              </a:rPr>
              <a:t>detect problems, optimize performance, and ensure service continuity</a:t>
            </a:r>
            <a:r>
              <a:rPr lang="en-US"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FA9977CB-1E9F-5093-E489-7083205B2B6A}"/>
              </a:ext>
            </a:extLst>
          </p:cNvPr>
          <p:cNvSpPr txBox="1"/>
          <p:nvPr/>
        </p:nvSpPr>
        <p:spPr>
          <a:xfrm>
            <a:off x="3045014" y="332656"/>
            <a:ext cx="6098796" cy="646331"/>
          </a:xfrm>
          <a:prstGeom prst="rect">
            <a:avLst/>
          </a:prstGeom>
          <a:noFill/>
        </p:spPr>
        <p:txBody>
          <a:bodyPr wrap="square">
            <a:spAutoFit/>
          </a:bodyPr>
          <a:lstStyle/>
          <a:p>
            <a:pPr algn="ctr"/>
            <a:r>
              <a:rPr lang="fr-FR" sz="3600" b="1" dirty="0">
                <a:latin typeface="Times New Roman" panose="02020603050405020304" pitchFamily="18" charset="0"/>
                <a:cs typeface="Times New Roman" panose="02020603050405020304" pitchFamily="18" charset="0"/>
              </a:rPr>
              <a:t>Network Management</a:t>
            </a:r>
            <a:endParaRPr lang="fr-DZ"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0086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36EC74-2B43-D875-D674-5A3114AA1CDE}"/>
              </a:ext>
            </a:extLst>
          </p:cNvPr>
          <p:cNvSpPr txBox="1"/>
          <p:nvPr/>
        </p:nvSpPr>
        <p:spPr>
          <a:xfrm>
            <a:off x="1125860" y="1386056"/>
            <a:ext cx="9505056" cy="4801314"/>
          </a:xfrm>
          <a:prstGeom prst="rect">
            <a:avLst/>
          </a:prstGeom>
          <a:noFill/>
        </p:spPr>
        <p:txBody>
          <a:bodyPr wrap="square">
            <a:spAutoFit/>
          </a:bodyPr>
          <a:lstStyle/>
          <a:p>
            <a:pPr algn="just"/>
            <a:r>
              <a:rPr lang="fr-DZ" dirty="0">
                <a:latin typeface="Times New Roman" panose="02020603050405020304" pitchFamily="18" charset="0"/>
                <a:cs typeface="Times New Roman" panose="02020603050405020304" pitchFamily="18" charset="0"/>
              </a:rPr>
              <a:t>The FCAPS model </a:t>
            </a:r>
            <a:r>
              <a:rPr lang="fr-DZ" dirty="0" err="1">
                <a:latin typeface="Times New Roman" panose="02020603050405020304" pitchFamily="18" charset="0"/>
                <a:cs typeface="Times New Roman" panose="02020603050405020304" pitchFamily="18" charset="0"/>
              </a:rPr>
              <a:t>encompasses</a:t>
            </a:r>
            <a:r>
              <a:rPr lang="fr-DZ" dirty="0">
                <a:latin typeface="Times New Roman" panose="02020603050405020304" pitchFamily="18" charset="0"/>
                <a:cs typeface="Times New Roman" panose="02020603050405020304" pitchFamily="18" charset="0"/>
              </a:rPr>
              <a:t> five distinct management areas, </a:t>
            </a:r>
            <a:r>
              <a:rPr lang="fr-DZ" dirty="0" err="1">
                <a:latin typeface="Times New Roman" panose="02020603050405020304" pitchFamily="18" charset="0"/>
                <a:cs typeface="Times New Roman" panose="02020603050405020304" pitchFamily="18" charset="0"/>
              </a:rPr>
              <a:t>each</a:t>
            </a:r>
            <a:r>
              <a:rPr lang="fr-DZ" dirty="0">
                <a:latin typeface="Times New Roman" panose="02020603050405020304" pitchFamily="18" charset="0"/>
                <a:cs typeface="Times New Roman" panose="02020603050405020304" pitchFamily="18" charset="0"/>
              </a:rPr>
              <a:t> crucial for effective network management:</a:t>
            </a:r>
          </a:p>
          <a:p>
            <a:pPr algn="just"/>
            <a:endParaRPr lang="fr-DZ"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fr-DZ" b="1" dirty="0" err="1">
                <a:latin typeface="Times New Roman" panose="02020603050405020304" pitchFamily="18" charset="0"/>
                <a:cs typeface="Times New Roman" panose="02020603050405020304" pitchFamily="18" charset="0"/>
              </a:rPr>
              <a:t>Fault</a:t>
            </a:r>
            <a:r>
              <a:rPr lang="fr-DZ" b="1" dirty="0">
                <a:latin typeface="Times New Roman" panose="02020603050405020304" pitchFamily="18" charset="0"/>
                <a:cs typeface="Times New Roman" panose="02020603050405020304" pitchFamily="18" charset="0"/>
              </a:rPr>
              <a:t> Management </a:t>
            </a:r>
            <a:r>
              <a:rPr lang="fr-DZ" dirty="0" err="1">
                <a:latin typeface="Times New Roman" panose="02020603050405020304" pitchFamily="18" charset="0"/>
                <a:cs typeface="Times New Roman" panose="02020603050405020304" pitchFamily="18" charset="0"/>
              </a:rPr>
              <a:t>focuses</a:t>
            </a:r>
            <a:r>
              <a:rPr lang="fr-DZ" dirty="0">
                <a:latin typeface="Times New Roman" panose="02020603050405020304" pitchFamily="18" charset="0"/>
                <a:cs typeface="Times New Roman" panose="02020603050405020304" pitchFamily="18" charset="0"/>
              </a:rPr>
              <a:t> on the </a:t>
            </a:r>
            <a:r>
              <a:rPr lang="fr-DZ" dirty="0" err="1">
                <a:latin typeface="Times New Roman" panose="02020603050405020304" pitchFamily="18" charset="0"/>
                <a:cs typeface="Times New Roman" panose="02020603050405020304" pitchFamily="18" charset="0"/>
              </a:rPr>
              <a:t>detection</a:t>
            </a:r>
            <a:r>
              <a:rPr lang="fr-DZ" dirty="0">
                <a:latin typeface="Times New Roman" panose="02020603050405020304" pitchFamily="18" charset="0"/>
                <a:cs typeface="Times New Roman" panose="02020603050405020304" pitchFamily="18" charset="0"/>
              </a:rPr>
              <a:t>, isolation, and </a:t>
            </a:r>
            <a:r>
              <a:rPr lang="fr-DZ" dirty="0" err="1">
                <a:latin typeface="Times New Roman" panose="02020603050405020304" pitchFamily="18" charset="0"/>
                <a:cs typeface="Times New Roman" panose="02020603050405020304" pitchFamily="18" charset="0"/>
              </a:rPr>
              <a:t>resolution</a:t>
            </a:r>
            <a:r>
              <a:rPr lang="fr-DZ" dirty="0">
                <a:latin typeface="Times New Roman" panose="02020603050405020304" pitchFamily="18" charset="0"/>
                <a:cs typeface="Times New Roman" panose="02020603050405020304" pitchFamily="18" charset="0"/>
              </a:rPr>
              <a:t> of </a:t>
            </a:r>
            <a:r>
              <a:rPr lang="fr-DZ" dirty="0" err="1">
                <a:latin typeface="Times New Roman" panose="02020603050405020304" pitchFamily="18" charset="0"/>
                <a:cs typeface="Times New Roman" panose="02020603050405020304" pitchFamily="18" charset="0"/>
              </a:rPr>
              <a:t>faults</a:t>
            </a:r>
            <a:r>
              <a:rPr lang="fr-DZ" dirty="0">
                <a:latin typeface="Times New Roman" panose="02020603050405020304" pitchFamily="18" charset="0"/>
                <a:cs typeface="Times New Roman" panose="02020603050405020304" pitchFamily="18" charset="0"/>
              </a:rPr>
              <a:t> or </a:t>
            </a:r>
            <a:r>
              <a:rPr lang="fr-DZ" dirty="0" err="1">
                <a:latin typeface="Times New Roman" panose="02020603050405020304" pitchFamily="18" charset="0"/>
                <a:cs typeface="Times New Roman" panose="02020603050405020304" pitchFamily="18" charset="0"/>
              </a:rPr>
              <a:t>failures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within</a:t>
            </a:r>
            <a:r>
              <a:rPr lang="fr-DZ" dirty="0">
                <a:latin typeface="Times New Roman" panose="02020603050405020304" pitchFamily="18" charset="0"/>
                <a:cs typeface="Times New Roman" panose="02020603050405020304" pitchFamily="18" charset="0"/>
              </a:rPr>
              <a:t> the network. It </a:t>
            </a:r>
            <a:r>
              <a:rPr lang="fr-DZ" dirty="0" err="1">
                <a:latin typeface="Times New Roman" panose="02020603050405020304" pitchFamily="18" charset="0"/>
                <a:cs typeface="Times New Roman" panose="02020603050405020304" pitchFamily="18" charset="0"/>
              </a:rPr>
              <a:t>involves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continuous</a:t>
            </a:r>
            <a:r>
              <a:rPr lang="fr-DZ" dirty="0">
                <a:latin typeface="Times New Roman" panose="02020603050405020304" pitchFamily="18" charset="0"/>
                <a:cs typeface="Times New Roman" panose="02020603050405020304" pitchFamily="18" charset="0"/>
              </a:rPr>
              <a:t> monitoring of network </a:t>
            </a:r>
            <a:r>
              <a:rPr lang="fr-DZ" dirty="0" err="1">
                <a:latin typeface="Times New Roman" panose="02020603050405020304" pitchFamily="18" charset="0"/>
                <a:cs typeface="Times New Roman" panose="02020603050405020304" pitchFamily="18" charset="0"/>
              </a:rPr>
              <a:t>devices</a:t>
            </a:r>
            <a:r>
              <a:rPr lang="fr-DZ" dirty="0">
                <a:latin typeface="Times New Roman" panose="02020603050405020304" pitchFamily="18" charset="0"/>
                <a:cs typeface="Times New Roman" panose="02020603050405020304" pitchFamily="18" charset="0"/>
              </a:rPr>
              <a:t> and services to </a:t>
            </a:r>
            <a:r>
              <a:rPr lang="fr-DZ" dirty="0" err="1">
                <a:latin typeface="Times New Roman" panose="02020603050405020304" pitchFamily="18" charset="0"/>
                <a:cs typeface="Times New Roman" panose="02020603050405020304" pitchFamily="18" charset="0"/>
              </a:rPr>
              <a:t>identify</a:t>
            </a:r>
            <a:r>
              <a:rPr lang="fr-DZ" dirty="0">
                <a:latin typeface="Times New Roman" panose="02020603050405020304" pitchFamily="18" charset="0"/>
                <a:cs typeface="Times New Roman" panose="02020603050405020304" pitchFamily="18" charset="0"/>
              </a:rPr>
              <a:t> issues </a:t>
            </a:r>
            <a:r>
              <a:rPr lang="fr-DZ" dirty="0" err="1">
                <a:latin typeface="Times New Roman" panose="02020603050405020304" pitchFamily="18" charset="0"/>
                <a:cs typeface="Times New Roman" panose="02020603050405020304" pitchFamily="18" charset="0"/>
              </a:rPr>
              <a:t>proactively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When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faults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occur</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systems</a:t>
            </a:r>
            <a:r>
              <a:rPr lang="fr-DZ" dirty="0">
                <a:latin typeface="Times New Roman" panose="02020603050405020304" pitchFamily="18" charset="0"/>
                <a:cs typeface="Times New Roman" panose="02020603050405020304" pitchFamily="18" charset="0"/>
              </a:rPr>
              <a:t> trigger </a:t>
            </a:r>
            <a:r>
              <a:rPr lang="fr-DZ" dirty="0" err="1">
                <a:latin typeface="Times New Roman" panose="02020603050405020304" pitchFamily="18" charset="0"/>
                <a:cs typeface="Times New Roman" panose="02020603050405020304" pitchFamily="18" charset="0"/>
              </a:rPr>
              <a:t>alerts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enabling</a:t>
            </a:r>
            <a:r>
              <a:rPr lang="fr-DZ" dirty="0">
                <a:latin typeface="Times New Roman" panose="02020603050405020304" pitchFamily="18" charset="0"/>
                <a:cs typeface="Times New Roman" panose="02020603050405020304" pitchFamily="18" charset="0"/>
              </a:rPr>
              <a:t> network </a:t>
            </a:r>
            <a:r>
              <a:rPr lang="fr-DZ" dirty="0" err="1">
                <a:latin typeface="Times New Roman" panose="02020603050405020304" pitchFamily="18" charset="0"/>
                <a:cs typeface="Times New Roman" panose="02020603050405020304" pitchFamily="18" charset="0"/>
              </a:rPr>
              <a:t>administrators</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quickly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address</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rectify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problems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thereby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minimising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downtime</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ensuring</a:t>
            </a:r>
            <a:r>
              <a:rPr lang="fr-DZ" dirty="0">
                <a:latin typeface="Times New Roman" panose="02020603050405020304" pitchFamily="18" charset="0"/>
                <a:cs typeface="Times New Roman" panose="02020603050405020304" pitchFamily="18" charset="0"/>
              </a:rPr>
              <a:t> service </a:t>
            </a:r>
            <a:r>
              <a:rPr lang="fr-DZ" dirty="0" err="1">
                <a:latin typeface="Times New Roman" panose="02020603050405020304" pitchFamily="18" charset="0"/>
                <a:cs typeface="Times New Roman" panose="02020603050405020304" pitchFamily="18" charset="0"/>
              </a:rPr>
              <a:t>reliability</a:t>
            </a:r>
            <a:r>
              <a:rPr lang="fr-DZ"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fr-FR"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fr-DZ" b="1" dirty="0">
                <a:latin typeface="Times New Roman" panose="02020603050405020304" pitchFamily="18" charset="0"/>
                <a:cs typeface="Times New Roman" panose="02020603050405020304" pitchFamily="18" charset="0"/>
              </a:rPr>
              <a:t>Configuration Management </a:t>
            </a:r>
            <a:r>
              <a:rPr lang="fr-DZ" dirty="0">
                <a:latin typeface="Times New Roman" panose="02020603050405020304" pitchFamily="18" charset="0"/>
                <a:cs typeface="Times New Roman" panose="02020603050405020304" pitchFamily="18" charset="0"/>
              </a:rPr>
              <a:t>relates to the </a:t>
            </a:r>
            <a:r>
              <a:rPr lang="fr-DZ" dirty="0" err="1">
                <a:latin typeface="Times New Roman" panose="02020603050405020304" pitchFamily="18" charset="0"/>
                <a:cs typeface="Times New Roman" panose="02020603050405020304" pitchFamily="18" charset="0"/>
              </a:rPr>
              <a:t>oversight</a:t>
            </a:r>
            <a:r>
              <a:rPr lang="fr-DZ" dirty="0">
                <a:latin typeface="Times New Roman" panose="02020603050405020304" pitchFamily="18" charset="0"/>
                <a:cs typeface="Times New Roman" panose="02020603050405020304" pitchFamily="18" charset="0"/>
              </a:rPr>
              <a:t> of network </a:t>
            </a:r>
            <a:r>
              <a:rPr lang="fr-DZ" dirty="0" err="1">
                <a:latin typeface="Times New Roman" panose="02020603050405020304" pitchFamily="18" charset="0"/>
                <a:cs typeface="Times New Roman" panose="02020603050405020304" pitchFamily="18" charset="0"/>
              </a:rPr>
              <a:t>devices</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their</a:t>
            </a:r>
            <a:r>
              <a:rPr lang="fr-DZ" dirty="0">
                <a:latin typeface="Times New Roman" panose="02020603050405020304" pitchFamily="18" charset="0"/>
                <a:cs typeface="Times New Roman" panose="02020603050405020304" pitchFamily="18" charset="0"/>
              </a:rPr>
              <a:t> configurations. It </a:t>
            </a:r>
            <a:r>
              <a:rPr lang="fr-DZ" dirty="0" err="1">
                <a:latin typeface="Times New Roman" panose="02020603050405020304" pitchFamily="18" charset="0"/>
                <a:cs typeface="Times New Roman" panose="02020603050405020304" pitchFamily="18" charset="0"/>
              </a:rPr>
              <a:t>encompasses</a:t>
            </a:r>
            <a:r>
              <a:rPr lang="fr-DZ" dirty="0">
                <a:latin typeface="Times New Roman" panose="02020603050405020304" pitchFamily="18" charset="0"/>
                <a:cs typeface="Times New Roman" panose="02020603050405020304" pitchFamily="18" charset="0"/>
              </a:rPr>
              <a:t> the initial setup, </a:t>
            </a:r>
            <a:r>
              <a:rPr lang="fr-DZ" dirty="0" err="1">
                <a:latin typeface="Times New Roman" panose="02020603050405020304" pitchFamily="18" charset="0"/>
                <a:cs typeface="Times New Roman" panose="02020603050405020304" pitchFamily="18" charset="0"/>
              </a:rPr>
              <a:t>ongoing</a:t>
            </a:r>
            <a:r>
              <a:rPr lang="fr-DZ" dirty="0">
                <a:latin typeface="Times New Roman" panose="02020603050405020304" pitchFamily="18" charset="0"/>
                <a:cs typeface="Times New Roman" panose="02020603050405020304" pitchFamily="18" charset="0"/>
              </a:rPr>
              <a:t> modifications, and documentation of hardware and software configurations. </a:t>
            </a:r>
            <a:endParaRPr lang="fr-FR"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fr-FR"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fr-DZ" b="1" dirty="0" err="1">
                <a:latin typeface="Times New Roman" panose="02020603050405020304" pitchFamily="18" charset="0"/>
                <a:cs typeface="Times New Roman" panose="02020603050405020304" pitchFamily="18" charset="0"/>
              </a:rPr>
              <a:t>Accounting</a:t>
            </a:r>
            <a:r>
              <a:rPr lang="fr-DZ" b="1" dirty="0">
                <a:latin typeface="Times New Roman" panose="02020603050405020304" pitchFamily="18" charset="0"/>
                <a:cs typeface="Times New Roman" panose="02020603050405020304" pitchFamily="18" charset="0"/>
              </a:rPr>
              <a:t> Management </a:t>
            </a:r>
            <a:r>
              <a:rPr lang="fr-DZ" dirty="0" err="1">
                <a:latin typeface="Times New Roman" panose="02020603050405020304" pitchFamily="18" charset="0"/>
                <a:cs typeface="Times New Roman" panose="02020603050405020304" pitchFamily="18" charset="0"/>
              </a:rPr>
              <a:t>focuses</a:t>
            </a:r>
            <a:r>
              <a:rPr lang="fr-DZ" dirty="0">
                <a:latin typeface="Times New Roman" panose="02020603050405020304" pitchFamily="18" charset="0"/>
                <a:cs typeface="Times New Roman" panose="02020603050405020304" pitchFamily="18" charset="0"/>
              </a:rPr>
              <a:t> on </a:t>
            </a:r>
            <a:r>
              <a:rPr lang="fr-DZ" dirty="0" err="1">
                <a:latin typeface="Times New Roman" panose="02020603050405020304" pitchFamily="18" charset="0"/>
                <a:cs typeface="Times New Roman" panose="02020603050405020304" pitchFamily="18" charset="0"/>
              </a:rPr>
              <a:t>tracking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resource</a:t>
            </a:r>
            <a:r>
              <a:rPr lang="fr-DZ" dirty="0">
                <a:latin typeface="Times New Roman" panose="02020603050405020304" pitchFamily="18" charset="0"/>
                <a:cs typeface="Times New Roman" panose="02020603050405020304" pitchFamily="18" charset="0"/>
              </a:rPr>
              <a:t> usage </a:t>
            </a:r>
            <a:r>
              <a:rPr lang="fr-DZ" dirty="0" err="1">
                <a:latin typeface="Times New Roman" panose="02020603050405020304" pitchFamily="18" charset="0"/>
                <a:cs typeface="Times New Roman" panose="02020603050405020304" pitchFamily="18" charset="0"/>
              </a:rPr>
              <a:t>across</a:t>
            </a:r>
            <a:r>
              <a:rPr lang="fr-DZ" dirty="0">
                <a:latin typeface="Times New Roman" panose="02020603050405020304" pitchFamily="18" charset="0"/>
                <a:cs typeface="Times New Roman" panose="02020603050405020304" pitchFamily="18" charset="0"/>
              </a:rPr>
              <a:t> the network. It </a:t>
            </a:r>
            <a:r>
              <a:rPr lang="fr-DZ" dirty="0" err="1">
                <a:latin typeface="Times New Roman" panose="02020603050405020304" pitchFamily="18" charset="0"/>
                <a:cs typeface="Times New Roman" panose="02020603050405020304" pitchFamily="18" charset="0"/>
              </a:rPr>
              <a:t>involves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collecting</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analysing</a:t>
            </a:r>
            <a:r>
              <a:rPr lang="fr-DZ" dirty="0">
                <a:latin typeface="Times New Roman" panose="02020603050405020304" pitchFamily="18" charset="0"/>
                <a:cs typeface="Times New Roman" panose="02020603050405020304" pitchFamily="18" charset="0"/>
              </a:rPr>
              <a:t> data on </a:t>
            </a:r>
            <a:r>
              <a:rPr lang="fr-DZ" dirty="0" err="1">
                <a:latin typeface="Times New Roman" panose="02020603050405020304" pitchFamily="18" charset="0"/>
                <a:cs typeface="Times New Roman" panose="02020603050405020304" pitchFamily="18" charset="0"/>
              </a:rPr>
              <a:t>various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metrics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such</a:t>
            </a:r>
            <a:r>
              <a:rPr lang="fr-DZ" dirty="0">
                <a:latin typeface="Times New Roman" panose="02020603050405020304" pitchFamily="18" charset="0"/>
                <a:cs typeface="Times New Roman" panose="02020603050405020304" pitchFamily="18" charset="0"/>
              </a:rPr>
              <a:t> as </a:t>
            </a:r>
            <a:r>
              <a:rPr lang="fr-DZ" dirty="0" err="1">
                <a:latin typeface="Times New Roman" panose="02020603050405020304" pitchFamily="18" charset="0"/>
                <a:cs typeface="Times New Roman" panose="02020603050405020304" pitchFamily="18" charset="0"/>
              </a:rPr>
              <a:t>bandwidth</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consumption</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device</a:t>
            </a:r>
            <a:r>
              <a:rPr lang="fr-DZ" dirty="0">
                <a:latin typeface="Times New Roman" panose="02020603050405020304" pitchFamily="18" charset="0"/>
                <a:cs typeface="Times New Roman" panose="02020603050405020304" pitchFamily="18" charset="0"/>
              </a:rPr>
              <a:t> utilisation, and service usage. By </a:t>
            </a:r>
            <a:r>
              <a:rPr lang="fr-DZ" dirty="0" err="1">
                <a:latin typeface="Times New Roman" panose="02020603050405020304" pitchFamily="18" charset="0"/>
                <a:cs typeface="Times New Roman" panose="02020603050405020304" pitchFamily="18" charset="0"/>
              </a:rPr>
              <a:t>providing</a:t>
            </a:r>
            <a:r>
              <a:rPr lang="fr-DZ" dirty="0">
                <a:latin typeface="Times New Roman" panose="02020603050405020304" pitchFamily="18" charset="0"/>
                <a:cs typeface="Times New Roman" panose="02020603050405020304" pitchFamily="18" charset="0"/>
              </a:rPr>
              <a:t> insights </a:t>
            </a:r>
            <a:r>
              <a:rPr lang="fr-DZ" dirty="0" err="1">
                <a:latin typeface="Times New Roman" panose="02020603050405020304" pitchFamily="18" charset="0"/>
                <a:cs typeface="Times New Roman" panose="02020603050405020304" pitchFamily="18" charset="0"/>
              </a:rPr>
              <a:t>into</a:t>
            </a:r>
            <a:r>
              <a:rPr lang="fr-DZ" dirty="0">
                <a:latin typeface="Times New Roman" panose="02020603050405020304" pitchFamily="18" charset="0"/>
                <a:cs typeface="Times New Roman" panose="02020603050405020304" pitchFamily="18" charset="0"/>
              </a:rPr>
              <a:t> user </a:t>
            </a:r>
            <a:r>
              <a:rPr lang="fr-DZ" dirty="0" err="1">
                <a:latin typeface="Times New Roman" panose="02020603050405020304" pitchFamily="18" charset="0"/>
                <a:cs typeface="Times New Roman" panose="02020603050405020304" pitchFamily="18" charset="0"/>
              </a:rPr>
              <a:t>behaviour</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resource</a:t>
            </a:r>
            <a:r>
              <a:rPr lang="fr-DZ" dirty="0">
                <a:latin typeface="Times New Roman" panose="02020603050405020304" pitchFamily="18" charset="0"/>
                <a:cs typeface="Times New Roman" panose="02020603050405020304" pitchFamily="18" charset="0"/>
              </a:rPr>
              <a:t> allocation, </a:t>
            </a:r>
            <a:r>
              <a:rPr lang="fr-DZ" dirty="0" err="1">
                <a:latin typeface="Times New Roman" panose="02020603050405020304" pitchFamily="18" charset="0"/>
                <a:cs typeface="Times New Roman" panose="02020603050405020304" pitchFamily="18" charset="0"/>
              </a:rPr>
              <a:t>accounting</a:t>
            </a:r>
            <a:r>
              <a:rPr lang="fr-DZ" dirty="0">
                <a:latin typeface="Times New Roman" panose="02020603050405020304" pitchFamily="18" charset="0"/>
                <a:cs typeface="Times New Roman" panose="02020603050405020304" pitchFamily="18" charset="0"/>
              </a:rPr>
              <a:t> management </a:t>
            </a:r>
            <a:r>
              <a:rPr lang="fr-DZ" dirty="0" err="1">
                <a:latin typeface="Times New Roman" panose="02020603050405020304" pitchFamily="18" charset="0"/>
                <a:cs typeface="Times New Roman" panose="02020603050405020304" pitchFamily="18" charset="0"/>
              </a:rPr>
              <a:t>aids</a:t>
            </a:r>
            <a:r>
              <a:rPr lang="fr-DZ" dirty="0">
                <a:latin typeface="Times New Roman" panose="02020603050405020304" pitchFamily="18" charset="0"/>
                <a:cs typeface="Times New Roman" panose="02020603050405020304" pitchFamily="18" charset="0"/>
              </a:rPr>
              <a:t> in </a:t>
            </a:r>
            <a:r>
              <a:rPr lang="fr-DZ" dirty="0" err="1">
                <a:latin typeface="Times New Roman" panose="02020603050405020304" pitchFamily="18" charset="0"/>
                <a:cs typeface="Times New Roman" panose="02020603050405020304" pitchFamily="18" charset="0"/>
              </a:rPr>
              <a:t>capacity</a:t>
            </a:r>
            <a:r>
              <a:rPr lang="fr-DZ" dirty="0">
                <a:latin typeface="Times New Roman" panose="02020603050405020304" pitchFamily="18" charset="0"/>
                <a:cs typeface="Times New Roman" panose="02020603050405020304" pitchFamily="18" charset="0"/>
              </a:rPr>
              <a:t> planning, </a:t>
            </a:r>
            <a:r>
              <a:rPr lang="fr-DZ" dirty="0" err="1">
                <a:latin typeface="Times New Roman" panose="02020603050405020304" pitchFamily="18" charset="0"/>
                <a:cs typeface="Times New Roman" panose="02020603050405020304" pitchFamily="18" charset="0"/>
              </a:rPr>
              <a:t>budgeting</a:t>
            </a:r>
            <a:r>
              <a:rPr lang="fr-DZ" dirty="0">
                <a:latin typeface="Times New Roman" panose="02020603050405020304" pitchFamily="18" charset="0"/>
                <a:cs typeface="Times New Roman" panose="02020603050405020304" pitchFamily="18" charset="0"/>
              </a:rPr>
              <a:t>, and compliance initiatives, </a:t>
            </a:r>
            <a:r>
              <a:rPr lang="fr-DZ" dirty="0" err="1">
                <a:latin typeface="Times New Roman" panose="02020603050405020304" pitchFamily="18" charset="0"/>
                <a:cs typeface="Times New Roman" panose="02020603050405020304" pitchFamily="18" charset="0"/>
              </a:rPr>
              <a:t>ensuring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resources</a:t>
            </a:r>
            <a:r>
              <a:rPr lang="fr-DZ" dirty="0">
                <a:latin typeface="Times New Roman" panose="02020603050405020304" pitchFamily="18" charset="0"/>
                <a:cs typeface="Times New Roman" panose="02020603050405020304" pitchFamily="18" charset="0"/>
              </a:rPr>
              <a:t> are </a:t>
            </a:r>
            <a:r>
              <a:rPr lang="fr-DZ" dirty="0" err="1">
                <a:latin typeface="Times New Roman" panose="02020603050405020304" pitchFamily="18" charset="0"/>
                <a:cs typeface="Times New Roman" panose="02020603050405020304" pitchFamily="18" charset="0"/>
              </a:rPr>
              <a:t>used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efficiently</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effectively</a:t>
            </a:r>
            <a:r>
              <a:rPr lang="fr-DZ"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1C3F5919-14C3-BFDA-B47F-DDC6EEAED412}"/>
              </a:ext>
            </a:extLst>
          </p:cNvPr>
          <p:cNvSpPr txBox="1"/>
          <p:nvPr/>
        </p:nvSpPr>
        <p:spPr>
          <a:xfrm>
            <a:off x="2013429" y="116632"/>
            <a:ext cx="7729918" cy="1200329"/>
          </a:xfrm>
          <a:prstGeom prst="rect">
            <a:avLst/>
          </a:prstGeom>
          <a:noFill/>
        </p:spPr>
        <p:txBody>
          <a:bodyPr wrap="square">
            <a:spAutoFit/>
          </a:bodyPr>
          <a:lstStyle/>
          <a:p>
            <a:pPr algn="ctr"/>
            <a:r>
              <a:rPr lang="fr-DZ" sz="3600" b="1" dirty="0">
                <a:latin typeface="Times New Roman" panose="02020603050405020304" pitchFamily="18" charset="0"/>
                <a:cs typeface="Times New Roman" panose="02020603050405020304" pitchFamily="18" charset="0"/>
              </a:rPr>
              <a:t>Network Management </a:t>
            </a:r>
            <a:r>
              <a:rPr lang="fr-DZ" sz="3600" b="1" dirty="0" err="1">
                <a:latin typeface="Times New Roman" panose="02020603050405020304" pitchFamily="18" charset="0"/>
                <a:cs typeface="Times New Roman" panose="02020603050405020304" pitchFamily="18" charset="0"/>
              </a:rPr>
              <a:t>Domains</a:t>
            </a:r>
            <a:r>
              <a:rPr lang="fr-DZ" sz="3600" b="1" dirty="0">
                <a:latin typeface="Times New Roman" panose="02020603050405020304" pitchFamily="18" charset="0"/>
                <a:cs typeface="Times New Roman" panose="02020603050405020304" pitchFamily="18" charset="0"/>
              </a:rPr>
              <a:t> (FCAPS Model)</a:t>
            </a:r>
          </a:p>
        </p:txBody>
      </p:sp>
    </p:spTree>
    <p:extLst>
      <p:ext uri="{BB962C8B-B14F-4D97-AF65-F5344CB8AC3E}">
        <p14:creationId xmlns:p14="http://schemas.microsoft.com/office/powerpoint/2010/main" val="637123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F487D-C04A-25BB-5FD5-B0FF4069576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0384CE-2379-BDDB-53E9-AD9BE2E3B2F6}"/>
              </a:ext>
            </a:extLst>
          </p:cNvPr>
          <p:cNvSpPr txBox="1"/>
          <p:nvPr/>
        </p:nvSpPr>
        <p:spPr>
          <a:xfrm>
            <a:off x="1269876" y="1917987"/>
            <a:ext cx="9289032" cy="3416320"/>
          </a:xfrm>
          <a:prstGeom prst="rect">
            <a:avLst/>
          </a:prstGeom>
          <a:noFill/>
        </p:spPr>
        <p:txBody>
          <a:bodyPr wrap="square">
            <a:spAutoFit/>
          </a:bodyPr>
          <a:lstStyle/>
          <a:p>
            <a:pPr marL="285750" indent="-285750" algn="just">
              <a:buFont typeface="Arial" panose="020B0604020202020204" pitchFamily="34" charset="0"/>
              <a:buChar char="•"/>
            </a:pPr>
            <a:r>
              <a:rPr lang="fr-DZ" b="1" dirty="0">
                <a:latin typeface="Times New Roman" panose="02020603050405020304" pitchFamily="18" charset="0"/>
                <a:cs typeface="Times New Roman" panose="02020603050405020304" pitchFamily="18" charset="0"/>
              </a:rPr>
              <a:t>Performance Management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here</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emphasis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on monitoring and </a:t>
            </a:r>
            <a:r>
              <a:rPr lang="fr-DZ" dirty="0" err="1">
                <a:latin typeface="Times New Roman" panose="02020603050405020304" pitchFamily="18" charset="0"/>
                <a:cs typeface="Times New Roman" panose="02020603050405020304" pitchFamily="18" charset="0"/>
              </a:rPr>
              <a:t>optimising</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network's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quality</a:t>
            </a:r>
            <a:r>
              <a:rPr lang="fr-DZ" dirty="0">
                <a:latin typeface="Times New Roman" panose="02020603050405020304" pitchFamily="18" charset="0"/>
                <a:cs typeface="Times New Roman" panose="02020603050405020304" pitchFamily="18" charset="0"/>
              </a:rPr>
              <a:t> of service (QoS) and </a:t>
            </a:r>
            <a:r>
              <a:rPr lang="fr-DZ" dirty="0" err="1">
                <a:latin typeface="Times New Roman" panose="02020603050405020304" pitchFamily="18" charset="0"/>
                <a:cs typeface="Times New Roman" panose="02020603050405020304" pitchFamily="18" charset="0"/>
              </a:rPr>
              <a:t>overall</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efficiency</a:t>
            </a:r>
            <a:r>
              <a:rPr lang="fr-DZ" dirty="0">
                <a:latin typeface="Times New Roman" panose="02020603050405020304" pitchFamily="18" charset="0"/>
                <a:cs typeface="Times New Roman" panose="02020603050405020304" pitchFamily="18" charset="0"/>
              </a:rPr>
              <a:t>. This </a:t>
            </a:r>
            <a:r>
              <a:rPr lang="fr-DZ" dirty="0" err="1">
                <a:latin typeface="Times New Roman" panose="02020603050405020304" pitchFamily="18" charset="0"/>
                <a:cs typeface="Times New Roman" panose="02020603050405020304" pitchFamily="18" charset="0"/>
              </a:rPr>
              <a:t>includes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assessing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metrics</a:t>
            </a:r>
            <a:r>
              <a:rPr lang="fr-DZ" dirty="0">
                <a:latin typeface="Times New Roman" panose="02020603050405020304" pitchFamily="18" charset="0"/>
                <a:cs typeface="Times New Roman" panose="02020603050405020304" pitchFamily="18" charset="0"/>
              </a:rPr>
              <a:t> like </a:t>
            </a:r>
            <a:r>
              <a:rPr lang="fr-DZ" dirty="0" err="1">
                <a:latin typeface="Times New Roman" panose="02020603050405020304" pitchFamily="18" charset="0"/>
                <a:cs typeface="Times New Roman" panose="02020603050405020304" pitchFamily="18" charset="0"/>
              </a:rPr>
              <a:t>latency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throughput</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packet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loss</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ensure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that</a:t>
            </a:r>
            <a:r>
              <a:rPr lang="fr-DZ" dirty="0">
                <a:latin typeface="Times New Roman" panose="02020603050405020304" pitchFamily="18" charset="0"/>
                <a:cs typeface="Times New Roman" panose="02020603050405020304" pitchFamily="18" charset="0"/>
              </a:rPr>
              <a:t> network performance </a:t>
            </a:r>
            <a:r>
              <a:rPr lang="fr-DZ" dirty="0" err="1">
                <a:latin typeface="Times New Roman" panose="02020603050405020304" pitchFamily="18" charset="0"/>
                <a:cs typeface="Times New Roman" panose="02020603050405020304" pitchFamily="18" charset="0"/>
              </a:rPr>
              <a:t>meets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established</a:t>
            </a:r>
            <a:r>
              <a:rPr lang="fr-DZ" dirty="0">
                <a:latin typeface="Times New Roman" panose="02020603050405020304" pitchFamily="18" charset="0"/>
                <a:cs typeface="Times New Roman" panose="02020603050405020304" pitchFamily="18" charset="0"/>
              </a:rPr>
              <a:t> standards. </a:t>
            </a:r>
            <a:endParaRPr lang="fr-FR"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fr-DZ"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fr-DZ" b="1" dirty="0">
                <a:latin typeface="Times New Roman" panose="02020603050405020304" pitchFamily="18" charset="0"/>
                <a:cs typeface="Times New Roman" panose="02020603050405020304" pitchFamily="18" charset="0"/>
              </a:rPr>
              <a:t>Security Management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dedicated</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safeguarding</a:t>
            </a:r>
            <a:r>
              <a:rPr lang="fr-DZ" dirty="0">
                <a:latin typeface="Times New Roman" panose="02020603050405020304" pitchFamily="18" charset="0"/>
                <a:cs typeface="Times New Roman" panose="02020603050405020304" pitchFamily="18" charset="0"/>
              </a:rPr>
              <a:t> network </a:t>
            </a:r>
            <a:r>
              <a:rPr lang="fr-DZ" dirty="0" err="1">
                <a:latin typeface="Times New Roman" panose="02020603050405020304" pitchFamily="18" charset="0"/>
                <a:cs typeface="Times New Roman" panose="02020603050405020304" pitchFamily="18" charset="0"/>
              </a:rPr>
              <a:t>resources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against</a:t>
            </a:r>
            <a:r>
              <a:rPr lang="fr-DZ" dirty="0">
                <a:latin typeface="Times New Roman" panose="02020603050405020304" pitchFamily="18" charset="0"/>
                <a:cs typeface="Times New Roman" panose="02020603050405020304" pitchFamily="18" charset="0"/>
              </a:rPr>
              <a:t> a </a:t>
            </a:r>
            <a:r>
              <a:rPr lang="fr-DZ" dirty="0" err="1">
                <a:latin typeface="Times New Roman" panose="02020603050405020304" pitchFamily="18" charset="0"/>
                <a:cs typeface="Times New Roman" panose="02020603050405020304" pitchFamily="18" charset="0"/>
              </a:rPr>
              <a:t>variety</a:t>
            </a:r>
            <a:r>
              <a:rPr lang="fr-DZ" dirty="0">
                <a:latin typeface="Times New Roman" panose="02020603050405020304" pitchFamily="18" charset="0"/>
                <a:cs typeface="Times New Roman" panose="02020603050405020304" pitchFamily="18" charset="0"/>
              </a:rPr>
              <a:t> of </a:t>
            </a:r>
            <a:r>
              <a:rPr lang="fr-DZ" dirty="0" err="1">
                <a:latin typeface="Times New Roman" panose="02020603050405020304" pitchFamily="18" charset="0"/>
                <a:cs typeface="Times New Roman" panose="02020603050405020304" pitchFamily="18" charset="0"/>
              </a:rPr>
              <a:t>threats</a:t>
            </a:r>
            <a:r>
              <a:rPr lang="fr-DZ" dirty="0">
                <a:latin typeface="Times New Roman" panose="02020603050405020304" pitchFamily="18" charset="0"/>
                <a:cs typeface="Times New Roman" panose="02020603050405020304" pitchFamily="18" charset="0"/>
              </a:rPr>
              <a:t>. It </a:t>
            </a:r>
            <a:r>
              <a:rPr lang="fr-DZ" dirty="0" err="1">
                <a:latin typeface="Times New Roman" panose="02020603050405020304" pitchFamily="18" charset="0"/>
                <a:cs typeface="Times New Roman" panose="02020603050405020304" pitchFamily="18" charset="0"/>
              </a:rPr>
              <a:t>encompasses</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implementation</a:t>
            </a:r>
            <a:r>
              <a:rPr lang="fr-DZ" dirty="0">
                <a:latin typeface="Times New Roman" panose="02020603050405020304" pitchFamily="18" charset="0"/>
                <a:cs typeface="Times New Roman" panose="02020603050405020304" pitchFamily="18" charset="0"/>
              </a:rPr>
              <a:t> of </a:t>
            </a:r>
            <a:r>
              <a:rPr lang="fr-DZ" dirty="0" err="1">
                <a:latin typeface="Times New Roman" panose="02020603050405020304" pitchFamily="18" charset="0"/>
                <a:cs typeface="Times New Roman" panose="02020603050405020304" pitchFamily="18" charset="0"/>
              </a:rPr>
              <a:t>security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policies</a:t>
            </a:r>
            <a:r>
              <a:rPr lang="fr-DZ" dirty="0">
                <a:latin typeface="Times New Roman" panose="02020603050405020304" pitchFamily="18" charset="0"/>
                <a:cs typeface="Times New Roman" panose="02020603050405020304" pitchFamily="18" charset="0"/>
              </a:rPr>
              <a:t>, user </a:t>
            </a:r>
            <a:r>
              <a:rPr lang="fr-DZ" dirty="0" err="1">
                <a:latin typeface="Times New Roman" panose="02020603050405020304" pitchFamily="18" charset="0"/>
                <a:cs typeface="Times New Roman" panose="02020603050405020304" pitchFamily="18" charset="0"/>
              </a:rPr>
              <a:t>authentication</a:t>
            </a:r>
            <a:r>
              <a:rPr lang="fr-DZ" dirty="0">
                <a:latin typeface="Times New Roman" panose="02020603050405020304" pitchFamily="18" charset="0"/>
                <a:cs typeface="Times New Roman" panose="02020603050405020304" pitchFamily="18" charset="0"/>
              </a:rPr>
              <a:t>, intrusion </a:t>
            </a:r>
            <a:r>
              <a:rPr lang="fr-DZ" dirty="0" err="1">
                <a:latin typeface="Times New Roman" panose="02020603050405020304" pitchFamily="18" charset="0"/>
                <a:cs typeface="Times New Roman" panose="02020603050405020304" pitchFamily="18" charset="0"/>
              </a:rPr>
              <a:t>detection</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response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strategies</a:t>
            </a:r>
            <a:r>
              <a:rPr lang="fr-DZ" dirty="0">
                <a:latin typeface="Times New Roman" panose="02020603050405020304" pitchFamily="18" charset="0"/>
                <a:cs typeface="Times New Roman" panose="02020603050405020304" pitchFamily="18" charset="0"/>
              </a:rPr>
              <a:t>. By </a:t>
            </a:r>
            <a:r>
              <a:rPr lang="fr-DZ" dirty="0" err="1">
                <a:latin typeface="Times New Roman" panose="02020603050405020304" pitchFamily="18" charset="0"/>
                <a:cs typeface="Times New Roman" panose="02020603050405020304" pitchFamily="18" charset="0"/>
              </a:rPr>
              <a:t>employing</a:t>
            </a:r>
            <a:r>
              <a:rPr lang="fr-DZ" dirty="0">
                <a:latin typeface="Times New Roman" panose="02020603050405020304" pitchFamily="18" charset="0"/>
                <a:cs typeface="Times New Roman" panose="02020603050405020304" pitchFamily="18" charset="0"/>
              </a:rPr>
              <a:t> a multi-</a:t>
            </a:r>
            <a:r>
              <a:rPr lang="fr-DZ" dirty="0" err="1">
                <a:latin typeface="Times New Roman" panose="02020603050405020304" pitchFamily="18" charset="0"/>
                <a:cs typeface="Times New Roman" panose="02020603050405020304" pitchFamily="18" charset="0"/>
              </a:rPr>
              <a:t>layered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security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approach</a:t>
            </a:r>
            <a:r>
              <a:rPr lang="fr-DZ" dirty="0">
                <a:latin typeface="Times New Roman" panose="02020603050405020304" pitchFamily="18" charset="0"/>
                <a:cs typeface="Times New Roman" panose="02020603050405020304" pitchFamily="18" charset="0"/>
              </a:rPr>
              <a:t>, organisations can </a:t>
            </a:r>
            <a:r>
              <a:rPr lang="fr-DZ" dirty="0" err="1">
                <a:latin typeface="Times New Roman" panose="02020603050405020304" pitchFamily="18" charset="0"/>
                <a:cs typeface="Times New Roman" panose="02020603050405020304" pitchFamily="18" charset="0"/>
              </a:rPr>
              <a:t>protect</a:t>
            </a:r>
            <a:r>
              <a:rPr lang="fr-DZ" dirty="0">
                <a:latin typeface="Times New Roman" panose="02020603050405020304" pitchFamily="18" charset="0"/>
                <a:cs typeface="Times New Roman" panose="02020603050405020304" pitchFamily="18" charset="0"/>
              </a:rPr>
              <a:t> sensitive data, </a:t>
            </a:r>
            <a:r>
              <a:rPr lang="fr-DZ" dirty="0" err="1">
                <a:latin typeface="Times New Roman" panose="02020603050405020304" pitchFamily="18" charset="0"/>
                <a:cs typeface="Times New Roman" panose="02020603050405020304" pitchFamily="18" charset="0"/>
              </a:rPr>
              <a:t>maintain</a:t>
            </a:r>
            <a:r>
              <a:rPr lang="fr-DZ" dirty="0">
                <a:latin typeface="Times New Roman" panose="02020603050405020304" pitchFamily="18" charset="0"/>
                <a:cs typeface="Times New Roman" panose="02020603050405020304" pitchFamily="18" charset="0"/>
              </a:rPr>
              <a:t> compliance </a:t>
            </a:r>
            <a:r>
              <a:rPr lang="fr-DZ" dirty="0" err="1">
                <a:latin typeface="Times New Roman" panose="02020603050405020304" pitchFamily="18" charset="0"/>
                <a:cs typeface="Times New Roman" panose="02020603050405020304" pitchFamily="18" charset="0"/>
              </a:rPr>
              <a:t>with</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regulations</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ensure</a:t>
            </a:r>
            <a:r>
              <a:rPr lang="fr-DZ" dirty="0">
                <a:latin typeface="Times New Roman" panose="02020603050405020304" pitchFamily="18" charset="0"/>
                <a:cs typeface="Times New Roman" panose="02020603050405020304" pitchFamily="18" charset="0"/>
              </a:rPr>
              <a:t> the </a:t>
            </a:r>
            <a:r>
              <a:rPr lang="fr-DZ" dirty="0" err="1">
                <a:latin typeface="Times New Roman" panose="02020603050405020304" pitchFamily="18" charset="0"/>
                <a:cs typeface="Times New Roman" panose="02020603050405020304" pitchFamily="18" charset="0"/>
              </a:rPr>
              <a:t>overall</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integrity</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confidentiality</a:t>
            </a:r>
            <a:r>
              <a:rPr lang="fr-DZ" dirty="0">
                <a:latin typeface="Times New Roman" panose="02020603050405020304" pitchFamily="18" charset="0"/>
                <a:cs typeface="Times New Roman" panose="02020603050405020304" pitchFamily="18" charset="0"/>
              </a:rPr>
              <a:t> of the network.</a:t>
            </a:r>
          </a:p>
          <a:p>
            <a:pPr marL="285750" indent="-285750" algn="just">
              <a:buFont typeface="Arial" panose="020B0604020202020204" pitchFamily="34" charset="0"/>
              <a:buChar char="•"/>
            </a:pPr>
            <a:endParaRPr lang="fr-DZ" dirty="0">
              <a:latin typeface="Times New Roman" panose="02020603050405020304" pitchFamily="18" charset="0"/>
              <a:cs typeface="Times New Roman" panose="02020603050405020304" pitchFamily="18" charset="0"/>
            </a:endParaRPr>
          </a:p>
          <a:p>
            <a:pPr algn="just"/>
            <a:r>
              <a:rPr lang="fr-DZ" dirty="0" err="1">
                <a:latin typeface="Times New Roman" panose="02020603050405020304" pitchFamily="18" charset="0"/>
                <a:cs typeface="Times New Roman" panose="02020603050405020304" pitchFamily="18" charset="0"/>
              </a:rPr>
              <a:t>Together</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these</a:t>
            </a:r>
            <a:r>
              <a:rPr lang="fr-DZ" dirty="0">
                <a:latin typeface="Times New Roman" panose="02020603050405020304" pitchFamily="18" charset="0"/>
                <a:cs typeface="Times New Roman" panose="02020603050405020304" pitchFamily="18" charset="0"/>
              </a:rPr>
              <a:t> five management areas </a:t>
            </a:r>
            <a:r>
              <a:rPr lang="fr-DZ" dirty="0" err="1">
                <a:latin typeface="Times New Roman" panose="02020603050405020304" pitchFamily="18" charset="0"/>
                <a:cs typeface="Times New Roman" panose="02020603050405020304" pitchFamily="18" charset="0"/>
              </a:rPr>
              <a:t>form</a:t>
            </a:r>
            <a:r>
              <a:rPr lang="fr-DZ" dirty="0">
                <a:latin typeface="Times New Roman" panose="02020603050405020304" pitchFamily="18" charset="0"/>
                <a:cs typeface="Times New Roman" panose="02020603050405020304" pitchFamily="18" charset="0"/>
              </a:rPr>
              <a:t> a </a:t>
            </a:r>
            <a:r>
              <a:rPr lang="fr-DZ" dirty="0" err="1">
                <a:latin typeface="Times New Roman" panose="02020603050405020304" pitchFamily="18" charset="0"/>
                <a:cs typeface="Times New Roman" panose="02020603050405020304" pitchFamily="18" charset="0"/>
              </a:rPr>
              <a:t>comprehensive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framework</a:t>
            </a:r>
            <a:r>
              <a:rPr lang="fr-DZ" dirty="0">
                <a:latin typeface="Times New Roman" panose="02020603050405020304" pitchFamily="18" charset="0"/>
                <a:cs typeface="Times New Roman" panose="02020603050405020304" pitchFamily="18" charset="0"/>
              </a:rPr>
              <a:t> essential for the efficient </a:t>
            </a:r>
            <a:r>
              <a:rPr lang="fr-DZ" dirty="0" err="1">
                <a:latin typeface="Times New Roman" panose="02020603050405020304" pitchFamily="18" charset="0"/>
                <a:cs typeface="Times New Roman" panose="02020603050405020304" pitchFamily="18" charset="0"/>
              </a:rPr>
              <a:t>operation</a:t>
            </a:r>
            <a:r>
              <a:rPr lang="fr-DZ" dirty="0">
                <a:latin typeface="Times New Roman" panose="02020603050405020304" pitchFamily="18" charset="0"/>
                <a:cs typeface="Times New Roman" panose="02020603050405020304" pitchFamily="18" charset="0"/>
              </a:rPr>
              <a:t> and administration of </a:t>
            </a:r>
            <a:r>
              <a:rPr lang="fr-DZ" dirty="0" err="1">
                <a:latin typeface="Times New Roman" panose="02020603050405020304" pitchFamily="18" charset="0"/>
                <a:cs typeface="Times New Roman" panose="02020603050405020304" pitchFamily="18" charset="0"/>
              </a:rPr>
              <a:t>networked</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systems</a:t>
            </a:r>
            <a:r>
              <a:rPr lang="fr-DZ" dirty="0">
                <a:latin typeface="Times New Roman" panose="02020603050405020304" pitchFamily="18" charset="0"/>
                <a:cs typeface="Times New Roman" panose="02020603050405020304" pitchFamily="18" charset="0"/>
              </a:rPr>
              <a:t>.</a:t>
            </a:r>
          </a:p>
        </p:txBody>
      </p:sp>
      <p:sp>
        <p:nvSpPr>
          <p:cNvPr id="2" name="TextBox 1">
            <a:extLst>
              <a:ext uri="{FF2B5EF4-FFF2-40B4-BE49-F238E27FC236}">
                <a16:creationId xmlns:a16="http://schemas.microsoft.com/office/drawing/2014/main" id="{1BE63287-653C-621B-8542-00CC0D482CDA}"/>
              </a:ext>
            </a:extLst>
          </p:cNvPr>
          <p:cNvSpPr txBox="1"/>
          <p:nvPr/>
        </p:nvSpPr>
        <p:spPr>
          <a:xfrm>
            <a:off x="2013429" y="356463"/>
            <a:ext cx="7729918" cy="1200329"/>
          </a:xfrm>
          <a:prstGeom prst="rect">
            <a:avLst/>
          </a:prstGeom>
          <a:noFill/>
        </p:spPr>
        <p:txBody>
          <a:bodyPr wrap="square">
            <a:spAutoFit/>
          </a:bodyPr>
          <a:lstStyle/>
          <a:p>
            <a:pPr algn="ctr"/>
            <a:r>
              <a:rPr lang="fr-DZ" sz="3600" b="1" dirty="0">
                <a:latin typeface="Times New Roman" panose="02020603050405020304" pitchFamily="18" charset="0"/>
                <a:cs typeface="Times New Roman" panose="02020603050405020304" pitchFamily="18" charset="0"/>
              </a:rPr>
              <a:t>Network Management </a:t>
            </a:r>
            <a:r>
              <a:rPr lang="fr-DZ" sz="3600" b="1" dirty="0" err="1">
                <a:latin typeface="Times New Roman" panose="02020603050405020304" pitchFamily="18" charset="0"/>
                <a:cs typeface="Times New Roman" panose="02020603050405020304" pitchFamily="18" charset="0"/>
              </a:rPr>
              <a:t>Domains</a:t>
            </a:r>
            <a:r>
              <a:rPr lang="fr-DZ" sz="3600" b="1" dirty="0">
                <a:latin typeface="Times New Roman" panose="02020603050405020304" pitchFamily="18" charset="0"/>
                <a:cs typeface="Times New Roman" panose="02020603050405020304" pitchFamily="18" charset="0"/>
              </a:rPr>
              <a:t> (FCAPS Model)</a:t>
            </a:r>
          </a:p>
        </p:txBody>
      </p:sp>
    </p:spTree>
    <p:extLst>
      <p:ext uri="{BB962C8B-B14F-4D97-AF65-F5344CB8AC3E}">
        <p14:creationId xmlns:p14="http://schemas.microsoft.com/office/powerpoint/2010/main" val="112323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Explore Hierarchical Networks: Access, Distribution, Core Layers">
            <a:extLst>
              <a:ext uri="{FF2B5EF4-FFF2-40B4-BE49-F238E27FC236}">
                <a16:creationId xmlns:a16="http://schemas.microsoft.com/office/drawing/2014/main" id="{831D9DFE-6947-70CC-0E13-FD6E4F61BA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2644" y="4473623"/>
            <a:ext cx="3089921" cy="216680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Architecture-1: Centralized Network Laboratory-Having only routers |  Download Scientific Diagram">
            <a:extLst>
              <a:ext uri="{FF2B5EF4-FFF2-40B4-BE49-F238E27FC236}">
                <a16:creationId xmlns:a16="http://schemas.microsoft.com/office/drawing/2014/main" id="{D4C004D1-AF26-7A5A-D2B4-2BF23882B7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3078" y="4304028"/>
            <a:ext cx="2329086" cy="239980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2681CA2-B80C-92A4-3921-4775DC75FB1D}"/>
              </a:ext>
            </a:extLst>
          </p:cNvPr>
          <p:cNvSpPr txBox="1"/>
          <p:nvPr/>
        </p:nvSpPr>
        <p:spPr>
          <a:xfrm>
            <a:off x="1701924" y="1081767"/>
            <a:ext cx="9793088" cy="3139321"/>
          </a:xfrm>
          <a:prstGeom prst="rect">
            <a:avLst/>
          </a:prstGeom>
          <a:noFill/>
        </p:spPr>
        <p:txBody>
          <a:bodyPr wrap="square">
            <a:spAutoFit/>
          </a:bodyPr>
          <a:lstStyle/>
          <a:p>
            <a:pPr algn="just"/>
            <a:r>
              <a:rPr lang="fr-DZ" dirty="0">
                <a:latin typeface="Times New Roman" panose="02020603050405020304" pitchFamily="18" charset="0"/>
                <a:cs typeface="Times New Roman" panose="02020603050405020304" pitchFamily="18" charset="0"/>
              </a:rPr>
              <a:t>Common architectures </a:t>
            </a:r>
            <a:r>
              <a:rPr lang="fr-DZ" dirty="0" err="1">
                <a:latin typeface="Times New Roman" panose="02020603050405020304" pitchFamily="18" charset="0"/>
                <a:cs typeface="Times New Roman" panose="02020603050405020304" pitchFamily="18" charset="0"/>
              </a:rPr>
              <a:t>include</a:t>
            </a:r>
            <a:r>
              <a:rPr lang="fr-DZ" dirty="0">
                <a:latin typeface="Times New Roman" panose="02020603050405020304" pitchFamily="18" charset="0"/>
                <a:cs typeface="Times New Roman" panose="02020603050405020304" pitchFamily="18" charset="0"/>
              </a:rPr>
              <a:t>:</a:t>
            </a:r>
          </a:p>
          <a:p>
            <a:pPr algn="just"/>
            <a:endParaRPr lang="fr-DZ" dirty="0">
              <a:latin typeface="Times New Roman" panose="02020603050405020304" pitchFamily="18" charset="0"/>
              <a:cs typeface="Times New Roman" panose="02020603050405020304" pitchFamily="18" charset="0"/>
            </a:endParaRPr>
          </a:p>
          <a:p>
            <a:pPr algn="just"/>
            <a:r>
              <a:rPr lang="fr-DZ" dirty="0" err="1">
                <a:latin typeface="Times New Roman" panose="02020603050405020304" pitchFamily="18" charset="0"/>
                <a:cs typeface="Times New Roman" panose="02020603050405020304" pitchFamily="18" charset="0"/>
              </a:rPr>
              <a:t>Centralized</a:t>
            </a:r>
            <a:r>
              <a:rPr lang="fr-DZ" dirty="0">
                <a:latin typeface="Times New Roman" panose="02020603050405020304" pitchFamily="18" charset="0"/>
                <a:cs typeface="Times New Roman" panose="02020603050405020304" pitchFamily="18" charset="0"/>
              </a:rPr>
              <a:t> Management: This </a:t>
            </a:r>
            <a:r>
              <a:rPr lang="fr-DZ" dirty="0" err="1">
                <a:latin typeface="Times New Roman" panose="02020603050405020304" pitchFamily="18" charset="0"/>
                <a:cs typeface="Times New Roman" panose="02020603050405020304" pitchFamily="18" charset="0"/>
              </a:rPr>
              <a:t>approach</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involves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consolidating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decision-making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authority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within</a:t>
            </a:r>
            <a:r>
              <a:rPr lang="fr-DZ" dirty="0">
                <a:latin typeface="Times New Roman" panose="02020603050405020304" pitchFamily="18" charset="0"/>
                <a:cs typeface="Times New Roman" panose="02020603050405020304" pitchFamily="18" charset="0"/>
              </a:rPr>
              <a:t> a single central body or leadership team. </a:t>
            </a:r>
          </a:p>
          <a:p>
            <a:pPr algn="just"/>
            <a:endParaRPr lang="fr-DZ" dirty="0">
              <a:latin typeface="Times New Roman" panose="02020603050405020304" pitchFamily="18" charset="0"/>
              <a:cs typeface="Times New Roman" panose="02020603050405020304" pitchFamily="18" charset="0"/>
            </a:endParaRPr>
          </a:p>
          <a:p>
            <a:pPr algn="just"/>
            <a:r>
              <a:rPr lang="fr-DZ" dirty="0">
                <a:latin typeface="Times New Roman" panose="02020603050405020304" pitchFamily="18" charset="0"/>
                <a:cs typeface="Times New Roman" panose="02020603050405020304" pitchFamily="18" charset="0"/>
              </a:rPr>
              <a:t>Distributed Management: </a:t>
            </a:r>
            <a:r>
              <a:rPr lang="fr-DZ" dirty="0" err="1">
                <a:latin typeface="Times New Roman" panose="02020603050405020304" pitchFamily="18" charset="0"/>
                <a:cs typeface="Times New Roman" panose="02020603050405020304" pitchFamily="18" charset="0"/>
              </a:rPr>
              <a:t>distributed</a:t>
            </a:r>
            <a:r>
              <a:rPr lang="fr-DZ" dirty="0">
                <a:latin typeface="Times New Roman" panose="02020603050405020304" pitchFamily="18" charset="0"/>
                <a:cs typeface="Times New Roman" panose="02020603050405020304" pitchFamily="18" charset="0"/>
              </a:rPr>
              <a:t> management </a:t>
            </a:r>
            <a:r>
              <a:rPr lang="fr-DZ" dirty="0" err="1">
                <a:latin typeface="Times New Roman" panose="02020603050405020304" pitchFamily="18" charset="0"/>
                <a:cs typeface="Times New Roman" panose="02020603050405020304" pitchFamily="18" charset="0"/>
              </a:rPr>
              <a:t>empowers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individual</a:t>
            </a:r>
            <a:r>
              <a:rPr lang="fr-DZ" dirty="0">
                <a:latin typeface="Times New Roman" panose="02020603050405020304" pitchFamily="18" charset="0"/>
                <a:cs typeface="Times New Roman" panose="02020603050405020304" pitchFamily="18" charset="0"/>
              </a:rPr>
              <a:t> teams or </a:t>
            </a:r>
            <a:r>
              <a:rPr lang="fr-DZ" dirty="0" err="1">
                <a:latin typeface="Times New Roman" panose="02020603050405020304" pitchFamily="18" charset="0"/>
                <a:cs typeface="Times New Roman" panose="02020603050405020304" pitchFamily="18" charset="0"/>
              </a:rPr>
              <a:t>departments</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make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decisions</a:t>
            </a:r>
            <a:r>
              <a:rPr lang="fr-DZ" dirty="0">
                <a:latin typeface="Times New Roman" panose="02020603050405020304" pitchFamily="18" charset="0"/>
                <a:cs typeface="Times New Roman" panose="02020603050405020304" pitchFamily="18" charset="0"/>
              </a:rPr>
              <a:t> relevant to </a:t>
            </a:r>
            <a:r>
              <a:rPr lang="fr-DZ" dirty="0" err="1">
                <a:latin typeface="Times New Roman" panose="02020603050405020304" pitchFamily="18" charset="0"/>
                <a:cs typeface="Times New Roman" panose="02020603050405020304" pitchFamily="18" charset="0"/>
              </a:rPr>
              <a:t>their</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specific</a:t>
            </a:r>
            <a:r>
              <a:rPr lang="fr-DZ" dirty="0">
                <a:latin typeface="Times New Roman" panose="02020603050405020304" pitchFamily="18" charset="0"/>
                <a:cs typeface="Times New Roman" panose="02020603050405020304" pitchFamily="18" charset="0"/>
              </a:rPr>
              <a:t> areas. </a:t>
            </a:r>
          </a:p>
          <a:p>
            <a:pPr algn="just"/>
            <a:endParaRPr lang="fr-DZ" dirty="0">
              <a:latin typeface="Times New Roman" panose="02020603050405020304" pitchFamily="18" charset="0"/>
              <a:cs typeface="Times New Roman" panose="02020603050405020304" pitchFamily="18" charset="0"/>
            </a:endParaRPr>
          </a:p>
          <a:p>
            <a:pPr algn="just"/>
            <a:r>
              <a:rPr lang="fr-DZ" dirty="0" err="1">
                <a:latin typeface="Times New Roman" panose="02020603050405020304" pitchFamily="18" charset="0"/>
                <a:cs typeface="Times New Roman" panose="02020603050405020304" pitchFamily="18" charset="0"/>
              </a:rPr>
              <a:t>Hierarchical</a:t>
            </a:r>
            <a:r>
              <a:rPr lang="fr-DZ" dirty="0">
                <a:latin typeface="Times New Roman" panose="02020603050405020304" pitchFamily="18" charset="0"/>
                <a:cs typeface="Times New Roman" panose="02020603050405020304" pitchFamily="18" charset="0"/>
              </a:rPr>
              <a:t> Management:  This system </a:t>
            </a:r>
            <a:r>
              <a:rPr lang="fr-DZ" dirty="0" err="1">
                <a:latin typeface="Times New Roman" panose="02020603050405020304" pitchFamily="18" charset="0"/>
                <a:cs typeface="Times New Roman" panose="02020603050405020304" pitchFamily="18" charset="0"/>
              </a:rPr>
              <a:t>is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structured</a:t>
            </a:r>
            <a:r>
              <a:rPr lang="fr-DZ" dirty="0">
                <a:latin typeface="Times New Roman" panose="02020603050405020304" pitchFamily="18" charset="0"/>
                <a:cs typeface="Times New Roman" panose="02020603050405020304" pitchFamily="18" charset="0"/>
              </a:rPr>
              <a:t> in a </a:t>
            </a:r>
            <a:r>
              <a:rPr lang="fr-DZ" dirty="0" err="1">
                <a:latin typeface="Times New Roman" panose="02020603050405020304" pitchFamily="18" charset="0"/>
                <a:cs typeface="Times New Roman" panose="02020603050405020304" pitchFamily="18" charset="0"/>
              </a:rPr>
              <a:t>tiered</a:t>
            </a:r>
            <a:r>
              <a:rPr lang="fr-DZ" dirty="0">
                <a:latin typeface="Times New Roman" panose="02020603050405020304" pitchFamily="18" charset="0"/>
                <a:cs typeface="Times New Roman" panose="02020603050405020304" pitchFamily="18" charset="0"/>
              </a:rPr>
              <a:t> format, </a:t>
            </a:r>
            <a:r>
              <a:rPr lang="fr-DZ" dirty="0" err="1">
                <a:latin typeface="Times New Roman" panose="02020603050405020304" pitchFamily="18" charset="0"/>
                <a:cs typeface="Times New Roman" panose="02020603050405020304" pitchFamily="18" charset="0"/>
              </a:rPr>
              <a:t>with</a:t>
            </a:r>
            <a:r>
              <a:rPr lang="fr-DZ" dirty="0">
                <a:latin typeface="Times New Roman" panose="02020603050405020304" pitchFamily="18" charset="0"/>
                <a:cs typeface="Times New Roman" panose="02020603050405020304" pitchFamily="18" charset="0"/>
              </a:rPr>
              <a:t> multiple </a:t>
            </a:r>
            <a:r>
              <a:rPr lang="fr-DZ" dirty="0" err="1">
                <a:latin typeface="Times New Roman" panose="02020603050405020304" pitchFamily="18" charset="0"/>
                <a:cs typeface="Times New Roman" panose="02020603050405020304" pitchFamily="18" charset="0"/>
              </a:rPr>
              <a:t>levels</a:t>
            </a:r>
            <a:r>
              <a:rPr lang="fr-DZ" dirty="0">
                <a:latin typeface="Times New Roman" panose="02020603050405020304" pitchFamily="18" charset="0"/>
                <a:cs typeface="Times New Roman" panose="02020603050405020304" pitchFamily="18" charset="0"/>
              </a:rPr>
              <a:t> of </a:t>
            </a:r>
            <a:r>
              <a:rPr lang="fr-DZ" dirty="0" err="1">
                <a:latin typeface="Times New Roman" panose="02020603050405020304" pitchFamily="18" charset="0"/>
                <a:cs typeface="Times New Roman" panose="02020603050405020304" pitchFamily="18" charset="0"/>
              </a:rPr>
              <a:t>authority</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clear</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reporting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lines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Hierarchical</a:t>
            </a:r>
            <a:r>
              <a:rPr lang="fr-DZ" dirty="0">
                <a:latin typeface="Times New Roman" panose="02020603050405020304" pitchFamily="18" charset="0"/>
                <a:cs typeface="Times New Roman" panose="02020603050405020304" pitchFamily="18" charset="0"/>
              </a:rPr>
              <a:t> management </a:t>
            </a:r>
            <a:r>
              <a:rPr lang="fr-DZ" dirty="0" err="1">
                <a:latin typeface="Times New Roman" panose="02020603050405020304" pitchFamily="18" charset="0"/>
                <a:cs typeface="Times New Roman" panose="02020603050405020304" pitchFamily="18" charset="0"/>
              </a:rPr>
              <a:t>facilitates</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clear</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role</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definitions</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accountability</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making</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it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easier</a:t>
            </a:r>
            <a:r>
              <a:rPr lang="fr-DZ" dirty="0">
                <a:latin typeface="Times New Roman" panose="02020603050405020304" pitchFamily="18" charset="0"/>
                <a:cs typeface="Times New Roman" panose="02020603050405020304" pitchFamily="18" charset="0"/>
              </a:rPr>
              <a:t> to </a:t>
            </a:r>
            <a:r>
              <a:rPr lang="fr-DZ" dirty="0" err="1">
                <a:latin typeface="Times New Roman" panose="02020603050405020304" pitchFamily="18" charset="0"/>
                <a:cs typeface="Times New Roman" panose="02020603050405020304" pitchFamily="18" charset="0"/>
              </a:rPr>
              <a:t>implement</a:t>
            </a:r>
            <a:r>
              <a:rPr lang="fr-DZ" dirty="0">
                <a:latin typeface="Times New Roman" panose="02020603050405020304" pitchFamily="18" charset="0"/>
                <a:cs typeface="Times New Roman" panose="02020603050405020304" pitchFamily="18" charset="0"/>
              </a:rPr>
              <a:t> </a:t>
            </a:r>
            <a:r>
              <a:rPr lang="fr-DZ" dirty="0" err="1">
                <a:latin typeface="Times New Roman" panose="02020603050405020304" pitchFamily="18" charset="0"/>
                <a:cs typeface="Times New Roman" panose="02020603050405020304" pitchFamily="18" charset="0"/>
              </a:rPr>
              <a:t>policies</a:t>
            </a:r>
            <a:r>
              <a:rPr lang="fr-DZ" dirty="0">
                <a:latin typeface="Times New Roman" panose="02020603050405020304" pitchFamily="18" charset="0"/>
                <a:cs typeface="Times New Roman" panose="02020603050405020304" pitchFamily="18" charset="0"/>
              </a:rPr>
              <a:t> and </a:t>
            </a:r>
            <a:r>
              <a:rPr lang="fr-DZ" dirty="0" err="1">
                <a:latin typeface="Times New Roman" panose="02020603050405020304" pitchFamily="18" charset="0"/>
                <a:cs typeface="Times New Roman" panose="02020603050405020304" pitchFamily="18" charset="0"/>
              </a:rPr>
              <a:t>strategies</a:t>
            </a:r>
            <a:r>
              <a:rPr lang="fr-DZ" dirty="0">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9CB32FBB-A794-6AEC-F6F1-6D33A7C9ACD7}"/>
              </a:ext>
            </a:extLst>
          </p:cNvPr>
          <p:cNvSpPr txBox="1"/>
          <p:nvPr/>
        </p:nvSpPr>
        <p:spPr>
          <a:xfrm>
            <a:off x="2566020" y="249804"/>
            <a:ext cx="7544589" cy="646331"/>
          </a:xfrm>
          <a:prstGeom prst="rect">
            <a:avLst/>
          </a:prstGeom>
          <a:noFill/>
        </p:spPr>
        <p:txBody>
          <a:bodyPr wrap="square">
            <a:spAutoFit/>
          </a:bodyPr>
          <a:lstStyle/>
          <a:p>
            <a:pPr algn="ctr"/>
            <a:r>
              <a:rPr lang="fr-DZ" sz="3600" b="1" dirty="0">
                <a:latin typeface="Times New Roman" panose="02020603050405020304" pitchFamily="18" charset="0"/>
                <a:cs typeface="Times New Roman" panose="02020603050405020304" pitchFamily="18" charset="0"/>
              </a:rPr>
              <a:t>Network Management Architectures</a:t>
            </a:r>
          </a:p>
        </p:txBody>
      </p:sp>
      <p:pic>
        <p:nvPicPr>
          <p:cNvPr id="4102" name="Picture 6" descr="Distributed Metro WLAN Monitoring">
            <a:extLst>
              <a:ext uri="{FF2B5EF4-FFF2-40B4-BE49-F238E27FC236}">
                <a16:creationId xmlns:a16="http://schemas.microsoft.com/office/drawing/2014/main" id="{9DEFF83B-CCCD-19B7-256F-6E0CDF57683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2553"/>
          <a:stretch>
            <a:fillRect/>
          </a:stretch>
        </p:blipFill>
        <p:spPr bwMode="auto">
          <a:xfrm>
            <a:off x="4402223" y="4443937"/>
            <a:ext cx="3384377" cy="2205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8430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0131B4-8090-B400-FF6C-206761FD1050}"/>
              </a:ext>
            </a:extLst>
          </p:cNvPr>
          <p:cNvSpPr txBox="1"/>
          <p:nvPr/>
        </p:nvSpPr>
        <p:spPr>
          <a:xfrm>
            <a:off x="2277988" y="332656"/>
            <a:ext cx="6314820" cy="1200329"/>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Network Management Protocols and Tools</a:t>
            </a:r>
            <a:endParaRPr lang="fr-DZ"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1293591-D444-6447-C328-B44DECC614F0}"/>
              </a:ext>
            </a:extLst>
          </p:cNvPr>
          <p:cNvSpPr txBox="1"/>
          <p:nvPr/>
        </p:nvSpPr>
        <p:spPr>
          <a:xfrm>
            <a:off x="1197868" y="1746682"/>
            <a:ext cx="9001000" cy="1754326"/>
          </a:xfrm>
          <a:prstGeom prst="rect">
            <a:avLst/>
          </a:prstGeom>
          <a:noFill/>
        </p:spPr>
        <p:txBody>
          <a:bodyPr wrap="square">
            <a:spAutoFit/>
          </a:bodyPr>
          <a:lstStyle/>
          <a:p>
            <a:pPr>
              <a:buNone/>
            </a:pPr>
            <a:r>
              <a:rPr lang="fr-FR" b="1" dirty="0">
                <a:latin typeface="Times New Roman" panose="02020603050405020304" pitchFamily="18" charset="0"/>
                <a:cs typeface="Times New Roman" panose="02020603050405020304" pitchFamily="18" charset="0"/>
              </a:rPr>
              <a:t>Simple Network Management Protocol (SNMP)</a:t>
            </a:r>
          </a:p>
          <a:p>
            <a:pPr>
              <a:buNone/>
            </a:pPr>
            <a:r>
              <a:rPr lang="fr-FR" dirty="0">
                <a:latin typeface="Times New Roman" panose="02020603050405020304" pitchFamily="18" charset="0"/>
                <a:cs typeface="Times New Roman" panose="02020603050405020304" pitchFamily="18" charset="0"/>
              </a:rPr>
              <a:t>SNMP </a:t>
            </a:r>
            <a:r>
              <a:rPr lang="fr-FR" dirty="0" err="1">
                <a:latin typeface="Times New Roman" panose="02020603050405020304" pitchFamily="18" charset="0"/>
                <a:cs typeface="Times New Roman" panose="02020603050405020304" pitchFamily="18" charset="0"/>
              </a:rPr>
              <a:t>is</a:t>
            </a:r>
            <a:r>
              <a:rPr lang="fr-FR" dirty="0">
                <a:latin typeface="Times New Roman" panose="02020603050405020304" pitchFamily="18" charset="0"/>
                <a:cs typeface="Times New Roman" panose="02020603050405020304" pitchFamily="18" charset="0"/>
              </a:rPr>
              <a:t> the </a:t>
            </a:r>
            <a:r>
              <a:rPr lang="fr-FR" dirty="0" err="1">
                <a:latin typeface="Times New Roman" panose="02020603050405020304" pitchFamily="18" charset="0"/>
                <a:cs typeface="Times New Roman" panose="02020603050405020304" pitchFamily="18" charset="0"/>
              </a:rPr>
              <a:t>most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widely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used</a:t>
            </a:r>
            <a:r>
              <a:rPr lang="fr-FR" dirty="0">
                <a:latin typeface="Times New Roman" panose="02020603050405020304" pitchFamily="18" charset="0"/>
                <a:cs typeface="Times New Roman" panose="02020603050405020304" pitchFamily="18" charset="0"/>
              </a:rPr>
              <a:t> network management </a:t>
            </a:r>
            <a:r>
              <a:rPr lang="fr-FR" dirty="0" err="1">
                <a:latin typeface="Times New Roman" panose="02020603050405020304" pitchFamily="18" charset="0"/>
                <a:cs typeface="Times New Roman" panose="02020603050405020304" pitchFamily="18" charset="0"/>
              </a:rPr>
              <a:t>protocol</a:t>
            </a:r>
            <a:r>
              <a:rPr lang="fr-FR" dirty="0">
                <a:latin typeface="Times New Roman" panose="02020603050405020304" pitchFamily="18" charset="0"/>
                <a:cs typeface="Times New Roman" panose="02020603050405020304" pitchFamily="18" charset="0"/>
              </a:rPr>
              <a:t>.</a:t>
            </a:r>
          </a:p>
          <a:p>
            <a:pPr>
              <a:buNone/>
            </a:pPr>
            <a:r>
              <a:rPr lang="fr-FR" dirty="0">
                <a:latin typeface="Times New Roman" panose="02020603050405020304" pitchFamily="18" charset="0"/>
                <a:cs typeface="Times New Roman" panose="02020603050405020304" pitchFamily="18" charset="0"/>
              </a:rPr>
              <a:t>Key components:</a:t>
            </a:r>
          </a:p>
          <a:p>
            <a:pPr marL="742950" lvl="1" indent="-285750">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Manager</a:t>
            </a:r>
            <a:r>
              <a:rPr lang="fr-FR" dirty="0">
                <a:latin typeface="Times New Roman" panose="02020603050405020304" pitchFamily="18" charset="0"/>
                <a:cs typeface="Times New Roman" panose="02020603050405020304" pitchFamily="18" charset="0"/>
              </a:rPr>
              <a:t> – management station</a:t>
            </a:r>
          </a:p>
          <a:p>
            <a:pPr marL="742950" lvl="1" indent="-285750">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Agent</a:t>
            </a:r>
            <a:r>
              <a:rPr lang="fr-FR" dirty="0">
                <a:latin typeface="Times New Roman" panose="02020603050405020304" pitchFamily="18" charset="0"/>
                <a:cs typeface="Times New Roman" panose="02020603050405020304" pitchFamily="18" charset="0"/>
              </a:rPr>
              <a:t> – runs on network </a:t>
            </a:r>
            <a:r>
              <a:rPr lang="fr-FR" dirty="0" err="1">
                <a:latin typeface="Times New Roman" panose="02020603050405020304" pitchFamily="18" charset="0"/>
                <a:cs typeface="Times New Roman" panose="02020603050405020304" pitchFamily="18" charset="0"/>
              </a:rPr>
              <a:t>devices</a:t>
            </a:r>
            <a:endParaRPr lang="fr-FR"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MIB</a:t>
            </a:r>
            <a:r>
              <a:rPr lang="fr-FR" dirty="0">
                <a:latin typeface="Times New Roman" panose="02020603050405020304" pitchFamily="18" charset="0"/>
                <a:cs typeface="Times New Roman" panose="02020603050405020304" pitchFamily="18" charset="0"/>
              </a:rPr>
              <a:t> – management information base</a:t>
            </a:r>
          </a:p>
        </p:txBody>
      </p:sp>
      <p:pic>
        <p:nvPicPr>
          <p:cNvPr id="5122" name="Picture 2" descr="CCNA Training » Simple Network Management Protocol SNMP Tutorial">
            <a:extLst>
              <a:ext uri="{FF2B5EF4-FFF2-40B4-BE49-F238E27FC236}">
                <a16:creationId xmlns:a16="http://schemas.microsoft.com/office/drawing/2014/main" id="{AB1E04D6-1EAF-998A-D7F1-DDBEB8CBB5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3189" y="3212976"/>
            <a:ext cx="5922445" cy="3231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3681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5DEF77E-A185-EC1C-5F6B-2851A4660C5B}"/>
              </a:ext>
            </a:extLst>
          </p:cNvPr>
          <p:cNvSpPr txBox="1"/>
          <p:nvPr/>
        </p:nvSpPr>
        <p:spPr>
          <a:xfrm>
            <a:off x="1485900" y="1412776"/>
            <a:ext cx="5230498" cy="5078313"/>
          </a:xfrm>
          <a:prstGeom prst="rect">
            <a:avLst/>
          </a:prstGeom>
          <a:noFill/>
        </p:spPr>
        <p:txBody>
          <a:bodyPr wrap="square">
            <a:spAutoFit/>
          </a:bodyPr>
          <a:lstStyle/>
          <a:p>
            <a:pPr algn="just">
              <a:buNone/>
            </a:pPr>
            <a:r>
              <a:rPr lang="en-US" dirty="0">
                <a:latin typeface="Times New Roman" panose="02020603050405020304" pitchFamily="18" charset="0"/>
                <a:cs typeface="Times New Roman" panose="02020603050405020304" pitchFamily="18" charset="0"/>
              </a:rPr>
              <a:t>Originally a Cisco technology, is an industry-standard protocol for collecting IP traffic metadata (like source/destination IP, ports, protocols, bytes) from network devices (routers, switches) to provide deep visibility into network usage, performance, security, and accounting, helping administrators understand traffic patterns, troubleshoot issues, detect threats like DDoS, and optimize bandwidth by sending flow data to a central collector for analysis. </a:t>
            </a:r>
          </a:p>
          <a:p>
            <a:pPr algn="just">
              <a:buNone/>
            </a:pPr>
            <a:r>
              <a:rPr lang="en-US" dirty="0">
                <a:latin typeface="Times New Roman" panose="02020603050405020304" pitchFamily="18" charset="0"/>
                <a:cs typeface="Times New Roman" panose="02020603050405020304" pitchFamily="18" charset="0"/>
              </a:rPr>
              <a:t>NetFlow collects </a:t>
            </a:r>
            <a:r>
              <a:rPr lang="en-US" b="1" dirty="0">
                <a:latin typeface="Times New Roman" panose="02020603050405020304" pitchFamily="18" charset="0"/>
                <a:cs typeface="Times New Roman" panose="02020603050405020304" pitchFamily="18" charset="0"/>
              </a:rPr>
              <a:t>traffic flow statistics</a:t>
            </a:r>
            <a:r>
              <a:rPr lang="en-US" dirty="0">
                <a:latin typeface="Times New Roman" panose="02020603050405020304" pitchFamily="18" charset="0"/>
                <a:cs typeface="Times New Roman" panose="02020603050405020304" pitchFamily="18" charset="0"/>
              </a:rPr>
              <a:t>, including:</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Source and destination IP</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Ports</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Protocols</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Volume and duration</a:t>
            </a:r>
          </a:p>
          <a:p>
            <a:pPr algn="just">
              <a:buNone/>
            </a:pPr>
            <a:r>
              <a:rPr lang="en-US" dirty="0">
                <a:latin typeface="Times New Roman" panose="02020603050405020304" pitchFamily="18" charset="0"/>
                <a:cs typeface="Times New Roman" panose="02020603050405020304" pitchFamily="18" charset="0"/>
              </a:rPr>
              <a:t>Used for:</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Traffic analysis</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Capacity planning</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Anomaly detection</a:t>
            </a:r>
          </a:p>
        </p:txBody>
      </p:sp>
      <p:sp>
        <p:nvSpPr>
          <p:cNvPr id="10" name="TextBox 9">
            <a:extLst>
              <a:ext uri="{FF2B5EF4-FFF2-40B4-BE49-F238E27FC236}">
                <a16:creationId xmlns:a16="http://schemas.microsoft.com/office/drawing/2014/main" id="{82B5DDA2-AD03-E8FF-67F3-701301BE425D}"/>
              </a:ext>
            </a:extLst>
          </p:cNvPr>
          <p:cNvSpPr txBox="1"/>
          <p:nvPr/>
        </p:nvSpPr>
        <p:spPr>
          <a:xfrm>
            <a:off x="2687071" y="548680"/>
            <a:ext cx="6814682" cy="646331"/>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NetFlow and Traffic Monitoring</a:t>
            </a:r>
          </a:p>
        </p:txBody>
      </p:sp>
      <p:pic>
        <p:nvPicPr>
          <p:cNvPr id="6146" name="Picture 2" descr="What is NetFlow Data?">
            <a:extLst>
              <a:ext uri="{FF2B5EF4-FFF2-40B4-BE49-F238E27FC236}">
                <a16:creationId xmlns:a16="http://schemas.microsoft.com/office/drawing/2014/main" id="{F706D4B5-053B-53DC-004E-05AFE7C073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4430" y="1645517"/>
            <a:ext cx="4274946" cy="4772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9087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1A4855-A5E9-D775-458F-D16EE1052F48}"/>
              </a:ext>
            </a:extLst>
          </p:cNvPr>
          <p:cNvSpPr txBox="1"/>
          <p:nvPr/>
        </p:nvSpPr>
        <p:spPr>
          <a:xfrm>
            <a:off x="1146538" y="1340768"/>
            <a:ext cx="9628394" cy="5028556"/>
          </a:xfrm>
          <a:prstGeom prst="rect">
            <a:avLst/>
          </a:prstGeom>
          <a:noFill/>
        </p:spPr>
        <p:txBody>
          <a:bodyPr wrap="square">
            <a:spAutoFit/>
          </a:bodyPr>
          <a:lstStyle/>
          <a:p>
            <a:pPr>
              <a:lnSpc>
                <a:spcPct val="150000"/>
              </a:lnSpc>
              <a:buNone/>
            </a:pPr>
            <a:r>
              <a:rPr lang="en-US" dirty="0">
                <a:latin typeface="Times New Roman" panose="02020603050405020304" pitchFamily="18" charset="0"/>
                <a:cs typeface="Times New Roman" panose="02020603050405020304" pitchFamily="18" charset="0"/>
              </a:rPr>
              <a:t>Network troubleshooting is the </a:t>
            </a:r>
            <a:r>
              <a:rPr lang="en-US" b="1" dirty="0">
                <a:latin typeface="Times New Roman" panose="02020603050405020304" pitchFamily="18" charset="0"/>
                <a:cs typeface="Times New Roman" panose="02020603050405020304" pitchFamily="18" charset="0"/>
              </a:rPr>
              <a:t>systematic process</a:t>
            </a:r>
            <a:r>
              <a:rPr lang="en-US" dirty="0">
                <a:latin typeface="Times New Roman" panose="02020603050405020304" pitchFamily="18" charset="0"/>
                <a:cs typeface="Times New Roman" panose="02020603050405020304" pitchFamily="18" charset="0"/>
              </a:rPr>
              <a:t> of identifying, diagnosing, and resolving problems that affect network </a:t>
            </a:r>
            <a:r>
              <a:rPr lang="en-US" b="1" dirty="0">
                <a:latin typeface="Times New Roman" panose="02020603050405020304" pitchFamily="18" charset="0"/>
                <a:cs typeface="Times New Roman" panose="02020603050405020304" pitchFamily="18" charset="0"/>
              </a:rPr>
              <a:t>connectivity, performance, or reliability</a:t>
            </a:r>
            <a:r>
              <a:rPr lang="en-US" dirty="0">
                <a:latin typeface="Times New Roman" panose="02020603050405020304" pitchFamily="18" charset="0"/>
                <a:cs typeface="Times New Roman" panose="02020603050405020304" pitchFamily="18" charset="0"/>
              </a:rPr>
              <a:t>.</a:t>
            </a:r>
          </a:p>
          <a:p>
            <a:pPr>
              <a:lnSpc>
                <a:spcPct val="150000"/>
              </a:lnSpc>
              <a:buNone/>
            </a:pPr>
            <a:r>
              <a:rPr lang="en-US" b="1" dirty="0">
                <a:latin typeface="Times New Roman" panose="02020603050405020304" pitchFamily="18" charset="0"/>
                <a:cs typeface="Times New Roman" panose="02020603050405020304" pitchFamily="18" charset="0"/>
              </a:rPr>
              <a:t>Why Network Troubleshooting Is Challenging</a:t>
            </a:r>
          </a:p>
          <a:p>
            <a:pPr>
              <a:lnSpc>
                <a:spcPct val="150000"/>
              </a:lnSpc>
              <a:buNone/>
            </a:pPr>
            <a:r>
              <a:rPr lang="en-US" dirty="0">
                <a:latin typeface="Times New Roman" panose="02020603050405020304" pitchFamily="18" charset="0"/>
                <a:cs typeface="Times New Roman" panose="02020603050405020304" pitchFamily="18" charset="0"/>
              </a:rPr>
              <a:t>Network problems are difficult because:</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Networks are </a:t>
            </a:r>
            <a:r>
              <a:rPr lang="en-US" b="1" dirty="0">
                <a:latin typeface="Times New Roman" panose="02020603050405020304" pitchFamily="18" charset="0"/>
                <a:cs typeface="Times New Roman" panose="02020603050405020304" pitchFamily="18" charset="0"/>
              </a:rPr>
              <a:t>distributed systems</a:t>
            </a:r>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Problems may occur at </a:t>
            </a:r>
            <a:r>
              <a:rPr lang="en-US" b="1" dirty="0">
                <a:latin typeface="Times New Roman" panose="02020603050405020304" pitchFamily="18" charset="0"/>
                <a:cs typeface="Times New Roman" panose="02020603050405020304" pitchFamily="18" charset="0"/>
              </a:rPr>
              <a:t>multiple layers</a:t>
            </a:r>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Symptoms and causes are often different</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Changes in one part affect others</a:t>
            </a:r>
          </a:p>
          <a:p>
            <a:pPr>
              <a:lnSpc>
                <a:spcPct val="150000"/>
              </a:lnSpc>
              <a:buNone/>
            </a:pPr>
            <a:r>
              <a:rPr lang="en-US" dirty="0">
                <a:latin typeface="Times New Roman" panose="02020603050405020304" pitchFamily="18" charset="0"/>
                <a:cs typeface="Times New Roman" panose="02020603050405020304" pitchFamily="18" charset="0"/>
              </a:rPr>
              <a:t>Effective troubleshooting requires:</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Methodology</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Layered thinking</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Accurate observation</a:t>
            </a:r>
          </a:p>
        </p:txBody>
      </p:sp>
      <p:sp>
        <p:nvSpPr>
          <p:cNvPr id="5" name="TextBox 4">
            <a:extLst>
              <a:ext uri="{FF2B5EF4-FFF2-40B4-BE49-F238E27FC236}">
                <a16:creationId xmlns:a16="http://schemas.microsoft.com/office/drawing/2014/main" id="{9F0C78B9-2CE2-5E21-89B8-C535686E35F8}"/>
              </a:ext>
            </a:extLst>
          </p:cNvPr>
          <p:cNvSpPr txBox="1"/>
          <p:nvPr/>
        </p:nvSpPr>
        <p:spPr>
          <a:xfrm>
            <a:off x="2782044" y="404664"/>
            <a:ext cx="6098796"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Network Troubleshooting</a:t>
            </a:r>
            <a:endParaRPr lang="fr-DZ" sz="3600" dirty="0">
              <a:latin typeface="Times New Roman" panose="02020603050405020304" pitchFamily="18" charset="0"/>
              <a:cs typeface="Times New Roman" panose="02020603050405020304" pitchFamily="18" charset="0"/>
            </a:endParaRPr>
          </a:p>
        </p:txBody>
      </p:sp>
      <p:pic>
        <p:nvPicPr>
          <p:cNvPr id="7170" name="Picture 2" descr="Network Troubleshooting 101">
            <a:extLst>
              <a:ext uri="{FF2B5EF4-FFF2-40B4-BE49-F238E27FC236}">
                <a16:creationId xmlns:a16="http://schemas.microsoft.com/office/drawing/2014/main" id="{4B72BA47-C3BA-CDBA-1308-2E27EFD4B4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8388" y="3048928"/>
            <a:ext cx="4896544" cy="2754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62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BE6B9C-33D0-A61A-3A19-24C4EB668DD4}"/>
              </a:ext>
            </a:extLst>
          </p:cNvPr>
          <p:cNvSpPr txBox="1"/>
          <p:nvPr/>
        </p:nvSpPr>
        <p:spPr>
          <a:xfrm>
            <a:off x="1402505" y="2049815"/>
            <a:ext cx="2315644" cy="3139321"/>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Typical issues include: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connectivity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Intermittent connectivity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latency or jitter</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Packet loss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Routing loops or black holes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Misconfigurations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Security-related disruptions</a:t>
            </a:r>
          </a:p>
        </p:txBody>
      </p:sp>
      <p:sp>
        <p:nvSpPr>
          <p:cNvPr id="10" name="TextBox 9">
            <a:extLst>
              <a:ext uri="{FF2B5EF4-FFF2-40B4-BE49-F238E27FC236}">
                <a16:creationId xmlns:a16="http://schemas.microsoft.com/office/drawing/2014/main" id="{19D8E020-B5CD-6306-01F5-F5D774B830F5}"/>
              </a:ext>
            </a:extLst>
          </p:cNvPr>
          <p:cNvSpPr txBox="1"/>
          <p:nvPr/>
        </p:nvSpPr>
        <p:spPr>
          <a:xfrm>
            <a:off x="4222204" y="1916832"/>
            <a:ext cx="3911207" cy="3693319"/>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Two common approaches:</a:t>
            </a:r>
          </a:p>
          <a:p>
            <a:pPr>
              <a:buNone/>
            </a:pPr>
            <a:r>
              <a:rPr lang="en-US" b="1" dirty="0">
                <a:latin typeface="Times New Roman" panose="02020603050405020304" pitchFamily="18" charset="0"/>
                <a:cs typeface="Times New Roman" panose="02020603050405020304" pitchFamily="18" charset="0"/>
              </a:rPr>
              <a:t>Bottom-Up</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Start at Physical Layer</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Check cables, interfaces, signals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Move upward</a:t>
            </a:r>
          </a:p>
          <a:p>
            <a:pPr>
              <a:buNone/>
            </a:pPr>
            <a:r>
              <a:rPr lang="en-US" b="1" dirty="0">
                <a:latin typeface="Times New Roman" panose="02020603050405020304" pitchFamily="18" charset="0"/>
                <a:cs typeface="Times New Roman" panose="02020603050405020304" pitchFamily="18" charset="0"/>
              </a:rPr>
              <a:t>Top-Down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Start at Application Layer</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Check services and protocols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Move downward</a:t>
            </a:r>
          </a:p>
          <a:p>
            <a:pPr>
              <a:buNone/>
            </a:pPr>
            <a:r>
              <a:rPr lang="en-US" dirty="0">
                <a:latin typeface="Times New Roman" panose="02020603050405020304" pitchFamily="18" charset="0"/>
                <a:cs typeface="Times New Roman" panose="02020603050405020304" pitchFamily="18" charset="0"/>
              </a:rPr>
              <a:t>Choice depends 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Symptoms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Network complexity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Time constraints</a:t>
            </a:r>
          </a:p>
        </p:txBody>
      </p:sp>
      <p:sp>
        <p:nvSpPr>
          <p:cNvPr id="12" name="TextBox 11">
            <a:extLst>
              <a:ext uri="{FF2B5EF4-FFF2-40B4-BE49-F238E27FC236}">
                <a16:creationId xmlns:a16="http://schemas.microsoft.com/office/drawing/2014/main" id="{16032EFB-8690-0E5F-79FB-BCD00950B38E}"/>
              </a:ext>
            </a:extLst>
          </p:cNvPr>
          <p:cNvSpPr txBox="1"/>
          <p:nvPr/>
        </p:nvSpPr>
        <p:spPr>
          <a:xfrm>
            <a:off x="7820578" y="2036963"/>
            <a:ext cx="3839388" cy="2585323"/>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A recommended step-by-step method:</a:t>
            </a:r>
          </a:p>
          <a:p>
            <a:pPr>
              <a:buFont typeface="+mj-lt"/>
              <a:buAutoNum type="arabicPeriod"/>
            </a:pPr>
            <a:r>
              <a:rPr lang="en-US" dirty="0">
                <a:latin typeface="Times New Roman" panose="02020603050405020304" pitchFamily="18" charset="0"/>
                <a:cs typeface="Times New Roman" panose="02020603050405020304" pitchFamily="18" charset="0"/>
              </a:rPr>
              <a:t>Identify the problem</a:t>
            </a:r>
          </a:p>
          <a:p>
            <a:pPr>
              <a:buFont typeface="+mj-lt"/>
              <a:buAutoNum type="arabicPeriod"/>
            </a:pPr>
            <a:r>
              <a:rPr lang="en-US" dirty="0">
                <a:latin typeface="Times New Roman" panose="02020603050405020304" pitchFamily="18" charset="0"/>
                <a:cs typeface="Times New Roman" panose="02020603050405020304" pitchFamily="18" charset="0"/>
              </a:rPr>
              <a:t>Define the scope</a:t>
            </a:r>
          </a:p>
          <a:p>
            <a:pPr>
              <a:buFont typeface="+mj-lt"/>
              <a:buAutoNum type="arabicPeriod"/>
            </a:pPr>
            <a:r>
              <a:rPr lang="en-US" dirty="0">
                <a:latin typeface="Times New Roman" panose="02020603050405020304" pitchFamily="18" charset="0"/>
                <a:cs typeface="Times New Roman" panose="02020603050405020304" pitchFamily="18" charset="0"/>
              </a:rPr>
              <a:t>Gather information</a:t>
            </a:r>
          </a:p>
          <a:p>
            <a:pPr>
              <a:buFont typeface="+mj-lt"/>
              <a:buAutoNum type="arabicPeriod"/>
            </a:pPr>
            <a:r>
              <a:rPr lang="en-US" dirty="0">
                <a:latin typeface="Times New Roman" panose="02020603050405020304" pitchFamily="18" charset="0"/>
                <a:cs typeface="Times New Roman" panose="02020603050405020304" pitchFamily="18" charset="0"/>
              </a:rPr>
              <a:t>Analyze possible causes</a:t>
            </a:r>
          </a:p>
          <a:p>
            <a:pPr>
              <a:buFont typeface="+mj-lt"/>
              <a:buAutoNum type="arabicPeriod"/>
            </a:pPr>
            <a:r>
              <a:rPr lang="en-US" dirty="0">
                <a:latin typeface="Times New Roman" panose="02020603050405020304" pitchFamily="18" charset="0"/>
                <a:cs typeface="Times New Roman" panose="02020603050405020304" pitchFamily="18" charset="0"/>
              </a:rPr>
              <a:t>Test hypotheses</a:t>
            </a:r>
          </a:p>
          <a:p>
            <a:pPr>
              <a:buFont typeface="+mj-lt"/>
              <a:buAutoNum type="arabicPeriod"/>
            </a:pPr>
            <a:r>
              <a:rPr lang="en-US" dirty="0">
                <a:latin typeface="Times New Roman" panose="02020603050405020304" pitchFamily="18" charset="0"/>
                <a:cs typeface="Times New Roman" panose="02020603050405020304" pitchFamily="18" charset="0"/>
              </a:rPr>
              <a:t>Apply the solution</a:t>
            </a:r>
          </a:p>
          <a:p>
            <a:pPr>
              <a:buFont typeface="+mj-lt"/>
              <a:buAutoNum type="arabicPeriod"/>
            </a:pPr>
            <a:r>
              <a:rPr lang="en-US" dirty="0">
                <a:latin typeface="Times New Roman" panose="02020603050405020304" pitchFamily="18" charset="0"/>
                <a:cs typeface="Times New Roman" panose="02020603050405020304" pitchFamily="18" charset="0"/>
              </a:rPr>
              <a:t>Verify and document</a:t>
            </a:r>
          </a:p>
          <a:p>
            <a:pPr>
              <a:buNone/>
            </a:pPr>
            <a:r>
              <a:rPr lang="en-US" dirty="0">
                <a:latin typeface="Times New Roman" panose="02020603050405020304" pitchFamily="18" charset="0"/>
                <a:cs typeface="Times New Roman" panose="02020603050405020304" pitchFamily="18" charset="0"/>
              </a:rPr>
              <a:t>This avoids </a:t>
            </a:r>
            <a:r>
              <a:rPr lang="en-US" b="1" dirty="0">
                <a:latin typeface="Times New Roman" panose="02020603050405020304" pitchFamily="18" charset="0"/>
                <a:cs typeface="Times New Roman" panose="02020603050405020304" pitchFamily="18" charset="0"/>
              </a:rPr>
              <a:t>random trial-and-error</a:t>
            </a:r>
            <a:r>
              <a:rPr lang="en-US" dirty="0">
                <a:latin typeface="Times New Roman" panose="02020603050405020304" pitchFamily="18" charset="0"/>
                <a:cs typeface="Times New Roman" panose="02020603050405020304" pitchFamily="18" charset="0"/>
              </a:rPr>
              <a:t>.</a:t>
            </a:r>
          </a:p>
        </p:txBody>
      </p:sp>
      <p:sp>
        <p:nvSpPr>
          <p:cNvPr id="14" name="TextBox 13">
            <a:extLst>
              <a:ext uri="{FF2B5EF4-FFF2-40B4-BE49-F238E27FC236}">
                <a16:creationId xmlns:a16="http://schemas.microsoft.com/office/drawing/2014/main" id="{6F86AA33-92A7-63C2-B6B8-2926F4F97EEA}"/>
              </a:ext>
            </a:extLst>
          </p:cNvPr>
          <p:cNvSpPr txBox="1"/>
          <p:nvPr/>
        </p:nvSpPr>
        <p:spPr>
          <a:xfrm>
            <a:off x="1673196" y="478413"/>
            <a:ext cx="8842432" cy="646331"/>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Structured Troubleshooting Methodology</a:t>
            </a:r>
          </a:p>
        </p:txBody>
      </p:sp>
    </p:spTree>
    <p:extLst>
      <p:ext uri="{BB962C8B-B14F-4D97-AF65-F5344CB8AC3E}">
        <p14:creationId xmlns:p14="http://schemas.microsoft.com/office/powerpoint/2010/main" val="2247639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92342-8D83-1BD8-07A7-F542DC5575F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51360B2-68F1-4870-DC97-0E4E1D3749CB}"/>
              </a:ext>
            </a:extLst>
          </p:cNvPr>
          <p:cNvSpPr>
            <a:spLocks noGrp="1"/>
          </p:cNvSpPr>
          <p:nvPr>
            <p:ph type="title"/>
          </p:nvPr>
        </p:nvSpPr>
        <p:spPr>
          <a:xfrm>
            <a:off x="981844" y="3543976"/>
            <a:ext cx="9541060" cy="2117272"/>
          </a:xfrm>
        </p:spPr>
        <p:txBody>
          <a:bodyPr>
            <a:normAutofit/>
          </a:bodyPr>
          <a:lstStyle/>
          <a:p>
            <a:pPr lvl="0" eaLnBrk="0" fontAlgn="base" hangingPunct="0">
              <a:lnSpc>
                <a:spcPct val="100000"/>
              </a:lnSpc>
              <a:spcAft>
                <a:spcPct val="0"/>
              </a:spcAft>
              <a:buFontTx/>
              <a:buChar char="•"/>
            </a:pPr>
            <a:r>
              <a:rPr lang="en-US" sz="1800" dirty="0">
                <a:latin typeface="Times New Roman" panose="02020603050405020304" pitchFamily="18" charset="0"/>
                <a:cs typeface="Times New Roman" panose="02020603050405020304" pitchFamily="18" charset="0"/>
              </a:rPr>
              <a:t>Objective: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fr-DZ" altLang="fr-DZ" sz="1800" dirty="0" err="1">
                <a:solidFill>
                  <a:schemeClr val="tx1"/>
                </a:solidFill>
                <a:latin typeface="Times New Roman" panose="02020603050405020304" pitchFamily="18" charset="0"/>
                <a:cs typeface="Times New Roman" panose="02020603050405020304" pitchFamily="18" charset="0"/>
              </a:rPr>
              <a:t>Understand</a:t>
            </a:r>
            <a:r>
              <a:rPr lang="fr-DZ" altLang="fr-DZ" sz="1800" dirty="0">
                <a:solidFill>
                  <a:schemeClr val="tx1"/>
                </a:solidFill>
                <a:latin typeface="Times New Roman" panose="02020603050405020304" pitchFamily="18" charset="0"/>
                <a:cs typeface="Times New Roman" panose="02020603050405020304" pitchFamily="18" charset="0"/>
              </a:rPr>
              <a:t> the </a:t>
            </a:r>
            <a:r>
              <a:rPr lang="fr-DZ" altLang="fr-DZ" sz="1800" b="1" dirty="0" err="1">
                <a:solidFill>
                  <a:schemeClr val="tx1"/>
                </a:solidFill>
                <a:latin typeface="Times New Roman" panose="02020603050405020304" pitchFamily="18" charset="0"/>
                <a:cs typeface="Times New Roman" panose="02020603050405020304" pitchFamily="18" charset="0"/>
              </a:rPr>
              <a:t>core</a:t>
            </a:r>
            <a:r>
              <a:rPr lang="fr-DZ" altLang="fr-DZ" sz="1800" b="1" dirty="0">
                <a:solidFill>
                  <a:schemeClr val="tx1"/>
                </a:solidFill>
                <a:latin typeface="Times New Roman" panose="02020603050405020304" pitchFamily="18" charset="0"/>
                <a:cs typeface="Times New Roman" panose="02020603050405020304" pitchFamily="18" charset="0"/>
              </a:rPr>
              <a:t> </a:t>
            </a:r>
            <a:r>
              <a:rPr lang="fr-DZ" altLang="fr-DZ" sz="1800" b="1" dirty="0" err="1">
                <a:solidFill>
                  <a:schemeClr val="tx1"/>
                </a:solidFill>
                <a:latin typeface="Times New Roman" panose="02020603050405020304" pitchFamily="18" charset="0"/>
                <a:cs typeface="Times New Roman" panose="02020603050405020304" pitchFamily="18" charset="0"/>
              </a:rPr>
              <a:t>principles</a:t>
            </a:r>
            <a:r>
              <a:rPr lang="fr-DZ" altLang="fr-DZ" sz="1800" b="1" dirty="0">
                <a:solidFill>
                  <a:schemeClr val="tx1"/>
                </a:solidFill>
                <a:latin typeface="Times New Roman" panose="02020603050405020304" pitchFamily="18" charset="0"/>
                <a:cs typeface="Times New Roman" panose="02020603050405020304" pitchFamily="18" charset="0"/>
              </a:rPr>
              <a:t> and technologies</a:t>
            </a:r>
            <a:r>
              <a:rPr lang="fr-DZ" altLang="fr-DZ" sz="1800" dirty="0">
                <a:solidFill>
                  <a:schemeClr val="tx1"/>
                </a:solidFill>
                <a:latin typeface="Times New Roman" panose="02020603050405020304" pitchFamily="18" charset="0"/>
                <a:cs typeface="Times New Roman" panose="02020603050405020304" pitchFamily="18" charset="0"/>
              </a:rPr>
              <a:t> of </a:t>
            </a:r>
            <a:r>
              <a:rPr lang="fr-DZ" altLang="fr-DZ" sz="1800" dirty="0" err="1">
                <a:solidFill>
                  <a:schemeClr val="tx1"/>
                </a:solidFill>
                <a:latin typeface="Times New Roman" panose="02020603050405020304" pitchFamily="18" charset="0"/>
                <a:cs typeface="Times New Roman" panose="02020603050405020304" pitchFamily="18" charset="0"/>
              </a:rPr>
              <a:t>wireless</a:t>
            </a:r>
            <a:r>
              <a:rPr lang="fr-DZ" altLang="fr-DZ" sz="1800" dirty="0">
                <a:solidFill>
                  <a:schemeClr val="tx1"/>
                </a:solidFill>
                <a:latin typeface="Times New Roman" panose="02020603050405020304" pitchFamily="18" charset="0"/>
                <a:cs typeface="Times New Roman" panose="02020603050405020304" pitchFamily="18" charset="0"/>
              </a:rPr>
              <a:t> communication.</a:t>
            </a:r>
            <a:br>
              <a:rPr lang="fr-DZ" altLang="fr-DZ" sz="1800" dirty="0">
                <a:solidFill>
                  <a:schemeClr val="tx1"/>
                </a:solidFill>
                <a:latin typeface="Times New Roman" panose="02020603050405020304" pitchFamily="18" charset="0"/>
                <a:cs typeface="Times New Roman" panose="02020603050405020304" pitchFamily="18" charset="0"/>
              </a:rPr>
            </a:br>
            <a:r>
              <a:rPr lang="fr-FR" altLang="fr-DZ" sz="1800" dirty="0">
                <a:solidFill>
                  <a:schemeClr val="tx1"/>
                </a:solidFill>
                <a:latin typeface="Times New Roman" panose="02020603050405020304" pitchFamily="18" charset="0"/>
                <a:cs typeface="Times New Roman" panose="02020603050405020304" pitchFamily="18" charset="0"/>
              </a:rPr>
              <a:t>	</a:t>
            </a:r>
            <a:r>
              <a:rPr lang="fr-DZ" altLang="fr-DZ" sz="1800" dirty="0" err="1">
                <a:solidFill>
                  <a:schemeClr val="tx1"/>
                </a:solidFill>
                <a:latin typeface="Times New Roman" panose="02020603050405020304" pitchFamily="18" charset="0"/>
                <a:cs typeface="Times New Roman" panose="02020603050405020304" pitchFamily="18" charset="0"/>
              </a:rPr>
              <a:t>Explain</a:t>
            </a:r>
            <a:r>
              <a:rPr lang="fr-DZ" altLang="fr-DZ" sz="1800" dirty="0">
                <a:solidFill>
                  <a:schemeClr val="tx1"/>
                </a:solidFill>
                <a:latin typeface="Times New Roman" panose="02020603050405020304" pitchFamily="18" charset="0"/>
                <a:cs typeface="Times New Roman" panose="02020603050405020304" pitchFamily="18" charset="0"/>
              </a:rPr>
              <a:t> </a:t>
            </a:r>
            <a:r>
              <a:rPr lang="fr-DZ" altLang="fr-DZ" sz="1800" b="1" dirty="0">
                <a:solidFill>
                  <a:schemeClr val="tx1"/>
                </a:solidFill>
                <a:latin typeface="Times New Roman" panose="02020603050405020304" pitchFamily="18" charset="0"/>
                <a:cs typeface="Times New Roman" panose="02020603050405020304" pitchFamily="18" charset="0"/>
              </a:rPr>
              <a:t>mobile network architectures and </a:t>
            </a:r>
            <a:r>
              <a:rPr lang="fr-DZ" altLang="fr-DZ" sz="1800" b="1" dirty="0" err="1">
                <a:solidFill>
                  <a:schemeClr val="tx1"/>
                </a:solidFill>
                <a:latin typeface="Times New Roman" panose="02020603050405020304" pitchFamily="18" charset="0"/>
                <a:cs typeface="Times New Roman" panose="02020603050405020304" pitchFamily="18" charset="0"/>
              </a:rPr>
              <a:t>protocols</a:t>
            </a:r>
            <a:r>
              <a:rPr lang="fr-DZ" altLang="fr-DZ" sz="1800" dirty="0">
                <a:solidFill>
                  <a:schemeClr val="tx1"/>
                </a:solidFill>
                <a:latin typeface="Times New Roman" panose="02020603050405020304" pitchFamily="18" charset="0"/>
                <a:cs typeface="Times New Roman" panose="02020603050405020304" pitchFamily="18" charset="0"/>
              </a:rPr>
              <a:t>.</a:t>
            </a:r>
            <a:br>
              <a:rPr lang="fr-DZ" altLang="fr-DZ" sz="1800" dirty="0">
                <a:solidFill>
                  <a:schemeClr val="tx1"/>
                </a:solidFill>
                <a:latin typeface="Times New Roman" panose="02020603050405020304" pitchFamily="18" charset="0"/>
                <a:cs typeface="Times New Roman" panose="02020603050405020304" pitchFamily="18" charset="0"/>
              </a:rPr>
            </a:br>
            <a:r>
              <a:rPr lang="fr-FR" altLang="fr-DZ" sz="1800" dirty="0">
                <a:solidFill>
                  <a:schemeClr val="tx1"/>
                </a:solidFill>
                <a:latin typeface="Times New Roman" panose="02020603050405020304" pitchFamily="18" charset="0"/>
                <a:cs typeface="Times New Roman" panose="02020603050405020304" pitchFamily="18" charset="0"/>
              </a:rPr>
              <a:t>	</a:t>
            </a:r>
            <a:r>
              <a:rPr lang="fr-DZ" altLang="fr-DZ" sz="1800" dirty="0" err="1">
                <a:solidFill>
                  <a:schemeClr val="tx1"/>
                </a:solidFill>
                <a:latin typeface="Times New Roman" panose="02020603050405020304" pitchFamily="18" charset="0"/>
                <a:cs typeface="Times New Roman" panose="02020603050405020304" pitchFamily="18" charset="0"/>
              </a:rPr>
              <a:t>Analyze</a:t>
            </a:r>
            <a:r>
              <a:rPr lang="fr-DZ" altLang="fr-DZ" sz="1800" dirty="0">
                <a:solidFill>
                  <a:schemeClr val="tx1"/>
                </a:solidFill>
                <a:latin typeface="Times New Roman" panose="02020603050405020304" pitchFamily="18" charset="0"/>
                <a:cs typeface="Times New Roman" panose="02020603050405020304" pitchFamily="18" charset="0"/>
              </a:rPr>
              <a:t> </a:t>
            </a:r>
            <a:r>
              <a:rPr lang="fr-DZ" altLang="fr-DZ" sz="1800" b="1" dirty="0" err="1">
                <a:solidFill>
                  <a:schemeClr val="tx1"/>
                </a:solidFill>
                <a:latin typeface="Times New Roman" panose="02020603050405020304" pitchFamily="18" charset="0"/>
                <a:cs typeface="Times New Roman" panose="02020603050405020304" pitchFamily="18" charset="0"/>
              </a:rPr>
              <a:t>security</a:t>
            </a:r>
            <a:r>
              <a:rPr lang="fr-DZ" altLang="fr-DZ" sz="1800" b="1" dirty="0">
                <a:solidFill>
                  <a:schemeClr val="tx1"/>
                </a:solidFill>
                <a:latin typeface="Times New Roman" panose="02020603050405020304" pitchFamily="18" charset="0"/>
                <a:cs typeface="Times New Roman" panose="02020603050405020304" pitchFamily="18" charset="0"/>
              </a:rPr>
              <a:t>, QoS, and </a:t>
            </a:r>
            <a:r>
              <a:rPr lang="fr-DZ" altLang="fr-DZ" sz="1800" b="1" dirty="0" err="1">
                <a:solidFill>
                  <a:schemeClr val="tx1"/>
                </a:solidFill>
                <a:latin typeface="Times New Roman" panose="02020603050405020304" pitchFamily="18" charset="0"/>
                <a:cs typeface="Times New Roman" panose="02020603050405020304" pitchFamily="18" charset="0"/>
              </a:rPr>
              <a:t>mobility</a:t>
            </a:r>
            <a:r>
              <a:rPr lang="fr-DZ" altLang="fr-DZ" sz="1800" b="1" dirty="0">
                <a:solidFill>
                  <a:schemeClr val="tx1"/>
                </a:solidFill>
                <a:latin typeface="Times New Roman" panose="02020603050405020304" pitchFamily="18" charset="0"/>
                <a:cs typeface="Times New Roman" panose="02020603050405020304" pitchFamily="18" charset="0"/>
              </a:rPr>
              <a:t> management</a:t>
            </a:r>
            <a:r>
              <a:rPr lang="fr-DZ" altLang="fr-DZ" sz="1800" dirty="0">
                <a:solidFill>
                  <a:schemeClr val="tx1"/>
                </a:solidFill>
                <a:latin typeface="Times New Roman" panose="02020603050405020304" pitchFamily="18" charset="0"/>
                <a:cs typeface="Times New Roman" panose="02020603050405020304" pitchFamily="18" charset="0"/>
              </a:rPr>
              <a:t> in </a:t>
            </a:r>
            <a:r>
              <a:rPr lang="fr-DZ" altLang="fr-DZ" sz="1800" dirty="0" err="1">
                <a:solidFill>
                  <a:schemeClr val="tx1"/>
                </a:solidFill>
                <a:latin typeface="Times New Roman" panose="02020603050405020304" pitchFamily="18" charset="0"/>
                <a:cs typeface="Times New Roman" panose="02020603050405020304" pitchFamily="18" charset="0"/>
              </a:rPr>
              <a:t>wireless</a:t>
            </a:r>
            <a:r>
              <a:rPr lang="fr-DZ" altLang="fr-DZ" sz="1800" dirty="0">
                <a:solidFill>
                  <a:schemeClr val="tx1"/>
                </a:solidFill>
                <a:latin typeface="Times New Roman" panose="02020603050405020304" pitchFamily="18" charset="0"/>
                <a:cs typeface="Times New Roman" panose="02020603050405020304" pitchFamily="18" charset="0"/>
              </a:rPr>
              <a:t> and mobile networks.</a:t>
            </a:r>
            <a:br>
              <a:rPr lang="fr-DZ" altLang="fr-DZ" sz="1800" dirty="0">
                <a:solidFill>
                  <a:schemeClr val="tx1"/>
                </a:solidFill>
                <a:latin typeface="Times New Roman" panose="02020603050405020304" pitchFamily="18" charset="0"/>
                <a:cs typeface="Times New Roman" panose="02020603050405020304" pitchFamily="18" charset="0"/>
              </a:rPr>
            </a:br>
            <a:r>
              <a:rPr lang="fr-FR" altLang="fr-DZ" sz="1800" dirty="0">
                <a:solidFill>
                  <a:schemeClr val="tx1"/>
                </a:solidFill>
                <a:latin typeface="Times New Roman" panose="02020603050405020304" pitchFamily="18" charset="0"/>
                <a:cs typeface="Times New Roman" panose="02020603050405020304" pitchFamily="18" charset="0"/>
              </a:rPr>
              <a:t>	</a:t>
            </a:r>
            <a:r>
              <a:rPr lang="fr-DZ" altLang="fr-DZ" sz="1800" dirty="0" err="1">
                <a:solidFill>
                  <a:schemeClr val="tx1"/>
                </a:solidFill>
                <a:latin typeface="Times New Roman" panose="02020603050405020304" pitchFamily="18" charset="0"/>
                <a:cs typeface="Times New Roman" panose="02020603050405020304" pitchFamily="18" charset="0"/>
              </a:rPr>
              <a:t>Identify</a:t>
            </a:r>
            <a:r>
              <a:rPr lang="fr-DZ" altLang="fr-DZ" sz="1800" dirty="0">
                <a:solidFill>
                  <a:schemeClr val="tx1"/>
                </a:solidFill>
                <a:latin typeface="Times New Roman" panose="02020603050405020304" pitchFamily="18" charset="0"/>
                <a:cs typeface="Times New Roman" panose="02020603050405020304" pitchFamily="18" charset="0"/>
              </a:rPr>
              <a:t> the </a:t>
            </a:r>
            <a:r>
              <a:rPr lang="fr-DZ" altLang="fr-DZ" sz="1800" b="1" dirty="0">
                <a:solidFill>
                  <a:schemeClr val="tx1"/>
                </a:solidFill>
                <a:latin typeface="Times New Roman" panose="02020603050405020304" pitchFamily="18" charset="0"/>
                <a:cs typeface="Times New Roman" panose="02020603050405020304" pitchFamily="18" charset="0"/>
              </a:rPr>
              <a:t>challenges and design </a:t>
            </a:r>
            <a:r>
              <a:rPr lang="fr-DZ" altLang="fr-DZ" sz="1800" b="1" dirty="0" err="1">
                <a:solidFill>
                  <a:schemeClr val="tx1"/>
                </a:solidFill>
                <a:latin typeface="Times New Roman" panose="02020603050405020304" pitchFamily="18" charset="0"/>
                <a:cs typeface="Times New Roman" panose="02020603050405020304" pitchFamily="18" charset="0"/>
              </a:rPr>
              <a:t>considerations</a:t>
            </a:r>
            <a:r>
              <a:rPr lang="fr-DZ" altLang="fr-DZ" sz="1800" dirty="0">
                <a:solidFill>
                  <a:schemeClr val="tx1"/>
                </a:solidFill>
                <a:latin typeface="Times New Roman" panose="02020603050405020304" pitchFamily="18" charset="0"/>
                <a:cs typeface="Times New Roman" panose="02020603050405020304" pitchFamily="18" charset="0"/>
              </a:rPr>
              <a:t> of modern </a:t>
            </a:r>
            <a:r>
              <a:rPr lang="fr-DZ" altLang="fr-DZ" sz="1800" dirty="0" err="1">
                <a:solidFill>
                  <a:schemeClr val="tx1"/>
                </a:solidFill>
                <a:latin typeface="Times New Roman" panose="02020603050405020304" pitchFamily="18" charset="0"/>
                <a:cs typeface="Times New Roman" panose="02020603050405020304" pitchFamily="18" charset="0"/>
              </a:rPr>
              <a:t>wireless</a:t>
            </a:r>
            <a:r>
              <a:rPr lang="fr-DZ" altLang="fr-DZ" sz="1800" dirty="0">
                <a:solidFill>
                  <a:schemeClr val="tx1"/>
                </a:solidFill>
                <a:latin typeface="Times New Roman" panose="02020603050405020304" pitchFamily="18" charset="0"/>
                <a:cs typeface="Times New Roman" panose="02020603050405020304" pitchFamily="18" charset="0"/>
              </a:rPr>
              <a:t> and mobile </a:t>
            </a:r>
            <a:r>
              <a:rPr lang="fr-DZ" altLang="fr-DZ" sz="1800" dirty="0" err="1">
                <a:solidFill>
                  <a:schemeClr val="tx1"/>
                </a:solidFill>
                <a:latin typeface="Times New Roman" panose="02020603050405020304" pitchFamily="18" charset="0"/>
                <a:cs typeface="Times New Roman" panose="02020603050405020304" pitchFamily="18" charset="0"/>
              </a:rPr>
              <a:t>systems</a:t>
            </a:r>
            <a:r>
              <a:rPr lang="fr-DZ" altLang="fr-DZ" sz="1800" dirty="0">
                <a:solidFill>
                  <a:schemeClr val="tx1"/>
                </a:solidFill>
                <a:latin typeface="Times New Roman" panose="02020603050405020304" pitchFamily="18" charset="0"/>
                <a:cs typeface="Times New Roman" panose="02020603050405020304" pitchFamily="18" charset="0"/>
              </a:rPr>
              <a:t>.</a:t>
            </a:r>
            <a:br>
              <a:rPr lang="fr-DZ" altLang="fr-DZ" sz="1800" dirty="0">
                <a:solidFill>
                  <a:schemeClr val="tx1"/>
                </a:solidFill>
                <a:latin typeface="Arial" panose="020B0604020202020204" pitchFamily="34" charset="0"/>
              </a:rPr>
            </a:br>
            <a:br>
              <a:rPr lang="en-US" sz="1800" dirty="0"/>
            </a:br>
            <a:endParaRPr lang="en-US" sz="1800" dirty="0"/>
          </a:p>
        </p:txBody>
      </p:sp>
      <p:sp>
        <p:nvSpPr>
          <p:cNvPr id="7" name="Text Placeholder 4">
            <a:extLst>
              <a:ext uri="{FF2B5EF4-FFF2-40B4-BE49-F238E27FC236}">
                <a16:creationId xmlns:a16="http://schemas.microsoft.com/office/drawing/2014/main" id="{79A748AE-2F90-0101-7E0F-C21CBEEEC7C1}"/>
              </a:ext>
            </a:extLst>
          </p:cNvPr>
          <p:cNvSpPr>
            <a:spLocks noGrp="1"/>
          </p:cNvSpPr>
          <p:nvPr>
            <p:ph type="body" idx="1"/>
          </p:nvPr>
        </p:nvSpPr>
        <p:spPr>
          <a:xfrm>
            <a:off x="981844" y="1124744"/>
            <a:ext cx="7264623" cy="1150203"/>
          </a:xfrm>
        </p:spPr>
        <p:txBody>
          <a:bodyPr/>
          <a:lstStyle/>
          <a:p>
            <a:r>
              <a:rPr lang="fr-FR" dirty="0" err="1">
                <a:latin typeface="Times New Roman" panose="02020603050405020304" pitchFamily="18" charset="0"/>
                <a:cs typeface="Times New Roman" panose="02020603050405020304" pitchFamily="18" charset="0"/>
              </a:rPr>
              <a:t>Chapter</a:t>
            </a:r>
            <a:r>
              <a:rPr lang="fr-FR" dirty="0">
                <a:latin typeface="Times New Roman" panose="02020603050405020304" pitchFamily="18" charset="0"/>
                <a:cs typeface="Times New Roman" panose="02020603050405020304" pitchFamily="18" charset="0"/>
              </a:rPr>
              <a:t> 07</a:t>
            </a:r>
            <a:endParaRPr lang="en-US" dirty="0"/>
          </a:p>
        </p:txBody>
      </p:sp>
      <p:sp>
        <p:nvSpPr>
          <p:cNvPr id="8" name="Title 1">
            <a:extLst>
              <a:ext uri="{FF2B5EF4-FFF2-40B4-BE49-F238E27FC236}">
                <a16:creationId xmlns:a16="http://schemas.microsoft.com/office/drawing/2014/main" id="{BB7138A6-E879-3E7E-B598-A0AAAAAE6774}"/>
              </a:ext>
            </a:extLst>
          </p:cNvPr>
          <p:cNvSpPr txBox="1">
            <a:spLocks/>
          </p:cNvSpPr>
          <p:nvPr/>
        </p:nvSpPr>
        <p:spPr>
          <a:xfrm>
            <a:off x="1134243" y="1206984"/>
            <a:ext cx="10472463" cy="265406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400" b="0" kern="1200" cap="none" baseline="0">
                <a:solidFill>
                  <a:schemeClr val="tx1">
                    <a:lumMod val="75000"/>
                  </a:schemeClr>
                </a:solidFill>
                <a:latin typeface="+mj-lt"/>
                <a:ea typeface="+mj-ea"/>
                <a:cs typeface="+mj-cs"/>
              </a:defRPr>
            </a:lvl1pPr>
          </a:lstStyle>
          <a:p>
            <a:pPr algn="ctr"/>
            <a:r>
              <a:rPr lang="fr-FR" sz="6000" b="1" dirty="0">
                <a:latin typeface="Bahnschrift Condensed" panose="020B0502040204020203" pitchFamily="34" charset="0"/>
                <a:cs typeface="Times New Roman" panose="02020603050405020304" pitchFamily="18" charset="0"/>
              </a:rPr>
              <a:t>Wireless and Mobile Networks</a:t>
            </a:r>
            <a:endParaRPr lang="fr-DZ" sz="6000" b="1" dirty="0">
              <a:latin typeface="Bahnschrift Condensed" panose="020B0502040204020203" pitchFamily="34" charset="0"/>
              <a:cs typeface="Times New Roman" panose="02020603050405020304" pitchFamily="18" charset="0"/>
            </a:endParaRPr>
          </a:p>
          <a:p>
            <a:pPr algn="ctr"/>
            <a:endParaRPr lang="en-US" sz="6000" b="1" dirty="0">
              <a:latin typeface="Bahnschrift Condensed" panose="020B0502040204020203" pitchFamily="34" charset="0"/>
            </a:endParaRPr>
          </a:p>
        </p:txBody>
      </p:sp>
    </p:spTree>
    <p:extLst>
      <p:ext uri="{BB962C8B-B14F-4D97-AF65-F5344CB8AC3E}">
        <p14:creationId xmlns:p14="http://schemas.microsoft.com/office/powerpoint/2010/main" val="3108977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43E2A9-8829-6648-14F8-D8897C6FB7B7}"/>
              </a:ext>
            </a:extLst>
          </p:cNvPr>
          <p:cNvSpPr txBox="1"/>
          <p:nvPr/>
        </p:nvSpPr>
        <p:spPr>
          <a:xfrm>
            <a:off x="981844" y="2276872"/>
            <a:ext cx="4536504" cy="3693319"/>
          </a:xfrm>
          <a:prstGeom prst="rect">
            <a:avLst/>
          </a:prstGeom>
          <a:noFill/>
        </p:spPr>
        <p:txBody>
          <a:bodyPr wrap="square">
            <a:spAutoFit/>
          </a:bodyPr>
          <a:lstStyle/>
          <a:p>
            <a:pPr algn="just">
              <a:buNone/>
            </a:pPr>
            <a:r>
              <a:rPr lang="fr-FR" dirty="0" err="1">
                <a:latin typeface="Times New Roman" panose="02020603050405020304" pitchFamily="18" charset="0"/>
                <a:cs typeface="Times New Roman" panose="02020603050405020304" pitchFamily="18" charset="0"/>
              </a:rPr>
              <a:t>Examples</a:t>
            </a:r>
            <a:r>
              <a:rPr lang="fr-FR"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Wi-Fi networks</a:t>
            </a:r>
          </a:p>
          <a:p>
            <a:pPr marL="285750" indent="-285750" algn="just">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Cellular networks (4G/5G)</a:t>
            </a:r>
          </a:p>
          <a:p>
            <a:pPr marL="285750" indent="-285750" algn="just">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IoT and </a:t>
            </a:r>
            <a:r>
              <a:rPr lang="fr-FR" dirty="0" err="1">
                <a:latin typeface="Times New Roman" panose="02020603050405020304" pitchFamily="18" charset="0"/>
                <a:cs typeface="Times New Roman" panose="02020603050405020304" pitchFamily="18" charset="0"/>
              </a:rPr>
              <a:t>sensor</a:t>
            </a:r>
            <a:r>
              <a:rPr lang="fr-FR" dirty="0">
                <a:latin typeface="Times New Roman" panose="02020603050405020304" pitchFamily="18" charset="0"/>
                <a:cs typeface="Times New Roman" panose="02020603050405020304" pitchFamily="18" charset="0"/>
              </a:rPr>
              <a:t> networks</a:t>
            </a:r>
          </a:p>
          <a:p>
            <a:pPr marL="285750" indent="-285750" algn="just">
              <a:buFont typeface="Arial" panose="020B0604020202020204" pitchFamily="34" charset="0"/>
              <a:buChar char="•"/>
            </a:pPr>
            <a:r>
              <a:rPr lang="fr-FR" dirty="0" err="1">
                <a:latin typeface="Times New Roman" panose="02020603050405020304" pitchFamily="18" charset="0"/>
                <a:cs typeface="Times New Roman" panose="02020603050405020304" pitchFamily="18" charset="0"/>
              </a:rPr>
              <a:t>Vehicular</a:t>
            </a:r>
            <a:r>
              <a:rPr lang="fr-FR" dirty="0">
                <a:latin typeface="Times New Roman" panose="02020603050405020304" pitchFamily="18" charset="0"/>
                <a:cs typeface="Times New Roman" panose="02020603050405020304" pitchFamily="18" charset="0"/>
              </a:rPr>
              <a:t> networks</a:t>
            </a:r>
          </a:p>
          <a:p>
            <a:pPr algn="just"/>
            <a:r>
              <a:rPr lang="en-US" dirty="0">
                <a:latin typeface="Times New Roman" panose="02020603050405020304" pitchFamily="18" charset="0"/>
                <a:cs typeface="Times New Roman" panose="02020603050405020304" pitchFamily="18" charset="0"/>
              </a:rPr>
              <a:t>Wireless communication involves: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Encoding data into electrical signals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Modulating signals onto radio waves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Transmitting through free space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Demodulating and decoding at the receiver</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Unlike wired media, the wireless medium is </a:t>
            </a:r>
            <a:r>
              <a:rPr lang="en-US" b="1" dirty="0">
                <a:latin typeface="Times New Roman" panose="02020603050405020304" pitchFamily="18" charset="0"/>
                <a:cs typeface="Times New Roman" panose="02020603050405020304" pitchFamily="18" charset="0"/>
              </a:rPr>
              <a:t>shared, open, and unpredictable</a:t>
            </a:r>
            <a:r>
              <a:rPr lang="en-US" dirty="0">
                <a:latin typeface="Times New Roman" panose="02020603050405020304" pitchFamily="18" charset="0"/>
                <a:cs typeface="Times New Roman" panose="02020603050405020304" pitchFamily="18" charset="0"/>
              </a:rPr>
              <a:t>.</a:t>
            </a:r>
          </a:p>
          <a:p>
            <a:pPr algn="just"/>
            <a:endParaRPr lang="fr-FR"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D4F88A6-1E75-3AF6-739F-5E9FB8BCDDD4}"/>
              </a:ext>
            </a:extLst>
          </p:cNvPr>
          <p:cNvSpPr txBox="1"/>
          <p:nvPr/>
        </p:nvSpPr>
        <p:spPr>
          <a:xfrm>
            <a:off x="1759209" y="476672"/>
            <a:ext cx="8670406" cy="646331"/>
          </a:xfrm>
          <a:prstGeom prst="rect">
            <a:avLst/>
          </a:prstGeom>
          <a:noFill/>
        </p:spPr>
        <p:txBody>
          <a:bodyPr wrap="square">
            <a:spAutoFit/>
          </a:bodyPr>
          <a:lstStyle/>
          <a:p>
            <a:pPr algn="ctr">
              <a:buNone/>
            </a:pPr>
            <a:r>
              <a:rPr lang="fr-FR" sz="3600" b="1" dirty="0" err="1">
                <a:latin typeface="Times New Roman" panose="02020603050405020304" pitchFamily="18" charset="0"/>
                <a:cs typeface="Times New Roman" panose="02020603050405020304" pitchFamily="18" charset="0"/>
              </a:rPr>
              <a:t>What</a:t>
            </a:r>
            <a:r>
              <a:rPr lang="fr-FR" sz="3600" b="1" dirty="0">
                <a:latin typeface="Times New Roman" panose="02020603050405020304" pitchFamily="18" charset="0"/>
                <a:cs typeface="Times New Roman" panose="02020603050405020304" pitchFamily="18" charset="0"/>
              </a:rPr>
              <a:t> Are Wireless and Mobile Networks?</a:t>
            </a:r>
          </a:p>
        </p:txBody>
      </p:sp>
      <p:pic>
        <p:nvPicPr>
          <p:cNvPr id="10" name="Picture 9">
            <a:extLst>
              <a:ext uri="{FF2B5EF4-FFF2-40B4-BE49-F238E27FC236}">
                <a16:creationId xmlns:a16="http://schemas.microsoft.com/office/drawing/2014/main" id="{6107A943-8934-6E0F-EA6C-512025A3523D}"/>
              </a:ext>
            </a:extLst>
          </p:cNvPr>
          <p:cNvPicPr>
            <a:picLocks noChangeAspect="1"/>
          </p:cNvPicPr>
          <p:nvPr/>
        </p:nvPicPr>
        <p:blipFill>
          <a:blip r:embed="rId2"/>
          <a:stretch>
            <a:fillRect/>
          </a:stretch>
        </p:blipFill>
        <p:spPr>
          <a:xfrm>
            <a:off x="5518348" y="2420888"/>
            <a:ext cx="5320986" cy="3046072"/>
          </a:xfrm>
          <a:prstGeom prst="rect">
            <a:avLst/>
          </a:prstGeom>
        </p:spPr>
      </p:pic>
      <p:sp>
        <p:nvSpPr>
          <p:cNvPr id="12" name="TextBox 11">
            <a:extLst>
              <a:ext uri="{FF2B5EF4-FFF2-40B4-BE49-F238E27FC236}">
                <a16:creationId xmlns:a16="http://schemas.microsoft.com/office/drawing/2014/main" id="{8769576C-6DE2-6FC4-F24D-D647C2688588}"/>
              </a:ext>
            </a:extLst>
          </p:cNvPr>
          <p:cNvSpPr txBox="1"/>
          <p:nvPr/>
        </p:nvSpPr>
        <p:spPr>
          <a:xfrm>
            <a:off x="1197868" y="1328820"/>
            <a:ext cx="9145016" cy="923330"/>
          </a:xfrm>
          <a:prstGeom prst="rect">
            <a:avLst/>
          </a:prstGeom>
          <a:noFill/>
        </p:spPr>
        <p:txBody>
          <a:bodyPr wrap="square">
            <a:spAutoFit/>
          </a:bodyPr>
          <a:lstStyle/>
          <a:p>
            <a:pPr>
              <a:buNone/>
            </a:pPr>
            <a:r>
              <a:rPr lang="fr-FR" dirty="0">
                <a:latin typeface="Times New Roman" panose="02020603050405020304" pitchFamily="18" charset="0"/>
                <a:cs typeface="Times New Roman" panose="02020603050405020304" pitchFamily="18" charset="0"/>
              </a:rPr>
              <a:t>Wireless networks transmit data </a:t>
            </a:r>
            <a:r>
              <a:rPr lang="fr-FR" b="1" dirty="0" err="1">
                <a:latin typeface="Times New Roman" panose="02020603050405020304" pitchFamily="18" charset="0"/>
                <a:cs typeface="Times New Roman" panose="02020603050405020304" pitchFamily="18" charset="0"/>
              </a:rPr>
              <a:t>without</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physical</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cables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using</a:t>
            </a:r>
            <a:r>
              <a:rPr lang="fr-FR" dirty="0">
                <a:latin typeface="Times New Roman" panose="02020603050405020304" pitchFamily="18" charset="0"/>
                <a:cs typeface="Times New Roman" panose="02020603050405020304" pitchFamily="18" charset="0"/>
              </a:rPr>
              <a:t> radio </a:t>
            </a:r>
            <a:r>
              <a:rPr lang="fr-FR" dirty="0" err="1">
                <a:latin typeface="Times New Roman" panose="02020603050405020304" pitchFamily="18" charset="0"/>
                <a:cs typeface="Times New Roman" panose="02020603050405020304" pitchFamily="18" charset="0"/>
              </a:rPr>
              <a:t>waves</a:t>
            </a:r>
            <a:r>
              <a:rPr lang="fr-FR" dirty="0">
                <a:latin typeface="Times New Roman" panose="02020603050405020304" pitchFamily="18" charset="0"/>
                <a:cs typeface="Times New Roman" panose="02020603050405020304" pitchFamily="18" charset="0"/>
              </a:rPr>
              <a:t>.</a:t>
            </a: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Mobile networks </a:t>
            </a:r>
            <a:r>
              <a:rPr lang="fr-FR" dirty="0" err="1">
                <a:latin typeface="Times New Roman" panose="02020603050405020304" pitchFamily="18" charset="0"/>
                <a:cs typeface="Times New Roman" panose="02020603050405020304" pitchFamily="18" charset="0"/>
              </a:rPr>
              <a:t>extend</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wireless</a:t>
            </a:r>
            <a:r>
              <a:rPr lang="fr-FR" dirty="0">
                <a:latin typeface="Times New Roman" panose="02020603050405020304" pitchFamily="18" charset="0"/>
                <a:cs typeface="Times New Roman" panose="02020603050405020304" pitchFamily="18" charset="0"/>
              </a:rPr>
              <a:t> networks by </a:t>
            </a:r>
            <a:r>
              <a:rPr lang="fr-FR" dirty="0" err="1">
                <a:latin typeface="Times New Roman" panose="02020603050405020304" pitchFamily="18" charset="0"/>
                <a:cs typeface="Times New Roman" panose="02020603050405020304" pitchFamily="18" charset="0"/>
              </a:rPr>
              <a:t>supporting</a:t>
            </a:r>
            <a:r>
              <a:rPr lang="fr-FR" dirty="0">
                <a:latin typeface="Times New Roman" panose="02020603050405020304" pitchFamily="18" charset="0"/>
                <a:cs typeface="Times New Roman" panose="02020603050405020304" pitchFamily="18" charset="0"/>
              </a:rPr>
              <a:t> </a:t>
            </a:r>
            <a:r>
              <a:rPr lang="fr-FR" b="1" dirty="0">
                <a:latin typeface="Times New Roman" panose="02020603050405020304" pitchFamily="18" charset="0"/>
                <a:cs typeface="Times New Roman" panose="02020603050405020304" pitchFamily="18" charset="0"/>
              </a:rPr>
              <a:t>user </a:t>
            </a:r>
            <a:r>
              <a:rPr lang="fr-FR" b="1" dirty="0" err="1">
                <a:latin typeface="Times New Roman" panose="02020603050405020304" pitchFamily="18" charset="0"/>
                <a:cs typeface="Times New Roman" panose="02020603050405020304" pitchFamily="18" charset="0"/>
              </a:rPr>
              <a:t>movement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while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maintaining</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connectivity</a:t>
            </a:r>
            <a:r>
              <a:rPr lang="fr-FR"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02894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
            <a:extLst>
              <a:ext uri="{FF2B5EF4-FFF2-40B4-BE49-F238E27FC236}">
                <a16:creationId xmlns:a16="http://schemas.microsoft.com/office/drawing/2014/main" id="{F94ADAAF-8E80-B941-1B9E-E87F9C9C88DD}"/>
              </a:ext>
            </a:extLst>
          </p:cNvPr>
          <p:cNvSpPr>
            <a:spLocks noChangeArrowheads="1"/>
          </p:cNvSpPr>
          <p:nvPr/>
        </p:nvSpPr>
        <p:spPr bwMode="auto">
          <a:xfrm>
            <a:off x="0" y="-234649"/>
            <a:ext cx="65" cy="469299"/>
          </a:xfrm>
          <a:prstGeom prst="rect">
            <a:avLst/>
          </a:prstGeom>
          <a:solidFill>
            <a:srgbClr val="1F1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DZ" altLang="fr-DZ"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D841B587-F76C-A398-2F6C-F5DBAC800E48}"/>
              </a:ext>
            </a:extLst>
          </p:cNvPr>
          <p:cNvSpPr txBox="1"/>
          <p:nvPr/>
        </p:nvSpPr>
        <p:spPr>
          <a:xfrm>
            <a:off x="1557908" y="1541691"/>
            <a:ext cx="9793088" cy="2535566"/>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fr-DZ" altLang="fr-DZ" b="1" i="0" u="none" strike="noStrike" cap="none" normalizeH="0" baseline="0" dirty="0" err="1">
                <a:ln>
                  <a:noFill/>
                </a:ln>
                <a:effectLst/>
                <a:latin typeface="Times New Roman" panose="02020603050405020304" pitchFamily="18" charset="0"/>
                <a:cs typeface="Times New Roman" panose="02020603050405020304" pitchFamily="18" charset="0"/>
              </a:rPr>
              <a:t>Electromagnetic</a:t>
            </a:r>
            <a:r>
              <a:rPr kumimoji="0" lang="fr-DZ" altLang="fr-DZ" b="1" i="0" u="none" strike="noStrike" cap="none" normalizeH="0" baseline="0" dirty="0">
                <a:ln>
                  <a:noFill/>
                </a:ln>
                <a:effectLst/>
                <a:latin typeface="Times New Roman" panose="02020603050405020304" pitchFamily="18" charset="0"/>
                <a:cs typeface="Times New Roman" panose="02020603050405020304" pitchFamily="18" charset="0"/>
              </a:rPr>
              <a:t> Waves:</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Information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travels</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as radio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waves</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characterized</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by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frequency</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and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wavelength</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requiring</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antennas</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for transmission and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reception</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fr-DZ" altLang="fr-DZ" b="1" i="0" u="none" strike="noStrike" cap="none" normalizeH="0" baseline="0" dirty="0">
                <a:ln>
                  <a:noFill/>
                </a:ln>
                <a:effectLst/>
                <a:latin typeface="Times New Roman" panose="02020603050405020304" pitchFamily="18" charset="0"/>
                <a:cs typeface="Times New Roman" panose="02020603050405020304" pitchFamily="18" charset="0"/>
              </a:rPr>
              <a:t>Wireless Medium:</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Inherently</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shared</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and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subject</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to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interference</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requiring</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techniques to manage multiple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users</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fr-DZ" altLang="fr-DZ" b="1" i="0" u="none" strike="noStrike" cap="none" normalizeH="0" baseline="0" dirty="0">
                <a:ln>
                  <a:noFill/>
                </a:ln>
                <a:effectLst/>
                <a:latin typeface="Times New Roman" panose="02020603050405020304" pitchFamily="18" charset="0"/>
                <a:cs typeface="Times New Roman" panose="02020603050405020304" pitchFamily="18" charset="0"/>
              </a:rPr>
              <a:t>Cellular Concept:</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Developed</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in the 1960s/70s,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enabling</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large-</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scale</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mobile networks. </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2051" name="Picture 3" descr="How Are Electromagnetic Waves Formed?">
            <a:extLst>
              <a:ext uri="{FF2B5EF4-FFF2-40B4-BE49-F238E27FC236}">
                <a16:creationId xmlns:a16="http://schemas.microsoft.com/office/drawing/2014/main" id="{4766E73B-F23C-C87A-6D87-ECD6DA1914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908" y="4365104"/>
            <a:ext cx="3528392" cy="1848877"/>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Wireless Networking for Mac | Design elements - Transmission paths | Using  Both Wired and Wireless Connections | Wireless Media Microwave">
            <a:extLst>
              <a:ext uri="{FF2B5EF4-FFF2-40B4-BE49-F238E27FC236}">
                <a16:creationId xmlns:a16="http://schemas.microsoft.com/office/drawing/2014/main" id="{FB2B18B6-F22D-3AF7-ABB4-915B08EB4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0316" y="4236307"/>
            <a:ext cx="3240360" cy="2112234"/>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descr="Cellular concept and division of a cell into small subareas | Download  Scientific Diagram">
            <a:extLst>
              <a:ext uri="{FF2B5EF4-FFF2-40B4-BE49-F238E27FC236}">
                <a16:creationId xmlns:a16="http://schemas.microsoft.com/office/drawing/2014/main" id="{405152D6-D0C7-0F41-1699-69D6AEE8A1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732" y="3909680"/>
            <a:ext cx="2385314" cy="268557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31743CB-7F1D-99C5-311F-0DA6E9F02D01}"/>
              </a:ext>
            </a:extLst>
          </p:cNvPr>
          <p:cNvSpPr txBox="1"/>
          <p:nvPr/>
        </p:nvSpPr>
        <p:spPr>
          <a:xfrm>
            <a:off x="2230406" y="550421"/>
            <a:ext cx="8448091" cy="646331"/>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DZ" altLang="fr-DZ" sz="3600" b="1" i="0" u="none" strike="noStrike" cap="none" normalizeH="0" baseline="0" dirty="0" err="1">
                <a:ln>
                  <a:noFill/>
                </a:ln>
                <a:effectLst/>
                <a:latin typeface="Times New Roman" panose="02020603050405020304" pitchFamily="18" charset="0"/>
                <a:cs typeface="Times New Roman" panose="02020603050405020304" pitchFamily="18" charset="0"/>
              </a:rPr>
              <a:t>Foundations</a:t>
            </a:r>
            <a:r>
              <a:rPr kumimoji="0" lang="fr-DZ" altLang="fr-DZ" sz="3600" b="1" i="0" u="none" strike="noStrike" cap="none" normalizeH="0" baseline="0" dirty="0">
                <a:ln>
                  <a:noFill/>
                </a:ln>
                <a:effectLst/>
                <a:latin typeface="Times New Roman" panose="02020603050405020304" pitchFamily="18" charset="0"/>
                <a:cs typeface="Times New Roman" panose="02020603050405020304" pitchFamily="18" charset="0"/>
              </a:rPr>
              <a:t> of Wireless Communication</a:t>
            </a:r>
          </a:p>
        </p:txBody>
      </p:sp>
    </p:spTree>
    <p:extLst>
      <p:ext uri="{BB962C8B-B14F-4D97-AF65-F5344CB8AC3E}">
        <p14:creationId xmlns:p14="http://schemas.microsoft.com/office/powerpoint/2010/main" val="1148541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384586-CDC9-654B-DC5F-BC3AE4AFB373}"/>
              </a:ext>
            </a:extLst>
          </p:cNvPr>
          <p:cNvSpPr>
            <a:spLocks noChangeArrowheads="1"/>
          </p:cNvSpPr>
          <p:nvPr/>
        </p:nvSpPr>
        <p:spPr bwMode="auto">
          <a:xfrm>
            <a:off x="0" y="-234649"/>
            <a:ext cx="65" cy="469299"/>
          </a:xfrm>
          <a:prstGeom prst="rect">
            <a:avLst/>
          </a:prstGeom>
          <a:solidFill>
            <a:srgbClr val="1F1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DZ" altLang="fr-DZ"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96A60905-6AE7-26E2-AE78-A3E84D08F9A4}"/>
              </a:ext>
            </a:extLst>
          </p:cNvPr>
          <p:cNvSpPr>
            <a:spLocks noChangeArrowheads="1"/>
          </p:cNvSpPr>
          <p:nvPr/>
        </p:nvSpPr>
        <p:spPr bwMode="auto">
          <a:xfrm>
            <a:off x="0" y="-234649"/>
            <a:ext cx="65" cy="469299"/>
          </a:xfrm>
          <a:prstGeom prst="rect">
            <a:avLst/>
          </a:prstGeom>
          <a:solidFill>
            <a:srgbClr val="1F1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DZ" altLang="fr-DZ"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1967550F-2D02-08AA-8F59-3FD686C878D2}"/>
              </a:ext>
            </a:extLst>
          </p:cNvPr>
          <p:cNvSpPr txBox="1"/>
          <p:nvPr/>
        </p:nvSpPr>
        <p:spPr>
          <a:xfrm>
            <a:off x="1807944" y="260648"/>
            <a:ext cx="8284904" cy="646331"/>
          </a:xfrm>
          <a:prstGeom prst="rect">
            <a:avLst/>
          </a:prstGeom>
          <a:noFill/>
        </p:spPr>
        <p:txBody>
          <a:bodyPr wrap="square">
            <a:spAutoFit/>
          </a:bodyPr>
          <a:lstStyle/>
          <a:p>
            <a:pPr lvl="0" algn="ctr" eaLnBrk="0" fontAlgn="base" hangingPunct="0">
              <a:spcBef>
                <a:spcPct val="0"/>
              </a:spcBef>
              <a:spcAft>
                <a:spcPct val="0"/>
              </a:spcAft>
            </a:pPr>
            <a:r>
              <a:rPr lang="fr-FR" sz="3600" b="1" dirty="0">
                <a:latin typeface="Times New Roman" panose="02020603050405020304" pitchFamily="18" charset="0"/>
                <a:cs typeface="Times New Roman" panose="02020603050405020304" pitchFamily="18" charset="0"/>
              </a:rPr>
              <a:t>Wireless Communication Link</a:t>
            </a:r>
            <a:endParaRPr kumimoji="0" lang="fr-DZ" altLang="fr-DZ" sz="3600" b="1" i="0" u="none"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1028" name="Picture 4" descr="1. Schematic diagram of wireless communication systems | Download  Scientific Diagram">
            <a:extLst>
              <a:ext uri="{FF2B5EF4-FFF2-40B4-BE49-F238E27FC236}">
                <a16:creationId xmlns:a16="http://schemas.microsoft.com/office/drawing/2014/main" id="{2643B37B-19FA-4405-D9B9-9EF8E48381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0587" y="1196752"/>
            <a:ext cx="7867650" cy="5172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9393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78CE7-2DE7-A2AD-826D-04DD675642F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4D0D332-FB22-B39C-C856-4F5B625D075F}"/>
              </a:ext>
            </a:extLst>
          </p:cNvPr>
          <p:cNvSpPr>
            <a:spLocks noChangeArrowheads="1"/>
          </p:cNvSpPr>
          <p:nvPr/>
        </p:nvSpPr>
        <p:spPr bwMode="auto">
          <a:xfrm>
            <a:off x="0" y="-234649"/>
            <a:ext cx="65" cy="469299"/>
          </a:xfrm>
          <a:prstGeom prst="rect">
            <a:avLst/>
          </a:prstGeom>
          <a:solidFill>
            <a:srgbClr val="1F1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DZ" altLang="fr-DZ"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7766C080-8D93-B2BC-2C88-161351E98698}"/>
              </a:ext>
            </a:extLst>
          </p:cNvPr>
          <p:cNvSpPr>
            <a:spLocks noChangeArrowheads="1"/>
          </p:cNvSpPr>
          <p:nvPr/>
        </p:nvSpPr>
        <p:spPr bwMode="auto">
          <a:xfrm>
            <a:off x="0" y="-234649"/>
            <a:ext cx="65" cy="469299"/>
          </a:xfrm>
          <a:prstGeom prst="rect">
            <a:avLst/>
          </a:prstGeom>
          <a:solidFill>
            <a:srgbClr val="1F1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DZ" altLang="fr-DZ"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C44F0A6D-57C4-C357-B526-E53B1CBF22AE}"/>
              </a:ext>
            </a:extLst>
          </p:cNvPr>
          <p:cNvSpPr txBox="1"/>
          <p:nvPr/>
        </p:nvSpPr>
        <p:spPr>
          <a:xfrm>
            <a:off x="1845940" y="260648"/>
            <a:ext cx="8246908" cy="646331"/>
          </a:xfrm>
          <a:prstGeom prst="rect">
            <a:avLst/>
          </a:prstGeom>
          <a:noFill/>
        </p:spPr>
        <p:txBody>
          <a:bodyPr wrap="square">
            <a:spAutoFit/>
          </a:bodyPr>
          <a:lstStyle/>
          <a:p>
            <a:pPr lvl="0" algn="ctr" eaLnBrk="0" fontAlgn="base" hangingPunct="0">
              <a:spcBef>
                <a:spcPct val="0"/>
              </a:spcBef>
              <a:spcAft>
                <a:spcPct val="0"/>
              </a:spcAft>
            </a:pPr>
            <a:r>
              <a:rPr lang="fr-FR" sz="3600" b="1" dirty="0">
                <a:latin typeface="Times New Roman" panose="02020603050405020304" pitchFamily="18" charset="0"/>
                <a:cs typeface="Times New Roman" panose="02020603050405020304" pitchFamily="18" charset="0"/>
              </a:rPr>
              <a:t>Wireless Communication Link Blocks</a:t>
            </a:r>
            <a:endParaRPr kumimoji="0" lang="fr-DZ" altLang="fr-DZ" sz="3600" b="1" i="0" u="none" strike="noStrike" cap="none" normalizeH="0" baseline="0" dirty="0">
              <a:ln>
                <a:noFill/>
              </a:ln>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0C08D21-B3B5-92C1-F8B6-170DEB506E3D}"/>
              </a:ext>
            </a:extLst>
          </p:cNvPr>
          <p:cNvSpPr txBox="1"/>
          <p:nvPr/>
        </p:nvSpPr>
        <p:spPr>
          <a:xfrm>
            <a:off x="1053852" y="906979"/>
            <a:ext cx="9720885" cy="3693319"/>
          </a:xfrm>
          <a:prstGeom prst="rect">
            <a:avLst/>
          </a:prstGeom>
          <a:noFill/>
        </p:spPr>
        <p:txBody>
          <a:bodyPr wrap="square">
            <a:spAutoFit/>
          </a:body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Information Source</a:t>
            </a:r>
            <a:b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block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generates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original data to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transmitted</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such</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voice</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video</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text</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sensor</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measurements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data can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analog</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digital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depending</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the application.</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Source Encoder</a:t>
            </a:r>
            <a:b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source encoder compresses the data to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reduce</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required</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transmission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bandwidth</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removes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redundancy</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while</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maintaining</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acceptable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quality</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audio or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video</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compression).</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Channel Encoder</a:t>
            </a:r>
            <a:b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block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adds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controlled</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redundancy</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the data to enable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error</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detection</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correction at 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receiver</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improves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transmission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reliability</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over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noisy</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wireless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channels.</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Modulator</a:t>
            </a:r>
            <a:b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modulator</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maps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digital bits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into</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symbols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modulates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them</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onto a carrier signal. This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makes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signal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suitable</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efficient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wireless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transmission (e.g., PSK, QAM).</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Transmitter</a:t>
            </a:r>
            <a:r>
              <a:rPr kumimoji="0" lang="fr-DZ" altLang="fr-DZ"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(RF </a:t>
            </a:r>
            <a:r>
              <a:rPr kumimoji="0" lang="fr-DZ" altLang="fr-DZ"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Front-End</a:t>
            </a:r>
            <a:r>
              <a:rPr kumimoji="0" lang="fr-DZ" altLang="fr-DZ"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8" name="Picture 4" descr="1. Schematic diagram of wireless communication systems | Download  Scientific Diagram">
            <a:extLst>
              <a:ext uri="{FF2B5EF4-FFF2-40B4-BE49-F238E27FC236}">
                <a16:creationId xmlns:a16="http://schemas.microsoft.com/office/drawing/2014/main" id="{EB290B24-8F07-BE82-ED3B-3C4C88628E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176" b="38741"/>
          <a:stretch>
            <a:fillRect/>
          </a:stretch>
        </p:blipFill>
        <p:spPr bwMode="auto">
          <a:xfrm>
            <a:off x="4942284" y="4355690"/>
            <a:ext cx="5973797" cy="224166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7FB4203-EF87-1C71-32BB-2118970D22D8}"/>
              </a:ext>
            </a:extLst>
          </p:cNvPr>
          <p:cNvSpPr txBox="1"/>
          <p:nvPr/>
        </p:nvSpPr>
        <p:spPr>
          <a:xfrm>
            <a:off x="1053852" y="4553191"/>
            <a:ext cx="3888432" cy="1200329"/>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transmitter</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amplifies 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modulated</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signal and shifts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it</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desired</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radio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frequency</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then</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sends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signal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through</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transmitting</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antenna</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9374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8DEB8C-F6EF-D32C-179F-38206989594B}"/>
              </a:ext>
            </a:extLst>
          </p:cNvPr>
          <p:cNvSpPr txBox="1"/>
          <p:nvPr/>
        </p:nvSpPr>
        <p:spPr>
          <a:xfrm>
            <a:off x="1485900" y="692696"/>
            <a:ext cx="10225136" cy="5078313"/>
          </a:xfrm>
          <a:prstGeom prst="rect">
            <a:avLst/>
          </a:prstGeom>
          <a:noFill/>
        </p:spPr>
        <p:txBody>
          <a:bodyPr wrap="square">
            <a:spAutoFit/>
          </a:body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Wireless Channel</a:t>
            </a:r>
            <a:b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wireless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channel</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represents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air medium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through</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which</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signal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propagates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introduces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impairments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such</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noise, fading,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interference</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path</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loss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Receiver</a:t>
            </a:r>
            <a:r>
              <a:rPr kumimoji="0" lang="fr-DZ" altLang="fr-DZ"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(RF </a:t>
            </a:r>
            <a:r>
              <a:rPr kumimoji="0" lang="fr-DZ" altLang="fr-DZ"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Front-End</a:t>
            </a:r>
            <a:r>
              <a:rPr kumimoji="0" lang="fr-DZ" altLang="fr-DZ"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receiver</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captures the signal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using</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antenna</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performs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filtering</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amplification, and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downconversion</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Its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goal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prepare</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signal for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accurate</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detection</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Demodulator</a:t>
            </a:r>
            <a:b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block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extracts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transmitted</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symbols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bits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from</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received</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signal. It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compensates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channel</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effects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much</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possible.</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Channel </a:t>
            </a:r>
            <a:r>
              <a:rPr kumimoji="0" lang="fr-DZ" altLang="fr-DZ"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Decoder</a:t>
            </a:r>
            <a:b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channel</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decoder</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detects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corrects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errors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introduced</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during</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transmission. It uses 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redundancy</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added</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channel</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encoder to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improve</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integrity</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Source </a:t>
            </a:r>
            <a:r>
              <a:rPr kumimoji="0" lang="fr-DZ" altLang="fr-DZ"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Decoder</a:t>
            </a:r>
            <a:b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source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decoder</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reconstructs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original data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from</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compressed</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format. It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aims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restore the signal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with</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minimal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distortion</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Destination</a:t>
            </a:r>
            <a:b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destination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final user or application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that</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consumes the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received</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information. This can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kumimoji="0" lang="fr-DZ" altLang="fr-DZ"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human</a:t>
            </a:r>
            <a:r>
              <a:rPr kumimoji="0" lang="fr-DZ" altLang="fr-DZ"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or a machine system.</a:t>
            </a:r>
          </a:p>
        </p:txBody>
      </p:sp>
    </p:spTree>
    <p:extLst>
      <p:ext uri="{BB962C8B-B14F-4D97-AF65-F5344CB8AC3E}">
        <p14:creationId xmlns:p14="http://schemas.microsoft.com/office/powerpoint/2010/main" val="599683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2E4F54-67F5-85DF-A4DA-30B32C080CE0}"/>
              </a:ext>
            </a:extLst>
          </p:cNvPr>
          <p:cNvSpPr txBox="1"/>
          <p:nvPr/>
        </p:nvSpPr>
        <p:spPr>
          <a:xfrm>
            <a:off x="1197868" y="1386642"/>
            <a:ext cx="6098796" cy="1754326"/>
          </a:xfrm>
          <a:prstGeom prst="rect">
            <a:avLst/>
          </a:prstGeom>
          <a:noFill/>
        </p:spPr>
        <p:txBody>
          <a:bodyPr wrap="square">
            <a:spAutoFit/>
          </a:bodyPr>
          <a:lstStyle/>
          <a:p>
            <a:pPr>
              <a:buNone/>
            </a:pPr>
            <a:r>
              <a:rPr lang="fr-FR" dirty="0">
                <a:latin typeface="Times New Roman" panose="02020603050405020304" pitchFamily="18" charset="0"/>
                <a:cs typeface="Times New Roman" panose="02020603050405020304" pitchFamily="18" charset="0"/>
              </a:rPr>
              <a:t>Key propagation issues:</a:t>
            </a:r>
          </a:p>
          <a:p>
            <a:pPr marL="285750" indent="-285750">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Path </a:t>
            </a:r>
            <a:r>
              <a:rPr lang="fr-FR" b="1" dirty="0" err="1">
                <a:latin typeface="Times New Roman" panose="02020603050405020304" pitchFamily="18" charset="0"/>
                <a:cs typeface="Times New Roman" panose="02020603050405020304" pitchFamily="18" charset="0"/>
              </a:rPr>
              <a:t>loss</a:t>
            </a:r>
            <a:r>
              <a:rPr lang="fr-FR" dirty="0">
                <a:latin typeface="Times New Roman" panose="02020603050405020304" pitchFamily="18" charset="0"/>
                <a:cs typeface="Times New Roman" panose="02020603050405020304" pitchFamily="18" charset="0"/>
              </a:rPr>
              <a:t>: signal </a:t>
            </a:r>
            <a:r>
              <a:rPr lang="fr-FR" dirty="0" err="1">
                <a:latin typeface="Times New Roman" panose="02020603050405020304" pitchFamily="18" charset="0"/>
                <a:cs typeface="Times New Roman" panose="02020603050405020304" pitchFamily="18" charset="0"/>
              </a:rPr>
              <a:t>weakens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with</a:t>
            </a:r>
            <a:r>
              <a:rPr lang="fr-FR" dirty="0">
                <a:latin typeface="Times New Roman" panose="02020603050405020304" pitchFamily="18" charset="0"/>
                <a:cs typeface="Times New Roman" panose="02020603050405020304" pitchFamily="18" charset="0"/>
              </a:rPr>
              <a:t> distance</a:t>
            </a:r>
          </a:p>
          <a:p>
            <a:pPr marL="285750" indent="-285750">
              <a:buFont typeface="Arial" panose="020B0604020202020204" pitchFamily="34" charset="0"/>
              <a:buChar char="•"/>
            </a:pPr>
            <a:r>
              <a:rPr lang="fr-FR" b="1" dirty="0" err="1">
                <a:latin typeface="Times New Roman" panose="02020603050405020304" pitchFamily="18" charset="0"/>
                <a:cs typeface="Times New Roman" panose="02020603050405020304" pitchFamily="18" charset="0"/>
              </a:rPr>
              <a:t>Shadowing</a:t>
            </a:r>
            <a:r>
              <a:rPr lang="fr-FR" dirty="0">
                <a:latin typeface="Times New Roman" panose="02020603050405020304" pitchFamily="18" charset="0"/>
                <a:cs typeface="Times New Roman" panose="02020603050405020304" pitchFamily="18" charset="0"/>
              </a:rPr>
              <a:t>: obstacles block signal</a:t>
            </a:r>
          </a:p>
          <a:p>
            <a:pPr marL="285750" indent="-285750">
              <a:buFont typeface="Arial" panose="020B0604020202020204" pitchFamily="34" charset="0"/>
              <a:buChar char="•"/>
            </a:pPr>
            <a:r>
              <a:rPr lang="fr-FR" b="1" dirty="0" err="1">
                <a:latin typeface="Times New Roman" panose="02020603050405020304" pitchFamily="18" charset="0"/>
                <a:cs typeface="Times New Roman" panose="02020603050405020304" pitchFamily="18" charset="0"/>
              </a:rPr>
              <a:t>Multipath</a:t>
            </a:r>
            <a:r>
              <a:rPr lang="fr-FR" b="1" dirty="0">
                <a:latin typeface="Times New Roman" panose="02020603050405020304" pitchFamily="18" charset="0"/>
                <a:cs typeface="Times New Roman" panose="02020603050405020304" pitchFamily="18" charset="0"/>
              </a:rPr>
              <a:t> fading</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reflections</a:t>
            </a:r>
            <a:r>
              <a:rPr lang="fr-FR" dirty="0">
                <a:latin typeface="Times New Roman" panose="02020603050405020304" pitchFamily="18" charset="0"/>
                <a:cs typeface="Times New Roman" panose="02020603050405020304" pitchFamily="18" charset="0"/>
              </a:rPr>
              <a:t> cause </a:t>
            </a:r>
            <a:r>
              <a:rPr lang="fr-FR" dirty="0" err="1">
                <a:latin typeface="Times New Roman" panose="02020603050405020304" pitchFamily="18" charset="0"/>
                <a:cs typeface="Times New Roman" panose="02020603050405020304" pitchFamily="18" charset="0"/>
              </a:rPr>
              <a:t>interference</a:t>
            </a:r>
            <a:endParaRPr lang="fr-FR"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Noise and </a:t>
            </a:r>
            <a:r>
              <a:rPr lang="fr-FR" b="1" dirty="0" err="1">
                <a:latin typeface="Times New Roman" panose="02020603050405020304" pitchFamily="18" charset="0"/>
                <a:cs typeface="Times New Roman" panose="02020603050405020304" pitchFamily="18" charset="0"/>
              </a:rPr>
              <a:t>interference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degrade</a:t>
            </a:r>
            <a:r>
              <a:rPr lang="fr-FR" dirty="0">
                <a:latin typeface="Times New Roman" panose="02020603050405020304" pitchFamily="18" charset="0"/>
                <a:cs typeface="Times New Roman" panose="02020603050405020304" pitchFamily="18" charset="0"/>
              </a:rPr>
              <a:t> signal </a:t>
            </a:r>
            <a:r>
              <a:rPr lang="fr-FR" dirty="0" err="1">
                <a:latin typeface="Times New Roman" panose="02020603050405020304" pitchFamily="18" charset="0"/>
                <a:cs typeface="Times New Roman" panose="02020603050405020304" pitchFamily="18" charset="0"/>
              </a:rPr>
              <a:t>quality</a:t>
            </a:r>
            <a:endParaRPr lang="fr-FR" dirty="0">
              <a:latin typeface="Times New Roman" panose="02020603050405020304" pitchFamily="18" charset="0"/>
              <a:cs typeface="Times New Roman" panose="02020603050405020304" pitchFamily="18" charset="0"/>
            </a:endParaRPr>
          </a:p>
          <a:p>
            <a:pPr>
              <a:buNone/>
            </a:pPr>
            <a:r>
              <a:rPr lang="fr-FR" dirty="0" err="1">
                <a:latin typeface="Times New Roman" panose="02020603050405020304" pitchFamily="18" charset="0"/>
                <a:cs typeface="Times New Roman" panose="02020603050405020304" pitchFamily="18" charset="0"/>
              </a:rPr>
              <a:t>These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effects</a:t>
            </a:r>
            <a:r>
              <a:rPr lang="fr-FR" dirty="0">
                <a:latin typeface="Times New Roman" panose="02020603050405020304" pitchFamily="18" charset="0"/>
                <a:cs typeface="Times New Roman" panose="02020603050405020304" pitchFamily="18" charset="0"/>
              </a:rPr>
              <a:t> cause </a:t>
            </a:r>
            <a:r>
              <a:rPr lang="fr-FR" b="1" dirty="0" err="1">
                <a:latin typeface="Times New Roman" panose="02020603050405020304" pitchFamily="18" charset="0"/>
                <a:cs typeface="Times New Roman" panose="02020603050405020304" pitchFamily="18" charset="0"/>
              </a:rPr>
              <a:t>fluctuating</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bandwidth</a:t>
            </a:r>
            <a:r>
              <a:rPr lang="fr-FR" b="1" dirty="0">
                <a:latin typeface="Times New Roman" panose="02020603050405020304" pitchFamily="18" charset="0"/>
                <a:cs typeface="Times New Roman" panose="02020603050405020304" pitchFamily="18" charset="0"/>
              </a:rPr>
              <a:t> and packet </a:t>
            </a:r>
            <a:r>
              <a:rPr lang="fr-FR" b="1" dirty="0" err="1">
                <a:latin typeface="Times New Roman" panose="02020603050405020304" pitchFamily="18" charset="0"/>
                <a:cs typeface="Times New Roman" panose="02020603050405020304" pitchFamily="18" charset="0"/>
              </a:rPr>
              <a:t>loss</a:t>
            </a:r>
            <a:r>
              <a:rPr lang="fr-FR"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FB40F4EC-F72B-DE75-9152-7207EDCA3828}"/>
              </a:ext>
            </a:extLst>
          </p:cNvPr>
          <p:cNvSpPr txBox="1"/>
          <p:nvPr/>
        </p:nvSpPr>
        <p:spPr>
          <a:xfrm>
            <a:off x="2360938" y="406405"/>
            <a:ext cx="7466948" cy="646331"/>
          </a:xfrm>
          <a:prstGeom prst="rect">
            <a:avLst/>
          </a:prstGeom>
          <a:noFill/>
        </p:spPr>
        <p:txBody>
          <a:bodyPr wrap="square">
            <a:spAutoFit/>
          </a:bodyPr>
          <a:lstStyle/>
          <a:p>
            <a:pPr algn="ctr">
              <a:buNone/>
            </a:pPr>
            <a:r>
              <a:rPr lang="fr-FR" sz="3600" b="1" dirty="0">
                <a:latin typeface="Times New Roman" panose="02020603050405020304" pitchFamily="18" charset="0"/>
                <a:cs typeface="Times New Roman" panose="02020603050405020304" pitchFamily="18" charset="0"/>
              </a:rPr>
              <a:t>Wireless Signal Propagation </a:t>
            </a:r>
            <a:r>
              <a:rPr lang="fr-FR" sz="3600" b="1" dirty="0" err="1">
                <a:latin typeface="Times New Roman" panose="02020603050405020304" pitchFamily="18" charset="0"/>
                <a:cs typeface="Times New Roman" panose="02020603050405020304" pitchFamily="18" charset="0"/>
              </a:rPr>
              <a:t>Effects</a:t>
            </a:r>
            <a:endParaRPr lang="fr-FR" sz="3600" b="1" dirty="0">
              <a:latin typeface="Times New Roman" panose="02020603050405020304" pitchFamily="18" charset="0"/>
              <a:cs typeface="Times New Roman" panose="02020603050405020304" pitchFamily="18" charset="0"/>
            </a:endParaRPr>
          </a:p>
        </p:txBody>
      </p:sp>
      <p:pic>
        <p:nvPicPr>
          <p:cNvPr id="3076" name="Picture 4" descr="PROPAGATION AND SIGNAL STRENGHT PREDICTION | Ratel">
            <a:extLst>
              <a:ext uri="{FF2B5EF4-FFF2-40B4-BE49-F238E27FC236}">
                <a16:creationId xmlns:a16="http://schemas.microsoft.com/office/drawing/2014/main" id="{AB7B1A7C-2792-0008-FF3B-79840684065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542"/>
          <a:stretch>
            <a:fillRect/>
          </a:stretch>
        </p:blipFill>
        <p:spPr bwMode="auto">
          <a:xfrm>
            <a:off x="2783135" y="3140968"/>
            <a:ext cx="6622554" cy="3298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7171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CB96E-F492-2A85-B2D7-7AB3D5D80F4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CC0EB3A-477C-4190-06C2-1849481C02A9}"/>
              </a:ext>
            </a:extLst>
          </p:cNvPr>
          <p:cNvSpPr txBox="1"/>
          <p:nvPr/>
        </p:nvSpPr>
        <p:spPr>
          <a:xfrm>
            <a:off x="1125860" y="476672"/>
            <a:ext cx="9469052" cy="1477328"/>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Modulation Techniques</a:t>
            </a:r>
          </a:p>
          <a:p>
            <a:pPr algn="ctr">
              <a:buNone/>
            </a:pPr>
            <a:endParaRPr lang="en-US" sz="3600" b="1"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Modulation converts digital data into radio signals,</a:t>
            </a:r>
          </a:p>
        </p:txBody>
      </p:sp>
      <p:pic>
        <p:nvPicPr>
          <p:cNvPr id="3074" name="Picture 2" descr="Modulation | Definition, Types, &amp; Facts | Britannica">
            <a:extLst>
              <a:ext uri="{FF2B5EF4-FFF2-40B4-BE49-F238E27FC236}">
                <a16:creationId xmlns:a16="http://schemas.microsoft.com/office/drawing/2014/main" id="{7E224F82-33EF-2B1E-5337-DDE3057286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8388" y="2780928"/>
            <a:ext cx="4363220" cy="3073391"/>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Module 7.1: Frequency Response">
            <a:extLst>
              <a:ext uri="{FF2B5EF4-FFF2-40B4-BE49-F238E27FC236}">
                <a16:creationId xmlns:a16="http://schemas.microsoft.com/office/drawing/2014/main" id="{E72BDEB5-8207-D063-AEF1-5856EB024B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1924" y="2374151"/>
            <a:ext cx="3922670" cy="3886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787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455DB-0695-B5F5-26C7-287BE95E0D6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9D3FFE5-DC0A-2F7A-F53B-4F5F479F3448}"/>
              </a:ext>
            </a:extLst>
          </p:cNvPr>
          <p:cNvSpPr txBox="1"/>
          <p:nvPr/>
        </p:nvSpPr>
        <p:spPr>
          <a:xfrm>
            <a:off x="2360938" y="260648"/>
            <a:ext cx="7466948" cy="646331"/>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Multiple Access Techniques</a:t>
            </a:r>
            <a:endParaRPr lang="fr-FR" sz="36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C6504A2-B843-A72E-434B-D0264972E363}"/>
              </a:ext>
            </a:extLst>
          </p:cNvPr>
          <p:cNvSpPr txBox="1"/>
          <p:nvPr/>
        </p:nvSpPr>
        <p:spPr>
          <a:xfrm>
            <a:off x="1341884" y="1196752"/>
            <a:ext cx="7920880" cy="1704569"/>
          </a:xfrm>
          <a:prstGeom prst="rect">
            <a:avLst/>
          </a:prstGeom>
          <a:noFill/>
        </p:spPr>
        <p:txBody>
          <a:bodyPr wrap="square">
            <a:spAutoFit/>
          </a:bodyPr>
          <a:lstStyle/>
          <a:p>
            <a:pPr>
              <a:lnSpc>
                <a:spcPct val="150000"/>
              </a:lnSpc>
              <a:buNone/>
            </a:pPr>
            <a:r>
              <a:rPr lang="en-US" dirty="0">
                <a:latin typeface="Times New Roman" panose="02020603050405020304" pitchFamily="18" charset="0"/>
                <a:cs typeface="Times New Roman" panose="02020603050405020304" pitchFamily="18" charset="0"/>
              </a:rPr>
              <a:t>Because the wireless medium is shared:</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FDMA</a:t>
            </a:r>
            <a:r>
              <a:rPr lang="en-US" dirty="0">
                <a:latin typeface="Times New Roman" panose="02020603050405020304" pitchFamily="18" charset="0"/>
                <a:cs typeface="Times New Roman" panose="02020603050405020304" pitchFamily="18" charset="0"/>
              </a:rPr>
              <a:t> – divide frequency</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TDMA</a:t>
            </a:r>
            <a:r>
              <a:rPr lang="en-US" dirty="0">
                <a:latin typeface="Times New Roman" panose="02020603050405020304" pitchFamily="18" charset="0"/>
                <a:cs typeface="Times New Roman" panose="02020603050405020304" pitchFamily="18" charset="0"/>
              </a:rPr>
              <a:t> – divide time</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CDMA</a:t>
            </a:r>
            <a:r>
              <a:rPr lang="en-US" dirty="0">
                <a:latin typeface="Times New Roman" panose="02020603050405020304" pitchFamily="18" charset="0"/>
                <a:cs typeface="Times New Roman" panose="02020603050405020304" pitchFamily="18" charset="0"/>
              </a:rPr>
              <a:t> – divide by code</a:t>
            </a:r>
          </a:p>
        </p:txBody>
      </p:sp>
      <p:pic>
        <p:nvPicPr>
          <p:cNvPr id="5122" name="Picture 2" descr="Common FDMA, TDMA and CDMA Techniques | Download Scientific Diagram">
            <a:extLst>
              <a:ext uri="{FF2B5EF4-FFF2-40B4-BE49-F238E27FC236}">
                <a16:creationId xmlns:a16="http://schemas.microsoft.com/office/drawing/2014/main" id="{C41CE682-8015-9F6F-E6F2-4E2154E594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5860" y="3359512"/>
            <a:ext cx="9194536" cy="2694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4177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FE22F37-79EC-D1D2-E6DD-04834055DD72}"/>
              </a:ext>
            </a:extLst>
          </p:cNvPr>
          <p:cNvGraphicFramePr>
            <a:graphicFrameLocks noGrp="1"/>
          </p:cNvGraphicFramePr>
          <p:nvPr>
            <p:extLst>
              <p:ext uri="{D42A27DB-BD31-4B8C-83A1-F6EECF244321}">
                <p14:modId xmlns:p14="http://schemas.microsoft.com/office/powerpoint/2010/main" val="249919956"/>
              </p:ext>
            </p:extLst>
          </p:nvPr>
        </p:nvGraphicFramePr>
        <p:xfrm>
          <a:off x="1593850" y="2788920"/>
          <a:ext cx="9782176" cy="2194560"/>
        </p:xfrm>
        <a:graphic>
          <a:graphicData uri="http://schemas.openxmlformats.org/drawingml/2006/table">
            <a:tbl>
              <a:tblPr>
                <a:tableStyleId>{08FB837D-C827-4EFA-A057-4D05807E0F7C}</a:tableStyleId>
              </a:tblPr>
              <a:tblGrid>
                <a:gridCol w="2445544">
                  <a:extLst>
                    <a:ext uri="{9D8B030D-6E8A-4147-A177-3AD203B41FA5}">
                      <a16:colId xmlns:a16="http://schemas.microsoft.com/office/drawing/2014/main" val="1901559827"/>
                    </a:ext>
                  </a:extLst>
                </a:gridCol>
                <a:gridCol w="2445544">
                  <a:extLst>
                    <a:ext uri="{9D8B030D-6E8A-4147-A177-3AD203B41FA5}">
                      <a16:colId xmlns:a16="http://schemas.microsoft.com/office/drawing/2014/main" val="2920410373"/>
                    </a:ext>
                  </a:extLst>
                </a:gridCol>
                <a:gridCol w="2445544">
                  <a:extLst>
                    <a:ext uri="{9D8B030D-6E8A-4147-A177-3AD203B41FA5}">
                      <a16:colId xmlns:a16="http://schemas.microsoft.com/office/drawing/2014/main" val="1697103853"/>
                    </a:ext>
                  </a:extLst>
                </a:gridCol>
                <a:gridCol w="2445544">
                  <a:extLst>
                    <a:ext uri="{9D8B030D-6E8A-4147-A177-3AD203B41FA5}">
                      <a16:colId xmlns:a16="http://schemas.microsoft.com/office/drawing/2014/main" val="1124573310"/>
                    </a:ext>
                  </a:extLst>
                </a:gridCol>
              </a:tblGrid>
              <a:tr h="365760">
                <a:tc>
                  <a:txBody>
                    <a:bodyPr/>
                    <a:lstStyle/>
                    <a:p>
                      <a:pPr>
                        <a:buNone/>
                      </a:pPr>
                      <a:r>
                        <a:rPr lang="fr-FR" sz="1800">
                          <a:latin typeface="Times New Roman" panose="02020603050405020304" pitchFamily="18" charset="0"/>
                          <a:cs typeface="Times New Roman" panose="02020603050405020304" pitchFamily="18" charset="0"/>
                        </a:rPr>
                        <a:t>Technology</a:t>
                      </a:r>
                    </a:p>
                  </a:txBody>
                  <a:tcPr anchor="ctr">
                    <a:solidFill>
                      <a:schemeClr val="bg1">
                        <a:lumMod val="95000"/>
                      </a:schemeClr>
                    </a:solidFill>
                  </a:tcPr>
                </a:tc>
                <a:tc>
                  <a:txBody>
                    <a:bodyPr/>
                    <a:lstStyle/>
                    <a:p>
                      <a:pPr>
                        <a:buNone/>
                      </a:pPr>
                      <a:r>
                        <a:rPr lang="fr-FR" sz="1800">
                          <a:latin typeface="Times New Roman" panose="02020603050405020304" pitchFamily="18" charset="0"/>
                          <a:cs typeface="Times New Roman" panose="02020603050405020304" pitchFamily="18" charset="0"/>
                        </a:rPr>
                        <a:t>Range</a:t>
                      </a:r>
                    </a:p>
                  </a:txBody>
                  <a:tcPr anchor="ctr">
                    <a:solidFill>
                      <a:schemeClr val="bg1">
                        <a:lumMod val="95000"/>
                      </a:schemeClr>
                    </a:solidFill>
                  </a:tcPr>
                </a:tc>
                <a:tc>
                  <a:txBody>
                    <a:bodyPr/>
                    <a:lstStyle/>
                    <a:p>
                      <a:pPr>
                        <a:buNone/>
                      </a:pPr>
                      <a:r>
                        <a:rPr lang="fr-FR" sz="1800">
                          <a:latin typeface="Times New Roman" panose="02020603050405020304" pitchFamily="18" charset="0"/>
                          <a:cs typeface="Times New Roman" panose="02020603050405020304" pitchFamily="18" charset="0"/>
                        </a:rPr>
                        <a:t>Data Rate</a:t>
                      </a:r>
                    </a:p>
                  </a:txBody>
                  <a:tcPr anchor="ctr">
                    <a:solidFill>
                      <a:schemeClr val="bg1">
                        <a:lumMod val="95000"/>
                      </a:schemeClr>
                    </a:solidFill>
                  </a:tcPr>
                </a:tc>
                <a:tc>
                  <a:txBody>
                    <a:bodyPr/>
                    <a:lstStyle/>
                    <a:p>
                      <a:pPr>
                        <a:buNone/>
                      </a:pPr>
                      <a:r>
                        <a:rPr lang="fr-FR" sz="1800" dirty="0" err="1">
                          <a:latin typeface="Times New Roman" panose="02020603050405020304" pitchFamily="18" charset="0"/>
                          <a:cs typeface="Times New Roman" panose="02020603050405020304" pitchFamily="18" charset="0"/>
                        </a:rPr>
                        <a:t>Typical</a:t>
                      </a:r>
                      <a:r>
                        <a:rPr lang="fr-FR" sz="1800" dirty="0">
                          <a:latin typeface="Times New Roman" panose="02020603050405020304" pitchFamily="18" charset="0"/>
                          <a:cs typeface="Times New Roman" panose="02020603050405020304" pitchFamily="18" charset="0"/>
                        </a:rPr>
                        <a:t> Use</a:t>
                      </a:r>
                    </a:p>
                  </a:txBody>
                  <a:tcPr anchor="ctr">
                    <a:solidFill>
                      <a:schemeClr val="bg1">
                        <a:lumMod val="95000"/>
                      </a:schemeClr>
                    </a:solidFill>
                  </a:tcPr>
                </a:tc>
                <a:extLst>
                  <a:ext uri="{0D108BD9-81ED-4DB2-BD59-A6C34878D82A}">
                    <a16:rowId xmlns:a16="http://schemas.microsoft.com/office/drawing/2014/main" val="1420315039"/>
                  </a:ext>
                </a:extLst>
              </a:tr>
              <a:tr h="365760">
                <a:tc>
                  <a:txBody>
                    <a:bodyPr/>
                    <a:lstStyle/>
                    <a:p>
                      <a:pPr>
                        <a:buNone/>
                      </a:pPr>
                      <a:r>
                        <a:rPr lang="fr-FR" sz="1800">
                          <a:latin typeface="Times New Roman" panose="02020603050405020304" pitchFamily="18" charset="0"/>
                          <a:cs typeface="Times New Roman" panose="02020603050405020304" pitchFamily="18" charset="0"/>
                        </a:rPr>
                        <a:t>Wi-Fi</a:t>
                      </a:r>
                    </a:p>
                  </a:txBody>
                  <a:tcPr anchor="ctr"/>
                </a:tc>
                <a:tc>
                  <a:txBody>
                    <a:bodyPr/>
                    <a:lstStyle/>
                    <a:p>
                      <a:pPr>
                        <a:buNone/>
                      </a:pPr>
                      <a:r>
                        <a:rPr lang="fr-FR" sz="1800">
                          <a:latin typeface="Times New Roman" panose="02020603050405020304" pitchFamily="18" charset="0"/>
                          <a:cs typeface="Times New Roman" panose="02020603050405020304" pitchFamily="18" charset="0"/>
                        </a:rPr>
                        <a:t>Medium</a:t>
                      </a:r>
                    </a:p>
                  </a:txBody>
                  <a:tcPr anchor="ctr"/>
                </a:tc>
                <a:tc>
                  <a:txBody>
                    <a:bodyPr/>
                    <a:lstStyle/>
                    <a:p>
                      <a:pPr>
                        <a:buNone/>
                      </a:pPr>
                      <a:r>
                        <a:rPr lang="fr-FR" sz="1800">
                          <a:latin typeface="Times New Roman" panose="02020603050405020304" pitchFamily="18" charset="0"/>
                          <a:cs typeface="Times New Roman" panose="02020603050405020304" pitchFamily="18" charset="0"/>
                        </a:rPr>
                        <a:t>High</a:t>
                      </a:r>
                    </a:p>
                  </a:txBody>
                  <a:tcPr anchor="ctr"/>
                </a:tc>
                <a:tc>
                  <a:txBody>
                    <a:bodyPr/>
                    <a:lstStyle/>
                    <a:p>
                      <a:pPr>
                        <a:buNone/>
                      </a:pPr>
                      <a:r>
                        <a:rPr lang="fr-FR" sz="1800">
                          <a:latin typeface="Times New Roman" panose="02020603050405020304" pitchFamily="18" charset="0"/>
                          <a:cs typeface="Times New Roman" panose="02020603050405020304" pitchFamily="18" charset="0"/>
                        </a:rPr>
                        <a:t>Local networks</a:t>
                      </a:r>
                    </a:p>
                  </a:txBody>
                  <a:tcPr anchor="ctr"/>
                </a:tc>
                <a:extLst>
                  <a:ext uri="{0D108BD9-81ED-4DB2-BD59-A6C34878D82A}">
                    <a16:rowId xmlns:a16="http://schemas.microsoft.com/office/drawing/2014/main" val="224382828"/>
                  </a:ext>
                </a:extLst>
              </a:tr>
              <a:tr h="365760">
                <a:tc>
                  <a:txBody>
                    <a:bodyPr/>
                    <a:lstStyle/>
                    <a:p>
                      <a:pPr>
                        <a:buNone/>
                      </a:pPr>
                      <a:r>
                        <a:rPr lang="fr-FR" sz="1800">
                          <a:latin typeface="Times New Roman" panose="02020603050405020304" pitchFamily="18" charset="0"/>
                          <a:cs typeface="Times New Roman" panose="02020603050405020304" pitchFamily="18" charset="0"/>
                        </a:rPr>
                        <a:t>Cellular</a:t>
                      </a:r>
                    </a:p>
                  </a:txBody>
                  <a:tcPr anchor="ctr"/>
                </a:tc>
                <a:tc>
                  <a:txBody>
                    <a:bodyPr/>
                    <a:lstStyle/>
                    <a:p>
                      <a:pPr>
                        <a:buNone/>
                      </a:pPr>
                      <a:r>
                        <a:rPr lang="fr-FR" sz="1800">
                          <a:latin typeface="Times New Roman" panose="02020603050405020304" pitchFamily="18" charset="0"/>
                          <a:cs typeface="Times New Roman" panose="02020603050405020304" pitchFamily="18" charset="0"/>
                        </a:rPr>
                        <a:t>Large</a:t>
                      </a:r>
                    </a:p>
                  </a:txBody>
                  <a:tcPr anchor="ctr"/>
                </a:tc>
                <a:tc>
                  <a:txBody>
                    <a:bodyPr/>
                    <a:lstStyle/>
                    <a:p>
                      <a:pPr>
                        <a:buNone/>
                      </a:pPr>
                      <a:r>
                        <a:rPr lang="fr-FR" sz="1800">
                          <a:latin typeface="Times New Roman" panose="02020603050405020304" pitchFamily="18" charset="0"/>
                          <a:cs typeface="Times New Roman" panose="02020603050405020304" pitchFamily="18" charset="0"/>
                        </a:rPr>
                        <a:t>Medium–High</a:t>
                      </a:r>
                    </a:p>
                  </a:txBody>
                  <a:tcPr anchor="ctr"/>
                </a:tc>
                <a:tc>
                  <a:txBody>
                    <a:bodyPr/>
                    <a:lstStyle/>
                    <a:p>
                      <a:pPr>
                        <a:buNone/>
                      </a:pPr>
                      <a:r>
                        <a:rPr lang="fr-FR" sz="1800">
                          <a:latin typeface="Times New Roman" panose="02020603050405020304" pitchFamily="18" charset="0"/>
                          <a:cs typeface="Times New Roman" panose="02020603050405020304" pitchFamily="18" charset="0"/>
                        </a:rPr>
                        <a:t>Mobile access</a:t>
                      </a:r>
                    </a:p>
                  </a:txBody>
                  <a:tcPr anchor="ctr"/>
                </a:tc>
                <a:extLst>
                  <a:ext uri="{0D108BD9-81ED-4DB2-BD59-A6C34878D82A}">
                    <a16:rowId xmlns:a16="http://schemas.microsoft.com/office/drawing/2014/main" val="4173924797"/>
                  </a:ext>
                </a:extLst>
              </a:tr>
              <a:tr h="365760">
                <a:tc>
                  <a:txBody>
                    <a:bodyPr/>
                    <a:lstStyle/>
                    <a:p>
                      <a:pPr>
                        <a:buNone/>
                      </a:pPr>
                      <a:r>
                        <a:rPr lang="fr-FR" sz="1800">
                          <a:latin typeface="Times New Roman" panose="02020603050405020304" pitchFamily="18" charset="0"/>
                          <a:cs typeface="Times New Roman" panose="02020603050405020304" pitchFamily="18" charset="0"/>
                        </a:rPr>
                        <a:t>Bluetooth</a:t>
                      </a:r>
                    </a:p>
                  </a:txBody>
                  <a:tcPr anchor="ctr"/>
                </a:tc>
                <a:tc>
                  <a:txBody>
                    <a:bodyPr/>
                    <a:lstStyle/>
                    <a:p>
                      <a:pPr>
                        <a:buNone/>
                      </a:pPr>
                      <a:r>
                        <a:rPr lang="fr-FR" sz="1800">
                          <a:latin typeface="Times New Roman" panose="02020603050405020304" pitchFamily="18" charset="0"/>
                          <a:cs typeface="Times New Roman" panose="02020603050405020304" pitchFamily="18" charset="0"/>
                        </a:rPr>
                        <a:t>Short</a:t>
                      </a:r>
                    </a:p>
                  </a:txBody>
                  <a:tcPr anchor="ctr"/>
                </a:tc>
                <a:tc>
                  <a:txBody>
                    <a:bodyPr/>
                    <a:lstStyle/>
                    <a:p>
                      <a:pPr>
                        <a:buNone/>
                      </a:pPr>
                      <a:r>
                        <a:rPr lang="fr-FR" sz="1800">
                          <a:latin typeface="Times New Roman" panose="02020603050405020304" pitchFamily="18" charset="0"/>
                          <a:cs typeface="Times New Roman" panose="02020603050405020304" pitchFamily="18" charset="0"/>
                        </a:rPr>
                        <a:t>Low</a:t>
                      </a:r>
                    </a:p>
                  </a:txBody>
                  <a:tcPr anchor="ctr"/>
                </a:tc>
                <a:tc>
                  <a:txBody>
                    <a:bodyPr/>
                    <a:lstStyle/>
                    <a:p>
                      <a:pPr>
                        <a:buNone/>
                      </a:pPr>
                      <a:r>
                        <a:rPr lang="fr-FR" sz="1800">
                          <a:latin typeface="Times New Roman" panose="02020603050405020304" pitchFamily="18" charset="0"/>
                          <a:cs typeface="Times New Roman" panose="02020603050405020304" pitchFamily="18" charset="0"/>
                        </a:rPr>
                        <a:t>Peripheral devices</a:t>
                      </a:r>
                    </a:p>
                  </a:txBody>
                  <a:tcPr anchor="ctr"/>
                </a:tc>
                <a:extLst>
                  <a:ext uri="{0D108BD9-81ED-4DB2-BD59-A6C34878D82A}">
                    <a16:rowId xmlns:a16="http://schemas.microsoft.com/office/drawing/2014/main" val="2262388736"/>
                  </a:ext>
                </a:extLst>
              </a:tr>
              <a:tr h="365760">
                <a:tc>
                  <a:txBody>
                    <a:bodyPr/>
                    <a:lstStyle/>
                    <a:p>
                      <a:pPr>
                        <a:buNone/>
                      </a:pPr>
                      <a:r>
                        <a:rPr lang="fr-FR" sz="1800">
                          <a:latin typeface="Times New Roman" panose="02020603050405020304" pitchFamily="18" charset="0"/>
                          <a:cs typeface="Times New Roman" panose="02020603050405020304" pitchFamily="18" charset="0"/>
                        </a:rPr>
                        <a:t>Zigbee</a:t>
                      </a:r>
                    </a:p>
                  </a:txBody>
                  <a:tcPr anchor="ctr"/>
                </a:tc>
                <a:tc>
                  <a:txBody>
                    <a:bodyPr/>
                    <a:lstStyle/>
                    <a:p>
                      <a:pPr>
                        <a:buNone/>
                      </a:pPr>
                      <a:r>
                        <a:rPr lang="fr-FR" sz="1800">
                          <a:latin typeface="Times New Roman" panose="02020603050405020304" pitchFamily="18" charset="0"/>
                          <a:cs typeface="Times New Roman" panose="02020603050405020304" pitchFamily="18" charset="0"/>
                        </a:rPr>
                        <a:t>Short</a:t>
                      </a:r>
                    </a:p>
                  </a:txBody>
                  <a:tcPr anchor="ctr"/>
                </a:tc>
                <a:tc>
                  <a:txBody>
                    <a:bodyPr/>
                    <a:lstStyle/>
                    <a:p>
                      <a:pPr>
                        <a:buNone/>
                      </a:pPr>
                      <a:r>
                        <a:rPr lang="fr-FR" sz="1800">
                          <a:latin typeface="Times New Roman" panose="02020603050405020304" pitchFamily="18" charset="0"/>
                          <a:cs typeface="Times New Roman" panose="02020603050405020304" pitchFamily="18" charset="0"/>
                        </a:rPr>
                        <a:t>Very Low</a:t>
                      </a:r>
                    </a:p>
                  </a:txBody>
                  <a:tcPr anchor="ctr"/>
                </a:tc>
                <a:tc>
                  <a:txBody>
                    <a:bodyPr/>
                    <a:lstStyle/>
                    <a:p>
                      <a:pPr>
                        <a:buNone/>
                      </a:pPr>
                      <a:r>
                        <a:rPr lang="fr-FR" sz="1800">
                          <a:latin typeface="Times New Roman" panose="02020603050405020304" pitchFamily="18" charset="0"/>
                          <a:cs typeface="Times New Roman" panose="02020603050405020304" pitchFamily="18" charset="0"/>
                        </a:rPr>
                        <a:t>IoT sensors</a:t>
                      </a:r>
                    </a:p>
                  </a:txBody>
                  <a:tcPr anchor="ctr"/>
                </a:tc>
                <a:extLst>
                  <a:ext uri="{0D108BD9-81ED-4DB2-BD59-A6C34878D82A}">
                    <a16:rowId xmlns:a16="http://schemas.microsoft.com/office/drawing/2014/main" val="350740413"/>
                  </a:ext>
                </a:extLst>
              </a:tr>
              <a:tr h="365760">
                <a:tc>
                  <a:txBody>
                    <a:bodyPr/>
                    <a:lstStyle/>
                    <a:p>
                      <a:pPr>
                        <a:buNone/>
                      </a:pPr>
                      <a:r>
                        <a:rPr lang="fr-FR" sz="1800" dirty="0">
                          <a:latin typeface="Times New Roman" panose="02020603050405020304" pitchFamily="18" charset="0"/>
                          <a:cs typeface="Times New Roman" panose="02020603050405020304" pitchFamily="18" charset="0"/>
                        </a:rPr>
                        <a:t>LPWAN</a:t>
                      </a:r>
                    </a:p>
                  </a:txBody>
                  <a:tcPr anchor="ctr"/>
                </a:tc>
                <a:tc>
                  <a:txBody>
                    <a:bodyPr/>
                    <a:lstStyle/>
                    <a:p>
                      <a:pPr>
                        <a:buNone/>
                      </a:pPr>
                      <a:r>
                        <a:rPr lang="fr-FR" sz="1800">
                          <a:latin typeface="Times New Roman" panose="02020603050405020304" pitchFamily="18" charset="0"/>
                          <a:cs typeface="Times New Roman" panose="02020603050405020304" pitchFamily="18" charset="0"/>
                        </a:rPr>
                        <a:t>Very Large</a:t>
                      </a:r>
                    </a:p>
                  </a:txBody>
                  <a:tcPr anchor="ctr"/>
                </a:tc>
                <a:tc>
                  <a:txBody>
                    <a:bodyPr/>
                    <a:lstStyle/>
                    <a:p>
                      <a:pPr>
                        <a:buNone/>
                      </a:pPr>
                      <a:r>
                        <a:rPr lang="fr-FR" sz="1800">
                          <a:latin typeface="Times New Roman" panose="02020603050405020304" pitchFamily="18" charset="0"/>
                          <a:cs typeface="Times New Roman" panose="02020603050405020304" pitchFamily="18" charset="0"/>
                        </a:rPr>
                        <a:t>Very Low</a:t>
                      </a:r>
                    </a:p>
                  </a:txBody>
                  <a:tcPr anchor="ctr"/>
                </a:tc>
                <a:tc>
                  <a:txBody>
                    <a:bodyPr/>
                    <a:lstStyle/>
                    <a:p>
                      <a:pPr>
                        <a:buNone/>
                      </a:pPr>
                      <a:r>
                        <a:rPr lang="fr-FR" sz="1800" dirty="0">
                          <a:latin typeface="Times New Roman" panose="02020603050405020304" pitchFamily="18" charset="0"/>
                          <a:cs typeface="Times New Roman" panose="02020603050405020304" pitchFamily="18" charset="0"/>
                        </a:rPr>
                        <a:t>IoT monitoring</a:t>
                      </a:r>
                    </a:p>
                  </a:txBody>
                  <a:tcPr anchor="ctr"/>
                </a:tc>
                <a:extLst>
                  <a:ext uri="{0D108BD9-81ED-4DB2-BD59-A6C34878D82A}">
                    <a16:rowId xmlns:a16="http://schemas.microsoft.com/office/drawing/2014/main" val="2696276583"/>
                  </a:ext>
                </a:extLst>
              </a:tr>
            </a:tbl>
          </a:graphicData>
        </a:graphic>
      </p:graphicFrame>
      <p:sp>
        <p:nvSpPr>
          <p:cNvPr id="4" name="TextBox 3">
            <a:extLst>
              <a:ext uri="{FF2B5EF4-FFF2-40B4-BE49-F238E27FC236}">
                <a16:creationId xmlns:a16="http://schemas.microsoft.com/office/drawing/2014/main" id="{82D357E7-0717-9926-D5ED-DADE2DF4E00A}"/>
              </a:ext>
            </a:extLst>
          </p:cNvPr>
          <p:cNvSpPr txBox="1"/>
          <p:nvPr/>
        </p:nvSpPr>
        <p:spPr>
          <a:xfrm>
            <a:off x="3286100" y="260648"/>
            <a:ext cx="6750195" cy="646331"/>
          </a:xfrm>
          <a:prstGeom prst="rect">
            <a:avLst/>
          </a:prstGeom>
          <a:noFill/>
        </p:spPr>
        <p:txBody>
          <a:bodyPr wrap="square">
            <a:spAutoFit/>
          </a:bodyPr>
          <a:lstStyle/>
          <a:p>
            <a:r>
              <a:rPr lang="fr-FR" sz="3600" b="1" dirty="0">
                <a:latin typeface="Times New Roman" panose="02020603050405020304" pitchFamily="18" charset="0"/>
                <a:cs typeface="Times New Roman" panose="02020603050405020304" pitchFamily="18" charset="0"/>
              </a:rPr>
              <a:t>Wireless Technologies </a:t>
            </a:r>
            <a:r>
              <a:rPr lang="fr-FR" sz="3600" b="1" dirty="0" err="1">
                <a:latin typeface="Times New Roman" panose="02020603050405020304" pitchFamily="18" charset="0"/>
                <a:cs typeface="Times New Roman" panose="02020603050405020304" pitchFamily="18" charset="0"/>
              </a:rPr>
              <a:t>Overview</a:t>
            </a:r>
            <a:endParaRPr lang="fr-DZ"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9624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E972E2-015B-7967-54BE-E540D82C55E2}"/>
              </a:ext>
            </a:extLst>
          </p:cNvPr>
          <p:cNvSpPr>
            <a:spLocks noChangeArrowheads="1"/>
          </p:cNvSpPr>
          <p:nvPr/>
        </p:nvSpPr>
        <p:spPr bwMode="auto">
          <a:xfrm>
            <a:off x="0" y="-234649"/>
            <a:ext cx="65" cy="469299"/>
          </a:xfrm>
          <a:prstGeom prst="rect">
            <a:avLst/>
          </a:prstGeom>
          <a:solidFill>
            <a:srgbClr val="1F1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DZ" altLang="fr-DZ"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E22251E1-88CC-4E3F-244A-696A8E18A96E}"/>
              </a:ext>
            </a:extLst>
          </p:cNvPr>
          <p:cNvSpPr txBox="1"/>
          <p:nvPr/>
        </p:nvSpPr>
        <p:spPr>
          <a:xfrm>
            <a:off x="1125860" y="1268760"/>
            <a:ext cx="9289032" cy="3416320"/>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MNA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is</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the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structured</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framework</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of components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that</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enables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wireless</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communication,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managing</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radio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signals</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user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mobility</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data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routing</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and service provision,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evolving</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from</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circuit-</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switched</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systems</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(2G/3G) to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packet-switched</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IP-</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based</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networks (4G/5G) for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seamless</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data,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voice</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and application support,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using</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concepts like </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Network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Function</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Virtualization</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 (NFV)</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for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flexibility</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fr-DZ" altLang="fr-DZ" b="1" i="0" u="none" strike="noStrike" cap="none" normalizeH="0" baseline="0" dirty="0">
                <a:ln>
                  <a:noFill/>
                </a:ln>
                <a:effectLst/>
                <a:latin typeface="Times New Roman" panose="02020603050405020304" pitchFamily="18" charset="0"/>
                <a:cs typeface="Times New Roman" panose="02020603050405020304" pitchFamily="18" charset="0"/>
              </a:rPr>
              <a:t>Key Components</a:t>
            </a:r>
            <a:endPar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b="1" i="0" strike="noStrike" cap="none" normalizeH="0" baseline="0" dirty="0">
                <a:ln>
                  <a:noFill/>
                </a:ln>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User Equipment (UE)</a:t>
            </a:r>
            <a:r>
              <a:rPr kumimoji="0" lang="fr-DZ" altLang="fr-DZ" b="0" i="0"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Your</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mobile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device</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(phone,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tablet</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b="1" i="0" u="none" strike="noStrike" cap="none" normalizeH="0" baseline="0" dirty="0">
                <a:ln>
                  <a:noFill/>
                </a:ln>
                <a:effectLst/>
                <a:latin typeface="Times New Roman" panose="02020603050405020304" pitchFamily="18" charset="0"/>
                <a:cs typeface="Times New Roman" panose="02020603050405020304" pitchFamily="18" charset="0"/>
              </a:rPr>
              <a:t>Radio Access Network (RAN)</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The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antennas</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and base stations (BTS/</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eNB</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that</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connect</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UEs</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to the network via radio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waves</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managing</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spectrum</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efficiently</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b="1" i="0" u="none" strike="noStrike" cap="none" normalizeH="0" baseline="0" dirty="0" err="1">
                <a:ln>
                  <a:noFill/>
                </a:ln>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Core</a:t>
            </a:r>
            <a:r>
              <a:rPr kumimoji="0" lang="fr-DZ" altLang="fr-DZ" b="1" i="0" u="none" strike="noStrike" cap="none" normalizeH="0" baseline="0" dirty="0">
                <a:ln>
                  <a:noFill/>
                </a:ln>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Network (CN)</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The central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brain</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managing</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sessions,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authentication</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mobility</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and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routing</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data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between</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the RAN and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external</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networks.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DZ" altLang="fr-DZ" b="1" i="0" u="none" strike="noStrike" cap="none" normalizeH="0" baseline="0" dirty="0">
                <a:ln>
                  <a:noFill/>
                </a:ln>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Data Network</a:t>
            </a:r>
            <a:r>
              <a:rPr kumimoji="0" lang="fr-DZ" altLang="fr-DZ" b="1" i="0" u="none" strike="noStrike" cap="none" normalizeH="0" baseline="0" dirty="0">
                <a:ln>
                  <a:noFill/>
                </a:ln>
                <a:effectLst/>
                <a:latin typeface="Times New Roman" panose="02020603050405020304" pitchFamily="18" charset="0"/>
                <a:cs typeface="Times New Roman" panose="02020603050405020304" pitchFamily="18" charset="0"/>
              </a:rPr>
              <a:t>/</a:t>
            </a:r>
            <a:r>
              <a:rPr kumimoji="0" lang="fr-DZ" altLang="fr-DZ" b="1" i="0" u="none" strike="noStrike" cap="none" normalizeH="0" baseline="0" dirty="0" err="1">
                <a:ln>
                  <a:noFill/>
                </a:ln>
                <a:effectLst/>
                <a:latin typeface="Times New Roman" panose="02020603050405020304" pitchFamily="18" charset="0"/>
                <a:cs typeface="Times New Roman" panose="02020603050405020304" pitchFamily="18" charset="0"/>
              </a:rPr>
              <a:t>Backhaul</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Connects</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the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core</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network to the internet and </a:t>
            </a:r>
            <a:r>
              <a:rPr kumimoji="0" lang="fr-DZ" altLang="fr-DZ" b="0" i="0" u="none" strike="noStrike" cap="none" normalizeH="0" baseline="0" dirty="0" err="1">
                <a:ln>
                  <a:noFill/>
                </a:ln>
                <a:effectLst/>
                <a:latin typeface="Times New Roman" panose="02020603050405020304" pitchFamily="18" charset="0"/>
                <a:cs typeface="Times New Roman" panose="02020603050405020304" pitchFamily="18" charset="0"/>
              </a:rPr>
              <a:t>other</a:t>
            </a:r>
            <a:r>
              <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rPr>
              <a:t> data services.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fr-DZ" altLang="fr-DZ"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DE522FA-CD2F-ECAE-73A8-220D1F2ABA69}"/>
              </a:ext>
            </a:extLst>
          </p:cNvPr>
          <p:cNvSpPr txBox="1"/>
          <p:nvPr/>
        </p:nvSpPr>
        <p:spPr>
          <a:xfrm>
            <a:off x="3045014" y="332656"/>
            <a:ext cx="6098796" cy="646331"/>
          </a:xfrm>
          <a:prstGeom prst="rect">
            <a:avLst/>
          </a:prstGeom>
          <a:noFill/>
        </p:spPr>
        <p:txBody>
          <a:bodyPr wrap="square">
            <a:spAutoFit/>
          </a:bodyPr>
          <a:lstStyle/>
          <a:p>
            <a:r>
              <a:rPr kumimoji="0" lang="fr-DZ" altLang="fr-DZ" sz="3600" b="1" i="0" u="none" strike="noStrike" cap="none" normalizeH="0" baseline="0" dirty="0">
                <a:ln>
                  <a:noFill/>
                </a:ln>
                <a:effectLst/>
                <a:latin typeface="Times New Roman" panose="02020603050405020304" pitchFamily="18" charset="0"/>
                <a:cs typeface="Times New Roman" panose="02020603050405020304" pitchFamily="18" charset="0"/>
              </a:rPr>
              <a:t>Mobile Network Architecture </a:t>
            </a:r>
            <a:endParaRPr lang="fr-DZ" sz="3600" b="1" dirty="0"/>
          </a:p>
        </p:txBody>
      </p:sp>
      <p:pic>
        <p:nvPicPr>
          <p:cNvPr id="7171" name="Picture 3" descr="High level architecture of the 5G system | Download Scientific Diagram">
            <a:extLst>
              <a:ext uri="{FF2B5EF4-FFF2-40B4-BE49-F238E27FC236}">
                <a16:creationId xmlns:a16="http://schemas.microsoft.com/office/drawing/2014/main" id="{689AE44B-B528-4653-7FBE-D98207F708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4092" y="4460958"/>
            <a:ext cx="4886747" cy="2088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5876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CECB7E-9238-8676-0A92-D964A8CBE44C}"/>
              </a:ext>
            </a:extLst>
          </p:cNvPr>
          <p:cNvSpPr txBox="1"/>
          <p:nvPr/>
        </p:nvSpPr>
        <p:spPr>
          <a:xfrm>
            <a:off x="1485900" y="1196752"/>
            <a:ext cx="9937104" cy="5444054"/>
          </a:xfrm>
          <a:prstGeom prst="rect">
            <a:avLst/>
          </a:prstGeom>
          <a:noFill/>
        </p:spPr>
        <p:txBody>
          <a:bodyPr wrap="square">
            <a:spAutoFit/>
          </a:bodyPr>
          <a:lstStyle/>
          <a:p>
            <a:pPr>
              <a:lnSpc>
                <a:spcPct val="150000"/>
              </a:lnSpc>
              <a:buNone/>
            </a:pPr>
            <a:r>
              <a:rPr lang="en-US" dirty="0">
                <a:latin typeface="Times New Roman" panose="02020603050405020304" pitchFamily="18" charset="0"/>
                <a:cs typeface="Times New Roman" panose="02020603050405020304" pitchFamily="18" charset="0"/>
              </a:rPr>
              <a:t>Wireless and mobile networks face </a:t>
            </a:r>
            <a:r>
              <a:rPr lang="en-US" b="1" dirty="0">
                <a:latin typeface="Times New Roman" panose="02020603050405020304" pitchFamily="18" charset="0"/>
                <a:cs typeface="Times New Roman" panose="02020603050405020304" pitchFamily="18" charset="0"/>
              </a:rPr>
              <a:t>greater security risks</a:t>
            </a:r>
            <a:r>
              <a:rPr lang="en-US" dirty="0">
                <a:latin typeface="Times New Roman" panose="02020603050405020304" pitchFamily="18" charset="0"/>
                <a:cs typeface="Times New Roman" panose="02020603050405020304" pitchFamily="18" charset="0"/>
              </a:rPr>
              <a:t> than wired networks because the transmission medium is </a:t>
            </a:r>
            <a:r>
              <a:rPr lang="en-US" b="1" dirty="0">
                <a:latin typeface="Times New Roman" panose="02020603050405020304" pitchFamily="18" charset="0"/>
                <a:cs typeface="Times New Roman" panose="02020603050405020304" pitchFamily="18" charset="0"/>
              </a:rPr>
              <a:t>open and shared</a:t>
            </a:r>
            <a:r>
              <a:rPr lang="en-US" dirty="0">
                <a:latin typeface="Times New Roman" panose="02020603050405020304" pitchFamily="18" charset="0"/>
                <a:cs typeface="Times New Roman" panose="02020603050405020304" pitchFamily="18" charset="0"/>
              </a:rPr>
              <a:t>.</a:t>
            </a:r>
          </a:p>
          <a:p>
            <a:pPr>
              <a:lnSpc>
                <a:spcPct val="150000"/>
              </a:lnSpc>
              <a:buNone/>
            </a:pPr>
            <a:r>
              <a:rPr lang="en-US" b="1" dirty="0">
                <a:latin typeface="Times New Roman" panose="02020603050405020304" pitchFamily="18" charset="0"/>
                <a:cs typeface="Times New Roman" panose="02020603050405020304" pitchFamily="18" charset="0"/>
              </a:rPr>
              <a:t>Wireless Security Challenges</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Radio signals can be </a:t>
            </a:r>
            <a:r>
              <a:rPr lang="en-US" b="1" dirty="0">
                <a:latin typeface="Times New Roman" panose="02020603050405020304" pitchFamily="18" charset="0"/>
                <a:cs typeface="Times New Roman" panose="02020603050405020304" pitchFamily="18" charset="0"/>
              </a:rPr>
              <a:t>intercepted by anyone within range</a:t>
            </a:r>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Devices frequently </a:t>
            </a:r>
            <a:r>
              <a:rPr lang="en-US" b="1" dirty="0">
                <a:latin typeface="Times New Roman" panose="02020603050405020304" pitchFamily="18" charset="0"/>
                <a:cs typeface="Times New Roman" panose="02020603050405020304" pitchFamily="18" charset="0"/>
              </a:rPr>
              <a:t>join and leave the network</a:t>
            </a:r>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Mobility introduces </a:t>
            </a:r>
            <a:r>
              <a:rPr lang="en-US" b="1" dirty="0">
                <a:latin typeface="Times New Roman" panose="02020603050405020304" pitchFamily="18" charset="0"/>
                <a:cs typeface="Times New Roman" panose="02020603050405020304" pitchFamily="18" charset="0"/>
              </a:rPr>
              <a:t>handover vulnerabilities</a:t>
            </a:r>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Heterogeneous technologies increase attack surfaces</a:t>
            </a:r>
          </a:p>
          <a:p>
            <a:pPr>
              <a:lnSpc>
                <a:spcPct val="150000"/>
              </a:lnSpc>
              <a:buNone/>
            </a:pPr>
            <a:r>
              <a:rPr lang="en-US" b="1" dirty="0">
                <a:latin typeface="Times New Roman" panose="02020603050405020304" pitchFamily="18" charset="0"/>
                <a:cs typeface="Times New Roman" panose="02020603050405020304" pitchFamily="18" charset="0"/>
              </a:rPr>
              <a:t>Common Wireless Attacks</a:t>
            </a:r>
          </a:p>
          <a:p>
            <a:pPr marL="742950" lvl="1"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Eavesdropping</a:t>
            </a:r>
            <a:r>
              <a:rPr lang="en-US" dirty="0">
                <a:latin typeface="Times New Roman" panose="02020603050405020304" pitchFamily="18" charset="0"/>
                <a:cs typeface="Times New Roman" panose="02020603050405020304" pitchFamily="18" charset="0"/>
              </a:rPr>
              <a:t>: attackers capture unencrypted traffic</a:t>
            </a:r>
          </a:p>
          <a:p>
            <a:pPr marL="742950" lvl="1"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Spoofing</a:t>
            </a:r>
            <a:r>
              <a:rPr lang="en-US" dirty="0">
                <a:latin typeface="Times New Roman" panose="02020603050405020304" pitchFamily="18" charset="0"/>
                <a:cs typeface="Times New Roman" panose="02020603050405020304" pitchFamily="18" charset="0"/>
              </a:rPr>
              <a:t>: fake access points or fake identities</a:t>
            </a:r>
          </a:p>
          <a:p>
            <a:pPr marL="742950" lvl="1"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Man-in-the-Middle (MITM)</a:t>
            </a:r>
            <a:r>
              <a:rPr lang="en-US" dirty="0">
                <a:latin typeface="Times New Roman" panose="02020603050405020304" pitchFamily="18" charset="0"/>
                <a:cs typeface="Times New Roman" panose="02020603050405020304" pitchFamily="18" charset="0"/>
              </a:rPr>
              <a:t>: attacker intercepts and alters communication</a:t>
            </a:r>
          </a:p>
          <a:p>
            <a:pPr marL="742950" lvl="1"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Jamming</a:t>
            </a:r>
            <a:r>
              <a:rPr lang="en-US" dirty="0">
                <a:latin typeface="Times New Roman" panose="02020603050405020304" pitchFamily="18" charset="0"/>
                <a:cs typeface="Times New Roman" panose="02020603050405020304" pitchFamily="18" charset="0"/>
              </a:rPr>
              <a:t>: intentional interference to block communication</a:t>
            </a:r>
          </a:p>
          <a:p>
            <a:pPr marL="742950" lvl="1"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Rogue Access Points</a:t>
            </a:r>
            <a:r>
              <a:rPr lang="en-US" dirty="0">
                <a:latin typeface="Times New Roman" panose="02020603050405020304" pitchFamily="18" charset="0"/>
                <a:cs typeface="Times New Roman" panose="02020603050405020304" pitchFamily="18" charset="0"/>
              </a:rPr>
              <a:t>: unauthorized APs mimicking legitimate ones</a:t>
            </a:r>
          </a:p>
        </p:txBody>
      </p:sp>
      <p:sp>
        <p:nvSpPr>
          <p:cNvPr id="7" name="TextBox 6">
            <a:extLst>
              <a:ext uri="{FF2B5EF4-FFF2-40B4-BE49-F238E27FC236}">
                <a16:creationId xmlns:a16="http://schemas.microsoft.com/office/drawing/2014/main" id="{E864221E-713E-F9C2-04AA-576BA69CD27E}"/>
              </a:ext>
            </a:extLst>
          </p:cNvPr>
          <p:cNvSpPr txBox="1"/>
          <p:nvPr/>
        </p:nvSpPr>
        <p:spPr>
          <a:xfrm>
            <a:off x="2183015" y="332656"/>
            <a:ext cx="8542874" cy="646331"/>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Security in Wireless and Mobile Networks</a:t>
            </a:r>
          </a:p>
        </p:txBody>
      </p:sp>
    </p:spTree>
    <p:extLst>
      <p:ext uri="{BB962C8B-B14F-4D97-AF65-F5344CB8AC3E}">
        <p14:creationId xmlns:p14="http://schemas.microsoft.com/office/powerpoint/2010/main" val="328142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ABD7CF-3ED1-BC47-F9CC-023DC2E2C59D}"/>
              </a:ext>
            </a:extLst>
          </p:cNvPr>
          <p:cNvSpPr txBox="1"/>
          <p:nvPr/>
        </p:nvSpPr>
        <p:spPr>
          <a:xfrm>
            <a:off x="1413892" y="1484784"/>
            <a:ext cx="6098796" cy="419755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Authentication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Ensures only legitimate users access the network</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(SIM-based auth in cellular, EAP in Wi-Fi)</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Encryption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Protects confidentiality of data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(WPA3 in Wi-Fi, AES-based encryption in LTE/5G)</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Integrity Protection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Ensures data is not modified during transmission</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Access Control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Controls which devices and services are allowed</a:t>
            </a:r>
          </a:p>
        </p:txBody>
      </p:sp>
      <p:sp>
        <p:nvSpPr>
          <p:cNvPr id="5" name="TextBox 4">
            <a:extLst>
              <a:ext uri="{FF2B5EF4-FFF2-40B4-BE49-F238E27FC236}">
                <a16:creationId xmlns:a16="http://schemas.microsoft.com/office/drawing/2014/main" id="{8C24E356-E793-EE46-41DB-E7246FCC0397}"/>
              </a:ext>
            </a:extLst>
          </p:cNvPr>
          <p:cNvSpPr txBox="1"/>
          <p:nvPr/>
        </p:nvSpPr>
        <p:spPr>
          <a:xfrm>
            <a:off x="2180918" y="478413"/>
            <a:ext cx="7826988" cy="646331"/>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Security Mechanisms and Protections</a:t>
            </a:r>
          </a:p>
        </p:txBody>
      </p:sp>
    </p:spTree>
    <p:extLst>
      <p:ext uri="{BB962C8B-B14F-4D97-AF65-F5344CB8AC3E}">
        <p14:creationId xmlns:p14="http://schemas.microsoft.com/office/powerpoint/2010/main" val="2343627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3605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ath 16x9">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9696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th education presentation with Pi  (widescreen).potx" id="{DF132673-7A8C-4FB7-A35E-0123B6C0D98B}" vid="{CCAAB50D-2EF2-4925-80C2-C83131AE58AC}"/>
    </a:ext>
  </a:ext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Math education presentation with Pi  (widescreen)</Template>
  <TotalTime>4204</TotalTime>
  <Words>5426</Words>
  <Application>Microsoft Office PowerPoint</Application>
  <PresentationFormat>Custom</PresentationFormat>
  <Paragraphs>678</Paragraphs>
  <Slides>60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Arial</vt:lpstr>
      <vt:lpstr>Bahnschrift Condensed</vt:lpstr>
      <vt:lpstr>Euphemia</vt:lpstr>
      <vt:lpstr>Forte</vt:lpstr>
      <vt:lpstr>Times New Roman</vt:lpstr>
      <vt:lpstr>Math 16x9</vt:lpstr>
      <vt:lpstr>PowerPoint Presentation</vt:lpstr>
      <vt:lpstr>Advanced Networks</vt:lpstr>
      <vt:lpstr>Chapters:</vt:lpstr>
      <vt:lpstr>Objective:  Understand advanced routing algorithms and protocols  Configure and analyze OSPF, EIGRP, and BGP  Explain VLANs, STP, EtherChannel  Apply redundancy and high-availability mechanisms  Identify Layer 2 &amp; 3 security attacks  Understand modern SD-Access / SD-WAN routing concepts </vt:lpstr>
      <vt:lpstr>Dynamic Routing Protocols</vt:lpstr>
      <vt:lpstr>Distance Vector Routing Protocols </vt:lpstr>
      <vt:lpstr>How Distance Vector Works</vt:lpstr>
      <vt:lpstr>DV Characteristics</vt:lpstr>
      <vt:lpstr>Routing Information Protocol (RIP)  </vt:lpstr>
      <vt:lpstr>Routing Information Protocol (RIP)  </vt:lpstr>
      <vt:lpstr> Interior Gateway Routing Protocol (IGRP) </vt:lpstr>
      <vt:lpstr>PowerPoint Presentation</vt:lpstr>
      <vt:lpstr>PowerPoint Presentation</vt:lpstr>
      <vt:lpstr>Link State Protocol?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BGP Best Path Selection (Step-by-Step) </vt:lpstr>
      <vt:lpstr>PowerPoint Presentation</vt:lpstr>
      <vt:lpstr>PowerPoint Presentation</vt:lpstr>
      <vt:lpstr>PowerPoint Presentation</vt:lpstr>
      <vt:lpstr>STP Port Roles</vt:lpstr>
      <vt:lpstr>PowerPoint Presentation</vt:lpstr>
      <vt:lpstr>PowerPoint Presentation</vt:lpstr>
      <vt:lpstr>PowerPoint Presentation</vt:lpstr>
      <vt:lpstr>PowerPoint Presentation</vt:lpstr>
      <vt:lpstr>PowerPoint Presentation</vt:lpstr>
      <vt:lpstr>PowerPoint Presentation</vt:lpstr>
      <vt:lpstr>Objective:  Understand the role and importance of network management in modern networks.  Explain network management architectures and frameworks.  Describe key monitoring protocols and tools.  Analyze performance, fault, and configuration management.  Apply systematic network troubleshooting methodologies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Understand the core principles and technologies of wireless communication.  Explain mobile network architectures and protocols.  Analyze security, QoS, and mobility management in wireless and mobile networks.  Identify the challenges and design considerations of modern wireless and mobile systems.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nouha selena</dc:creator>
  <cp:lastModifiedBy>nouha selena</cp:lastModifiedBy>
  <cp:revision>17</cp:revision>
  <dcterms:created xsi:type="dcterms:W3CDTF">2025-11-18T23:55:18Z</dcterms:created>
  <dcterms:modified xsi:type="dcterms:W3CDTF">2026-01-06T14:43:28Z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