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Lst>
  <p:notesMasterIdLst>
    <p:notesMasterId r:id="rId49"/>
  </p:notesMasterIdLst>
  <p:sldIdLst>
    <p:sldId id="285" r:id="rId5"/>
    <p:sldId id="299" r:id="rId6"/>
    <p:sldId id="289" r:id="rId7"/>
    <p:sldId id="291" r:id="rId8"/>
    <p:sldId id="292" r:id="rId9"/>
    <p:sldId id="302" r:id="rId10"/>
    <p:sldId id="293" r:id="rId11"/>
    <p:sldId id="294" r:id="rId12"/>
    <p:sldId id="261" r:id="rId13"/>
    <p:sldId id="300" r:id="rId14"/>
    <p:sldId id="297" r:id="rId15"/>
    <p:sldId id="301" r:id="rId16"/>
    <p:sldId id="303" r:id="rId17"/>
    <p:sldId id="305" r:id="rId18"/>
    <p:sldId id="306" r:id="rId19"/>
    <p:sldId id="307" r:id="rId20"/>
    <p:sldId id="308" r:id="rId21"/>
    <p:sldId id="309" r:id="rId22"/>
    <p:sldId id="313" r:id="rId23"/>
    <p:sldId id="311" r:id="rId24"/>
    <p:sldId id="310" r:id="rId25"/>
    <p:sldId id="312" r:id="rId26"/>
    <p:sldId id="323" r:id="rId27"/>
    <p:sldId id="314" r:id="rId28"/>
    <p:sldId id="322" r:id="rId29"/>
    <p:sldId id="315" r:id="rId30"/>
    <p:sldId id="316" r:id="rId31"/>
    <p:sldId id="317" r:id="rId32"/>
    <p:sldId id="318" r:id="rId33"/>
    <p:sldId id="321" r:id="rId34"/>
    <p:sldId id="319" r:id="rId35"/>
    <p:sldId id="320" r:id="rId36"/>
    <p:sldId id="324" r:id="rId37"/>
    <p:sldId id="331" r:id="rId38"/>
    <p:sldId id="327" r:id="rId39"/>
    <p:sldId id="328" r:id="rId40"/>
    <p:sldId id="335" r:id="rId41"/>
    <p:sldId id="333" r:id="rId42"/>
    <p:sldId id="332" r:id="rId43"/>
    <p:sldId id="334" r:id="rId44"/>
    <p:sldId id="338" r:id="rId45"/>
    <p:sldId id="336" r:id="rId46"/>
    <p:sldId id="337" r:id="rId47"/>
    <p:sldId id="287" r:id="rId4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9900"/>
    <a:srgbClr val="FF3300"/>
    <a:srgbClr val="FFFFFF"/>
    <a:srgbClr val="99FF66"/>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4662" autoAdjust="0"/>
  </p:normalViewPr>
  <p:slideViewPr>
    <p:cSldViewPr>
      <p:cViewPr varScale="1">
        <p:scale>
          <a:sx n="100" d="100"/>
          <a:sy n="100" d="100"/>
        </p:scale>
        <p:origin x="294" y="72"/>
      </p:cViewPr>
      <p:guideLst>
        <p:guide orient="horz" pos="2160"/>
        <p:guide pos="2880"/>
      </p:guideLst>
    </p:cSldViewPr>
  </p:slideViewPr>
  <p:outlineViewPr>
    <p:cViewPr>
      <p:scale>
        <a:sx n="33" d="100"/>
        <a:sy n="33" d="100"/>
      </p:scale>
      <p:origin x="0" y="27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94A67E-5643-4EB3-8356-03FBDA992492}" type="doc">
      <dgm:prSet loTypeId="urn:microsoft.com/office/officeart/2005/8/layout/chevron2" loCatId="process" qsTypeId="urn:microsoft.com/office/officeart/2005/8/quickstyle/3d1" qsCatId="3D" csTypeId="urn:microsoft.com/office/officeart/2005/8/colors/accent2_3" csCatId="accent2" phldr="1"/>
      <dgm:spPr/>
      <dgm:t>
        <a:bodyPr/>
        <a:lstStyle/>
        <a:p>
          <a:endParaRPr lang="fr-FR"/>
        </a:p>
      </dgm:t>
    </dgm:pt>
    <dgm:pt modelId="{6031382B-FC4A-45E5-96C0-7E63A733389B}">
      <dgm:prSet phldrT="[Texte]" custT="1"/>
      <dgm:spPr/>
      <dgm:t>
        <a:bodyPr/>
        <a:lstStyle/>
        <a:p>
          <a:pPr algn="ctr"/>
          <a:r>
            <a:rPr lang="fr-FR" sz="1800" b="1" dirty="0">
              <a:latin typeface="Times New Roman" panose="02020603050405020304" pitchFamily="18" charset="0"/>
              <a:cs typeface="Times New Roman" panose="02020603050405020304" pitchFamily="18" charset="0"/>
            </a:rPr>
            <a:t>1</a:t>
          </a:r>
        </a:p>
      </dgm:t>
    </dgm:pt>
    <dgm:pt modelId="{89DD045D-0324-41E4-83C2-FC97388CC509}" type="parTrans" cxnId="{1A9498C2-CF44-4E16-9E19-1758D562BB77}">
      <dgm:prSet/>
      <dgm:spPr/>
      <dgm:t>
        <a:bodyPr/>
        <a:lstStyle/>
        <a:p>
          <a:pPr algn="just"/>
          <a:endParaRPr lang="fr-FR" sz="1800">
            <a:latin typeface="Times New Roman" pitchFamily="18" charset="0"/>
            <a:cs typeface="Times New Roman" pitchFamily="18" charset="0"/>
          </a:endParaRPr>
        </a:p>
      </dgm:t>
    </dgm:pt>
    <dgm:pt modelId="{6C4484FF-9DB5-458B-B239-C42E5F626867}" type="sibTrans" cxnId="{1A9498C2-CF44-4E16-9E19-1758D562BB77}">
      <dgm:prSet/>
      <dgm:spPr/>
      <dgm:t>
        <a:bodyPr/>
        <a:lstStyle/>
        <a:p>
          <a:pPr algn="just"/>
          <a:endParaRPr lang="fr-FR" sz="1800">
            <a:latin typeface="Times New Roman" pitchFamily="18" charset="0"/>
            <a:cs typeface="Times New Roman" pitchFamily="18" charset="0"/>
          </a:endParaRPr>
        </a:p>
      </dgm:t>
    </dgm:pt>
    <dgm:pt modelId="{D5F79E57-1DC1-42DB-98A4-DBFD265625A1}">
      <dgm:prSet phldrT="[Texte]" custT="1"/>
      <dgm:spPr/>
      <dgm:t>
        <a:bodyPr/>
        <a:lstStyle/>
        <a:p>
          <a:pPr algn="ctr"/>
          <a:r>
            <a:rPr lang="fr-FR" sz="1800" b="1" dirty="0">
              <a:latin typeface="Times New Roman" pitchFamily="18" charset="0"/>
              <a:cs typeface="Times New Roman" pitchFamily="18" charset="0"/>
            </a:rPr>
            <a:t>2</a:t>
          </a:r>
        </a:p>
      </dgm:t>
    </dgm:pt>
    <dgm:pt modelId="{2379D070-E379-4836-9612-A7FEEAA03CBA}" type="parTrans" cxnId="{3FF2B3F9-00E8-4C9A-913C-BEA960B1F517}">
      <dgm:prSet/>
      <dgm:spPr/>
      <dgm:t>
        <a:bodyPr/>
        <a:lstStyle/>
        <a:p>
          <a:pPr algn="just"/>
          <a:endParaRPr lang="fr-FR" sz="1800">
            <a:latin typeface="Times New Roman" pitchFamily="18" charset="0"/>
            <a:cs typeface="Times New Roman" pitchFamily="18" charset="0"/>
          </a:endParaRPr>
        </a:p>
      </dgm:t>
    </dgm:pt>
    <dgm:pt modelId="{82229F71-237D-4A0A-823F-F45B991A8D8A}" type="sibTrans" cxnId="{3FF2B3F9-00E8-4C9A-913C-BEA960B1F517}">
      <dgm:prSet/>
      <dgm:spPr/>
      <dgm:t>
        <a:bodyPr/>
        <a:lstStyle/>
        <a:p>
          <a:pPr algn="just"/>
          <a:endParaRPr lang="fr-FR" sz="1800">
            <a:latin typeface="Times New Roman" pitchFamily="18" charset="0"/>
            <a:cs typeface="Times New Roman" pitchFamily="18" charset="0"/>
          </a:endParaRPr>
        </a:p>
      </dgm:t>
    </dgm:pt>
    <dgm:pt modelId="{AF349DA9-F912-45D1-ABC5-A83A83FA450A}">
      <dgm:prSet phldrT="[Texte]" custT="1"/>
      <dgm:spPr/>
      <dgm:t>
        <a:bodyPr/>
        <a:lstStyle/>
        <a:p>
          <a:pPr algn="just"/>
          <a:r>
            <a:rPr lang="fr-FR" sz="2000" b="1" dirty="0" err="1">
              <a:solidFill>
                <a:srgbClr val="FF0000"/>
              </a:solidFill>
              <a:latin typeface="Times New Roman" panose="02020603050405020304" pitchFamily="18" charset="0"/>
              <a:cs typeface="Times New Roman" panose="02020603050405020304" pitchFamily="18" charset="0"/>
            </a:rPr>
            <a:t>Determining</a:t>
          </a:r>
          <a:r>
            <a:rPr lang="fr-FR" sz="2000" b="1" dirty="0">
              <a:solidFill>
                <a:srgbClr val="FF0000"/>
              </a:solidFill>
              <a:latin typeface="Times New Roman" panose="02020603050405020304" pitchFamily="18" charset="0"/>
              <a:cs typeface="Times New Roman" panose="02020603050405020304" pitchFamily="18" charset="0"/>
            </a:rPr>
            <a:t> </a:t>
          </a:r>
          <a:r>
            <a:rPr lang="fr-FR" sz="2000" b="1" dirty="0" err="1">
              <a:solidFill>
                <a:srgbClr val="FF0000"/>
              </a:solidFill>
              <a:latin typeface="Times New Roman" panose="02020603050405020304" pitchFamily="18" charset="0"/>
              <a:cs typeface="Times New Roman" panose="02020603050405020304" pitchFamily="18" charset="0"/>
            </a:rPr>
            <a:t>security</a:t>
          </a:r>
          <a:r>
            <a:rPr lang="fr-FR" sz="2000" b="1" dirty="0">
              <a:solidFill>
                <a:srgbClr val="FF0000"/>
              </a:solidFill>
              <a:latin typeface="Times New Roman" panose="02020603050405020304" pitchFamily="18" charset="0"/>
              <a:cs typeface="Times New Roman" panose="02020603050405020304" pitchFamily="18" charset="0"/>
            </a:rPr>
            <a:t> concepts</a:t>
          </a:r>
          <a:endParaRPr lang="fr-FR" sz="2000" dirty="0">
            <a:solidFill>
              <a:srgbClr val="FF0000"/>
            </a:solidFill>
            <a:latin typeface="Times New Roman" pitchFamily="18" charset="0"/>
            <a:cs typeface="Times New Roman" pitchFamily="18" charset="0"/>
          </a:endParaRPr>
        </a:p>
      </dgm:t>
    </dgm:pt>
    <dgm:pt modelId="{A170F413-45F2-4F5D-82C6-1B67BA523C40}" type="parTrans" cxnId="{1A31D4E8-1847-4B99-B155-06E6B7EDAAC9}">
      <dgm:prSet/>
      <dgm:spPr/>
      <dgm:t>
        <a:bodyPr/>
        <a:lstStyle/>
        <a:p>
          <a:pPr algn="just"/>
          <a:endParaRPr lang="fr-FR" sz="1800">
            <a:latin typeface="Times New Roman" pitchFamily="18" charset="0"/>
            <a:cs typeface="Times New Roman" pitchFamily="18" charset="0"/>
          </a:endParaRPr>
        </a:p>
      </dgm:t>
    </dgm:pt>
    <dgm:pt modelId="{59E2155E-9967-4E8E-860C-B63B61F0B328}" type="sibTrans" cxnId="{1A31D4E8-1847-4B99-B155-06E6B7EDAAC9}">
      <dgm:prSet/>
      <dgm:spPr/>
      <dgm:t>
        <a:bodyPr/>
        <a:lstStyle/>
        <a:p>
          <a:pPr algn="just"/>
          <a:endParaRPr lang="fr-FR" sz="1800">
            <a:latin typeface="Times New Roman" pitchFamily="18" charset="0"/>
            <a:cs typeface="Times New Roman" pitchFamily="18" charset="0"/>
          </a:endParaRPr>
        </a:p>
      </dgm:t>
    </dgm:pt>
    <dgm:pt modelId="{EF475655-9FFA-4B62-BD73-A91776D9F854}">
      <dgm:prSet phldrT="[Texte]" custT="1"/>
      <dgm:spPr/>
      <dgm:t>
        <a:bodyPr/>
        <a:lstStyle/>
        <a:p>
          <a:pPr algn="ctr"/>
          <a:r>
            <a:rPr lang="fr-FR" sz="1800" b="1" dirty="0">
              <a:latin typeface="Times New Roman" pitchFamily="18" charset="0"/>
              <a:cs typeface="Times New Roman" pitchFamily="18" charset="0"/>
            </a:rPr>
            <a:t>3</a:t>
          </a:r>
          <a:endParaRPr lang="fr-FR" sz="1800" dirty="0">
            <a:latin typeface="Times New Roman" pitchFamily="18" charset="0"/>
            <a:cs typeface="Times New Roman" pitchFamily="18" charset="0"/>
          </a:endParaRPr>
        </a:p>
      </dgm:t>
    </dgm:pt>
    <dgm:pt modelId="{7514B32D-5416-41DF-B658-06E7D53F3FBC}" type="parTrans" cxnId="{CAC4DC5D-F36F-4753-B98F-C42D777EDC6B}">
      <dgm:prSet/>
      <dgm:spPr/>
      <dgm:t>
        <a:bodyPr/>
        <a:lstStyle/>
        <a:p>
          <a:pPr algn="just"/>
          <a:endParaRPr lang="fr-FR" sz="1800">
            <a:latin typeface="Times New Roman" pitchFamily="18" charset="0"/>
            <a:cs typeface="Times New Roman" pitchFamily="18" charset="0"/>
          </a:endParaRPr>
        </a:p>
      </dgm:t>
    </dgm:pt>
    <dgm:pt modelId="{0DB48C00-E433-4F92-A679-32950D74410B}" type="sibTrans" cxnId="{CAC4DC5D-F36F-4753-B98F-C42D777EDC6B}">
      <dgm:prSet/>
      <dgm:spPr/>
      <dgm:t>
        <a:bodyPr/>
        <a:lstStyle/>
        <a:p>
          <a:pPr algn="just"/>
          <a:endParaRPr lang="fr-FR" sz="1800">
            <a:latin typeface="Times New Roman" pitchFamily="18" charset="0"/>
            <a:cs typeface="Times New Roman" pitchFamily="18" charset="0"/>
          </a:endParaRPr>
        </a:p>
      </dgm:t>
    </dgm:pt>
    <dgm:pt modelId="{E738D254-F1DF-4985-949E-69EFC6D81AA1}">
      <dgm:prSet phldrT="[Texte]" custT="1"/>
      <dgm:spPr/>
      <dgm:t>
        <a:bodyPr/>
        <a:lstStyle/>
        <a:p>
          <a:pPr algn="just"/>
          <a:r>
            <a:rPr lang="fr-FR" sz="1800" b="1" dirty="0" err="1">
              <a:solidFill>
                <a:srgbClr val="FF0000"/>
              </a:solidFill>
              <a:latin typeface="Times New Roman" panose="02020603050405020304" pitchFamily="18" charset="0"/>
              <a:cs typeface="Times New Roman" panose="02020603050405020304" pitchFamily="18" charset="0"/>
            </a:rPr>
            <a:t>Risk</a:t>
          </a:r>
          <a:r>
            <a:rPr lang="fr-FR" sz="1800" b="1" dirty="0">
              <a:solidFill>
                <a:srgbClr val="FF0000"/>
              </a:solidFill>
              <a:latin typeface="Times New Roman" panose="02020603050405020304" pitchFamily="18" charset="0"/>
              <a:cs typeface="Times New Roman" panose="02020603050405020304" pitchFamily="18" charset="0"/>
            </a:rPr>
            <a:t> </a:t>
          </a:r>
          <a:r>
            <a:rPr lang="fr-FR" sz="1800" b="1" dirty="0" err="1">
              <a:solidFill>
                <a:srgbClr val="FF0000"/>
              </a:solidFill>
              <a:latin typeface="Times New Roman" panose="02020603050405020304" pitchFamily="18" charset="0"/>
              <a:cs typeface="Times New Roman" panose="02020603050405020304" pitchFamily="18" charset="0"/>
            </a:rPr>
            <a:t>analysis</a:t>
          </a:r>
          <a:r>
            <a:rPr lang="fr-FR" sz="1800" b="1" dirty="0">
              <a:solidFill>
                <a:srgbClr val="FF0000"/>
              </a:solidFill>
              <a:latin typeface="Times New Roman" panose="02020603050405020304" pitchFamily="18" charset="0"/>
              <a:cs typeface="Times New Roman" panose="02020603050405020304" pitchFamily="18" charset="0"/>
            </a:rPr>
            <a:t> (</a:t>
          </a:r>
          <a:r>
            <a:rPr lang="fr-FR" sz="1800" b="1" dirty="0" err="1">
              <a:solidFill>
                <a:srgbClr val="FF0000"/>
              </a:solidFill>
              <a:latin typeface="Times New Roman" panose="02020603050405020304" pitchFamily="18" charset="0"/>
              <a:cs typeface="Times New Roman" panose="02020603050405020304" pitchFamily="18" charset="0"/>
            </a:rPr>
            <a:t>assessment</a:t>
          </a:r>
          <a:r>
            <a:rPr lang="fr-FR" sz="1800" b="1" dirty="0">
              <a:solidFill>
                <a:srgbClr val="FF0000"/>
              </a:solidFill>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Identification and estimation of each risk component (threat/vulnerability/impact)</a:t>
          </a:r>
          <a:endParaRPr lang="fr-FR" sz="1800" dirty="0">
            <a:solidFill>
              <a:srgbClr val="FF0000"/>
            </a:solidFill>
            <a:latin typeface="Times New Roman" pitchFamily="18" charset="0"/>
            <a:cs typeface="Times New Roman" pitchFamily="18" charset="0"/>
          </a:endParaRPr>
        </a:p>
      </dgm:t>
    </dgm:pt>
    <dgm:pt modelId="{BCD0A2EE-BC07-4087-A55B-057A563C9B3E}" type="parTrans" cxnId="{A9EDFB5D-7A45-4690-97FD-A2654F652D76}">
      <dgm:prSet/>
      <dgm:spPr/>
      <dgm:t>
        <a:bodyPr/>
        <a:lstStyle/>
        <a:p>
          <a:pPr algn="just"/>
          <a:endParaRPr lang="fr-FR" sz="1800">
            <a:latin typeface="Times New Roman" pitchFamily="18" charset="0"/>
            <a:cs typeface="Times New Roman" pitchFamily="18" charset="0"/>
          </a:endParaRPr>
        </a:p>
      </dgm:t>
    </dgm:pt>
    <dgm:pt modelId="{0B3FAC4C-7989-4981-8F5B-E2FDC1043951}" type="sibTrans" cxnId="{A9EDFB5D-7A45-4690-97FD-A2654F652D76}">
      <dgm:prSet/>
      <dgm:spPr/>
      <dgm:t>
        <a:bodyPr/>
        <a:lstStyle/>
        <a:p>
          <a:pPr algn="just"/>
          <a:endParaRPr lang="fr-FR" sz="1800">
            <a:latin typeface="Times New Roman" pitchFamily="18" charset="0"/>
            <a:cs typeface="Times New Roman" pitchFamily="18" charset="0"/>
          </a:endParaRPr>
        </a:p>
      </dgm:t>
    </dgm:pt>
    <dgm:pt modelId="{7F1F144E-37E4-4D18-8B99-11ED3B351700}">
      <dgm:prSet phldrT="[Texte]" custT="1"/>
      <dgm:spPr/>
      <dgm:t>
        <a:bodyPr/>
        <a:lstStyle/>
        <a:p>
          <a:pPr algn="just"/>
          <a:r>
            <a:rPr lang="fr-FR" sz="2000" b="1" dirty="0" err="1">
              <a:solidFill>
                <a:srgbClr val="FF0000"/>
              </a:solidFill>
              <a:latin typeface="Times New Roman" panose="02020603050405020304" pitchFamily="18" charset="0"/>
              <a:cs typeface="Times New Roman" panose="02020603050405020304" pitchFamily="18" charset="0"/>
            </a:rPr>
            <a:t>Identifying</a:t>
          </a:r>
          <a:r>
            <a:rPr lang="fr-FR" sz="2000" b="1" dirty="0">
              <a:solidFill>
                <a:srgbClr val="FF0000"/>
              </a:solidFill>
              <a:latin typeface="Times New Roman" panose="02020603050405020304" pitchFamily="18" charset="0"/>
              <a:cs typeface="Times New Roman" panose="02020603050405020304" pitchFamily="18" charset="0"/>
            </a:rPr>
            <a:t> the </a:t>
          </a:r>
          <a:r>
            <a:rPr lang="fr-FR" sz="2000" b="1" dirty="0" err="1">
              <a:solidFill>
                <a:srgbClr val="FF0000"/>
              </a:solidFill>
              <a:latin typeface="Times New Roman" panose="02020603050405020304" pitchFamily="18" charset="0"/>
              <a:cs typeface="Times New Roman" panose="02020603050405020304" pitchFamily="18" charset="0"/>
            </a:rPr>
            <a:t>Environment</a:t>
          </a:r>
          <a:endParaRPr lang="fr-FR" sz="2000" dirty="0">
            <a:solidFill>
              <a:srgbClr val="FF0000"/>
            </a:solidFill>
            <a:latin typeface="Times New Roman" pitchFamily="18" charset="0"/>
            <a:cs typeface="Times New Roman" pitchFamily="18" charset="0"/>
          </a:endParaRPr>
        </a:p>
      </dgm:t>
    </dgm:pt>
    <dgm:pt modelId="{E64E3DEB-119D-4384-B777-943EA8B574AD}" type="parTrans" cxnId="{BA35E5C5-D609-41A9-B73D-36334985F793}">
      <dgm:prSet/>
      <dgm:spPr/>
      <dgm:t>
        <a:bodyPr/>
        <a:lstStyle/>
        <a:p>
          <a:endParaRPr lang="fr-FR"/>
        </a:p>
      </dgm:t>
    </dgm:pt>
    <dgm:pt modelId="{1434C5DC-96A0-4933-9EA3-DF03A4D72C95}" type="sibTrans" cxnId="{BA35E5C5-D609-41A9-B73D-36334985F793}">
      <dgm:prSet/>
      <dgm:spPr/>
      <dgm:t>
        <a:bodyPr/>
        <a:lstStyle/>
        <a:p>
          <a:endParaRPr lang="fr-FR"/>
        </a:p>
      </dgm:t>
    </dgm:pt>
    <dgm:pt modelId="{D589B5AA-853F-4AEE-8FD3-8E332C73E4AC}">
      <dgm:prSet phldrT="[Texte]" custT="1"/>
      <dgm:spPr/>
      <dgm:t>
        <a:bodyPr/>
        <a:lstStyle/>
        <a:p>
          <a:pPr algn="just"/>
          <a:r>
            <a:rPr lang="en-US" sz="2000" dirty="0">
              <a:latin typeface="Times New Roman" panose="02020603050405020304" pitchFamily="18" charset="0"/>
              <a:cs typeface="Times New Roman" panose="02020603050405020304" pitchFamily="18" charset="0"/>
            </a:rPr>
            <a:t>The organization (computer system), ..</a:t>
          </a:r>
          <a:endParaRPr lang="fr-FR" sz="2000" dirty="0">
            <a:solidFill>
              <a:srgbClr val="FF0000"/>
            </a:solidFill>
            <a:latin typeface="Times New Roman" pitchFamily="18" charset="0"/>
            <a:cs typeface="Times New Roman" pitchFamily="18" charset="0"/>
          </a:endParaRPr>
        </a:p>
      </dgm:t>
    </dgm:pt>
    <dgm:pt modelId="{C9DBC283-66C4-4DCD-8F41-567EC33959E8}" type="parTrans" cxnId="{D8A205EE-B275-442F-A48E-E556B64946E5}">
      <dgm:prSet/>
      <dgm:spPr/>
      <dgm:t>
        <a:bodyPr/>
        <a:lstStyle/>
        <a:p>
          <a:endParaRPr lang="fr-FR"/>
        </a:p>
      </dgm:t>
    </dgm:pt>
    <dgm:pt modelId="{0AAB7569-7265-43D3-82BE-90CD6EFDBC82}" type="sibTrans" cxnId="{D8A205EE-B275-442F-A48E-E556B64946E5}">
      <dgm:prSet/>
      <dgm:spPr/>
      <dgm:t>
        <a:bodyPr/>
        <a:lstStyle/>
        <a:p>
          <a:endParaRPr lang="fr-FR"/>
        </a:p>
      </dgm:t>
    </dgm:pt>
    <dgm:pt modelId="{5F532D28-1A92-4E32-A001-4EC2DDF7436C}">
      <dgm:prSet phldrT="[Texte]" custT="1"/>
      <dgm:spPr/>
      <dgm:t>
        <a:bodyPr/>
        <a:lstStyle/>
        <a:p>
          <a:pPr algn="just"/>
          <a:r>
            <a:rPr lang="en-US" sz="2000" dirty="0">
              <a:latin typeface="Times New Roman" panose="02020603050405020304" pitchFamily="18" charset="0"/>
              <a:cs typeface="Times New Roman" panose="02020603050405020304" pitchFamily="18" charset="0"/>
            </a:rPr>
            <a:t>CIA, ….</a:t>
          </a:r>
          <a:endParaRPr lang="fr-FR" sz="2000" dirty="0">
            <a:solidFill>
              <a:srgbClr val="FF0000"/>
            </a:solidFill>
            <a:latin typeface="Times New Roman" pitchFamily="18" charset="0"/>
            <a:cs typeface="Times New Roman" pitchFamily="18" charset="0"/>
          </a:endParaRPr>
        </a:p>
      </dgm:t>
    </dgm:pt>
    <dgm:pt modelId="{E284633A-5A67-4EE2-A286-6BA8008A5294}" type="parTrans" cxnId="{1E4419A5-2806-4636-82F6-4D3D6C6C93A4}">
      <dgm:prSet/>
      <dgm:spPr/>
      <dgm:t>
        <a:bodyPr/>
        <a:lstStyle/>
        <a:p>
          <a:endParaRPr lang="fr-FR"/>
        </a:p>
      </dgm:t>
    </dgm:pt>
    <dgm:pt modelId="{A21E3783-00F8-4328-B113-68D6FC3E1F79}" type="sibTrans" cxnId="{1E4419A5-2806-4636-82F6-4D3D6C6C93A4}">
      <dgm:prSet/>
      <dgm:spPr/>
      <dgm:t>
        <a:bodyPr/>
        <a:lstStyle/>
        <a:p>
          <a:endParaRPr lang="fr-FR"/>
        </a:p>
      </dgm:t>
    </dgm:pt>
    <dgm:pt modelId="{FD5E1242-BF14-43E2-816C-04EE40D46CE8}" type="pres">
      <dgm:prSet presAssocID="{8194A67E-5643-4EB3-8356-03FBDA992492}" presName="linearFlow" presStyleCnt="0">
        <dgm:presLayoutVars>
          <dgm:dir/>
          <dgm:animLvl val="lvl"/>
          <dgm:resizeHandles val="exact"/>
        </dgm:presLayoutVars>
      </dgm:prSet>
      <dgm:spPr/>
    </dgm:pt>
    <dgm:pt modelId="{16A59C68-63BF-4D74-B63F-46254D681D66}" type="pres">
      <dgm:prSet presAssocID="{6031382B-FC4A-45E5-96C0-7E63A733389B}" presName="composite" presStyleCnt="0"/>
      <dgm:spPr/>
    </dgm:pt>
    <dgm:pt modelId="{401BC28B-B596-4100-B9CB-890D93E9B0E8}" type="pres">
      <dgm:prSet presAssocID="{6031382B-FC4A-45E5-96C0-7E63A733389B}" presName="parentText" presStyleLbl="alignNode1" presStyleIdx="0" presStyleCnt="3">
        <dgm:presLayoutVars>
          <dgm:chMax val="1"/>
          <dgm:bulletEnabled val="1"/>
        </dgm:presLayoutVars>
      </dgm:prSet>
      <dgm:spPr/>
    </dgm:pt>
    <dgm:pt modelId="{9B73DB2C-987A-4E66-AB64-20F55F3B8645}" type="pres">
      <dgm:prSet presAssocID="{6031382B-FC4A-45E5-96C0-7E63A733389B}" presName="descendantText" presStyleLbl="alignAcc1" presStyleIdx="0" presStyleCnt="3" custScaleY="120811" custLinFactNeighborX="-645">
        <dgm:presLayoutVars>
          <dgm:bulletEnabled val="1"/>
        </dgm:presLayoutVars>
      </dgm:prSet>
      <dgm:spPr/>
    </dgm:pt>
    <dgm:pt modelId="{69A29348-233A-4AE9-8C9A-89A542C72F97}" type="pres">
      <dgm:prSet presAssocID="{6C4484FF-9DB5-458B-B239-C42E5F626867}" presName="sp" presStyleCnt="0"/>
      <dgm:spPr/>
    </dgm:pt>
    <dgm:pt modelId="{43851FB3-EC2A-404F-996F-4BB60484D1D2}" type="pres">
      <dgm:prSet presAssocID="{D5F79E57-1DC1-42DB-98A4-DBFD265625A1}" presName="composite" presStyleCnt="0"/>
      <dgm:spPr/>
    </dgm:pt>
    <dgm:pt modelId="{48BC964C-EB0B-4CC9-B012-40B6B3DEAF2F}" type="pres">
      <dgm:prSet presAssocID="{D5F79E57-1DC1-42DB-98A4-DBFD265625A1}" presName="parentText" presStyleLbl="alignNode1" presStyleIdx="1" presStyleCnt="3" custScaleX="114988">
        <dgm:presLayoutVars>
          <dgm:chMax val="1"/>
          <dgm:bulletEnabled val="1"/>
        </dgm:presLayoutVars>
      </dgm:prSet>
      <dgm:spPr/>
    </dgm:pt>
    <dgm:pt modelId="{7CC54A4A-2967-479A-BECC-FC3C2648EF85}" type="pres">
      <dgm:prSet presAssocID="{D5F79E57-1DC1-42DB-98A4-DBFD265625A1}" presName="descendantText" presStyleLbl="alignAcc1" presStyleIdx="1" presStyleCnt="3" custScaleY="121186">
        <dgm:presLayoutVars>
          <dgm:bulletEnabled val="1"/>
        </dgm:presLayoutVars>
      </dgm:prSet>
      <dgm:spPr/>
    </dgm:pt>
    <dgm:pt modelId="{AFAF1A38-7835-4667-BED7-97E4F5CD4C14}" type="pres">
      <dgm:prSet presAssocID="{82229F71-237D-4A0A-823F-F45B991A8D8A}" presName="sp" presStyleCnt="0"/>
      <dgm:spPr/>
    </dgm:pt>
    <dgm:pt modelId="{AA51FEAD-3A73-4F55-9398-728499536382}" type="pres">
      <dgm:prSet presAssocID="{EF475655-9FFA-4B62-BD73-A91776D9F854}" presName="composite" presStyleCnt="0"/>
      <dgm:spPr/>
    </dgm:pt>
    <dgm:pt modelId="{CD510809-FC8C-4E1F-8A1A-6BB7564B0AD9}" type="pres">
      <dgm:prSet presAssocID="{EF475655-9FFA-4B62-BD73-A91776D9F854}" presName="parentText" presStyleLbl="alignNode1" presStyleIdx="2" presStyleCnt="3" custScaleX="113501" custScaleY="115997" custLinFactNeighborX="3747" custLinFactNeighborY="-2351">
        <dgm:presLayoutVars>
          <dgm:chMax val="1"/>
          <dgm:bulletEnabled val="1"/>
        </dgm:presLayoutVars>
      </dgm:prSet>
      <dgm:spPr/>
    </dgm:pt>
    <dgm:pt modelId="{8FC1B8C0-FB50-41B8-A1CC-084B1844CABC}" type="pres">
      <dgm:prSet presAssocID="{EF475655-9FFA-4B62-BD73-A91776D9F854}" presName="descendantText" presStyleLbl="alignAcc1" presStyleIdx="2" presStyleCnt="3" custScaleX="98790" custScaleY="136983">
        <dgm:presLayoutVars>
          <dgm:bulletEnabled val="1"/>
        </dgm:presLayoutVars>
      </dgm:prSet>
      <dgm:spPr/>
    </dgm:pt>
  </dgm:ptLst>
  <dgm:cxnLst>
    <dgm:cxn modelId="{8D442908-4F12-4E56-9981-7757220CAAC0}" type="presOf" srcId="{EF475655-9FFA-4B62-BD73-A91776D9F854}" destId="{CD510809-FC8C-4E1F-8A1A-6BB7564B0AD9}" srcOrd="0" destOrd="0" presId="urn:microsoft.com/office/officeart/2005/8/layout/chevron2"/>
    <dgm:cxn modelId="{3573CB0A-70D9-4776-B974-45DE33AB3F0D}" type="presOf" srcId="{8194A67E-5643-4EB3-8356-03FBDA992492}" destId="{FD5E1242-BF14-43E2-816C-04EE40D46CE8}" srcOrd="0" destOrd="0" presId="urn:microsoft.com/office/officeart/2005/8/layout/chevron2"/>
    <dgm:cxn modelId="{CAC4DC5D-F36F-4753-B98F-C42D777EDC6B}" srcId="{8194A67E-5643-4EB3-8356-03FBDA992492}" destId="{EF475655-9FFA-4B62-BD73-A91776D9F854}" srcOrd="2" destOrd="0" parTransId="{7514B32D-5416-41DF-B658-06E7D53F3FBC}" sibTransId="{0DB48C00-E433-4F92-A679-32950D74410B}"/>
    <dgm:cxn modelId="{A9EDFB5D-7A45-4690-97FD-A2654F652D76}" srcId="{EF475655-9FFA-4B62-BD73-A91776D9F854}" destId="{E738D254-F1DF-4985-949E-69EFC6D81AA1}" srcOrd="0" destOrd="0" parTransId="{BCD0A2EE-BC07-4087-A55B-057A563C9B3E}" sibTransId="{0B3FAC4C-7989-4981-8F5B-E2FDC1043951}"/>
    <dgm:cxn modelId="{8EAAB444-BD1C-4C2E-B2F6-B4C6E6FC94CD}" type="presOf" srcId="{7F1F144E-37E4-4D18-8B99-11ED3B351700}" destId="{9B73DB2C-987A-4E66-AB64-20F55F3B8645}" srcOrd="0" destOrd="0" presId="urn:microsoft.com/office/officeart/2005/8/layout/chevron2"/>
    <dgm:cxn modelId="{C2DA9C58-593B-4BB3-908A-3C824EE6AD73}" type="presOf" srcId="{AF349DA9-F912-45D1-ABC5-A83A83FA450A}" destId="{7CC54A4A-2967-479A-BECC-FC3C2648EF85}" srcOrd="0" destOrd="0" presId="urn:microsoft.com/office/officeart/2005/8/layout/chevron2"/>
    <dgm:cxn modelId="{34682C80-42B1-458D-86F8-AC866B503A5B}" type="presOf" srcId="{D589B5AA-853F-4AEE-8FD3-8E332C73E4AC}" destId="{9B73DB2C-987A-4E66-AB64-20F55F3B8645}" srcOrd="0" destOrd="1" presId="urn:microsoft.com/office/officeart/2005/8/layout/chevron2"/>
    <dgm:cxn modelId="{32924D90-623A-4DD8-9009-66A42CECE256}" type="presOf" srcId="{E738D254-F1DF-4985-949E-69EFC6D81AA1}" destId="{8FC1B8C0-FB50-41B8-A1CC-084B1844CABC}" srcOrd="0" destOrd="0" presId="urn:microsoft.com/office/officeart/2005/8/layout/chevron2"/>
    <dgm:cxn modelId="{91DE0C92-08CB-4C06-A3FB-BE0709C426FA}" type="presOf" srcId="{5F532D28-1A92-4E32-A001-4EC2DDF7436C}" destId="{7CC54A4A-2967-479A-BECC-FC3C2648EF85}" srcOrd="0" destOrd="1" presId="urn:microsoft.com/office/officeart/2005/8/layout/chevron2"/>
    <dgm:cxn modelId="{2054B4A4-F447-47B1-AA2C-F1A07684A8A2}" type="presOf" srcId="{D5F79E57-1DC1-42DB-98A4-DBFD265625A1}" destId="{48BC964C-EB0B-4CC9-B012-40B6B3DEAF2F}" srcOrd="0" destOrd="0" presId="urn:microsoft.com/office/officeart/2005/8/layout/chevron2"/>
    <dgm:cxn modelId="{1E4419A5-2806-4636-82F6-4D3D6C6C93A4}" srcId="{D5F79E57-1DC1-42DB-98A4-DBFD265625A1}" destId="{5F532D28-1A92-4E32-A001-4EC2DDF7436C}" srcOrd="1" destOrd="0" parTransId="{E284633A-5A67-4EE2-A286-6BA8008A5294}" sibTransId="{A21E3783-00F8-4328-B113-68D6FC3E1F79}"/>
    <dgm:cxn modelId="{592681BC-B0E1-4B44-AFB9-3B9A97D192CA}" type="presOf" srcId="{6031382B-FC4A-45E5-96C0-7E63A733389B}" destId="{401BC28B-B596-4100-B9CB-890D93E9B0E8}" srcOrd="0" destOrd="0" presId="urn:microsoft.com/office/officeart/2005/8/layout/chevron2"/>
    <dgm:cxn modelId="{1A9498C2-CF44-4E16-9E19-1758D562BB77}" srcId="{8194A67E-5643-4EB3-8356-03FBDA992492}" destId="{6031382B-FC4A-45E5-96C0-7E63A733389B}" srcOrd="0" destOrd="0" parTransId="{89DD045D-0324-41E4-83C2-FC97388CC509}" sibTransId="{6C4484FF-9DB5-458B-B239-C42E5F626867}"/>
    <dgm:cxn modelId="{BA35E5C5-D609-41A9-B73D-36334985F793}" srcId="{6031382B-FC4A-45E5-96C0-7E63A733389B}" destId="{7F1F144E-37E4-4D18-8B99-11ED3B351700}" srcOrd="0" destOrd="0" parTransId="{E64E3DEB-119D-4384-B777-943EA8B574AD}" sibTransId="{1434C5DC-96A0-4933-9EA3-DF03A4D72C95}"/>
    <dgm:cxn modelId="{1A31D4E8-1847-4B99-B155-06E6B7EDAAC9}" srcId="{D5F79E57-1DC1-42DB-98A4-DBFD265625A1}" destId="{AF349DA9-F912-45D1-ABC5-A83A83FA450A}" srcOrd="0" destOrd="0" parTransId="{A170F413-45F2-4F5D-82C6-1B67BA523C40}" sibTransId="{59E2155E-9967-4E8E-860C-B63B61F0B328}"/>
    <dgm:cxn modelId="{D8A205EE-B275-442F-A48E-E556B64946E5}" srcId="{6031382B-FC4A-45E5-96C0-7E63A733389B}" destId="{D589B5AA-853F-4AEE-8FD3-8E332C73E4AC}" srcOrd="1" destOrd="0" parTransId="{C9DBC283-66C4-4DCD-8F41-567EC33959E8}" sibTransId="{0AAB7569-7265-43D3-82BE-90CD6EFDBC82}"/>
    <dgm:cxn modelId="{3FF2B3F9-00E8-4C9A-913C-BEA960B1F517}" srcId="{8194A67E-5643-4EB3-8356-03FBDA992492}" destId="{D5F79E57-1DC1-42DB-98A4-DBFD265625A1}" srcOrd="1" destOrd="0" parTransId="{2379D070-E379-4836-9612-A7FEEAA03CBA}" sibTransId="{82229F71-237D-4A0A-823F-F45B991A8D8A}"/>
    <dgm:cxn modelId="{5F469A2F-C1F2-46AD-BFA1-00DFF7D0B405}" type="presParOf" srcId="{FD5E1242-BF14-43E2-816C-04EE40D46CE8}" destId="{16A59C68-63BF-4D74-B63F-46254D681D66}" srcOrd="0" destOrd="0" presId="urn:microsoft.com/office/officeart/2005/8/layout/chevron2"/>
    <dgm:cxn modelId="{4FEFADB8-9001-4452-81D1-6EF28C37AF5B}" type="presParOf" srcId="{16A59C68-63BF-4D74-B63F-46254D681D66}" destId="{401BC28B-B596-4100-B9CB-890D93E9B0E8}" srcOrd="0" destOrd="0" presId="urn:microsoft.com/office/officeart/2005/8/layout/chevron2"/>
    <dgm:cxn modelId="{68E6EB93-44EA-4A44-9C2B-97EA99B228D3}" type="presParOf" srcId="{16A59C68-63BF-4D74-B63F-46254D681D66}" destId="{9B73DB2C-987A-4E66-AB64-20F55F3B8645}" srcOrd="1" destOrd="0" presId="urn:microsoft.com/office/officeart/2005/8/layout/chevron2"/>
    <dgm:cxn modelId="{EF65558B-9835-4AB8-83F3-BC685CD893FD}" type="presParOf" srcId="{FD5E1242-BF14-43E2-816C-04EE40D46CE8}" destId="{69A29348-233A-4AE9-8C9A-89A542C72F97}" srcOrd="1" destOrd="0" presId="urn:microsoft.com/office/officeart/2005/8/layout/chevron2"/>
    <dgm:cxn modelId="{A218BD78-64FE-4291-8C47-898A59E423B6}" type="presParOf" srcId="{FD5E1242-BF14-43E2-816C-04EE40D46CE8}" destId="{43851FB3-EC2A-404F-996F-4BB60484D1D2}" srcOrd="2" destOrd="0" presId="urn:microsoft.com/office/officeart/2005/8/layout/chevron2"/>
    <dgm:cxn modelId="{92C96FAD-827B-42B8-96A9-118CB699F3BB}" type="presParOf" srcId="{43851FB3-EC2A-404F-996F-4BB60484D1D2}" destId="{48BC964C-EB0B-4CC9-B012-40B6B3DEAF2F}" srcOrd="0" destOrd="0" presId="urn:microsoft.com/office/officeart/2005/8/layout/chevron2"/>
    <dgm:cxn modelId="{991D9CB1-77E9-4474-8158-A12945CABAF0}" type="presParOf" srcId="{43851FB3-EC2A-404F-996F-4BB60484D1D2}" destId="{7CC54A4A-2967-479A-BECC-FC3C2648EF85}" srcOrd="1" destOrd="0" presId="urn:microsoft.com/office/officeart/2005/8/layout/chevron2"/>
    <dgm:cxn modelId="{8E779A85-CC68-4FE0-A591-B18603877E2D}" type="presParOf" srcId="{FD5E1242-BF14-43E2-816C-04EE40D46CE8}" destId="{AFAF1A38-7835-4667-BED7-97E4F5CD4C14}" srcOrd="3" destOrd="0" presId="urn:microsoft.com/office/officeart/2005/8/layout/chevron2"/>
    <dgm:cxn modelId="{61F38707-08BB-448C-B772-6309078BE10D}" type="presParOf" srcId="{FD5E1242-BF14-43E2-816C-04EE40D46CE8}" destId="{AA51FEAD-3A73-4F55-9398-728499536382}" srcOrd="4" destOrd="0" presId="urn:microsoft.com/office/officeart/2005/8/layout/chevron2"/>
    <dgm:cxn modelId="{A8E72FAA-2A6C-47FC-9ECA-9C4E72D945B8}" type="presParOf" srcId="{AA51FEAD-3A73-4F55-9398-728499536382}" destId="{CD510809-FC8C-4E1F-8A1A-6BB7564B0AD9}" srcOrd="0" destOrd="0" presId="urn:microsoft.com/office/officeart/2005/8/layout/chevron2"/>
    <dgm:cxn modelId="{3B01ADED-F0DF-4445-B71B-8A8638724392}" type="presParOf" srcId="{AA51FEAD-3A73-4F55-9398-728499536382}" destId="{8FC1B8C0-FB50-41B8-A1CC-084B1844CAB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94A67E-5643-4EB3-8356-03FBDA992492}" type="doc">
      <dgm:prSet loTypeId="urn:microsoft.com/office/officeart/2005/8/layout/chevron2" loCatId="process" qsTypeId="urn:microsoft.com/office/officeart/2005/8/quickstyle/3d1" qsCatId="3D" csTypeId="urn:microsoft.com/office/officeart/2005/8/colors/accent2_3" csCatId="accent2" phldr="1"/>
      <dgm:spPr/>
      <dgm:t>
        <a:bodyPr/>
        <a:lstStyle/>
        <a:p>
          <a:endParaRPr lang="fr-FR"/>
        </a:p>
      </dgm:t>
    </dgm:pt>
    <dgm:pt modelId="{6031382B-FC4A-45E5-96C0-7E63A733389B}">
      <dgm:prSet phldrT="[Texte]" custT="1"/>
      <dgm:spPr/>
      <dgm:t>
        <a:bodyPr/>
        <a:lstStyle/>
        <a:p>
          <a:pPr algn="ctr"/>
          <a:r>
            <a:rPr lang="fr-FR" sz="1800" b="1" dirty="0">
              <a:latin typeface="Times New Roman" panose="02020603050405020304" pitchFamily="18" charset="0"/>
              <a:cs typeface="Times New Roman" panose="02020603050405020304" pitchFamily="18" charset="0"/>
            </a:rPr>
            <a:t>4</a:t>
          </a:r>
        </a:p>
      </dgm:t>
    </dgm:pt>
    <dgm:pt modelId="{89DD045D-0324-41E4-83C2-FC97388CC509}" type="parTrans" cxnId="{1A9498C2-CF44-4E16-9E19-1758D562BB77}">
      <dgm:prSet/>
      <dgm:spPr/>
      <dgm:t>
        <a:bodyPr/>
        <a:lstStyle/>
        <a:p>
          <a:pPr algn="just"/>
          <a:endParaRPr lang="fr-FR" sz="1800" b="0">
            <a:latin typeface="Times New Roman" pitchFamily="18" charset="0"/>
            <a:cs typeface="Times New Roman" pitchFamily="18" charset="0"/>
          </a:endParaRPr>
        </a:p>
      </dgm:t>
    </dgm:pt>
    <dgm:pt modelId="{6C4484FF-9DB5-458B-B239-C42E5F626867}" type="sibTrans" cxnId="{1A9498C2-CF44-4E16-9E19-1758D562BB77}">
      <dgm:prSet/>
      <dgm:spPr/>
      <dgm:t>
        <a:bodyPr/>
        <a:lstStyle/>
        <a:p>
          <a:pPr algn="just"/>
          <a:endParaRPr lang="fr-FR" sz="1800" b="0">
            <a:latin typeface="Times New Roman" pitchFamily="18" charset="0"/>
            <a:cs typeface="Times New Roman" pitchFamily="18" charset="0"/>
          </a:endParaRPr>
        </a:p>
      </dgm:t>
    </dgm:pt>
    <dgm:pt modelId="{5B85B8FE-024C-4640-9B71-4188CDBBBAF8}">
      <dgm:prSet phldrT="[Texte]" custT="1"/>
      <dgm:spPr/>
      <dgm:t>
        <a:bodyPr/>
        <a:lstStyle/>
        <a:p>
          <a:pPr algn="just"/>
          <a:r>
            <a:rPr lang="fr-FR" sz="1800" b="1" dirty="0" err="1">
              <a:solidFill>
                <a:srgbClr val="FF0000"/>
              </a:solidFill>
              <a:latin typeface="Times New Roman" panose="02020603050405020304" pitchFamily="18" charset="0"/>
              <a:cs typeface="Times New Roman" panose="02020603050405020304" pitchFamily="18" charset="0"/>
            </a:rPr>
            <a:t>Defining</a:t>
          </a:r>
          <a:r>
            <a:rPr lang="fr-FR" sz="1800" b="1" dirty="0">
              <a:solidFill>
                <a:srgbClr val="FF0000"/>
              </a:solidFill>
              <a:latin typeface="Times New Roman" panose="02020603050405020304" pitchFamily="18" charset="0"/>
              <a:cs typeface="Times New Roman" panose="02020603050405020304" pitchFamily="18" charset="0"/>
            </a:rPr>
            <a:t> Security </a:t>
          </a:r>
          <a:r>
            <a:rPr lang="fr-FR" sz="1800" b="1" dirty="0" err="1">
              <a:solidFill>
                <a:srgbClr val="FF0000"/>
              </a:solidFill>
              <a:latin typeface="Times New Roman" panose="02020603050405020304" pitchFamily="18" charset="0"/>
              <a:cs typeface="Times New Roman" panose="02020603050405020304" pitchFamily="18" charset="0"/>
            </a:rPr>
            <a:t>Requirements</a:t>
          </a:r>
          <a:r>
            <a:rPr lang="fr-FR" sz="1800" b="1" dirty="0">
              <a:solidFill>
                <a:srgbClr val="FF0000"/>
              </a:solidFill>
              <a:latin typeface="Times New Roman" panose="02020603050405020304" pitchFamily="18" charset="0"/>
              <a:cs typeface="Times New Roman" panose="02020603050405020304" pitchFamily="18" charset="0"/>
            </a:rPr>
            <a:t> (concepts)</a:t>
          </a:r>
          <a:endParaRPr lang="fr-FR" sz="1800" b="0" dirty="0">
            <a:solidFill>
              <a:srgbClr val="FF0000"/>
            </a:solidFill>
            <a:latin typeface="Times New Roman" pitchFamily="18" charset="0"/>
            <a:cs typeface="Times New Roman" pitchFamily="18" charset="0"/>
          </a:endParaRPr>
        </a:p>
      </dgm:t>
    </dgm:pt>
    <dgm:pt modelId="{A923336C-E5FD-4D2A-AC85-F1CC24D9016C}" type="parTrans" cxnId="{DF290B87-A84D-4356-A626-A79CED0C01FC}">
      <dgm:prSet/>
      <dgm:spPr/>
      <dgm:t>
        <a:bodyPr/>
        <a:lstStyle/>
        <a:p>
          <a:pPr algn="just"/>
          <a:endParaRPr lang="fr-FR" sz="1800" b="0">
            <a:latin typeface="Times New Roman" pitchFamily="18" charset="0"/>
            <a:cs typeface="Times New Roman" pitchFamily="18" charset="0"/>
          </a:endParaRPr>
        </a:p>
      </dgm:t>
    </dgm:pt>
    <dgm:pt modelId="{77575B51-C4C8-47E2-96D9-4B74E07DE37B}" type="sibTrans" cxnId="{DF290B87-A84D-4356-A626-A79CED0C01FC}">
      <dgm:prSet/>
      <dgm:spPr/>
      <dgm:t>
        <a:bodyPr/>
        <a:lstStyle/>
        <a:p>
          <a:pPr algn="just"/>
          <a:endParaRPr lang="fr-FR" sz="1800" b="0">
            <a:latin typeface="Times New Roman" pitchFamily="18" charset="0"/>
            <a:cs typeface="Times New Roman" pitchFamily="18" charset="0"/>
          </a:endParaRPr>
        </a:p>
      </dgm:t>
    </dgm:pt>
    <dgm:pt modelId="{D5F79E57-1DC1-42DB-98A4-DBFD265625A1}">
      <dgm:prSet phldrT="[Texte]" custT="1"/>
      <dgm:spPr/>
      <dgm:t>
        <a:bodyPr/>
        <a:lstStyle/>
        <a:p>
          <a:pPr algn="ctr"/>
          <a:r>
            <a:rPr lang="fr-FR" sz="1800" b="1" dirty="0">
              <a:latin typeface="Times New Roman" pitchFamily="18" charset="0"/>
              <a:cs typeface="Times New Roman" pitchFamily="18" charset="0"/>
            </a:rPr>
            <a:t>5</a:t>
          </a:r>
        </a:p>
      </dgm:t>
    </dgm:pt>
    <dgm:pt modelId="{2379D070-E379-4836-9612-A7FEEAA03CBA}" type="parTrans" cxnId="{3FF2B3F9-00E8-4C9A-913C-BEA960B1F517}">
      <dgm:prSet/>
      <dgm:spPr/>
      <dgm:t>
        <a:bodyPr/>
        <a:lstStyle/>
        <a:p>
          <a:pPr algn="just"/>
          <a:endParaRPr lang="fr-FR" sz="1800" b="0">
            <a:latin typeface="Times New Roman" pitchFamily="18" charset="0"/>
            <a:cs typeface="Times New Roman" pitchFamily="18" charset="0"/>
          </a:endParaRPr>
        </a:p>
      </dgm:t>
    </dgm:pt>
    <dgm:pt modelId="{82229F71-237D-4A0A-823F-F45B991A8D8A}" type="sibTrans" cxnId="{3FF2B3F9-00E8-4C9A-913C-BEA960B1F517}">
      <dgm:prSet/>
      <dgm:spPr/>
      <dgm:t>
        <a:bodyPr/>
        <a:lstStyle/>
        <a:p>
          <a:pPr algn="just"/>
          <a:endParaRPr lang="fr-FR" sz="1800" b="0">
            <a:latin typeface="Times New Roman" pitchFamily="18" charset="0"/>
            <a:cs typeface="Times New Roman" pitchFamily="18" charset="0"/>
          </a:endParaRPr>
        </a:p>
      </dgm:t>
    </dgm:pt>
    <dgm:pt modelId="{AF349DA9-F912-45D1-ABC5-A83A83FA450A}">
      <dgm:prSet phldrT="[Texte]" custT="1"/>
      <dgm:spPr/>
      <dgm:t>
        <a:bodyPr/>
        <a:lstStyle/>
        <a:p>
          <a:pPr algn="just"/>
          <a:r>
            <a:rPr lang="en-US" sz="1800" b="1" dirty="0">
              <a:solidFill>
                <a:srgbClr val="FF0000"/>
              </a:solidFill>
              <a:latin typeface="Times New Roman" panose="02020603050405020304" pitchFamily="18" charset="0"/>
              <a:cs typeface="Times New Roman" panose="02020603050405020304" pitchFamily="18" charset="0"/>
            </a:rPr>
            <a:t>Selecting security countermeasures</a:t>
          </a:r>
          <a:endParaRPr lang="fr-FR" sz="1800" b="0" dirty="0">
            <a:solidFill>
              <a:srgbClr val="FF0000"/>
            </a:solidFill>
            <a:latin typeface="Times New Roman" pitchFamily="18" charset="0"/>
            <a:cs typeface="Times New Roman" pitchFamily="18" charset="0"/>
          </a:endParaRPr>
        </a:p>
      </dgm:t>
    </dgm:pt>
    <dgm:pt modelId="{A170F413-45F2-4F5D-82C6-1B67BA523C40}" type="parTrans" cxnId="{1A31D4E8-1847-4B99-B155-06E6B7EDAAC9}">
      <dgm:prSet/>
      <dgm:spPr/>
      <dgm:t>
        <a:bodyPr/>
        <a:lstStyle/>
        <a:p>
          <a:pPr algn="just"/>
          <a:endParaRPr lang="fr-FR" sz="1800" b="0">
            <a:latin typeface="Times New Roman" pitchFamily="18" charset="0"/>
            <a:cs typeface="Times New Roman" pitchFamily="18" charset="0"/>
          </a:endParaRPr>
        </a:p>
      </dgm:t>
    </dgm:pt>
    <dgm:pt modelId="{59E2155E-9967-4E8E-860C-B63B61F0B328}" type="sibTrans" cxnId="{1A31D4E8-1847-4B99-B155-06E6B7EDAAC9}">
      <dgm:prSet/>
      <dgm:spPr/>
      <dgm:t>
        <a:bodyPr/>
        <a:lstStyle/>
        <a:p>
          <a:pPr algn="just"/>
          <a:endParaRPr lang="fr-FR" sz="1800" b="0">
            <a:latin typeface="Times New Roman" pitchFamily="18" charset="0"/>
            <a:cs typeface="Times New Roman" pitchFamily="18" charset="0"/>
          </a:endParaRPr>
        </a:p>
      </dgm:t>
    </dgm:pt>
    <dgm:pt modelId="{EF475655-9FFA-4B62-BD73-A91776D9F854}">
      <dgm:prSet phldrT="[Texte]" custT="1"/>
      <dgm:spPr/>
      <dgm:t>
        <a:bodyPr/>
        <a:lstStyle/>
        <a:p>
          <a:pPr algn="ctr"/>
          <a:r>
            <a:rPr lang="fr-FR" sz="1800" b="1" dirty="0">
              <a:latin typeface="Times New Roman" pitchFamily="18" charset="0"/>
              <a:cs typeface="Times New Roman" pitchFamily="18" charset="0"/>
            </a:rPr>
            <a:t>6</a:t>
          </a:r>
        </a:p>
      </dgm:t>
    </dgm:pt>
    <dgm:pt modelId="{7514B32D-5416-41DF-B658-06E7D53F3FBC}" type="parTrans" cxnId="{CAC4DC5D-F36F-4753-B98F-C42D777EDC6B}">
      <dgm:prSet/>
      <dgm:spPr/>
      <dgm:t>
        <a:bodyPr/>
        <a:lstStyle/>
        <a:p>
          <a:pPr algn="just"/>
          <a:endParaRPr lang="fr-FR" sz="1800" b="0">
            <a:latin typeface="Times New Roman" pitchFamily="18" charset="0"/>
            <a:cs typeface="Times New Roman" pitchFamily="18" charset="0"/>
          </a:endParaRPr>
        </a:p>
      </dgm:t>
    </dgm:pt>
    <dgm:pt modelId="{0DB48C00-E433-4F92-A679-32950D74410B}" type="sibTrans" cxnId="{CAC4DC5D-F36F-4753-B98F-C42D777EDC6B}">
      <dgm:prSet/>
      <dgm:spPr/>
      <dgm:t>
        <a:bodyPr/>
        <a:lstStyle/>
        <a:p>
          <a:pPr algn="just"/>
          <a:endParaRPr lang="fr-FR" sz="1800" b="0">
            <a:latin typeface="Times New Roman" pitchFamily="18" charset="0"/>
            <a:cs typeface="Times New Roman" pitchFamily="18" charset="0"/>
          </a:endParaRPr>
        </a:p>
      </dgm:t>
    </dgm:pt>
    <dgm:pt modelId="{E738D254-F1DF-4985-949E-69EFC6D81AA1}">
      <dgm:prSet phldrT="[Texte]" custT="1"/>
      <dgm:spPr/>
      <dgm:t>
        <a:bodyPr/>
        <a:lstStyle/>
        <a:p>
          <a:pPr algn="just"/>
          <a:r>
            <a:rPr lang="fr-FR" sz="1800" b="1" dirty="0" err="1">
              <a:solidFill>
                <a:srgbClr val="FF0000"/>
              </a:solidFill>
              <a:latin typeface="Times New Roman" panose="02020603050405020304" pitchFamily="18" charset="0"/>
              <a:cs typeface="Times New Roman" panose="02020603050405020304" pitchFamily="18" charset="0"/>
            </a:rPr>
            <a:t>Implementation</a:t>
          </a:r>
          <a:r>
            <a:rPr lang="fr-FR" sz="1800" b="1" dirty="0">
              <a:solidFill>
                <a:srgbClr val="FF0000"/>
              </a:solidFill>
              <a:latin typeface="Times New Roman" panose="02020603050405020304" pitchFamily="18" charset="0"/>
              <a:cs typeface="Times New Roman" panose="02020603050405020304" pitchFamily="18" charset="0"/>
            </a:rPr>
            <a:t>  </a:t>
          </a:r>
          <a:endParaRPr lang="fr-FR" sz="1800" b="0" dirty="0">
            <a:solidFill>
              <a:srgbClr val="FF0000"/>
            </a:solidFill>
            <a:latin typeface="Times New Roman" pitchFamily="18" charset="0"/>
            <a:cs typeface="Times New Roman" pitchFamily="18" charset="0"/>
          </a:endParaRPr>
        </a:p>
      </dgm:t>
    </dgm:pt>
    <dgm:pt modelId="{BCD0A2EE-BC07-4087-A55B-057A563C9B3E}" type="parTrans" cxnId="{A9EDFB5D-7A45-4690-97FD-A2654F652D76}">
      <dgm:prSet/>
      <dgm:spPr/>
      <dgm:t>
        <a:bodyPr/>
        <a:lstStyle/>
        <a:p>
          <a:pPr algn="just"/>
          <a:endParaRPr lang="fr-FR" sz="1800" b="0">
            <a:latin typeface="Times New Roman" pitchFamily="18" charset="0"/>
            <a:cs typeface="Times New Roman" pitchFamily="18" charset="0"/>
          </a:endParaRPr>
        </a:p>
      </dgm:t>
    </dgm:pt>
    <dgm:pt modelId="{0B3FAC4C-7989-4981-8F5B-E2FDC1043951}" type="sibTrans" cxnId="{A9EDFB5D-7A45-4690-97FD-A2654F652D76}">
      <dgm:prSet/>
      <dgm:spPr/>
      <dgm:t>
        <a:bodyPr/>
        <a:lstStyle/>
        <a:p>
          <a:pPr algn="just"/>
          <a:endParaRPr lang="fr-FR" sz="1800" b="0">
            <a:latin typeface="Times New Roman" pitchFamily="18" charset="0"/>
            <a:cs typeface="Times New Roman" pitchFamily="18" charset="0"/>
          </a:endParaRPr>
        </a:p>
      </dgm:t>
    </dgm:pt>
    <dgm:pt modelId="{E59465A4-E2FD-45DF-AE71-47C2F15B3F88}">
      <dgm:prSet phldrT="[Texte]" custT="1"/>
      <dgm:spPr/>
      <dgm:t>
        <a:bodyPr/>
        <a:lstStyle/>
        <a:p>
          <a:pPr algn="just"/>
          <a:r>
            <a:rPr lang="en-US" sz="1800" dirty="0">
              <a:latin typeface="Times New Roman" panose="02020603050405020304" pitchFamily="18" charset="0"/>
              <a:cs typeface="Times New Roman" panose="02020603050405020304" pitchFamily="18" charset="0"/>
            </a:rPr>
            <a:t>To reduce the risks identified above, security requirements must be identified with the assistance of system/security experts.</a:t>
          </a:r>
          <a:endParaRPr lang="fr-FR" sz="1800" b="0" dirty="0">
            <a:latin typeface="Times New Roman" pitchFamily="18" charset="0"/>
            <a:cs typeface="Times New Roman" pitchFamily="18" charset="0"/>
          </a:endParaRPr>
        </a:p>
      </dgm:t>
    </dgm:pt>
    <dgm:pt modelId="{203140DB-4943-476B-A3C7-93B70EAFC4BF}" type="parTrans" cxnId="{489B5946-5FA8-466E-B232-1DBB92D9A359}">
      <dgm:prSet/>
      <dgm:spPr/>
      <dgm:t>
        <a:bodyPr/>
        <a:lstStyle/>
        <a:p>
          <a:endParaRPr lang="fr-FR"/>
        </a:p>
      </dgm:t>
    </dgm:pt>
    <dgm:pt modelId="{2C41BB29-4588-4376-8506-E231117E085A}" type="sibTrans" cxnId="{489B5946-5FA8-466E-B232-1DBB92D9A359}">
      <dgm:prSet/>
      <dgm:spPr/>
      <dgm:t>
        <a:bodyPr/>
        <a:lstStyle/>
        <a:p>
          <a:endParaRPr lang="fr-FR"/>
        </a:p>
      </dgm:t>
    </dgm:pt>
    <dgm:pt modelId="{B115B37B-ABEC-4175-BC51-27D6A53447EE}">
      <dgm:prSet phldrT="[Texte]" custT="1"/>
      <dgm:spPr/>
      <dgm:t>
        <a:bodyPr/>
        <a:lstStyle/>
        <a:p>
          <a:pPr algn="just"/>
          <a:r>
            <a:rPr lang="en-US" sz="1800" dirty="0">
              <a:latin typeface="Times New Roman" panose="02020603050405020304" pitchFamily="18" charset="0"/>
              <a:cs typeface="Times New Roman" panose="02020603050405020304" pitchFamily="18" charset="0"/>
            </a:rPr>
            <a:t>The tool that meets the security requirements of the system</a:t>
          </a:r>
          <a:endParaRPr lang="fr-FR" sz="1800" b="0" dirty="0">
            <a:latin typeface="Times New Roman" pitchFamily="18" charset="0"/>
            <a:cs typeface="Times New Roman" pitchFamily="18" charset="0"/>
          </a:endParaRPr>
        </a:p>
      </dgm:t>
    </dgm:pt>
    <dgm:pt modelId="{6E538C47-E9CF-4A74-AE9B-FCAF1D842C56}" type="parTrans" cxnId="{51049C05-8CC9-4BDB-9AB0-CF9E9FE98D4F}">
      <dgm:prSet/>
      <dgm:spPr/>
      <dgm:t>
        <a:bodyPr/>
        <a:lstStyle/>
        <a:p>
          <a:endParaRPr lang="fr-FR"/>
        </a:p>
      </dgm:t>
    </dgm:pt>
    <dgm:pt modelId="{C9839175-CAEE-42A2-AEAB-739C11A14604}" type="sibTrans" cxnId="{51049C05-8CC9-4BDB-9AB0-CF9E9FE98D4F}">
      <dgm:prSet/>
      <dgm:spPr/>
      <dgm:t>
        <a:bodyPr/>
        <a:lstStyle/>
        <a:p>
          <a:endParaRPr lang="fr-FR"/>
        </a:p>
      </dgm:t>
    </dgm:pt>
    <dgm:pt modelId="{BDCF8C9F-4325-4356-B2D5-E6A80E6E290E}">
      <dgm:prSet phldrT="[Texte]" custT="1"/>
      <dgm:spPr/>
      <dgm:t>
        <a:bodyPr/>
        <a:lstStyle/>
        <a:p>
          <a:pPr algn="just"/>
          <a:r>
            <a:rPr lang="en-US" sz="1800" dirty="0">
              <a:latin typeface="Times New Roman" panose="02020603050405020304" pitchFamily="18" charset="0"/>
              <a:cs typeface="Times New Roman" panose="02020603050405020304" pitchFamily="18" charset="0"/>
            </a:rPr>
            <a:t>The final step in this process is testing and evaluating the selected tools.</a:t>
          </a:r>
          <a:endParaRPr lang="fr-FR" sz="1800" b="0" dirty="0">
            <a:latin typeface="Times New Roman" pitchFamily="18" charset="0"/>
            <a:cs typeface="Times New Roman" pitchFamily="18" charset="0"/>
          </a:endParaRPr>
        </a:p>
      </dgm:t>
    </dgm:pt>
    <dgm:pt modelId="{1C685E2A-E50E-4A34-9F75-6D0DC75CA4BF}" type="parTrans" cxnId="{E5B2BB76-ECCA-4CE4-9A3C-2209F55CCE17}">
      <dgm:prSet/>
      <dgm:spPr/>
      <dgm:t>
        <a:bodyPr/>
        <a:lstStyle/>
        <a:p>
          <a:endParaRPr lang="fr-FR"/>
        </a:p>
      </dgm:t>
    </dgm:pt>
    <dgm:pt modelId="{936BBEFD-EC31-473C-B9C7-D86F183B8D1F}" type="sibTrans" cxnId="{E5B2BB76-ECCA-4CE4-9A3C-2209F55CCE17}">
      <dgm:prSet/>
      <dgm:spPr/>
      <dgm:t>
        <a:bodyPr/>
        <a:lstStyle/>
        <a:p>
          <a:endParaRPr lang="fr-FR"/>
        </a:p>
      </dgm:t>
    </dgm:pt>
    <dgm:pt modelId="{FD5E1242-BF14-43E2-816C-04EE40D46CE8}" type="pres">
      <dgm:prSet presAssocID="{8194A67E-5643-4EB3-8356-03FBDA992492}" presName="linearFlow" presStyleCnt="0">
        <dgm:presLayoutVars>
          <dgm:dir/>
          <dgm:animLvl val="lvl"/>
          <dgm:resizeHandles val="exact"/>
        </dgm:presLayoutVars>
      </dgm:prSet>
      <dgm:spPr/>
    </dgm:pt>
    <dgm:pt modelId="{16A59C68-63BF-4D74-B63F-46254D681D66}" type="pres">
      <dgm:prSet presAssocID="{6031382B-FC4A-45E5-96C0-7E63A733389B}" presName="composite" presStyleCnt="0"/>
      <dgm:spPr/>
    </dgm:pt>
    <dgm:pt modelId="{401BC28B-B596-4100-B9CB-890D93E9B0E8}" type="pres">
      <dgm:prSet presAssocID="{6031382B-FC4A-45E5-96C0-7E63A733389B}" presName="parentText" presStyleLbl="alignNode1" presStyleIdx="0" presStyleCnt="3">
        <dgm:presLayoutVars>
          <dgm:chMax val="1"/>
          <dgm:bulletEnabled val="1"/>
        </dgm:presLayoutVars>
      </dgm:prSet>
      <dgm:spPr/>
    </dgm:pt>
    <dgm:pt modelId="{9B73DB2C-987A-4E66-AB64-20F55F3B8645}" type="pres">
      <dgm:prSet presAssocID="{6031382B-FC4A-45E5-96C0-7E63A733389B}" presName="descendantText" presStyleLbl="alignAcc1" presStyleIdx="0" presStyleCnt="3">
        <dgm:presLayoutVars>
          <dgm:bulletEnabled val="1"/>
        </dgm:presLayoutVars>
      </dgm:prSet>
      <dgm:spPr/>
    </dgm:pt>
    <dgm:pt modelId="{69A29348-233A-4AE9-8C9A-89A542C72F97}" type="pres">
      <dgm:prSet presAssocID="{6C4484FF-9DB5-458B-B239-C42E5F626867}" presName="sp" presStyleCnt="0"/>
      <dgm:spPr/>
    </dgm:pt>
    <dgm:pt modelId="{43851FB3-EC2A-404F-996F-4BB60484D1D2}" type="pres">
      <dgm:prSet presAssocID="{D5F79E57-1DC1-42DB-98A4-DBFD265625A1}" presName="composite" presStyleCnt="0"/>
      <dgm:spPr/>
    </dgm:pt>
    <dgm:pt modelId="{48BC964C-EB0B-4CC9-B012-40B6B3DEAF2F}" type="pres">
      <dgm:prSet presAssocID="{D5F79E57-1DC1-42DB-98A4-DBFD265625A1}" presName="parentText" presStyleLbl="alignNode1" presStyleIdx="1" presStyleCnt="3" custScaleX="114988">
        <dgm:presLayoutVars>
          <dgm:chMax val="1"/>
          <dgm:bulletEnabled val="1"/>
        </dgm:presLayoutVars>
      </dgm:prSet>
      <dgm:spPr/>
    </dgm:pt>
    <dgm:pt modelId="{7CC54A4A-2967-479A-BECC-FC3C2648EF85}" type="pres">
      <dgm:prSet presAssocID="{D5F79E57-1DC1-42DB-98A4-DBFD265625A1}" presName="descendantText" presStyleLbl="alignAcc1" presStyleIdx="1" presStyleCnt="3">
        <dgm:presLayoutVars>
          <dgm:bulletEnabled val="1"/>
        </dgm:presLayoutVars>
      </dgm:prSet>
      <dgm:spPr/>
    </dgm:pt>
    <dgm:pt modelId="{AFAF1A38-7835-4667-BED7-97E4F5CD4C14}" type="pres">
      <dgm:prSet presAssocID="{82229F71-237D-4A0A-823F-F45B991A8D8A}" presName="sp" presStyleCnt="0"/>
      <dgm:spPr/>
    </dgm:pt>
    <dgm:pt modelId="{AA51FEAD-3A73-4F55-9398-728499536382}" type="pres">
      <dgm:prSet presAssocID="{EF475655-9FFA-4B62-BD73-A91776D9F854}" presName="composite" presStyleCnt="0"/>
      <dgm:spPr/>
    </dgm:pt>
    <dgm:pt modelId="{CD510809-FC8C-4E1F-8A1A-6BB7564B0AD9}" type="pres">
      <dgm:prSet presAssocID="{EF475655-9FFA-4B62-BD73-A91776D9F854}" presName="parentText" presStyleLbl="alignNode1" presStyleIdx="2" presStyleCnt="3">
        <dgm:presLayoutVars>
          <dgm:chMax val="1"/>
          <dgm:bulletEnabled val="1"/>
        </dgm:presLayoutVars>
      </dgm:prSet>
      <dgm:spPr/>
    </dgm:pt>
    <dgm:pt modelId="{8FC1B8C0-FB50-41B8-A1CC-084B1844CABC}" type="pres">
      <dgm:prSet presAssocID="{EF475655-9FFA-4B62-BD73-A91776D9F854}" presName="descendantText" presStyleLbl="alignAcc1" presStyleIdx="2" presStyleCnt="3">
        <dgm:presLayoutVars>
          <dgm:bulletEnabled val="1"/>
        </dgm:presLayoutVars>
      </dgm:prSet>
      <dgm:spPr/>
    </dgm:pt>
  </dgm:ptLst>
  <dgm:cxnLst>
    <dgm:cxn modelId="{51049C05-8CC9-4BDB-9AB0-CF9E9FE98D4F}" srcId="{D5F79E57-1DC1-42DB-98A4-DBFD265625A1}" destId="{B115B37B-ABEC-4175-BC51-27D6A53447EE}" srcOrd="1" destOrd="0" parTransId="{6E538C47-E9CF-4A74-AE9B-FCAF1D842C56}" sibTransId="{C9839175-CAEE-42A2-AEAB-739C11A14604}"/>
    <dgm:cxn modelId="{C8F7DE0C-2E6D-403C-9F6A-199D81222D88}" type="presOf" srcId="{8194A67E-5643-4EB3-8356-03FBDA992492}" destId="{FD5E1242-BF14-43E2-816C-04EE40D46CE8}" srcOrd="0" destOrd="0" presId="urn:microsoft.com/office/officeart/2005/8/layout/chevron2"/>
    <dgm:cxn modelId="{EF319D10-54CE-4CDD-BE6C-50092E51CE2C}" type="presOf" srcId="{AF349DA9-F912-45D1-ABC5-A83A83FA450A}" destId="{7CC54A4A-2967-479A-BECC-FC3C2648EF85}" srcOrd="0" destOrd="0" presId="urn:microsoft.com/office/officeart/2005/8/layout/chevron2"/>
    <dgm:cxn modelId="{CAC4DC5D-F36F-4753-B98F-C42D777EDC6B}" srcId="{8194A67E-5643-4EB3-8356-03FBDA992492}" destId="{EF475655-9FFA-4B62-BD73-A91776D9F854}" srcOrd="2" destOrd="0" parTransId="{7514B32D-5416-41DF-B658-06E7D53F3FBC}" sibTransId="{0DB48C00-E433-4F92-A679-32950D74410B}"/>
    <dgm:cxn modelId="{A9EDFB5D-7A45-4690-97FD-A2654F652D76}" srcId="{EF475655-9FFA-4B62-BD73-A91776D9F854}" destId="{E738D254-F1DF-4985-949E-69EFC6D81AA1}" srcOrd="0" destOrd="0" parTransId="{BCD0A2EE-BC07-4087-A55B-057A563C9B3E}" sibTransId="{0B3FAC4C-7989-4981-8F5B-E2FDC1043951}"/>
    <dgm:cxn modelId="{489B5946-5FA8-466E-B232-1DBB92D9A359}" srcId="{6031382B-FC4A-45E5-96C0-7E63A733389B}" destId="{E59465A4-E2FD-45DF-AE71-47C2F15B3F88}" srcOrd="1" destOrd="0" parTransId="{203140DB-4943-476B-A3C7-93B70EAFC4BF}" sibTransId="{2C41BB29-4588-4376-8506-E231117E085A}"/>
    <dgm:cxn modelId="{E5B2BB76-ECCA-4CE4-9A3C-2209F55CCE17}" srcId="{EF475655-9FFA-4B62-BD73-A91776D9F854}" destId="{BDCF8C9F-4325-4356-B2D5-E6A80E6E290E}" srcOrd="1" destOrd="0" parTransId="{1C685E2A-E50E-4A34-9F75-6D0DC75CA4BF}" sibTransId="{936BBEFD-EC31-473C-B9C7-D86F183B8D1F}"/>
    <dgm:cxn modelId="{982F9D7C-34F3-4FED-9CBD-5154BC599112}" type="presOf" srcId="{E59465A4-E2FD-45DF-AE71-47C2F15B3F88}" destId="{9B73DB2C-987A-4E66-AB64-20F55F3B8645}" srcOrd="0" destOrd="1" presId="urn:microsoft.com/office/officeart/2005/8/layout/chevron2"/>
    <dgm:cxn modelId="{DF290B87-A84D-4356-A626-A79CED0C01FC}" srcId="{6031382B-FC4A-45E5-96C0-7E63A733389B}" destId="{5B85B8FE-024C-4640-9B71-4188CDBBBAF8}" srcOrd="0" destOrd="0" parTransId="{A923336C-E5FD-4D2A-AC85-F1CC24D9016C}" sibTransId="{77575B51-C4C8-47E2-96D9-4B74E07DE37B}"/>
    <dgm:cxn modelId="{65E12BA4-F49F-4532-9F08-D0FE6C0A5852}" type="presOf" srcId="{E738D254-F1DF-4985-949E-69EFC6D81AA1}" destId="{8FC1B8C0-FB50-41B8-A1CC-084B1844CABC}" srcOrd="0" destOrd="0" presId="urn:microsoft.com/office/officeart/2005/8/layout/chevron2"/>
    <dgm:cxn modelId="{1A9498C2-CF44-4E16-9E19-1758D562BB77}" srcId="{8194A67E-5643-4EB3-8356-03FBDA992492}" destId="{6031382B-FC4A-45E5-96C0-7E63A733389B}" srcOrd="0" destOrd="0" parTransId="{89DD045D-0324-41E4-83C2-FC97388CC509}" sibTransId="{6C4484FF-9DB5-458B-B239-C42E5F626867}"/>
    <dgm:cxn modelId="{B93A9AC4-3DCE-4E92-B5D2-AA829F9A3A0E}" type="presOf" srcId="{EF475655-9FFA-4B62-BD73-A91776D9F854}" destId="{CD510809-FC8C-4E1F-8A1A-6BB7564B0AD9}" srcOrd="0" destOrd="0" presId="urn:microsoft.com/office/officeart/2005/8/layout/chevron2"/>
    <dgm:cxn modelId="{A87638CA-BB55-4451-9319-9365121D8981}" type="presOf" srcId="{6031382B-FC4A-45E5-96C0-7E63A733389B}" destId="{401BC28B-B596-4100-B9CB-890D93E9B0E8}" srcOrd="0" destOrd="0" presId="urn:microsoft.com/office/officeart/2005/8/layout/chevron2"/>
    <dgm:cxn modelId="{F55BDFE1-8A80-4FBF-8CB9-C7FCCDD6C77D}" type="presOf" srcId="{D5F79E57-1DC1-42DB-98A4-DBFD265625A1}" destId="{48BC964C-EB0B-4CC9-B012-40B6B3DEAF2F}" srcOrd="0" destOrd="0" presId="urn:microsoft.com/office/officeart/2005/8/layout/chevron2"/>
    <dgm:cxn modelId="{1A31D4E8-1847-4B99-B155-06E6B7EDAAC9}" srcId="{D5F79E57-1DC1-42DB-98A4-DBFD265625A1}" destId="{AF349DA9-F912-45D1-ABC5-A83A83FA450A}" srcOrd="0" destOrd="0" parTransId="{A170F413-45F2-4F5D-82C6-1B67BA523C40}" sibTransId="{59E2155E-9967-4E8E-860C-B63B61F0B328}"/>
    <dgm:cxn modelId="{455DDBE9-FD92-4287-ADB2-FAA6D1435DE4}" type="presOf" srcId="{BDCF8C9F-4325-4356-B2D5-E6A80E6E290E}" destId="{8FC1B8C0-FB50-41B8-A1CC-084B1844CABC}" srcOrd="0" destOrd="1" presId="urn:microsoft.com/office/officeart/2005/8/layout/chevron2"/>
    <dgm:cxn modelId="{5EDC1DEA-1A72-4C81-B50F-8FCE639608A3}" type="presOf" srcId="{5B85B8FE-024C-4640-9B71-4188CDBBBAF8}" destId="{9B73DB2C-987A-4E66-AB64-20F55F3B8645}" srcOrd="0" destOrd="0" presId="urn:microsoft.com/office/officeart/2005/8/layout/chevron2"/>
    <dgm:cxn modelId="{3FF2B3F9-00E8-4C9A-913C-BEA960B1F517}" srcId="{8194A67E-5643-4EB3-8356-03FBDA992492}" destId="{D5F79E57-1DC1-42DB-98A4-DBFD265625A1}" srcOrd="1" destOrd="0" parTransId="{2379D070-E379-4836-9612-A7FEEAA03CBA}" sibTransId="{82229F71-237D-4A0A-823F-F45B991A8D8A}"/>
    <dgm:cxn modelId="{9B0353FB-3C2C-498E-8F5C-0C212532E27C}" type="presOf" srcId="{B115B37B-ABEC-4175-BC51-27D6A53447EE}" destId="{7CC54A4A-2967-479A-BECC-FC3C2648EF85}" srcOrd="0" destOrd="1" presId="urn:microsoft.com/office/officeart/2005/8/layout/chevron2"/>
    <dgm:cxn modelId="{4BC4F70C-8B63-418B-8BD3-413E8C36428D}" type="presParOf" srcId="{FD5E1242-BF14-43E2-816C-04EE40D46CE8}" destId="{16A59C68-63BF-4D74-B63F-46254D681D66}" srcOrd="0" destOrd="0" presId="urn:microsoft.com/office/officeart/2005/8/layout/chevron2"/>
    <dgm:cxn modelId="{5E24DC99-FDE1-4201-929B-940A6B09A6BF}" type="presParOf" srcId="{16A59C68-63BF-4D74-B63F-46254D681D66}" destId="{401BC28B-B596-4100-B9CB-890D93E9B0E8}" srcOrd="0" destOrd="0" presId="urn:microsoft.com/office/officeart/2005/8/layout/chevron2"/>
    <dgm:cxn modelId="{8B9DCC15-BBC7-43E2-B60C-DF2D5C894F50}" type="presParOf" srcId="{16A59C68-63BF-4D74-B63F-46254D681D66}" destId="{9B73DB2C-987A-4E66-AB64-20F55F3B8645}" srcOrd="1" destOrd="0" presId="urn:microsoft.com/office/officeart/2005/8/layout/chevron2"/>
    <dgm:cxn modelId="{C4F552B9-9DE7-4D17-9B5D-5D6C04704280}" type="presParOf" srcId="{FD5E1242-BF14-43E2-816C-04EE40D46CE8}" destId="{69A29348-233A-4AE9-8C9A-89A542C72F97}" srcOrd="1" destOrd="0" presId="urn:microsoft.com/office/officeart/2005/8/layout/chevron2"/>
    <dgm:cxn modelId="{0C0F6D40-67FA-4E7D-BB0F-0C6989306CD2}" type="presParOf" srcId="{FD5E1242-BF14-43E2-816C-04EE40D46CE8}" destId="{43851FB3-EC2A-404F-996F-4BB60484D1D2}" srcOrd="2" destOrd="0" presId="urn:microsoft.com/office/officeart/2005/8/layout/chevron2"/>
    <dgm:cxn modelId="{AB939632-9567-4F6D-BC67-39D564C13498}" type="presParOf" srcId="{43851FB3-EC2A-404F-996F-4BB60484D1D2}" destId="{48BC964C-EB0B-4CC9-B012-40B6B3DEAF2F}" srcOrd="0" destOrd="0" presId="urn:microsoft.com/office/officeart/2005/8/layout/chevron2"/>
    <dgm:cxn modelId="{1156EFAC-AC22-4C50-A5F0-6D29C5EB86A0}" type="presParOf" srcId="{43851FB3-EC2A-404F-996F-4BB60484D1D2}" destId="{7CC54A4A-2967-479A-BECC-FC3C2648EF85}" srcOrd="1" destOrd="0" presId="urn:microsoft.com/office/officeart/2005/8/layout/chevron2"/>
    <dgm:cxn modelId="{CC891F10-1ADD-471A-A377-95F98FD8FE08}" type="presParOf" srcId="{FD5E1242-BF14-43E2-816C-04EE40D46CE8}" destId="{AFAF1A38-7835-4667-BED7-97E4F5CD4C14}" srcOrd="3" destOrd="0" presId="urn:microsoft.com/office/officeart/2005/8/layout/chevron2"/>
    <dgm:cxn modelId="{A58F8296-6DCC-4F14-B348-DC9A43DFE10A}" type="presParOf" srcId="{FD5E1242-BF14-43E2-816C-04EE40D46CE8}" destId="{AA51FEAD-3A73-4F55-9398-728499536382}" srcOrd="4" destOrd="0" presId="urn:microsoft.com/office/officeart/2005/8/layout/chevron2"/>
    <dgm:cxn modelId="{CE8F5646-EA0C-4D41-9C23-5E4003AF7F83}" type="presParOf" srcId="{AA51FEAD-3A73-4F55-9398-728499536382}" destId="{CD510809-FC8C-4E1F-8A1A-6BB7564B0AD9}" srcOrd="0" destOrd="0" presId="urn:microsoft.com/office/officeart/2005/8/layout/chevron2"/>
    <dgm:cxn modelId="{C03BA60C-F0BB-465E-99F0-B6B09C28C675}" type="presParOf" srcId="{AA51FEAD-3A73-4F55-9398-728499536382}" destId="{8FC1B8C0-FB50-41B8-A1CC-084B1844CABC}"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BC28B-B596-4100-B9CB-890D93E9B0E8}">
      <dsp:nvSpPr>
        <dsp:cNvPr id="0" name=""/>
        <dsp:cNvSpPr/>
      </dsp:nvSpPr>
      <dsp:spPr>
        <a:xfrm rot="5400000">
          <a:off x="-284794" y="370182"/>
          <a:ext cx="1616048" cy="1131233"/>
        </a:xfrm>
        <a:prstGeom prst="chevron">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w="9525" cap="flat" cmpd="sng" algn="ctr">
          <a:solidFill>
            <a:schemeClr val="accent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anose="02020603050405020304" pitchFamily="18" charset="0"/>
              <a:cs typeface="Times New Roman" panose="02020603050405020304" pitchFamily="18" charset="0"/>
            </a:rPr>
            <a:t>1</a:t>
          </a:r>
        </a:p>
      </dsp:txBody>
      <dsp:txXfrm rot="-5400000">
        <a:off x="-42386" y="693392"/>
        <a:ext cx="1131233" cy="484815"/>
      </dsp:txXfrm>
    </dsp:sp>
    <dsp:sp modelId="{9B73DB2C-987A-4E66-AB64-20F55F3B8645}">
      <dsp:nvSpPr>
        <dsp:cNvPr id="0" name=""/>
        <dsp:cNvSpPr/>
      </dsp:nvSpPr>
      <dsp:spPr>
        <a:xfrm rot="5400000">
          <a:off x="3781262" y="-2717421"/>
          <a:ext cx="1269036" cy="6740826"/>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fr-FR" sz="2000" b="1" kern="1200" dirty="0" err="1">
              <a:solidFill>
                <a:srgbClr val="FF0000"/>
              </a:solidFill>
              <a:latin typeface="Times New Roman" panose="02020603050405020304" pitchFamily="18" charset="0"/>
              <a:cs typeface="Times New Roman" panose="02020603050405020304" pitchFamily="18" charset="0"/>
            </a:rPr>
            <a:t>Identifying</a:t>
          </a:r>
          <a:r>
            <a:rPr lang="fr-FR" sz="2000" b="1" kern="1200" dirty="0">
              <a:solidFill>
                <a:srgbClr val="FF0000"/>
              </a:solidFill>
              <a:latin typeface="Times New Roman" panose="02020603050405020304" pitchFamily="18" charset="0"/>
              <a:cs typeface="Times New Roman" panose="02020603050405020304" pitchFamily="18" charset="0"/>
            </a:rPr>
            <a:t> the </a:t>
          </a:r>
          <a:r>
            <a:rPr lang="fr-FR" sz="2000" b="1" kern="1200" dirty="0" err="1">
              <a:solidFill>
                <a:srgbClr val="FF0000"/>
              </a:solidFill>
              <a:latin typeface="Times New Roman" panose="02020603050405020304" pitchFamily="18" charset="0"/>
              <a:cs typeface="Times New Roman" panose="02020603050405020304" pitchFamily="18" charset="0"/>
            </a:rPr>
            <a:t>Environment</a:t>
          </a:r>
          <a:endParaRPr lang="fr-FR" sz="2000" kern="1200" dirty="0">
            <a:solidFill>
              <a:srgbClr val="FF0000"/>
            </a:solidFill>
            <a:latin typeface="Times New Roman" pitchFamily="18" charset="0"/>
            <a:cs typeface="Times New Roman" pitchFamily="18" charset="0"/>
          </a:endParaRPr>
        </a:p>
        <a:p>
          <a:pPr marL="228600" lvl="1" indent="-228600" algn="just"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The organization (computer system), ..</a:t>
          </a:r>
          <a:endParaRPr lang="fr-FR" sz="2000" kern="1200" dirty="0">
            <a:solidFill>
              <a:srgbClr val="FF0000"/>
            </a:solidFill>
            <a:latin typeface="Times New Roman" pitchFamily="18" charset="0"/>
            <a:cs typeface="Times New Roman" pitchFamily="18" charset="0"/>
          </a:endParaRPr>
        </a:p>
      </dsp:txBody>
      <dsp:txXfrm rot="-5400000">
        <a:off x="1045368" y="80422"/>
        <a:ext cx="6678877" cy="1145138"/>
      </dsp:txXfrm>
    </dsp:sp>
    <dsp:sp modelId="{48BC964C-EB0B-4CC9-B012-40B6B3DEAF2F}">
      <dsp:nvSpPr>
        <dsp:cNvPr id="0" name=""/>
        <dsp:cNvSpPr/>
      </dsp:nvSpPr>
      <dsp:spPr>
        <a:xfrm rot="5400000">
          <a:off x="-200019" y="1842617"/>
          <a:ext cx="1616048" cy="1300783"/>
        </a:xfrm>
        <a:prstGeom prst="chevron">
          <a:avLst/>
        </a:prstGeom>
        <a:gradFill rotWithShape="0">
          <a:gsLst>
            <a:gs pos="0">
              <a:schemeClr val="accent2">
                <a:shade val="80000"/>
                <a:hueOff val="0"/>
                <a:satOff val="-5541"/>
                <a:lumOff val="14224"/>
                <a:alphaOff val="0"/>
                <a:shade val="51000"/>
                <a:satMod val="130000"/>
              </a:schemeClr>
            </a:gs>
            <a:gs pos="80000">
              <a:schemeClr val="accent2">
                <a:shade val="80000"/>
                <a:hueOff val="0"/>
                <a:satOff val="-5541"/>
                <a:lumOff val="14224"/>
                <a:alphaOff val="0"/>
                <a:shade val="93000"/>
                <a:satMod val="130000"/>
              </a:schemeClr>
            </a:gs>
            <a:gs pos="100000">
              <a:schemeClr val="accent2">
                <a:shade val="80000"/>
                <a:hueOff val="0"/>
                <a:satOff val="-5541"/>
                <a:lumOff val="14224"/>
                <a:alphaOff val="0"/>
                <a:shade val="94000"/>
                <a:satMod val="135000"/>
              </a:schemeClr>
            </a:gs>
          </a:gsLst>
          <a:lin ang="16200000" scaled="0"/>
        </a:gradFill>
        <a:ln w="9525" cap="flat" cmpd="sng" algn="ctr">
          <a:solidFill>
            <a:schemeClr val="accent2">
              <a:shade val="80000"/>
              <a:hueOff val="0"/>
              <a:satOff val="-5541"/>
              <a:lumOff val="14224"/>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itchFamily="18" charset="0"/>
              <a:cs typeface="Times New Roman" pitchFamily="18" charset="0"/>
            </a:rPr>
            <a:t>2</a:t>
          </a:r>
        </a:p>
      </dsp:txBody>
      <dsp:txXfrm rot="-5400000">
        <a:off x="-42386" y="2335377"/>
        <a:ext cx="1300783" cy="315265"/>
      </dsp:txXfrm>
    </dsp:sp>
    <dsp:sp modelId="{7CC54A4A-2967-479A-BECC-FC3C2648EF85}">
      <dsp:nvSpPr>
        <dsp:cNvPr id="0" name=""/>
        <dsp:cNvSpPr/>
      </dsp:nvSpPr>
      <dsp:spPr>
        <a:xfrm rot="5400000">
          <a:off x="3907546" y="-1160212"/>
          <a:ext cx="1272975" cy="6740826"/>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5541"/>
              <a:lumOff val="14224"/>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fr-FR" sz="2000" b="1" kern="1200" dirty="0" err="1">
              <a:solidFill>
                <a:srgbClr val="FF0000"/>
              </a:solidFill>
              <a:latin typeface="Times New Roman" panose="02020603050405020304" pitchFamily="18" charset="0"/>
              <a:cs typeface="Times New Roman" panose="02020603050405020304" pitchFamily="18" charset="0"/>
            </a:rPr>
            <a:t>Determining</a:t>
          </a:r>
          <a:r>
            <a:rPr lang="fr-FR" sz="2000" b="1" kern="1200" dirty="0">
              <a:solidFill>
                <a:srgbClr val="FF0000"/>
              </a:solidFill>
              <a:latin typeface="Times New Roman" panose="02020603050405020304" pitchFamily="18" charset="0"/>
              <a:cs typeface="Times New Roman" panose="02020603050405020304" pitchFamily="18" charset="0"/>
            </a:rPr>
            <a:t> </a:t>
          </a:r>
          <a:r>
            <a:rPr lang="fr-FR" sz="2000" b="1" kern="1200" dirty="0" err="1">
              <a:solidFill>
                <a:srgbClr val="FF0000"/>
              </a:solidFill>
              <a:latin typeface="Times New Roman" panose="02020603050405020304" pitchFamily="18" charset="0"/>
              <a:cs typeface="Times New Roman" panose="02020603050405020304" pitchFamily="18" charset="0"/>
            </a:rPr>
            <a:t>security</a:t>
          </a:r>
          <a:r>
            <a:rPr lang="fr-FR" sz="2000" b="1" kern="1200" dirty="0">
              <a:solidFill>
                <a:srgbClr val="FF0000"/>
              </a:solidFill>
              <a:latin typeface="Times New Roman" panose="02020603050405020304" pitchFamily="18" charset="0"/>
              <a:cs typeface="Times New Roman" panose="02020603050405020304" pitchFamily="18" charset="0"/>
            </a:rPr>
            <a:t> concepts</a:t>
          </a:r>
          <a:endParaRPr lang="fr-FR" sz="2000" kern="1200" dirty="0">
            <a:solidFill>
              <a:srgbClr val="FF0000"/>
            </a:solidFill>
            <a:latin typeface="Times New Roman" pitchFamily="18" charset="0"/>
            <a:cs typeface="Times New Roman" pitchFamily="18" charset="0"/>
          </a:endParaRPr>
        </a:p>
        <a:p>
          <a:pPr marL="228600" lvl="1" indent="-228600" algn="just" defTabSz="889000">
            <a:lnSpc>
              <a:spcPct val="90000"/>
            </a:lnSpc>
            <a:spcBef>
              <a:spcPct val="0"/>
            </a:spcBef>
            <a:spcAft>
              <a:spcPct val="15000"/>
            </a:spcAft>
            <a:buChar char="•"/>
          </a:pPr>
          <a:r>
            <a:rPr lang="en-US" sz="2000" kern="1200" dirty="0">
              <a:latin typeface="Times New Roman" panose="02020603050405020304" pitchFamily="18" charset="0"/>
              <a:cs typeface="Times New Roman" panose="02020603050405020304" pitchFamily="18" charset="0"/>
            </a:rPr>
            <a:t>CIA, ….</a:t>
          </a:r>
          <a:endParaRPr lang="fr-FR" sz="2000" kern="1200" dirty="0">
            <a:solidFill>
              <a:srgbClr val="FF0000"/>
            </a:solidFill>
            <a:latin typeface="Times New Roman" pitchFamily="18" charset="0"/>
            <a:cs typeface="Times New Roman" pitchFamily="18" charset="0"/>
          </a:endParaRPr>
        </a:p>
      </dsp:txBody>
      <dsp:txXfrm rot="-5400000">
        <a:off x="1173621" y="1635855"/>
        <a:ext cx="6678684" cy="1148691"/>
      </dsp:txXfrm>
    </dsp:sp>
    <dsp:sp modelId="{CD510809-FC8C-4E1F-8A1A-6BB7564B0AD9}">
      <dsp:nvSpPr>
        <dsp:cNvPr id="0" name=""/>
        <dsp:cNvSpPr/>
      </dsp:nvSpPr>
      <dsp:spPr>
        <a:xfrm rot="5400000">
          <a:off x="-295302" y="3453213"/>
          <a:ext cx="1874567" cy="1283961"/>
        </a:xfrm>
        <a:prstGeom prst="chevron">
          <a:avLst/>
        </a:prstGeom>
        <a:gradFill rotWithShape="0">
          <a:gsLst>
            <a:gs pos="0">
              <a:schemeClr val="accent2">
                <a:shade val="80000"/>
                <a:hueOff val="0"/>
                <a:satOff val="-11081"/>
                <a:lumOff val="28449"/>
                <a:alphaOff val="0"/>
                <a:shade val="51000"/>
                <a:satMod val="130000"/>
              </a:schemeClr>
            </a:gs>
            <a:gs pos="80000">
              <a:schemeClr val="accent2">
                <a:shade val="80000"/>
                <a:hueOff val="0"/>
                <a:satOff val="-11081"/>
                <a:lumOff val="28449"/>
                <a:alphaOff val="0"/>
                <a:shade val="93000"/>
                <a:satMod val="130000"/>
              </a:schemeClr>
            </a:gs>
            <a:gs pos="100000">
              <a:schemeClr val="accent2">
                <a:shade val="80000"/>
                <a:hueOff val="0"/>
                <a:satOff val="-11081"/>
                <a:lumOff val="28449"/>
                <a:alphaOff val="0"/>
                <a:shade val="94000"/>
                <a:satMod val="135000"/>
              </a:schemeClr>
            </a:gs>
          </a:gsLst>
          <a:lin ang="16200000" scaled="0"/>
        </a:gradFill>
        <a:ln w="9525" cap="flat" cmpd="sng" algn="ctr">
          <a:solidFill>
            <a:schemeClr val="accent2">
              <a:shade val="80000"/>
              <a:hueOff val="0"/>
              <a:satOff val="-11081"/>
              <a:lumOff val="28449"/>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itchFamily="18" charset="0"/>
              <a:cs typeface="Times New Roman" pitchFamily="18" charset="0"/>
            </a:rPr>
            <a:t>3</a:t>
          </a:r>
          <a:endParaRPr lang="fr-FR" sz="1800" kern="1200" dirty="0">
            <a:latin typeface="Times New Roman" pitchFamily="18" charset="0"/>
            <a:cs typeface="Times New Roman" pitchFamily="18" charset="0"/>
          </a:endParaRPr>
        </a:p>
      </dsp:txBody>
      <dsp:txXfrm rot="-5400000">
        <a:off x="2" y="3799891"/>
        <a:ext cx="1283961" cy="590606"/>
      </dsp:txXfrm>
    </dsp:sp>
    <dsp:sp modelId="{8FC1B8C0-FB50-41B8-A1CC-084B1844CABC}">
      <dsp:nvSpPr>
        <dsp:cNvPr id="0" name=""/>
        <dsp:cNvSpPr/>
      </dsp:nvSpPr>
      <dsp:spPr>
        <a:xfrm rot="5400000">
          <a:off x="3816167" y="520747"/>
          <a:ext cx="1438912" cy="6659262"/>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11081"/>
              <a:lumOff val="28449"/>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fr-FR" sz="1800" b="1" kern="1200" dirty="0" err="1">
              <a:solidFill>
                <a:srgbClr val="FF0000"/>
              </a:solidFill>
              <a:latin typeface="Times New Roman" panose="02020603050405020304" pitchFamily="18" charset="0"/>
              <a:cs typeface="Times New Roman" panose="02020603050405020304" pitchFamily="18" charset="0"/>
            </a:rPr>
            <a:t>Risk</a:t>
          </a:r>
          <a:r>
            <a:rPr lang="fr-FR" sz="1800" b="1" kern="1200" dirty="0">
              <a:solidFill>
                <a:srgbClr val="FF0000"/>
              </a:solidFill>
              <a:latin typeface="Times New Roman" panose="02020603050405020304" pitchFamily="18" charset="0"/>
              <a:cs typeface="Times New Roman" panose="02020603050405020304" pitchFamily="18" charset="0"/>
            </a:rPr>
            <a:t> </a:t>
          </a:r>
          <a:r>
            <a:rPr lang="fr-FR" sz="1800" b="1" kern="1200" dirty="0" err="1">
              <a:solidFill>
                <a:srgbClr val="FF0000"/>
              </a:solidFill>
              <a:latin typeface="Times New Roman" panose="02020603050405020304" pitchFamily="18" charset="0"/>
              <a:cs typeface="Times New Roman" panose="02020603050405020304" pitchFamily="18" charset="0"/>
            </a:rPr>
            <a:t>analysis</a:t>
          </a:r>
          <a:r>
            <a:rPr lang="fr-FR" sz="1800" b="1" kern="1200" dirty="0">
              <a:solidFill>
                <a:srgbClr val="FF0000"/>
              </a:solidFill>
              <a:latin typeface="Times New Roman" panose="02020603050405020304" pitchFamily="18" charset="0"/>
              <a:cs typeface="Times New Roman" panose="02020603050405020304" pitchFamily="18" charset="0"/>
            </a:rPr>
            <a:t> (</a:t>
          </a:r>
          <a:r>
            <a:rPr lang="fr-FR" sz="1800" b="1" kern="1200" dirty="0" err="1">
              <a:solidFill>
                <a:srgbClr val="FF0000"/>
              </a:solidFill>
              <a:latin typeface="Times New Roman" panose="02020603050405020304" pitchFamily="18" charset="0"/>
              <a:cs typeface="Times New Roman" panose="02020603050405020304" pitchFamily="18" charset="0"/>
            </a:rPr>
            <a:t>assessment</a:t>
          </a:r>
          <a:r>
            <a:rPr lang="fr-FR" sz="1800" b="1" kern="1200" dirty="0">
              <a:solidFill>
                <a:srgbClr val="FF0000"/>
              </a:solidFill>
              <a:latin typeface="Times New Roman" panose="02020603050405020304" pitchFamily="18" charset="0"/>
              <a:cs typeface="Times New Roman" panose="02020603050405020304" pitchFamily="18" charset="0"/>
            </a:rPr>
            <a:t>)</a:t>
          </a:r>
          <a:r>
            <a:rPr lang="en-US" sz="1800" kern="1200" dirty="0">
              <a:latin typeface="Times New Roman" panose="02020603050405020304" pitchFamily="18" charset="0"/>
              <a:cs typeface="Times New Roman" panose="02020603050405020304" pitchFamily="18" charset="0"/>
            </a:rPr>
            <a:t>
Identification and estimation of each risk component (threat/vulnerability/impact)</a:t>
          </a:r>
          <a:endParaRPr lang="fr-FR" sz="1800" kern="1200" dirty="0">
            <a:solidFill>
              <a:srgbClr val="FF0000"/>
            </a:solidFill>
            <a:latin typeface="Times New Roman" pitchFamily="18" charset="0"/>
            <a:cs typeface="Times New Roman" pitchFamily="18" charset="0"/>
          </a:endParaRPr>
        </a:p>
      </dsp:txBody>
      <dsp:txXfrm rot="-5400000">
        <a:off x="1205992" y="3201164"/>
        <a:ext cx="6589020" cy="12984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BC28B-B596-4100-B9CB-890D93E9B0E8}">
      <dsp:nvSpPr>
        <dsp:cNvPr id="0" name=""/>
        <dsp:cNvSpPr/>
      </dsp:nvSpPr>
      <dsp:spPr>
        <a:xfrm rot="5400000">
          <a:off x="-309510" y="267253"/>
          <a:ext cx="1756296" cy="1229407"/>
        </a:xfrm>
        <a:prstGeom prst="chevron">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w="9525" cap="flat" cmpd="sng" algn="ctr">
          <a:solidFill>
            <a:schemeClr val="accent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anose="02020603050405020304" pitchFamily="18" charset="0"/>
              <a:cs typeface="Times New Roman" panose="02020603050405020304" pitchFamily="18" charset="0"/>
            </a:rPr>
            <a:t>4</a:t>
          </a:r>
        </a:p>
      </dsp:txBody>
      <dsp:txXfrm rot="-5400000">
        <a:off x="-46065" y="618513"/>
        <a:ext cx="1229407" cy="526889"/>
      </dsp:txXfrm>
    </dsp:sp>
    <dsp:sp modelId="{9B73DB2C-987A-4E66-AB64-20F55F3B8645}">
      <dsp:nvSpPr>
        <dsp:cNvPr id="0" name=""/>
        <dsp:cNvSpPr/>
      </dsp:nvSpPr>
      <dsp:spPr>
        <a:xfrm rot="5400000">
          <a:off x="3843560" y="-2656410"/>
          <a:ext cx="1141592" cy="6462030"/>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fr-FR" sz="1800" b="1" kern="1200" dirty="0" err="1">
              <a:solidFill>
                <a:srgbClr val="FF0000"/>
              </a:solidFill>
              <a:latin typeface="Times New Roman" panose="02020603050405020304" pitchFamily="18" charset="0"/>
              <a:cs typeface="Times New Roman" panose="02020603050405020304" pitchFamily="18" charset="0"/>
            </a:rPr>
            <a:t>Defining</a:t>
          </a:r>
          <a:r>
            <a:rPr lang="fr-FR" sz="1800" b="1" kern="1200" dirty="0">
              <a:solidFill>
                <a:srgbClr val="FF0000"/>
              </a:solidFill>
              <a:latin typeface="Times New Roman" panose="02020603050405020304" pitchFamily="18" charset="0"/>
              <a:cs typeface="Times New Roman" panose="02020603050405020304" pitchFamily="18" charset="0"/>
            </a:rPr>
            <a:t> Security </a:t>
          </a:r>
          <a:r>
            <a:rPr lang="fr-FR" sz="1800" b="1" kern="1200" dirty="0" err="1">
              <a:solidFill>
                <a:srgbClr val="FF0000"/>
              </a:solidFill>
              <a:latin typeface="Times New Roman" panose="02020603050405020304" pitchFamily="18" charset="0"/>
              <a:cs typeface="Times New Roman" panose="02020603050405020304" pitchFamily="18" charset="0"/>
            </a:rPr>
            <a:t>Requirements</a:t>
          </a:r>
          <a:r>
            <a:rPr lang="fr-FR" sz="1800" b="1" kern="1200" dirty="0">
              <a:solidFill>
                <a:srgbClr val="FF0000"/>
              </a:solidFill>
              <a:latin typeface="Times New Roman" panose="02020603050405020304" pitchFamily="18" charset="0"/>
              <a:cs typeface="Times New Roman" panose="02020603050405020304" pitchFamily="18" charset="0"/>
            </a:rPr>
            <a:t> (concepts)</a:t>
          </a:r>
          <a:endParaRPr lang="fr-FR" sz="1800" b="0" kern="1200" dirty="0">
            <a:solidFill>
              <a:srgbClr val="FF0000"/>
            </a:solidFill>
            <a:latin typeface="Times New Roman" pitchFamily="18" charset="0"/>
            <a:cs typeface="Times New Roman" pitchFamily="18" charset="0"/>
          </a:endParaRPr>
        </a:p>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To reduce the risks identified above, security requirements must be identified with the assistance of system/security experts.</a:t>
          </a:r>
          <a:endParaRPr lang="fr-FR" sz="1800" b="0" kern="1200" dirty="0">
            <a:latin typeface="Times New Roman" pitchFamily="18" charset="0"/>
            <a:cs typeface="Times New Roman" pitchFamily="18" charset="0"/>
          </a:endParaRPr>
        </a:p>
      </dsp:txBody>
      <dsp:txXfrm rot="-5400000">
        <a:off x="1183341" y="59537"/>
        <a:ext cx="6406302" cy="1030136"/>
      </dsp:txXfrm>
    </dsp:sp>
    <dsp:sp modelId="{48BC964C-EB0B-4CC9-B012-40B6B3DEAF2F}">
      <dsp:nvSpPr>
        <dsp:cNvPr id="0" name=""/>
        <dsp:cNvSpPr/>
      </dsp:nvSpPr>
      <dsp:spPr>
        <a:xfrm rot="5400000">
          <a:off x="-217378" y="1739095"/>
          <a:ext cx="1756296" cy="1413670"/>
        </a:xfrm>
        <a:prstGeom prst="chevron">
          <a:avLst/>
        </a:prstGeom>
        <a:gradFill rotWithShape="0">
          <a:gsLst>
            <a:gs pos="0">
              <a:schemeClr val="accent2">
                <a:shade val="80000"/>
                <a:hueOff val="0"/>
                <a:satOff val="-5541"/>
                <a:lumOff val="14224"/>
                <a:alphaOff val="0"/>
                <a:shade val="51000"/>
                <a:satMod val="130000"/>
              </a:schemeClr>
            </a:gs>
            <a:gs pos="80000">
              <a:schemeClr val="accent2">
                <a:shade val="80000"/>
                <a:hueOff val="0"/>
                <a:satOff val="-5541"/>
                <a:lumOff val="14224"/>
                <a:alphaOff val="0"/>
                <a:shade val="93000"/>
                <a:satMod val="130000"/>
              </a:schemeClr>
            </a:gs>
            <a:gs pos="100000">
              <a:schemeClr val="accent2">
                <a:shade val="80000"/>
                <a:hueOff val="0"/>
                <a:satOff val="-5541"/>
                <a:lumOff val="14224"/>
                <a:alphaOff val="0"/>
                <a:shade val="94000"/>
                <a:satMod val="135000"/>
              </a:schemeClr>
            </a:gs>
          </a:gsLst>
          <a:lin ang="16200000" scaled="0"/>
        </a:gradFill>
        <a:ln w="9525" cap="flat" cmpd="sng" algn="ctr">
          <a:solidFill>
            <a:schemeClr val="accent2">
              <a:shade val="80000"/>
              <a:hueOff val="0"/>
              <a:satOff val="-5541"/>
              <a:lumOff val="14224"/>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itchFamily="18" charset="0"/>
              <a:cs typeface="Times New Roman" pitchFamily="18" charset="0"/>
            </a:rPr>
            <a:t>5</a:t>
          </a:r>
        </a:p>
      </dsp:txBody>
      <dsp:txXfrm rot="-5400000">
        <a:off x="-46065" y="2274617"/>
        <a:ext cx="1413670" cy="342626"/>
      </dsp:txXfrm>
    </dsp:sp>
    <dsp:sp modelId="{7CC54A4A-2967-479A-BECC-FC3C2648EF85}">
      <dsp:nvSpPr>
        <dsp:cNvPr id="0" name=""/>
        <dsp:cNvSpPr/>
      </dsp:nvSpPr>
      <dsp:spPr>
        <a:xfrm rot="5400000">
          <a:off x="3935692" y="-1092436"/>
          <a:ext cx="1141592" cy="6462030"/>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5541"/>
              <a:lumOff val="14224"/>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en-US" sz="1800" b="1" kern="1200" dirty="0">
              <a:solidFill>
                <a:srgbClr val="FF0000"/>
              </a:solidFill>
              <a:latin typeface="Times New Roman" panose="02020603050405020304" pitchFamily="18" charset="0"/>
              <a:cs typeface="Times New Roman" panose="02020603050405020304" pitchFamily="18" charset="0"/>
            </a:rPr>
            <a:t>Selecting security countermeasures</a:t>
          </a:r>
          <a:endParaRPr lang="fr-FR" sz="1800" b="0" kern="1200" dirty="0">
            <a:solidFill>
              <a:srgbClr val="FF0000"/>
            </a:solidFill>
            <a:latin typeface="Times New Roman" pitchFamily="18" charset="0"/>
            <a:cs typeface="Times New Roman" pitchFamily="18" charset="0"/>
          </a:endParaRPr>
        </a:p>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The tool that meets the security requirements of the system</a:t>
          </a:r>
          <a:endParaRPr lang="fr-FR" sz="1800" b="0" kern="1200" dirty="0">
            <a:latin typeface="Times New Roman" pitchFamily="18" charset="0"/>
            <a:cs typeface="Times New Roman" pitchFamily="18" charset="0"/>
          </a:endParaRPr>
        </a:p>
      </dsp:txBody>
      <dsp:txXfrm rot="-5400000">
        <a:off x="1275473" y="1623511"/>
        <a:ext cx="6406302" cy="1030136"/>
      </dsp:txXfrm>
    </dsp:sp>
    <dsp:sp modelId="{CD510809-FC8C-4E1F-8A1A-6BB7564B0AD9}">
      <dsp:nvSpPr>
        <dsp:cNvPr id="0" name=""/>
        <dsp:cNvSpPr/>
      </dsp:nvSpPr>
      <dsp:spPr>
        <a:xfrm rot="5400000">
          <a:off x="-309510" y="3395201"/>
          <a:ext cx="1756296" cy="1229407"/>
        </a:xfrm>
        <a:prstGeom prst="chevron">
          <a:avLst/>
        </a:prstGeom>
        <a:gradFill rotWithShape="0">
          <a:gsLst>
            <a:gs pos="0">
              <a:schemeClr val="accent2">
                <a:shade val="80000"/>
                <a:hueOff val="0"/>
                <a:satOff val="-11081"/>
                <a:lumOff val="28449"/>
                <a:alphaOff val="0"/>
                <a:shade val="51000"/>
                <a:satMod val="130000"/>
              </a:schemeClr>
            </a:gs>
            <a:gs pos="80000">
              <a:schemeClr val="accent2">
                <a:shade val="80000"/>
                <a:hueOff val="0"/>
                <a:satOff val="-11081"/>
                <a:lumOff val="28449"/>
                <a:alphaOff val="0"/>
                <a:shade val="93000"/>
                <a:satMod val="130000"/>
              </a:schemeClr>
            </a:gs>
            <a:gs pos="100000">
              <a:schemeClr val="accent2">
                <a:shade val="80000"/>
                <a:hueOff val="0"/>
                <a:satOff val="-11081"/>
                <a:lumOff val="28449"/>
                <a:alphaOff val="0"/>
                <a:shade val="94000"/>
                <a:satMod val="135000"/>
              </a:schemeClr>
            </a:gs>
          </a:gsLst>
          <a:lin ang="16200000" scaled="0"/>
        </a:gradFill>
        <a:ln w="9525" cap="flat" cmpd="sng" algn="ctr">
          <a:solidFill>
            <a:schemeClr val="accent2">
              <a:shade val="80000"/>
              <a:hueOff val="0"/>
              <a:satOff val="-11081"/>
              <a:lumOff val="28449"/>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itchFamily="18" charset="0"/>
              <a:cs typeface="Times New Roman" pitchFamily="18" charset="0"/>
            </a:rPr>
            <a:t>6</a:t>
          </a:r>
        </a:p>
      </dsp:txBody>
      <dsp:txXfrm rot="-5400000">
        <a:off x="-46065" y="3746461"/>
        <a:ext cx="1229407" cy="526889"/>
      </dsp:txXfrm>
    </dsp:sp>
    <dsp:sp modelId="{8FC1B8C0-FB50-41B8-A1CC-084B1844CABC}">
      <dsp:nvSpPr>
        <dsp:cNvPr id="0" name=""/>
        <dsp:cNvSpPr/>
      </dsp:nvSpPr>
      <dsp:spPr>
        <a:xfrm rot="5400000">
          <a:off x="3843560" y="471537"/>
          <a:ext cx="1141592" cy="6462030"/>
        </a:xfrm>
        <a:prstGeom prst="round2SameRect">
          <a:avLst/>
        </a:prstGeom>
        <a:solidFill>
          <a:schemeClr val="lt1">
            <a:alpha val="90000"/>
            <a:hueOff val="0"/>
            <a:satOff val="0"/>
            <a:lumOff val="0"/>
            <a:alphaOff val="0"/>
          </a:schemeClr>
        </a:solidFill>
        <a:ln w="9525" cap="flat" cmpd="sng" algn="ctr">
          <a:solidFill>
            <a:schemeClr val="accent2">
              <a:shade val="80000"/>
              <a:hueOff val="0"/>
              <a:satOff val="-11081"/>
              <a:lumOff val="28449"/>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just" defTabSz="800100">
            <a:lnSpc>
              <a:spcPct val="90000"/>
            </a:lnSpc>
            <a:spcBef>
              <a:spcPct val="0"/>
            </a:spcBef>
            <a:spcAft>
              <a:spcPct val="15000"/>
            </a:spcAft>
            <a:buChar char="•"/>
          </a:pPr>
          <a:r>
            <a:rPr lang="fr-FR" sz="1800" b="1" kern="1200" dirty="0" err="1">
              <a:solidFill>
                <a:srgbClr val="FF0000"/>
              </a:solidFill>
              <a:latin typeface="Times New Roman" panose="02020603050405020304" pitchFamily="18" charset="0"/>
              <a:cs typeface="Times New Roman" panose="02020603050405020304" pitchFamily="18" charset="0"/>
            </a:rPr>
            <a:t>Implementation</a:t>
          </a:r>
          <a:r>
            <a:rPr lang="fr-FR" sz="1800" b="1" kern="1200" dirty="0">
              <a:solidFill>
                <a:srgbClr val="FF0000"/>
              </a:solidFill>
              <a:latin typeface="Times New Roman" panose="02020603050405020304" pitchFamily="18" charset="0"/>
              <a:cs typeface="Times New Roman" panose="02020603050405020304" pitchFamily="18" charset="0"/>
            </a:rPr>
            <a:t>  </a:t>
          </a:r>
          <a:endParaRPr lang="fr-FR" sz="1800" b="0" kern="1200" dirty="0">
            <a:solidFill>
              <a:srgbClr val="FF0000"/>
            </a:solidFill>
            <a:latin typeface="Times New Roman" pitchFamily="18" charset="0"/>
            <a:cs typeface="Times New Roman" pitchFamily="18" charset="0"/>
          </a:endParaRPr>
        </a:p>
        <a:p>
          <a:pPr marL="171450" lvl="1" indent="-171450" algn="just"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The final step in this process is testing and evaluating the selected tools.</a:t>
          </a:r>
          <a:endParaRPr lang="fr-FR" sz="1800" b="0" kern="1200" dirty="0">
            <a:latin typeface="Times New Roman" pitchFamily="18" charset="0"/>
            <a:cs typeface="Times New Roman" pitchFamily="18" charset="0"/>
          </a:endParaRPr>
        </a:p>
      </dsp:txBody>
      <dsp:txXfrm rot="-5400000">
        <a:off x="1183341" y="3187484"/>
        <a:ext cx="6406302" cy="103013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769F9-2858-4552-B762-66A4122C44BE}" type="datetimeFigureOut">
              <a:rPr lang="fr-FR" smtClean="0"/>
              <a:pPr/>
              <a:t>09/01/2026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78F4F4-9A8F-4FFD-8096-2E81BE625C3A}" type="slidenum">
              <a:rPr lang="fr-FR" smtClean="0"/>
              <a:pPr/>
              <a:t>‹#›</a:t>
            </a:fld>
            <a:endParaRPr lang="fr-FR"/>
          </a:p>
        </p:txBody>
      </p:sp>
    </p:spTree>
    <p:extLst>
      <p:ext uri="{BB962C8B-B14F-4D97-AF65-F5344CB8AC3E}">
        <p14:creationId xmlns:p14="http://schemas.microsoft.com/office/powerpoint/2010/main" val="900168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9</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10</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12</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13</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14</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15</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16</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17</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18</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20</a:t>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21</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22</a:t>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23</a:t>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24</a:t>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25</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26</a:t>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27</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28</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29</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30</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31</a:t>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32</a:t>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33</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35</a:t>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Fail gracefully: Systems and applications should be built to fail gracefully, which means that they should work as much as feasible even if they fail. For example, a food website may temporarily disable customers the ability to place orders during a security breach, but customers can still be allowed to browse and check food menu. • Limit access: Access to sensitive data and systems should be limited to only those who need it to perform their job duties. This helps to minimize the impact of any potential security breaches. • Regularly test and update: Systems and apps should be tested and updated regularly to identify and address vulnerabilities. This includes performing frequent penetration testing and vulnerability scanning, as well as updating software and systems with the most recent security patches. </a:t>
            </a:r>
            <a:r>
              <a:rPr lang="en-US"/>
              <a:t>• Encryption: Sensitive data should be encrypted both on transit and at rest to protect it from unauthorized access in the event of a security breach. </a:t>
            </a:r>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36</a:t>
            </a:fld>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Fail gracefully: Systems and applications should be built to fail gracefully, which means that they should work as much as feasible even if they fail. For example, a food website may temporarily disable customers the ability to place orders during a security breach, but customers can still be allowed to browse and check food menu. • Limit access: Access to sensitive data and systems should be limited to only those who need it to perform their job duties. This helps to minimize the impact of any potential security breaches. • Regularly test and update: Systems and apps should be tested and updated regularly to identify and address vulnerabilities. This includes performing frequent penetration testing and vulnerability scanning, as well as updating software and systems with the most recent security patches. </a:t>
            </a:r>
            <a:r>
              <a:rPr lang="en-US"/>
              <a:t>• Encryption: Sensitive data should be encrypted both on transit and at rest to protect it from unauthorized access in the event of a security breach. </a:t>
            </a:r>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37</a:t>
            </a:fld>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Fail gracefully: Systems and applications should be built to fail gracefully, which means that they should work as much as feasible even if they fail. For example, a food website may temporarily disable customers the ability to place orders during a security breach, but customers can still be allowed to browse and check food menu. • Limit access: Access to sensitive data and systems should be limited to only those who need it to perform their job duties. This helps to minimize the impact of any potential security breaches. • Regularly test and update: Systems and apps should be tested and updated regularly to identify and address vulnerabilities. This includes performing frequent penetration testing and vulnerability scanning, as well as updating software and systems with the most recent security patches. </a:t>
            </a:r>
            <a:r>
              <a:rPr lang="en-US"/>
              <a:t>• Encryption: Sensitive data should be encrypted both on transit and at rest to protect it from unauthorized access in the event of a security breach. </a:t>
            </a:r>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38</a:t>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39</a:t>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40</a:t>
            </a:fld>
            <a:endParaRPr lang="fr-F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41</a:t>
            </a:fld>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42</a:t>
            </a:fld>
            <a:endParaRPr lang="fr-F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978F4F4-9A8F-4FFD-8096-2E81BE625C3A}" type="slidenum">
              <a:rPr lang="fr-FR" smtClean="0"/>
              <a:pPr/>
              <a:t>43</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3"/>
          <p:cNvSpPr>
            <a:spLocks noGrp="1" noChangeArrowheads="1"/>
          </p:cNvSpPr>
          <p:nvPr>
            <p:ph type="dt" idx="10"/>
          </p:nvPr>
        </p:nvSpPr>
        <p:spPr>
          <a:ln/>
        </p:spPr>
        <p:txBody>
          <a:bodyPr/>
          <a:lstStyle>
            <a:lvl1pPr>
              <a:defRPr/>
            </a:lvl1pPr>
          </a:lstStyle>
          <a:p>
            <a:fld id="{55F3E0A7-76B3-4AD3-8963-EB80C1339001}" type="datetime1">
              <a:rPr lang="fr-FR" smtClean="0"/>
              <a:pPr/>
              <a:t>09/01/2026</a:t>
            </a:fld>
            <a:endParaRPr lang="fr-FR"/>
          </a:p>
        </p:txBody>
      </p:sp>
      <p:sp>
        <p:nvSpPr>
          <p:cNvPr id="5"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6"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fld id="{66EAE3BE-7053-4D8B-B19D-B5B9465922AB}" type="datetime1">
              <a:rPr lang="fr-FR" smtClean="0"/>
              <a:pPr/>
              <a:t>09/01/2026</a:t>
            </a:fld>
            <a:endParaRPr lang="fr-FR"/>
          </a:p>
        </p:txBody>
      </p:sp>
      <p:sp>
        <p:nvSpPr>
          <p:cNvPr id="5"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6"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3"/>
          <p:cNvSpPr>
            <a:spLocks noGrp="1" noChangeArrowheads="1"/>
          </p:cNvSpPr>
          <p:nvPr>
            <p:ph type="dt" idx="10"/>
          </p:nvPr>
        </p:nvSpPr>
        <p:spPr>
          <a:ln/>
        </p:spPr>
        <p:txBody>
          <a:bodyPr/>
          <a:lstStyle>
            <a:lvl1pPr>
              <a:defRPr/>
            </a:lvl1pPr>
          </a:lstStyle>
          <a:p>
            <a:fld id="{1A72A1DD-DA9E-4B2E-9D16-6F64C2A8AA76}" type="datetime1">
              <a:rPr lang="fr-FR" smtClean="0"/>
              <a:pPr/>
              <a:t>09/01/2026</a:t>
            </a:fld>
            <a:endParaRPr lang="fr-FR"/>
          </a:p>
        </p:txBody>
      </p:sp>
      <p:sp>
        <p:nvSpPr>
          <p:cNvPr id="5"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6"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3"/>
          <p:cNvSpPr>
            <a:spLocks noGrp="1" noChangeArrowheads="1"/>
          </p:cNvSpPr>
          <p:nvPr>
            <p:ph type="dt" idx="10"/>
          </p:nvPr>
        </p:nvSpPr>
        <p:spPr>
          <a:ln/>
        </p:spPr>
        <p:txBody>
          <a:bodyPr/>
          <a:lstStyle>
            <a:lvl1pPr>
              <a:defRPr/>
            </a:lvl1pPr>
          </a:lstStyle>
          <a:p>
            <a:fld id="{C640A97A-F34B-4ACB-BC7E-70C56605A876}" type="datetime1">
              <a:rPr lang="fr-FR" smtClean="0"/>
              <a:pPr/>
              <a:t>09/01/2026</a:t>
            </a:fld>
            <a:endParaRPr lang="fr-FR"/>
          </a:p>
        </p:txBody>
      </p:sp>
      <p:sp>
        <p:nvSpPr>
          <p:cNvPr id="6"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7"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3"/>
          <p:cNvSpPr>
            <a:spLocks noGrp="1" noChangeArrowheads="1"/>
          </p:cNvSpPr>
          <p:nvPr>
            <p:ph type="dt" idx="10"/>
          </p:nvPr>
        </p:nvSpPr>
        <p:spPr>
          <a:ln/>
        </p:spPr>
        <p:txBody>
          <a:bodyPr/>
          <a:lstStyle>
            <a:lvl1pPr>
              <a:defRPr/>
            </a:lvl1pPr>
          </a:lstStyle>
          <a:p>
            <a:fld id="{CDF0B24C-D8E2-4714-A3F5-2FA12872D326}" type="datetime1">
              <a:rPr lang="fr-FR" smtClean="0"/>
              <a:pPr/>
              <a:t>09/01/2026</a:t>
            </a:fld>
            <a:endParaRPr lang="fr-FR"/>
          </a:p>
        </p:txBody>
      </p:sp>
      <p:sp>
        <p:nvSpPr>
          <p:cNvPr id="8"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9"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3"/>
          <p:cNvSpPr>
            <a:spLocks noGrp="1" noChangeArrowheads="1"/>
          </p:cNvSpPr>
          <p:nvPr>
            <p:ph type="dt" idx="10"/>
          </p:nvPr>
        </p:nvSpPr>
        <p:spPr>
          <a:ln/>
        </p:spPr>
        <p:txBody>
          <a:bodyPr/>
          <a:lstStyle>
            <a:lvl1pPr>
              <a:defRPr/>
            </a:lvl1pPr>
          </a:lstStyle>
          <a:p>
            <a:fld id="{9704B0B3-E51E-42E1-BF18-C771BB379499}" type="datetime1">
              <a:rPr lang="fr-FR" smtClean="0"/>
              <a:pPr/>
              <a:t>09/01/2026</a:t>
            </a:fld>
            <a:endParaRPr lang="fr-FR"/>
          </a:p>
        </p:txBody>
      </p:sp>
      <p:sp>
        <p:nvSpPr>
          <p:cNvPr id="4"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5"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fld id="{AD69119C-8D81-4598-96CA-8841A30922EA}" type="datetime1">
              <a:rPr lang="fr-FR" smtClean="0"/>
              <a:pPr/>
              <a:t>09/01/2026</a:t>
            </a:fld>
            <a:endParaRPr lang="fr-FR"/>
          </a:p>
        </p:txBody>
      </p:sp>
      <p:sp>
        <p:nvSpPr>
          <p:cNvPr id="3"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4"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fld id="{05247004-7E2A-4154-AD09-73E9171731FB}" type="datetime1">
              <a:rPr lang="fr-FR" smtClean="0"/>
              <a:pPr/>
              <a:t>09/01/2026</a:t>
            </a:fld>
            <a:endParaRPr lang="fr-FR"/>
          </a:p>
        </p:txBody>
      </p:sp>
      <p:sp>
        <p:nvSpPr>
          <p:cNvPr id="6"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7"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fld id="{A5A6184A-8AC2-4195-921B-D4633435B3A3}" type="datetime1">
              <a:rPr lang="fr-FR" smtClean="0"/>
              <a:pPr/>
              <a:t>09/01/2026</a:t>
            </a:fld>
            <a:endParaRPr lang="fr-FR"/>
          </a:p>
        </p:txBody>
      </p:sp>
      <p:sp>
        <p:nvSpPr>
          <p:cNvPr id="6"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7"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fld id="{61C5DA97-28F4-4098-9D5E-11DAEDE1938C}" type="datetime1">
              <a:rPr lang="fr-FR" smtClean="0"/>
              <a:pPr/>
              <a:t>09/01/2026</a:t>
            </a:fld>
            <a:endParaRPr lang="fr-FR"/>
          </a:p>
        </p:txBody>
      </p:sp>
      <p:sp>
        <p:nvSpPr>
          <p:cNvPr id="5"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6"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0350" y="-46038"/>
            <a:ext cx="2074863" cy="6170613"/>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381000" y="-46038"/>
            <a:ext cx="6076950" cy="617061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fld id="{8266F155-937A-4232-BE1D-64E2BB2D223F}" type="datetime1">
              <a:rPr lang="fr-FR" smtClean="0"/>
              <a:pPr/>
              <a:t>09/01/2026</a:t>
            </a:fld>
            <a:endParaRPr lang="fr-FR"/>
          </a:p>
        </p:txBody>
      </p:sp>
      <p:sp>
        <p:nvSpPr>
          <p:cNvPr id="5" name="Rectangle 4"/>
          <p:cNvSpPr>
            <a:spLocks noGrp="1" noChangeArrowheads="1"/>
          </p:cNvSpPr>
          <p:nvPr>
            <p:ph type="ftr" idx="11"/>
          </p:nvPr>
        </p:nvSpPr>
        <p:spPr>
          <a:ln/>
        </p:spPr>
        <p:txBody>
          <a:bodyPr/>
          <a:lstStyle>
            <a:lvl1pPr>
              <a:defRPr/>
            </a:lvl1pPr>
          </a:lstStyle>
          <a:p>
            <a:r>
              <a:rPr lang="fr-FR"/>
              <a:t>TCP/IP et failles de sécurité</a:t>
            </a:r>
          </a:p>
        </p:txBody>
      </p:sp>
      <p:sp>
        <p:nvSpPr>
          <p:cNvPr id="6" name="Rectangle 5"/>
          <p:cNvSpPr>
            <a:spLocks noGrp="1" noChangeArrowheads="1"/>
          </p:cNvSpPr>
          <p:nvPr>
            <p:ph type="sldNum" idx="12"/>
          </p:nvPr>
        </p:nvSpPr>
        <p:spPr>
          <a:ln/>
        </p:spPr>
        <p:txBody>
          <a:bodyPr/>
          <a:lstStyle>
            <a:lvl1pPr>
              <a:defRPr/>
            </a:lvl1pPr>
          </a:lstStyle>
          <a:p>
            <a:fld id="{66EFF29A-B2FD-4D7F-BD7D-29982909C77B}" type="slidenum">
              <a:rPr lang="fr-FR" smtClean="0"/>
              <a:pPr/>
              <a:t>‹#›</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96D5F64E-336E-400E-B735-C036917583A9}" type="slidenum">
              <a:rPr lang="en-GB"/>
              <a:pPr>
                <a:defRPr/>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98D1E046-9CA0-478D-BCD2-9EAA4FB68856}" type="slidenum">
              <a:rPr lang="en-GB"/>
              <a:pPr>
                <a:defRPr/>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2A8E8C72-5ECA-4D32-9A86-3D6C2C22BA5E}" type="slidenum">
              <a:rPr lang="en-GB"/>
              <a:pPr>
                <a:defRPr/>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01AEB98E-EFCC-41CD-961C-7935B4484325}" type="slidenum">
              <a:rPr lang="en-GB"/>
              <a:pPr>
                <a:defRPr/>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2"/>
          <p:cNvSpPr>
            <a:spLocks noGrp="1" noChangeArrowheads="1"/>
          </p:cNvSpPr>
          <p:nvPr>
            <p:ph type="dt" idx="10"/>
          </p:nvPr>
        </p:nvSpPr>
        <p:spPr>
          <a:ln/>
        </p:spPr>
        <p:txBody>
          <a:bodyPr/>
          <a:lstStyle>
            <a:lvl1pPr>
              <a:defRPr/>
            </a:lvl1pPr>
          </a:lstStyle>
          <a:p>
            <a:pPr>
              <a:defRPr/>
            </a:pPr>
            <a:endParaRPr lang="en-GB"/>
          </a:p>
        </p:txBody>
      </p:sp>
      <p:sp>
        <p:nvSpPr>
          <p:cNvPr id="8" name="Rectangle 3"/>
          <p:cNvSpPr>
            <a:spLocks noGrp="1" noChangeArrowheads="1"/>
          </p:cNvSpPr>
          <p:nvPr>
            <p:ph type="ftr" idx="11"/>
          </p:nvPr>
        </p:nvSpPr>
        <p:spPr>
          <a:ln/>
        </p:spPr>
        <p:txBody>
          <a:bodyPr/>
          <a:lstStyle>
            <a:lvl1pPr>
              <a:defRPr/>
            </a:lvl1pPr>
          </a:lstStyle>
          <a:p>
            <a:pPr>
              <a:defRPr/>
            </a:pPr>
            <a:endParaRPr lang="en-GB"/>
          </a:p>
        </p:txBody>
      </p:sp>
      <p:sp>
        <p:nvSpPr>
          <p:cNvPr id="9" name="Rectangle 4"/>
          <p:cNvSpPr>
            <a:spLocks noGrp="1" noChangeArrowheads="1"/>
          </p:cNvSpPr>
          <p:nvPr>
            <p:ph type="sldNum" idx="12"/>
          </p:nvPr>
        </p:nvSpPr>
        <p:spPr>
          <a:ln/>
        </p:spPr>
        <p:txBody>
          <a:bodyPr/>
          <a:lstStyle>
            <a:lvl1pPr>
              <a:defRPr/>
            </a:lvl1pPr>
          </a:lstStyle>
          <a:p>
            <a:pPr>
              <a:defRPr/>
            </a:pPr>
            <a:fld id="{2145A2A3-D536-43FC-9A5C-8AE8C319DD77}" type="slidenum">
              <a:rPr lang="en-GB"/>
              <a:pPr>
                <a:defRPr/>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2"/>
          <p:cNvSpPr>
            <a:spLocks noGrp="1" noChangeArrowheads="1"/>
          </p:cNvSpPr>
          <p:nvPr>
            <p:ph type="dt" idx="10"/>
          </p:nvPr>
        </p:nvSpPr>
        <p:spPr>
          <a:ln/>
        </p:spPr>
        <p:txBody>
          <a:bodyPr/>
          <a:lstStyle>
            <a:lvl1pPr>
              <a:defRPr/>
            </a:lvl1pPr>
          </a:lstStyle>
          <a:p>
            <a:pPr>
              <a:defRPr/>
            </a:pPr>
            <a:endParaRPr lang="en-GB"/>
          </a:p>
        </p:txBody>
      </p:sp>
      <p:sp>
        <p:nvSpPr>
          <p:cNvPr id="4" name="Rectangle 3"/>
          <p:cNvSpPr>
            <a:spLocks noGrp="1" noChangeArrowheads="1"/>
          </p:cNvSpPr>
          <p:nvPr>
            <p:ph type="ftr" idx="11"/>
          </p:nvPr>
        </p:nvSpPr>
        <p:spPr>
          <a:ln/>
        </p:spPr>
        <p:txBody>
          <a:bodyPr/>
          <a:lstStyle>
            <a:lvl1pPr>
              <a:defRPr/>
            </a:lvl1pPr>
          </a:lstStyle>
          <a:p>
            <a:pPr>
              <a:defRPr/>
            </a:pPr>
            <a:endParaRPr lang="en-GB"/>
          </a:p>
        </p:txBody>
      </p:sp>
      <p:sp>
        <p:nvSpPr>
          <p:cNvPr id="5" name="Rectangle 4"/>
          <p:cNvSpPr>
            <a:spLocks noGrp="1" noChangeArrowheads="1"/>
          </p:cNvSpPr>
          <p:nvPr>
            <p:ph type="sldNum" idx="12"/>
          </p:nvPr>
        </p:nvSpPr>
        <p:spPr>
          <a:ln/>
        </p:spPr>
        <p:txBody>
          <a:bodyPr/>
          <a:lstStyle>
            <a:lvl1pPr>
              <a:defRPr/>
            </a:lvl1pPr>
          </a:lstStyle>
          <a:p>
            <a:pPr>
              <a:defRPr/>
            </a:pPr>
            <a:fld id="{843DD4D5-9F8E-48E2-89B2-A38DC82BDCFC}" type="slidenum">
              <a:rPr lang="en-GB"/>
              <a:pPr>
                <a:defRPr/>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2"/>
          <p:cNvSpPr>
            <a:spLocks noGrp="1" noChangeArrowheads="1"/>
          </p:cNvSpPr>
          <p:nvPr>
            <p:ph type="dt" idx="10"/>
          </p:nvPr>
        </p:nvSpPr>
        <p:spPr>
          <a:ln/>
        </p:spPr>
        <p:txBody>
          <a:bodyPr/>
          <a:lstStyle>
            <a:lvl1pPr>
              <a:defRPr/>
            </a:lvl1pPr>
          </a:lstStyle>
          <a:p>
            <a:pPr>
              <a:defRPr/>
            </a:pPr>
            <a:endParaRPr lang="en-GB"/>
          </a:p>
        </p:txBody>
      </p:sp>
      <p:sp>
        <p:nvSpPr>
          <p:cNvPr id="3" name="Rectangle 3"/>
          <p:cNvSpPr>
            <a:spLocks noGrp="1" noChangeArrowheads="1"/>
          </p:cNvSpPr>
          <p:nvPr>
            <p:ph type="ftr" idx="11"/>
          </p:nvPr>
        </p:nvSpPr>
        <p:spPr>
          <a:ln/>
        </p:spPr>
        <p:txBody>
          <a:bodyPr/>
          <a:lstStyle>
            <a:lvl1pPr>
              <a:defRPr/>
            </a:lvl1pPr>
          </a:lstStyle>
          <a:p>
            <a:pPr>
              <a:defRPr/>
            </a:pPr>
            <a:endParaRPr lang="en-GB"/>
          </a:p>
        </p:txBody>
      </p:sp>
      <p:sp>
        <p:nvSpPr>
          <p:cNvPr id="4" name="Rectangle 4"/>
          <p:cNvSpPr>
            <a:spLocks noGrp="1" noChangeArrowheads="1"/>
          </p:cNvSpPr>
          <p:nvPr>
            <p:ph type="sldNum" idx="12"/>
          </p:nvPr>
        </p:nvSpPr>
        <p:spPr>
          <a:ln/>
        </p:spPr>
        <p:txBody>
          <a:bodyPr/>
          <a:lstStyle>
            <a:lvl1pPr>
              <a:defRPr/>
            </a:lvl1pPr>
          </a:lstStyle>
          <a:p>
            <a:pPr>
              <a:defRPr/>
            </a:pPr>
            <a:fld id="{575E08C2-FCE0-43CB-A08F-BA08E193FA18}" type="slidenum">
              <a:rPr lang="en-GB"/>
              <a:pPr>
                <a:defRPr/>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96C3B82B-CA06-44F6-A7B6-5045088F36FD}" type="slidenum">
              <a:rPr lang="en-GB"/>
              <a:pPr>
                <a:defRPr/>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8A4146BC-EA6B-49AD-84A6-0BE046A8BFF7}" type="slidenum">
              <a:rPr lang="en-GB"/>
              <a:pPr>
                <a:defRPr/>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17487F71-E142-4EA8-AB10-5F9F1DB29366}" type="slidenum">
              <a:rPr lang="en-GB"/>
              <a:pPr>
                <a:defRPr/>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53200" y="152400"/>
            <a:ext cx="2132013" cy="5976938"/>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52400" y="152400"/>
            <a:ext cx="6248400" cy="59769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CBAB439F-FF75-4FBA-BCF1-99083D60A328}" type="slidenum">
              <a:rPr lang="en-GB"/>
              <a:pPr>
                <a:defRPr/>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3"/>
          <p:cNvSpPr>
            <a:spLocks noGrp="1" noChangeArrowheads="1"/>
          </p:cNvSpPr>
          <p:nvPr>
            <p:ph type="dt" idx="10"/>
          </p:nvPr>
        </p:nvSpPr>
        <p:spPr>
          <a:ln/>
        </p:spPr>
        <p:txBody>
          <a:bodyPr/>
          <a:lstStyle>
            <a:lvl1pPr>
              <a:defRPr/>
            </a:lvl1pPr>
          </a:lstStyle>
          <a:p>
            <a:pPr>
              <a:defRPr/>
            </a:pPr>
            <a:endParaRPr lang="en-GB"/>
          </a:p>
        </p:txBody>
      </p:sp>
      <p:sp>
        <p:nvSpPr>
          <p:cNvPr id="5" name="Rectangle 4"/>
          <p:cNvSpPr>
            <a:spLocks noGrp="1" noChangeArrowheads="1"/>
          </p:cNvSpPr>
          <p:nvPr>
            <p:ph type="ftr" idx="11"/>
          </p:nvPr>
        </p:nvSpPr>
        <p:spPr>
          <a:ln/>
        </p:spPr>
        <p:txBody>
          <a:bodyPr/>
          <a:lstStyle>
            <a:lvl1pPr>
              <a:defRPr/>
            </a:lvl1pPr>
          </a:lstStyle>
          <a:p>
            <a:pPr>
              <a:defRPr/>
            </a:pPr>
            <a:endParaRPr lang="en-GB"/>
          </a:p>
        </p:txBody>
      </p:sp>
      <p:sp>
        <p:nvSpPr>
          <p:cNvPr id="6" name="Rectangle 5"/>
          <p:cNvSpPr>
            <a:spLocks noGrp="1" noChangeArrowheads="1"/>
          </p:cNvSpPr>
          <p:nvPr>
            <p:ph type="sldNum" idx="12"/>
          </p:nvPr>
        </p:nvSpPr>
        <p:spPr>
          <a:ln/>
        </p:spPr>
        <p:txBody>
          <a:bodyPr/>
          <a:lstStyle>
            <a:lvl1pPr>
              <a:defRPr/>
            </a:lvl1pPr>
          </a:lstStyle>
          <a:p>
            <a:pPr>
              <a:defRPr/>
            </a:pPr>
            <a:fld id="{96D5F64E-336E-400E-B735-C036917583A9}" type="slidenum">
              <a:rPr lang="en-GB" smtClean="0"/>
              <a:pPr>
                <a:defRPr/>
              </a:pPr>
              <a:t>‹#›</a:t>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pPr>
              <a:defRPr/>
            </a:pPr>
            <a:endParaRPr lang="en-GB"/>
          </a:p>
        </p:txBody>
      </p:sp>
      <p:sp>
        <p:nvSpPr>
          <p:cNvPr id="5" name="Rectangle 4"/>
          <p:cNvSpPr>
            <a:spLocks noGrp="1" noChangeArrowheads="1"/>
          </p:cNvSpPr>
          <p:nvPr>
            <p:ph type="ftr" idx="11"/>
          </p:nvPr>
        </p:nvSpPr>
        <p:spPr>
          <a:ln/>
        </p:spPr>
        <p:txBody>
          <a:bodyPr/>
          <a:lstStyle>
            <a:lvl1pPr>
              <a:defRPr/>
            </a:lvl1pPr>
          </a:lstStyle>
          <a:p>
            <a:pPr>
              <a:defRPr/>
            </a:pPr>
            <a:endParaRPr lang="en-GB"/>
          </a:p>
        </p:txBody>
      </p:sp>
      <p:sp>
        <p:nvSpPr>
          <p:cNvPr id="6" name="Rectangle 5"/>
          <p:cNvSpPr>
            <a:spLocks noGrp="1" noChangeArrowheads="1"/>
          </p:cNvSpPr>
          <p:nvPr>
            <p:ph type="sldNum" idx="12"/>
          </p:nvPr>
        </p:nvSpPr>
        <p:spPr>
          <a:ln/>
        </p:spPr>
        <p:txBody>
          <a:bodyPr/>
          <a:lstStyle>
            <a:lvl1pPr>
              <a:defRPr/>
            </a:lvl1pPr>
          </a:lstStyle>
          <a:p>
            <a:pPr>
              <a:defRPr/>
            </a:pPr>
            <a:fld id="{98D1E046-9CA0-478D-BCD2-9EAA4FB68856}" type="slidenum">
              <a:rPr lang="en-GB" smtClean="0"/>
              <a:pPr>
                <a:defRPr/>
              </a:pPr>
              <a:t>‹#›</a:t>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3"/>
          <p:cNvSpPr>
            <a:spLocks noGrp="1" noChangeArrowheads="1"/>
          </p:cNvSpPr>
          <p:nvPr>
            <p:ph type="dt" idx="10"/>
          </p:nvPr>
        </p:nvSpPr>
        <p:spPr>
          <a:ln/>
        </p:spPr>
        <p:txBody>
          <a:bodyPr/>
          <a:lstStyle>
            <a:lvl1pPr>
              <a:defRPr/>
            </a:lvl1pPr>
          </a:lstStyle>
          <a:p>
            <a:pPr>
              <a:defRPr/>
            </a:pPr>
            <a:endParaRPr lang="en-GB"/>
          </a:p>
        </p:txBody>
      </p:sp>
      <p:sp>
        <p:nvSpPr>
          <p:cNvPr id="5" name="Rectangle 4"/>
          <p:cNvSpPr>
            <a:spLocks noGrp="1" noChangeArrowheads="1"/>
          </p:cNvSpPr>
          <p:nvPr>
            <p:ph type="ftr" idx="11"/>
          </p:nvPr>
        </p:nvSpPr>
        <p:spPr>
          <a:ln/>
        </p:spPr>
        <p:txBody>
          <a:bodyPr/>
          <a:lstStyle>
            <a:lvl1pPr>
              <a:defRPr/>
            </a:lvl1pPr>
          </a:lstStyle>
          <a:p>
            <a:pPr>
              <a:defRPr/>
            </a:pPr>
            <a:endParaRPr lang="en-GB"/>
          </a:p>
        </p:txBody>
      </p:sp>
      <p:sp>
        <p:nvSpPr>
          <p:cNvPr id="6" name="Rectangle 5"/>
          <p:cNvSpPr>
            <a:spLocks noGrp="1" noChangeArrowheads="1"/>
          </p:cNvSpPr>
          <p:nvPr>
            <p:ph type="sldNum" idx="12"/>
          </p:nvPr>
        </p:nvSpPr>
        <p:spPr>
          <a:ln/>
        </p:spPr>
        <p:txBody>
          <a:bodyPr/>
          <a:lstStyle>
            <a:lvl1pPr>
              <a:defRPr/>
            </a:lvl1pPr>
          </a:lstStyle>
          <a:p>
            <a:pPr>
              <a:defRPr/>
            </a:pPr>
            <a:fld id="{2A8E8C72-5ECA-4D32-9A86-3D6C2C22BA5E}" type="slidenum">
              <a:rPr lang="en-GB" smtClean="0"/>
              <a:pPr>
                <a:defRPr/>
              </a:pPr>
              <a:t>‹#›</a:t>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3"/>
          <p:cNvSpPr>
            <a:spLocks noGrp="1" noChangeArrowheads="1"/>
          </p:cNvSpPr>
          <p:nvPr>
            <p:ph type="dt" idx="10"/>
          </p:nvPr>
        </p:nvSpPr>
        <p:spPr>
          <a:ln/>
        </p:spPr>
        <p:txBody>
          <a:bodyPr/>
          <a:lstStyle>
            <a:lvl1pPr>
              <a:defRPr/>
            </a:lvl1pPr>
          </a:lstStyle>
          <a:p>
            <a:pPr>
              <a:defRPr/>
            </a:pPr>
            <a:endParaRPr lang="en-GB"/>
          </a:p>
        </p:txBody>
      </p:sp>
      <p:sp>
        <p:nvSpPr>
          <p:cNvPr id="6" name="Rectangle 4"/>
          <p:cNvSpPr>
            <a:spLocks noGrp="1" noChangeArrowheads="1"/>
          </p:cNvSpPr>
          <p:nvPr>
            <p:ph type="ftr" idx="11"/>
          </p:nvPr>
        </p:nvSpPr>
        <p:spPr>
          <a:ln/>
        </p:spPr>
        <p:txBody>
          <a:bodyPr/>
          <a:lstStyle>
            <a:lvl1pPr>
              <a:defRPr/>
            </a:lvl1pPr>
          </a:lstStyle>
          <a:p>
            <a:pPr>
              <a:defRPr/>
            </a:pPr>
            <a:endParaRPr lang="en-GB"/>
          </a:p>
        </p:txBody>
      </p:sp>
      <p:sp>
        <p:nvSpPr>
          <p:cNvPr id="7" name="Rectangle 5"/>
          <p:cNvSpPr>
            <a:spLocks noGrp="1" noChangeArrowheads="1"/>
          </p:cNvSpPr>
          <p:nvPr>
            <p:ph type="sldNum" idx="12"/>
          </p:nvPr>
        </p:nvSpPr>
        <p:spPr>
          <a:ln/>
        </p:spPr>
        <p:txBody>
          <a:bodyPr/>
          <a:lstStyle>
            <a:lvl1pPr>
              <a:defRPr/>
            </a:lvl1pPr>
          </a:lstStyle>
          <a:p>
            <a:pPr>
              <a:defRPr/>
            </a:pPr>
            <a:fld id="{01AEB98E-EFCC-41CD-961C-7935B4484325}" type="slidenum">
              <a:rPr lang="en-GB" smtClean="0"/>
              <a:pPr>
                <a:defRPr/>
              </a:pPr>
              <a:t>‹#›</a:t>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3"/>
          <p:cNvSpPr>
            <a:spLocks noGrp="1" noChangeArrowheads="1"/>
          </p:cNvSpPr>
          <p:nvPr>
            <p:ph type="dt" idx="10"/>
          </p:nvPr>
        </p:nvSpPr>
        <p:spPr>
          <a:ln/>
        </p:spPr>
        <p:txBody>
          <a:bodyPr/>
          <a:lstStyle>
            <a:lvl1pPr>
              <a:defRPr/>
            </a:lvl1pPr>
          </a:lstStyle>
          <a:p>
            <a:pPr>
              <a:defRPr/>
            </a:pPr>
            <a:endParaRPr lang="en-GB"/>
          </a:p>
        </p:txBody>
      </p:sp>
      <p:sp>
        <p:nvSpPr>
          <p:cNvPr id="8" name="Rectangle 4"/>
          <p:cNvSpPr>
            <a:spLocks noGrp="1" noChangeArrowheads="1"/>
          </p:cNvSpPr>
          <p:nvPr>
            <p:ph type="ftr" idx="11"/>
          </p:nvPr>
        </p:nvSpPr>
        <p:spPr>
          <a:ln/>
        </p:spPr>
        <p:txBody>
          <a:bodyPr/>
          <a:lstStyle>
            <a:lvl1pPr>
              <a:defRPr/>
            </a:lvl1pPr>
          </a:lstStyle>
          <a:p>
            <a:pPr>
              <a:defRPr/>
            </a:pPr>
            <a:endParaRPr lang="en-GB"/>
          </a:p>
        </p:txBody>
      </p:sp>
      <p:sp>
        <p:nvSpPr>
          <p:cNvPr id="9" name="Rectangle 5"/>
          <p:cNvSpPr>
            <a:spLocks noGrp="1" noChangeArrowheads="1"/>
          </p:cNvSpPr>
          <p:nvPr>
            <p:ph type="sldNum" idx="12"/>
          </p:nvPr>
        </p:nvSpPr>
        <p:spPr>
          <a:ln/>
        </p:spPr>
        <p:txBody>
          <a:bodyPr/>
          <a:lstStyle>
            <a:lvl1pPr>
              <a:defRPr/>
            </a:lvl1pPr>
          </a:lstStyle>
          <a:p>
            <a:pPr>
              <a:defRPr/>
            </a:pPr>
            <a:fld id="{2145A2A3-D536-43FC-9A5C-8AE8C319DD77}" type="slidenum">
              <a:rPr lang="en-GB" smtClean="0"/>
              <a:pPr>
                <a:defRPr/>
              </a:pPr>
              <a:t>‹#›</a:t>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3"/>
          <p:cNvSpPr>
            <a:spLocks noGrp="1" noChangeArrowheads="1"/>
          </p:cNvSpPr>
          <p:nvPr>
            <p:ph type="dt" idx="10"/>
          </p:nvPr>
        </p:nvSpPr>
        <p:spPr>
          <a:ln/>
        </p:spPr>
        <p:txBody>
          <a:bodyPr/>
          <a:lstStyle>
            <a:lvl1pPr>
              <a:defRPr/>
            </a:lvl1pPr>
          </a:lstStyle>
          <a:p>
            <a:pPr>
              <a:defRPr/>
            </a:pPr>
            <a:endParaRPr lang="en-GB"/>
          </a:p>
        </p:txBody>
      </p:sp>
      <p:sp>
        <p:nvSpPr>
          <p:cNvPr id="4" name="Rectangle 4"/>
          <p:cNvSpPr>
            <a:spLocks noGrp="1" noChangeArrowheads="1"/>
          </p:cNvSpPr>
          <p:nvPr>
            <p:ph type="ftr" idx="11"/>
          </p:nvPr>
        </p:nvSpPr>
        <p:spPr>
          <a:ln/>
        </p:spPr>
        <p:txBody>
          <a:bodyPr/>
          <a:lstStyle>
            <a:lvl1pPr>
              <a:defRPr/>
            </a:lvl1pPr>
          </a:lstStyle>
          <a:p>
            <a:pPr>
              <a:defRPr/>
            </a:pPr>
            <a:endParaRPr lang="en-GB"/>
          </a:p>
        </p:txBody>
      </p:sp>
      <p:sp>
        <p:nvSpPr>
          <p:cNvPr id="5" name="Rectangle 5"/>
          <p:cNvSpPr>
            <a:spLocks noGrp="1" noChangeArrowheads="1"/>
          </p:cNvSpPr>
          <p:nvPr>
            <p:ph type="sldNum" idx="12"/>
          </p:nvPr>
        </p:nvSpPr>
        <p:spPr>
          <a:ln/>
        </p:spPr>
        <p:txBody>
          <a:bodyPr/>
          <a:lstStyle>
            <a:lvl1pPr>
              <a:defRPr/>
            </a:lvl1pPr>
          </a:lstStyle>
          <a:p>
            <a:pPr>
              <a:defRPr/>
            </a:pPr>
            <a:fld id="{843DD4D5-9F8E-48E2-89B2-A38DC82BDCFC}" type="slidenum">
              <a:rPr lang="en-GB" smtClean="0"/>
              <a:pPr>
                <a:defRPr/>
              </a:pPr>
              <a:t>‹#›</a:t>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GB"/>
          </a:p>
        </p:txBody>
      </p:sp>
      <p:sp>
        <p:nvSpPr>
          <p:cNvPr id="3" name="Rectangle 4"/>
          <p:cNvSpPr>
            <a:spLocks noGrp="1" noChangeArrowheads="1"/>
          </p:cNvSpPr>
          <p:nvPr>
            <p:ph type="ftr" idx="11"/>
          </p:nvPr>
        </p:nvSpPr>
        <p:spPr>
          <a:ln/>
        </p:spPr>
        <p:txBody>
          <a:bodyPr/>
          <a:lstStyle>
            <a:lvl1pPr>
              <a:defRPr/>
            </a:lvl1pPr>
          </a:lstStyle>
          <a:p>
            <a:pPr>
              <a:defRPr/>
            </a:pPr>
            <a:endParaRPr lang="en-GB"/>
          </a:p>
        </p:txBody>
      </p:sp>
      <p:sp>
        <p:nvSpPr>
          <p:cNvPr id="4" name="Rectangle 5"/>
          <p:cNvSpPr>
            <a:spLocks noGrp="1" noChangeArrowheads="1"/>
          </p:cNvSpPr>
          <p:nvPr>
            <p:ph type="sldNum" idx="12"/>
          </p:nvPr>
        </p:nvSpPr>
        <p:spPr>
          <a:ln/>
        </p:spPr>
        <p:txBody>
          <a:bodyPr/>
          <a:lstStyle>
            <a:lvl1pPr>
              <a:defRPr/>
            </a:lvl1pPr>
          </a:lstStyle>
          <a:p>
            <a:pPr>
              <a:defRPr/>
            </a:pPr>
            <a:fld id="{575E08C2-FCE0-43CB-A08F-BA08E193FA18}" type="slidenum">
              <a:rPr lang="en-GB" smtClean="0"/>
              <a:pPr>
                <a:defRPr/>
              </a:pPr>
              <a:t>‹#›</a:t>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endParaRPr lang="en-GB"/>
          </a:p>
        </p:txBody>
      </p:sp>
      <p:sp>
        <p:nvSpPr>
          <p:cNvPr id="6" name="Rectangle 4"/>
          <p:cNvSpPr>
            <a:spLocks noGrp="1" noChangeArrowheads="1"/>
          </p:cNvSpPr>
          <p:nvPr>
            <p:ph type="ftr" idx="11"/>
          </p:nvPr>
        </p:nvSpPr>
        <p:spPr>
          <a:ln/>
        </p:spPr>
        <p:txBody>
          <a:bodyPr/>
          <a:lstStyle>
            <a:lvl1pPr>
              <a:defRPr/>
            </a:lvl1pPr>
          </a:lstStyle>
          <a:p>
            <a:pPr>
              <a:defRPr/>
            </a:pPr>
            <a:endParaRPr lang="en-GB"/>
          </a:p>
        </p:txBody>
      </p:sp>
      <p:sp>
        <p:nvSpPr>
          <p:cNvPr id="7" name="Rectangle 5"/>
          <p:cNvSpPr>
            <a:spLocks noGrp="1" noChangeArrowheads="1"/>
          </p:cNvSpPr>
          <p:nvPr>
            <p:ph type="sldNum" idx="12"/>
          </p:nvPr>
        </p:nvSpPr>
        <p:spPr>
          <a:ln/>
        </p:spPr>
        <p:txBody>
          <a:bodyPr/>
          <a:lstStyle>
            <a:lvl1pPr>
              <a:defRPr/>
            </a:lvl1pPr>
          </a:lstStyle>
          <a:p>
            <a:pPr>
              <a:defRPr/>
            </a:pPr>
            <a:fld id="{96C3B82B-CA06-44F6-A7B6-5045088F36FD}" type="slidenum">
              <a:rPr lang="en-GB" smtClean="0"/>
              <a:pPr>
                <a:defRPr/>
              </a:pPr>
              <a:t>‹#›</a:t>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dt" idx="10"/>
          </p:nvPr>
        </p:nvSpPr>
        <p:spPr>
          <a:ln/>
        </p:spPr>
        <p:txBody>
          <a:bodyPr/>
          <a:lstStyle>
            <a:lvl1pPr>
              <a:defRPr/>
            </a:lvl1pPr>
          </a:lstStyle>
          <a:p>
            <a:pPr>
              <a:defRPr/>
            </a:pPr>
            <a:endParaRPr lang="en-GB"/>
          </a:p>
        </p:txBody>
      </p:sp>
      <p:sp>
        <p:nvSpPr>
          <p:cNvPr id="6" name="Rectangle 4"/>
          <p:cNvSpPr>
            <a:spLocks noGrp="1" noChangeArrowheads="1"/>
          </p:cNvSpPr>
          <p:nvPr>
            <p:ph type="ftr" idx="11"/>
          </p:nvPr>
        </p:nvSpPr>
        <p:spPr>
          <a:ln/>
        </p:spPr>
        <p:txBody>
          <a:bodyPr/>
          <a:lstStyle>
            <a:lvl1pPr>
              <a:defRPr/>
            </a:lvl1pPr>
          </a:lstStyle>
          <a:p>
            <a:pPr>
              <a:defRPr/>
            </a:pPr>
            <a:endParaRPr lang="en-GB"/>
          </a:p>
        </p:txBody>
      </p:sp>
      <p:sp>
        <p:nvSpPr>
          <p:cNvPr id="7" name="Rectangle 5"/>
          <p:cNvSpPr>
            <a:spLocks noGrp="1" noChangeArrowheads="1"/>
          </p:cNvSpPr>
          <p:nvPr>
            <p:ph type="sldNum" idx="12"/>
          </p:nvPr>
        </p:nvSpPr>
        <p:spPr>
          <a:ln/>
        </p:spPr>
        <p:txBody>
          <a:bodyPr/>
          <a:lstStyle>
            <a:lvl1pPr>
              <a:defRPr/>
            </a:lvl1pPr>
          </a:lstStyle>
          <a:p>
            <a:pPr>
              <a:defRPr/>
            </a:pPr>
            <a:fld id="{8A4146BC-EA6B-49AD-84A6-0BE046A8BFF7}" type="slidenum">
              <a:rPr lang="en-GB" smtClean="0"/>
              <a:pPr>
                <a:defRPr/>
              </a:pPr>
              <a:t>‹#›</a:t>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pPr>
              <a:defRPr/>
            </a:pPr>
            <a:endParaRPr lang="en-GB"/>
          </a:p>
        </p:txBody>
      </p:sp>
      <p:sp>
        <p:nvSpPr>
          <p:cNvPr id="5" name="Rectangle 4"/>
          <p:cNvSpPr>
            <a:spLocks noGrp="1" noChangeArrowheads="1"/>
          </p:cNvSpPr>
          <p:nvPr>
            <p:ph type="ftr" idx="11"/>
          </p:nvPr>
        </p:nvSpPr>
        <p:spPr>
          <a:ln/>
        </p:spPr>
        <p:txBody>
          <a:bodyPr/>
          <a:lstStyle>
            <a:lvl1pPr>
              <a:defRPr/>
            </a:lvl1pPr>
          </a:lstStyle>
          <a:p>
            <a:pPr>
              <a:defRPr/>
            </a:pPr>
            <a:endParaRPr lang="en-GB"/>
          </a:p>
        </p:txBody>
      </p:sp>
      <p:sp>
        <p:nvSpPr>
          <p:cNvPr id="6" name="Rectangle 5"/>
          <p:cNvSpPr>
            <a:spLocks noGrp="1" noChangeArrowheads="1"/>
          </p:cNvSpPr>
          <p:nvPr>
            <p:ph type="sldNum" idx="12"/>
          </p:nvPr>
        </p:nvSpPr>
        <p:spPr>
          <a:ln/>
        </p:spPr>
        <p:txBody>
          <a:bodyPr/>
          <a:lstStyle>
            <a:lvl1pPr>
              <a:defRPr/>
            </a:lvl1pPr>
          </a:lstStyle>
          <a:p>
            <a:pPr>
              <a:defRPr/>
            </a:pPr>
            <a:fld id="{17487F71-E142-4EA8-AB10-5F9F1DB29366}" type="slidenum">
              <a:rPr lang="en-GB" smtClean="0"/>
              <a:pPr>
                <a:defRPr/>
              </a:pPr>
              <a:t>‹#›</a:t>
            </a:fld>
            <a:endParaRPr lang="en-GB"/>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0350" y="-46038"/>
            <a:ext cx="2074863" cy="6170613"/>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381000" y="-46038"/>
            <a:ext cx="6076950" cy="617061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dt" idx="10"/>
          </p:nvPr>
        </p:nvSpPr>
        <p:spPr>
          <a:ln/>
        </p:spPr>
        <p:txBody>
          <a:bodyPr/>
          <a:lstStyle>
            <a:lvl1pPr>
              <a:defRPr/>
            </a:lvl1pPr>
          </a:lstStyle>
          <a:p>
            <a:pPr>
              <a:defRPr/>
            </a:pPr>
            <a:endParaRPr lang="en-GB"/>
          </a:p>
        </p:txBody>
      </p:sp>
      <p:sp>
        <p:nvSpPr>
          <p:cNvPr id="5" name="Rectangle 4"/>
          <p:cNvSpPr>
            <a:spLocks noGrp="1" noChangeArrowheads="1"/>
          </p:cNvSpPr>
          <p:nvPr>
            <p:ph type="ftr" idx="11"/>
          </p:nvPr>
        </p:nvSpPr>
        <p:spPr>
          <a:ln/>
        </p:spPr>
        <p:txBody>
          <a:bodyPr/>
          <a:lstStyle>
            <a:lvl1pPr>
              <a:defRPr/>
            </a:lvl1pPr>
          </a:lstStyle>
          <a:p>
            <a:pPr>
              <a:defRPr/>
            </a:pPr>
            <a:endParaRPr lang="en-GB"/>
          </a:p>
        </p:txBody>
      </p:sp>
      <p:sp>
        <p:nvSpPr>
          <p:cNvPr id="6" name="Rectangle 5"/>
          <p:cNvSpPr>
            <a:spLocks noGrp="1" noChangeArrowheads="1"/>
          </p:cNvSpPr>
          <p:nvPr>
            <p:ph type="sldNum" idx="12"/>
          </p:nvPr>
        </p:nvSpPr>
        <p:spPr>
          <a:ln/>
        </p:spPr>
        <p:txBody>
          <a:bodyPr/>
          <a:lstStyle>
            <a:lvl1pPr>
              <a:defRPr/>
            </a:lvl1pPr>
          </a:lstStyle>
          <a:p>
            <a:pPr>
              <a:defRPr/>
            </a:pPr>
            <a:fld id="{CBAB439F-FF75-4FBA-BCF1-99083D60A328}" type="slidenum">
              <a:rPr lang="en-GB" smtClean="0"/>
              <a:pPr>
                <a:defRPr/>
              </a:pPr>
              <a:t>‹#›</a:t>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96D5F64E-336E-400E-B735-C036917583A9}" type="slidenum">
              <a:rPr lang="en-GB"/>
              <a:pPr>
                <a:defRPr/>
              </a:pPr>
              <a:t>‹#›</a:t>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98D1E046-9CA0-478D-BCD2-9EAA4FB68856}" type="slidenum">
              <a:rPr lang="en-GB"/>
              <a:pPr>
                <a:defRPr/>
              </a:pPr>
              <a:t>‹#›</a:t>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2A8E8C72-5ECA-4D32-9A86-3D6C2C22BA5E}" type="slidenum">
              <a:rPr lang="en-GB"/>
              <a:pPr>
                <a:defRPr/>
              </a:pPr>
              <a:t>‹#›</a:t>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01AEB98E-EFCC-41CD-961C-7935B4484325}" type="slidenum">
              <a:rPr lang="en-GB"/>
              <a:pPr>
                <a:defRPr/>
              </a:pPr>
              <a:t>‹#›</a:t>
            </a:fld>
            <a:endParaRPr lang="en-GB"/>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2"/>
          <p:cNvSpPr>
            <a:spLocks noGrp="1" noChangeArrowheads="1"/>
          </p:cNvSpPr>
          <p:nvPr>
            <p:ph type="dt" idx="10"/>
          </p:nvPr>
        </p:nvSpPr>
        <p:spPr>
          <a:ln/>
        </p:spPr>
        <p:txBody>
          <a:bodyPr/>
          <a:lstStyle>
            <a:lvl1pPr>
              <a:defRPr/>
            </a:lvl1pPr>
          </a:lstStyle>
          <a:p>
            <a:pPr>
              <a:defRPr/>
            </a:pPr>
            <a:endParaRPr lang="en-GB"/>
          </a:p>
        </p:txBody>
      </p:sp>
      <p:sp>
        <p:nvSpPr>
          <p:cNvPr id="8" name="Rectangle 3"/>
          <p:cNvSpPr>
            <a:spLocks noGrp="1" noChangeArrowheads="1"/>
          </p:cNvSpPr>
          <p:nvPr>
            <p:ph type="ftr" idx="11"/>
          </p:nvPr>
        </p:nvSpPr>
        <p:spPr>
          <a:ln/>
        </p:spPr>
        <p:txBody>
          <a:bodyPr/>
          <a:lstStyle>
            <a:lvl1pPr>
              <a:defRPr/>
            </a:lvl1pPr>
          </a:lstStyle>
          <a:p>
            <a:pPr>
              <a:defRPr/>
            </a:pPr>
            <a:endParaRPr lang="en-GB"/>
          </a:p>
        </p:txBody>
      </p:sp>
      <p:sp>
        <p:nvSpPr>
          <p:cNvPr id="9" name="Rectangle 4"/>
          <p:cNvSpPr>
            <a:spLocks noGrp="1" noChangeArrowheads="1"/>
          </p:cNvSpPr>
          <p:nvPr>
            <p:ph type="sldNum" idx="12"/>
          </p:nvPr>
        </p:nvSpPr>
        <p:spPr>
          <a:ln/>
        </p:spPr>
        <p:txBody>
          <a:bodyPr/>
          <a:lstStyle>
            <a:lvl1pPr>
              <a:defRPr/>
            </a:lvl1pPr>
          </a:lstStyle>
          <a:p>
            <a:pPr>
              <a:defRPr/>
            </a:pPr>
            <a:fld id="{2145A2A3-D536-43FC-9A5C-8AE8C319DD77}" type="slidenum">
              <a:rPr lang="en-GB"/>
              <a:pPr>
                <a:defRPr/>
              </a:pPr>
              <a:t>‹#›</a:t>
            </a:fld>
            <a:endParaRPr lang="en-GB"/>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2"/>
          <p:cNvSpPr>
            <a:spLocks noGrp="1" noChangeArrowheads="1"/>
          </p:cNvSpPr>
          <p:nvPr>
            <p:ph type="dt" idx="10"/>
          </p:nvPr>
        </p:nvSpPr>
        <p:spPr>
          <a:ln/>
        </p:spPr>
        <p:txBody>
          <a:bodyPr/>
          <a:lstStyle>
            <a:lvl1pPr>
              <a:defRPr/>
            </a:lvl1pPr>
          </a:lstStyle>
          <a:p>
            <a:pPr>
              <a:defRPr/>
            </a:pPr>
            <a:endParaRPr lang="en-GB"/>
          </a:p>
        </p:txBody>
      </p:sp>
      <p:sp>
        <p:nvSpPr>
          <p:cNvPr id="4" name="Rectangle 3"/>
          <p:cNvSpPr>
            <a:spLocks noGrp="1" noChangeArrowheads="1"/>
          </p:cNvSpPr>
          <p:nvPr>
            <p:ph type="ftr" idx="11"/>
          </p:nvPr>
        </p:nvSpPr>
        <p:spPr>
          <a:ln/>
        </p:spPr>
        <p:txBody>
          <a:bodyPr/>
          <a:lstStyle>
            <a:lvl1pPr>
              <a:defRPr/>
            </a:lvl1pPr>
          </a:lstStyle>
          <a:p>
            <a:pPr>
              <a:defRPr/>
            </a:pPr>
            <a:endParaRPr lang="en-GB"/>
          </a:p>
        </p:txBody>
      </p:sp>
      <p:sp>
        <p:nvSpPr>
          <p:cNvPr id="5" name="Rectangle 4"/>
          <p:cNvSpPr>
            <a:spLocks noGrp="1" noChangeArrowheads="1"/>
          </p:cNvSpPr>
          <p:nvPr>
            <p:ph type="sldNum" idx="12"/>
          </p:nvPr>
        </p:nvSpPr>
        <p:spPr>
          <a:ln/>
        </p:spPr>
        <p:txBody>
          <a:bodyPr/>
          <a:lstStyle>
            <a:lvl1pPr>
              <a:defRPr/>
            </a:lvl1pPr>
          </a:lstStyle>
          <a:p>
            <a:pPr>
              <a:defRPr/>
            </a:pPr>
            <a:fld id="{843DD4D5-9F8E-48E2-89B2-A38DC82BDCFC}" type="slidenum">
              <a:rPr lang="en-GB"/>
              <a:pPr>
                <a:defRPr/>
              </a:pPr>
              <a:t>‹#›</a:t>
            </a:fld>
            <a:endParaRPr lang="en-GB"/>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2"/>
          <p:cNvSpPr>
            <a:spLocks noGrp="1" noChangeArrowheads="1"/>
          </p:cNvSpPr>
          <p:nvPr>
            <p:ph type="dt" idx="10"/>
          </p:nvPr>
        </p:nvSpPr>
        <p:spPr>
          <a:ln/>
        </p:spPr>
        <p:txBody>
          <a:bodyPr/>
          <a:lstStyle>
            <a:lvl1pPr>
              <a:defRPr/>
            </a:lvl1pPr>
          </a:lstStyle>
          <a:p>
            <a:pPr>
              <a:defRPr/>
            </a:pPr>
            <a:endParaRPr lang="en-GB"/>
          </a:p>
        </p:txBody>
      </p:sp>
      <p:sp>
        <p:nvSpPr>
          <p:cNvPr id="3" name="Rectangle 3"/>
          <p:cNvSpPr>
            <a:spLocks noGrp="1" noChangeArrowheads="1"/>
          </p:cNvSpPr>
          <p:nvPr>
            <p:ph type="ftr" idx="11"/>
          </p:nvPr>
        </p:nvSpPr>
        <p:spPr>
          <a:ln/>
        </p:spPr>
        <p:txBody>
          <a:bodyPr/>
          <a:lstStyle>
            <a:lvl1pPr>
              <a:defRPr/>
            </a:lvl1pPr>
          </a:lstStyle>
          <a:p>
            <a:pPr>
              <a:defRPr/>
            </a:pPr>
            <a:endParaRPr lang="en-GB"/>
          </a:p>
        </p:txBody>
      </p:sp>
      <p:sp>
        <p:nvSpPr>
          <p:cNvPr id="4" name="Rectangle 4"/>
          <p:cNvSpPr>
            <a:spLocks noGrp="1" noChangeArrowheads="1"/>
          </p:cNvSpPr>
          <p:nvPr>
            <p:ph type="sldNum" idx="12"/>
          </p:nvPr>
        </p:nvSpPr>
        <p:spPr>
          <a:ln/>
        </p:spPr>
        <p:txBody>
          <a:bodyPr/>
          <a:lstStyle>
            <a:lvl1pPr>
              <a:defRPr/>
            </a:lvl1pPr>
          </a:lstStyle>
          <a:p>
            <a:pPr>
              <a:defRPr/>
            </a:pPr>
            <a:fld id="{575E08C2-FCE0-43CB-A08F-BA08E193FA18}" type="slidenum">
              <a:rPr lang="en-GB"/>
              <a:pPr>
                <a:defRPr/>
              </a:pPr>
              <a:t>‹#›</a:t>
            </a:fld>
            <a:endParaRPr lang="en-GB"/>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96C3B82B-CA06-44F6-A7B6-5045088F36FD}" type="slidenum">
              <a:rPr lang="en-GB"/>
              <a:pPr>
                <a:defRPr/>
              </a:pPr>
              <a:t>‹#›</a:t>
            </a:fld>
            <a:endParaRPr 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2"/>
          <p:cNvSpPr>
            <a:spLocks noGrp="1" noChangeArrowheads="1"/>
          </p:cNvSpPr>
          <p:nvPr>
            <p:ph type="dt" idx="10"/>
          </p:nvPr>
        </p:nvSpPr>
        <p:spPr>
          <a:ln/>
        </p:spPr>
        <p:txBody>
          <a:bodyPr/>
          <a:lstStyle>
            <a:lvl1pPr>
              <a:defRPr/>
            </a:lvl1pPr>
          </a:lstStyle>
          <a:p>
            <a:pPr>
              <a:defRPr/>
            </a:pPr>
            <a:endParaRPr lang="en-GB"/>
          </a:p>
        </p:txBody>
      </p:sp>
      <p:sp>
        <p:nvSpPr>
          <p:cNvPr id="6" name="Rectangle 3"/>
          <p:cNvSpPr>
            <a:spLocks noGrp="1" noChangeArrowheads="1"/>
          </p:cNvSpPr>
          <p:nvPr>
            <p:ph type="ftr" idx="11"/>
          </p:nvPr>
        </p:nvSpPr>
        <p:spPr>
          <a:ln/>
        </p:spPr>
        <p:txBody>
          <a:bodyPr/>
          <a:lstStyle>
            <a:lvl1pPr>
              <a:defRPr/>
            </a:lvl1pPr>
          </a:lstStyle>
          <a:p>
            <a:pPr>
              <a:defRPr/>
            </a:pPr>
            <a:endParaRPr lang="en-GB"/>
          </a:p>
        </p:txBody>
      </p:sp>
      <p:sp>
        <p:nvSpPr>
          <p:cNvPr id="7" name="Rectangle 4"/>
          <p:cNvSpPr>
            <a:spLocks noGrp="1" noChangeArrowheads="1"/>
          </p:cNvSpPr>
          <p:nvPr>
            <p:ph type="sldNum" idx="12"/>
          </p:nvPr>
        </p:nvSpPr>
        <p:spPr>
          <a:ln/>
        </p:spPr>
        <p:txBody>
          <a:bodyPr/>
          <a:lstStyle>
            <a:lvl1pPr>
              <a:defRPr/>
            </a:lvl1pPr>
          </a:lstStyle>
          <a:p>
            <a:pPr>
              <a:defRPr/>
            </a:pPr>
            <a:fld id="{8A4146BC-EA6B-49AD-84A6-0BE046A8BFF7}" type="slidenum">
              <a:rPr lang="en-GB"/>
              <a:pPr>
                <a:defRPr/>
              </a:pPr>
              <a:t>‹#›</a:t>
            </a:fld>
            <a:endParaRPr lang="en-GB"/>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17487F71-E142-4EA8-AB10-5F9F1DB29366}" type="slidenum">
              <a:rPr lang="en-GB"/>
              <a:pPr>
                <a:defRPr/>
              </a:pPr>
              <a:t>‹#›</a:t>
            </a:fld>
            <a:endParaRPr lang="en-GB"/>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53200" y="152400"/>
            <a:ext cx="2132013" cy="5976938"/>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52400" y="152400"/>
            <a:ext cx="6248400" cy="59769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2"/>
          <p:cNvSpPr>
            <a:spLocks noGrp="1" noChangeArrowheads="1"/>
          </p:cNvSpPr>
          <p:nvPr>
            <p:ph type="dt" idx="10"/>
          </p:nvPr>
        </p:nvSpPr>
        <p:spPr>
          <a:ln/>
        </p:spPr>
        <p:txBody>
          <a:bodyPr/>
          <a:lstStyle>
            <a:lvl1pPr>
              <a:defRPr/>
            </a:lvl1pPr>
          </a:lstStyle>
          <a:p>
            <a:pPr>
              <a:defRPr/>
            </a:pPr>
            <a:endParaRPr lang="en-GB"/>
          </a:p>
        </p:txBody>
      </p:sp>
      <p:sp>
        <p:nvSpPr>
          <p:cNvPr id="5" name="Rectangle 3"/>
          <p:cNvSpPr>
            <a:spLocks noGrp="1" noChangeArrowheads="1"/>
          </p:cNvSpPr>
          <p:nvPr>
            <p:ph type="ftr" idx="11"/>
          </p:nvPr>
        </p:nvSpPr>
        <p:spPr>
          <a:ln/>
        </p:spPr>
        <p:txBody>
          <a:bodyPr/>
          <a:lstStyle>
            <a:lvl1pPr>
              <a:defRPr/>
            </a:lvl1pPr>
          </a:lstStyle>
          <a:p>
            <a:pPr>
              <a:defRPr/>
            </a:pPr>
            <a:endParaRPr lang="en-GB"/>
          </a:p>
        </p:txBody>
      </p:sp>
      <p:sp>
        <p:nvSpPr>
          <p:cNvPr id="6" name="Rectangle 4"/>
          <p:cNvSpPr>
            <a:spLocks noGrp="1" noChangeArrowheads="1"/>
          </p:cNvSpPr>
          <p:nvPr>
            <p:ph type="sldNum" idx="12"/>
          </p:nvPr>
        </p:nvSpPr>
        <p:spPr>
          <a:ln/>
        </p:spPr>
        <p:txBody>
          <a:bodyPr/>
          <a:lstStyle>
            <a:lvl1pPr>
              <a:defRPr/>
            </a:lvl1pPr>
          </a:lstStyle>
          <a:p>
            <a:pPr>
              <a:defRPr/>
            </a:pPr>
            <a:fld id="{CBAB439F-FF75-4FBA-BCF1-99083D60A328}"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381000" y="-46038"/>
            <a:ext cx="7008813" cy="1311276"/>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Cliquez pour éditer le format du texte-titre</a:t>
            </a:r>
          </a:p>
        </p:txBody>
      </p:sp>
      <p:sp>
        <p:nvSpPr>
          <p:cNvPr id="1027" name="Rectangle 2"/>
          <p:cNvSpPr>
            <a:spLocks noGrp="1" noChangeArrowheads="1"/>
          </p:cNvSpPr>
          <p:nvPr>
            <p:ph type="body" idx="1"/>
          </p:nvPr>
        </p:nvSpPr>
        <p:spPr bwMode="auto">
          <a:xfrm>
            <a:off x="457200" y="1600200"/>
            <a:ext cx="8228013" cy="4524375"/>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a:t>Cliquez pour éditer le format du plan de texte</a:t>
            </a:r>
          </a:p>
          <a:p>
            <a:pPr lvl="1"/>
            <a:r>
              <a:rPr lang="en-GB"/>
              <a:t>Second niveau de plan</a:t>
            </a:r>
          </a:p>
          <a:p>
            <a:pPr lvl="2"/>
            <a:r>
              <a:rPr lang="en-GB"/>
              <a:t>Troisième niveau de plan</a:t>
            </a:r>
          </a:p>
          <a:p>
            <a:pPr lvl="3"/>
            <a:r>
              <a:rPr lang="en-GB"/>
              <a:t>Quatrième niveau de plan</a:t>
            </a:r>
          </a:p>
          <a:p>
            <a:pPr lvl="4"/>
            <a:r>
              <a:rPr lang="en-GB"/>
              <a:t>Cinquième niveau de plan</a:t>
            </a:r>
          </a:p>
          <a:p>
            <a:pPr lvl="4"/>
            <a:r>
              <a:rPr lang="en-GB"/>
              <a:t>Sixième niveau de plan</a:t>
            </a:r>
          </a:p>
          <a:p>
            <a:pPr lvl="4"/>
            <a:r>
              <a:rPr lang="en-GB"/>
              <a:t>Septième niveau de plan</a:t>
            </a:r>
          </a:p>
          <a:p>
            <a:pPr lvl="4"/>
            <a:r>
              <a:rPr lang="en-GB"/>
              <a:t>Huitième niveau de plan</a:t>
            </a:r>
          </a:p>
          <a:p>
            <a:pPr lvl="4"/>
            <a:r>
              <a:rPr lang="en-GB"/>
              <a:t>Neuvième niveau de plan</a:t>
            </a:r>
          </a:p>
        </p:txBody>
      </p:sp>
      <p:sp>
        <p:nvSpPr>
          <p:cNvPr id="2" name="Rectangle 3"/>
          <p:cNvSpPr>
            <a:spLocks noGrp="1" noChangeArrowheads="1"/>
          </p:cNvSpPr>
          <p:nvPr>
            <p:ph type="dt"/>
          </p:nvPr>
        </p:nvSpPr>
        <p:spPr bwMode="auto">
          <a:xfrm>
            <a:off x="457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fld id="{6C4845BD-56A4-4EA8-8E23-249EA825709C}" type="datetime1">
              <a:rPr lang="fr-FR" smtClean="0"/>
              <a:pPr/>
              <a:t>09/01/2026</a:t>
            </a:fld>
            <a:endParaRPr lang="fr-FR"/>
          </a:p>
        </p:txBody>
      </p:sp>
      <p:sp>
        <p:nvSpPr>
          <p:cNvPr id="1028" name="Rectangle 4"/>
          <p:cNvSpPr>
            <a:spLocks noGrp="1" noChangeArrowheads="1"/>
          </p:cNvSpPr>
          <p:nvPr>
            <p:ph type="ftr"/>
          </p:nvPr>
        </p:nvSpPr>
        <p:spPr bwMode="auto">
          <a:xfrm>
            <a:off x="3124200" y="6245225"/>
            <a:ext cx="2894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r>
              <a:rPr lang="fr-FR"/>
              <a:t>TCP/IP et failles de sécurité</a:t>
            </a:r>
          </a:p>
        </p:txBody>
      </p:sp>
      <p:sp>
        <p:nvSpPr>
          <p:cNvPr id="1029" name="Rectangle 5"/>
          <p:cNvSpPr>
            <a:spLocks noGrp="1" noChangeArrowheads="1"/>
          </p:cNvSpPr>
          <p:nvPr>
            <p:ph type="sldNum"/>
          </p:nvPr>
        </p:nvSpPr>
        <p:spPr bwMode="auto">
          <a:xfrm>
            <a:off x="6553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fld id="{66EFF29A-B2FD-4D7F-BD7D-29982909C77B}"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mj-lt"/>
          <a:ea typeface="+mj-ea"/>
          <a:cs typeface="+mj-cs"/>
        </a:defRPr>
      </a:lvl1pPr>
      <a:lvl2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2pPr>
      <a:lvl3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3pPr>
      <a:lvl4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4pPr>
      <a:lvl5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5pPr>
      <a:lvl6pPr marL="4572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6pPr>
      <a:lvl7pPr marL="9144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7pPr>
      <a:lvl8pPr marL="13716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8pPr>
      <a:lvl9pPr marL="18288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9pPr>
    </p:titleStyle>
    <p:bodyStyle>
      <a:lvl1pPr marL="341313" indent="-341313" algn="l" defTabSz="449263" rtl="0" eaLnBrk="1" fontAlgn="base" hangingPunct="1">
        <a:spcBef>
          <a:spcPts val="800"/>
        </a:spcBef>
        <a:spcAft>
          <a:spcPct val="0"/>
        </a:spcAft>
        <a:buClr>
          <a:srgbClr val="FFFFFF"/>
        </a:buClr>
        <a:buSzPct val="100000"/>
        <a:buFont typeface="Arial" charset="0"/>
        <a:buChar char="•"/>
        <a:defRPr sz="3200">
          <a:solidFill>
            <a:srgbClr val="FFFFFF"/>
          </a:solidFill>
          <a:latin typeface="+mn-lt"/>
          <a:ea typeface="+mn-ea"/>
          <a:cs typeface="+mn-cs"/>
        </a:defRPr>
      </a:lvl1pPr>
      <a:lvl2pPr marL="741363" indent="-284163" algn="l" defTabSz="449263" rtl="0" eaLnBrk="1" fontAlgn="base" hangingPunct="1">
        <a:spcBef>
          <a:spcPts val="700"/>
        </a:spcBef>
        <a:spcAft>
          <a:spcPct val="0"/>
        </a:spcAft>
        <a:buClr>
          <a:srgbClr val="FFFFFF"/>
        </a:buClr>
        <a:buSzPct val="100000"/>
        <a:buFont typeface="Arial" charset="0"/>
        <a:buChar char="–"/>
        <a:defRPr sz="2800">
          <a:solidFill>
            <a:srgbClr val="FFFFFF"/>
          </a:solidFill>
          <a:latin typeface="+mn-lt"/>
          <a:ea typeface="+mn-ea"/>
        </a:defRPr>
      </a:lvl2pPr>
      <a:lvl3pPr marL="1143000" indent="-228600" algn="l" defTabSz="449263" rtl="0" eaLnBrk="1" fontAlgn="base" hangingPunct="1">
        <a:spcBef>
          <a:spcPts val="600"/>
        </a:spcBef>
        <a:spcAft>
          <a:spcPct val="0"/>
        </a:spcAft>
        <a:buClr>
          <a:srgbClr val="FFFFFF"/>
        </a:buClr>
        <a:buSzPct val="100000"/>
        <a:buFont typeface="Arial" charset="0"/>
        <a:buChar char="•"/>
        <a:defRPr sz="2400">
          <a:solidFill>
            <a:srgbClr val="FFFFFF"/>
          </a:solidFill>
          <a:latin typeface="+mn-lt"/>
          <a:ea typeface="+mn-ea"/>
        </a:defRPr>
      </a:lvl3pPr>
      <a:lvl4pPr marL="1600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4pPr>
      <a:lvl5pPr marL="20574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5pPr>
      <a:lvl6pPr marL="25146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6pPr>
      <a:lvl7pPr marL="29718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7pPr>
      <a:lvl8pPr marL="34290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8pPr>
      <a:lvl9pPr marL="3886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152400" y="152400"/>
            <a:ext cx="8456613" cy="14462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Cliquez pour éditer le format du texte-titre</a:t>
            </a:r>
          </a:p>
        </p:txBody>
      </p:sp>
      <p:sp>
        <p:nvSpPr>
          <p:cNvPr id="2" name="Rectangle 2"/>
          <p:cNvSpPr>
            <a:spLocks noGrp="1" noChangeArrowheads="1"/>
          </p:cNvSpPr>
          <p:nvPr>
            <p:ph type="dt"/>
          </p:nvPr>
        </p:nvSpPr>
        <p:spPr bwMode="auto">
          <a:xfrm>
            <a:off x="457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eaLnBrk="1">
              <a:buClr>
                <a:srgbClr val="000000"/>
              </a:buClr>
              <a:buSzPct val="45000"/>
              <a:buFont typeface="Wingdings" charset="2"/>
              <a:buNone/>
              <a:tabLst>
                <a:tab pos="723900" algn="l"/>
                <a:tab pos="1447800" algn="l"/>
              </a:tabLst>
              <a:defRPr sz="1400" smtClean="0">
                <a:solidFill>
                  <a:srgbClr val="FFFFFF"/>
                </a:solidFill>
                <a:latin typeface="Times New Roman" pitchFamily="16" charset="0"/>
                <a:cs typeface="Lucida Sans Unicode" charset="0"/>
              </a:defRPr>
            </a:lvl1pPr>
          </a:lstStyle>
          <a:p>
            <a:pPr>
              <a:defRPr/>
            </a:pPr>
            <a:endParaRPr lang="en-GB"/>
          </a:p>
        </p:txBody>
      </p:sp>
      <p:sp>
        <p:nvSpPr>
          <p:cNvPr id="2051" name="Rectangle 3"/>
          <p:cNvSpPr>
            <a:spLocks noGrp="1" noChangeArrowheads="1"/>
          </p:cNvSpPr>
          <p:nvPr>
            <p:ph type="ftr"/>
          </p:nvPr>
        </p:nvSpPr>
        <p:spPr bwMode="auto">
          <a:xfrm>
            <a:off x="3124200" y="6245225"/>
            <a:ext cx="2894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eaLnBrk="1">
              <a:buClr>
                <a:srgbClr val="000000"/>
              </a:buClr>
              <a:buSzPct val="45000"/>
              <a:buFont typeface="Wingdings" charset="2"/>
              <a:buNone/>
              <a:tabLst>
                <a:tab pos="723900" algn="l"/>
                <a:tab pos="1447800" algn="l"/>
                <a:tab pos="2171700" algn="l"/>
                <a:tab pos="2895600" algn="l"/>
              </a:tabLst>
              <a:defRPr sz="1400" smtClean="0">
                <a:solidFill>
                  <a:srgbClr val="FFFFFF"/>
                </a:solidFill>
                <a:latin typeface="Times New Roman" pitchFamily="16" charset="0"/>
                <a:cs typeface="Lucida Sans Unicode" charset="0"/>
              </a:defRPr>
            </a:lvl1pPr>
          </a:lstStyle>
          <a:p>
            <a:pPr>
              <a:defRPr/>
            </a:pPr>
            <a:endParaRPr lang="en-GB"/>
          </a:p>
        </p:txBody>
      </p:sp>
      <p:sp>
        <p:nvSpPr>
          <p:cNvPr id="2052" name="Rectangle 4"/>
          <p:cNvSpPr>
            <a:spLocks noGrp="1" noChangeArrowheads="1"/>
          </p:cNvSpPr>
          <p:nvPr>
            <p:ph type="sldNum"/>
          </p:nvPr>
        </p:nvSpPr>
        <p:spPr bwMode="auto">
          <a:xfrm>
            <a:off x="6553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eaLnBrk="1">
              <a:buClr>
                <a:srgbClr val="000000"/>
              </a:buClr>
              <a:buSzPct val="45000"/>
              <a:buFont typeface="Wingdings" charset="2"/>
              <a:buNone/>
              <a:tabLst>
                <a:tab pos="723900" algn="l"/>
                <a:tab pos="1447800" algn="l"/>
              </a:tabLst>
              <a:defRPr sz="1400" smtClean="0">
                <a:solidFill>
                  <a:srgbClr val="FFFFFF"/>
                </a:solidFill>
                <a:latin typeface="Times New Roman" pitchFamily="16" charset="0"/>
                <a:cs typeface="Lucida Sans Unicode" charset="0"/>
              </a:defRPr>
            </a:lvl1pPr>
          </a:lstStyle>
          <a:p>
            <a:pPr>
              <a:defRPr/>
            </a:pPr>
            <a:fld id="{368BC99A-F104-43A6-A651-6BC2EDF581E0}" type="slidenum">
              <a:rPr lang="en-GB"/>
              <a:pPr>
                <a:defRPr/>
              </a:pPr>
              <a:t>‹#›</a:t>
            </a:fld>
            <a:endParaRPr lang="en-GB"/>
          </a:p>
        </p:txBody>
      </p:sp>
      <p:sp>
        <p:nvSpPr>
          <p:cNvPr id="2054" name="Rectangle 5"/>
          <p:cNvSpPr>
            <a:spLocks noGrp="1" noChangeArrowheads="1"/>
          </p:cNvSpPr>
          <p:nvPr>
            <p:ph type="body" idx="1"/>
          </p:nvPr>
        </p:nvSpPr>
        <p:spPr bwMode="auto">
          <a:xfrm>
            <a:off x="457200" y="1604963"/>
            <a:ext cx="8228013" cy="4524375"/>
          </a:xfrm>
          <a:prstGeom prst="rect">
            <a:avLst/>
          </a:prstGeom>
          <a:noFill/>
          <a:ln w="9525">
            <a:noFill/>
            <a:round/>
            <a:headEnd/>
            <a:tailEnd/>
          </a:ln>
        </p:spPr>
        <p:txBody>
          <a:bodyPr vert="horz" wrap="square" lIns="0" tIns="0" rIns="0" bIns="0" numCol="1" anchor="t" anchorCtr="0" compatLnSpc="1">
            <a:prstTxWarp prst="textNoShape">
              <a:avLst/>
            </a:prstTxWarp>
          </a:bodyPr>
          <a:lstStyle/>
          <a:p>
            <a:pPr lvl="0"/>
            <a:r>
              <a:rPr lang="en-GB"/>
              <a:t>Cliquez pour éditer le format du plan de texte</a:t>
            </a:r>
          </a:p>
          <a:p>
            <a:pPr lvl="1"/>
            <a:r>
              <a:rPr lang="en-GB"/>
              <a:t>Second niveau de plan</a:t>
            </a:r>
          </a:p>
          <a:p>
            <a:pPr lvl="2"/>
            <a:r>
              <a:rPr lang="en-GB"/>
              <a:t>Troisième niveau de plan</a:t>
            </a:r>
          </a:p>
          <a:p>
            <a:pPr lvl="3"/>
            <a:r>
              <a:rPr lang="en-GB"/>
              <a:t>Quatrième niveau de plan</a:t>
            </a:r>
          </a:p>
          <a:p>
            <a:pPr lvl="4"/>
            <a:r>
              <a:rPr lang="en-GB"/>
              <a:t>Cinquième niveau de plan</a:t>
            </a:r>
          </a:p>
          <a:p>
            <a:pPr lvl="4"/>
            <a:r>
              <a:rPr lang="en-GB"/>
              <a:t>Sixième niveau de plan</a:t>
            </a:r>
          </a:p>
          <a:p>
            <a:pPr lvl="4"/>
            <a:r>
              <a:rPr lang="en-GB"/>
              <a:t>Septième niveau de plan</a:t>
            </a:r>
          </a:p>
          <a:p>
            <a:pPr lvl="4"/>
            <a:r>
              <a:rPr lang="en-GB"/>
              <a:t>Huitième niveau de plan</a:t>
            </a:r>
          </a:p>
          <a:p>
            <a:pPr lvl="4"/>
            <a:r>
              <a:rPr lang="en-GB"/>
              <a:t>Neuvième niveau de plan</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mj-lt"/>
          <a:ea typeface="+mj-ea"/>
          <a:cs typeface="+mj-cs"/>
        </a:defRPr>
      </a:lvl1pPr>
      <a:lvl2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2pPr>
      <a:lvl3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3pPr>
      <a:lvl4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4pPr>
      <a:lvl5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5pPr>
      <a:lvl6pPr marL="4572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6pPr>
      <a:lvl7pPr marL="9144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7pPr>
      <a:lvl8pPr marL="13716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8pPr>
      <a:lvl9pPr marL="18288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9pPr>
    </p:titleStyle>
    <p:bodyStyle>
      <a:lvl1pPr marL="341313" indent="-341313" algn="l" defTabSz="449263" rtl="0" eaLnBrk="1" fontAlgn="base" hangingPunct="1">
        <a:spcBef>
          <a:spcPts val="800"/>
        </a:spcBef>
        <a:spcAft>
          <a:spcPct val="0"/>
        </a:spcAft>
        <a:buClr>
          <a:srgbClr val="FFFFFF"/>
        </a:buClr>
        <a:buSzPct val="100000"/>
        <a:buFont typeface="Arial" charset="0"/>
        <a:buChar char="•"/>
        <a:defRPr sz="3200">
          <a:solidFill>
            <a:srgbClr val="FFFFFF"/>
          </a:solidFill>
          <a:latin typeface="+mn-lt"/>
          <a:ea typeface="+mn-ea"/>
          <a:cs typeface="+mn-cs"/>
        </a:defRPr>
      </a:lvl1pPr>
      <a:lvl2pPr marL="741363" indent="-284163" algn="l" defTabSz="449263" rtl="0" eaLnBrk="1" fontAlgn="base" hangingPunct="1">
        <a:spcBef>
          <a:spcPts val="700"/>
        </a:spcBef>
        <a:spcAft>
          <a:spcPct val="0"/>
        </a:spcAft>
        <a:buClr>
          <a:srgbClr val="FFFFFF"/>
        </a:buClr>
        <a:buSzPct val="100000"/>
        <a:buFont typeface="Arial" charset="0"/>
        <a:buChar char="–"/>
        <a:defRPr sz="2800">
          <a:solidFill>
            <a:srgbClr val="FFFFFF"/>
          </a:solidFill>
          <a:latin typeface="+mn-lt"/>
          <a:ea typeface="+mn-ea"/>
        </a:defRPr>
      </a:lvl2pPr>
      <a:lvl3pPr marL="1143000" indent="-228600" algn="l" defTabSz="449263" rtl="0" eaLnBrk="1" fontAlgn="base" hangingPunct="1">
        <a:spcBef>
          <a:spcPts val="600"/>
        </a:spcBef>
        <a:spcAft>
          <a:spcPct val="0"/>
        </a:spcAft>
        <a:buClr>
          <a:srgbClr val="FFFFFF"/>
        </a:buClr>
        <a:buSzPct val="100000"/>
        <a:buFont typeface="Arial" charset="0"/>
        <a:buChar char="•"/>
        <a:defRPr sz="2400">
          <a:solidFill>
            <a:srgbClr val="FFFFFF"/>
          </a:solidFill>
          <a:latin typeface="+mn-lt"/>
          <a:ea typeface="+mn-ea"/>
        </a:defRPr>
      </a:lvl3pPr>
      <a:lvl4pPr marL="1600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4pPr>
      <a:lvl5pPr marL="20574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5pPr>
      <a:lvl6pPr marL="25146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6pPr>
      <a:lvl7pPr marL="29718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7pPr>
      <a:lvl8pPr marL="34290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8pPr>
      <a:lvl9pPr marL="3886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381000" y="-46038"/>
            <a:ext cx="7008813" cy="1311276"/>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Cliquez pour éditer le format du texte-titre</a:t>
            </a:r>
          </a:p>
        </p:txBody>
      </p:sp>
      <p:sp>
        <p:nvSpPr>
          <p:cNvPr id="1027" name="Rectangle 2"/>
          <p:cNvSpPr>
            <a:spLocks noGrp="1" noChangeArrowheads="1"/>
          </p:cNvSpPr>
          <p:nvPr>
            <p:ph type="body" idx="1"/>
          </p:nvPr>
        </p:nvSpPr>
        <p:spPr bwMode="auto">
          <a:xfrm>
            <a:off x="457200" y="1600200"/>
            <a:ext cx="8228013" cy="4524375"/>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a:t>Cliquez pour éditer le format du plan de texte</a:t>
            </a:r>
          </a:p>
          <a:p>
            <a:pPr lvl="1"/>
            <a:r>
              <a:rPr lang="en-GB"/>
              <a:t>Second niveau de plan</a:t>
            </a:r>
          </a:p>
          <a:p>
            <a:pPr lvl="2"/>
            <a:r>
              <a:rPr lang="en-GB"/>
              <a:t>Troisième niveau de plan</a:t>
            </a:r>
          </a:p>
          <a:p>
            <a:pPr lvl="3"/>
            <a:r>
              <a:rPr lang="en-GB"/>
              <a:t>Quatrième niveau de plan</a:t>
            </a:r>
          </a:p>
          <a:p>
            <a:pPr lvl="4"/>
            <a:r>
              <a:rPr lang="en-GB"/>
              <a:t>Cinquième niveau de plan</a:t>
            </a:r>
          </a:p>
          <a:p>
            <a:pPr lvl="4"/>
            <a:r>
              <a:rPr lang="en-GB"/>
              <a:t>Sixième niveau de plan</a:t>
            </a:r>
          </a:p>
          <a:p>
            <a:pPr lvl="4"/>
            <a:r>
              <a:rPr lang="en-GB"/>
              <a:t>Septième niveau de plan</a:t>
            </a:r>
          </a:p>
          <a:p>
            <a:pPr lvl="4"/>
            <a:r>
              <a:rPr lang="en-GB"/>
              <a:t>Huitième niveau de plan</a:t>
            </a:r>
          </a:p>
          <a:p>
            <a:pPr lvl="4"/>
            <a:r>
              <a:rPr lang="en-GB"/>
              <a:t>Neuvième niveau de plan</a:t>
            </a:r>
          </a:p>
        </p:txBody>
      </p:sp>
      <p:sp>
        <p:nvSpPr>
          <p:cNvPr id="2" name="Rectangle 3"/>
          <p:cNvSpPr>
            <a:spLocks noGrp="1" noChangeArrowheads="1"/>
          </p:cNvSpPr>
          <p:nvPr>
            <p:ph type="dt"/>
          </p:nvPr>
        </p:nvSpPr>
        <p:spPr bwMode="auto">
          <a:xfrm>
            <a:off x="457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fld id="{6C4845BD-56A4-4EA8-8E23-249EA825709C}" type="datetime1">
              <a:rPr lang="fr-FR" smtClean="0"/>
              <a:pPr/>
              <a:t>09/01/2026</a:t>
            </a:fld>
            <a:endParaRPr lang="fr-FR"/>
          </a:p>
        </p:txBody>
      </p:sp>
      <p:sp>
        <p:nvSpPr>
          <p:cNvPr id="1028" name="Rectangle 4"/>
          <p:cNvSpPr>
            <a:spLocks noGrp="1" noChangeArrowheads="1"/>
          </p:cNvSpPr>
          <p:nvPr>
            <p:ph type="ftr"/>
          </p:nvPr>
        </p:nvSpPr>
        <p:spPr bwMode="auto">
          <a:xfrm>
            <a:off x="3124200" y="6245225"/>
            <a:ext cx="2894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r>
              <a:rPr lang="fr-FR"/>
              <a:t>TCP/IP et failles de sécurité</a:t>
            </a:r>
          </a:p>
        </p:txBody>
      </p:sp>
      <p:sp>
        <p:nvSpPr>
          <p:cNvPr id="1029" name="Rectangle 5"/>
          <p:cNvSpPr>
            <a:spLocks noGrp="1" noChangeArrowheads="1"/>
          </p:cNvSpPr>
          <p:nvPr>
            <p:ph type="sldNum"/>
          </p:nvPr>
        </p:nvSpPr>
        <p:spPr bwMode="auto">
          <a:xfrm>
            <a:off x="6553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buClr>
                <a:srgbClr val="000000"/>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smtClean="0">
                <a:solidFill>
                  <a:srgbClr val="FFFFFF"/>
                </a:solidFill>
                <a:cs typeface="Lucida Sans Unicode" charset="0"/>
              </a:defRPr>
            </a:lvl1pPr>
          </a:lstStyle>
          <a:p>
            <a:fld id="{66EFF29A-B2FD-4D7F-BD7D-29982909C77B}"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mj-lt"/>
          <a:ea typeface="+mj-ea"/>
          <a:cs typeface="+mj-cs"/>
        </a:defRPr>
      </a:lvl1pPr>
      <a:lvl2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2pPr>
      <a:lvl3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3pPr>
      <a:lvl4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4pPr>
      <a:lvl5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5pPr>
      <a:lvl6pPr marL="4572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6pPr>
      <a:lvl7pPr marL="9144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7pPr>
      <a:lvl8pPr marL="13716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8pPr>
      <a:lvl9pPr marL="18288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9pPr>
    </p:titleStyle>
    <p:bodyStyle>
      <a:lvl1pPr marL="341313" indent="-341313" algn="l" defTabSz="449263" rtl="0" eaLnBrk="1" fontAlgn="base" hangingPunct="1">
        <a:spcBef>
          <a:spcPts val="800"/>
        </a:spcBef>
        <a:spcAft>
          <a:spcPct val="0"/>
        </a:spcAft>
        <a:buClr>
          <a:srgbClr val="FFFFFF"/>
        </a:buClr>
        <a:buSzPct val="100000"/>
        <a:buFont typeface="Arial" charset="0"/>
        <a:buChar char="•"/>
        <a:defRPr sz="3200">
          <a:solidFill>
            <a:srgbClr val="FFFFFF"/>
          </a:solidFill>
          <a:latin typeface="+mn-lt"/>
          <a:ea typeface="+mn-ea"/>
          <a:cs typeface="+mn-cs"/>
        </a:defRPr>
      </a:lvl1pPr>
      <a:lvl2pPr marL="741363" indent="-284163" algn="l" defTabSz="449263" rtl="0" eaLnBrk="1" fontAlgn="base" hangingPunct="1">
        <a:spcBef>
          <a:spcPts val="700"/>
        </a:spcBef>
        <a:spcAft>
          <a:spcPct val="0"/>
        </a:spcAft>
        <a:buClr>
          <a:srgbClr val="FFFFFF"/>
        </a:buClr>
        <a:buSzPct val="100000"/>
        <a:buFont typeface="Arial" charset="0"/>
        <a:buChar char="–"/>
        <a:defRPr sz="2800">
          <a:solidFill>
            <a:srgbClr val="FFFFFF"/>
          </a:solidFill>
          <a:latin typeface="+mn-lt"/>
          <a:ea typeface="+mn-ea"/>
        </a:defRPr>
      </a:lvl2pPr>
      <a:lvl3pPr marL="1143000" indent="-228600" algn="l" defTabSz="449263" rtl="0" eaLnBrk="1" fontAlgn="base" hangingPunct="1">
        <a:spcBef>
          <a:spcPts val="600"/>
        </a:spcBef>
        <a:spcAft>
          <a:spcPct val="0"/>
        </a:spcAft>
        <a:buClr>
          <a:srgbClr val="FFFFFF"/>
        </a:buClr>
        <a:buSzPct val="100000"/>
        <a:buFont typeface="Arial" charset="0"/>
        <a:buChar char="•"/>
        <a:defRPr sz="2400">
          <a:solidFill>
            <a:srgbClr val="FFFFFF"/>
          </a:solidFill>
          <a:latin typeface="+mn-lt"/>
          <a:ea typeface="+mn-ea"/>
        </a:defRPr>
      </a:lvl3pPr>
      <a:lvl4pPr marL="1600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4pPr>
      <a:lvl5pPr marL="20574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5pPr>
      <a:lvl6pPr marL="25146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6pPr>
      <a:lvl7pPr marL="29718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7pPr>
      <a:lvl8pPr marL="34290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8pPr>
      <a:lvl9pPr marL="3886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152400" y="152400"/>
            <a:ext cx="8456613" cy="14462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Cliquez pour éditer le format du texte-titre</a:t>
            </a:r>
          </a:p>
        </p:txBody>
      </p:sp>
      <p:sp>
        <p:nvSpPr>
          <p:cNvPr id="2" name="Rectangle 2"/>
          <p:cNvSpPr>
            <a:spLocks noGrp="1" noChangeArrowheads="1"/>
          </p:cNvSpPr>
          <p:nvPr>
            <p:ph type="dt"/>
          </p:nvPr>
        </p:nvSpPr>
        <p:spPr bwMode="auto">
          <a:xfrm>
            <a:off x="457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eaLnBrk="1">
              <a:buClr>
                <a:srgbClr val="000000"/>
              </a:buClr>
              <a:buSzPct val="45000"/>
              <a:buFont typeface="Wingdings" charset="2"/>
              <a:buNone/>
              <a:tabLst>
                <a:tab pos="723900" algn="l"/>
                <a:tab pos="1447800" algn="l"/>
              </a:tabLst>
              <a:defRPr sz="1400" smtClean="0">
                <a:solidFill>
                  <a:srgbClr val="FFFFFF"/>
                </a:solidFill>
                <a:latin typeface="Times New Roman" pitchFamily="16" charset="0"/>
                <a:cs typeface="Lucida Sans Unicode" charset="0"/>
              </a:defRPr>
            </a:lvl1pPr>
          </a:lstStyle>
          <a:p>
            <a:pPr>
              <a:defRPr/>
            </a:pPr>
            <a:endParaRPr lang="en-GB"/>
          </a:p>
        </p:txBody>
      </p:sp>
      <p:sp>
        <p:nvSpPr>
          <p:cNvPr id="2051" name="Rectangle 3"/>
          <p:cNvSpPr>
            <a:spLocks noGrp="1" noChangeArrowheads="1"/>
          </p:cNvSpPr>
          <p:nvPr>
            <p:ph type="ftr"/>
          </p:nvPr>
        </p:nvSpPr>
        <p:spPr bwMode="auto">
          <a:xfrm>
            <a:off x="3124200" y="6245225"/>
            <a:ext cx="2894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eaLnBrk="1">
              <a:buClr>
                <a:srgbClr val="000000"/>
              </a:buClr>
              <a:buSzPct val="45000"/>
              <a:buFont typeface="Wingdings" charset="2"/>
              <a:buNone/>
              <a:tabLst>
                <a:tab pos="723900" algn="l"/>
                <a:tab pos="1447800" algn="l"/>
                <a:tab pos="2171700" algn="l"/>
                <a:tab pos="2895600" algn="l"/>
              </a:tabLst>
              <a:defRPr sz="1400" smtClean="0">
                <a:solidFill>
                  <a:srgbClr val="FFFFFF"/>
                </a:solidFill>
                <a:latin typeface="Times New Roman" pitchFamily="16" charset="0"/>
                <a:cs typeface="Lucida Sans Unicode" charset="0"/>
              </a:defRPr>
            </a:lvl1pPr>
          </a:lstStyle>
          <a:p>
            <a:pPr>
              <a:defRPr/>
            </a:pPr>
            <a:endParaRPr lang="en-GB"/>
          </a:p>
        </p:txBody>
      </p:sp>
      <p:sp>
        <p:nvSpPr>
          <p:cNvPr id="2052" name="Rectangle 4"/>
          <p:cNvSpPr>
            <a:spLocks noGrp="1" noChangeArrowheads="1"/>
          </p:cNvSpPr>
          <p:nvPr>
            <p:ph type="sldNum"/>
          </p:nvPr>
        </p:nvSpPr>
        <p:spPr bwMode="auto">
          <a:xfrm>
            <a:off x="6553200" y="6245225"/>
            <a:ext cx="2132013" cy="47466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eaLnBrk="1">
              <a:buClr>
                <a:srgbClr val="000000"/>
              </a:buClr>
              <a:buSzPct val="45000"/>
              <a:buFont typeface="Wingdings" charset="2"/>
              <a:buNone/>
              <a:tabLst>
                <a:tab pos="723900" algn="l"/>
                <a:tab pos="1447800" algn="l"/>
              </a:tabLst>
              <a:defRPr sz="1400" smtClean="0">
                <a:solidFill>
                  <a:srgbClr val="FFFFFF"/>
                </a:solidFill>
                <a:latin typeface="Times New Roman" pitchFamily="16" charset="0"/>
                <a:cs typeface="Lucida Sans Unicode" charset="0"/>
              </a:defRPr>
            </a:lvl1pPr>
          </a:lstStyle>
          <a:p>
            <a:pPr>
              <a:defRPr/>
            </a:pPr>
            <a:fld id="{368BC99A-F104-43A6-A651-6BC2EDF581E0}" type="slidenum">
              <a:rPr lang="en-GB"/>
              <a:pPr>
                <a:defRPr/>
              </a:pPr>
              <a:t>‹#›</a:t>
            </a:fld>
            <a:endParaRPr lang="en-GB"/>
          </a:p>
        </p:txBody>
      </p:sp>
      <p:sp>
        <p:nvSpPr>
          <p:cNvPr id="2054" name="Rectangle 5"/>
          <p:cNvSpPr>
            <a:spLocks noGrp="1" noChangeArrowheads="1"/>
          </p:cNvSpPr>
          <p:nvPr>
            <p:ph type="body" idx="1"/>
          </p:nvPr>
        </p:nvSpPr>
        <p:spPr bwMode="auto">
          <a:xfrm>
            <a:off x="457200" y="1604963"/>
            <a:ext cx="8228013" cy="4524375"/>
          </a:xfrm>
          <a:prstGeom prst="rect">
            <a:avLst/>
          </a:prstGeom>
          <a:noFill/>
          <a:ln w="9525">
            <a:noFill/>
            <a:round/>
            <a:headEnd/>
            <a:tailEnd/>
          </a:ln>
        </p:spPr>
        <p:txBody>
          <a:bodyPr vert="horz" wrap="square" lIns="0" tIns="0" rIns="0" bIns="0" numCol="1" anchor="t" anchorCtr="0" compatLnSpc="1">
            <a:prstTxWarp prst="textNoShape">
              <a:avLst/>
            </a:prstTxWarp>
          </a:bodyPr>
          <a:lstStyle/>
          <a:p>
            <a:pPr lvl="0"/>
            <a:r>
              <a:rPr lang="en-GB"/>
              <a:t>Cliquez pour éditer le format du plan de texte</a:t>
            </a:r>
          </a:p>
          <a:p>
            <a:pPr lvl="1"/>
            <a:r>
              <a:rPr lang="en-GB"/>
              <a:t>Second niveau de plan</a:t>
            </a:r>
          </a:p>
          <a:p>
            <a:pPr lvl="2"/>
            <a:r>
              <a:rPr lang="en-GB"/>
              <a:t>Troisième niveau de plan</a:t>
            </a:r>
          </a:p>
          <a:p>
            <a:pPr lvl="3"/>
            <a:r>
              <a:rPr lang="en-GB"/>
              <a:t>Quatrième niveau de plan</a:t>
            </a:r>
          </a:p>
          <a:p>
            <a:pPr lvl="4"/>
            <a:r>
              <a:rPr lang="en-GB"/>
              <a:t>Cinquième niveau de plan</a:t>
            </a:r>
          </a:p>
          <a:p>
            <a:pPr lvl="4"/>
            <a:r>
              <a:rPr lang="en-GB"/>
              <a:t>Sixième niveau de plan</a:t>
            </a:r>
          </a:p>
          <a:p>
            <a:pPr lvl="4"/>
            <a:r>
              <a:rPr lang="en-GB"/>
              <a:t>Septième niveau de plan</a:t>
            </a:r>
          </a:p>
          <a:p>
            <a:pPr lvl="4"/>
            <a:r>
              <a:rPr lang="en-GB"/>
              <a:t>Huitième niveau de plan</a:t>
            </a:r>
          </a:p>
          <a:p>
            <a:pPr lvl="4"/>
            <a:r>
              <a:rPr lang="en-GB"/>
              <a:t>Neuvième niveau de plan</a:t>
            </a: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mj-lt"/>
          <a:ea typeface="+mj-ea"/>
          <a:cs typeface="+mj-cs"/>
        </a:defRPr>
      </a:lvl1pPr>
      <a:lvl2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2pPr>
      <a:lvl3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3pPr>
      <a:lvl4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4pPr>
      <a:lvl5pPr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5pPr>
      <a:lvl6pPr marL="4572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6pPr>
      <a:lvl7pPr marL="9144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7pPr>
      <a:lvl8pPr marL="13716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8pPr>
      <a:lvl9pPr marL="1828800" algn="l" defTabSz="449263" rtl="0" eaLnBrk="1" fontAlgn="base" hangingPunct="1">
        <a:spcBef>
          <a:spcPct val="0"/>
        </a:spcBef>
        <a:spcAft>
          <a:spcPct val="0"/>
        </a:spcAft>
        <a:buClr>
          <a:srgbClr val="CCFFFF"/>
        </a:buClr>
        <a:buSzPct val="100000"/>
        <a:buFont typeface="Arial Black" pitchFamily="32" charset="0"/>
        <a:defRPr sz="4000">
          <a:solidFill>
            <a:srgbClr val="CCFFFF"/>
          </a:solidFill>
          <a:latin typeface="Arial Black" pitchFamily="32" charset="0"/>
          <a:ea typeface="MS Gothic" charset="-128"/>
        </a:defRPr>
      </a:lvl9pPr>
    </p:titleStyle>
    <p:bodyStyle>
      <a:lvl1pPr marL="341313" indent="-341313" algn="l" defTabSz="449263" rtl="0" eaLnBrk="1" fontAlgn="base" hangingPunct="1">
        <a:spcBef>
          <a:spcPts val="800"/>
        </a:spcBef>
        <a:spcAft>
          <a:spcPct val="0"/>
        </a:spcAft>
        <a:buClr>
          <a:srgbClr val="FFFFFF"/>
        </a:buClr>
        <a:buSzPct val="100000"/>
        <a:buFont typeface="Arial" charset="0"/>
        <a:buChar char="•"/>
        <a:defRPr sz="3200">
          <a:solidFill>
            <a:srgbClr val="FFFFFF"/>
          </a:solidFill>
          <a:latin typeface="+mn-lt"/>
          <a:ea typeface="+mn-ea"/>
          <a:cs typeface="+mn-cs"/>
        </a:defRPr>
      </a:lvl1pPr>
      <a:lvl2pPr marL="741363" indent="-284163" algn="l" defTabSz="449263" rtl="0" eaLnBrk="1" fontAlgn="base" hangingPunct="1">
        <a:spcBef>
          <a:spcPts val="700"/>
        </a:spcBef>
        <a:spcAft>
          <a:spcPct val="0"/>
        </a:spcAft>
        <a:buClr>
          <a:srgbClr val="FFFFFF"/>
        </a:buClr>
        <a:buSzPct val="100000"/>
        <a:buFont typeface="Arial" charset="0"/>
        <a:buChar char="–"/>
        <a:defRPr sz="2800">
          <a:solidFill>
            <a:srgbClr val="FFFFFF"/>
          </a:solidFill>
          <a:latin typeface="+mn-lt"/>
          <a:ea typeface="+mn-ea"/>
        </a:defRPr>
      </a:lvl2pPr>
      <a:lvl3pPr marL="1143000" indent="-228600" algn="l" defTabSz="449263" rtl="0" eaLnBrk="1" fontAlgn="base" hangingPunct="1">
        <a:spcBef>
          <a:spcPts val="600"/>
        </a:spcBef>
        <a:spcAft>
          <a:spcPct val="0"/>
        </a:spcAft>
        <a:buClr>
          <a:srgbClr val="FFFFFF"/>
        </a:buClr>
        <a:buSzPct val="100000"/>
        <a:buFont typeface="Arial" charset="0"/>
        <a:buChar char="•"/>
        <a:defRPr sz="2400">
          <a:solidFill>
            <a:srgbClr val="FFFFFF"/>
          </a:solidFill>
          <a:latin typeface="+mn-lt"/>
          <a:ea typeface="+mn-ea"/>
        </a:defRPr>
      </a:lvl3pPr>
      <a:lvl4pPr marL="1600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4pPr>
      <a:lvl5pPr marL="20574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5pPr>
      <a:lvl6pPr marL="25146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6pPr>
      <a:lvl7pPr marL="29718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7pPr>
      <a:lvl8pPr marL="34290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8pPr>
      <a:lvl9pPr marL="3886200" indent="-228600" algn="l" defTabSz="449263" rtl="0" eaLnBrk="1" fontAlgn="base" hangingPunct="1">
        <a:spcBef>
          <a:spcPts val="500"/>
        </a:spcBef>
        <a:spcAft>
          <a:spcPct val="0"/>
        </a:spcAft>
        <a:buClr>
          <a:srgbClr val="FFFFFF"/>
        </a:buClr>
        <a:buSzPct val="100000"/>
        <a:buFont typeface="Arial" charset="0"/>
        <a:buChar char="»"/>
        <a:defRPr sz="2000">
          <a:solidFill>
            <a:srgbClr val="FFFFFF"/>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142844" y="410902"/>
            <a:ext cx="4643470" cy="1077218"/>
          </a:xfrm>
          <a:prstGeom prst="rect">
            <a:avLst/>
          </a:prstGeom>
          <a:noFill/>
        </p:spPr>
        <p:txBody>
          <a:bodyPr wrap="square" rtlCol="0">
            <a:spAutoFit/>
          </a:bodyPr>
          <a:lstStyle/>
          <a:p>
            <a:pPr algn="ctr"/>
            <a:r>
              <a:rPr lang="fr-FR" sz="3200" i="1" dirty="0">
                <a:ln>
                  <a:solidFill>
                    <a:srgbClr val="92D050"/>
                  </a:solidFill>
                </a:ln>
                <a:solidFill>
                  <a:schemeClr val="tx2">
                    <a:lumMod val="95000"/>
                    <a:lumOff val="5000"/>
                  </a:schemeClr>
                </a:solidFill>
                <a:effectLst>
                  <a:glow rad="63500">
                    <a:schemeClr val="accent1">
                      <a:satMod val="175000"/>
                      <a:alpha val="40000"/>
                    </a:schemeClr>
                  </a:glow>
                  <a:outerShdw blurRad="38100" dist="38100" dir="2700000" algn="tl">
                    <a:srgbClr val="000000">
                      <a:alpha val="43137"/>
                    </a:srgbClr>
                  </a:outerShdw>
                </a:effectLst>
                <a:latin typeface="Algerian" pitchFamily="82" charset="0"/>
              </a:rPr>
              <a:t>Computer </a:t>
            </a:r>
            <a:r>
              <a:rPr lang="fr-FR" sz="3200" i="1" dirty="0" err="1">
                <a:ln>
                  <a:solidFill>
                    <a:srgbClr val="92D050"/>
                  </a:solidFill>
                </a:ln>
                <a:solidFill>
                  <a:schemeClr val="tx2">
                    <a:lumMod val="95000"/>
                    <a:lumOff val="5000"/>
                  </a:schemeClr>
                </a:solidFill>
                <a:effectLst>
                  <a:glow rad="63500">
                    <a:schemeClr val="accent1">
                      <a:satMod val="175000"/>
                      <a:alpha val="40000"/>
                    </a:schemeClr>
                  </a:glow>
                  <a:outerShdw blurRad="38100" dist="38100" dir="2700000" algn="tl">
                    <a:srgbClr val="000000">
                      <a:alpha val="43137"/>
                    </a:srgbClr>
                  </a:outerShdw>
                </a:effectLst>
                <a:latin typeface="Algerian" pitchFamily="82" charset="0"/>
              </a:rPr>
              <a:t>Systems</a:t>
            </a:r>
            <a:r>
              <a:rPr lang="fr-FR" sz="3200" i="1" dirty="0">
                <a:ln>
                  <a:solidFill>
                    <a:srgbClr val="92D050"/>
                  </a:solidFill>
                </a:ln>
                <a:solidFill>
                  <a:schemeClr val="tx2">
                    <a:lumMod val="95000"/>
                    <a:lumOff val="5000"/>
                  </a:schemeClr>
                </a:solidFill>
                <a:effectLst>
                  <a:glow rad="63500">
                    <a:schemeClr val="accent1">
                      <a:satMod val="175000"/>
                      <a:alpha val="40000"/>
                    </a:schemeClr>
                  </a:glow>
                  <a:outerShdw blurRad="38100" dist="38100" dir="2700000" algn="tl">
                    <a:srgbClr val="000000">
                      <a:alpha val="43137"/>
                    </a:srgbClr>
                  </a:outerShdw>
                </a:effectLst>
                <a:latin typeface="Algerian" pitchFamily="82" charset="0"/>
              </a:rPr>
              <a:t> Security</a:t>
            </a:r>
          </a:p>
        </p:txBody>
      </p:sp>
      <p:sp>
        <p:nvSpPr>
          <p:cNvPr id="7" name="ZoneTexte 6"/>
          <p:cNvSpPr txBox="1"/>
          <p:nvPr/>
        </p:nvSpPr>
        <p:spPr>
          <a:xfrm rot="20628416">
            <a:off x="1790793" y="943794"/>
            <a:ext cx="7221121" cy="3785652"/>
          </a:xfrm>
          <a:prstGeom prst="rect">
            <a:avLst/>
          </a:prstGeom>
          <a:noFill/>
        </p:spPr>
        <p:txBody>
          <a:bodyPr wrap="square" rtlCol="0">
            <a:spAutoFit/>
          </a:bodyPr>
          <a:lstStyle/>
          <a:p>
            <a:pPr algn="ctr"/>
            <a:r>
              <a:rPr lang="en-US" sz="4800" b="1" i="1" dirty="0">
                <a:solidFill>
                  <a:srgbClr val="FFFF00"/>
                </a:solidFill>
                <a:effectLst>
                  <a:outerShdw blurRad="38100" dist="38100" dir="2700000" algn="tl">
                    <a:srgbClr val="000000">
                      <a:alpha val="43137"/>
                    </a:srgbClr>
                  </a:outerShdw>
                </a:effectLst>
                <a:latin typeface="Bradley Hand ITC" pitchFamily="66" charset="0"/>
              </a:rPr>
              <a:t>Part I</a:t>
            </a:r>
          </a:p>
          <a:p>
            <a:pPr algn="ctr"/>
            <a:r>
              <a:rPr lang="en-US" sz="4800" b="1" i="1" dirty="0">
                <a:solidFill>
                  <a:srgbClr val="FFFF00"/>
                </a:solidFill>
                <a:effectLst>
                  <a:outerShdw blurRad="38100" dist="38100" dir="2700000" algn="tl">
                    <a:srgbClr val="000000">
                      <a:alpha val="43137"/>
                    </a:srgbClr>
                  </a:outerShdw>
                </a:effectLst>
                <a:latin typeface="Bradley Hand ITC" pitchFamily="66" charset="0"/>
              </a:rPr>
              <a:t>Principles and practice of building and administering secure systems. </a:t>
            </a:r>
          </a:p>
        </p:txBody>
      </p:sp>
      <p:sp>
        <p:nvSpPr>
          <p:cNvPr id="8" name="ZoneTexte 7"/>
          <p:cNvSpPr txBox="1"/>
          <p:nvPr/>
        </p:nvSpPr>
        <p:spPr>
          <a:xfrm rot="20652133">
            <a:off x="604130" y="2644894"/>
            <a:ext cx="3696600" cy="3831818"/>
          </a:xfrm>
          <a:prstGeom prst="rect">
            <a:avLst/>
          </a:prstGeom>
          <a:noFill/>
        </p:spPr>
        <p:txBody>
          <a:bodyPr wrap="square" rtlCol="0">
            <a:spAutoFit/>
          </a:bodyPr>
          <a:lstStyle/>
          <a:p>
            <a:pPr algn="just">
              <a:lnSpc>
                <a:spcPct val="150000"/>
              </a:lnSpc>
            </a:pPr>
            <a:r>
              <a:rPr lang="fr-FR" b="1" i="1" dirty="0">
                <a:solidFill>
                  <a:srgbClr val="FF0000"/>
                </a:solidFill>
                <a:effectLst>
                  <a:outerShdw blurRad="38100" dist="38100" dir="2700000" algn="tl">
                    <a:srgbClr val="000000">
                      <a:alpha val="43137"/>
                    </a:srgbClr>
                  </a:outerShdw>
                </a:effectLst>
              </a:rPr>
              <a:t>Plan </a:t>
            </a:r>
          </a:p>
          <a:p>
            <a:pPr>
              <a:lnSpc>
                <a:spcPct val="150000"/>
              </a:lnSpc>
              <a:buFont typeface="Wingdings" pitchFamily="2" charset="2"/>
              <a:buChar char="q"/>
            </a:pPr>
            <a:r>
              <a:rPr lang="fr-FR" i="1" dirty="0">
                <a:solidFill>
                  <a:schemeClr val="bg1"/>
                </a:solidFill>
                <a:effectLst>
                  <a:outerShdw blurRad="38100" dist="38100" dir="2700000" algn="tl">
                    <a:srgbClr val="000000">
                      <a:alpha val="43137"/>
                    </a:srgbClr>
                  </a:outerShdw>
                </a:effectLst>
              </a:rPr>
              <a:t> Introduction</a:t>
            </a:r>
          </a:p>
          <a:p>
            <a:pPr>
              <a:lnSpc>
                <a:spcPct val="150000"/>
              </a:lnSpc>
              <a:buFont typeface="Wingdings" pitchFamily="2" charset="2"/>
              <a:buChar char="q"/>
            </a:pPr>
            <a:r>
              <a:rPr lang="fr-FR" i="1" dirty="0">
                <a:solidFill>
                  <a:schemeClr val="bg1"/>
                </a:solidFill>
                <a:effectLst>
                  <a:outerShdw blurRad="38100" dist="38100" dir="2700000" algn="tl">
                    <a:srgbClr val="000000">
                      <a:alpha val="43137"/>
                    </a:srgbClr>
                  </a:outerShdw>
                </a:effectLst>
              </a:rPr>
              <a:t> </a:t>
            </a:r>
            <a:r>
              <a:rPr lang="en-US" i="1" dirty="0">
                <a:solidFill>
                  <a:schemeClr val="bg1"/>
                </a:solidFill>
                <a:effectLst>
                  <a:outerShdw blurRad="38100" dist="38100" dir="2700000" algn="tl">
                    <a:srgbClr val="000000">
                      <a:alpha val="43137"/>
                    </a:srgbClr>
                  </a:outerShdw>
                </a:effectLst>
              </a:rPr>
              <a:t>Definitions  </a:t>
            </a:r>
          </a:p>
          <a:p>
            <a:pPr>
              <a:lnSpc>
                <a:spcPct val="150000"/>
              </a:lnSpc>
              <a:buFont typeface="Wingdings" pitchFamily="2" charset="2"/>
              <a:buChar char="q"/>
            </a:pPr>
            <a:r>
              <a:rPr lang="fr-FR" i="1" dirty="0">
                <a:solidFill>
                  <a:schemeClr val="bg1"/>
                </a:solidFill>
                <a:effectLst>
                  <a:outerShdw blurRad="38100" dist="38100" dir="2700000" algn="tl">
                    <a:srgbClr val="000000">
                      <a:alpha val="43137"/>
                    </a:srgbClr>
                  </a:outerShdw>
                </a:effectLst>
              </a:rPr>
              <a:t> </a:t>
            </a:r>
            <a:r>
              <a:rPr lang="en-US" i="1" dirty="0">
                <a:solidFill>
                  <a:schemeClr val="bg1"/>
                </a:solidFill>
                <a:effectLst>
                  <a:outerShdw blurRad="38100" dist="38100" dir="2700000" algn="tl">
                    <a:srgbClr val="000000">
                      <a:alpha val="43137"/>
                    </a:srgbClr>
                  </a:outerShdw>
                </a:effectLst>
              </a:rPr>
              <a:t>Main Concepts</a:t>
            </a:r>
          </a:p>
          <a:p>
            <a:pPr>
              <a:lnSpc>
                <a:spcPct val="150000"/>
              </a:lnSpc>
              <a:buFont typeface="Wingdings" pitchFamily="2" charset="2"/>
              <a:buChar char="q"/>
            </a:pPr>
            <a:r>
              <a:rPr lang="en-US" i="1" dirty="0">
                <a:solidFill>
                  <a:schemeClr val="bg1"/>
                </a:solidFill>
                <a:effectLst>
                  <a:outerShdw blurRad="38100" dist="38100" dir="2700000" algn="tl">
                    <a:srgbClr val="000000">
                      <a:alpha val="43137"/>
                    </a:srgbClr>
                  </a:outerShdw>
                </a:effectLst>
              </a:rPr>
              <a:t>Objectives</a:t>
            </a:r>
          </a:p>
          <a:p>
            <a:pPr>
              <a:lnSpc>
                <a:spcPct val="150000"/>
              </a:lnSpc>
              <a:buFont typeface="Wingdings" pitchFamily="2" charset="2"/>
              <a:buChar char="q"/>
            </a:pPr>
            <a:r>
              <a:rPr lang="en-US" i="1" dirty="0">
                <a:solidFill>
                  <a:schemeClr val="bg1"/>
                </a:solidFill>
                <a:effectLst>
                  <a:outerShdw blurRad="38100" dist="38100" dir="2700000" algn="tl">
                    <a:srgbClr val="000000">
                      <a:alpha val="43137"/>
                    </a:srgbClr>
                  </a:outerShdw>
                </a:effectLst>
              </a:rPr>
              <a:t>Types of CS</a:t>
            </a:r>
          </a:p>
          <a:p>
            <a:pPr>
              <a:lnSpc>
                <a:spcPct val="150000"/>
              </a:lnSpc>
              <a:buFont typeface="Wingdings" pitchFamily="2" charset="2"/>
              <a:buChar char="q"/>
            </a:pPr>
            <a:r>
              <a:rPr lang="en-US" i="1" dirty="0">
                <a:solidFill>
                  <a:schemeClr val="bg1"/>
                </a:solidFill>
                <a:effectLst>
                  <a:outerShdw blurRad="38100" dist="38100" dir="2700000" algn="tl">
                    <a:srgbClr val="000000">
                      <a:alpha val="43137"/>
                    </a:srgbClr>
                  </a:outerShdw>
                </a:effectLst>
              </a:rPr>
              <a:t> Flaws</a:t>
            </a:r>
          </a:p>
          <a:p>
            <a:pPr>
              <a:lnSpc>
                <a:spcPct val="150000"/>
              </a:lnSpc>
              <a:buFont typeface="Wingdings" pitchFamily="2" charset="2"/>
              <a:buChar char="q"/>
            </a:pPr>
            <a:r>
              <a:rPr lang="en-US" i="1" dirty="0">
                <a:solidFill>
                  <a:schemeClr val="bg1"/>
                </a:solidFill>
                <a:effectLst>
                  <a:outerShdw blurRad="38100" dist="38100" dir="2700000" algn="tl">
                    <a:srgbClr val="000000">
                      <a:alpha val="43137"/>
                    </a:srgbClr>
                  </a:outerShdw>
                </a:effectLst>
              </a:rPr>
              <a:t> Risk Management Process</a:t>
            </a:r>
          </a:p>
          <a:p>
            <a:pPr>
              <a:lnSpc>
                <a:spcPct val="150000"/>
              </a:lnSpc>
              <a:buFont typeface="Wingdings" pitchFamily="2" charset="2"/>
              <a:buChar char="q"/>
            </a:pPr>
            <a:r>
              <a:rPr lang="en-US" i="1" dirty="0">
                <a:solidFill>
                  <a:schemeClr val="bg1"/>
                </a:solidFill>
                <a:effectLst>
                  <a:outerShdw blurRad="38100" dist="38100" dir="2700000" algn="tl">
                    <a:srgbClr val="000000">
                      <a:alpha val="43137"/>
                    </a:srgbClr>
                  </a:outerShdw>
                </a:effectLst>
              </a:rPr>
              <a:t>Typology of R &amp; PS</a:t>
            </a:r>
            <a:endParaRPr lang="fr-FR" i="1" dirty="0">
              <a:solidFill>
                <a:schemeClr val="bg1"/>
              </a:solidFill>
              <a:effectLst>
                <a:outerShdw blurRad="38100" dist="38100" dir="2700000" algn="tl">
                  <a:srgbClr val="000000">
                    <a:alpha val="43137"/>
                  </a:srgbClr>
                </a:outerShdw>
              </a:effectLst>
            </a:endParaRPr>
          </a:p>
        </p:txBody>
      </p:sp>
      <p:sp>
        <p:nvSpPr>
          <p:cNvPr id="10" name="ZoneTexte 9"/>
          <p:cNvSpPr txBox="1"/>
          <p:nvPr/>
        </p:nvSpPr>
        <p:spPr>
          <a:xfrm>
            <a:off x="7286612" y="214290"/>
            <a:ext cx="1857388" cy="830997"/>
          </a:xfrm>
          <a:prstGeom prst="rect">
            <a:avLst/>
          </a:prstGeom>
          <a:noFill/>
        </p:spPr>
        <p:txBody>
          <a:bodyPr wrap="square" rtlCol="0">
            <a:spAutoFit/>
          </a:bodyPr>
          <a:lstStyle/>
          <a:p>
            <a:pPr algn="ctr"/>
            <a:r>
              <a:rPr lang="fr-FR" sz="2400" b="1" dirty="0">
                <a:solidFill>
                  <a:schemeClr val="bg1"/>
                </a:solidFill>
                <a:effectLst>
                  <a:outerShdw blurRad="38100" dist="38100" dir="2700000" algn="tl">
                    <a:srgbClr val="000000">
                      <a:alpha val="43137"/>
                    </a:srgbClr>
                  </a:outerShdw>
                </a:effectLst>
                <a:latin typeface="Bradley Hand ITC" pitchFamily="66" charset="0"/>
              </a:rPr>
              <a:t>4ING-CS</a:t>
            </a:r>
          </a:p>
          <a:p>
            <a:pPr algn="ctr"/>
            <a:r>
              <a:rPr lang="fr-FR" sz="2400" b="1" dirty="0">
                <a:solidFill>
                  <a:schemeClr val="bg1"/>
                </a:solidFill>
                <a:effectLst>
                  <a:outerShdw blurRad="38100" dist="38100" dir="2700000" algn="tl">
                    <a:srgbClr val="000000">
                      <a:alpha val="43137"/>
                    </a:srgbClr>
                  </a:outerShdw>
                </a:effectLst>
                <a:latin typeface="Bradley Hand ITC" pitchFamily="66" charset="0"/>
              </a:rPr>
              <a:t>2025-2026</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1" nodeType="clickEffect">
                                  <p:stCondLst>
                                    <p:cond delay="0"/>
                                  </p:stCondLst>
                                  <p:iterate type="lt">
                                    <p:tmPct val="0"/>
                                  </p:iterate>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par>
                          <p:cTn id="8" fill="hold">
                            <p:stCondLst>
                              <p:cond delay="2000"/>
                            </p:stCondLst>
                            <p:childTnLst>
                              <p:par>
                                <p:cTn id="9" presetID="34" presetClass="emph" presetSubtype="0" fill="hold" grpId="0" nodeType="afterEffect">
                                  <p:stCondLst>
                                    <p:cond delay="0"/>
                                  </p:stCondLst>
                                  <p:iterate type="lt">
                                    <p:tmPct val="10000"/>
                                  </p:iterate>
                                  <p:childTnLst>
                                    <p:animMotion origin="layout" path="M 0.0 0.0 L 0.0 -0.07213" pathEditMode="relative" ptsTypes="">
                                      <p:cBhvr>
                                        <p:cTn id="10" dur="250" accel="50000" decel="50000" autoRev="1" fill="hold">
                                          <p:stCondLst>
                                            <p:cond delay="0"/>
                                          </p:stCondLst>
                                        </p:cTn>
                                        <p:tgtEl>
                                          <p:spTgt spid="6"/>
                                        </p:tgtEl>
                                        <p:attrNameLst>
                                          <p:attrName>ppt_x</p:attrName>
                                          <p:attrName>ppt_y</p:attrName>
                                        </p:attrNameLst>
                                      </p:cBhvr>
                                    </p:animMotion>
                                    <p:animRot by="1500000">
                                      <p:cBhvr>
                                        <p:cTn id="11" dur="125" fill="hold">
                                          <p:stCondLst>
                                            <p:cond delay="0"/>
                                          </p:stCondLst>
                                        </p:cTn>
                                        <p:tgtEl>
                                          <p:spTgt spid="6"/>
                                        </p:tgtEl>
                                        <p:attrNameLst>
                                          <p:attrName>r</p:attrName>
                                        </p:attrNameLst>
                                      </p:cBhvr>
                                    </p:animRot>
                                    <p:animRot by="-1500000">
                                      <p:cBhvr>
                                        <p:cTn id="12" dur="125" fill="hold">
                                          <p:stCondLst>
                                            <p:cond delay="125"/>
                                          </p:stCondLst>
                                        </p:cTn>
                                        <p:tgtEl>
                                          <p:spTgt spid="6"/>
                                        </p:tgtEl>
                                        <p:attrNameLst>
                                          <p:attrName>r</p:attrName>
                                        </p:attrNameLst>
                                      </p:cBhvr>
                                    </p:animRot>
                                    <p:animRot by="-1500000">
                                      <p:cBhvr>
                                        <p:cTn id="13" dur="125" fill="hold">
                                          <p:stCondLst>
                                            <p:cond delay="250"/>
                                          </p:stCondLst>
                                        </p:cTn>
                                        <p:tgtEl>
                                          <p:spTgt spid="6"/>
                                        </p:tgtEl>
                                        <p:attrNameLst>
                                          <p:attrName>r</p:attrName>
                                        </p:attrNameLst>
                                      </p:cBhvr>
                                    </p:animRot>
                                    <p:animRot by="1500000">
                                      <p:cBhvr>
                                        <p:cTn id="14" dur="125" fill="hold">
                                          <p:stCondLst>
                                            <p:cond delay="375"/>
                                          </p:stCondLst>
                                        </p:cTn>
                                        <p:tgtEl>
                                          <p:spTgt spid="6"/>
                                        </p:tgtEl>
                                        <p:attrNameLst>
                                          <p:attrName>r</p:attrName>
                                        </p:attrNameLst>
                                      </p:cBhvr>
                                    </p:animRot>
                                  </p:childTnLst>
                                </p:cTn>
                              </p:par>
                            </p:childTnLst>
                          </p:cTn>
                        </p:par>
                        <p:par>
                          <p:cTn id="15" fill="hold">
                            <p:stCondLst>
                              <p:cond delay="3600"/>
                            </p:stCondLst>
                            <p:childTnLst>
                              <p:par>
                                <p:cTn id="16" presetID="47" presetClass="entr" presetSubtype="0" fill="hold" grpId="0" nodeType="afterEffect">
                                  <p:stCondLst>
                                    <p:cond delay="0"/>
                                  </p:stCondLst>
                                  <p:iterate type="lt">
                                    <p:tmPct val="0"/>
                                  </p:iterate>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par>
                          <p:cTn id="21" fill="hold">
                            <p:stCondLst>
                              <p:cond delay="4100"/>
                            </p:stCondLst>
                            <p:childTnLst>
                              <p:par>
                                <p:cTn id="22" presetID="18" presetClass="emph" presetSubtype="0" fill="hold" grpId="1" nodeType="afterEffect">
                                  <p:stCondLst>
                                    <p:cond delay="0"/>
                                  </p:stCondLst>
                                  <p:iterate type="lt">
                                    <p:tmPct val="4000"/>
                                  </p:iterate>
                                  <p:childTnLst>
                                    <p:set>
                                      <p:cBhvr override="childStyle">
                                        <p:cTn id="23" dur="500" fill="hold"/>
                                        <p:tgtEl>
                                          <p:spTgt spid="7"/>
                                        </p:tgtEl>
                                        <p:attrNameLst>
                                          <p:attrName>style.textDecorationUnderline</p:attrName>
                                        </p:attrNameLst>
                                      </p:cBhvr>
                                      <p:to>
                                        <p:strVal val="true"/>
                                      </p:to>
                                    </p:set>
                                  </p:childTnLst>
                                </p:cTn>
                              </p:par>
                            </p:childTnLst>
                          </p:cTn>
                        </p:par>
                        <p:par>
                          <p:cTn id="24" fill="hold">
                            <p:stCondLst>
                              <p:cond delay="5900"/>
                            </p:stCondLst>
                            <p:childTnLst>
                              <p:par>
                                <p:cTn id="25" presetID="27" presetClass="entr" presetSubtype="0" fill="hold" grpId="0" nodeType="afterEffect">
                                  <p:stCondLst>
                                    <p:cond delay="0"/>
                                  </p:stCondLst>
                                  <p:iterate type="lt">
                                    <p:tmPct val="50000"/>
                                  </p:iterate>
                                  <p:childTnLst>
                                    <p:set>
                                      <p:cBhvr>
                                        <p:cTn id="26" dur="1" fill="hold">
                                          <p:stCondLst>
                                            <p:cond delay="0"/>
                                          </p:stCondLst>
                                        </p:cTn>
                                        <p:tgtEl>
                                          <p:spTgt spid="8"/>
                                        </p:tgtEl>
                                        <p:attrNameLst>
                                          <p:attrName>style.visibility</p:attrName>
                                        </p:attrNameLst>
                                      </p:cBhvr>
                                      <p:to>
                                        <p:strVal val="visible"/>
                                      </p:to>
                                    </p:set>
                                    <p:anim calcmode="discrete" valueType="clr">
                                      <p:cBhvr override="childStyle">
                                        <p:cTn id="27"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8"/>
                                        </p:tgtEl>
                                        <p:attrNameLst>
                                          <p:attrName>fillcolor</p:attrName>
                                        </p:attrNameLst>
                                      </p:cBhvr>
                                      <p:tavLst>
                                        <p:tav tm="0">
                                          <p:val>
                                            <p:clrVal>
                                              <a:schemeClr val="accent2"/>
                                            </p:clrVal>
                                          </p:val>
                                        </p:tav>
                                        <p:tav tm="50000">
                                          <p:val>
                                            <p:clrVal>
                                              <a:schemeClr val="hlink"/>
                                            </p:clrVal>
                                          </p:val>
                                        </p:tav>
                                      </p:tavLst>
                                    </p:anim>
                                    <p:set>
                                      <p:cBhvr>
                                        <p:cTn id="29" dur="80"/>
                                        <p:tgtEl>
                                          <p:spTgt spid="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e la date 8"/>
          <p:cNvSpPr>
            <a:spLocks noGrp="1"/>
          </p:cNvSpPr>
          <p:nvPr>
            <p:ph type="dt" idx="10"/>
          </p:nvPr>
        </p:nvSpPr>
        <p:spPr/>
        <p:txBody>
          <a:bodyPr/>
          <a:lstStyle/>
          <a:p>
            <a:fld id="{470DFA66-68ED-4F51-B1FC-7E4400856922}" type="datetime1">
              <a:rPr lang="fr-FR" smtClean="0"/>
              <a:pPr/>
              <a:t>09/01/2026</a:t>
            </a:fld>
            <a:endParaRPr lang="fr-FR"/>
          </a:p>
        </p:txBody>
      </p:sp>
      <p:sp>
        <p:nvSpPr>
          <p:cNvPr id="11" name="Espace réservé du numéro de diapositive 10"/>
          <p:cNvSpPr>
            <a:spLocks noGrp="1"/>
          </p:cNvSpPr>
          <p:nvPr>
            <p:ph type="sldNum" idx="12"/>
          </p:nvPr>
        </p:nvSpPr>
        <p:spPr/>
        <p:txBody>
          <a:bodyPr/>
          <a:lstStyle/>
          <a:p>
            <a:fld id="{66EFF29A-B2FD-4D7F-BD7D-29982909C77B}" type="slidenum">
              <a:rPr lang="fr-FR" smtClean="0"/>
              <a:pPr/>
              <a:t>2</a:t>
            </a:fld>
            <a:endParaRPr lang="fr-FR"/>
          </a:p>
        </p:txBody>
      </p:sp>
      <p:pic>
        <p:nvPicPr>
          <p:cNvPr id="30" name="Picture 5" descr="skyscrapers&amp;sidewalks05"/>
          <p:cNvPicPr>
            <a:picLocks noChangeAspect="1" noChangeArrowheads="1"/>
          </p:cNvPicPr>
          <p:nvPr/>
        </p:nvPicPr>
        <p:blipFill>
          <a:blip r:embed="rId2"/>
          <a:srcRect b="18907"/>
          <a:stretch>
            <a:fillRect/>
          </a:stretch>
        </p:blipFill>
        <p:spPr bwMode="auto">
          <a:xfrm>
            <a:off x="5319803" y="1214421"/>
            <a:ext cx="2252593" cy="15716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ZoneTexte 11"/>
          <p:cNvSpPr txBox="1">
            <a:spLocks noChangeArrowheads="1"/>
          </p:cNvSpPr>
          <p:nvPr/>
        </p:nvSpPr>
        <p:spPr bwMode="auto">
          <a:xfrm>
            <a:off x="1140233" y="2842949"/>
            <a:ext cx="176683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fr-FR" altLang="fr-FR" sz="1600" dirty="0">
                <a:solidFill>
                  <a:schemeClr val="bg1"/>
                </a:solidFill>
                <a:latin typeface="Arial" panose="020B0604020202020204" pitchFamily="34" charset="0"/>
                <a:cs typeface="Arial" panose="020B0604020202020204" pitchFamily="34" charset="0"/>
              </a:rPr>
              <a:t>Financial impacts</a:t>
            </a:r>
          </a:p>
        </p:txBody>
      </p:sp>
      <p:sp>
        <p:nvSpPr>
          <p:cNvPr id="33" name="ZoneTexte 12"/>
          <p:cNvSpPr txBox="1">
            <a:spLocks noChangeArrowheads="1"/>
          </p:cNvSpPr>
          <p:nvPr/>
        </p:nvSpPr>
        <p:spPr bwMode="auto">
          <a:xfrm>
            <a:off x="543804" y="3892287"/>
            <a:ext cx="2818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fr-FR" altLang="fr-FR" sz="1600" dirty="0" err="1">
                <a:solidFill>
                  <a:schemeClr val="bg1"/>
                </a:solidFill>
                <a:latin typeface="Arial" panose="020B0604020202020204" pitchFamily="34" charset="0"/>
                <a:cs typeface="Arial" panose="020B0604020202020204" pitchFamily="34" charset="0"/>
              </a:rPr>
              <a:t>Legal</a:t>
            </a:r>
            <a:r>
              <a:rPr lang="fr-FR" altLang="fr-FR" sz="1600" dirty="0">
                <a:solidFill>
                  <a:schemeClr val="bg1"/>
                </a:solidFill>
                <a:latin typeface="Arial" panose="020B0604020202020204" pitchFamily="34" charset="0"/>
                <a:cs typeface="Arial" panose="020B0604020202020204" pitchFamily="34" charset="0"/>
              </a:rPr>
              <a:t> and </a:t>
            </a:r>
            <a:r>
              <a:rPr lang="fr-FR" altLang="fr-FR" sz="1600" dirty="0" err="1">
                <a:solidFill>
                  <a:schemeClr val="bg1"/>
                </a:solidFill>
                <a:latin typeface="Arial" panose="020B0604020202020204" pitchFamily="34" charset="0"/>
                <a:cs typeface="Arial" panose="020B0604020202020204" pitchFamily="34" charset="0"/>
              </a:rPr>
              <a:t>regulatory</a:t>
            </a:r>
            <a:r>
              <a:rPr lang="fr-FR" altLang="fr-FR" sz="1600" dirty="0">
                <a:solidFill>
                  <a:schemeClr val="bg1"/>
                </a:solidFill>
                <a:latin typeface="Arial" panose="020B0604020202020204" pitchFamily="34" charset="0"/>
                <a:cs typeface="Arial" panose="020B0604020202020204" pitchFamily="34" charset="0"/>
              </a:rPr>
              <a:t> impacts</a:t>
            </a:r>
          </a:p>
        </p:txBody>
      </p:sp>
      <p:sp>
        <p:nvSpPr>
          <p:cNvPr id="34" name="ZoneTexte 13"/>
          <p:cNvSpPr txBox="1">
            <a:spLocks noChangeArrowheads="1"/>
          </p:cNvSpPr>
          <p:nvPr/>
        </p:nvSpPr>
        <p:spPr bwMode="auto">
          <a:xfrm>
            <a:off x="5375052" y="3892287"/>
            <a:ext cx="22701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fr-FR" altLang="fr-FR" sz="1600" dirty="0" err="1">
                <a:solidFill>
                  <a:schemeClr val="bg1"/>
                </a:solidFill>
                <a:latin typeface="Arial" panose="020B0604020202020204" pitchFamily="34" charset="0"/>
                <a:cs typeface="Arial" panose="020B0604020202020204" pitchFamily="34" charset="0"/>
              </a:rPr>
              <a:t>Organizational</a:t>
            </a:r>
            <a:r>
              <a:rPr lang="fr-FR" altLang="fr-FR" sz="1600" dirty="0">
                <a:solidFill>
                  <a:schemeClr val="bg1"/>
                </a:solidFill>
                <a:latin typeface="Arial" panose="020B0604020202020204" pitchFamily="34" charset="0"/>
                <a:cs typeface="Arial" panose="020B0604020202020204" pitchFamily="34" charset="0"/>
              </a:rPr>
              <a:t> impacts</a:t>
            </a:r>
          </a:p>
        </p:txBody>
      </p:sp>
      <p:sp>
        <p:nvSpPr>
          <p:cNvPr id="35" name="ZoneTexte 14"/>
          <p:cNvSpPr txBox="1">
            <a:spLocks noChangeArrowheads="1"/>
          </p:cNvSpPr>
          <p:nvPr/>
        </p:nvSpPr>
        <p:spPr bwMode="auto">
          <a:xfrm>
            <a:off x="5421624" y="2852474"/>
            <a:ext cx="21595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fr-FR" altLang="fr-FR" sz="1600" dirty="0">
                <a:solidFill>
                  <a:schemeClr val="bg1"/>
                </a:solidFill>
                <a:latin typeface="Arial" panose="020B0604020202020204" pitchFamily="34" charset="0"/>
                <a:cs typeface="Arial" panose="020B0604020202020204" pitchFamily="34" charset="0"/>
              </a:rPr>
              <a:t>Impacts on </a:t>
            </a:r>
            <a:r>
              <a:rPr lang="fr-FR" altLang="fr-FR" sz="1600" dirty="0" err="1">
                <a:solidFill>
                  <a:schemeClr val="bg1"/>
                </a:solidFill>
                <a:latin typeface="Arial" panose="020B0604020202020204" pitchFamily="34" charset="0"/>
                <a:cs typeface="Arial" panose="020B0604020202020204" pitchFamily="34" charset="0"/>
              </a:rPr>
              <a:t>reputation</a:t>
            </a:r>
            <a:endParaRPr lang="fr-FR" altLang="fr-FR" sz="1600" dirty="0">
              <a:solidFill>
                <a:schemeClr val="bg1"/>
              </a:solidFill>
              <a:latin typeface="Arial" panose="020B0604020202020204" pitchFamily="34" charset="0"/>
              <a:cs typeface="Arial" panose="020B0604020202020204" pitchFamily="34" charset="0"/>
            </a:endParaRPr>
          </a:p>
        </p:txBody>
      </p:sp>
      <p:sp>
        <p:nvSpPr>
          <p:cNvPr id="36" name="Flèche vers le bas 35"/>
          <p:cNvSpPr/>
          <p:nvPr/>
        </p:nvSpPr>
        <p:spPr>
          <a:xfrm rot="2655180">
            <a:off x="3449728" y="3879256"/>
            <a:ext cx="287337" cy="733425"/>
          </a:xfrm>
          <a:prstGeom prst="downArrow">
            <a:avLst/>
          </a:prstGeom>
          <a:solidFill>
            <a:srgbClr val="4F81BD"/>
          </a:solidFill>
          <a:ln w="25400"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chemeClr val="bg1"/>
              </a:solidFill>
              <a:effectLst/>
              <a:uLnTx/>
              <a:uFillTx/>
              <a:latin typeface="Calibri"/>
              <a:ea typeface="+mn-ea"/>
              <a:cs typeface="+mn-cs"/>
            </a:endParaRPr>
          </a:p>
        </p:txBody>
      </p:sp>
      <p:sp>
        <p:nvSpPr>
          <p:cNvPr id="37" name="ZoneTexte 16"/>
          <p:cNvSpPr txBox="1">
            <a:spLocks noChangeArrowheads="1"/>
          </p:cNvSpPr>
          <p:nvPr/>
        </p:nvSpPr>
        <p:spPr bwMode="auto">
          <a:xfrm>
            <a:off x="3923928" y="341970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fr-FR" altLang="fr-FR" sz="1800" b="1" dirty="0">
                <a:solidFill>
                  <a:schemeClr val="bg1"/>
                </a:solidFill>
                <a:latin typeface="Arial" panose="020B0604020202020204" pitchFamily="34" charset="0"/>
                <a:cs typeface="Arial" panose="020B0604020202020204" pitchFamily="34" charset="0"/>
              </a:rPr>
              <a:t>CSS</a:t>
            </a:r>
          </a:p>
        </p:txBody>
      </p:sp>
      <p:sp>
        <p:nvSpPr>
          <p:cNvPr id="38" name="Flèche vers le bas 37"/>
          <p:cNvSpPr/>
          <p:nvPr/>
        </p:nvSpPr>
        <p:spPr>
          <a:xfrm rot="19011080">
            <a:off x="4667340" y="3880843"/>
            <a:ext cx="288925" cy="733425"/>
          </a:xfrm>
          <a:prstGeom prst="downArrow">
            <a:avLst/>
          </a:prstGeom>
          <a:solidFill>
            <a:srgbClr val="4F81BD"/>
          </a:solidFill>
          <a:ln w="25400"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chemeClr val="bg1"/>
              </a:solidFill>
              <a:effectLst/>
              <a:uLnTx/>
              <a:uFillTx/>
              <a:latin typeface="Calibri"/>
              <a:ea typeface="+mn-ea"/>
              <a:cs typeface="+mn-cs"/>
            </a:endParaRPr>
          </a:p>
        </p:txBody>
      </p:sp>
      <p:sp>
        <p:nvSpPr>
          <p:cNvPr id="39" name="Flèche vers le bas 38"/>
          <p:cNvSpPr/>
          <p:nvPr/>
        </p:nvSpPr>
        <p:spPr>
          <a:xfrm rot="13452912">
            <a:off x="4673690" y="2679437"/>
            <a:ext cx="287338" cy="733425"/>
          </a:xfrm>
          <a:prstGeom prst="downArrow">
            <a:avLst/>
          </a:prstGeom>
          <a:solidFill>
            <a:srgbClr val="4F81BD"/>
          </a:solidFill>
          <a:ln w="25400"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chemeClr val="bg1"/>
              </a:solidFill>
              <a:effectLst/>
              <a:uLnTx/>
              <a:uFillTx/>
              <a:latin typeface="Calibri"/>
              <a:ea typeface="+mn-ea"/>
              <a:cs typeface="+mn-cs"/>
            </a:endParaRPr>
          </a:p>
        </p:txBody>
      </p:sp>
      <p:sp>
        <p:nvSpPr>
          <p:cNvPr id="40" name="Flèche vers le bas 39"/>
          <p:cNvSpPr/>
          <p:nvPr/>
        </p:nvSpPr>
        <p:spPr>
          <a:xfrm rot="8203604">
            <a:off x="3451315" y="2676262"/>
            <a:ext cx="288925" cy="733425"/>
          </a:xfrm>
          <a:prstGeom prst="downArrow">
            <a:avLst/>
          </a:prstGeom>
          <a:solidFill>
            <a:srgbClr val="4F81BD"/>
          </a:solidFill>
          <a:ln w="25400" cap="flat" cmpd="sng" algn="ctr">
            <a:noFill/>
            <a:prstDash val="soli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chemeClr val="bg1"/>
              </a:solidFill>
              <a:effectLst/>
              <a:uLnTx/>
              <a:uFillTx/>
              <a:latin typeface="Calibri"/>
              <a:ea typeface="+mn-ea"/>
              <a:cs typeface="+mn-cs"/>
            </a:endParaRPr>
          </a:p>
        </p:txBody>
      </p:sp>
      <p:pic>
        <p:nvPicPr>
          <p:cNvPr id="41" name="Picture 16" descr="\\intranet.fr\sgdsn\utilisateurs_mercure\bureaux\chavanne\organisationnell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9160" y="4500570"/>
            <a:ext cx="2550426" cy="16430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0658" name="Picture 2" descr="https://media.kasperskydaily.com/wp-content/uploads/sites/93/2013/03/06104330/cybersecure.png"/>
          <p:cNvPicPr>
            <a:picLocks noChangeAspect="1" noChangeArrowheads="1"/>
          </p:cNvPicPr>
          <p:nvPr/>
        </p:nvPicPr>
        <p:blipFill>
          <a:blip r:embed="rId4"/>
          <a:srcRect/>
          <a:stretch>
            <a:fillRect/>
          </a:stretch>
        </p:blipFill>
        <p:spPr bwMode="auto">
          <a:xfrm>
            <a:off x="734392" y="4500570"/>
            <a:ext cx="2500330" cy="1695443"/>
          </a:xfrm>
          <a:prstGeom prst="rect">
            <a:avLst/>
          </a:prstGeom>
          <a:noFill/>
        </p:spPr>
      </p:pic>
      <p:pic>
        <p:nvPicPr>
          <p:cNvPr id="70665" name="Picture 9" descr="D:\sec_info\doc\téléchargement.jpg"/>
          <p:cNvPicPr>
            <a:picLocks noChangeAspect="1" noChangeArrowheads="1"/>
          </p:cNvPicPr>
          <p:nvPr/>
        </p:nvPicPr>
        <p:blipFill>
          <a:blip r:embed="rId5"/>
          <a:srcRect/>
          <a:stretch>
            <a:fillRect/>
          </a:stretch>
        </p:blipFill>
        <p:spPr bwMode="auto">
          <a:xfrm>
            <a:off x="642910" y="1142984"/>
            <a:ext cx="2643206" cy="1600200"/>
          </a:xfrm>
          <a:prstGeom prst="rect">
            <a:avLst/>
          </a:prstGeom>
          <a:noFill/>
        </p:spPr>
      </p:pic>
      <p:sp>
        <p:nvSpPr>
          <p:cNvPr id="42" name="ZoneTexte 41"/>
          <p:cNvSpPr txBox="1"/>
          <p:nvPr/>
        </p:nvSpPr>
        <p:spPr>
          <a:xfrm>
            <a:off x="214282"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43" name="ZoneTexte 42"/>
          <p:cNvSpPr txBox="1"/>
          <p:nvPr/>
        </p:nvSpPr>
        <p:spPr>
          <a:xfrm>
            <a:off x="3445838" y="305733"/>
            <a:ext cx="2357454"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44" name="ZoneTexte 43"/>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45" name="ZoneTexte 44"/>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iterate type="lt">
                                    <p:tmPct val="0"/>
                                  </p:iterate>
                                  <p:childTnLst>
                                    <p:set>
                                      <p:cBhvr>
                                        <p:cTn id="6" dur="1" fill="hold">
                                          <p:stCondLst>
                                            <p:cond delay="0"/>
                                          </p:stCondLst>
                                        </p:cTn>
                                        <p:tgtEl>
                                          <p:spTgt spid="37"/>
                                        </p:tgtEl>
                                        <p:attrNameLst>
                                          <p:attrName>style.visibility</p:attrName>
                                        </p:attrNameLst>
                                      </p:cBhvr>
                                      <p:to>
                                        <p:strVal val="visible"/>
                                      </p:to>
                                    </p:set>
                                    <p:animEffect transition="in" filter="fade">
                                      <p:cBhvr>
                                        <p:cTn id="7" dur="2000"/>
                                        <p:tgtEl>
                                          <p:spTgt spid="37"/>
                                        </p:tgtEl>
                                      </p:cBhvr>
                                    </p:animEffect>
                                    <p:anim calcmode="lin" valueType="num">
                                      <p:cBhvr>
                                        <p:cTn id="8" dur="2000" fill="hold"/>
                                        <p:tgtEl>
                                          <p:spTgt spid="37"/>
                                        </p:tgtEl>
                                        <p:attrNameLst>
                                          <p:attrName>style.rotation</p:attrName>
                                        </p:attrNameLst>
                                      </p:cBhvr>
                                      <p:tavLst>
                                        <p:tav tm="0">
                                          <p:val>
                                            <p:fltVal val="720"/>
                                          </p:val>
                                        </p:tav>
                                        <p:tav tm="100000">
                                          <p:val>
                                            <p:fltVal val="0"/>
                                          </p:val>
                                        </p:tav>
                                      </p:tavLst>
                                    </p:anim>
                                    <p:anim calcmode="lin" valueType="num">
                                      <p:cBhvr>
                                        <p:cTn id="9" dur="2000" fill="hold"/>
                                        <p:tgtEl>
                                          <p:spTgt spid="37"/>
                                        </p:tgtEl>
                                        <p:attrNameLst>
                                          <p:attrName>ppt_h</p:attrName>
                                        </p:attrNameLst>
                                      </p:cBhvr>
                                      <p:tavLst>
                                        <p:tav tm="0">
                                          <p:val>
                                            <p:fltVal val="0"/>
                                          </p:val>
                                        </p:tav>
                                        <p:tav tm="100000">
                                          <p:val>
                                            <p:strVal val="#ppt_h"/>
                                          </p:val>
                                        </p:tav>
                                      </p:tavLst>
                                    </p:anim>
                                    <p:anim calcmode="lin" valueType="num">
                                      <p:cBhvr>
                                        <p:cTn id="10" dur="2000" fill="hold"/>
                                        <p:tgtEl>
                                          <p:spTgt spid="37"/>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indefinite" fill="hold" grpId="1" nodeType="clickEffect">
                                  <p:stCondLst>
                                    <p:cond delay="0"/>
                                  </p:stCondLst>
                                  <p:iterate type="lt">
                                    <p:tmPct val="0"/>
                                  </p:iterate>
                                  <p:childTnLst>
                                    <p:anim calcmode="discrete" valueType="str">
                                      <p:cBhvr>
                                        <p:cTn id="14"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p:cTn id="19" dur="1000" fill="hold"/>
                                        <p:tgtEl>
                                          <p:spTgt spid="40"/>
                                        </p:tgtEl>
                                        <p:attrNameLst>
                                          <p:attrName>ppt_w</p:attrName>
                                        </p:attrNameLst>
                                      </p:cBhvr>
                                      <p:tavLst>
                                        <p:tav tm="0">
                                          <p:val>
                                            <p:strVal val="#ppt_w+.3"/>
                                          </p:val>
                                        </p:tav>
                                        <p:tav tm="100000">
                                          <p:val>
                                            <p:strVal val="#ppt_w"/>
                                          </p:val>
                                        </p:tav>
                                      </p:tavLst>
                                    </p:anim>
                                    <p:anim calcmode="lin" valueType="num">
                                      <p:cBhvr>
                                        <p:cTn id="20" dur="1000" fill="hold"/>
                                        <p:tgtEl>
                                          <p:spTgt spid="40"/>
                                        </p:tgtEl>
                                        <p:attrNameLst>
                                          <p:attrName>ppt_h</p:attrName>
                                        </p:attrNameLst>
                                      </p:cBhvr>
                                      <p:tavLst>
                                        <p:tav tm="0">
                                          <p:val>
                                            <p:strVal val="#ppt_h"/>
                                          </p:val>
                                        </p:tav>
                                        <p:tav tm="100000">
                                          <p:val>
                                            <p:strVal val="#ppt_h"/>
                                          </p:val>
                                        </p:tav>
                                      </p:tavLst>
                                    </p:anim>
                                    <p:animEffect transition="in" filter="fade">
                                      <p:cBhvr>
                                        <p:cTn id="21" dur="1000"/>
                                        <p:tgtEl>
                                          <p:spTgt spid="40"/>
                                        </p:tgtEl>
                                      </p:cBhvr>
                                    </p:animEffect>
                                  </p:childTnLst>
                                </p:cTn>
                              </p:par>
                            </p:childTnLst>
                          </p:cTn>
                        </p:par>
                        <p:par>
                          <p:cTn id="22" fill="hold">
                            <p:stCondLst>
                              <p:cond delay="1000"/>
                            </p:stCondLst>
                            <p:childTnLst>
                              <p:par>
                                <p:cTn id="23" presetID="14" presetClass="entr" presetSubtype="10" fill="hold" nodeType="afterEffect">
                                  <p:stCondLst>
                                    <p:cond delay="0"/>
                                  </p:stCondLst>
                                  <p:childTnLst>
                                    <p:set>
                                      <p:cBhvr>
                                        <p:cTn id="24" dur="1" fill="hold">
                                          <p:stCondLst>
                                            <p:cond delay="0"/>
                                          </p:stCondLst>
                                        </p:cTn>
                                        <p:tgtEl>
                                          <p:spTgt spid="70665"/>
                                        </p:tgtEl>
                                        <p:attrNameLst>
                                          <p:attrName>style.visibility</p:attrName>
                                        </p:attrNameLst>
                                      </p:cBhvr>
                                      <p:to>
                                        <p:strVal val="visible"/>
                                      </p:to>
                                    </p:set>
                                    <p:animEffect transition="in" filter="randombar(horizontal)">
                                      <p:cBhvr>
                                        <p:cTn id="25" dur="500"/>
                                        <p:tgtEl>
                                          <p:spTgt spid="70665"/>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randombar(horizontal)">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p:cTn id="33" dur="1000" fill="hold"/>
                                        <p:tgtEl>
                                          <p:spTgt spid="36"/>
                                        </p:tgtEl>
                                        <p:attrNameLst>
                                          <p:attrName>ppt_w</p:attrName>
                                        </p:attrNameLst>
                                      </p:cBhvr>
                                      <p:tavLst>
                                        <p:tav tm="0">
                                          <p:val>
                                            <p:strVal val="#ppt_w+.3"/>
                                          </p:val>
                                        </p:tav>
                                        <p:tav tm="100000">
                                          <p:val>
                                            <p:strVal val="#ppt_w"/>
                                          </p:val>
                                        </p:tav>
                                      </p:tavLst>
                                    </p:anim>
                                    <p:anim calcmode="lin" valueType="num">
                                      <p:cBhvr>
                                        <p:cTn id="34" dur="1000" fill="hold"/>
                                        <p:tgtEl>
                                          <p:spTgt spid="36"/>
                                        </p:tgtEl>
                                        <p:attrNameLst>
                                          <p:attrName>ppt_h</p:attrName>
                                        </p:attrNameLst>
                                      </p:cBhvr>
                                      <p:tavLst>
                                        <p:tav tm="0">
                                          <p:val>
                                            <p:strVal val="#ppt_h"/>
                                          </p:val>
                                        </p:tav>
                                        <p:tav tm="100000">
                                          <p:val>
                                            <p:strVal val="#ppt_h"/>
                                          </p:val>
                                        </p:tav>
                                      </p:tavLst>
                                    </p:anim>
                                    <p:animEffect transition="in" filter="fade">
                                      <p:cBhvr>
                                        <p:cTn id="35" dur="1000"/>
                                        <p:tgtEl>
                                          <p:spTgt spid="36"/>
                                        </p:tgtEl>
                                      </p:cBhvr>
                                    </p:animEffect>
                                  </p:childTnLst>
                                </p:cTn>
                              </p:par>
                            </p:childTnLst>
                          </p:cTn>
                        </p:par>
                        <p:par>
                          <p:cTn id="36" fill="hold">
                            <p:stCondLst>
                              <p:cond delay="1000"/>
                            </p:stCondLst>
                            <p:childTnLst>
                              <p:par>
                                <p:cTn id="37" presetID="14" presetClass="entr" presetSubtype="10" fill="hold" nodeType="afterEffect">
                                  <p:stCondLst>
                                    <p:cond delay="0"/>
                                  </p:stCondLst>
                                  <p:childTnLst>
                                    <p:set>
                                      <p:cBhvr>
                                        <p:cTn id="38" dur="1" fill="hold">
                                          <p:stCondLst>
                                            <p:cond delay="0"/>
                                          </p:stCondLst>
                                        </p:cTn>
                                        <p:tgtEl>
                                          <p:spTgt spid="70658"/>
                                        </p:tgtEl>
                                        <p:attrNameLst>
                                          <p:attrName>style.visibility</p:attrName>
                                        </p:attrNameLst>
                                      </p:cBhvr>
                                      <p:to>
                                        <p:strVal val="visible"/>
                                      </p:to>
                                    </p:set>
                                    <p:animEffect transition="in" filter="randombar(horizontal)">
                                      <p:cBhvr>
                                        <p:cTn id="39" dur="500"/>
                                        <p:tgtEl>
                                          <p:spTgt spid="70658"/>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randombar(horizontal)">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50" presetClass="entr" presetSubtype="0" decel="10000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p:cTn id="47" dur="1000" fill="hold"/>
                                        <p:tgtEl>
                                          <p:spTgt spid="38"/>
                                        </p:tgtEl>
                                        <p:attrNameLst>
                                          <p:attrName>ppt_w</p:attrName>
                                        </p:attrNameLst>
                                      </p:cBhvr>
                                      <p:tavLst>
                                        <p:tav tm="0">
                                          <p:val>
                                            <p:strVal val="#ppt_w+.3"/>
                                          </p:val>
                                        </p:tav>
                                        <p:tav tm="100000">
                                          <p:val>
                                            <p:strVal val="#ppt_w"/>
                                          </p:val>
                                        </p:tav>
                                      </p:tavLst>
                                    </p:anim>
                                    <p:anim calcmode="lin" valueType="num">
                                      <p:cBhvr>
                                        <p:cTn id="48" dur="1000" fill="hold"/>
                                        <p:tgtEl>
                                          <p:spTgt spid="38"/>
                                        </p:tgtEl>
                                        <p:attrNameLst>
                                          <p:attrName>ppt_h</p:attrName>
                                        </p:attrNameLst>
                                      </p:cBhvr>
                                      <p:tavLst>
                                        <p:tav tm="0">
                                          <p:val>
                                            <p:strVal val="#ppt_h"/>
                                          </p:val>
                                        </p:tav>
                                        <p:tav tm="100000">
                                          <p:val>
                                            <p:strVal val="#ppt_h"/>
                                          </p:val>
                                        </p:tav>
                                      </p:tavLst>
                                    </p:anim>
                                    <p:animEffect transition="in" filter="fade">
                                      <p:cBhvr>
                                        <p:cTn id="49" dur="1000"/>
                                        <p:tgtEl>
                                          <p:spTgt spid="38"/>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randombar(horizontal)">
                                      <p:cBhvr>
                                        <p:cTn id="52" dur="500"/>
                                        <p:tgtEl>
                                          <p:spTgt spid="34"/>
                                        </p:tgtEl>
                                      </p:cBhvr>
                                    </p:animEffect>
                                  </p:childTnLst>
                                </p:cTn>
                              </p:par>
                            </p:childTnLst>
                          </p:cTn>
                        </p:par>
                        <p:par>
                          <p:cTn id="53" fill="hold">
                            <p:stCondLst>
                              <p:cond delay="1000"/>
                            </p:stCondLst>
                            <p:childTnLst>
                              <p:par>
                                <p:cTn id="54" presetID="14" presetClass="entr" presetSubtype="10" fill="hold"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randombar(horizontal)">
                                      <p:cBhvr>
                                        <p:cTn id="56" dur="500"/>
                                        <p:tgtEl>
                                          <p:spTgt spid="41"/>
                                        </p:tgtEl>
                                      </p:cBhvr>
                                    </p:animEffect>
                                  </p:childTnLst>
                                </p:cTn>
                              </p:par>
                            </p:childTnLst>
                          </p:cTn>
                        </p:par>
                      </p:childTnLst>
                    </p:cTn>
                  </p:par>
                  <p:par>
                    <p:cTn id="57" fill="hold">
                      <p:stCondLst>
                        <p:cond delay="indefinite"/>
                      </p:stCondLst>
                      <p:childTnLst>
                        <p:par>
                          <p:cTn id="58" fill="hold">
                            <p:stCondLst>
                              <p:cond delay="0"/>
                            </p:stCondLst>
                            <p:childTnLst>
                              <p:par>
                                <p:cTn id="59" presetID="50" presetClass="entr" presetSubtype="0" decel="10000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p:cTn id="61" dur="1000" fill="hold"/>
                                        <p:tgtEl>
                                          <p:spTgt spid="39"/>
                                        </p:tgtEl>
                                        <p:attrNameLst>
                                          <p:attrName>ppt_w</p:attrName>
                                        </p:attrNameLst>
                                      </p:cBhvr>
                                      <p:tavLst>
                                        <p:tav tm="0">
                                          <p:val>
                                            <p:strVal val="#ppt_w+.3"/>
                                          </p:val>
                                        </p:tav>
                                        <p:tav tm="100000">
                                          <p:val>
                                            <p:strVal val="#ppt_w"/>
                                          </p:val>
                                        </p:tav>
                                      </p:tavLst>
                                    </p:anim>
                                    <p:anim calcmode="lin" valueType="num">
                                      <p:cBhvr>
                                        <p:cTn id="62" dur="1000" fill="hold"/>
                                        <p:tgtEl>
                                          <p:spTgt spid="39"/>
                                        </p:tgtEl>
                                        <p:attrNameLst>
                                          <p:attrName>ppt_h</p:attrName>
                                        </p:attrNameLst>
                                      </p:cBhvr>
                                      <p:tavLst>
                                        <p:tav tm="0">
                                          <p:val>
                                            <p:strVal val="#ppt_h"/>
                                          </p:val>
                                        </p:tav>
                                        <p:tav tm="100000">
                                          <p:val>
                                            <p:strVal val="#ppt_h"/>
                                          </p:val>
                                        </p:tav>
                                      </p:tavLst>
                                    </p:anim>
                                    <p:animEffect transition="in" filter="fade">
                                      <p:cBhvr>
                                        <p:cTn id="63" dur="1000"/>
                                        <p:tgtEl>
                                          <p:spTgt spid="39"/>
                                        </p:tgtEl>
                                      </p:cBhvr>
                                    </p:animEffect>
                                  </p:childTnLst>
                                </p:cTn>
                              </p:par>
                            </p:childTnLst>
                          </p:cTn>
                        </p:par>
                        <p:par>
                          <p:cTn id="64" fill="hold">
                            <p:stCondLst>
                              <p:cond delay="1000"/>
                            </p:stCondLst>
                            <p:childTnLst>
                              <p:par>
                                <p:cTn id="65" presetID="14" presetClass="entr" presetSubtype="10" fill="hold"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randombar(horizontal)">
                                      <p:cBhvr>
                                        <p:cTn id="67" dur="500"/>
                                        <p:tgtEl>
                                          <p:spTgt spid="30"/>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randombar(horizontal)">
                                      <p:cBhvr>
                                        <p:cTn id="7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animBg="1"/>
      <p:bldP spid="37" grpId="0"/>
      <p:bldP spid="37" grpId="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Espace réservé de la date 27"/>
          <p:cNvSpPr>
            <a:spLocks noGrp="1"/>
          </p:cNvSpPr>
          <p:nvPr>
            <p:ph type="dt" idx="10"/>
          </p:nvPr>
        </p:nvSpPr>
        <p:spPr/>
        <p:txBody>
          <a:bodyPr/>
          <a:lstStyle/>
          <a:p>
            <a:fld id="{A98B1FEA-826D-443A-902B-C728123EEC92}" type="datetime1">
              <a:rPr lang="fr-FR" smtClean="0"/>
              <a:pPr/>
              <a:t>09/01/2026</a:t>
            </a:fld>
            <a:endParaRPr lang="fr-FR" dirty="0"/>
          </a:p>
        </p:txBody>
      </p:sp>
      <p:sp>
        <p:nvSpPr>
          <p:cNvPr id="29" name="Espace réservé du numéro de diapositive 28"/>
          <p:cNvSpPr>
            <a:spLocks noGrp="1"/>
          </p:cNvSpPr>
          <p:nvPr>
            <p:ph type="sldNum" idx="12"/>
          </p:nvPr>
        </p:nvSpPr>
        <p:spPr/>
        <p:txBody>
          <a:bodyPr/>
          <a:lstStyle/>
          <a:p>
            <a:fld id="{66EFF29A-B2FD-4D7F-BD7D-29982909C77B}" type="slidenum">
              <a:rPr lang="fr-FR" smtClean="0"/>
              <a:pPr/>
              <a:t>3</a:t>
            </a:fld>
            <a:endParaRPr lang="fr-FR"/>
          </a:p>
        </p:txBody>
      </p:sp>
      <p:sp>
        <p:nvSpPr>
          <p:cNvPr id="23" name="Carré corné 22"/>
          <p:cNvSpPr/>
          <p:nvPr/>
        </p:nvSpPr>
        <p:spPr>
          <a:xfrm rot="21432814">
            <a:off x="767512" y="1582532"/>
            <a:ext cx="6500858" cy="1212116"/>
          </a:xfrm>
          <a:prstGeom prst="foldedCorner">
            <a:avLst/>
          </a:prstGeom>
          <a:ln>
            <a:solidFill>
              <a:srgbClr val="FF0000"/>
            </a:solidFill>
          </a:ln>
        </p:spPr>
        <p:style>
          <a:lnRef idx="1">
            <a:schemeClr val="dk1"/>
          </a:lnRef>
          <a:fillRef idx="3">
            <a:schemeClr val="dk1"/>
          </a:fillRef>
          <a:effectRef idx="2">
            <a:schemeClr val="dk1"/>
          </a:effectRef>
          <a:fontRef idx="minor">
            <a:schemeClr val="lt1"/>
          </a:fontRef>
        </p:style>
        <p:txBody>
          <a:bodyPr wrap="square">
            <a:spAutoFit/>
          </a:bodyPr>
          <a:lstStyle/>
          <a:p>
            <a:pPr algn="just"/>
            <a:r>
              <a:rPr lang="en-US" sz="2000" dirty="0"/>
              <a:t>A set of techniques that ensure that data and resources (hardware or software) are used only in the context in which they are intended.</a:t>
            </a:r>
            <a:endParaRPr lang="fr-FR" sz="2000" dirty="0"/>
          </a:p>
        </p:txBody>
      </p:sp>
      <p:sp>
        <p:nvSpPr>
          <p:cNvPr id="24" name="Organigramme : Document 23"/>
          <p:cNvSpPr/>
          <p:nvPr/>
        </p:nvSpPr>
        <p:spPr>
          <a:xfrm rot="21377301">
            <a:off x="285720" y="993326"/>
            <a:ext cx="2428892" cy="649724"/>
          </a:xfrm>
          <a:prstGeom prst="flowChartDocument">
            <a:avLst/>
          </a:prstGeom>
          <a:noFill/>
          <a:ln>
            <a:noFill/>
          </a:ln>
        </p:spPr>
        <p:style>
          <a:lnRef idx="3">
            <a:schemeClr val="lt1"/>
          </a:lnRef>
          <a:fillRef idx="1">
            <a:schemeClr val="dk1"/>
          </a:fillRef>
          <a:effectRef idx="1">
            <a:schemeClr val="dk1"/>
          </a:effectRef>
          <a:fontRef idx="minor">
            <a:schemeClr val="lt1"/>
          </a:fontRef>
        </p:style>
        <p:txBody>
          <a:bodyPr wrap="square" lIns="91440" tIns="45720" rIns="91440" bIns="45720">
            <a:spAutoFit/>
          </a:bodyPr>
          <a:lstStyle/>
          <a:p>
            <a:pPr algn="ctr"/>
            <a:r>
              <a:rPr lang="fr-FR" sz="2400" b="1" i="1" cap="none"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Security</a:t>
            </a:r>
            <a:r>
              <a:rPr lang="fr-FR" sz="2800" b="1" i="1" cap="none"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 ?</a:t>
            </a:r>
            <a:r>
              <a:rPr lang="fr-FR" sz="2800" b="1" i="1" cap="none"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rPr>
              <a:t> </a:t>
            </a:r>
          </a:p>
        </p:txBody>
      </p:sp>
      <p:sp>
        <p:nvSpPr>
          <p:cNvPr id="25" name="Carré corné 24"/>
          <p:cNvSpPr/>
          <p:nvPr/>
        </p:nvSpPr>
        <p:spPr>
          <a:xfrm rot="21416412">
            <a:off x="918480" y="4169844"/>
            <a:ext cx="7376893" cy="1212116"/>
          </a:xfrm>
          <a:prstGeom prst="foldedCorner">
            <a:avLst/>
          </a:prstGeom>
          <a:ln>
            <a:solidFill>
              <a:srgbClr val="FF0000"/>
            </a:solidFill>
          </a:ln>
        </p:spPr>
        <p:style>
          <a:lnRef idx="1">
            <a:schemeClr val="dk1"/>
          </a:lnRef>
          <a:fillRef idx="3">
            <a:schemeClr val="dk1"/>
          </a:fillRef>
          <a:effectRef idx="2">
            <a:schemeClr val="dk1"/>
          </a:effectRef>
          <a:fontRef idx="minor">
            <a:schemeClr val="lt1"/>
          </a:fontRef>
        </p:style>
        <p:txBody>
          <a:bodyPr wrap="square">
            <a:spAutoFit/>
          </a:bodyPr>
          <a:lstStyle/>
          <a:p>
            <a:pPr algn="just"/>
            <a:r>
              <a:rPr lang="en-US" sz="2000" dirty="0"/>
              <a:t>Set of activities consisting of managing information: acquiring, storing, transforming, distributing, exploiting… often functions using a computer system.</a:t>
            </a:r>
            <a:endParaRPr lang="fr-FR" sz="2000" dirty="0"/>
          </a:p>
        </p:txBody>
      </p:sp>
      <p:sp>
        <p:nvSpPr>
          <p:cNvPr id="30" name="Organigramme : Document 29"/>
          <p:cNvSpPr/>
          <p:nvPr/>
        </p:nvSpPr>
        <p:spPr>
          <a:xfrm rot="21318130">
            <a:off x="438120" y="3070094"/>
            <a:ext cx="5776954" cy="649724"/>
          </a:xfrm>
          <a:prstGeom prst="flowChartDocument">
            <a:avLst/>
          </a:prstGeom>
          <a:noFill/>
          <a:ln>
            <a:noFill/>
          </a:ln>
        </p:spPr>
        <p:style>
          <a:lnRef idx="3">
            <a:schemeClr val="lt1"/>
          </a:lnRef>
          <a:fillRef idx="1">
            <a:schemeClr val="dk1"/>
          </a:fillRef>
          <a:effectRef idx="1">
            <a:schemeClr val="dk1"/>
          </a:effectRef>
          <a:fontRef idx="minor">
            <a:schemeClr val="lt1"/>
          </a:fontRef>
        </p:style>
        <p:txBody>
          <a:bodyPr wrap="square" lIns="91440" tIns="45720" rIns="91440" bIns="45720">
            <a:spAutoFit/>
          </a:bodyPr>
          <a:lstStyle/>
          <a:p>
            <a:pPr algn="ctr"/>
            <a:r>
              <a:rPr lang="fr-FR" sz="2400" b="1" i="1"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Information</a:t>
            </a:r>
            <a:r>
              <a:rPr lang="fr-FR" sz="2800" b="1" i="1" cap="none"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 System?</a:t>
            </a:r>
            <a:r>
              <a:rPr lang="fr-FR" sz="2800" b="1" i="1" cap="none"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rPr>
              <a:t> </a:t>
            </a:r>
          </a:p>
        </p:txBody>
      </p:sp>
      <p:sp>
        <p:nvSpPr>
          <p:cNvPr id="39" name="Explosion 1 38"/>
          <p:cNvSpPr/>
          <p:nvPr/>
        </p:nvSpPr>
        <p:spPr bwMode="auto">
          <a:xfrm>
            <a:off x="321409" y="2216229"/>
            <a:ext cx="8001056" cy="2357454"/>
          </a:xfrm>
          <a:prstGeom prst="irregularSeal1">
            <a:avLst/>
          </a:prstGeom>
          <a:solidFill>
            <a:srgbClr val="FFFF00"/>
          </a:solidFill>
          <a:ln>
            <a:solidFill>
              <a:srgbClr val="FF0000"/>
            </a:solid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b="1" i="1" dirty="0">
                <a:solidFill>
                  <a:schemeClr val="tx1"/>
                </a:solidFill>
              </a:rPr>
              <a:t>Information system </a:t>
            </a:r>
            <a:r>
              <a:rPr lang="fr-FR" b="1" i="1" dirty="0" err="1">
                <a:solidFill>
                  <a:schemeClr val="tx1"/>
                </a:solidFill>
              </a:rPr>
              <a:t>security</a:t>
            </a:r>
            <a:endParaRPr lang="fr-FR" b="1" i="1" dirty="0">
              <a:solidFill>
                <a:schemeClr val="tx1"/>
              </a:solidFill>
            </a:endParaRPr>
          </a:p>
          <a:p>
            <a:pPr algn="ctr" defTabSz="449263" eaLnBrk="0" fontAlgn="base" hangingPunct="0">
              <a:spcBef>
                <a:spcPct val="0"/>
              </a:spcBef>
              <a:spcAft>
                <a:spcPct val="0"/>
              </a:spcAft>
              <a:buClr>
                <a:srgbClr val="FFFFFF"/>
              </a:buClr>
              <a:buSzPct val="100000"/>
            </a:pPr>
            <a:r>
              <a:rPr lang="fr-FR" b="1" i="1" dirty="0">
                <a:solidFill>
                  <a:schemeClr val="tx1"/>
                </a:solidFill>
              </a:rPr>
              <a:t> = </a:t>
            </a:r>
          </a:p>
          <a:p>
            <a:pPr algn="ctr" defTabSz="449263" eaLnBrk="0" fontAlgn="base" hangingPunct="0">
              <a:spcBef>
                <a:spcPct val="0"/>
              </a:spcBef>
              <a:spcAft>
                <a:spcPct val="0"/>
              </a:spcAft>
              <a:buClr>
                <a:srgbClr val="FFFFFF"/>
              </a:buClr>
              <a:buSzPct val="100000"/>
            </a:pPr>
            <a:r>
              <a:rPr lang="fr-FR" b="1" i="1" dirty="0">
                <a:solidFill>
                  <a:schemeClr val="tx1"/>
                </a:solidFill>
              </a:rPr>
              <a:t>Computer system </a:t>
            </a:r>
            <a:r>
              <a:rPr lang="fr-FR" b="1" i="1" dirty="0" err="1">
                <a:solidFill>
                  <a:schemeClr val="tx1"/>
                </a:solidFill>
              </a:rPr>
              <a:t>security</a:t>
            </a:r>
            <a:r>
              <a:rPr lang="fr-FR" b="1" i="1" dirty="0">
                <a:solidFill>
                  <a:schemeClr val="tx1"/>
                </a:solidFill>
              </a:rPr>
              <a:t>.</a:t>
            </a:r>
            <a:endParaRPr lang="fr-FR" b="1" dirty="0">
              <a:solidFill>
                <a:schemeClr val="tx1"/>
              </a:solidFill>
            </a:endParaRPr>
          </a:p>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endParaRPr kumimoji="0" lang="fr-FR" sz="1800" b="0" i="0" u="none" strike="noStrike" cap="none" normalizeH="0" baseline="0" dirty="0">
              <a:ln>
                <a:noFill/>
              </a:ln>
              <a:solidFill>
                <a:schemeClr val="bg1"/>
              </a:solidFill>
              <a:effectLst/>
              <a:latin typeface="Arial" charset="0"/>
              <a:ea typeface="MS Gothic" charset="-128"/>
            </a:endParaRPr>
          </a:p>
        </p:txBody>
      </p:sp>
      <p:pic>
        <p:nvPicPr>
          <p:cNvPr id="41" name="Picture 2" descr="droppedImage.png"/>
          <p:cNvPicPr>
            <a:picLocks noChangeAspect="1"/>
          </p:cNvPicPr>
          <p:nvPr/>
        </p:nvPicPr>
        <p:blipFill>
          <a:blip r:embed="rId2"/>
          <a:srcRect/>
          <a:stretch>
            <a:fillRect/>
          </a:stretch>
        </p:blipFill>
        <p:spPr bwMode="auto">
          <a:xfrm rot="21421740">
            <a:off x="1788989" y="2622145"/>
            <a:ext cx="5065309" cy="3006495"/>
          </a:xfrm>
          <a:prstGeom prst="rect">
            <a:avLst/>
          </a:prstGeom>
          <a:ln>
            <a:noFill/>
          </a:ln>
          <a:effectLst>
            <a:softEdge rad="112500"/>
          </a:effectLst>
        </p:spPr>
      </p:pic>
      <p:sp>
        <p:nvSpPr>
          <p:cNvPr id="15" name="ZoneTexte 14"/>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16" name="ZoneTexte 15"/>
          <p:cNvSpPr txBox="1"/>
          <p:nvPr/>
        </p:nvSpPr>
        <p:spPr>
          <a:xfrm>
            <a:off x="3445838" y="305733"/>
            <a:ext cx="2357454"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17" name="ZoneTexte 16"/>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18" name="ZoneTexte 17"/>
          <p:cNvSpPr txBox="1"/>
          <p:nvPr/>
        </p:nvSpPr>
        <p:spPr>
          <a:xfrm>
            <a:off x="1830060" y="305733"/>
            <a:ext cx="1500198"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ppt_w</p:attrName>
                                        </p:attrNameLst>
                                      </p:cBhvr>
                                      <p:tavLst>
                                        <p:tav tm="0" fmla="#ppt_w*sin(2.5*pi*$)">
                                          <p:val>
                                            <p:fltVal val="0"/>
                                          </p:val>
                                        </p:tav>
                                        <p:tav tm="100000">
                                          <p:val>
                                            <p:fltVal val="1"/>
                                          </p:val>
                                        </p:tav>
                                      </p:tavLst>
                                    </p:anim>
                                    <p:anim calcmode="lin" valueType="num">
                                      <p:cBhvr>
                                        <p:cTn id="9" dur="1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2000"/>
                                        <p:tgtEl>
                                          <p:spTgt spid="23"/>
                                        </p:tgtEl>
                                      </p:cBhvr>
                                    </p:animEffect>
                                  </p:childTnLst>
                                </p:cTn>
                              </p:par>
                            </p:childTnLst>
                          </p:cTn>
                        </p:par>
                        <p:par>
                          <p:cTn id="15" fill="hold">
                            <p:stCondLst>
                              <p:cond delay="2000"/>
                            </p:stCondLst>
                            <p:childTnLst>
                              <p:par>
                                <p:cTn id="16" presetID="49" presetClass="entr" presetSubtype="0" decel="100000" fill="hold" nodeType="after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p:cTn id="18" dur="500" fill="hold"/>
                                        <p:tgtEl>
                                          <p:spTgt spid="41"/>
                                        </p:tgtEl>
                                        <p:attrNameLst>
                                          <p:attrName>ppt_w</p:attrName>
                                        </p:attrNameLst>
                                      </p:cBhvr>
                                      <p:tavLst>
                                        <p:tav tm="0">
                                          <p:val>
                                            <p:fltVal val="0"/>
                                          </p:val>
                                        </p:tav>
                                        <p:tav tm="100000">
                                          <p:val>
                                            <p:strVal val="#ppt_w"/>
                                          </p:val>
                                        </p:tav>
                                      </p:tavLst>
                                    </p:anim>
                                    <p:anim calcmode="lin" valueType="num">
                                      <p:cBhvr>
                                        <p:cTn id="19" dur="500" fill="hold"/>
                                        <p:tgtEl>
                                          <p:spTgt spid="41"/>
                                        </p:tgtEl>
                                        <p:attrNameLst>
                                          <p:attrName>ppt_h</p:attrName>
                                        </p:attrNameLst>
                                      </p:cBhvr>
                                      <p:tavLst>
                                        <p:tav tm="0">
                                          <p:val>
                                            <p:fltVal val="0"/>
                                          </p:val>
                                        </p:tav>
                                        <p:tav tm="100000">
                                          <p:val>
                                            <p:strVal val="#ppt_h"/>
                                          </p:val>
                                        </p:tav>
                                      </p:tavLst>
                                    </p:anim>
                                    <p:anim calcmode="lin" valueType="num">
                                      <p:cBhvr>
                                        <p:cTn id="20" dur="500" fill="hold"/>
                                        <p:tgtEl>
                                          <p:spTgt spid="41"/>
                                        </p:tgtEl>
                                        <p:attrNameLst>
                                          <p:attrName>style.rotation</p:attrName>
                                        </p:attrNameLst>
                                      </p:cBhvr>
                                      <p:tavLst>
                                        <p:tav tm="0">
                                          <p:val>
                                            <p:fltVal val="360"/>
                                          </p:val>
                                        </p:tav>
                                        <p:tav tm="100000">
                                          <p:val>
                                            <p:fltVal val="0"/>
                                          </p:val>
                                        </p:tav>
                                      </p:tavLst>
                                    </p:anim>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xit" presetSubtype="0" accel="100000" fill="hold" nodeType="clickEffect">
                                  <p:stCondLst>
                                    <p:cond delay="0"/>
                                  </p:stCondLst>
                                  <p:childTnLst>
                                    <p:anim calcmode="lin" valueType="num">
                                      <p:cBhvr>
                                        <p:cTn id="25" dur="500"/>
                                        <p:tgtEl>
                                          <p:spTgt spid="41"/>
                                        </p:tgtEl>
                                        <p:attrNameLst>
                                          <p:attrName>ppt_w</p:attrName>
                                        </p:attrNameLst>
                                      </p:cBhvr>
                                      <p:tavLst>
                                        <p:tav tm="0">
                                          <p:val>
                                            <p:strVal val="ppt_w"/>
                                          </p:val>
                                        </p:tav>
                                        <p:tav tm="100000">
                                          <p:val>
                                            <p:fltVal val="0"/>
                                          </p:val>
                                        </p:tav>
                                      </p:tavLst>
                                    </p:anim>
                                    <p:anim calcmode="lin" valueType="num">
                                      <p:cBhvr>
                                        <p:cTn id="26" dur="500"/>
                                        <p:tgtEl>
                                          <p:spTgt spid="41"/>
                                        </p:tgtEl>
                                        <p:attrNameLst>
                                          <p:attrName>ppt_h</p:attrName>
                                        </p:attrNameLst>
                                      </p:cBhvr>
                                      <p:tavLst>
                                        <p:tav tm="0">
                                          <p:val>
                                            <p:strVal val="ppt_h"/>
                                          </p:val>
                                        </p:tav>
                                        <p:tav tm="100000">
                                          <p:val>
                                            <p:fltVal val="0"/>
                                          </p:val>
                                        </p:tav>
                                      </p:tavLst>
                                    </p:anim>
                                    <p:anim calcmode="lin" valueType="num">
                                      <p:cBhvr>
                                        <p:cTn id="27" dur="500"/>
                                        <p:tgtEl>
                                          <p:spTgt spid="41"/>
                                        </p:tgtEl>
                                        <p:attrNameLst>
                                          <p:attrName>style.rotation</p:attrName>
                                        </p:attrNameLst>
                                      </p:cBhvr>
                                      <p:tavLst>
                                        <p:tav tm="0">
                                          <p:val>
                                            <p:fltVal val="0"/>
                                          </p:val>
                                        </p:tav>
                                        <p:tav tm="100000">
                                          <p:val>
                                            <p:fltVal val="360"/>
                                          </p:val>
                                        </p:tav>
                                      </p:tavLst>
                                    </p:anim>
                                    <p:animEffect transition="out" filter="fade">
                                      <p:cBhvr>
                                        <p:cTn id="28" dur="500"/>
                                        <p:tgtEl>
                                          <p:spTgt spid="41"/>
                                        </p:tgtEl>
                                      </p:cBhvr>
                                    </p:animEffect>
                                    <p:set>
                                      <p:cBhvr>
                                        <p:cTn id="29" dur="1" fill="hold">
                                          <p:stCondLst>
                                            <p:cond delay="499"/>
                                          </p:stCondLst>
                                        </p:cTn>
                                        <p:tgtEl>
                                          <p:spTgt spid="41"/>
                                        </p:tgtEl>
                                        <p:attrNameLst>
                                          <p:attrName>style.visibility</p:attrName>
                                        </p:attrNameLst>
                                      </p:cBhvr>
                                      <p:to>
                                        <p:strVal val="hidden"/>
                                      </p:to>
                                    </p:set>
                                  </p:childTnLst>
                                </p:cTn>
                              </p:par>
                            </p:childTnLst>
                          </p:cTn>
                        </p:par>
                        <p:par>
                          <p:cTn id="30" fill="hold">
                            <p:stCondLst>
                              <p:cond delay="500"/>
                            </p:stCondLst>
                            <p:childTnLst>
                              <p:par>
                                <p:cTn id="31" presetID="45" presetClass="entr" presetSubtype="0" fill="hold" grpId="0" nodeType="afterEffect">
                                  <p:stCondLst>
                                    <p:cond delay="0"/>
                                  </p:stCondLst>
                                  <p:iterate type="lt">
                                    <p:tmPct val="10000"/>
                                  </p:iterate>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ppt_w</p:attrName>
                                        </p:attrNameLst>
                                      </p:cBhvr>
                                      <p:tavLst>
                                        <p:tav tm="0" fmla="#ppt_w*sin(2.5*pi*$)">
                                          <p:val>
                                            <p:fltVal val="0"/>
                                          </p:val>
                                        </p:tav>
                                        <p:tav tm="100000">
                                          <p:val>
                                            <p:fltVal val="1"/>
                                          </p:val>
                                        </p:tav>
                                      </p:tavLst>
                                    </p:anim>
                                    <p:anim calcmode="lin" valueType="num">
                                      <p:cBhvr>
                                        <p:cTn id="35" dur="1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20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39" presetClass="entr" presetSubtype="0" accel="10000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 calcmode="lin" valueType="num">
                                      <p:cBhvr>
                                        <p:cTn id="45" dur="500" fill="hold"/>
                                        <p:tgtEl>
                                          <p:spTgt spid="39"/>
                                        </p:tgtEl>
                                        <p:attrNameLst>
                                          <p:attrName>ppt_h</p:attrName>
                                        </p:attrNameLst>
                                      </p:cBhvr>
                                      <p:tavLst>
                                        <p:tav tm="0">
                                          <p:val>
                                            <p:strVal val="#ppt_h/20"/>
                                          </p:val>
                                        </p:tav>
                                        <p:tav tm="50000">
                                          <p:val>
                                            <p:strVal val="#ppt_h/20"/>
                                          </p:val>
                                        </p:tav>
                                        <p:tav tm="100000">
                                          <p:val>
                                            <p:strVal val="#ppt_h"/>
                                          </p:val>
                                        </p:tav>
                                      </p:tavLst>
                                    </p:anim>
                                    <p:anim calcmode="lin" valueType="num">
                                      <p:cBhvr>
                                        <p:cTn id="46" dur="500" fill="hold"/>
                                        <p:tgtEl>
                                          <p:spTgt spid="39"/>
                                        </p:tgtEl>
                                        <p:attrNameLst>
                                          <p:attrName>ppt_w</p:attrName>
                                        </p:attrNameLst>
                                      </p:cBhvr>
                                      <p:tavLst>
                                        <p:tav tm="0">
                                          <p:val>
                                            <p:strVal val="#ppt_w+.3"/>
                                          </p:val>
                                        </p:tav>
                                        <p:tav tm="50000">
                                          <p:val>
                                            <p:strVal val="#ppt_w+.3"/>
                                          </p:val>
                                        </p:tav>
                                        <p:tav tm="100000">
                                          <p:val>
                                            <p:strVal val="#ppt_w"/>
                                          </p:val>
                                        </p:tav>
                                      </p:tavLst>
                                    </p:anim>
                                    <p:anim calcmode="lin" valueType="num">
                                      <p:cBhvr>
                                        <p:cTn id="47" dur="500" fill="hold"/>
                                        <p:tgtEl>
                                          <p:spTgt spid="39"/>
                                        </p:tgtEl>
                                        <p:attrNameLst>
                                          <p:attrName>ppt_x</p:attrName>
                                        </p:attrNameLst>
                                      </p:cBhvr>
                                      <p:tavLst>
                                        <p:tav tm="0">
                                          <p:val>
                                            <p:strVal val="#ppt_x-.3"/>
                                          </p:val>
                                        </p:tav>
                                        <p:tav tm="50000">
                                          <p:val>
                                            <p:strVal val="#ppt_x"/>
                                          </p:val>
                                        </p:tav>
                                        <p:tav tm="100000">
                                          <p:val>
                                            <p:strVal val="#ppt_x"/>
                                          </p:val>
                                        </p:tav>
                                      </p:tavLst>
                                    </p:anim>
                                    <p:anim calcmode="lin" valueType="num">
                                      <p:cBhvr>
                                        <p:cTn id="48"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animBg="1"/>
      <p:bldP spid="30" grpId="0"/>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Espace réservé de la date 27"/>
          <p:cNvSpPr>
            <a:spLocks noGrp="1"/>
          </p:cNvSpPr>
          <p:nvPr>
            <p:ph type="dt" idx="10"/>
          </p:nvPr>
        </p:nvSpPr>
        <p:spPr/>
        <p:txBody>
          <a:bodyPr/>
          <a:lstStyle/>
          <a:p>
            <a:fld id="{A98B1FEA-826D-443A-902B-C728123EEC92}" type="datetime1">
              <a:rPr lang="fr-FR" smtClean="0"/>
              <a:pPr/>
              <a:t>09/01/2026</a:t>
            </a:fld>
            <a:endParaRPr lang="fr-FR" dirty="0"/>
          </a:p>
        </p:txBody>
      </p:sp>
      <p:sp>
        <p:nvSpPr>
          <p:cNvPr id="29" name="Espace réservé du numéro de diapositive 28"/>
          <p:cNvSpPr>
            <a:spLocks noGrp="1"/>
          </p:cNvSpPr>
          <p:nvPr>
            <p:ph type="sldNum" idx="12"/>
          </p:nvPr>
        </p:nvSpPr>
        <p:spPr/>
        <p:txBody>
          <a:bodyPr/>
          <a:lstStyle/>
          <a:p>
            <a:fld id="{66EFF29A-B2FD-4D7F-BD7D-29982909C77B}" type="slidenum">
              <a:rPr lang="fr-FR" smtClean="0"/>
              <a:pPr/>
              <a:t>4</a:t>
            </a:fld>
            <a:endParaRPr lang="fr-FR"/>
          </a:p>
        </p:txBody>
      </p:sp>
      <p:grpSp>
        <p:nvGrpSpPr>
          <p:cNvPr id="2" name="Groupe 38"/>
          <p:cNvGrpSpPr/>
          <p:nvPr/>
        </p:nvGrpSpPr>
        <p:grpSpPr>
          <a:xfrm>
            <a:off x="1285852" y="1285860"/>
            <a:ext cx="7286676" cy="4857784"/>
            <a:chOff x="1285852" y="1285860"/>
            <a:chExt cx="7286676" cy="4857784"/>
          </a:xfrm>
        </p:grpSpPr>
        <p:sp>
          <p:nvSpPr>
            <p:cNvPr id="33" name="Rectangle 32"/>
            <p:cNvSpPr/>
            <p:nvPr/>
          </p:nvSpPr>
          <p:spPr bwMode="auto">
            <a:xfrm>
              <a:off x="2500298" y="200024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Threat</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4" name="Rectangle 33"/>
            <p:cNvSpPr/>
            <p:nvPr/>
          </p:nvSpPr>
          <p:spPr bwMode="auto">
            <a:xfrm>
              <a:off x="1285852" y="128586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defTabSz="449263" eaLnBrk="0" fontAlgn="base" hangingPunct="0">
                <a:spcBef>
                  <a:spcPct val="0"/>
                </a:spcBef>
                <a:spcAft>
                  <a:spcPct val="0"/>
                </a:spcAft>
                <a:buClr>
                  <a:srgbClr val="FFFFFF"/>
                </a:buClr>
                <a:buSzPct val="100000"/>
              </a:pPr>
              <a:r>
                <a:rPr lang="fr-FR" sz="2800" b="1" i="1" dirty="0" err="1">
                  <a:solidFill>
                    <a:schemeClr val="tx1"/>
                  </a:solidFill>
                  <a:latin typeface="Times New Roman" pitchFamily="18" charset="0"/>
                  <a:ea typeface="MS Gothic" charset="-128"/>
                  <a:cs typeface="Times New Roman" pitchFamily="18" charset="0"/>
                </a:rPr>
                <a:t>Vulnerability</a:t>
              </a:r>
              <a:endParaRPr kumimoji="0" lang="fr-FR" sz="28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5" name="Rectangle 34"/>
            <p:cNvSpPr/>
            <p:nvPr/>
          </p:nvSpPr>
          <p:spPr bwMode="auto">
            <a:xfrm>
              <a:off x="3929058" y="2786058"/>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Attack</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6" name="Rectangle 35"/>
            <p:cNvSpPr/>
            <p:nvPr/>
          </p:nvSpPr>
          <p:spPr bwMode="auto">
            <a:xfrm>
              <a:off x="4643438" y="3643314"/>
              <a:ext cx="3643338"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Countermeasures</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7" name="Rectangle 36"/>
            <p:cNvSpPr/>
            <p:nvPr/>
          </p:nvSpPr>
          <p:spPr bwMode="auto">
            <a:xfrm>
              <a:off x="5214942" y="4643446"/>
              <a:ext cx="3357586"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Risk</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8" name="Rectangle 37"/>
            <p:cNvSpPr/>
            <p:nvPr/>
          </p:nvSpPr>
          <p:spPr bwMode="auto">
            <a:xfrm>
              <a:off x="5572132" y="557214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Risk</a:t>
              </a:r>
              <a:r>
                <a:rPr lang="fr-FR" sz="2400" b="1" i="1" dirty="0">
                  <a:solidFill>
                    <a:schemeClr val="tx1"/>
                  </a:solidFill>
                  <a:latin typeface="Times New Roman" pitchFamily="18" charset="0"/>
                  <a:ea typeface="MS Gothic" charset="-128"/>
                  <a:cs typeface="Times New Roman" pitchFamily="18" charset="0"/>
                </a:rPr>
                <a:t> Matrix</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grpSp>
      <p:sp>
        <p:nvSpPr>
          <p:cNvPr id="42" name="Rectangle 41"/>
          <p:cNvSpPr/>
          <p:nvPr/>
        </p:nvSpPr>
        <p:spPr>
          <a:xfrm>
            <a:off x="81888" y="3143248"/>
            <a:ext cx="4000528" cy="2353016"/>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A defect or weakness in a system's design, implementation, or internal control that may lead to a security breach or violation of its security policy.</a:t>
            </a:r>
            <a:endParaRPr lang="fr-FR" sz="2000" i="1" spc="300" dirty="0">
              <a:ln w="11430" cmpd="sng">
                <a:noFill/>
                <a:prstDash val="solid"/>
                <a:miter lim="800000"/>
              </a:ln>
              <a:solidFill>
                <a:srgbClr val="FF0000"/>
              </a:solidFill>
              <a:effectLst>
                <a:outerShdw blurRad="38100" dist="38100" dir="2700000" algn="tl">
                  <a:srgbClr val="000000">
                    <a:alpha val="43137"/>
                  </a:srgbClr>
                </a:outerShdw>
              </a:effectLst>
              <a:latin typeface="Baskerville Old Face" pitchFamily="18" charset="0"/>
            </a:endParaRPr>
          </a:p>
        </p:txBody>
      </p:sp>
      <p:sp>
        <p:nvSpPr>
          <p:cNvPr id="43" name="Rectangle 42"/>
          <p:cNvSpPr/>
          <p:nvPr/>
        </p:nvSpPr>
        <p:spPr>
          <a:xfrm>
            <a:off x="81888" y="3365650"/>
            <a:ext cx="4000528" cy="1429366"/>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The possibility that a vulnerability could be exploited accidentally or by a malicious agent.</a:t>
            </a:r>
            <a:endParaRPr lang="fr-FR" sz="2000" i="1" spc="300" dirty="0">
              <a:ln w="11430" cmpd="sng">
                <a:noFill/>
                <a:prstDash val="solid"/>
                <a:miter lim="800000"/>
              </a:ln>
              <a:solidFill>
                <a:srgbClr val="FF0000"/>
              </a:solidFill>
              <a:effectLst>
                <a:outerShdw blurRad="38100" dist="38100" dir="2700000" algn="tl">
                  <a:srgbClr val="000000">
                    <a:alpha val="43137"/>
                  </a:srgbClr>
                </a:outerShdw>
              </a:effectLst>
              <a:latin typeface="Baskerville Old Face" pitchFamily="18" charset="0"/>
            </a:endParaRPr>
          </a:p>
        </p:txBody>
      </p:sp>
      <p:sp>
        <p:nvSpPr>
          <p:cNvPr id="44" name="Rectangle 43"/>
          <p:cNvSpPr/>
          <p:nvPr/>
        </p:nvSpPr>
        <p:spPr>
          <a:xfrm>
            <a:off x="58611" y="3380866"/>
            <a:ext cx="4429156" cy="1938992"/>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Malicious action exploiting vulnerabilities in a system, used to break security services by hijacking mechanisms.</a:t>
            </a:r>
            <a:endParaRPr lang="fr-FR" sz="2000" dirty="0">
              <a:solidFill>
                <a:schemeClr val="bg1"/>
              </a:solidFill>
              <a:latin typeface="Times New Roman" pitchFamily="18" charset="0"/>
              <a:cs typeface="Times New Roman" pitchFamily="18" charset="0"/>
            </a:endParaRPr>
          </a:p>
        </p:txBody>
      </p:sp>
      <p:sp>
        <p:nvSpPr>
          <p:cNvPr id="45" name="Rectangle 44"/>
          <p:cNvSpPr/>
          <p:nvPr/>
        </p:nvSpPr>
        <p:spPr>
          <a:xfrm>
            <a:off x="165768" y="3415406"/>
            <a:ext cx="4214842" cy="1421992"/>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These are the procedures or techniques used to resolve a vulnerability or counter a specific attack.</a:t>
            </a:r>
            <a:endParaRPr lang="fr-FR" sz="2000" dirty="0">
              <a:solidFill>
                <a:schemeClr val="bg1"/>
              </a:solidFill>
              <a:latin typeface="Times New Roman" pitchFamily="18" charset="0"/>
              <a:cs typeface="Times New Roman" pitchFamily="18" charset="0"/>
            </a:endParaRPr>
          </a:p>
        </p:txBody>
      </p:sp>
      <p:sp>
        <p:nvSpPr>
          <p:cNvPr id="46" name="Rectangle 45"/>
          <p:cNvSpPr/>
          <p:nvPr/>
        </p:nvSpPr>
        <p:spPr>
          <a:xfrm>
            <a:off x="213246" y="3596322"/>
            <a:ext cx="4000528" cy="968022"/>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This is the probability that a threat will exploit a vulnerability.</a:t>
            </a:r>
            <a:endParaRPr lang="fr-FR" sz="2000" i="1" spc="300" dirty="0">
              <a:ln w="11430" cmpd="sng">
                <a:noFill/>
                <a:prstDash val="solid"/>
                <a:miter lim="800000"/>
              </a:ln>
              <a:solidFill>
                <a:srgbClr val="FF0000"/>
              </a:solidFill>
              <a:effectLst>
                <a:outerShdw blurRad="38100" dist="38100" dir="2700000" algn="tl">
                  <a:srgbClr val="000000">
                    <a:alpha val="43137"/>
                  </a:srgbClr>
                </a:outerShdw>
              </a:effectLst>
              <a:latin typeface="Baskerville Old Face" pitchFamily="18" charset="0"/>
            </a:endParaRPr>
          </a:p>
        </p:txBody>
      </p:sp>
      <p:sp>
        <p:nvSpPr>
          <p:cNvPr id="21" name="ZoneTexte 20"/>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22" name="ZoneTexte 21"/>
          <p:cNvSpPr txBox="1"/>
          <p:nvPr/>
        </p:nvSpPr>
        <p:spPr>
          <a:xfrm>
            <a:off x="3445838" y="305733"/>
            <a:ext cx="2357454"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26" name="ZoneTexte 25"/>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27" name="ZoneTexte 26"/>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linds(horizontal)">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42"/>
                                        </p:tgtEl>
                                      </p:cBhvr>
                                    </p:animEffect>
                                    <p:set>
                                      <p:cBhvr>
                                        <p:cTn id="17" dur="1" fill="hold">
                                          <p:stCondLst>
                                            <p:cond delay="499"/>
                                          </p:stCondLst>
                                        </p:cTn>
                                        <p:tgtEl>
                                          <p:spTgt spid="42"/>
                                        </p:tgtEl>
                                        <p:attrNameLst>
                                          <p:attrName>style.visibility</p:attrName>
                                        </p:attrNameLst>
                                      </p:cBhvr>
                                      <p:to>
                                        <p:strVal val="hidden"/>
                                      </p:to>
                                    </p:set>
                                  </p:childTnLst>
                                </p:cTn>
                              </p:par>
                              <p:par>
                                <p:cTn id="18" presetID="3" presetClass="entr" presetSubtype="1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blinds(horizontal)">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1" nodeType="clickEffect">
                                  <p:stCondLst>
                                    <p:cond delay="0"/>
                                  </p:stCondLst>
                                  <p:childTnLst>
                                    <p:animEffect transition="out" filter="blinds(horizontal)">
                                      <p:cBhvr>
                                        <p:cTn id="24" dur="500"/>
                                        <p:tgtEl>
                                          <p:spTgt spid="43"/>
                                        </p:tgtEl>
                                      </p:cBhvr>
                                    </p:animEffect>
                                    <p:set>
                                      <p:cBhvr>
                                        <p:cTn id="25" dur="1" fill="hold">
                                          <p:stCondLst>
                                            <p:cond delay="499"/>
                                          </p:stCondLst>
                                        </p:cTn>
                                        <p:tgtEl>
                                          <p:spTgt spid="43"/>
                                        </p:tgtEl>
                                        <p:attrNameLst>
                                          <p:attrName>style.visibility</p:attrName>
                                        </p:attrNameLst>
                                      </p:cBhvr>
                                      <p:to>
                                        <p:strVal val="hidden"/>
                                      </p:to>
                                    </p:set>
                                  </p:childTnLst>
                                </p:cTn>
                              </p:par>
                              <p:par>
                                <p:cTn id="26" presetID="3" presetClass="entr" presetSubtype="1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blinds(horizontal)">
                                      <p:cBhvr>
                                        <p:cTn id="28" dur="500"/>
                                        <p:tgtEl>
                                          <p:spTgt spid="4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grpId="1" nodeType="clickEffect">
                                  <p:stCondLst>
                                    <p:cond delay="0"/>
                                  </p:stCondLst>
                                  <p:childTnLst>
                                    <p:animEffect transition="out" filter="blinds(horizontal)">
                                      <p:cBhvr>
                                        <p:cTn id="32" dur="500"/>
                                        <p:tgtEl>
                                          <p:spTgt spid="44"/>
                                        </p:tgtEl>
                                      </p:cBhvr>
                                    </p:animEffect>
                                    <p:set>
                                      <p:cBhvr>
                                        <p:cTn id="33" dur="1" fill="hold">
                                          <p:stCondLst>
                                            <p:cond delay="499"/>
                                          </p:stCondLst>
                                        </p:cTn>
                                        <p:tgtEl>
                                          <p:spTgt spid="44"/>
                                        </p:tgtEl>
                                        <p:attrNameLst>
                                          <p:attrName>style.visibility</p:attrName>
                                        </p:attrNameLst>
                                      </p:cBhvr>
                                      <p:to>
                                        <p:strVal val="hidden"/>
                                      </p:to>
                                    </p:set>
                                  </p:childTnLst>
                                </p:cTn>
                              </p:par>
                              <p:par>
                                <p:cTn id="34" presetID="3" presetClass="entr" presetSubtype="10"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blinds(horizontal)">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grpId="1" nodeType="clickEffect">
                                  <p:stCondLst>
                                    <p:cond delay="0"/>
                                  </p:stCondLst>
                                  <p:childTnLst>
                                    <p:animEffect transition="out" filter="blinds(horizontal)">
                                      <p:cBhvr>
                                        <p:cTn id="40" dur="500"/>
                                        <p:tgtEl>
                                          <p:spTgt spid="45"/>
                                        </p:tgtEl>
                                      </p:cBhvr>
                                    </p:animEffect>
                                    <p:set>
                                      <p:cBhvr>
                                        <p:cTn id="41" dur="1" fill="hold">
                                          <p:stCondLst>
                                            <p:cond delay="499"/>
                                          </p:stCondLst>
                                        </p:cTn>
                                        <p:tgtEl>
                                          <p:spTgt spid="45"/>
                                        </p:tgtEl>
                                        <p:attrNameLst>
                                          <p:attrName>style.visibility</p:attrName>
                                        </p:attrNameLst>
                                      </p:cBhvr>
                                      <p:to>
                                        <p:strVal val="hidden"/>
                                      </p:to>
                                    </p:set>
                                  </p:childTnLst>
                                </p:cTn>
                              </p:par>
                              <p:par>
                                <p:cTn id="42" presetID="3" presetClass="entr" presetSubtype="10" fill="hold" grpId="0"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blinds(horizontal)">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grpId="1" nodeType="clickEffect">
                                  <p:stCondLst>
                                    <p:cond delay="0"/>
                                  </p:stCondLst>
                                  <p:childTnLst>
                                    <p:animEffect transition="out" filter="blinds(horizontal)">
                                      <p:cBhvr>
                                        <p:cTn id="48" dur="500"/>
                                        <p:tgtEl>
                                          <p:spTgt spid="46"/>
                                        </p:tgtEl>
                                      </p:cBhvr>
                                    </p:animEffect>
                                    <p:set>
                                      <p:cBhvr>
                                        <p:cTn id="49"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43" grpId="0"/>
      <p:bldP spid="43" grpId="1"/>
      <p:bldP spid="44" grpId="0"/>
      <p:bldP spid="44" grpId="1"/>
      <p:bldP spid="45" grpId="0"/>
      <p:bldP spid="45" grpId="1"/>
      <p:bldP spid="46" grpId="0"/>
      <p:bldP spid="4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5</a:t>
            </a:fld>
            <a:endParaRPr lang="fr-FR" dirty="0"/>
          </a:p>
        </p:txBody>
      </p:sp>
      <p:sp>
        <p:nvSpPr>
          <p:cNvPr id="19" name="ZoneTexte 18"/>
          <p:cNvSpPr txBox="1"/>
          <p:nvPr/>
        </p:nvSpPr>
        <p:spPr>
          <a:xfrm>
            <a:off x="428596" y="1000108"/>
            <a:ext cx="7143800" cy="96032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pPr>
            <a:r>
              <a:rPr lang="en-US" sz="2000" dirty="0">
                <a:solidFill>
                  <a:schemeClr val="bg1"/>
                </a:solidFill>
                <a:latin typeface="Times New Roman" pitchFamily="18" charset="0"/>
                <a:cs typeface="Times New Roman" pitchFamily="18" charset="0"/>
              </a:rPr>
              <a:t>Determine the value of equipment, software and especially information,</a:t>
            </a:r>
            <a:endParaRPr lang="fr-FR" sz="2000" dirty="0">
              <a:solidFill>
                <a:schemeClr val="bg1"/>
              </a:solidFill>
              <a:latin typeface="Times New Roman" pitchFamily="18" charset="0"/>
              <a:cs typeface="Times New Roman" pitchFamily="18" charset="0"/>
            </a:endParaRPr>
          </a:p>
        </p:txBody>
      </p:sp>
      <p:pic>
        <p:nvPicPr>
          <p:cNvPr id="25" name="Picture 3" descr="C:\Users\pc\Desktop\2tup\fleche-gif-078.gif"/>
          <p:cNvPicPr>
            <a:picLocks noChangeAspect="1" noChangeArrowheads="1" noCrop="1"/>
          </p:cNvPicPr>
          <p:nvPr/>
        </p:nvPicPr>
        <p:blipFill>
          <a:blip r:embed="rId2"/>
          <a:srcRect/>
          <a:stretch>
            <a:fillRect/>
          </a:stretch>
        </p:blipFill>
        <p:spPr bwMode="auto">
          <a:xfrm>
            <a:off x="-27296" y="1136588"/>
            <a:ext cx="428596" cy="285752"/>
          </a:xfrm>
          <a:prstGeom prst="rect">
            <a:avLst/>
          </a:prstGeom>
          <a:noFill/>
        </p:spPr>
      </p:pic>
      <p:sp>
        <p:nvSpPr>
          <p:cNvPr id="26" name="ZoneTexte 25"/>
          <p:cNvSpPr txBox="1"/>
          <p:nvPr/>
        </p:nvSpPr>
        <p:spPr>
          <a:xfrm>
            <a:off x="357158" y="1920694"/>
            <a:ext cx="8786842" cy="49866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lvl="0">
              <a:lnSpc>
                <a:spcPct val="150000"/>
              </a:lnSpc>
            </a:pPr>
            <a:r>
              <a:rPr lang="en-US" sz="2000" dirty="0">
                <a:solidFill>
                  <a:schemeClr val="bg1"/>
                </a:solidFill>
                <a:latin typeface="Times New Roman" pitchFamily="18" charset="0"/>
                <a:cs typeface="Times New Roman" pitchFamily="18" charset="0"/>
              </a:rPr>
              <a:t>Determine the cost and time of replacement,</a:t>
            </a:r>
            <a:endParaRPr lang="fr-FR" sz="2000" dirty="0">
              <a:solidFill>
                <a:schemeClr val="bg1"/>
              </a:solidFill>
              <a:latin typeface="Times New Roman" pitchFamily="18" charset="0"/>
              <a:cs typeface="Times New Roman" pitchFamily="18" charset="0"/>
            </a:endParaRPr>
          </a:p>
        </p:txBody>
      </p:sp>
      <p:pic>
        <p:nvPicPr>
          <p:cNvPr id="27" name="Picture 3" descr="C:\Users\pc\Desktop\2tup\fleche-gif-078.gif"/>
          <p:cNvPicPr>
            <a:picLocks noChangeAspect="1" noChangeArrowheads="1" noCrop="1"/>
          </p:cNvPicPr>
          <p:nvPr/>
        </p:nvPicPr>
        <p:blipFill>
          <a:blip r:embed="rId2"/>
          <a:srcRect/>
          <a:stretch>
            <a:fillRect/>
          </a:stretch>
        </p:blipFill>
        <p:spPr bwMode="auto">
          <a:xfrm>
            <a:off x="-27296" y="2053976"/>
            <a:ext cx="428596" cy="285752"/>
          </a:xfrm>
          <a:prstGeom prst="rect">
            <a:avLst/>
          </a:prstGeom>
          <a:noFill/>
        </p:spPr>
      </p:pic>
      <p:sp>
        <p:nvSpPr>
          <p:cNvPr id="28" name="ZoneTexte 27"/>
          <p:cNvSpPr txBox="1"/>
          <p:nvPr/>
        </p:nvSpPr>
        <p:spPr>
          <a:xfrm>
            <a:off x="387652" y="2459992"/>
            <a:ext cx="8715404" cy="96032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sz="2000" dirty="0">
                <a:solidFill>
                  <a:schemeClr val="bg1"/>
                </a:solidFill>
                <a:latin typeface="Times New Roman" pitchFamily="18" charset="0"/>
                <a:cs typeface="Times New Roman" pitchFamily="18" charset="0"/>
              </a:rPr>
              <a:t>Perform a vulnerability analysis of the information contained on networked computers (packet analysis programs, logs, etc.),</a:t>
            </a:r>
            <a:endParaRPr lang="fr-FR" sz="2000" dirty="0">
              <a:solidFill>
                <a:schemeClr val="bg1"/>
              </a:solidFill>
              <a:latin typeface="Times New Roman" pitchFamily="18" charset="0"/>
              <a:cs typeface="Times New Roman" pitchFamily="18" charset="0"/>
            </a:endParaRPr>
          </a:p>
        </p:txBody>
      </p:sp>
      <p:sp>
        <p:nvSpPr>
          <p:cNvPr id="29" name="ZoneTexte 28"/>
          <p:cNvSpPr txBox="1"/>
          <p:nvPr/>
        </p:nvSpPr>
        <p:spPr>
          <a:xfrm>
            <a:off x="357158" y="3431116"/>
            <a:ext cx="8786842" cy="49866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sz="2000" dirty="0">
                <a:solidFill>
                  <a:schemeClr val="bg1"/>
                </a:solidFill>
                <a:latin typeface="Times New Roman" pitchFamily="18" charset="0"/>
                <a:cs typeface="Times New Roman" pitchFamily="18" charset="0"/>
              </a:rPr>
              <a:t>Determine the impact of company computer hacks on customers</a:t>
            </a:r>
            <a:endParaRPr lang="fr-FR" sz="2000" dirty="0">
              <a:solidFill>
                <a:schemeClr val="bg1"/>
              </a:solidFill>
              <a:latin typeface="Times New Roman" pitchFamily="18" charset="0"/>
              <a:cs typeface="Times New Roman" pitchFamily="18" charset="0"/>
            </a:endParaRPr>
          </a:p>
        </p:txBody>
      </p:sp>
      <p:pic>
        <p:nvPicPr>
          <p:cNvPr id="30" name="Picture 3" descr="C:\Users\pc\Desktop\2tup\fleche-gif-078.gif"/>
          <p:cNvPicPr>
            <a:picLocks noChangeAspect="1" noChangeArrowheads="1" noCrop="1"/>
          </p:cNvPicPr>
          <p:nvPr/>
        </p:nvPicPr>
        <p:blipFill>
          <a:blip r:embed="rId2"/>
          <a:srcRect/>
          <a:stretch>
            <a:fillRect/>
          </a:stretch>
        </p:blipFill>
        <p:spPr bwMode="auto">
          <a:xfrm>
            <a:off x="-27296" y="2609264"/>
            <a:ext cx="428596" cy="285752"/>
          </a:xfrm>
          <a:prstGeom prst="rect">
            <a:avLst/>
          </a:prstGeom>
          <a:noFill/>
        </p:spPr>
      </p:pic>
      <p:pic>
        <p:nvPicPr>
          <p:cNvPr id="31" name="Picture 3" descr="C:\Users\pc\Desktop\2tup\fleche-gif-078.gif"/>
          <p:cNvPicPr>
            <a:picLocks noChangeAspect="1" noChangeArrowheads="1" noCrop="1"/>
          </p:cNvPicPr>
          <p:nvPr/>
        </p:nvPicPr>
        <p:blipFill>
          <a:blip r:embed="rId2"/>
          <a:srcRect/>
          <a:stretch>
            <a:fillRect/>
          </a:stretch>
        </p:blipFill>
        <p:spPr bwMode="auto">
          <a:xfrm>
            <a:off x="-13648" y="3578046"/>
            <a:ext cx="428596" cy="285752"/>
          </a:xfrm>
          <a:prstGeom prst="rect">
            <a:avLst/>
          </a:prstGeom>
          <a:noFill/>
        </p:spPr>
      </p:pic>
      <p:sp>
        <p:nvSpPr>
          <p:cNvPr id="1027"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32" name="Parchemin horizontal 31"/>
          <p:cNvSpPr/>
          <p:nvPr/>
        </p:nvSpPr>
        <p:spPr bwMode="auto">
          <a:xfrm>
            <a:off x="755576" y="4221088"/>
            <a:ext cx="7640067" cy="1143008"/>
          </a:xfrm>
          <a:prstGeom prst="horizontalScroll">
            <a:avLst/>
          </a:prstGeom>
          <a:solidFill>
            <a:srgbClr val="FF0000"/>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449263" rtl="0" eaLnBrk="0" fontAlgn="base" latinLnBrk="0" hangingPunct="0">
              <a:lnSpc>
                <a:spcPct val="100000"/>
              </a:lnSpc>
              <a:spcBef>
                <a:spcPct val="0"/>
              </a:spcBef>
              <a:spcAft>
                <a:spcPct val="0"/>
              </a:spcAft>
              <a:buClr>
                <a:srgbClr val="FFFFFF"/>
              </a:buClr>
              <a:buSzPct val="100000"/>
              <a:buFont typeface="Arial" charset="0"/>
              <a:buNone/>
              <a:tabLst/>
            </a:pPr>
            <a:endParaRPr kumimoji="0" lang="fr-FR" sz="2000" b="0" i="0" u="none" strike="noStrike" cap="none" normalizeH="0" baseline="0" dirty="0">
              <a:ln>
                <a:noFill/>
              </a:ln>
              <a:solidFill>
                <a:schemeClr val="bg1"/>
              </a:solidFill>
              <a:effectLst/>
              <a:latin typeface="Arial" charset="0"/>
              <a:ea typeface="MS Gothic" charset="-128"/>
            </a:endParaRPr>
          </a:p>
          <a:p>
            <a:pPr algn="ctr" defTabSz="449263" eaLnBrk="0" fontAlgn="base" hangingPunct="0">
              <a:spcBef>
                <a:spcPct val="0"/>
              </a:spcBef>
              <a:spcAft>
                <a:spcPct val="0"/>
              </a:spcAft>
              <a:buClr>
                <a:srgbClr val="FFFFFF"/>
              </a:buClr>
              <a:buSzPct val="100000"/>
            </a:pPr>
            <a:r>
              <a:rPr lang="en-US" sz="2000" b="1" dirty="0">
                <a:solidFill>
                  <a:schemeClr val="bg1"/>
                </a:solidFill>
                <a:latin typeface="Arial" charset="0"/>
                <a:ea typeface="MS Gothic" charset="-128"/>
              </a:rPr>
              <a:t>Risk Level = Severity * Probability of Production</a:t>
            </a:r>
            <a:endParaRPr kumimoji="0" lang="fr-FR" sz="2000" b="1" i="0" u="none" strike="noStrike" cap="none" normalizeH="0" baseline="0" dirty="0">
              <a:ln>
                <a:noFill/>
              </a:ln>
              <a:solidFill>
                <a:schemeClr val="bg1"/>
              </a:solidFill>
              <a:effectLst/>
              <a:latin typeface="Arial" charset="0"/>
              <a:ea typeface="MS Gothic" charset="-128"/>
            </a:endParaRPr>
          </a:p>
        </p:txBody>
      </p:sp>
      <p:sp>
        <p:nvSpPr>
          <p:cNvPr id="2" name="Rectangle 1"/>
          <p:cNvSpPr/>
          <p:nvPr/>
        </p:nvSpPr>
        <p:spPr>
          <a:xfrm>
            <a:off x="755576" y="5589787"/>
            <a:ext cx="7640067" cy="400110"/>
          </a:xfrm>
          <a:prstGeom prst="rect">
            <a:avLst/>
          </a:prstGeom>
          <a:solidFill>
            <a:srgbClr val="FFFF00"/>
          </a:solidFill>
          <a:ln>
            <a:noFill/>
          </a:ln>
          <a:effectLst>
            <a:glow rad="228600">
              <a:srgbClr val="FF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000" b="1" dirty="0">
                <a:solidFill>
                  <a:schemeClr val="accent2">
                    <a:lumMod val="50000"/>
                  </a:schemeClr>
                </a:solidFill>
                <a:latin typeface="Times New Roman" pitchFamily="18" charset="0"/>
                <a:cs typeface="Times New Roman" pitchFamily="18" charset="0"/>
              </a:rPr>
              <a:t>Calculation of a risk = Threat X Vulnerability/Countermeasure</a:t>
            </a:r>
            <a:endParaRPr lang="fr-FR" sz="2000" b="1" dirty="0">
              <a:solidFill>
                <a:schemeClr val="accent2">
                  <a:lumMod val="50000"/>
                </a:schemeClr>
              </a:solidFill>
              <a:latin typeface="Times New Roman" pitchFamily="18" charset="0"/>
              <a:cs typeface="Times New Roman" pitchFamily="18" charset="0"/>
            </a:endParaRPr>
          </a:p>
        </p:txBody>
      </p:sp>
      <p:sp>
        <p:nvSpPr>
          <p:cNvPr id="20" name="ZoneTexte 19"/>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21" name="ZoneTexte 20"/>
          <p:cNvSpPr txBox="1"/>
          <p:nvPr/>
        </p:nvSpPr>
        <p:spPr>
          <a:xfrm>
            <a:off x="3445838" y="305733"/>
            <a:ext cx="2357454"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22" name="ZoneTexte 21"/>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23" name="ZoneTexte 22"/>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1000" fill="hold"/>
                                        <p:tgtEl>
                                          <p:spTgt spid="25"/>
                                        </p:tgtEl>
                                        <p:attrNameLst>
                                          <p:attrName>ppt_w</p:attrName>
                                        </p:attrNameLst>
                                      </p:cBhvr>
                                      <p:tavLst>
                                        <p:tav tm="0">
                                          <p:val>
                                            <p:strVal val="#ppt_w*0.70"/>
                                          </p:val>
                                        </p:tav>
                                        <p:tav tm="100000">
                                          <p:val>
                                            <p:strVal val="#ppt_w"/>
                                          </p:val>
                                        </p:tav>
                                      </p:tavLst>
                                    </p:anim>
                                    <p:anim calcmode="lin" valueType="num">
                                      <p:cBhvr>
                                        <p:cTn id="8" dur="1000" fill="hold"/>
                                        <p:tgtEl>
                                          <p:spTgt spid="25"/>
                                        </p:tgtEl>
                                        <p:attrNameLst>
                                          <p:attrName>ppt_h</p:attrName>
                                        </p:attrNameLst>
                                      </p:cBhvr>
                                      <p:tavLst>
                                        <p:tav tm="0">
                                          <p:val>
                                            <p:strVal val="#ppt_h"/>
                                          </p:val>
                                        </p:tav>
                                        <p:tav tm="100000">
                                          <p:val>
                                            <p:strVal val="#ppt_h"/>
                                          </p:val>
                                        </p:tav>
                                      </p:tavLst>
                                    </p:anim>
                                    <p:animEffect transition="in" filter="fade">
                                      <p:cBhvr>
                                        <p:cTn id="9" dur="1000"/>
                                        <p:tgtEl>
                                          <p:spTgt spid="25"/>
                                        </p:tgtEl>
                                      </p:cBhvr>
                                    </p:animEffect>
                                  </p:childTnLst>
                                </p:cTn>
                              </p:par>
                              <p:par>
                                <p:cTn id="10" presetID="25"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15" dur="1000" fill="hold"/>
                                        <p:tgtEl>
                                          <p:spTgt spid="19"/>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p:cTn id="24" dur="1000" fill="hold"/>
                                        <p:tgtEl>
                                          <p:spTgt spid="27"/>
                                        </p:tgtEl>
                                        <p:attrNameLst>
                                          <p:attrName>ppt_w</p:attrName>
                                        </p:attrNameLst>
                                      </p:cBhvr>
                                      <p:tavLst>
                                        <p:tav tm="0">
                                          <p:val>
                                            <p:strVal val="#ppt_w*0.70"/>
                                          </p:val>
                                        </p:tav>
                                        <p:tav tm="100000">
                                          <p:val>
                                            <p:strVal val="#ppt_w"/>
                                          </p:val>
                                        </p:tav>
                                      </p:tavLst>
                                    </p:anim>
                                    <p:anim calcmode="lin" valueType="num">
                                      <p:cBhvr>
                                        <p:cTn id="25" dur="1000" fill="hold"/>
                                        <p:tgtEl>
                                          <p:spTgt spid="27"/>
                                        </p:tgtEl>
                                        <p:attrNameLst>
                                          <p:attrName>ppt_h</p:attrName>
                                        </p:attrNameLst>
                                      </p:cBhvr>
                                      <p:tavLst>
                                        <p:tav tm="0">
                                          <p:val>
                                            <p:strVal val="#ppt_h"/>
                                          </p:val>
                                        </p:tav>
                                        <p:tav tm="100000">
                                          <p:val>
                                            <p:strVal val="#ppt_h"/>
                                          </p:val>
                                        </p:tav>
                                      </p:tavLst>
                                    </p:anim>
                                    <p:animEffect transition="in" filter="fade">
                                      <p:cBhvr>
                                        <p:cTn id="26" dur="1000"/>
                                        <p:tgtEl>
                                          <p:spTgt spid="27"/>
                                        </p:tgtEl>
                                      </p:cBhvr>
                                    </p:animEffect>
                                  </p:childTnLst>
                                </p:cTn>
                              </p:par>
                              <p:par>
                                <p:cTn id="27" presetID="25"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decel="50000" fill="hold">
                                          <p:stCondLst>
                                            <p:cond delay="0"/>
                                          </p:stCondLst>
                                        </p:cTn>
                                        <p:tgtEl>
                                          <p:spTgt spid="26"/>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26"/>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26"/>
                                        </p:tgtEl>
                                        <p:attrNameLst>
                                          <p:attrName>ppt_w</p:attrName>
                                        </p:attrNameLst>
                                      </p:cBhvr>
                                      <p:tavLst>
                                        <p:tav tm="0">
                                          <p:val>
                                            <p:strVal val="#ppt_w*.05"/>
                                          </p:val>
                                        </p:tav>
                                        <p:tav tm="100000">
                                          <p:val>
                                            <p:strVal val="#ppt_w"/>
                                          </p:val>
                                        </p:tav>
                                      </p:tavLst>
                                    </p:anim>
                                    <p:anim calcmode="lin" valueType="num">
                                      <p:cBhvr>
                                        <p:cTn id="32" dur="1000" fill="hold"/>
                                        <p:tgtEl>
                                          <p:spTgt spid="26"/>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26"/>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26"/>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26"/>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1000" fill="hold"/>
                                        <p:tgtEl>
                                          <p:spTgt spid="30"/>
                                        </p:tgtEl>
                                        <p:attrNameLst>
                                          <p:attrName>ppt_w</p:attrName>
                                        </p:attrNameLst>
                                      </p:cBhvr>
                                      <p:tavLst>
                                        <p:tav tm="0">
                                          <p:val>
                                            <p:strVal val="#ppt_w*0.70"/>
                                          </p:val>
                                        </p:tav>
                                        <p:tav tm="100000">
                                          <p:val>
                                            <p:strVal val="#ppt_w"/>
                                          </p:val>
                                        </p:tav>
                                      </p:tavLst>
                                    </p:anim>
                                    <p:anim calcmode="lin" valueType="num">
                                      <p:cBhvr>
                                        <p:cTn id="42" dur="1000" fill="hold"/>
                                        <p:tgtEl>
                                          <p:spTgt spid="30"/>
                                        </p:tgtEl>
                                        <p:attrNameLst>
                                          <p:attrName>ppt_h</p:attrName>
                                        </p:attrNameLst>
                                      </p:cBhvr>
                                      <p:tavLst>
                                        <p:tav tm="0">
                                          <p:val>
                                            <p:strVal val="#ppt_h"/>
                                          </p:val>
                                        </p:tav>
                                        <p:tav tm="100000">
                                          <p:val>
                                            <p:strVal val="#ppt_h"/>
                                          </p:val>
                                        </p:tav>
                                      </p:tavLst>
                                    </p:anim>
                                    <p:animEffect transition="in" filter="fade">
                                      <p:cBhvr>
                                        <p:cTn id="43" dur="1000"/>
                                        <p:tgtEl>
                                          <p:spTgt spid="30"/>
                                        </p:tgtEl>
                                      </p:cBhvr>
                                    </p:animEffect>
                                  </p:childTnLst>
                                </p:cTn>
                              </p:par>
                              <p:par>
                                <p:cTn id="44" presetID="25"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decel="50000" fill="hold">
                                          <p:stCondLst>
                                            <p:cond delay="0"/>
                                          </p:stCondLst>
                                        </p:cTn>
                                        <p:tgtEl>
                                          <p:spTgt spid="28"/>
                                        </p:tgtEl>
                                        <p:attrNameLst>
                                          <p:attrName>style.rotation</p:attrName>
                                        </p:attrNameLst>
                                      </p:cBhvr>
                                      <p:tavLst>
                                        <p:tav tm="0">
                                          <p:val>
                                            <p:fltVal val="-90"/>
                                          </p:val>
                                        </p:tav>
                                        <p:tav tm="100000">
                                          <p:val>
                                            <p:fltVal val="0"/>
                                          </p:val>
                                        </p:tav>
                                      </p:tavLst>
                                    </p:anim>
                                    <p:anim calcmode="lin" valueType="num">
                                      <p:cBhvr>
                                        <p:cTn id="47" dur="500" decel="50000" fill="hold">
                                          <p:stCondLst>
                                            <p:cond delay="0"/>
                                          </p:stCondLst>
                                        </p:cTn>
                                        <p:tgtEl>
                                          <p:spTgt spid="28"/>
                                        </p:tgtEl>
                                        <p:attrNameLst>
                                          <p:attrName>ppt_w</p:attrName>
                                        </p:attrNameLst>
                                      </p:cBhvr>
                                      <p:tavLst>
                                        <p:tav tm="0">
                                          <p:val>
                                            <p:strVal val="#ppt_w"/>
                                          </p:val>
                                        </p:tav>
                                        <p:tav tm="100000">
                                          <p:val>
                                            <p:strVal val="#ppt_w*.05"/>
                                          </p:val>
                                        </p:tav>
                                      </p:tavLst>
                                    </p:anim>
                                    <p:anim calcmode="lin" valueType="num">
                                      <p:cBhvr>
                                        <p:cTn id="48" dur="500" accel="50000" fill="hold">
                                          <p:stCondLst>
                                            <p:cond delay="500"/>
                                          </p:stCondLst>
                                        </p:cTn>
                                        <p:tgtEl>
                                          <p:spTgt spid="28"/>
                                        </p:tgtEl>
                                        <p:attrNameLst>
                                          <p:attrName>ppt_w</p:attrName>
                                        </p:attrNameLst>
                                      </p:cBhvr>
                                      <p:tavLst>
                                        <p:tav tm="0">
                                          <p:val>
                                            <p:strVal val="#ppt_w*.05"/>
                                          </p:val>
                                        </p:tav>
                                        <p:tav tm="100000">
                                          <p:val>
                                            <p:strVal val="#ppt_w"/>
                                          </p:val>
                                        </p:tav>
                                      </p:tavLst>
                                    </p:anim>
                                    <p:anim calcmode="lin" valueType="num">
                                      <p:cBhvr>
                                        <p:cTn id="49" dur="1000" fill="hold"/>
                                        <p:tgtEl>
                                          <p:spTgt spid="28"/>
                                        </p:tgtEl>
                                        <p:attrNameLst>
                                          <p:attrName>ppt_h</p:attrName>
                                        </p:attrNameLst>
                                      </p:cBhvr>
                                      <p:tavLst>
                                        <p:tav tm="0">
                                          <p:val>
                                            <p:strVal val="#ppt_h"/>
                                          </p:val>
                                        </p:tav>
                                        <p:tav tm="100000">
                                          <p:val>
                                            <p:strVal val="#ppt_h"/>
                                          </p:val>
                                        </p:tav>
                                      </p:tavLst>
                                    </p:anim>
                                    <p:anim calcmode="lin" valueType="num">
                                      <p:cBhvr>
                                        <p:cTn id="50" dur="500" decel="50000" fill="hold">
                                          <p:stCondLst>
                                            <p:cond delay="0"/>
                                          </p:stCondLst>
                                        </p:cTn>
                                        <p:tgtEl>
                                          <p:spTgt spid="28"/>
                                        </p:tgtEl>
                                        <p:attrNameLst>
                                          <p:attrName>ppt_x</p:attrName>
                                        </p:attrNameLst>
                                      </p:cBhvr>
                                      <p:tavLst>
                                        <p:tav tm="0">
                                          <p:val>
                                            <p:strVal val="#ppt_x+.4"/>
                                          </p:val>
                                        </p:tav>
                                        <p:tav tm="100000">
                                          <p:val>
                                            <p:strVal val="#ppt_x"/>
                                          </p:val>
                                        </p:tav>
                                      </p:tavLst>
                                    </p:anim>
                                    <p:anim calcmode="lin" valueType="num">
                                      <p:cBhvr>
                                        <p:cTn id="51" dur="500" decel="50000" fill="hold">
                                          <p:stCondLst>
                                            <p:cond delay="0"/>
                                          </p:stCondLst>
                                        </p:cTn>
                                        <p:tgtEl>
                                          <p:spTgt spid="28"/>
                                        </p:tgtEl>
                                        <p:attrNameLst>
                                          <p:attrName>ppt_y</p:attrName>
                                        </p:attrNameLst>
                                      </p:cBhvr>
                                      <p:tavLst>
                                        <p:tav tm="0">
                                          <p:val>
                                            <p:strVal val="#ppt_y-.2"/>
                                          </p:val>
                                        </p:tav>
                                        <p:tav tm="100000">
                                          <p:val>
                                            <p:strVal val="#ppt_y+.1"/>
                                          </p:val>
                                        </p:tav>
                                      </p:tavLst>
                                    </p:anim>
                                    <p:anim calcmode="lin" valueType="num">
                                      <p:cBhvr>
                                        <p:cTn id="52" dur="500" accel="50000" fill="hold">
                                          <p:stCondLst>
                                            <p:cond delay="500"/>
                                          </p:stCondLst>
                                        </p:cTn>
                                        <p:tgtEl>
                                          <p:spTgt spid="28"/>
                                        </p:tgtEl>
                                        <p:attrNameLst>
                                          <p:attrName>ppt_y</p:attrName>
                                        </p:attrNameLst>
                                      </p:cBhvr>
                                      <p:tavLst>
                                        <p:tav tm="0">
                                          <p:val>
                                            <p:strVal val="#ppt_y+.1"/>
                                          </p:val>
                                        </p:tav>
                                        <p:tav tm="100000">
                                          <p:val>
                                            <p:strVal val="#ppt_y"/>
                                          </p:val>
                                        </p:tav>
                                      </p:tavLst>
                                    </p:anim>
                                    <p:animEffect transition="in" filter="fade">
                                      <p:cBhvr>
                                        <p:cTn id="53" dur="1000" decel="50000">
                                          <p:stCondLst>
                                            <p:cond delay="0"/>
                                          </p:stCondLst>
                                        </p:cTn>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55" presetClass="entr" presetSubtype="0" fill="hold" nodeType="click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p:cTn id="58" dur="1000" fill="hold"/>
                                        <p:tgtEl>
                                          <p:spTgt spid="31"/>
                                        </p:tgtEl>
                                        <p:attrNameLst>
                                          <p:attrName>ppt_w</p:attrName>
                                        </p:attrNameLst>
                                      </p:cBhvr>
                                      <p:tavLst>
                                        <p:tav tm="0">
                                          <p:val>
                                            <p:strVal val="#ppt_w*0.70"/>
                                          </p:val>
                                        </p:tav>
                                        <p:tav tm="100000">
                                          <p:val>
                                            <p:strVal val="#ppt_w"/>
                                          </p:val>
                                        </p:tav>
                                      </p:tavLst>
                                    </p:anim>
                                    <p:anim calcmode="lin" valueType="num">
                                      <p:cBhvr>
                                        <p:cTn id="59" dur="1000" fill="hold"/>
                                        <p:tgtEl>
                                          <p:spTgt spid="31"/>
                                        </p:tgtEl>
                                        <p:attrNameLst>
                                          <p:attrName>ppt_h</p:attrName>
                                        </p:attrNameLst>
                                      </p:cBhvr>
                                      <p:tavLst>
                                        <p:tav tm="0">
                                          <p:val>
                                            <p:strVal val="#ppt_h"/>
                                          </p:val>
                                        </p:tav>
                                        <p:tav tm="100000">
                                          <p:val>
                                            <p:strVal val="#ppt_h"/>
                                          </p:val>
                                        </p:tav>
                                      </p:tavLst>
                                    </p:anim>
                                    <p:animEffect transition="in" filter="fade">
                                      <p:cBhvr>
                                        <p:cTn id="60" dur="1000"/>
                                        <p:tgtEl>
                                          <p:spTgt spid="31"/>
                                        </p:tgtEl>
                                      </p:cBhvr>
                                    </p:animEffect>
                                  </p:childTnLst>
                                </p:cTn>
                              </p:par>
                              <p:par>
                                <p:cTn id="61" presetID="25"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p:cTn id="63" dur="500" decel="50000" fill="hold">
                                          <p:stCondLst>
                                            <p:cond delay="0"/>
                                          </p:stCondLst>
                                        </p:cTn>
                                        <p:tgtEl>
                                          <p:spTgt spid="29"/>
                                        </p:tgtEl>
                                        <p:attrNameLst>
                                          <p:attrName>style.rotation</p:attrName>
                                        </p:attrNameLst>
                                      </p:cBhvr>
                                      <p:tavLst>
                                        <p:tav tm="0">
                                          <p:val>
                                            <p:fltVal val="-90"/>
                                          </p:val>
                                        </p:tav>
                                        <p:tav tm="100000">
                                          <p:val>
                                            <p:fltVal val="0"/>
                                          </p:val>
                                        </p:tav>
                                      </p:tavLst>
                                    </p:anim>
                                    <p:anim calcmode="lin" valueType="num">
                                      <p:cBhvr>
                                        <p:cTn id="64" dur="500" decel="50000" fill="hold">
                                          <p:stCondLst>
                                            <p:cond delay="0"/>
                                          </p:stCondLst>
                                        </p:cTn>
                                        <p:tgtEl>
                                          <p:spTgt spid="29"/>
                                        </p:tgtEl>
                                        <p:attrNameLst>
                                          <p:attrName>ppt_w</p:attrName>
                                        </p:attrNameLst>
                                      </p:cBhvr>
                                      <p:tavLst>
                                        <p:tav tm="0">
                                          <p:val>
                                            <p:strVal val="#ppt_w"/>
                                          </p:val>
                                        </p:tav>
                                        <p:tav tm="100000">
                                          <p:val>
                                            <p:strVal val="#ppt_w*.05"/>
                                          </p:val>
                                        </p:tav>
                                      </p:tavLst>
                                    </p:anim>
                                    <p:anim calcmode="lin" valueType="num">
                                      <p:cBhvr>
                                        <p:cTn id="65" dur="500" accel="50000" fill="hold">
                                          <p:stCondLst>
                                            <p:cond delay="500"/>
                                          </p:stCondLst>
                                        </p:cTn>
                                        <p:tgtEl>
                                          <p:spTgt spid="29"/>
                                        </p:tgtEl>
                                        <p:attrNameLst>
                                          <p:attrName>ppt_w</p:attrName>
                                        </p:attrNameLst>
                                      </p:cBhvr>
                                      <p:tavLst>
                                        <p:tav tm="0">
                                          <p:val>
                                            <p:strVal val="#ppt_w*.05"/>
                                          </p:val>
                                        </p:tav>
                                        <p:tav tm="100000">
                                          <p:val>
                                            <p:strVal val="#ppt_w"/>
                                          </p:val>
                                        </p:tav>
                                      </p:tavLst>
                                    </p:anim>
                                    <p:anim calcmode="lin" valueType="num">
                                      <p:cBhvr>
                                        <p:cTn id="66" dur="1000" fill="hold"/>
                                        <p:tgtEl>
                                          <p:spTgt spid="29"/>
                                        </p:tgtEl>
                                        <p:attrNameLst>
                                          <p:attrName>ppt_h</p:attrName>
                                        </p:attrNameLst>
                                      </p:cBhvr>
                                      <p:tavLst>
                                        <p:tav tm="0">
                                          <p:val>
                                            <p:strVal val="#ppt_h"/>
                                          </p:val>
                                        </p:tav>
                                        <p:tav tm="100000">
                                          <p:val>
                                            <p:strVal val="#ppt_h"/>
                                          </p:val>
                                        </p:tav>
                                      </p:tavLst>
                                    </p:anim>
                                    <p:anim calcmode="lin" valueType="num">
                                      <p:cBhvr>
                                        <p:cTn id="67" dur="500" decel="50000" fill="hold">
                                          <p:stCondLst>
                                            <p:cond delay="0"/>
                                          </p:stCondLst>
                                        </p:cTn>
                                        <p:tgtEl>
                                          <p:spTgt spid="29"/>
                                        </p:tgtEl>
                                        <p:attrNameLst>
                                          <p:attrName>ppt_x</p:attrName>
                                        </p:attrNameLst>
                                      </p:cBhvr>
                                      <p:tavLst>
                                        <p:tav tm="0">
                                          <p:val>
                                            <p:strVal val="#ppt_x+.4"/>
                                          </p:val>
                                        </p:tav>
                                        <p:tav tm="100000">
                                          <p:val>
                                            <p:strVal val="#ppt_x"/>
                                          </p:val>
                                        </p:tav>
                                      </p:tavLst>
                                    </p:anim>
                                    <p:anim calcmode="lin" valueType="num">
                                      <p:cBhvr>
                                        <p:cTn id="68" dur="500" decel="50000" fill="hold">
                                          <p:stCondLst>
                                            <p:cond delay="0"/>
                                          </p:stCondLst>
                                        </p:cTn>
                                        <p:tgtEl>
                                          <p:spTgt spid="29"/>
                                        </p:tgtEl>
                                        <p:attrNameLst>
                                          <p:attrName>ppt_y</p:attrName>
                                        </p:attrNameLst>
                                      </p:cBhvr>
                                      <p:tavLst>
                                        <p:tav tm="0">
                                          <p:val>
                                            <p:strVal val="#ppt_y-.2"/>
                                          </p:val>
                                        </p:tav>
                                        <p:tav tm="100000">
                                          <p:val>
                                            <p:strVal val="#ppt_y+.1"/>
                                          </p:val>
                                        </p:tav>
                                      </p:tavLst>
                                    </p:anim>
                                    <p:anim calcmode="lin" valueType="num">
                                      <p:cBhvr>
                                        <p:cTn id="69" dur="500" accel="50000" fill="hold">
                                          <p:stCondLst>
                                            <p:cond delay="500"/>
                                          </p:stCondLst>
                                        </p:cTn>
                                        <p:tgtEl>
                                          <p:spTgt spid="29"/>
                                        </p:tgtEl>
                                        <p:attrNameLst>
                                          <p:attrName>ppt_y</p:attrName>
                                        </p:attrNameLst>
                                      </p:cBhvr>
                                      <p:tavLst>
                                        <p:tav tm="0">
                                          <p:val>
                                            <p:strVal val="#ppt_y+.1"/>
                                          </p:val>
                                        </p:tav>
                                        <p:tav tm="100000">
                                          <p:val>
                                            <p:strVal val="#ppt_y"/>
                                          </p:val>
                                        </p:tav>
                                      </p:tavLst>
                                    </p:anim>
                                    <p:animEffect transition="in" filter="fade">
                                      <p:cBhvr>
                                        <p:cTn id="70" dur="1000" decel="50000">
                                          <p:stCondLst>
                                            <p:cond delay="0"/>
                                          </p:stCondLst>
                                        </p:cTn>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34"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anim from="(-#ppt_w/2)" to="(#ppt_x)" calcmode="lin" valueType="num">
                                      <p:cBhvr>
                                        <p:cTn id="75" dur="600" fill="hold">
                                          <p:stCondLst>
                                            <p:cond delay="0"/>
                                          </p:stCondLst>
                                        </p:cTn>
                                        <p:tgtEl>
                                          <p:spTgt spid="32"/>
                                        </p:tgtEl>
                                        <p:attrNameLst>
                                          <p:attrName>ppt_x</p:attrName>
                                        </p:attrNameLst>
                                      </p:cBhvr>
                                    </p:anim>
                                    <p:anim from="0" to="-1.0" calcmode="lin" valueType="num">
                                      <p:cBhvr>
                                        <p:cTn id="76" dur="200" decel="50000" autoRev="1" fill="hold">
                                          <p:stCondLst>
                                            <p:cond delay="600"/>
                                          </p:stCondLst>
                                        </p:cTn>
                                        <p:tgtEl>
                                          <p:spTgt spid="32"/>
                                        </p:tgtEl>
                                        <p:attrNameLst>
                                          <p:attrName>xshear</p:attrName>
                                        </p:attrNameLst>
                                      </p:cBhvr>
                                    </p:anim>
                                    <p:animScale>
                                      <p:cBhvr>
                                        <p:cTn id="77" dur="200" decel="100000" autoRev="1" fill="hold">
                                          <p:stCondLst>
                                            <p:cond delay="600"/>
                                          </p:stCondLst>
                                        </p:cTn>
                                        <p:tgtEl>
                                          <p:spTgt spid="32"/>
                                        </p:tgtEl>
                                      </p:cBhvr>
                                      <p:from x="100000" y="100000"/>
                                      <p:to x="80000" y="100000"/>
                                    </p:animScale>
                                    <p:anim by="(#ppt_h/3+#ppt_w*0.1)" calcmode="lin" valueType="num">
                                      <p:cBhvr additive="sum">
                                        <p:cTn id="78" dur="200" decel="100000" autoRev="1" fill="hold">
                                          <p:stCondLst>
                                            <p:cond delay="600"/>
                                          </p:stCondLst>
                                        </p:cTn>
                                        <p:tgtEl>
                                          <p:spTgt spid="32"/>
                                        </p:tgtEl>
                                        <p:attrNameLst>
                                          <p:attrName>ppt_x</p:attrName>
                                        </p:attrNameLst>
                                      </p:cBhvr>
                                    </p:anim>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grpId="0"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barn(inVertical)">
                                      <p:cBhvr>
                                        <p:cTn id="8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8" grpId="0"/>
      <p:bldP spid="29" grpId="0"/>
      <p:bldP spid="32"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Espace réservé de la date 27"/>
          <p:cNvSpPr>
            <a:spLocks noGrp="1"/>
          </p:cNvSpPr>
          <p:nvPr>
            <p:ph type="dt" idx="10"/>
          </p:nvPr>
        </p:nvSpPr>
        <p:spPr/>
        <p:txBody>
          <a:bodyPr/>
          <a:lstStyle/>
          <a:p>
            <a:fld id="{A98B1FEA-826D-443A-902B-C728123EEC92}" type="datetime1">
              <a:rPr lang="fr-FR" smtClean="0"/>
              <a:pPr/>
              <a:t>09/01/2026</a:t>
            </a:fld>
            <a:endParaRPr lang="fr-FR" dirty="0"/>
          </a:p>
        </p:txBody>
      </p:sp>
      <p:sp>
        <p:nvSpPr>
          <p:cNvPr id="29" name="Espace réservé du numéro de diapositive 28"/>
          <p:cNvSpPr>
            <a:spLocks noGrp="1"/>
          </p:cNvSpPr>
          <p:nvPr>
            <p:ph type="sldNum" idx="12"/>
          </p:nvPr>
        </p:nvSpPr>
        <p:spPr/>
        <p:txBody>
          <a:bodyPr/>
          <a:lstStyle/>
          <a:p>
            <a:fld id="{66EFF29A-B2FD-4D7F-BD7D-29982909C77B}" type="slidenum">
              <a:rPr lang="fr-FR" smtClean="0"/>
              <a:pPr/>
              <a:t>6</a:t>
            </a:fld>
            <a:endParaRPr lang="fr-FR"/>
          </a:p>
        </p:txBody>
      </p:sp>
      <p:grpSp>
        <p:nvGrpSpPr>
          <p:cNvPr id="2" name="Groupe 38"/>
          <p:cNvGrpSpPr/>
          <p:nvPr/>
        </p:nvGrpSpPr>
        <p:grpSpPr>
          <a:xfrm>
            <a:off x="1285852" y="1285860"/>
            <a:ext cx="7286676" cy="4857784"/>
            <a:chOff x="1285852" y="1285860"/>
            <a:chExt cx="7286676" cy="4857784"/>
          </a:xfrm>
        </p:grpSpPr>
        <p:sp>
          <p:nvSpPr>
            <p:cNvPr id="33" name="Rectangle 32"/>
            <p:cNvSpPr/>
            <p:nvPr/>
          </p:nvSpPr>
          <p:spPr bwMode="auto">
            <a:xfrm>
              <a:off x="2500298" y="200024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Threat</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4" name="Rectangle 33"/>
            <p:cNvSpPr/>
            <p:nvPr/>
          </p:nvSpPr>
          <p:spPr bwMode="auto">
            <a:xfrm>
              <a:off x="1285852" y="128586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defTabSz="449263" eaLnBrk="0" fontAlgn="base" hangingPunct="0">
                <a:spcBef>
                  <a:spcPct val="0"/>
                </a:spcBef>
                <a:spcAft>
                  <a:spcPct val="0"/>
                </a:spcAft>
                <a:buClr>
                  <a:srgbClr val="FFFFFF"/>
                </a:buClr>
                <a:buSzPct val="100000"/>
              </a:pPr>
              <a:r>
                <a:rPr lang="fr-FR" sz="2800" b="1" i="1" dirty="0" err="1">
                  <a:solidFill>
                    <a:schemeClr val="tx1"/>
                  </a:solidFill>
                  <a:latin typeface="Times New Roman" pitchFamily="18" charset="0"/>
                  <a:ea typeface="MS Gothic" charset="-128"/>
                  <a:cs typeface="Times New Roman" pitchFamily="18" charset="0"/>
                </a:rPr>
                <a:t>Vulnerability</a:t>
              </a:r>
              <a:endParaRPr kumimoji="0" lang="fr-FR" sz="28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5" name="Rectangle 34"/>
            <p:cNvSpPr/>
            <p:nvPr/>
          </p:nvSpPr>
          <p:spPr bwMode="auto">
            <a:xfrm>
              <a:off x="3929058" y="2786058"/>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Attack</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6" name="Rectangle 35"/>
            <p:cNvSpPr/>
            <p:nvPr/>
          </p:nvSpPr>
          <p:spPr bwMode="auto">
            <a:xfrm>
              <a:off x="4643438" y="3643314"/>
              <a:ext cx="3643338"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Countermeasures</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7" name="Rectangle 36"/>
            <p:cNvSpPr/>
            <p:nvPr/>
          </p:nvSpPr>
          <p:spPr bwMode="auto">
            <a:xfrm>
              <a:off x="5214942" y="4643446"/>
              <a:ext cx="3357586"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Risk</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sp>
          <p:nvSpPr>
            <p:cNvPr id="38" name="Rectangle 37"/>
            <p:cNvSpPr/>
            <p:nvPr/>
          </p:nvSpPr>
          <p:spPr bwMode="auto">
            <a:xfrm>
              <a:off x="5572132" y="5572140"/>
              <a:ext cx="2786082" cy="571504"/>
            </a:xfrm>
            <a:prstGeom prst="rect">
              <a:avLst/>
            </a:prstGeom>
            <a:ln>
              <a:solidFill>
                <a:schemeClr val="bg2">
                  <a:lumMod val="75000"/>
                </a:schemeClr>
              </a:solidFill>
              <a:headEnd type="none" w="med" len="med"/>
              <a:tailEnd type="none" w="med" len="med"/>
            </a:ln>
            <a:scene3d>
              <a:camera prst="isometricOffAxis1Right"/>
              <a:lightRig rig="threePt" dir="t"/>
            </a:scene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defTabSz="449263" eaLnBrk="0" fontAlgn="base" hangingPunct="0">
                <a:spcBef>
                  <a:spcPct val="0"/>
                </a:spcBef>
                <a:spcAft>
                  <a:spcPct val="0"/>
                </a:spcAft>
                <a:buClr>
                  <a:srgbClr val="FFFFFF"/>
                </a:buClr>
                <a:buSzPct val="100000"/>
              </a:pPr>
              <a:r>
                <a:rPr lang="fr-FR" sz="2400" b="1" i="1" dirty="0" err="1">
                  <a:solidFill>
                    <a:schemeClr val="tx1"/>
                  </a:solidFill>
                  <a:latin typeface="Times New Roman" pitchFamily="18" charset="0"/>
                  <a:ea typeface="MS Gothic" charset="-128"/>
                  <a:cs typeface="Times New Roman" pitchFamily="18" charset="0"/>
                </a:rPr>
                <a:t>Risk</a:t>
              </a:r>
              <a:r>
                <a:rPr lang="fr-FR" sz="2400" b="1" i="1" dirty="0">
                  <a:solidFill>
                    <a:schemeClr val="tx1"/>
                  </a:solidFill>
                  <a:latin typeface="Times New Roman" pitchFamily="18" charset="0"/>
                  <a:ea typeface="MS Gothic" charset="-128"/>
                  <a:cs typeface="Times New Roman" pitchFamily="18" charset="0"/>
                </a:rPr>
                <a:t> Matrix</a:t>
              </a:r>
              <a:endParaRPr kumimoji="0" lang="fr-FR" sz="2400" b="1" i="1" u="none" strike="noStrike" cap="none" normalizeH="0" baseline="0" dirty="0">
                <a:ln>
                  <a:noFill/>
                </a:ln>
                <a:solidFill>
                  <a:schemeClr val="tx1"/>
                </a:solidFill>
                <a:effectLst/>
                <a:latin typeface="Times New Roman" pitchFamily="18" charset="0"/>
                <a:ea typeface="MS Gothic" charset="-128"/>
                <a:cs typeface="Times New Roman" pitchFamily="18" charset="0"/>
              </a:endParaRPr>
            </a:p>
          </p:txBody>
        </p:sp>
      </p:grpSp>
      <p:sp>
        <p:nvSpPr>
          <p:cNvPr id="21" name="Rectangle 20"/>
          <p:cNvSpPr/>
          <p:nvPr/>
        </p:nvSpPr>
        <p:spPr>
          <a:xfrm>
            <a:off x="302566" y="3409856"/>
            <a:ext cx="4000528" cy="1891352"/>
          </a:xfrm>
          <a:prstGeom prst="rect">
            <a:avLst/>
          </a:prstGeom>
          <a:noFill/>
          <a:ln>
            <a:noFill/>
          </a:ln>
        </p:spPr>
        <p:txBody>
          <a:bodyPr wrap="square">
            <a:spAutoFit/>
          </a:bodyPr>
          <a:lstStyle/>
          <a:p>
            <a:pPr algn="ctr">
              <a:lnSpc>
                <a:spcPct val="150000"/>
              </a:lnSpc>
            </a:pPr>
            <a:r>
              <a:rPr lang="en-US" sz="2000" dirty="0">
                <a:solidFill>
                  <a:schemeClr val="bg1"/>
                </a:solidFill>
                <a:latin typeface="Times New Roman" pitchFamily="18" charset="0"/>
                <a:cs typeface="Times New Roman" pitchFamily="18" charset="0"/>
              </a:rPr>
              <a:t>(probability, assessment or impact) is a risk analysis tool that assesses the severity of a risk in a system based on the likelihood of it occurring.</a:t>
            </a:r>
            <a:endParaRPr lang="fr-FR" sz="2000" i="1" spc="300" dirty="0">
              <a:ln w="11430" cmpd="sng">
                <a:noFill/>
                <a:prstDash val="solid"/>
                <a:miter lim="800000"/>
              </a:ln>
              <a:solidFill>
                <a:srgbClr val="FF0000"/>
              </a:solidFill>
              <a:effectLst>
                <a:outerShdw blurRad="38100" dist="38100" dir="2700000" algn="tl">
                  <a:srgbClr val="000000">
                    <a:alpha val="43137"/>
                  </a:srgbClr>
                </a:outerShdw>
              </a:effectLst>
              <a:latin typeface="Baskerville Old Face" pitchFamily="18" charset="0"/>
            </a:endParaRPr>
          </a:p>
        </p:txBody>
      </p:sp>
      <p:sp>
        <p:nvSpPr>
          <p:cNvPr id="22" name="ZoneTexte 21"/>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26" name="ZoneTexte 25"/>
          <p:cNvSpPr txBox="1"/>
          <p:nvPr/>
        </p:nvSpPr>
        <p:spPr>
          <a:xfrm>
            <a:off x="3445838" y="305733"/>
            <a:ext cx="2357454"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27" name="ZoneTexte 26"/>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31" name="ZoneTexte 30"/>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extLst>
      <p:ext uri="{BB962C8B-B14F-4D97-AF65-F5344CB8AC3E}">
        <p14:creationId xmlns:p14="http://schemas.microsoft.com/office/powerpoint/2010/main" val="116754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21"/>
                                        </p:tgtEl>
                                      </p:cBhvr>
                                    </p:animEffect>
                                    <p:set>
                                      <p:cBhvr>
                                        <p:cTn id="17"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7</a:t>
            </a:fld>
            <a:endParaRPr lang="fr-FR" dirty="0"/>
          </a:p>
        </p:txBody>
      </p:sp>
      <p:pic>
        <p:nvPicPr>
          <p:cNvPr id="62465" name="Picture 1"/>
          <p:cNvPicPr>
            <a:picLocks noChangeAspect="1" noChangeArrowheads="1"/>
          </p:cNvPicPr>
          <p:nvPr/>
        </p:nvPicPr>
        <p:blipFill>
          <a:blip r:embed="rId2"/>
          <a:srcRect/>
          <a:stretch>
            <a:fillRect/>
          </a:stretch>
        </p:blipFill>
        <p:spPr bwMode="auto">
          <a:xfrm>
            <a:off x="428596" y="1785926"/>
            <a:ext cx="7600950" cy="3929090"/>
          </a:xfrm>
          <a:prstGeom prst="rect">
            <a:avLst/>
          </a:prstGeom>
          <a:ln>
            <a:noFill/>
          </a:ln>
          <a:effectLst>
            <a:outerShdw blurRad="190500" algn="tl" rotWithShape="0">
              <a:srgbClr val="000000">
                <a:alpha val="70000"/>
              </a:srgbClr>
            </a:outerShdw>
          </a:effectLst>
        </p:spPr>
      </p:pic>
      <p:sp>
        <p:nvSpPr>
          <p:cNvPr id="25" name="Explosion 1 24"/>
          <p:cNvSpPr/>
          <p:nvPr/>
        </p:nvSpPr>
        <p:spPr bwMode="auto">
          <a:xfrm>
            <a:off x="1643042" y="4000504"/>
            <a:ext cx="1571636" cy="785818"/>
          </a:xfrm>
          <a:prstGeom prst="irregularSeal1">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r>
              <a:rPr kumimoji="0" lang="fr-FR" sz="1600" b="1" i="0" u="none" strike="noStrike" cap="none" normalizeH="0" baseline="0" dirty="0" err="1">
                <a:ln>
                  <a:noFill/>
                </a:ln>
                <a:solidFill>
                  <a:schemeClr val="bg1"/>
                </a:solidFill>
                <a:effectLst/>
                <a:latin typeface="Arial" charset="0"/>
                <a:ea typeface="MS Gothic" charset="-128"/>
              </a:rPr>
              <a:t>Minor</a:t>
            </a:r>
            <a:endParaRPr kumimoji="0" lang="fr-FR" sz="1600" b="1" i="0" u="none" strike="noStrike" cap="none" normalizeH="0" baseline="0" dirty="0">
              <a:ln>
                <a:noFill/>
              </a:ln>
              <a:solidFill>
                <a:schemeClr val="bg1"/>
              </a:solidFill>
              <a:effectLst/>
              <a:latin typeface="Arial" charset="0"/>
              <a:ea typeface="MS Gothic" charset="-128"/>
            </a:endParaRPr>
          </a:p>
        </p:txBody>
      </p:sp>
      <p:sp>
        <p:nvSpPr>
          <p:cNvPr id="26" name="Explosion 1 25"/>
          <p:cNvSpPr/>
          <p:nvPr/>
        </p:nvSpPr>
        <p:spPr bwMode="auto">
          <a:xfrm>
            <a:off x="2955522" y="3183896"/>
            <a:ext cx="1571636" cy="785818"/>
          </a:xfrm>
          <a:prstGeom prst="irregularSeal1">
            <a:avLst/>
          </a:prstGeom>
          <a:solidFill>
            <a:srgbClr val="FF9900"/>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r>
              <a:rPr kumimoji="0" lang="fr-FR" sz="1600" b="1" i="0" u="none" strike="noStrike" cap="none" normalizeH="0" baseline="0" dirty="0">
                <a:ln>
                  <a:noFill/>
                </a:ln>
                <a:solidFill>
                  <a:schemeClr val="bg1"/>
                </a:solidFill>
                <a:effectLst/>
                <a:latin typeface="Arial" charset="0"/>
                <a:ea typeface="MS Gothic" charset="-128"/>
              </a:rPr>
              <a:t>Major</a:t>
            </a:r>
          </a:p>
        </p:txBody>
      </p:sp>
      <p:sp>
        <p:nvSpPr>
          <p:cNvPr id="27" name="Explosion 1 26"/>
          <p:cNvSpPr/>
          <p:nvPr/>
        </p:nvSpPr>
        <p:spPr bwMode="auto">
          <a:xfrm>
            <a:off x="4868514" y="2626600"/>
            <a:ext cx="1775188" cy="785818"/>
          </a:xfrm>
          <a:prstGeom prst="irregularSeal1">
            <a:avLst/>
          </a:prstGeom>
          <a:solidFill>
            <a:srgbClr val="FF3300"/>
          </a:solidFill>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r>
              <a:rPr kumimoji="0" lang="fr-FR" sz="1600" b="1" i="0" u="none" strike="noStrike" cap="none" normalizeH="0" baseline="0" dirty="0" err="1">
                <a:ln>
                  <a:noFill/>
                </a:ln>
                <a:solidFill>
                  <a:schemeClr val="bg1"/>
                </a:solidFill>
                <a:effectLst/>
                <a:latin typeface="Arial" charset="0"/>
                <a:ea typeface="MS Gothic" charset="-128"/>
              </a:rPr>
              <a:t>Critical</a:t>
            </a:r>
            <a:endParaRPr kumimoji="0" lang="fr-FR" sz="1600" b="1" i="0" u="none" strike="noStrike" cap="none" normalizeH="0" baseline="0" dirty="0">
              <a:ln>
                <a:noFill/>
              </a:ln>
              <a:solidFill>
                <a:schemeClr val="bg1"/>
              </a:solidFill>
              <a:effectLst/>
              <a:latin typeface="Arial" charset="0"/>
              <a:ea typeface="MS Gothic" charset="-128"/>
            </a:endParaRPr>
          </a:p>
        </p:txBody>
      </p:sp>
      <p:sp>
        <p:nvSpPr>
          <p:cNvPr id="14" name="ZoneTexte 13"/>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15" name="ZoneTexte 14"/>
          <p:cNvSpPr txBox="1"/>
          <p:nvPr/>
        </p:nvSpPr>
        <p:spPr>
          <a:xfrm>
            <a:off x="3445838" y="305733"/>
            <a:ext cx="2357454"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16" name="ZoneTexte 15"/>
          <p:cNvSpPr txBox="1"/>
          <p:nvPr/>
        </p:nvSpPr>
        <p:spPr>
          <a:xfrm>
            <a:off x="5895630" y="305733"/>
            <a:ext cx="1500198"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17" name="ZoneTexte 16"/>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2465"/>
                                        </p:tgtEl>
                                        <p:attrNameLst>
                                          <p:attrName>style.visibility</p:attrName>
                                        </p:attrNameLst>
                                      </p:cBhvr>
                                      <p:to>
                                        <p:strVal val="visible"/>
                                      </p:to>
                                    </p:set>
                                    <p:animEffect transition="in" filter="checkerboard(across)">
                                      <p:cBhvr>
                                        <p:cTn id="7" dur="500"/>
                                        <p:tgtEl>
                                          <p:spTgt spid="6246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p:cTn id="26" dur="500" fill="hold"/>
                                        <p:tgtEl>
                                          <p:spTgt spid="27"/>
                                        </p:tgtEl>
                                        <p:attrNameLst>
                                          <p:attrName>ppt_w</p:attrName>
                                        </p:attrNameLst>
                                      </p:cBhvr>
                                      <p:tavLst>
                                        <p:tav tm="0">
                                          <p:val>
                                            <p:fltVal val="0"/>
                                          </p:val>
                                        </p:tav>
                                        <p:tav tm="100000">
                                          <p:val>
                                            <p:strVal val="#ppt_w"/>
                                          </p:val>
                                        </p:tav>
                                      </p:tavLst>
                                    </p:anim>
                                    <p:anim calcmode="lin" valueType="num">
                                      <p:cBhvr>
                                        <p:cTn id="27" dur="500" fill="hold"/>
                                        <p:tgtEl>
                                          <p:spTgt spid="27"/>
                                        </p:tgtEl>
                                        <p:attrNameLst>
                                          <p:attrName>ppt_h</p:attrName>
                                        </p:attrNameLst>
                                      </p:cBhvr>
                                      <p:tavLst>
                                        <p:tav tm="0">
                                          <p:val>
                                            <p:fltVal val="0"/>
                                          </p:val>
                                        </p:tav>
                                        <p:tav tm="100000">
                                          <p:val>
                                            <p:strVal val="#ppt_h"/>
                                          </p:val>
                                        </p:tav>
                                      </p:tavLst>
                                    </p:anim>
                                    <p:animEffect transition="in" filter="fade">
                                      <p:cBhvr>
                                        <p:cTn id="2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713266" y="928670"/>
            <a:ext cx="5214974" cy="1071570"/>
          </a:xfrm>
          <a:prstGeom prst="wedgeRoundRectCallout">
            <a:avLst>
              <a:gd name="adj1" fmla="val -39881"/>
              <a:gd name="adj2" fmla="val 104405"/>
              <a:gd name="adj3" fmla="val 16667"/>
            </a:avLst>
          </a:prstGeom>
          <a:ln>
            <a:solidFill>
              <a:schemeClr val="accent3">
                <a:lumMod val="60000"/>
                <a:lumOff val="40000"/>
              </a:schemeClr>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dirty="0"/>
              <a:t>Refers to the protection of sensitive data from unauthorized access or disclosure. (encryption, access controls, …. </a:t>
            </a:r>
            <a:endParaRPr lang="fr-FR" dirty="0"/>
          </a:p>
        </p:txBody>
      </p:sp>
      <p:sp>
        <p:nvSpPr>
          <p:cNvPr id="6" name="ZoneTexte 5"/>
          <p:cNvSpPr txBox="1"/>
          <p:nvPr/>
        </p:nvSpPr>
        <p:spPr>
          <a:xfrm>
            <a:off x="273558" y="2643182"/>
            <a:ext cx="2071702" cy="369332"/>
          </a:xfrm>
          <a:prstGeom prst="rect">
            <a:avLst/>
          </a:prstGeom>
          <a:ln>
            <a:solidFill>
              <a:schemeClr val="bg1"/>
            </a:solidFill>
          </a:ln>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fr-FR" b="1" dirty="0" err="1">
                <a:solidFill>
                  <a:schemeClr val="bg1"/>
                </a:solidFill>
              </a:rPr>
              <a:t>Confidentiality</a:t>
            </a:r>
            <a:endParaRPr lang="fr-FR" b="1" dirty="0">
              <a:solidFill>
                <a:schemeClr val="bg1"/>
              </a:solidFill>
            </a:endParaRPr>
          </a:p>
        </p:txBody>
      </p:sp>
      <p:sp>
        <p:nvSpPr>
          <p:cNvPr id="7" name="Rectangle à coins arrondis 6"/>
          <p:cNvSpPr/>
          <p:nvPr/>
        </p:nvSpPr>
        <p:spPr>
          <a:xfrm>
            <a:off x="3357554" y="2082128"/>
            <a:ext cx="5786446" cy="1071570"/>
          </a:xfrm>
          <a:prstGeom prst="wedgeRoundRectCallout">
            <a:avLst>
              <a:gd name="adj1" fmla="val -7804"/>
              <a:gd name="adj2" fmla="val 94216"/>
              <a:gd name="adj3" fmla="val 16667"/>
            </a:avLst>
          </a:prstGeom>
          <a:ln>
            <a:solidFill>
              <a:schemeClr val="accent3">
                <a:lumMod val="60000"/>
                <a:lumOff val="40000"/>
              </a:schemeClr>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dirty="0"/>
              <a:t>ensures that data is not tampered with or altered in any way. This can be achieved through the use of digital signatures, hashing, and other cryptographic methods, …</a:t>
            </a:r>
            <a:endParaRPr lang="fr-FR" dirty="0"/>
          </a:p>
        </p:txBody>
      </p:sp>
      <p:sp>
        <p:nvSpPr>
          <p:cNvPr id="10" name="Rectangle à coins arrondis 9"/>
          <p:cNvSpPr/>
          <p:nvPr/>
        </p:nvSpPr>
        <p:spPr>
          <a:xfrm>
            <a:off x="0" y="3153698"/>
            <a:ext cx="4888246" cy="1061120"/>
          </a:xfrm>
          <a:prstGeom prst="wedgeRoundRectCallout">
            <a:avLst>
              <a:gd name="adj1" fmla="val -21175"/>
              <a:gd name="adj2" fmla="val 92829"/>
              <a:gd name="adj3" fmla="val 16667"/>
            </a:avLst>
          </a:prstGeom>
          <a:ln>
            <a:solidFill>
              <a:schemeClr val="accent3">
                <a:lumMod val="60000"/>
                <a:lumOff val="40000"/>
              </a:schemeClr>
            </a:solidFill>
          </a:ln>
        </p:spPr>
        <p:style>
          <a:lnRef idx="3">
            <a:schemeClr val="lt1"/>
          </a:lnRef>
          <a:fillRef idx="1">
            <a:schemeClr val="dk1"/>
          </a:fillRef>
          <a:effectRef idx="1">
            <a:schemeClr val="dk1"/>
          </a:effectRef>
          <a:fontRef idx="minor">
            <a:schemeClr val="lt1"/>
          </a:fontRef>
        </p:style>
        <p:txBody>
          <a:bodyPr rtlCol="0" anchor="ctr"/>
          <a:lstStyle/>
          <a:p>
            <a:pPr algn="just"/>
            <a:r>
              <a:rPr lang="en-US" dirty="0"/>
              <a:t>The ability to access data and resources when needed. This can be achieved using redundant systems, backups, and disaster recovery plans, ...</a:t>
            </a:r>
            <a:endParaRPr lang="fr-FR" dirty="0"/>
          </a:p>
        </p:txBody>
      </p:sp>
      <p:sp>
        <p:nvSpPr>
          <p:cNvPr id="11" name="ZoneTexte 10"/>
          <p:cNvSpPr txBox="1"/>
          <p:nvPr/>
        </p:nvSpPr>
        <p:spPr>
          <a:xfrm>
            <a:off x="5072066" y="3656962"/>
            <a:ext cx="1500198" cy="369332"/>
          </a:xfrm>
          <a:prstGeom prst="rect">
            <a:avLst/>
          </a:prstGeom>
          <a:ln>
            <a:solidFill>
              <a:schemeClr val="bg1"/>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fr-FR" b="1" dirty="0" err="1"/>
              <a:t>Integrity</a:t>
            </a:r>
            <a:r>
              <a:rPr lang="fr-FR" b="1" dirty="0"/>
              <a:t> </a:t>
            </a:r>
            <a:r>
              <a:rPr lang="fr-FR" b="1" dirty="0">
                <a:solidFill>
                  <a:schemeClr val="bg1"/>
                </a:solidFill>
              </a:rPr>
              <a:t> </a:t>
            </a:r>
            <a:endParaRPr lang="fr-FR" dirty="0">
              <a:solidFill>
                <a:schemeClr val="bg1"/>
              </a:solidFill>
            </a:endParaRPr>
          </a:p>
        </p:txBody>
      </p:sp>
      <p:sp>
        <p:nvSpPr>
          <p:cNvPr id="12" name="ZoneTexte 11"/>
          <p:cNvSpPr txBox="1"/>
          <p:nvPr/>
        </p:nvSpPr>
        <p:spPr>
          <a:xfrm>
            <a:off x="500034" y="4714884"/>
            <a:ext cx="1857388" cy="369332"/>
          </a:xfrm>
          <a:prstGeom prst="rect">
            <a:avLst/>
          </a:prstGeom>
          <a:ln>
            <a:solidFill>
              <a:schemeClr val="bg1"/>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fr-FR" b="1" dirty="0" err="1"/>
              <a:t>Availability</a:t>
            </a:r>
            <a:endParaRPr lang="fr-FR" b="1" dirty="0">
              <a:solidFill>
                <a:schemeClr val="bg1"/>
              </a:solidFill>
            </a:endParaRPr>
          </a:p>
        </p:txBody>
      </p:sp>
      <p:sp>
        <p:nvSpPr>
          <p:cNvPr id="16" name="Espace réservé de la date 15"/>
          <p:cNvSpPr>
            <a:spLocks noGrp="1"/>
          </p:cNvSpPr>
          <p:nvPr>
            <p:ph type="dt" idx="10"/>
          </p:nvPr>
        </p:nvSpPr>
        <p:spPr/>
        <p:txBody>
          <a:bodyPr/>
          <a:lstStyle/>
          <a:p>
            <a:fld id="{ACE224E2-FA6E-4EEF-AC22-00FE04074461}" type="datetime1">
              <a:rPr lang="fr-FR" smtClean="0"/>
              <a:pPr/>
              <a:t>09/01/2026</a:t>
            </a:fld>
            <a:endParaRPr lang="fr-FR"/>
          </a:p>
        </p:txBody>
      </p:sp>
      <p:sp>
        <p:nvSpPr>
          <p:cNvPr id="17" name="Espace réservé du numéro de diapositive 16"/>
          <p:cNvSpPr>
            <a:spLocks noGrp="1"/>
          </p:cNvSpPr>
          <p:nvPr>
            <p:ph type="sldNum" idx="12"/>
          </p:nvPr>
        </p:nvSpPr>
        <p:spPr/>
        <p:txBody>
          <a:bodyPr/>
          <a:lstStyle/>
          <a:p>
            <a:fld id="{66EFF29A-B2FD-4D7F-BD7D-29982909C77B}" type="slidenum">
              <a:rPr lang="fr-FR" smtClean="0"/>
              <a:pPr/>
              <a:t>8</a:t>
            </a:fld>
            <a:endParaRPr lang="fr-FR" dirty="0"/>
          </a:p>
        </p:txBody>
      </p:sp>
      <p:sp>
        <p:nvSpPr>
          <p:cNvPr id="21" name="Rectangle à coins arrondis 20"/>
          <p:cNvSpPr/>
          <p:nvPr/>
        </p:nvSpPr>
        <p:spPr>
          <a:xfrm>
            <a:off x="5286380" y="4123336"/>
            <a:ext cx="3643338" cy="857256"/>
          </a:xfrm>
          <a:prstGeom prst="wedgeRoundRectCallout">
            <a:avLst>
              <a:gd name="adj1" fmla="val 26048"/>
              <a:gd name="adj2" fmla="val 109181"/>
              <a:gd name="adj3" fmla="val 16667"/>
            </a:avLst>
          </a:prstGeom>
          <a:ln>
            <a:solidFill>
              <a:schemeClr val="accent3">
                <a:lumMod val="60000"/>
                <a:lumOff val="40000"/>
              </a:schemeClr>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dirty="0"/>
              <a:t>An actor cannot deny having taken a particular action (digital signature, ACK, ...) </a:t>
            </a:r>
            <a:endParaRPr lang="fr-FR" dirty="0"/>
          </a:p>
        </p:txBody>
      </p:sp>
      <p:sp>
        <p:nvSpPr>
          <p:cNvPr id="22" name="ZoneTexte 21"/>
          <p:cNvSpPr txBox="1"/>
          <p:nvPr/>
        </p:nvSpPr>
        <p:spPr>
          <a:xfrm>
            <a:off x="7015618" y="5572140"/>
            <a:ext cx="1948870" cy="369332"/>
          </a:xfrm>
          <a:prstGeom prst="rect">
            <a:avLst/>
          </a:prstGeom>
          <a:ln>
            <a:solidFill>
              <a:schemeClr val="bg1"/>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fr-FR" b="1" dirty="0"/>
              <a:t>Non-</a:t>
            </a:r>
            <a:r>
              <a:rPr lang="fr-FR" b="1" dirty="0" err="1"/>
              <a:t>repudiation</a:t>
            </a:r>
            <a:endParaRPr lang="fr-FR" b="1" dirty="0">
              <a:solidFill>
                <a:schemeClr val="bg1"/>
              </a:solidFill>
            </a:endParaRPr>
          </a:p>
        </p:txBody>
      </p:sp>
      <p:pic>
        <p:nvPicPr>
          <p:cNvPr id="25" name="Image 24"/>
          <p:cNvPicPr/>
          <p:nvPr/>
        </p:nvPicPr>
        <p:blipFill>
          <a:blip r:embed="rId2" cstate="print"/>
          <a:srcRect/>
          <a:stretch>
            <a:fillRect/>
          </a:stretch>
        </p:blipFill>
        <p:spPr bwMode="auto">
          <a:xfrm>
            <a:off x="2428860" y="1714488"/>
            <a:ext cx="2212975" cy="1894205"/>
          </a:xfrm>
          <a:prstGeom prst="rect">
            <a:avLst/>
          </a:prstGeom>
          <a:noFill/>
          <a:ln w="9525">
            <a:noFill/>
            <a:miter lim="800000"/>
            <a:headEnd/>
            <a:tailEnd/>
          </a:ln>
        </p:spPr>
      </p:pic>
      <p:sp>
        <p:nvSpPr>
          <p:cNvPr id="26" name="Rectangle à coins arrondis 25"/>
          <p:cNvSpPr/>
          <p:nvPr/>
        </p:nvSpPr>
        <p:spPr>
          <a:xfrm>
            <a:off x="1285852" y="5312984"/>
            <a:ext cx="4875594" cy="857256"/>
          </a:xfrm>
          <a:prstGeom prst="wedgeRoundRectCallout">
            <a:avLst>
              <a:gd name="adj1" fmla="val -6916"/>
              <a:gd name="adj2" fmla="val -96190"/>
              <a:gd name="adj3" fmla="val 16667"/>
            </a:avLst>
          </a:prstGeom>
          <a:ln>
            <a:solidFill>
              <a:schemeClr val="accent3">
                <a:lumMod val="60000"/>
                <a:lumOff val="40000"/>
              </a:schemeClr>
            </a:solidFill>
          </a:ln>
        </p:spPr>
        <p:style>
          <a:lnRef idx="3">
            <a:schemeClr val="lt1"/>
          </a:lnRef>
          <a:fillRef idx="1">
            <a:schemeClr val="dk1"/>
          </a:fillRef>
          <a:effectRef idx="1">
            <a:schemeClr val="dk1"/>
          </a:effectRef>
          <a:fontRef idx="minor">
            <a:schemeClr val="lt1"/>
          </a:fontRef>
        </p:style>
        <p:txBody>
          <a:bodyPr rtlCol="0" anchor="ctr"/>
          <a:lstStyle/>
          <a:p>
            <a:pPr algn="ctr"/>
            <a:r>
              <a:rPr lang="en-US" dirty="0"/>
              <a:t>Refers to the verification of identity (Access control, …).</a:t>
            </a:r>
            <a:endParaRPr lang="fr-FR" dirty="0"/>
          </a:p>
        </p:txBody>
      </p:sp>
      <p:sp>
        <p:nvSpPr>
          <p:cNvPr id="27" name="ZoneTexte 26"/>
          <p:cNvSpPr txBox="1"/>
          <p:nvPr/>
        </p:nvSpPr>
        <p:spPr>
          <a:xfrm>
            <a:off x="2867938" y="4527866"/>
            <a:ext cx="2020308" cy="369332"/>
          </a:xfrm>
          <a:prstGeom prst="rect">
            <a:avLst/>
          </a:prstGeom>
          <a:ln>
            <a:solidFill>
              <a:schemeClr val="bg1"/>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fr-FR" b="1" dirty="0" err="1"/>
              <a:t>Authentiication</a:t>
            </a:r>
            <a:r>
              <a:rPr lang="fr-FR" b="1" dirty="0"/>
              <a:t>  </a:t>
            </a:r>
            <a:endParaRPr lang="fr-FR" b="1" dirty="0">
              <a:solidFill>
                <a:schemeClr val="bg1"/>
              </a:solidFill>
            </a:endParaRPr>
          </a:p>
        </p:txBody>
      </p:sp>
      <p:sp>
        <p:nvSpPr>
          <p:cNvPr id="20" name="ZoneTexte 19"/>
          <p:cNvSpPr txBox="1"/>
          <p:nvPr/>
        </p:nvSpPr>
        <p:spPr>
          <a:xfrm>
            <a:off x="214282"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r>
              <a:rPr lang="fr-FR" dirty="0"/>
              <a:t> </a:t>
            </a:r>
          </a:p>
        </p:txBody>
      </p:sp>
      <p:sp>
        <p:nvSpPr>
          <p:cNvPr id="23" name="ZoneTexte 22"/>
          <p:cNvSpPr txBox="1"/>
          <p:nvPr/>
        </p:nvSpPr>
        <p:spPr>
          <a:xfrm>
            <a:off x="3445838" y="305733"/>
            <a:ext cx="235745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Main Concepts</a:t>
            </a:r>
          </a:p>
        </p:txBody>
      </p:sp>
      <p:sp>
        <p:nvSpPr>
          <p:cNvPr id="24" name="ZoneTexte 23"/>
          <p:cNvSpPr txBox="1"/>
          <p:nvPr/>
        </p:nvSpPr>
        <p:spPr>
          <a:xfrm>
            <a:off x="5895630"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Objectives</a:t>
            </a:r>
          </a:p>
        </p:txBody>
      </p:sp>
      <p:sp>
        <p:nvSpPr>
          <p:cNvPr id="33" name="ZoneTexte 32"/>
          <p:cNvSpPr txBox="1"/>
          <p:nvPr/>
        </p:nvSpPr>
        <p:spPr>
          <a:xfrm>
            <a:off x="1830060"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Definitions</a:t>
            </a:r>
            <a:r>
              <a:rPr lang="fr-FR" dirty="0">
                <a:solidFill>
                  <a:schemeClr val="bg1"/>
                </a:solidFill>
              </a:rPr>
              <a:t>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1"/>
                                          </p:val>
                                        </p:tav>
                                        <p:tav tm="100000">
                                          <p:val>
                                            <p:strVal val="#ppt_x"/>
                                          </p:val>
                                        </p:tav>
                                      </p:tavLst>
                                    </p:anim>
                                    <p:anim calcmode="lin" valueType="num">
                                      <p:cBhvr>
                                        <p:cTn id="9" dur="500" fill="hold"/>
                                        <p:tgtEl>
                                          <p:spTgt spid="5"/>
                                        </p:tgtEl>
                                        <p:attrNameLst>
                                          <p:attrName>ppt_y</p:attrName>
                                        </p:attrNameLst>
                                      </p:cBhvr>
                                      <p:tavLst>
                                        <p:tav tm="0">
                                          <p:val>
                                            <p:strVal val="#ppt_y"/>
                                          </p:val>
                                        </p:tav>
                                        <p:tav tm="100000">
                                          <p:val>
                                            <p:strVal val="#ppt_y"/>
                                          </p:val>
                                        </p:tav>
                                      </p:tavLst>
                                    </p:anim>
                                  </p:childTnLst>
                                </p:cTn>
                              </p:par>
                              <p:par>
                                <p:cTn id="10" presetID="43"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
                                        <p:tgtEl>
                                          <p:spTgt spid="6"/>
                                        </p:tgtEl>
                                      </p:cBhvr>
                                    </p:animEffect>
                                    <p:anim calcmode="lin" valueType="num">
                                      <p:cBhvr>
                                        <p:cTn id="13" dur="400" fill="hold"/>
                                        <p:tgtEl>
                                          <p:spTgt spid="6"/>
                                        </p:tgtEl>
                                        <p:attrNameLst>
                                          <p:attrName>ppt_x</p:attrName>
                                        </p:attrNameLst>
                                      </p:cBhvr>
                                      <p:tavLst>
                                        <p:tav tm="0">
                                          <p:val>
                                            <p:strVal val="#ppt_x"/>
                                          </p:val>
                                        </p:tav>
                                        <p:tav tm="100000">
                                          <p:val>
                                            <p:strVal val="#ppt_x"/>
                                          </p:val>
                                        </p:tav>
                                      </p:tavLst>
                                    </p:anim>
                                    <p:anim calcmode="lin" valueType="num">
                                      <p:cBhvr>
                                        <p:cTn id="14" dur="400" fill="hold"/>
                                        <p:tgtEl>
                                          <p:spTgt spid="6"/>
                                        </p:tgtEl>
                                        <p:attrNameLst>
                                          <p:attrName>ppt_y</p:attrName>
                                        </p:attrNameLst>
                                      </p:cBhvr>
                                      <p:tavLst>
                                        <p:tav tm="0">
                                          <p:val>
                                            <p:strVal val="#ppt_y+0.31"/>
                                          </p:val>
                                        </p:tav>
                                        <p:tav tm="100000">
                                          <p:val>
                                            <p:strVal val="#ppt_y+0.31"/>
                                          </p:val>
                                        </p:tav>
                                      </p:tavLst>
                                    </p:anim>
                                    <p:anim calcmode="lin" valueType="num">
                                      <p:cBhvr>
                                        <p:cTn id="15" dur="600" decel="50000" fill="hold">
                                          <p:stCondLst>
                                            <p:cond delay="400"/>
                                          </p:stCondLst>
                                        </p:cTn>
                                        <p:tgtEl>
                                          <p:spTgt spid="6"/>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6" dur="600" decel="50000" fill="hold">
                                          <p:stCondLst>
                                            <p:cond delay="400"/>
                                          </p:stCondLst>
                                        </p:cTn>
                                        <p:tgtEl>
                                          <p:spTgt spid="6"/>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0" presetClass="entr" presetSubtype="0" fill="hold" grpId="0" nodeType="clickEffect">
                                  <p:stCondLst>
                                    <p:cond delay="0"/>
                                  </p:stCondLst>
                                  <p:iterate type="lt">
                                    <p:tmPct val="10000"/>
                                  </p:iterate>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1"/>
                                          </p:val>
                                        </p:tav>
                                        <p:tav tm="100000">
                                          <p:val>
                                            <p:strVal val="#ppt_x"/>
                                          </p:val>
                                        </p:tav>
                                      </p:tavLst>
                                    </p:anim>
                                    <p:anim calcmode="lin" valueType="num">
                                      <p:cBhvr>
                                        <p:cTn id="23" dur="500" fill="hold"/>
                                        <p:tgtEl>
                                          <p:spTgt spid="7"/>
                                        </p:tgtEl>
                                        <p:attrNameLst>
                                          <p:attrName>ppt_y</p:attrName>
                                        </p:attrNameLst>
                                      </p:cBhvr>
                                      <p:tavLst>
                                        <p:tav tm="0">
                                          <p:val>
                                            <p:strVal val="#ppt_y"/>
                                          </p:val>
                                        </p:tav>
                                        <p:tav tm="100000">
                                          <p:val>
                                            <p:strVal val="#ppt_y"/>
                                          </p:val>
                                        </p:tav>
                                      </p:tavLst>
                                    </p:anim>
                                  </p:childTnLst>
                                </p:cTn>
                              </p:par>
                              <p:par>
                                <p:cTn id="24" presetID="43"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
                                        <p:tgtEl>
                                          <p:spTgt spid="11"/>
                                        </p:tgtEl>
                                      </p:cBhvr>
                                    </p:animEffect>
                                    <p:anim calcmode="lin" valueType="num">
                                      <p:cBhvr>
                                        <p:cTn id="27" dur="400" fill="hold"/>
                                        <p:tgtEl>
                                          <p:spTgt spid="11"/>
                                        </p:tgtEl>
                                        <p:attrNameLst>
                                          <p:attrName>ppt_x</p:attrName>
                                        </p:attrNameLst>
                                      </p:cBhvr>
                                      <p:tavLst>
                                        <p:tav tm="0">
                                          <p:val>
                                            <p:strVal val="#ppt_x"/>
                                          </p:val>
                                        </p:tav>
                                        <p:tav tm="100000">
                                          <p:val>
                                            <p:strVal val="#ppt_x"/>
                                          </p:val>
                                        </p:tav>
                                      </p:tavLst>
                                    </p:anim>
                                    <p:anim calcmode="lin" valueType="num">
                                      <p:cBhvr>
                                        <p:cTn id="28" dur="400" fill="hold"/>
                                        <p:tgtEl>
                                          <p:spTgt spid="11"/>
                                        </p:tgtEl>
                                        <p:attrNameLst>
                                          <p:attrName>ppt_y</p:attrName>
                                        </p:attrNameLst>
                                      </p:cBhvr>
                                      <p:tavLst>
                                        <p:tav tm="0">
                                          <p:val>
                                            <p:strVal val="#ppt_y+0.31"/>
                                          </p:val>
                                        </p:tav>
                                        <p:tav tm="100000">
                                          <p:val>
                                            <p:strVal val="#ppt_y+0.31"/>
                                          </p:val>
                                        </p:tav>
                                      </p:tavLst>
                                    </p:anim>
                                    <p:anim calcmode="lin" valueType="num">
                                      <p:cBhvr>
                                        <p:cTn id="29" dur="600" decel="50000" fill="hold">
                                          <p:stCondLst>
                                            <p:cond delay="400"/>
                                          </p:stCondLst>
                                        </p:cTn>
                                        <p:tgtEl>
                                          <p:spTgt spid="1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0" dur="600" decel="50000" fill="hold">
                                          <p:stCondLst>
                                            <p:cond delay="400"/>
                                          </p:stCondLst>
                                        </p:cTn>
                                        <p:tgtEl>
                                          <p:spTgt spid="1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0" presetClass="entr" presetSubtype="0" fill="hold" grpId="0" nodeType="clickEffect">
                                  <p:stCondLst>
                                    <p:cond delay="0"/>
                                  </p:stCondLst>
                                  <p:iterate type="lt">
                                    <p:tmPct val="10000"/>
                                  </p:iterate>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1"/>
                                          </p:val>
                                        </p:tav>
                                        <p:tav tm="100000">
                                          <p:val>
                                            <p:strVal val="#ppt_x"/>
                                          </p:val>
                                        </p:tav>
                                      </p:tavLst>
                                    </p:anim>
                                    <p:anim calcmode="lin" valueType="num">
                                      <p:cBhvr>
                                        <p:cTn id="37" dur="500" fill="hold"/>
                                        <p:tgtEl>
                                          <p:spTgt spid="10"/>
                                        </p:tgtEl>
                                        <p:attrNameLst>
                                          <p:attrName>ppt_y</p:attrName>
                                        </p:attrNameLst>
                                      </p:cBhvr>
                                      <p:tavLst>
                                        <p:tav tm="0">
                                          <p:val>
                                            <p:strVal val="#ppt_y"/>
                                          </p:val>
                                        </p:tav>
                                        <p:tav tm="100000">
                                          <p:val>
                                            <p:strVal val="#ppt_y"/>
                                          </p:val>
                                        </p:tav>
                                      </p:tavLst>
                                    </p:anim>
                                  </p:childTnLst>
                                </p:cTn>
                              </p:par>
                              <p:par>
                                <p:cTn id="38" presetID="43"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
                                        <p:tgtEl>
                                          <p:spTgt spid="12"/>
                                        </p:tgtEl>
                                      </p:cBhvr>
                                    </p:animEffect>
                                    <p:anim calcmode="lin" valueType="num">
                                      <p:cBhvr>
                                        <p:cTn id="41" dur="400" fill="hold"/>
                                        <p:tgtEl>
                                          <p:spTgt spid="12"/>
                                        </p:tgtEl>
                                        <p:attrNameLst>
                                          <p:attrName>ppt_x</p:attrName>
                                        </p:attrNameLst>
                                      </p:cBhvr>
                                      <p:tavLst>
                                        <p:tav tm="0">
                                          <p:val>
                                            <p:strVal val="#ppt_x"/>
                                          </p:val>
                                        </p:tav>
                                        <p:tav tm="100000">
                                          <p:val>
                                            <p:strVal val="#ppt_x"/>
                                          </p:val>
                                        </p:tav>
                                      </p:tavLst>
                                    </p:anim>
                                    <p:anim calcmode="lin" valueType="num">
                                      <p:cBhvr>
                                        <p:cTn id="42" dur="400" fill="hold"/>
                                        <p:tgtEl>
                                          <p:spTgt spid="12"/>
                                        </p:tgtEl>
                                        <p:attrNameLst>
                                          <p:attrName>ppt_y</p:attrName>
                                        </p:attrNameLst>
                                      </p:cBhvr>
                                      <p:tavLst>
                                        <p:tav tm="0">
                                          <p:val>
                                            <p:strVal val="#ppt_y+0.31"/>
                                          </p:val>
                                        </p:tav>
                                        <p:tav tm="100000">
                                          <p:val>
                                            <p:strVal val="#ppt_y+0.31"/>
                                          </p:val>
                                        </p:tav>
                                      </p:tavLst>
                                    </p:anim>
                                    <p:anim calcmode="lin" valueType="num">
                                      <p:cBhvr>
                                        <p:cTn id="43" dur="600" decel="50000" fill="hold">
                                          <p:stCondLst>
                                            <p:cond delay="400"/>
                                          </p:stCondLst>
                                        </p:cTn>
                                        <p:tgtEl>
                                          <p:spTgt spid="1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4" dur="600" decel="50000" fill="hold">
                                          <p:stCondLst>
                                            <p:cond delay="400"/>
                                          </p:stCondLst>
                                        </p:cTn>
                                        <p:tgtEl>
                                          <p:spTgt spid="1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6"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barn(inHorizontal)">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xit" presetSubtype="26" fill="hold" nodeType="clickEffect">
                                  <p:stCondLst>
                                    <p:cond delay="0"/>
                                  </p:stCondLst>
                                  <p:childTnLst>
                                    <p:animEffect transition="out" filter="barn(inHorizontal)">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40" presetClass="entr" presetSubtype="0" fill="hold" grpId="0" nodeType="clickEffect">
                                  <p:stCondLst>
                                    <p:cond delay="0"/>
                                  </p:stCondLst>
                                  <p:iterate type="lt">
                                    <p:tmPct val="10000"/>
                                  </p:iterate>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anim calcmode="lin" valueType="num">
                                      <p:cBhvr>
                                        <p:cTn id="60" dur="500" fill="hold"/>
                                        <p:tgtEl>
                                          <p:spTgt spid="21"/>
                                        </p:tgtEl>
                                        <p:attrNameLst>
                                          <p:attrName>ppt_x</p:attrName>
                                        </p:attrNameLst>
                                      </p:cBhvr>
                                      <p:tavLst>
                                        <p:tav tm="0">
                                          <p:val>
                                            <p:strVal val="#ppt_x-.1"/>
                                          </p:val>
                                        </p:tav>
                                        <p:tav tm="100000">
                                          <p:val>
                                            <p:strVal val="#ppt_x"/>
                                          </p:val>
                                        </p:tav>
                                      </p:tavLst>
                                    </p:anim>
                                    <p:anim calcmode="lin" valueType="num">
                                      <p:cBhvr>
                                        <p:cTn id="61" dur="500" fill="hold"/>
                                        <p:tgtEl>
                                          <p:spTgt spid="21"/>
                                        </p:tgtEl>
                                        <p:attrNameLst>
                                          <p:attrName>ppt_y</p:attrName>
                                        </p:attrNameLst>
                                      </p:cBhvr>
                                      <p:tavLst>
                                        <p:tav tm="0">
                                          <p:val>
                                            <p:strVal val="#ppt_y"/>
                                          </p:val>
                                        </p:tav>
                                        <p:tav tm="100000">
                                          <p:val>
                                            <p:strVal val="#ppt_y"/>
                                          </p:val>
                                        </p:tav>
                                      </p:tavLst>
                                    </p:anim>
                                  </p:childTnLst>
                                </p:cTn>
                              </p:par>
                              <p:par>
                                <p:cTn id="62" presetID="43"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100"/>
                                        <p:tgtEl>
                                          <p:spTgt spid="22"/>
                                        </p:tgtEl>
                                      </p:cBhvr>
                                    </p:animEffect>
                                    <p:anim calcmode="lin" valueType="num">
                                      <p:cBhvr>
                                        <p:cTn id="65" dur="400" fill="hold"/>
                                        <p:tgtEl>
                                          <p:spTgt spid="22"/>
                                        </p:tgtEl>
                                        <p:attrNameLst>
                                          <p:attrName>ppt_x</p:attrName>
                                        </p:attrNameLst>
                                      </p:cBhvr>
                                      <p:tavLst>
                                        <p:tav tm="0">
                                          <p:val>
                                            <p:strVal val="#ppt_x"/>
                                          </p:val>
                                        </p:tav>
                                        <p:tav tm="100000">
                                          <p:val>
                                            <p:strVal val="#ppt_x"/>
                                          </p:val>
                                        </p:tav>
                                      </p:tavLst>
                                    </p:anim>
                                    <p:anim calcmode="lin" valueType="num">
                                      <p:cBhvr>
                                        <p:cTn id="66" dur="400" fill="hold"/>
                                        <p:tgtEl>
                                          <p:spTgt spid="22"/>
                                        </p:tgtEl>
                                        <p:attrNameLst>
                                          <p:attrName>ppt_y</p:attrName>
                                        </p:attrNameLst>
                                      </p:cBhvr>
                                      <p:tavLst>
                                        <p:tav tm="0">
                                          <p:val>
                                            <p:strVal val="#ppt_y+0.31"/>
                                          </p:val>
                                        </p:tav>
                                        <p:tav tm="100000">
                                          <p:val>
                                            <p:strVal val="#ppt_y+0.31"/>
                                          </p:val>
                                        </p:tav>
                                      </p:tavLst>
                                    </p:anim>
                                    <p:anim calcmode="lin" valueType="num">
                                      <p:cBhvr>
                                        <p:cTn id="67" dur="600" decel="50000" fill="hold">
                                          <p:stCondLst>
                                            <p:cond delay="400"/>
                                          </p:stCondLst>
                                        </p:cTn>
                                        <p:tgtEl>
                                          <p:spTgt spid="2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8" dur="600" decel="50000" fill="hold">
                                          <p:stCondLst>
                                            <p:cond delay="400"/>
                                          </p:stCondLst>
                                        </p:cTn>
                                        <p:tgtEl>
                                          <p:spTgt spid="2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0" presetClass="entr" presetSubtype="0" fill="hold" grpId="0" nodeType="clickEffect">
                                  <p:stCondLst>
                                    <p:cond delay="0"/>
                                  </p:stCondLst>
                                  <p:iterate type="lt">
                                    <p:tmPct val="10000"/>
                                  </p:iterate>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anim calcmode="lin" valueType="num">
                                      <p:cBhvr>
                                        <p:cTn id="74" dur="500" fill="hold"/>
                                        <p:tgtEl>
                                          <p:spTgt spid="26"/>
                                        </p:tgtEl>
                                        <p:attrNameLst>
                                          <p:attrName>ppt_x</p:attrName>
                                        </p:attrNameLst>
                                      </p:cBhvr>
                                      <p:tavLst>
                                        <p:tav tm="0">
                                          <p:val>
                                            <p:strVal val="#ppt_x-.1"/>
                                          </p:val>
                                        </p:tav>
                                        <p:tav tm="100000">
                                          <p:val>
                                            <p:strVal val="#ppt_x"/>
                                          </p:val>
                                        </p:tav>
                                      </p:tavLst>
                                    </p:anim>
                                    <p:anim calcmode="lin" valueType="num">
                                      <p:cBhvr>
                                        <p:cTn id="75" dur="500" fill="hold"/>
                                        <p:tgtEl>
                                          <p:spTgt spid="26"/>
                                        </p:tgtEl>
                                        <p:attrNameLst>
                                          <p:attrName>ppt_y</p:attrName>
                                        </p:attrNameLst>
                                      </p:cBhvr>
                                      <p:tavLst>
                                        <p:tav tm="0">
                                          <p:val>
                                            <p:strVal val="#ppt_y"/>
                                          </p:val>
                                        </p:tav>
                                        <p:tav tm="100000">
                                          <p:val>
                                            <p:strVal val="#ppt_y"/>
                                          </p:val>
                                        </p:tav>
                                      </p:tavLst>
                                    </p:anim>
                                  </p:childTnLst>
                                </p:cTn>
                              </p:par>
                              <p:par>
                                <p:cTn id="76" presetID="43"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100"/>
                                        <p:tgtEl>
                                          <p:spTgt spid="27"/>
                                        </p:tgtEl>
                                      </p:cBhvr>
                                    </p:animEffect>
                                    <p:anim calcmode="lin" valueType="num">
                                      <p:cBhvr>
                                        <p:cTn id="79" dur="400" fill="hold"/>
                                        <p:tgtEl>
                                          <p:spTgt spid="27"/>
                                        </p:tgtEl>
                                        <p:attrNameLst>
                                          <p:attrName>ppt_x</p:attrName>
                                        </p:attrNameLst>
                                      </p:cBhvr>
                                      <p:tavLst>
                                        <p:tav tm="0">
                                          <p:val>
                                            <p:strVal val="#ppt_x"/>
                                          </p:val>
                                        </p:tav>
                                        <p:tav tm="100000">
                                          <p:val>
                                            <p:strVal val="#ppt_x"/>
                                          </p:val>
                                        </p:tav>
                                      </p:tavLst>
                                    </p:anim>
                                    <p:anim calcmode="lin" valueType="num">
                                      <p:cBhvr>
                                        <p:cTn id="80" dur="400" fill="hold"/>
                                        <p:tgtEl>
                                          <p:spTgt spid="27"/>
                                        </p:tgtEl>
                                        <p:attrNameLst>
                                          <p:attrName>ppt_y</p:attrName>
                                        </p:attrNameLst>
                                      </p:cBhvr>
                                      <p:tavLst>
                                        <p:tav tm="0">
                                          <p:val>
                                            <p:strVal val="#ppt_y+0.31"/>
                                          </p:val>
                                        </p:tav>
                                        <p:tav tm="100000">
                                          <p:val>
                                            <p:strVal val="#ppt_y+0.31"/>
                                          </p:val>
                                        </p:tav>
                                      </p:tavLst>
                                    </p:anim>
                                    <p:anim calcmode="lin" valueType="num">
                                      <p:cBhvr>
                                        <p:cTn id="81" dur="600" decel="50000" fill="hold">
                                          <p:stCondLst>
                                            <p:cond delay="400"/>
                                          </p:stCondLst>
                                        </p:cTn>
                                        <p:tgtEl>
                                          <p:spTgt spid="2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82" dur="600" decel="50000" fill="hold">
                                          <p:stCondLst>
                                            <p:cond delay="400"/>
                                          </p:stCondLst>
                                        </p:cTn>
                                        <p:tgtEl>
                                          <p:spTgt spid="2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21" grpId="0" animBg="1"/>
      <p:bldP spid="22" grpId="0" animBg="1"/>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85720" y="976954"/>
            <a:ext cx="6000792" cy="461665"/>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lIns="91440" tIns="45720" rIns="91440" bIns="45720">
            <a:spAutoFit/>
          </a:bodyPr>
          <a:lstStyle/>
          <a:p>
            <a:pPr algn="ctr"/>
            <a:r>
              <a:rPr lang="fr-FR" sz="2400" b="1" i="1" spc="300" dirty="0" err="1">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Internal</a:t>
            </a:r>
            <a:r>
              <a:rPr lang="fr-FR" sz="2400" b="1" i="1"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 </a:t>
            </a:r>
            <a:r>
              <a:rPr lang="fr-FR" sz="2400" b="1" i="1" spc="300" dirty="0" err="1">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security</a:t>
            </a:r>
            <a:endParaRPr lang="fr-FR" sz="2400" b="1" i="1"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endParaRPr>
          </a:p>
        </p:txBody>
      </p:sp>
      <p:sp>
        <p:nvSpPr>
          <p:cNvPr id="10" name="ZoneTexte 9"/>
          <p:cNvSpPr txBox="1"/>
          <p:nvPr/>
        </p:nvSpPr>
        <p:spPr>
          <a:xfrm>
            <a:off x="214282" y="1497587"/>
            <a:ext cx="6000792" cy="1631216"/>
          </a:xfrm>
          <a:prstGeom prst="rect">
            <a:avLst/>
          </a:prstGeom>
          <a:noFill/>
        </p:spPr>
        <p:txBody>
          <a:bodyPr wrap="square" rtlCol="0">
            <a:spAutoFit/>
          </a:bodyPr>
          <a:lstStyle/>
          <a:p>
            <a:pPr algn="just"/>
            <a:r>
              <a:rPr lang="en-US" sz="2000" dirty="0">
                <a:solidFill>
                  <a:schemeClr val="bg1"/>
                </a:solidFill>
                <a:latin typeface="Times New Roman" pitchFamily="18" charset="0"/>
                <a:cs typeface="Times New Roman" pitchFamily="18" charset="0"/>
              </a:rPr>
              <a:t>It involves securing the IT infrastructure. Security at the level of physical infrastructure: secure rooms, places open to the public, common areas. Internet connectivity, wired local networks, wireless networks, telephony and remote networks.</a:t>
            </a:r>
            <a:endParaRPr lang="fr-FR" dirty="0">
              <a:solidFill>
                <a:schemeClr val="bg1"/>
              </a:solidFill>
              <a:latin typeface="Times New Roman" pitchFamily="18" charset="0"/>
              <a:cs typeface="Times New Roman" pitchFamily="18" charset="0"/>
            </a:endParaRPr>
          </a:p>
        </p:txBody>
      </p:sp>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9</a:t>
            </a:fld>
            <a:endParaRPr lang="fr-FR" dirty="0"/>
          </a:p>
        </p:txBody>
      </p:sp>
      <p:sp>
        <p:nvSpPr>
          <p:cNvPr id="15" name="ZoneTexte 14"/>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Types of CS</a:t>
            </a:r>
          </a:p>
        </p:txBody>
      </p:sp>
      <p:sp>
        <p:nvSpPr>
          <p:cNvPr id="16" name="ZoneTexte 15"/>
          <p:cNvSpPr txBox="1"/>
          <p:nvPr/>
        </p:nvSpPr>
        <p:spPr>
          <a:xfrm>
            <a:off x="3268414" y="305733"/>
            <a:ext cx="1663626"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t>RMP</a:t>
            </a:r>
          </a:p>
        </p:txBody>
      </p:sp>
      <p:sp>
        <p:nvSpPr>
          <p:cNvPr id="17" name="ZoneTexte 16"/>
          <p:cNvSpPr txBox="1"/>
          <p:nvPr/>
        </p:nvSpPr>
        <p:spPr>
          <a:xfrm>
            <a:off x="5036347" y="305733"/>
            <a:ext cx="2321735"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Typology</a:t>
            </a:r>
            <a:r>
              <a:rPr lang="fr-FR" dirty="0">
                <a:solidFill>
                  <a:schemeClr val="bg1"/>
                </a:solidFill>
              </a:rPr>
              <a:t> of R &amp; PS</a:t>
            </a:r>
          </a:p>
        </p:txBody>
      </p:sp>
      <p:sp>
        <p:nvSpPr>
          <p:cNvPr id="18" name="ZoneTexte 17"/>
          <p:cNvSpPr txBox="1"/>
          <p:nvPr/>
        </p:nvSpPr>
        <p:spPr>
          <a:xfrm>
            <a:off x="165263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Flaws</a:t>
            </a:r>
            <a:endParaRPr lang="fr-FR" dirty="0"/>
          </a:p>
        </p:txBody>
      </p:sp>
      <p:sp>
        <p:nvSpPr>
          <p:cNvPr id="20" name="Rectangle 19"/>
          <p:cNvSpPr/>
          <p:nvPr/>
        </p:nvSpPr>
        <p:spPr>
          <a:xfrm>
            <a:off x="0" y="3664214"/>
            <a:ext cx="6487210" cy="461665"/>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lIns="91440" tIns="45720" rIns="91440" bIns="45720">
            <a:spAutoFit/>
          </a:bodyPr>
          <a:lstStyle/>
          <a:p>
            <a:pPr algn="ctr"/>
            <a:r>
              <a:rPr lang="fr-FR" sz="2400" b="1" i="1" spc="300" dirty="0" err="1">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External</a:t>
            </a:r>
            <a:r>
              <a:rPr lang="fr-FR" sz="2400" b="1" i="1"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 </a:t>
            </a:r>
            <a:r>
              <a:rPr lang="fr-FR" sz="2400" b="1" i="1" spc="300" dirty="0" err="1">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rPr>
              <a:t>security</a:t>
            </a:r>
            <a:endParaRPr lang="fr-FR" sz="2400" b="1" i="1" spc="300" dirty="0">
              <a:ln w="11430" cmpd="sng">
                <a:solidFill>
                  <a:schemeClr val="accent1">
                    <a:tint val="10000"/>
                  </a:schemeClr>
                </a:solidFill>
                <a:prstDash val="solid"/>
                <a:miter lim="800000"/>
              </a:ln>
              <a:solidFill>
                <a:srgbClr val="FF0000"/>
              </a:solidFill>
              <a:effectLst>
                <a:glow rad="45500">
                  <a:schemeClr val="accent1">
                    <a:satMod val="220000"/>
                    <a:alpha val="35000"/>
                  </a:schemeClr>
                </a:glow>
                <a:outerShdw blurRad="38100" dist="38100" dir="2700000" algn="tl">
                  <a:srgbClr val="000000">
                    <a:alpha val="43137"/>
                  </a:srgbClr>
                </a:outerShdw>
              </a:effectLst>
              <a:latin typeface="Baskerville Old Face" pitchFamily="18" charset="0"/>
            </a:endParaRPr>
          </a:p>
        </p:txBody>
      </p:sp>
      <p:sp>
        <p:nvSpPr>
          <p:cNvPr id="21" name="ZoneTexte 20"/>
          <p:cNvSpPr txBox="1"/>
          <p:nvPr/>
        </p:nvSpPr>
        <p:spPr>
          <a:xfrm>
            <a:off x="285720" y="4214818"/>
            <a:ext cx="5500726" cy="1077218"/>
          </a:xfrm>
          <a:prstGeom prst="rect">
            <a:avLst/>
          </a:prstGeom>
          <a:noFill/>
        </p:spPr>
        <p:txBody>
          <a:bodyPr wrap="square" rtlCol="0">
            <a:spAutoFit/>
          </a:bodyPr>
          <a:lstStyle/>
          <a:p>
            <a:pPr algn="just"/>
            <a:r>
              <a:rPr lang="fr-FR" sz="2400" dirty="0">
                <a:solidFill>
                  <a:schemeClr val="bg1"/>
                </a:solidFill>
                <a:latin typeface="Times New Roman" pitchFamily="18" charset="0"/>
                <a:cs typeface="Times New Roman" pitchFamily="18" charset="0"/>
              </a:rPr>
              <a:t> </a:t>
            </a:r>
            <a:r>
              <a:rPr lang="en-US" sz="2000" dirty="0">
                <a:solidFill>
                  <a:schemeClr val="bg1"/>
                </a:solidFill>
                <a:latin typeface="Times New Roman" pitchFamily="18" charset="0"/>
                <a:cs typeface="Times New Roman" pitchFamily="18" charset="0"/>
              </a:rPr>
              <a:t>This type of security is linked to the content of the IT infrastructure. It consists of securing: data (logical security), applications and services.</a:t>
            </a:r>
            <a:endParaRPr lang="fr-FR" dirty="0">
              <a:solidFill>
                <a:schemeClr val="bg1"/>
              </a:solidFill>
              <a:latin typeface="Times New Roman" pitchFamily="18" charset="0"/>
              <a:cs typeface="Times New Roman" pitchFamily="18" charset="0"/>
            </a:endParaRPr>
          </a:p>
        </p:txBody>
      </p:sp>
      <p:pic>
        <p:nvPicPr>
          <p:cNvPr id="8193" name="Picture 1" descr="D:\sec_info\doc\téléchargement (1).jpg"/>
          <p:cNvPicPr>
            <a:picLocks noChangeAspect="1" noChangeArrowheads="1"/>
          </p:cNvPicPr>
          <p:nvPr/>
        </p:nvPicPr>
        <p:blipFill>
          <a:blip r:embed="rId3"/>
          <a:srcRect/>
          <a:stretch>
            <a:fillRect/>
          </a:stretch>
        </p:blipFill>
        <p:spPr bwMode="auto">
          <a:xfrm>
            <a:off x="6286512" y="2143116"/>
            <a:ext cx="2440785" cy="3271844"/>
          </a:xfrm>
          <a:prstGeom prst="rect">
            <a:avLst/>
          </a:prstGeom>
          <a:ln>
            <a:noFill/>
          </a:ln>
          <a:effectLst>
            <a:softEdge rad="112500"/>
          </a:effectLst>
        </p:spPr>
      </p:pic>
      <p:pic>
        <p:nvPicPr>
          <p:cNvPr id="25" name="Picture 1"/>
          <p:cNvPicPr>
            <a:picLocks noChangeAspect="1" noChangeArrowheads="1"/>
          </p:cNvPicPr>
          <p:nvPr/>
        </p:nvPicPr>
        <p:blipFill>
          <a:blip r:embed="rId4"/>
          <a:srcRect/>
          <a:stretch>
            <a:fillRect/>
          </a:stretch>
        </p:blipFill>
        <p:spPr bwMode="auto">
          <a:xfrm>
            <a:off x="6357950" y="2214554"/>
            <a:ext cx="1000132" cy="769616"/>
          </a:xfrm>
          <a:prstGeom prst="ellipse">
            <a:avLst/>
          </a:prstGeom>
          <a:ln>
            <a:noFill/>
          </a:ln>
          <a:effectLst>
            <a:softEdge rad="112500"/>
          </a:effectLst>
        </p:spPr>
      </p:pic>
      <p:sp>
        <p:nvSpPr>
          <p:cNvPr id="26" name="ZoneTexte 25"/>
          <p:cNvSpPr txBox="1"/>
          <p:nvPr/>
        </p:nvSpPr>
        <p:spPr>
          <a:xfrm>
            <a:off x="857224" y="1500174"/>
            <a:ext cx="1214446" cy="369332"/>
          </a:xfrm>
          <a:prstGeom prst="rect">
            <a:avLst/>
          </a:prstGeom>
          <a:noFill/>
        </p:spPr>
        <p:txBody>
          <a:bodyPr wrap="square" rtlCol="0">
            <a:spAutoFit/>
          </a:bodyPr>
          <a:lstStyle/>
          <a:p>
            <a:r>
              <a:rPr lang="fr-FR" dirty="0"/>
              <a:t>§</a:t>
            </a:r>
          </a:p>
        </p:txBody>
      </p:sp>
      <p:sp>
        <p:nvSpPr>
          <p:cNvPr id="27" name="Rectangle 26"/>
          <p:cNvSpPr/>
          <p:nvPr/>
        </p:nvSpPr>
        <p:spPr>
          <a:xfrm>
            <a:off x="2714612" y="2500306"/>
            <a:ext cx="1357322" cy="1323439"/>
          </a:xfrm>
          <a:prstGeom prst="rect">
            <a:avLst/>
          </a:prstGeom>
          <a:noFill/>
        </p:spPr>
        <p:txBody>
          <a:bodyPr wrap="square" lIns="91440" tIns="45720" rIns="91440" bIns="45720">
            <a:spAutoFit/>
          </a:bodyPr>
          <a:lstStyle/>
          <a:p>
            <a:pPr algn="ctr"/>
            <a:r>
              <a:rPr lang="fr-FR" sz="8000" dirty="0">
                <a:ln w="18415" cmpd="sng">
                  <a:solidFill>
                    <a:srgbClr val="FFFFFF"/>
                  </a:solidFill>
                  <a:prstDash val="solid"/>
                </a:ln>
                <a:solidFill>
                  <a:srgbClr val="FFFF00"/>
                </a:solidFill>
                <a:effectLst>
                  <a:outerShdw blurRad="63500" dir="3600000" algn="tl" rotWithShape="0">
                    <a:srgbClr val="000000">
                      <a:alpha val="70000"/>
                    </a:srgbClr>
                  </a:outerShdw>
                </a:effectLst>
              </a:rPr>
              <a:t>!</a:t>
            </a:r>
          </a:p>
        </p:txBody>
      </p:sp>
      <p:sp>
        <p:nvSpPr>
          <p:cNvPr id="28" name="Rectangle 27"/>
          <p:cNvSpPr/>
          <p:nvPr/>
        </p:nvSpPr>
        <p:spPr>
          <a:xfrm>
            <a:off x="785786" y="1785926"/>
            <a:ext cx="1357322" cy="1323439"/>
          </a:xfrm>
          <a:prstGeom prst="rect">
            <a:avLst/>
          </a:prstGeom>
          <a:noFill/>
        </p:spPr>
        <p:txBody>
          <a:bodyPr wrap="square" lIns="91440" tIns="45720" rIns="91440" bIns="45720">
            <a:spAutoFit/>
          </a:bodyPr>
          <a:lstStyle/>
          <a:p>
            <a:pPr algn="ctr"/>
            <a:r>
              <a:rPr lang="fr-FR" sz="8000" dirty="0">
                <a:ln w="18415" cmpd="sng">
                  <a:solidFill>
                    <a:srgbClr val="FFFFFF"/>
                  </a:solidFill>
                  <a:prstDash val="solid"/>
                </a:ln>
                <a:solidFill>
                  <a:srgbClr val="FFFF00"/>
                </a:solidFill>
                <a:effectLst>
                  <a:outerShdw blurRad="63500" dir="3600000" algn="tl" rotWithShape="0">
                    <a:srgbClr val="000000">
                      <a:alpha val="70000"/>
                    </a:srgbClr>
                  </a:outerShdw>
                </a:effectLst>
              </a:rPr>
              <a:t>!</a:t>
            </a:r>
          </a:p>
        </p:txBody>
      </p:sp>
      <p:sp>
        <p:nvSpPr>
          <p:cNvPr id="29" name="Rectangle 28"/>
          <p:cNvSpPr/>
          <p:nvPr/>
        </p:nvSpPr>
        <p:spPr>
          <a:xfrm>
            <a:off x="4500562" y="1714488"/>
            <a:ext cx="1357322" cy="1323439"/>
          </a:xfrm>
          <a:prstGeom prst="rect">
            <a:avLst/>
          </a:prstGeom>
          <a:noFill/>
        </p:spPr>
        <p:txBody>
          <a:bodyPr wrap="square" lIns="91440" tIns="45720" rIns="91440" bIns="45720">
            <a:spAutoFit/>
          </a:bodyPr>
          <a:lstStyle/>
          <a:p>
            <a:pPr algn="ctr"/>
            <a:r>
              <a:rPr lang="fr-FR" sz="8000" dirty="0">
                <a:ln w="18415" cmpd="sng">
                  <a:solidFill>
                    <a:srgbClr val="FFFFFF"/>
                  </a:solidFill>
                  <a:prstDash val="solid"/>
                </a:ln>
                <a:solidFill>
                  <a:srgbClr val="FFFF00"/>
                </a:solidFill>
                <a:effectLst>
                  <a:outerShdw blurRad="63500" dir="3600000" algn="tl" rotWithShape="0">
                    <a:srgbClr val="000000">
                      <a:alpha val="70000"/>
                    </a:srgbClr>
                  </a:outerShdw>
                </a:effectLst>
              </a:rPr>
              <a:t>!</a:t>
            </a:r>
          </a:p>
        </p:txBody>
      </p:sp>
      <p:sp>
        <p:nvSpPr>
          <p:cNvPr id="30" name="Rectangle 29"/>
          <p:cNvSpPr/>
          <p:nvPr/>
        </p:nvSpPr>
        <p:spPr>
          <a:xfrm>
            <a:off x="571472" y="4143380"/>
            <a:ext cx="1357322" cy="1323439"/>
          </a:xfrm>
          <a:prstGeom prst="rect">
            <a:avLst/>
          </a:prstGeom>
          <a:noFill/>
        </p:spPr>
        <p:txBody>
          <a:bodyPr wrap="square" lIns="91440" tIns="45720" rIns="91440" bIns="45720">
            <a:spAutoFit/>
          </a:bodyPr>
          <a:lstStyle/>
          <a:p>
            <a:pPr algn="ctr"/>
            <a:r>
              <a:rPr lang="fr-FR" sz="8000" dirty="0">
                <a:ln w="18415" cmpd="sng">
                  <a:solidFill>
                    <a:srgbClr val="FFFFFF"/>
                  </a:solidFill>
                  <a:prstDash val="solid"/>
                </a:ln>
                <a:solidFill>
                  <a:srgbClr val="FFFF00"/>
                </a:solidFill>
                <a:effectLst>
                  <a:outerShdw blurRad="63500" dir="3600000" algn="tl" rotWithShape="0">
                    <a:srgbClr val="000000">
                      <a:alpha val="70000"/>
                    </a:srgbClr>
                  </a:outerShdw>
                </a:effectLst>
              </a:rPr>
              <a:t>!</a:t>
            </a:r>
          </a:p>
        </p:txBody>
      </p:sp>
      <p:sp>
        <p:nvSpPr>
          <p:cNvPr id="31" name="Rectangle 30"/>
          <p:cNvSpPr/>
          <p:nvPr/>
        </p:nvSpPr>
        <p:spPr>
          <a:xfrm>
            <a:off x="4357686" y="4071942"/>
            <a:ext cx="1357322" cy="1323439"/>
          </a:xfrm>
          <a:prstGeom prst="rect">
            <a:avLst/>
          </a:prstGeom>
          <a:noFill/>
        </p:spPr>
        <p:txBody>
          <a:bodyPr wrap="square" lIns="91440" tIns="45720" rIns="91440" bIns="45720">
            <a:spAutoFit/>
          </a:bodyPr>
          <a:lstStyle/>
          <a:p>
            <a:pPr algn="ctr"/>
            <a:r>
              <a:rPr lang="fr-FR" sz="8000" dirty="0">
                <a:ln w="18415" cmpd="sng">
                  <a:solidFill>
                    <a:srgbClr val="FFFFFF"/>
                  </a:solidFill>
                  <a:prstDash val="solid"/>
                </a:ln>
                <a:solidFill>
                  <a:srgbClr val="FFFF00"/>
                </a:solidFill>
                <a:effectLst>
                  <a:outerShdw blurRad="63500" dir="3600000" algn="tl" rotWithShape="0">
                    <a:srgbClr val="000000">
                      <a:alpha val="70000"/>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ppt_w</p:attrName>
                                        </p:attrNameLst>
                                      </p:cBhvr>
                                      <p:tavLst>
                                        <p:tav tm="0" fmla="#ppt_w*sin(2.5*pi*$)">
                                          <p:val>
                                            <p:fltVal val="0"/>
                                          </p:val>
                                        </p:tav>
                                        <p:tav tm="100000">
                                          <p:val>
                                            <p:fltVal val="1"/>
                                          </p:val>
                                        </p:tav>
                                      </p:tavLst>
                                    </p:anim>
                                    <p:anim calcmode="lin" valueType="num">
                                      <p:cBhvr>
                                        <p:cTn id="9" dur="1000" fill="hold"/>
                                        <p:tgtEl>
                                          <p:spTgt spid="9"/>
                                        </p:tgtEl>
                                        <p:attrNameLst>
                                          <p:attrName>ppt_h</p:attrName>
                                        </p:attrNameLst>
                                      </p:cBhvr>
                                      <p:tavLst>
                                        <p:tav tm="0">
                                          <p:val>
                                            <p:strVal val="#ppt_h"/>
                                          </p:val>
                                        </p:tav>
                                        <p:tav tm="100000">
                                          <p:val>
                                            <p:strVal val="#ppt_h"/>
                                          </p:val>
                                        </p:tav>
                                      </p:tavLst>
                                    </p:anim>
                                  </p:childTnLst>
                                </p:cTn>
                              </p:par>
                            </p:childTnLst>
                          </p:cTn>
                        </p:par>
                        <p:par>
                          <p:cTn id="10" fill="hold">
                            <p:stCondLst>
                              <p:cond delay="2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iterate type="lt">
                                    <p:tmPct val="10000"/>
                                  </p:iterate>
                                  <p:childTnLst>
                                    <p:set>
                                      <p:cBhvr>
                                        <p:cTn id="17" dur="1" fill="hold">
                                          <p:stCondLst>
                                            <p:cond delay="0"/>
                                          </p:stCondLst>
                                        </p:cTn>
                                        <p:tgtEl>
                                          <p:spTgt spid="20"/>
                                        </p:tgtEl>
                                        <p:attrNameLst>
                                          <p:attrName>style.visibility</p:attrName>
                                        </p:attrNameLst>
                                      </p:cBhvr>
                                      <p:to>
                                        <p:strVal val="visible"/>
                                      </p:to>
                                    </p:set>
                                    <p:animEffect transition="in" filter="fade">
                                      <p:cBhvr>
                                        <p:cTn id="18" dur="1000"/>
                                        <p:tgtEl>
                                          <p:spTgt spid="20"/>
                                        </p:tgtEl>
                                      </p:cBhvr>
                                    </p:animEffect>
                                    <p:anim calcmode="lin" valueType="num">
                                      <p:cBhvr>
                                        <p:cTn id="19" dur="1000" fill="hold"/>
                                        <p:tgtEl>
                                          <p:spTgt spid="20"/>
                                        </p:tgtEl>
                                        <p:attrNameLst>
                                          <p:attrName>ppt_w</p:attrName>
                                        </p:attrNameLst>
                                      </p:cBhvr>
                                      <p:tavLst>
                                        <p:tav tm="0" fmla="#ppt_w*sin(2.5*pi*$)">
                                          <p:val>
                                            <p:fltVal val="0"/>
                                          </p:val>
                                        </p:tav>
                                        <p:tav tm="100000">
                                          <p:val>
                                            <p:fltVal val="1"/>
                                          </p:val>
                                        </p:tav>
                                      </p:tavLst>
                                    </p:anim>
                                    <p:anim calcmode="lin" valueType="num">
                                      <p:cBhvr>
                                        <p:cTn id="20" dur="1000" fill="hold"/>
                                        <p:tgtEl>
                                          <p:spTgt spid="20"/>
                                        </p:tgtEl>
                                        <p:attrNameLst>
                                          <p:attrName>ppt_h</p:attrName>
                                        </p:attrNameLst>
                                      </p:cBhvr>
                                      <p:tavLst>
                                        <p:tav tm="0">
                                          <p:val>
                                            <p:strVal val="#ppt_h"/>
                                          </p:val>
                                        </p:tav>
                                        <p:tav tm="100000">
                                          <p:val>
                                            <p:strVal val="#ppt_h"/>
                                          </p:val>
                                        </p:tav>
                                      </p:tavLst>
                                    </p:anim>
                                  </p:childTnLst>
                                </p:cTn>
                              </p:par>
                            </p:childTnLst>
                          </p:cTn>
                        </p:par>
                        <p:par>
                          <p:cTn id="21" fill="hold">
                            <p:stCondLst>
                              <p:cond delay="250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0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500" fill="hold"/>
                                        <p:tgtEl>
                                          <p:spTgt spid="27"/>
                                        </p:tgtEl>
                                        <p:attrNameLst>
                                          <p:attrName>ppt_w</p:attrName>
                                        </p:attrNameLst>
                                      </p:cBhvr>
                                      <p:tavLst>
                                        <p:tav tm="0">
                                          <p:val>
                                            <p:fltVal val="0"/>
                                          </p:val>
                                        </p:tav>
                                        <p:tav tm="100000">
                                          <p:val>
                                            <p:strVal val="#ppt_w"/>
                                          </p:val>
                                        </p:tav>
                                      </p:tavLst>
                                    </p:anim>
                                    <p:anim calcmode="lin" valueType="num">
                                      <p:cBhvr>
                                        <p:cTn id="30" dur="500" fill="hold"/>
                                        <p:tgtEl>
                                          <p:spTgt spid="27"/>
                                        </p:tgtEl>
                                        <p:attrNameLst>
                                          <p:attrName>ppt_h</p:attrName>
                                        </p:attrNameLst>
                                      </p:cBhvr>
                                      <p:tavLst>
                                        <p:tav tm="0">
                                          <p:val>
                                            <p:fltVal val="0"/>
                                          </p:val>
                                        </p:tav>
                                        <p:tav tm="100000">
                                          <p:val>
                                            <p:strVal val="#ppt_h"/>
                                          </p:val>
                                        </p:tav>
                                      </p:tavLst>
                                    </p:anim>
                                    <p:animEffect transition="in" filter="fade">
                                      <p:cBhvr>
                                        <p:cTn id="31" dur="500"/>
                                        <p:tgtEl>
                                          <p:spTgt spid="27"/>
                                        </p:tgtEl>
                                      </p:cBhvr>
                                    </p:animEffect>
                                  </p:childTnLst>
                                </p:cTn>
                              </p:par>
                            </p:childTnLst>
                          </p:cTn>
                        </p:par>
                        <p:par>
                          <p:cTn id="32" fill="hold">
                            <p:stCondLst>
                              <p:cond delay="500"/>
                            </p:stCondLst>
                            <p:childTnLst>
                              <p:par>
                                <p:cTn id="33" presetID="53"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animEffect transition="in" filter="fade">
                                      <p:cBhvr>
                                        <p:cTn id="37" dur="500"/>
                                        <p:tgtEl>
                                          <p:spTgt spid="28"/>
                                        </p:tgtEl>
                                      </p:cBhvr>
                                    </p:animEffect>
                                  </p:childTnLst>
                                </p:cTn>
                              </p:par>
                            </p:childTnLst>
                          </p:cTn>
                        </p:par>
                        <p:par>
                          <p:cTn id="38" fill="hold">
                            <p:stCondLst>
                              <p:cond delay="1000"/>
                            </p:stCondLst>
                            <p:childTnLst>
                              <p:par>
                                <p:cTn id="39" presetID="53"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Effect transition="in" filter="fade">
                                      <p:cBhvr>
                                        <p:cTn id="43" dur="500"/>
                                        <p:tgtEl>
                                          <p:spTgt spid="29"/>
                                        </p:tgtEl>
                                      </p:cBhvr>
                                    </p:animEffect>
                                  </p:childTnLst>
                                </p:cTn>
                              </p:par>
                            </p:childTnLst>
                          </p:cTn>
                        </p:par>
                        <p:par>
                          <p:cTn id="44" fill="hold">
                            <p:stCondLst>
                              <p:cond delay="1500"/>
                            </p:stCondLst>
                            <p:childTnLst>
                              <p:par>
                                <p:cTn id="45" presetID="53"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
                                          </p:val>
                                        </p:tav>
                                        <p:tav tm="100000">
                                          <p:val>
                                            <p:strVal val="#ppt_w"/>
                                          </p:val>
                                        </p:tav>
                                      </p:tavLst>
                                    </p:anim>
                                    <p:anim calcmode="lin" valueType="num">
                                      <p:cBhvr>
                                        <p:cTn id="48" dur="500" fill="hold"/>
                                        <p:tgtEl>
                                          <p:spTgt spid="30"/>
                                        </p:tgtEl>
                                        <p:attrNameLst>
                                          <p:attrName>ppt_h</p:attrName>
                                        </p:attrNameLst>
                                      </p:cBhvr>
                                      <p:tavLst>
                                        <p:tav tm="0">
                                          <p:val>
                                            <p:fltVal val="0"/>
                                          </p:val>
                                        </p:tav>
                                        <p:tav tm="100000">
                                          <p:val>
                                            <p:strVal val="#ppt_h"/>
                                          </p:val>
                                        </p:tav>
                                      </p:tavLst>
                                    </p:anim>
                                    <p:animEffect transition="in" filter="fade">
                                      <p:cBhvr>
                                        <p:cTn id="49" dur="500"/>
                                        <p:tgtEl>
                                          <p:spTgt spid="30"/>
                                        </p:tgtEl>
                                      </p:cBhvr>
                                    </p:animEffect>
                                  </p:childTnLst>
                                </p:cTn>
                              </p:par>
                            </p:childTnLst>
                          </p:cTn>
                        </p:par>
                        <p:par>
                          <p:cTn id="50" fill="hold">
                            <p:stCondLst>
                              <p:cond delay="2000"/>
                            </p:stCondLst>
                            <p:childTnLst>
                              <p:par>
                                <p:cTn id="51" presetID="53"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p:cTn id="53" dur="500" fill="hold"/>
                                        <p:tgtEl>
                                          <p:spTgt spid="31"/>
                                        </p:tgtEl>
                                        <p:attrNameLst>
                                          <p:attrName>ppt_w</p:attrName>
                                        </p:attrNameLst>
                                      </p:cBhvr>
                                      <p:tavLst>
                                        <p:tav tm="0">
                                          <p:val>
                                            <p:fltVal val="0"/>
                                          </p:val>
                                        </p:tav>
                                        <p:tav tm="100000">
                                          <p:val>
                                            <p:strVal val="#ppt_w"/>
                                          </p:val>
                                        </p:tav>
                                      </p:tavLst>
                                    </p:anim>
                                    <p:anim calcmode="lin" valueType="num">
                                      <p:cBhvr>
                                        <p:cTn id="54" dur="500" fill="hold"/>
                                        <p:tgtEl>
                                          <p:spTgt spid="31"/>
                                        </p:tgtEl>
                                        <p:attrNameLst>
                                          <p:attrName>ppt_h</p:attrName>
                                        </p:attrNameLst>
                                      </p:cBhvr>
                                      <p:tavLst>
                                        <p:tav tm="0">
                                          <p:val>
                                            <p:fltVal val="0"/>
                                          </p:val>
                                        </p:tav>
                                        <p:tav tm="100000">
                                          <p:val>
                                            <p:strVal val="#ppt_h"/>
                                          </p:val>
                                        </p:tav>
                                      </p:tavLst>
                                    </p:anim>
                                    <p:animEffect transition="in" filter="fade">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0" fill="hold" grpId="1" nodeType="clickEffect">
                                  <p:stCondLst>
                                    <p:cond delay="0"/>
                                  </p:stCondLst>
                                  <p:childTnLst>
                                    <p:anim calcmode="lin" valueType="num">
                                      <p:cBhvr>
                                        <p:cTn id="59" dur="500"/>
                                        <p:tgtEl>
                                          <p:spTgt spid="31"/>
                                        </p:tgtEl>
                                        <p:attrNameLst>
                                          <p:attrName>ppt_w</p:attrName>
                                        </p:attrNameLst>
                                      </p:cBhvr>
                                      <p:tavLst>
                                        <p:tav tm="0">
                                          <p:val>
                                            <p:strVal val="ppt_w"/>
                                          </p:val>
                                        </p:tav>
                                        <p:tav tm="100000">
                                          <p:val>
                                            <p:fltVal val="0"/>
                                          </p:val>
                                        </p:tav>
                                      </p:tavLst>
                                    </p:anim>
                                    <p:anim calcmode="lin" valueType="num">
                                      <p:cBhvr>
                                        <p:cTn id="60" dur="500"/>
                                        <p:tgtEl>
                                          <p:spTgt spid="31"/>
                                        </p:tgtEl>
                                        <p:attrNameLst>
                                          <p:attrName>ppt_h</p:attrName>
                                        </p:attrNameLst>
                                      </p:cBhvr>
                                      <p:tavLst>
                                        <p:tav tm="0">
                                          <p:val>
                                            <p:strVal val="ppt_h"/>
                                          </p:val>
                                        </p:tav>
                                        <p:tav tm="100000">
                                          <p:val>
                                            <p:fltVal val="0"/>
                                          </p:val>
                                        </p:tav>
                                      </p:tavLst>
                                    </p:anim>
                                    <p:animEffect transition="out" filter="fade">
                                      <p:cBhvr>
                                        <p:cTn id="61" dur="500"/>
                                        <p:tgtEl>
                                          <p:spTgt spid="31"/>
                                        </p:tgtEl>
                                      </p:cBhvr>
                                    </p:animEffect>
                                    <p:set>
                                      <p:cBhvr>
                                        <p:cTn id="62" dur="1" fill="hold">
                                          <p:stCondLst>
                                            <p:cond delay="499"/>
                                          </p:stCondLst>
                                        </p:cTn>
                                        <p:tgtEl>
                                          <p:spTgt spid="31"/>
                                        </p:tgtEl>
                                        <p:attrNameLst>
                                          <p:attrName>style.visibility</p:attrName>
                                        </p:attrNameLst>
                                      </p:cBhvr>
                                      <p:to>
                                        <p:strVal val="hidden"/>
                                      </p:to>
                                    </p:set>
                                  </p:childTnLst>
                                </p:cTn>
                              </p:par>
                              <p:par>
                                <p:cTn id="63" presetID="53" presetClass="exit" presetSubtype="0" fill="hold" grpId="1" nodeType="withEffect">
                                  <p:stCondLst>
                                    <p:cond delay="0"/>
                                  </p:stCondLst>
                                  <p:childTnLst>
                                    <p:anim calcmode="lin" valueType="num">
                                      <p:cBhvr>
                                        <p:cTn id="64" dur="500"/>
                                        <p:tgtEl>
                                          <p:spTgt spid="30"/>
                                        </p:tgtEl>
                                        <p:attrNameLst>
                                          <p:attrName>ppt_w</p:attrName>
                                        </p:attrNameLst>
                                      </p:cBhvr>
                                      <p:tavLst>
                                        <p:tav tm="0">
                                          <p:val>
                                            <p:strVal val="ppt_w"/>
                                          </p:val>
                                        </p:tav>
                                        <p:tav tm="100000">
                                          <p:val>
                                            <p:fltVal val="0"/>
                                          </p:val>
                                        </p:tav>
                                      </p:tavLst>
                                    </p:anim>
                                    <p:anim calcmode="lin" valueType="num">
                                      <p:cBhvr>
                                        <p:cTn id="65" dur="500"/>
                                        <p:tgtEl>
                                          <p:spTgt spid="30"/>
                                        </p:tgtEl>
                                        <p:attrNameLst>
                                          <p:attrName>ppt_h</p:attrName>
                                        </p:attrNameLst>
                                      </p:cBhvr>
                                      <p:tavLst>
                                        <p:tav tm="0">
                                          <p:val>
                                            <p:strVal val="ppt_h"/>
                                          </p:val>
                                        </p:tav>
                                        <p:tav tm="100000">
                                          <p:val>
                                            <p:fltVal val="0"/>
                                          </p:val>
                                        </p:tav>
                                      </p:tavLst>
                                    </p:anim>
                                    <p:animEffect transition="out" filter="fade">
                                      <p:cBhvr>
                                        <p:cTn id="66" dur="500"/>
                                        <p:tgtEl>
                                          <p:spTgt spid="30"/>
                                        </p:tgtEl>
                                      </p:cBhvr>
                                    </p:animEffect>
                                    <p:set>
                                      <p:cBhvr>
                                        <p:cTn id="67" dur="1" fill="hold">
                                          <p:stCondLst>
                                            <p:cond delay="499"/>
                                          </p:stCondLst>
                                        </p:cTn>
                                        <p:tgtEl>
                                          <p:spTgt spid="30"/>
                                        </p:tgtEl>
                                        <p:attrNameLst>
                                          <p:attrName>style.visibility</p:attrName>
                                        </p:attrNameLst>
                                      </p:cBhvr>
                                      <p:to>
                                        <p:strVal val="hidden"/>
                                      </p:to>
                                    </p:set>
                                  </p:childTnLst>
                                </p:cTn>
                              </p:par>
                              <p:par>
                                <p:cTn id="68" presetID="53" presetClass="exit" presetSubtype="0" fill="hold" grpId="1" nodeType="withEffect">
                                  <p:stCondLst>
                                    <p:cond delay="0"/>
                                  </p:stCondLst>
                                  <p:childTnLst>
                                    <p:anim calcmode="lin" valueType="num">
                                      <p:cBhvr>
                                        <p:cTn id="69" dur="500"/>
                                        <p:tgtEl>
                                          <p:spTgt spid="27"/>
                                        </p:tgtEl>
                                        <p:attrNameLst>
                                          <p:attrName>ppt_w</p:attrName>
                                        </p:attrNameLst>
                                      </p:cBhvr>
                                      <p:tavLst>
                                        <p:tav tm="0">
                                          <p:val>
                                            <p:strVal val="ppt_w"/>
                                          </p:val>
                                        </p:tav>
                                        <p:tav tm="100000">
                                          <p:val>
                                            <p:fltVal val="0"/>
                                          </p:val>
                                        </p:tav>
                                      </p:tavLst>
                                    </p:anim>
                                    <p:anim calcmode="lin" valueType="num">
                                      <p:cBhvr>
                                        <p:cTn id="70" dur="500"/>
                                        <p:tgtEl>
                                          <p:spTgt spid="27"/>
                                        </p:tgtEl>
                                        <p:attrNameLst>
                                          <p:attrName>ppt_h</p:attrName>
                                        </p:attrNameLst>
                                      </p:cBhvr>
                                      <p:tavLst>
                                        <p:tav tm="0">
                                          <p:val>
                                            <p:strVal val="ppt_h"/>
                                          </p:val>
                                        </p:tav>
                                        <p:tav tm="100000">
                                          <p:val>
                                            <p:fltVal val="0"/>
                                          </p:val>
                                        </p:tav>
                                      </p:tavLst>
                                    </p:anim>
                                    <p:animEffect transition="out" filter="fade">
                                      <p:cBhvr>
                                        <p:cTn id="71" dur="500"/>
                                        <p:tgtEl>
                                          <p:spTgt spid="27"/>
                                        </p:tgtEl>
                                      </p:cBhvr>
                                    </p:animEffect>
                                    <p:set>
                                      <p:cBhvr>
                                        <p:cTn id="72" dur="1" fill="hold">
                                          <p:stCondLst>
                                            <p:cond delay="499"/>
                                          </p:stCondLst>
                                        </p:cTn>
                                        <p:tgtEl>
                                          <p:spTgt spid="27"/>
                                        </p:tgtEl>
                                        <p:attrNameLst>
                                          <p:attrName>style.visibility</p:attrName>
                                        </p:attrNameLst>
                                      </p:cBhvr>
                                      <p:to>
                                        <p:strVal val="hidden"/>
                                      </p:to>
                                    </p:set>
                                  </p:childTnLst>
                                </p:cTn>
                              </p:par>
                              <p:par>
                                <p:cTn id="73" presetID="53" presetClass="exit" presetSubtype="0" fill="hold" grpId="1" nodeType="withEffect">
                                  <p:stCondLst>
                                    <p:cond delay="0"/>
                                  </p:stCondLst>
                                  <p:childTnLst>
                                    <p:anim calcmode="lin" valueType="num">
                                      <p:cBhvr>
                                        <p:cTn id="74" dur="500"/>
                                        <p:tgtEl>
                                          <p:spTgt spid="29"/>
                                        </p:tgtEl>
                                        <p:attrNameLst>
                                          <p:attrName>ppt_w</p:attrName>
                                        </p:attrNameLst>
                                      </p:cBhvr>
                                      <p:tavLst>
                                        <p:tav tm="0">
                                          <p:val>
                                            <p:strVal val="ppt_w"/>
                                          </p:val>
                                        </p:tav>
                                        <p:tav tm="100000">
                                          <p:val>
                                            <p:fltVal val="0"/>
                                          </p:val>
                                        </p:tav>
                                      </p:tavLst>
                                    </p:anim>
                                    <p:anim calcmode="lin" valueType="num">
                                      <p:cBhvr>
                                        <p:cTn id="75" dur="500"/>
                                        <p:tgtEl>
                                          <p:spTgt spid="29"/>
                                        </p:tgtEl>
                                        <p:attrNameLst>
                                          <p:attrName>ppt_h</p:attrName>
                                        </p:attrNameLst>
                                      </p:cBhvr>
                                      <p:tavLst>
                                        <p:tav tm="0">
                                          <p:val>
                                            <p:strVal val="ppt_h"/>
                                          </p:val>
                                        </p:tav>
                                        <p:tav tm="100000">
                                          <p:val>
                                            <p:fltVal val="0"/>
                                          </p:val>
                                        </p:tav>
                                      </p:tavLst>
                                    </p:anim>
                                    <p:animEffect transition="out" filter="fade">
                                      <p:cBhvr>
                                        <p:cTn id="76" dur="500"/>
                                        <p:tgtEl>
                                          <p:spTgt spid="29"/>
                                        </p:tgtEl>
                                      </p:cBhvr>
                                    </p:animEffect>
                                    <p:set>
                                      <p:cBhvr>
                                        <p:cTn id="77" dur="1" fill="hold">
                                          <p:stCondLst>
                                            <p:cond delay="499"/>
                                          </p:stCondLst>
                                        </p:cTn>
                                        <p:tgtEl>
                                          <p:spTgt spid="29"/>
                                        </p:tgtEl>
                                        <p:attrNameLst>
                                          <p:attrName>style.visibility</p:attrName>
                                        </p:attrNameLst>
                                      </p:cBhvr>
                                      <p:to>
                                        <p:strVal val="hidden"/>
                                      </p:to>
                                    </p:set>
                                  </p:childTnLst>
                                </p:cTn>
                              </p:par>
                              <p:par>
                                <p:cTn id="78" presetID="53" presetClass="exit" presetSubtype="0" fill="hold" grpId="1" nodeType="withEffect">
                                  <p:stCondLst>
                                    <p:cond delay="0"/>
                                  </p:stCondLst>
                                  <p:childTnLst>
                                    <p:anim calcmode="lin" valueType="num">
                                      <p:cBhvr>
                                        <p:cTn id="79" dur="500"/>
                                        <p:tgtEl>
                                          <p:spTgt spid="28"/>
                                        </p:tgtEl>
                                        <p:attrNameLst>
                                          <p:attrName>ppt_w</p:attrName>
                                        </p:attrNameLst>
                                      </p:cBhvr>
                                      <p:tavLst>
                                        <p:tav tm="0">
                                          <p:val>
                                            <p:strVal val="ppt_w"/>
                                          </p:val>
                                        </p:tav>
                                        <p:tav tm="100000">
                                          <p:val>
                                            <p:fltVal val="0"/>
                                          </p:val>
                                        </p:tav>
                                      </p:tavLst>
                                    </p:anim>
                                    <p:anim calcmode="lin" valueType="num">
                                      <p:cBhvr>
                                        <p:cTn id="80" dur="500"/>
                                        <p:tgtEl>
                                          <p:spTgt spid="28"/>
                                        </p:tgtEl>
                                        <p:attrNameLst>
                                          <p:attrName>ppt_h</p:attrName>
                                        </p:attrNameLst>
                                      </p:cBhvr>
                                      <p:tavLst>
                                        <p:tav tm="0">
                                          <p:val>
                                            <p:strVal val="ppt_h"/>
                                          </p:val>
                                        </p:tav>
                                        <p:tav tm="100000">
                                          <p:val>
                                            <p:fltVal val="0"/>
                                          </p:val>
                                        </p:tav>
                                      </p:tavLst>
                                    </p:anim>
                                    <p:animEffect transition="out" filter="fade">
                                      <p:cBhvr>
                                        <p:cTn id="81" dur="500"/>
                                        <p:tgtEl>
                                          <p:spTgt spid="28"/>
                                        </p:tgtEl>
                                      </p:cBhvr>
                                    </p:animEffect>
                                    <p:set>
                                      <p:cBhvr>
                                        <p:cTn id="82" dur="1" fill="hold">
                                          <p:stCondLst>
                                            <p:cond delay="499"/>
                                          </p:stCondLst>
                                        </p:cTn>
                                        <p:tgtEl>
                                          <p:spTgt spid="28"/>
                                        </p:tgtEl>
                                        <p:attrNameLst>
                                          <p:attrName>style.visibility</p:attrName>
                                        </p:attrNameLst>
                                      </p:cBhvr>
                                      <p:to>
                                        <p:strVal val="hidden"/>
                                      </p:to>
                                    </p:set>
                                  </p:childTnLst>
                                </p:cTn>
                              </p:par>
                            </p:childTnLst>
                          </p:cTn>
                        </p:par>
                        <p:par>
                          <p:cTn id="83" fill="hold">
                            <p:stCondLst>
                              <p:cond delay="500"/>
                            </p:stCondLst>
                            <p:childTnLst>
                              <p:par>
                                <p:cTn id="84" presetID="49" presetClass="path" presetSubtype="0" accel="50000" decel="50000" fill="hold" grpId="1" nodeType="afterEffect">
                                  <p:stCondLst>
                                    <p:cond delay="0"/>
                                  </p:stCondLst>
                                  <p:iterate type="lt">
                                    <p:tmPct val="0"/>
                                  </p:iterate>
                                  <p:childTnLst>
                                    <p:animMotion origin="layout" path="M 5E-6 -3.18224E-6 L -0.00902 0.37628 " pathEditMode="relative" rAng="0" ptsTypes="AA">
                                      <p:cBhvr>
                                        <p:cTn id="85" dur="2000" fill="hold"/>
                                        <p:tgtEl>
                                          <p:spTgt spid="9"/>
                                        </p:tgtEl>
                                        <p:attrNameLst>
                                          <p:attrName>ppt_x</p:attrName>
                                          <p:attrName>ppt_y</p:attrName>
                                        </p:attrNameLst>
                                      </p:cBhvr>
                                      <p:rCtr x="-500" y="18800"/>
                                    </p:animMotion>
                                  </p:childTnLst>
                                </p:cTn>
                              </p:par>
                              <p:par>
                                <p:cTn id="86" presetID="56" presetClass="path" presetSubtype="0" accel="50000" decel="50000" fill="hold" grpId="1" nodeType="withEffect">
                                  <p:stCondLst>
                                    <p:cond delay="0"/>
                                  </p:stCondLst>
                                  <p:iterate type="lt">
                                    <p:tmPct val="0"/>
                                  </p:iterate>
                                  <p:childTnLst>
                                    <p:animMotion origin="layout" path="M -0.00677 -0.01966 L 0.00469 -0.39154 " pathEditMode="relative" rAng="0" ptsTypes="AA">
                                      <p:cBhvr>
                                        <p:cTn id="87" dur="2000" fill="hold"/>
                                        <p:tgtEl>
                                          <p:spTgt spid="20"/>
                                        </p:tgtEl>
                                        <p:attrNameLst>
                                          <p:attrName>ppt_x</p:attrName>
                                          <p:attrName>ppt_y</p:attrName>
                                        </p:attrNameLst>
                                      </p:cBhvr>
                                      <p:rCtr x="600" y="-18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20" grpId="0"/>
      <p:bldP spid="20" grpId="1"/>
      <p:bldP spid="21" grpId="0"/>
      <p:bldP spid="27" grpId="0"/>
      <p:bldP spid="27" grpId="1"/>
      <p:bldP spid="28" grpId="0"/>
      <p:bldP spid="28" grpId="1"/>
      <p:bldP spid="29" grpId="0"/>
      <p:bldP spid="29" grpId="1"/>
      <p:bldP spid="30" grpId="0"/>
      <p:bldP spid="30" grpId="1"/>
      <p:bldP spid="31" grpId="0"/>
      <p:bldP spid="3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p:cNvSpPr txBox="1"/>
          <p:nvPr/>
        </p:nvSpPr>
        <p:spPr>
          <a:xfrm>
            <a:off x="364410" y="1374155"/>
            <a:ext cx="7429552" cy="3262432"/>
          </a:xfrm>
          <a:prstGeom prst="rect">
            <a:avLst/>
          </a:prstGeom>
          <a:noFill/>
        </p:spPr>
        <p:txBody>
          <a:bodyPr wrap="square" rtlCol="0">
            <a:spAutoFit/>
          </a:bodyPr>
          <a:lstStyle/>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Default software and hardware installation;</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Updates not performed;</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Nonexistent or default passwords</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No separation of operational flows from system administration flows;</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Outdated security procedures;</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Weak authentication;</a:t>
            </a:r>
          </a:p>
          <a:p>
            <a:pPr lvl="0" indent="177800" algn="just">
              <a:spcBef>
                <a:spcPts val="300"/>
              </a:spcBef>
              <a:spcAft>
                <a:spcPts val="300"/>
              </a:spcAft>
              <a:buClr>
                <a:srgbClr val="FF0000"/>
              </a:buClr>
              <a:buFont typeface="Wingdings" pitchFamily="2" charset="2"/>
              <a:buChar char="§"/>
            </a:pPr>
            <a:r>
              <a:rPr lang="en-US" sz="2200" dirty="0">
                <a:solidFill>
                  <a:schemeClr val="bg1"/>
                </a:solidFill>
                <a:latin typeface="Times New Roman" pitchFamily="18" charset="0"/>
                <a:cs typeface="Times New Roman" pitchFamily="18" charset="0"/>
              </a:rPr>
              <a:t>……………</a:t>
            </a:r>
          </a:p>
        </p:txBody>
      </p:sp>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10</a:t>
            </a:fld>
            <a:endParaRPr lang="fr-FR" dirty="0"/>
          </a:p>
        </p:txBody>
      </p:sp>
      <p:sp>
        <p:nvSpPr>
          <p:cNvPr id="11" name="ZoneTexte 10"/>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Types of CS</a:t>
            </a:r>
          </a:p>
        </p:txBody>
      </p:sp>
      <p:sp>
        <p:nvSpPr>
          <p:cNvPr id="19" name="ZoneTexte 18"/>
          <p:cNvSpPr txBox="1"/>
          <p:nvPr/>
        </p:nvSpPr>
        <p:spPr>
          <a:xfrm>
            <a:off x="3268414" y="305733"/>
            <a:ext cx="1663626"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t>RMP</a:t>
            </a:r>
          </a:p>
        </p:txBody>
      </p:sp>
      <p:sp>
        <p:nvSpPr>
          <p:cNvPr id="20" name="ZoneTexte 19"/>
          <p:cNvSpPr txBox="1"/>
          <p:nvPr/>
        </p:nvSpPr>
        <p:spPr>
          <a:xfrm>
            <a:off x="5036347" y="305733"/>
            <a:ext cx="2321735"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Typology</a:t>
            </a:r>
            <a:r>
              <a:rPr lang="fr-FR" dirty="0">
                <a:solidFill>
                  <a:schemeClr val="bg1"/>
                </a:solidFill>
              </a:rPr>
              <a:t> of R &amp; PS</a:t>
            </a:r>
          </a:p>
        </p:txBody>
      </p:sp>
      <p:sp>
        <p:nvSpPr>
          <p:cNvPr id="21" name="ZoneTexte 20"/>
          <p:cNvSpPr txBox="1"/>
          <p:nvPr/>
        </p:nvSpPr>
        <p:spPr>
          <a:xfrm>
            <a:off x="165263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Flaws</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1" nodeType="clickEffect">
                                  <p:stCondLst>
                                    <p:cond delay="0"/>
                                  </p:stCondLst>
                                  <p:iterate type="lt">
                                    <p:tmPct val="0"/>
                                  </p:iterate>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p:txBody>
          <a:bodyPr/>
          <a:lstStyle/>
          <a:p>
            <a:fld id="{1A961C6A-98E5-403E-8B8F-9D9432EF4307}" type="datetime1">
              <a:rPr lang="fr-FR" smtClean="0"/>
              <a:pPr/>
              <a:t>09/01/2026</a:t>
            </a:fld>
            <a:endParaRPr lang="fr-FR"/>
          </a:p>
        </p:txBody>
      </p:sp>
      <p:sp>
        <p:nvSpPr>
          <p:cNvPr id="13" name="Espace réservé du numéro de diapositive 12"/>
          <p:cNvSpPr>
            <a:spLocks noGrp="1"/>
          </p:cNvSpPr>
          <p:nvPr>
            <p:ph type="sldNum" idx="12"/>
          </p:nvPr>
        </p:nvSpPr>
        <p:spPr/>
        <p:txBody>
          <a:bodyPr/>
          <a:lstStyle/>
          <a:p>
            <a:fld id="{66EFF29A-B2FD-4D7F-BD7D-29982909C77B}" type="slidenum">
              <a:rPr lang="fr-FR" smtClean="0"/>
              <a:pPr/>
              <a:t>11</a:t>
            </a:fld>
            <a:endParaRPr lang="fr-FR"/>
          </a:p>
        </p:txBody>
      </p:sp>
      <p:graphicFrame>
        <p:nvGraphicFramePr>
          <p:cNvPr id="15" name="Diagramme 14"/>
          <p:cNvGraphicFramePr/>
          <p:nvPr>
            <p:extLst>
              <p:ext uri="{D42A27DB-BD31-4B8C-83A1-F6EECF244321}">
                <p14:modId xmlns:p14="http://schemas.microsoft.com/office/powerpoint/2010/main" val="3628301170"/>
              </p:ext>
            </p:extLst>
          </p:nvPr>
        </p:nvGraphicFramePr>
        <p:xfrm>
          <a:off x="214282" y="1142984"/>
          <a:ext cx="7872060" cy="5088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0" name="Diagramme 19"/>
          <p:cNvGraphicFramePr/>
          <p:nvPr>
            <p:extLst>
              <p:ext uri="{D42A27DB-BD31-4B8C-83A1-F6EECF244321}">
                <p14:modId xmlns:p14="http://schemas.microsoft.com/office/powerpoint/2010/main" val="1748986403"/>
              </p:ext>
            </p:extLst>
          </p:nvPr>
        </p:nvGraphicFramePr>
        <p:xfrm>
          <a:off x="264938" y="1273442"/>
          <a:ext cx="7691438" cy="48918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ZoneTexte 10"/>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Types of CS</a:t>
            </a:r>
          </a:p>
        </p:txBody>
      </p:sp>
      <p:sp>
        <p:nvSpPr>
          <p:cNvPr id="14" name="ZoneTexte 13"/>
          <p:cNvSpPr txBox="1"/>
          <p:nvPr/>
        </p:nvSpPr>
        <p:spPr>
          <a:xfrm>
            <a:off x="3268414" y="305733"/>
            <a:ext cx="166362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t>RMP</a:t>
            </a:r>
          </a:p>
        </p:txBody>
      </p:sp>
      <p:sp>
        <p:nvSpPr>
          <p:cNvPr id="16" name="ZoneTexte 15"/>
          <p:cNvSpPr txBox="1"/>
          <p:nvPr/>
        </p:nvSpPr>
        <p:spPr>
          <a:xfrm>
            <a:off x="5036347" y="305733"/>
            <a:ext cx="2321735"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Typology</a:t>
            </a:r>
            <a:r>
              <a:rPr lang="fr-FR" dirty="0">
                <a:solidFill>
                  <a:schemeClr val="bg1"/>
                </a:solidFill>
              </a:rPr>
              <a:t> of R &amp; PS</a:t>
            </a:r>
          </a:p>
        </p:txBody>
      </p:sp>
      <p:sp>
        <p:nvSpPr>
          <p:cNvPr id="17" name="ZoneTexte 16"/>
          <p:cNvSpPr txBox="1"/>
          <p:nvPr/>
        </p:nvSpPr>
        <p:spPr>
          <a:xfrm>
            <a:off x="165263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Flaws</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xit" presetSubtype="0" fill="hold" grpId="1" nodeType="clickEffect">
                                  <p:stCondLst>
                                    <p:cond delay="0"/>
                                  </p:stCondLst>
                                  <p:childTnLst>
                                    <p:animEffect transition="out" filter="fade">
                                      <p:cBhvr>
                                        <p:cTn id="18" dur="1000" accel="50000">
                                          <p:stCondLst>
                                            <p:cond delay="0"/>
                                          </p:stCondLst>
                                        </p:cTn>
                                        <p:tgtEl>
                                          <p:spTgt spid="15"/>
                                        </p:tgtEl>
                                      </p:cBhvr>
                                    </p:animEffect>
                                    <p:anim calcmode="lin" valueType="num">
                                      <p:cBhvr>
                                        <p:cTn id="19" dur="500" accel="50000">
                                          <p:stCondLst>
                                            <p:cond delay="0"/>
                                          </p:stCondLst>
                                        </p:cTn>
                                        <p:tgtEl>
                                          <p:spTgt spid="15"/>
                                        </p:tgtEl>
                                        <p:attrNameLst>
                                          <p:attrName>ppt_y</p:attrName>
                                        </p:attrNameLst>
                                      </p:cBhvr>
                                      <p:tavLst>
                                        <p:tav tm="0">
                                          <p:val>
                                            <p:strVal val="ppt_y"/>
                                          </p:val>
                                        </p:tav>
                                        <p:tav tm="100000">
                                          <p:val>
                                            <p:strVal val="ppt_y+.1"/>
                                          </p:val>
                                        </p:tav>
                                      </p:tavLst>
                                    </p:anim>
                                    <p:anim calcmode="lin" valueType="num">
                                      <p:cBhvr>
                                        <p:cTn id="20" dur="500" decel="50000">
                                          <p:stCondLst>
                                            <p:cond delay="500"/>
                                          </p:stCondLst>
                                        </p:cTn>
                                        <p:tgtEl>
                                          <p:spTgt spid="15"/>
                                        </p:tgtEl>
                                        <p:attrNameLst>
                                          <p:attrName>ppt_y</p:attrName>
                                        </p:attrNameLst>
                                      </p:cBhvr>
                                      <p:tavLst>
                                        <p:tav tm="0">
                                          <p:val>
                                            <p:strVal val="ppt_y"/>
                                          </p:val>
                                        </p:tav>
                                        <p:tav tm="100000">
                                          <p:val>
                                            <p:strVal val="ppt_y-.1"/>
                                          </p:val>
                                        </p:tav>
                                      </p:tavLst>
                                    </p:anim>
                                    <p:anim calcmode="lin" valueType="num">
                                      <p:cBhvr>
                                        <p:cTn id="21" dur="500" accel="50000">
                                          <p:stCondLst>
                                            <p:cond delay="500"/>
                                          </p:stCondLst>
                                        </p:cTn>
                                        <p:tgtEl>
                                          <p:spTgt spid="15"/>
                                        </p:tgtEl>
                                        <p:attrNameLst>
                                          <p:attrName>ppt_x</p:attrName>
                                        </p:attrNameLst>
                                      </p:cBhvr>
                                      <p:tavLst>
                                        <p:tav tm="0">
                                          <p:val>
                                            <p:strVal val="ppt_x"/>
                                          </p:val>
                                        </p:tav>
                                        <p:tav tm="100000">
                                          <p:val>
                                            <p:strVal val="ppt_x+.4"/>
                                          </p:val>
                                        </p:tav>
                                      </p:tavLst>
                                    </p:anim>
                                    <p:anim calcmode="lin" valueType="num">
                                      <p:cBhvr>
                                        <p:cTn id="22" dur="1000"/>
                                        <p:tgtEl>
                                          <p:spTgt spid="15"/>
                                        </p:tgtEl>
                                        <p:attrNameLst>
                                          <p:attrName>ppt_h</p:attrName>
                                        </p:attrNameLst>
                                      </p:cBhvr>
                                      <p:tavLst>
                                        <p:tav tm="0">
                                          <p:val>
                                            <p:strVal val="ppt_h"/>
                                          </p:val>
                                        </p:tav>
                                        <p:tav tm="100000">
                                          <p:val>
                                            <p:strVal val="ppt_h"/>
                                          </p:val>
                                        </p:tav>
                                      </p:tavLst>
                                    </p:anim>
                                    <p:anim calcmode="lin" valueType="num">
                                      <p:cBhvr>
                                        <p:cTn id="23" dur="500" accel="50000">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24" dur="500" decel="50000">
                                          <p:stCondLst>
                                            <p:cond delay="500"/>
                                          </p:stCondLst>
                                        </p:cTn>
                                        <p:tgtEl>
                                          <p:spTgt spid="15"/>
                                        </p:tgtEl>
                                        <p:attrNameLst>
                                          <p:attrName>ppt_w</p:attrName>
                                        </p:attrNameLst>
                                      </p:cBhvr>
                                      <p:tavLst>
                                        <p:tav tm="0">
                                          <p:val>
                                            <p:strVal val="ppt_w"/>
                                          </p:val>
                                        </p:tav>
                                        <p:tav tm="100000">
                                          <p:val>
                                            <p:strVal val="ppt_w/.05"/>
                                          </p:val>
                                        </p:tav>
                                      </p:tavLst>
                                    </p:anim>
                                    <p:anim calcmode="lin" valueType="num">
                                      <p:cBhvr>
                                        <p:cTn id="25" dur="500" accel="50000">
                                          <p:stCondLst>
                                            <p:cond delay="500"/>
                                          </p:stCondLst>
                                        </p:cTn>
                                        <p:tgtEl>
                                          <p:spTgt spid="15"/>
                                        </p:tgtEl>
                                        <p:attrNameLst>
                                          <p:attrName>style.rotation</p:attrName>
                                        </p:attrNameLst>
                                      </p:cBhvr>
                                      <p:tavLst>
                                        <p:tav tm="0">
                                          <p:val>
                                            <p:fltVal val="0"/>
                                          </p:val>
                                        </p:tav>
                                        <p:tav tm="100000">
                                          <p:val>
                                            <p:fltVal val="-90"/>
                                          </p:val>
                                        </p:tav>
                                      </p:tavLst>
                                    </p:anim>
                                    <p:set>
                                      <p:cBhvr>
                                        <p:cTn id="26" dur="1" fill="hold">
                                          <p:stCondLst>
                                            <p:cond delay="999"/>
                                          </p:stCondLst>
                                        </p:cTn>
                                        <p:tgtEl>
                                          <p:spTgt spid="15"/>
                                        </p:tgtEl>
                                        <p:attrNameLst>
                                          <p:attrName>style.visibility</p:attrName>
                                        </p:attrNameLst>
                                      </p:cBhvr>
                                      <p:to>
                                        <p:strVal val="hidden"/>
                                      </p:to>
                                    </p:set>
                                  </p:childTnLst>
                                </p:cTn>
                              </p:par>
                            </p:childTnLst>
                          </p:cTn>
                        </p:par>
                        <p:par>
                          <p:cTn id="27" fill="hold">
                            <p:stCondLst>
                              <p:cond delay="1000"/>
                            </p:stCondLst>
                            <p:childTnLst>
                              <p:par>
                                <p:cTn id="28" presetID="25"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decel="50000" fill="hold">
                                          <p:stCondLst>
                                            <p:cond delay="0"/>
                                          </p:stCondLst>
                                        </p:cTn>
                                        <p:tgtEl>
                                          <p:spTgt spid="20"/>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20"/>
                                        </p:tgtEl>
                                        <p:attrNameLst>
                                          <p:attrName>ppt_w</p:attrName>
                                        </p:attrNameLst>
                                      </p:cBhvr>
                                      <p:tavLst>
                                        <p:tav tm="0">
                                          <p:val>
                                            <p:strVal val="#ppt_w*.05"/>
                                          </p:val>
                                        </p:tav>
                                        <p:tav tm="100000">
                                          <p:val>
                                            <p:strVal val="#ppt_w"/>
                                          </p:val>
                                        </p:tav>
                                      </p:tavLst>
                                    </p:anim>
                                    <p:anim calcmode="lin" valueType="num">
                                      <p:cBhvr>
                                        <p:cTn id="33" dur="1000" fill="hold"/>
                                        <p:tgtEl>
                                          <p:spTgt spid="20"/>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20"/>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20"/>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20"/>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5" presetClass="exit" presetSubtype="0" fill="hold" grpId="1" nodeType="clickEffect">
                                  <p:stCondLst>
                                    <p:cond delay="0"/>
                                  </p:stCondLst>
                                  <p:childTnLst>
                                    <p:animEffect transition="out" filter="fade">
                                      <p:cBhvr>
                                        <p:cTn id="41" dur="1000" accel="50000">
                                          <p:stCondLst>
                                            <p:cond delay="0"/>
                                          </p:stCondLst>
                                        </p:cTn>
                                        <p:tgtEl>
                                          <p:spTgt spid="20"/>
                                        </p:tgtEl>
                                      </p:cBhvr>
                                    </p:animEffect>
                                    <p:anim calcmode="lin" valueType="num">
                                      <p:cBhvr>
                                        <p:cTn id="42" dur="500" accel="50000">
                                          <p:stCondLst>
                                            <p:cond delay="0"/>
                                          </p:stCondLst>
                                        </p:cTn>
                                        <p:tgtEl>
                                          <p:spTgt spid="20"/>
                                        </p:tgtEl>
                                        <p:attrNameLst>
                                          <p:attrName>ppt_y</p:attrName>
                                        </p:attrNameLst>
                                      </p:cBhvr>
                                      <p:tavLst>
                                        <p:tav tm="0">
                                          <p:val>
                                            <p:strVal val="ppt_y"/>
                                          </p:val>
                                        </p:tav>
                                        <p:tav tm="100000">
                                          <p:val>
                                            <p:strVal val="ppt_y+.1"/>
                                          </p:val>
                                        </p:tav>
                                      </p:tavLst>
                                    </p:anim>
                                    <p:anim calcmode="lin" valueType="num">
                                      <p:cBhvr>
                                        <p:cTn id="43" dur="500" decel="50000">
                                          <p:stCondLst>
                                            <p:cond delay="500"/>
                                          </p:stCondLst>
                                        </p:cTn>
                                        <p:tgtEl>
                                          <p:spTgt spid="20"/>
                                        </p:tgtEl>
                                        <p:attrNameLst>
                                          <p:attrName>ppt_y</p:attrName>
                                        </p:attrNameLst>
                                      </p:cBhvr>
                                      <p:tavLst>
                                        <p:tav tm="0">
                                          <p:val>
                                            <p:strVal val="ppt_y"/>
                                          </p:val>
                                        </p:tav>
                                        <p:tav tm="100000">
                                          <p:val>
                                            <p:strVal val="ppt_y-.1"/>
                                          </p:val>
                                        </p:tav>
                                      </p:tavLst>
                                    </p:anim>
                                    <p:anim calcmode="lin" valueType="num">
                                      <p:cBhvr>
                                        <p:cTn id="44" dur="500" accel="50000">
                                          <p:stCondLst>
                                            <p:cond delay="500"/>
                                          </p:stCondLst>
                                        </p:cTn>
                                        <p:tgtEl>
                                          <p:spTgt spid="20"/>
                                        </p:tgtEl>
                                        <p:attrNameLst>
                                          <p:attrName>ppt_x</p:attrName>
                                        </p:attrNameLst>
                                      </p:cBhvr>
                                      <p:tavLst>
                                        <p:tav tm="0">
                                          <p:val>
                                            <p:strVal val="ppt_x"/>
                                          </p:val>
                                        </p:tav>
                                        <p:tav tm="100000">
                                          <p:val>
                                            <p:strVal val="ppt_x+.4"/>
                                          </p:val>
                                        </p:tav>
                                      </p:tavLst>
                                    </p:anim>
                                    <p:anim calcmode="lin" valueType="num">
                                      <p:cBhvr>
                                        <p:cTn id="45" dur="1000"/>
                                        <p:tgtEl>
                                          <p:spTgt spid="20"/>
                                        </p:tgtEl>
                                        <p:attrNameLst>
                                          <p:attrName>ppt_h</p:attrName>
                                        </p:attrNameLst>
                                      </p:cBhvr>
                                      <p:tavLst>
                                        <p:tav tm="0">
                                          <p:val>
                                            <p:strVal val="ppt_h"/>
                                          </p:val>
                                        </p:tav>
                                        <p:tav tm="100000">
                                          <p:val>
                                            <p:strVal val="ppt_h"/>
                                          </p:val>
                                        </p:tav>
                                      </p:tavLst>
                                    </p:anim>
                                    <p:anim calcmode="lin" valueType="num">
                                      <p:cBhvr>
                                        <p:cTn id="46" dur="500" accel="50000">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47" dur="500" decel="50000">
                                          <p:stCondLst>
                                            <p:cond delay="500"/>
                                          </p:stCondLst>
                                        </p:cTn>
                                        <p:tgtEl>
                                          <p:spTgt spid="20"/>
                                        </p:tgtEl>
                                        <p:attrNameLst>
                                          <p:attrName>ppt_w</p:attrName>
                                        </p:attrNameLst>
                                      </p:cBhvr>
                                      <p:tavLst>
                                        <p:tav tm="0">
                                          <p:val>
                                            <p:strVal val="ppt_w"/>
                                          </p:val>
                                        </p:tav>
                                        <p:tav tm="100000">
                                          <p:val>
                                            <p:strVal val="ppt_w/.05"/>
                                          </p:val>
                                        </p:tav>
                                      </p:tavLst>
                                    </p:anim>
                                    <p:anim calcmode="lin" valueType="num">
                                      <p:cBhvr>
                                        <p:cTn id="48" dur="500" accel="50000">
                                          <p:stCondLst>
                                            <p:cond delay="500"/>
                                          </p:stCondLst>
                                        </p:cTn>
                                        <p:tgtEl>
                                          <p:spTgt spid="20"/>
                                        </p:tgtEl>
                                        <p:attrNameLst>
                                          <p:attrName>style.rotation</p:attrName>
                                        </p:attrNameLst>
                                      </p:cBhvr>
                                      <p:tavLst>
                                        <p:tav tm="0">
                                          <p:val>
                                            <p:fltVal val="0"/>
                                          </p:val>
                                        </p:tav>
                                        <p:tav tm="100000">
                                          <p:val>
                                            <p:fltVal val="-90"/>
                                          </p:val>
                                        </p:tav>
                                      </p:tavLst>
                                    </p:anim>
                                    <p:set>
                                      <p:cBhvr>
                                        <p:cTn id="49" dur="1" fill="hold">
                                          <p:stCondLst>
                                            <p:cond delay="9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Graphic spid="15" grpId="1">
        <p:bldAsOne/>
      </p:bldGraphic>
      <p:bldGraphic spid="20" grpId="0">
        <p:bldAsOne/>
      </p:bldGraphic>
      <p:bldGraphic spid="20" grpId="1">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12</a:t>
            </a:fld>
            <a:endParaRPr lang="fr-FR" dirty="0"/>
          </a:p>
        </p:txBody>
      </p:sp>
      <p:pic>
        <p:nvPicPr>
          <p:cNvPr id="77826" name="Picture 2"/>
          <p:cNvPicPr>
            <a:picLocks noChangeAspect="1" noChangeArrowheads="1"/>
          </p:cNvPicPr>
          <p:nvPr/>
        </p:nvPicPr>
        <p:blipFill>
          <a:blip r:embed="rId3"/>
          <a:srcRect/>
          <a:stretch>
            <a:fillRect/>
          </a:stretch>
        </p:blipFill>
        <p:spPr bwMode="auto">
          <a:xfrm>
            <a:off x="214282" y="1343024"/>
            <a:ext cx="7715304" cy="4800619"/>
          </a:xfrm>
          <a:prstGeom prst="rect">
            <a:avLst/>
          </a:prstGeom>
          <a:ln>
            <a:noFill/>
          </a:ln>
          <a:effectLst>
            <a:softEdge rad="112500"/>
          </a:effectLst>
        </p:spPr>
      </p:pic>
      <p:sp>
        <p:nvSpPr>
          <p:cNvPr id="10" name="ZoneTexte 9"/>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Types of CS</a:t>
            </a:r>
          </a:p>
        </p:txBody>
      </p:sp>
      <p:sp>
        <p:nvSpPr>
          <p:cNvPr id="11" name="ZoneTexte 10"/>
          <p:cNvSpPr txBox="1"/>
          <p:nvPr/>
        </p:nvSpPr>
        <p:spPr>
          <a:xfrm>
            <a:off x="3268414" y="305733"/>
            <a:ext cx="166362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t>RMP</a:t>
            </a:r>
          </a:p>
        </p:txBody>
      </p:sp>
      <p:sp>
        <p:nvSpPr>
          <p:cNvPr id="14" name="ZoneTexte 13"/>
          <p:cNvSpPr txBox="1"/>
          <p:nvPr/>
        </p:nvSpPr>
        <p:spPr>
          <a:xfrm>
            <a:off x="5036347" y="305733"/>
            <a:ext cx="2321735"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Typology</a:t>
            </a:r>
            <a:r>
              <a:rPr lang="fr-FR" dirty="0">
                <a:solidFill>
                  <a:schemeClr val="bg1"/>
                </a:solidFill>
              </a:rPr>
              <a:t> of R &amp; PS</a:t>
            </a:r>
          </a:p>
        </p:txBody>
      </p:sp>
      <p:sp>
        <p:nvSpPr>
          <p:cNvPr id="15" name="ZoneTexte 14"/>
          <p:cNvSpPr txBox="1"/>
          <p:nvPr/>
        </p:nvSpPr>
        <p:spPr>
          <a:xfrm>
            <a:off x="165263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Flaws</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p:cTn id="7" dur="500" fill="hold"/>
                                        <p:tgtEl>
                                          <p:spTgt spid="77826"/>
                                        </p:tgtEl>
                                        <p:attrNameLst>
                                          <p:attrName>ppt_w</p:attrName>
                                        </p:attrNameLst>
                                      </p:cBhvr>
                                      <p:tavLst>
                                        <p:tav tm="0">
                                          <p:val>
                                            <p:fltVal val="0"/>
                                          </p:val>
                                        </p:tav>
                                        <p:tav tm="100000">
                                          <p:val>
                                            <p:strVal val="#ppt_w"/>
                                          </p:val>
                                        </p:tav>
                                      </p:tavLst>
                                    </p:anim>
                                    <p:anim calcmode="lin" valueType="num">
                                      <p:cBhvr>
                                        <p:cTn id="8" dur="500" fill="hold"/>
                                        <p:tgtEl>
                                          <p:spTgt spid="778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13</a:t>
            </a:fld>
            <a:endParaRPr lang="fr-FR" dirty="0"/>
          </a:p>
        </p:txBody>
      </p:sp>
      <p:sp>
        <p:nvSpPr>
          <p:cNvPr id="10" name="ZoneTexte 9"/>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11" name="ZoneTexte 10"/>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14" name="ZoneTexte 13"/>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20" name="ZoneTexte 19"/>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
        <p:nvSpPr>
          <p:cNvPr id="2" name="Rectangle 1"/>
          <p:cNvSpPr/>
          <p:nvPr/>
        </p:nvSpPr>
        <p:spPr>
          <a:xfrm rot="3295852">
            <a:off x="7096090" y="1800203"/>
            <a:ext cx="201850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err="1"/>
              <a:t>Defense</a:t>
            </a:r>
            <a:r>
              <a:rPr lang="fr-FR" dirty="0"/>
              <a:t>-in-</a:t>
            </a:r>
            <a:r>
              <a:rPr lang="fr-FR" dirty="0" err="1"/>
              <a:t>depth</a:t>
            </a:r>
            <a:r>
              <a:rPr lang="fr-FR" dirty="0"/>
              <a:t> </a:t>
            </a:r>
          </a:p>
        </p:txBody>
      </p:sp>
      <p:sp>
        <p:nvSpPr>
          <p:cNvPr id="3" name="Rectangle 2"/>
          <p:cNvSpPr/>
          <p:nvPr/>
        </p:nvSpPr>
        <p:spPr>
          <a:xfrm>
            <a:off x="35496" y="1052736"/>
            <a:ext cx="7272808" cy="2246769"/>
          </a:xfrm>
          <a:prstGeom prst="rect">
            <a:avLst/>
          </a:prstGeom>
        </p:spPr>
        <p:txBody>
          <a:bodyPr wrap="square">
            <a:spAutoFit/>
          </a:bodyPr>
          <a:lstStyle/>
          <a:p>
            <a:pPr algn="just"/>
            <a:r>
              <a:rPr lang="en-US" sz="2000" dirty="0">
                <a:solidFill>
                  <a:schemeClr val="bg1"/>
                </a:solidFill>
              </a:rPr>
              <a:t>• Avoid single point of failure by building of defenses in multiple layers that back each other up thereby forcing attackers to defeat independent layers. </a:t>
            </a:r>
          </a:p>
          <a:p>
            <a:pPr algn="just"/>
            <a:r>
              <a:rPr lang="en-US" sz="2000" dirty="0">
                <a:solidFill>
                  <a:schemeClr val="bg1"/>
                </a:solidFill>
              </a:rPr>
              <a:t>• Defense in depth execution must balance complexity, manageability, performance, and overall implementation cost.  </a:t>
            </a:r>
          </a:p>
          <a:p>
            <a:pPr algn="just"/>
            <a:r>
              <a:rPr lang="en-US" sz="2000" dirty="0">
                <a:solidFill>
                  <a:schemeClr val="bg1"/>
                </a:solidFill>
              </a:rPr>
              <a:t>• Capital and resource expenditures should never exceed the cost of the asset or the projected loss if there is a compromise. </a:t>
            </a:r>
            <a:endParaRPr lang="fr-FR" sz="2000" dirty="0">
              <a:solidFill>
                <a:schemeClr val="bg1"/>
              </a:solidFill>
            </a:endParaRPr>
          </a:p>
        </p:txBody>
      </p:sp>
      <p:sp>
        <p:nvSpPr>
          <p:cNvPr id="15" name="Rectangle 14"/>
          <p:cNvSpPr/>
          <p:nvPr/>
        </p:nvSpPr>
        <p:spPr>
          <a:xfrm rot="3326136">
            <a:off x="7339789" y="4206023"/>
            <a:ext cx="176202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a:t>Least </a:t>
            </a:r>
            <a:r>
              <a:rPr lang="fr-FR" dirty="0" err="1"/>
              <a:t>Privilege</a:t>
            </a:r>
            <a:r>
              <a:rPr lang="fr-FR" dirty="0"/>
              <a:t> </a:t>
            </a:r>
          </a:p>
        </p:txBody>
      </p:sp>
      <p:sp>
        <p:nvSpPr>
          <p:cNvPr id="4" name="Rectangle 3"/>
          <p:cNvSpPr/>
          <p:nvPr/>
        </p:nvSpPr>
        <p:spPr>
          <a:xfrm>
            <a:off x="264774" y="3641141"/>
            <a:ext cx="6984776" cy="1323439"/>
          </a:xfrm>
          <a:prstGeom prst="rect">
            <a:avLst/>
          </a:prstGeom>
        </p:spPr>
        <p:txBody>
          <a:bodyPr wrap="square">
            <a:spAutoFit/>
          </a:bodyPr>
          <a:lstStyle/>
          <a:p>
            <a:pPr algn="just"/>
            <a:r>
              <a:rPr lang="en-US" sz="2000" dirty="0">
                <a:solidFill>
                  <a:schemeClr val="bg1"/>
                </a:solidFill>
              </a:rPr>
              <a:t>Least privilege is the principle of providing users with the minimum level of access required to perform a task. This can help to limit the impact of any security breaches or attacks.</a:t>
            </a:r>
            <a:endParaRPr lang="fr-FR" sz="2000" dirty="0">
              <a:solidFill>
                <a:schemeClr val="bg1"/>
              </a:solidFill>
            </a:endParaRPr>
          </a:p>
        </p:txBody>
      </p:sp>
      <p:sp>
        <p:nvSpPr>
          <p:cNvPr id="5" name="Rectangle 4"/>
          <p:cNvSpPr/>
          <p:nvPr/>
        </p:nvSpPr>
        <p:spPr>
          <a:xfrm>
            <a:off x="251520" y="5115842"/>
            <a:ext cx="7825856" cy="1015663"/>
          </a:xfrm>
          <a:prstGeom prst="rect">
            <a:avLst/>
          </a:prstGeom>
        </p:spPr>
        <p:txBody>
          <a:bodyPr wrap="square">
            <a:spAutoFit/>
          </a:bodyPr>
          <a:lstStyle/>
          <a:p>
            <a:pPr algn="just"/>
            <a:r>
              <a:rPr lang="en-US" sz="2000" dirty="0">
                <a:solidFill>
                  <a:schemeClr val="bg1"/>
                </a:solidFill>
              </a:rPr>
              <a:t>Give a program the set of access privileges that it legitimately requires to execute its a certain operation. Trying to minimize the level of privileges given each program and system component. </a:t>
            </a:r>
            <a:endParaRPr lang="fr-FR" sz="2000" dirty="0">
              <a:solidFill>
                <a:schemeClr val="bg1"/>
              </a:solidFill>
            </a:endParaRPr>
          </a:p>
        </p:txBody>
      </p:sp>
    </p:spTree>
    <p:extLst>
      <p:ext uri="{BB962C8B-B14F-4D97-AF65-F5344CB8AC3E}">
        <p14:creationId xmlns:p14="http://schemas.microsoft.com/office/powerpoint/2010/main" val="176720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inVertical)">
                                      <p:cBhvr>
                                        <p:cTn id="21" dur="500"/>
                                        <p:tgtEl>
                                          <p:spTgt spid="4"/>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arn(inVertical)">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15" grpId="0" animBg="1"/>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14</a:t>
            </a:fld>
            <a:endParaRPr lang="fr-FR" dirty="0"/>
          </a:p>
        </p:txBody>
      </p:sp>
      <p:sp>
        <p:nvSpPr>
          <p:cNvPr id="2" name="Rectangle 1"/>
          <p:cNvSpPr/>
          <p:nvPr/>
        </p:nvSpPr>
        <p:spPr>
          <a:xfrm rot="3295852">
            <a:off x="6986952" y="1748953"/>
            <a:ext cx="2339102"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err="1"/>
              <a:t>Separation</a:t>
            </a:r>
            <a:r>
              <a:rPr lang="fr-FR" dirty="0"/>
              <a:t> of </a:t>
            </a:r>
            <a:r>
              <a:rPr lang="fr-FR" dirty="0" err="1"/>
              <a:t>Duties</a:t>
            </a:r>
            <a:r>
              <a:rPr lang="fr-FR" dirty="0"/>
              <a:t> </a:t>
            </a:r>
          </a:p>
        </p:txBody>
      </p:sp>
      <p:sp>
        <p:nvSpPr>
          <p:cNvPr id="3" name="Rectangle 2"/>
          <p:cNvSpPr/>
          <p:nvPr/>
        </p:nvSpPr>
        <p:spPr>
          <a:xfrm>
            <a:off x="251520" y="1488264"/>
            <a:ext cx="7272808" cy="3170099"/>
          </a:xfrm>
          <a:prstGeom prst="rect">
            <a:avLst/>
          </a:prstGeom>
        </p:spPr>
        <p:txBody>
          <a:bodyPr wrap="square">
            <a:spAutoFit/>
          </a:bodyPr>
          <a:lstStyle/>
          <a:p>
            <a:pPr algn="just"/>
            <a:r>
              <a:rPr lang="en-US" sz="2000" dirty="0">
                <a:solidFill>
                  <a:schemeClr val="bg1"/>
                </a:solidFill>
              </a:rPr>
              <a:t>Separation of duties is the idea that no one person should have too much power or influence over a system, hence it divides responsibilities among several people. By doing so, fraud, mistakes, and other security problems may be avoided. For instance: The person in charge of making sales may also approve discounts in a financial system. That person would have an incentive to discount the software and may make poor discount decisions to increase sales. Instead, someone else with superior priority like a manager, may be assigned to approve a discount before the sale can be completed.</a:t>
            </a:r>
            <a:endParaRPr lang="fr-FR" sz="2000" dirty="0">
              <a:solidFill>
                <a:schemeClr val="bg1"/>
              </a:solidFill>
            </a:endParaRPr>
          </a:p>
        </p:txBody>
      </p:sp>
      <p:sp>
        <p:nvSpPr>
          <p:cNvPr id="19" name="ZoneTexte 18"/>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21" name="ZoneTexte 20"/>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22" name="ZoneTexte 21"/>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23" name="ZoneTexte 22"/>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Tree>
    <p:extLst>
      <p:ext uri="{BB962C8B-B14F-4D97-AF65-F5344CB8AC3E}">
        <p14:creationId xmlns:p14="http://schemas.microsoft.com/office/powerpoint/2010/main" val="317754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15</a:t>
            </a:fld>
            <a:endParaRPr lang="fr-FR" dirty="0"/>
          </a:p>
        </p:txBody>
      </p:sp>
      <p:sp>
        <p:nvSpPr>
          <p:cNvPr id="2" name="Rectangle 1"/>
          <p:cNvSpPr/>
          <p:nvPr/>
        </p:nvSpPr>
        <p:spPr>
          <a:xfrm rot="3295852">
            <a:off x="7115192" y="1748953"/>
            <a:ext cx="2082621"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a:t>Secure by Default </a:t>
            </a:r>
          </a:p>
        </p:txBody>
      </p:sp>
      <p:sp>
        <p:nvSpPr>
          <p:cNvPr id="3" name="Rectangle 2"/>
          <p:cNvSpPr/>
          <p:nvPr/>
        </p:nvSpPr>
        <p:spPr>
          <a:xfrm>
            <a:off x="251520" y="1488264"/>
            <a:ext cx="7272808" cy="1015663"/>
          </a:xfrm>
          <a:prstGeom prst="rect">
            <a:avLst/>
          </a:prstGeom>
        </p:spPr>
        <p:txBody>
          <a:bodyPr wrap="square">
            <a:spAutoFit/>
          </a:bodyPr>
          <a:lstStyle/>
          <a:p>
            <a:pPr algn="just"/>
            <a:r>
              <a:rPr lang="en-US" sz="2000" dirty="0">
                <a:solidFill>
                  <a:schemeClr val="bg1"/>
                </a:solidFill>
              </a:rPr>
              <a:t>Secure by default aims to ensure that all security features of a </a:t>
            </a:r>
          </a:p>
          <a:p>
            <a:pPr algn="just"/>
            <a:r>
              <a:rPr lang="en-US" sz="2000" dirty="0">
                <a:solidFill>
                  <a:schemeClr val="bg1"/>
                </a:solidFill>
              </a:rPr>
              <a:t>system are enabled by default, rather than requiring users to </a:t>
            </a:r>
          </a:p>
          <a:p>
            <a:pPr algn="just"/>
            <a:r>
              <a:rPr lang="en-US" sz="2000" dirty="0">
                <a:solidFill>
                  <a:schemeClr val="bg1"/>
                </a:solidFill>
              </a:rPr>
              <a:t>activate them manually.</a:t>
            </a:r>
            <a:endParaRPr lang="fr-FR" sz="2000" dirty="0">
              <a:solidFill>
                <a:schemeClr val="bg1"/>
              </a:solidFill>
            </a:endParaRPr>
          </a:p>
        </p:txBody>
      </p:sp>
      <p:sp>
        <p:nvSpPr>
          <p:cNvPr id="4" name="Rectangle 3"/>
          <p:cNvSpPr/>
          <p:nvPr/>
        </p:nvSpPr>
        <p:spPr>
          <a:xfrm>
            <a:off x="1909133" y="2702372"/>
            <a:ext cx="4091698" cy="2554545"/>
          </a:xfrm>
          <a:prstGeom prst="rect">
            <a:avLst/>
          </a:prstGeom>
        </p:spPr>
        <p:txBody>
          <a:bodyPr wrap="none">
            <a:spAutoFit/>
          </a:bodyPr>
          <a:lstStyle/>
          <a:p>
            <a:pPr marL="342900" indent="-342900">
              <a:lnSpc>
                <a:spcPct val="200000"/>
              </a:lnSpc>
              <a:buFont typeface="Wingdings" pitchFamily="2" charset="2"/>
              <a:buChar char="q"/>
            </a:pPr>
            <a:r>
              <a:rPr lang="fr-FR" sz="2000" dirty="0" err="1">
                <a:solidFill>
                  <a:schemeClr val="bg1"/>
                </a:solidFill>
              </a:rPr>
              <a:t>Two</a:t>
            </a:r>
            <a:r>
              <a:rPr lang="fr-FR" sz="2000" dirty="0">
                <a:solidFill>
                  <a:schemeClr val="bg1"/>
                </a:solidFill>
              </a:rPr>
              <a:t>-factor </a:t>
            </a:r>
            <a:r>
              <a:rPr lang="fr-FR" sz="2000" dirty="0" err="1">
                <a:solidFill>
                  <a:schemeClr val="bg1"/>
                </a:solidFill>
              </a:rPr>
              <a:t>authentication</a:t>
            </a:r>
            <a:r>
              <a:rPr lang="fr-FR" sz="2000" dirty="0">
                <a:solidFill>
                  <a:schemeClr val="bg1"/>
                </a:solidFill>
              </a:rPr>
              <a:t> (2FA)</a:t>
            </a:r>
          </a:p>
          <a:p>
            <a:pPr marL="342900" indent="-342900">
              <a:lnSpc>
                <a:spcPct val="200000"/>
              </a:lnSpc>
              <a:buFont typeface="Wingdings" pitchFamily="2" charset="2"/>
              <a:buChar char="q"/>
            </a:pPr>
            <a:r>
              <a:rPr lang="fr-FR" sz="2000" dirty="0" err="1">
                <a:solidFill>
                  <a:schemeClr val="bg1"/>
                </a:solidFill>
              </a:rPr>
              <a:t>Encryption</a:t>
            </a:r>
            <a:endParaRPr lang="fr-FR" sz="2000" dirty="0">
              <a:solidFill>
                <a:schemeClr val="bg1"/>
              </a:solidFill>
            </a:endParaRPr>
          </a:p>
          <a:p>
            <a:pPr marL="342900" indent="-342900">
              <a:lnSpc>
                <a:spcPct val="200000"/>
              </a:lnSpc>
              <a:buFont typeface="Wingdings" pitchFamily="2" charset="2"/>
              <a:buChar char="q"/>
            </a:pPr>
            <a:r>
              <a:rPr lang="fr-FR" sz="2000" dirty="0">
                <a:solidFill>
                  <a:schemeClr val="bg1"/>
                </a:solidFill>
              </a:rPr>
              <a:t>Firewall</a:t>
            </a:r>
          </a:p>
          <a:p>
            <a:pPr marL="342900" indent="-342900">
              <a:lnSpc>
                <a:spcPct val="200000"/>
              </a:lnSpc>
              <a:buFont typeface="Wingdings" pitchFamily="2" charset="2"/>
              <a:buChar char="q"/>
            </a:pPr>
            <a:r>
              <a:rPr lang="fr-FR" sz="2000" dirty="0">
                <a:solidFill>
                  <a:schemeClr val="bg1"/>
                </a:solidFill>
              </a:rPr>
              <a:t>Secure boot</a:t>
            </a:r>
          </a:p>
        </p:txBody>
      </p:sp>
      <p:sp>
        <p:nvSpPr>
          <p:cNvPr id="15" name="ZoneTexte 14"/>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16" name="ZoneTexte 15"/>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17" name="ZoneTexte 16"/>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18" name="ZoneTexte 17"/>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Tree>
    <p:extLst>
      <p:ext uri="{BB962C8B-B14F-4D97-AF65-F5344CB8AC3E}">
        <p14:creationId xmlns:p14="http://schemas.microsoft.com/office/powerpoint/2010/main" val="323713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16</a:t>
            </a:fld>
            <a:endParaRPr lang="fr-FR" dirty="0"/>
          </a:p>
        </p:txBody>
      </p:sp>
      <p:sp>
        <p:nvSpPr>
          <p:cNvPr id="2" name="Rectangle 1"/>
          <p:cNvSpPr/>
          <p:nvPr/>
        </p:nvSpPr>
        <p:spPr>
          <a:xfrm rot="3295852">
            <a:off x="7499912" y="1303597"/>
            <a:ext cx="1313180"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err="1"/>
              <a:t>Modularity</a:t>
            </a:r>
            <a:r>
              <a:rPr lang="fr-FR" dirty="0"/>
              <a:t> </a:t>
            </a:r>
          </a:p>
        </p:txBody>
      </p:sp>
      <p:sp>
        <p:nvSpPr>
          <p:cNvPr id="3" name="Rectangle 2"/>
          <p:cNvSpPr/>
          <p:nvPr/>
        </p:nvSpPr>
        <p:spPr>
          <a:xfrm>
            <a:off x="103995" y="980432"/>
            <a:ext cx="7272808" cy="1015663"/>
          </a:xfrm>
          <a:prstGeom prst="rect">
            <a:avLst/>
          </a:prstGeom>
        </p:spPr>
        <p:txBody>
          <a:bodyPr wrap="square">
            <a:spAutoFit/>
          </a:bodyPr>
          <a:lstStyle/>
          <a:p>
            <a:pPr algn="just"/>
            <a:r>
              <a:rPr lang="en-US" sz="2000" dirty="0">
                <a:solidFill>
                  <a:schemeClr val="bg1"/>
                </a:solidFill>
              </a:rPr>
              <a:t>The design principle of modularity involves breaking down a system into smaller, independent components or modules to improve security.</a:t>
            </a:r>
            <a:endParaRPr lang="fr-FR" sz="2000" dirty="0">
              <a:solidFill>
                <a:schemeClr val="bg1"/>
              </a:solidFill>
            </a:endParaRPr>
          </a:p>
        </p:txBody>
      </p:sp>
      <p:sp>
        <p:nvSpPr>
          <p:cNvPr id="6" name="Rectangle 5"/>
          <p:cNvSpPr/>
          <p:nvPr/>
        </p:nvSpPr>
        <p:spPr>
          <a:xfrm>
            <a:off x="103995" y="2420888"/>
            <a:ext cx="7524112" cy="1323439"/>
          </a:xfrm>
          <a:prstGeom prst="rect">
            <a:avLst/>
          </a:prstGeom>
        </p:spPr>
        <p:txBody>
          <a:bodyPr wrap="square">
            <a:spAutoFit/>
          </a:bodyPr>
          <a:lstStyle/>
          <a:p>
            <a:pPr algn="just"/>
            <a:r>
              <a:rPr lang="en-US" sz="2000" dirty="0" err="1">
                <a:solidFill>
                  <a:schemeClr val="bg1"/>
                </a:solidFill>
              </a:rPr>
              <a:t>Microservices</a:t>
            </a:r>
            <a:r>
              <a:rPr lang="en-US" sz="2000" dirty="0">
                <a:solidFill>
                  <a:schemeClr val="bg1"/>
                </a:solidFill>
              </a:rPr>
              <a:t> architecture can support security practices by reducing  the attack surface, limiting the impact of  an attack, and promoting isolation.</a:t>
            </a:r>
          </a:p>
          <a:p>
            <a:pPr algn="just"/>
            <a:endParaRPr lang="en-US" sz="2000" dirty="0">
              <a:solidFill>
                <a:schemeClr val="bg1"/>
              </a:solidFill>
            </a:endParaRPr>
          </a:p>
        </p:txBody>
      </p:sp>
      <p:sp>
        <p:nvSpPr>
          <p:cNvPr id="7" name="Rectangle 6"/>
          <p:cNvSpPr/>
          <p:nvPr/>
        </p:nvSpPr>
        <p:spPr>
          <a:xfrm>
            <a:off x="129862" y="3645024"/>
            <a:ext cx="7898522" cy="1015663"/>
          </a:xfrm>
          <a:prstGeom prst="rect">
            <a:avLst/>
          </a:prstGeom>
        </p:spPr>
        <p:txBody>
          <a:bodyPr wrap="square">
            <a:spAutoFit/>
          </a:bodyPr>
          <a:lstStyle/>
          <a:p>
            <a:pPr algn="just"/>
            <a:r>
              <a:rPr lang="en-US" sz="2000" dirty="0">
                <a:solidFill>
                  <a:schemeClr val="bg1"/>
                </a:solidFill>
              </a:rPr>
              <a:t>Modularity in hardware design can be used to minimize the impact of vulnerabilities by constraining their effect to a limited part of the system</a:t>
            </a:r>
            <a:endParaRPr lang="fr-FR" sz="2000" dirty="0">
              <a:solidFill>
                <a:schemeClr val="bg1"/>
              </a:solidFill>
            </a:endParaRPr>
          </a:p>
        </p:txBody>
      </p:sp>
      <p:sp>
        <p:nvSpPr>
          <p:cNvPr id="8" name="Rectangle 7"/>
          <p:cNvSpPr/>
          <p:nvPr/>
        </p:nvSpPr>
        <p:spPr>
          <a:xfrm>
            <a:off x="66404" y="4789601"/>
            <a:ext cx="8105996" cy="707886"/>
          </a:xfrm>
          <a:prstGeom prst="rect">
            <a:avLst/>
          </a:prstGeom>
        </p:spPr>
        <p:txBody>
          <a:bodyPr wrap="square">
            <a:spAutoFit/>
          </a:bodyPr>
          <a:lstStyle/>
          <a:p>
            <a:r>
              <a:rPr lang="en-US" sz="2000" dirty="0">
                <a:solidFill>
                  <a:schemeClr val="bg1"/>
                </a:solidFill>
              </a:rPr>
              <a:t>Virtualization provides a level of isolation that can limit the impact of a compromise or prevent a successful attack from spreading.</a:t>
            </a:r>
            <a:endParaRPr lang="fr-FR" sz="2000" dirty="0">
              <a:solidFill>
                <a:schemeClr val="bg1"/>
              </a:solidFill>
            </a:endParaRPr>
          </a:p>
        </p:txBody>
      </p:sp>
      <p:sp>
        <p:nvSpPr>
          <p:cNvPr id="15" name="ZoneTexte 14"/>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16" name="ZoneTexte 15"/>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17" name="ZoneTexte 16"/>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18" name="ZoneTexte 17"/>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Tree>
    <p:extLst>
      <p:ext uri="{BB962C8B-B14F-4D97-AF65-F5344CB8AC3E}">
        <p14:creationId xmlns:p14="http://schemas.microsoft.com/office/powerpoint/2010/main" val="116160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17</a:t>
            </a:fld>
            <a:endParaRPr lang="fr-FR" dirty="0"/>
          </a:p>
        </p:txBody>
      </p:sp>
      <p:sp>
        <p:nvSpPr>
          <p:cNvPr id="2" name="Rectangle 1"/>
          <p:cNvSpPr/>
          <p:nvPr/>
        </p:nvSpPr>
        <p:spPr>
          <a:xfrm rot="5090408">
            <a:off x="7611290" y="1748953"/>
            <a:ext cx="1749197"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dirty="0"/>
              <a:t>Secure </a:t>
            </a:r>
            <a:r>
              <a:rPr lang="fr-FR" dirty="0" err="1"/>
              <a:t>Failure</a:t>
            </a:r>
            <a:r>
              <a:rPr lang="fr-FR" dirty="0"/>
              <a:t> </a:t>
            </a:r>
          </a:p>
        </p:txBody>
      </p:sp>
      <p:sp>
        <p:nvSpPr>
          <p:cNvPr id="3" name="Rectangle 2"/>
          <p:cNvSpPr/>
          <p:nvPr/>
        </p:nvSpPr>
        <p:spPr>
          <a:xfrm>
            <a:off x="-11825" y="908720"/>
            <a:ext cx="8208912" cy="2554545"/>
          </a:xfrm>
          <a:prstGeom prst="rect">
            <a:avLst/>
          </a:prstGeom>
        </p:spPr>
        <p:txBody>
          <a:bodyPr wrap="square">
            <a:spAutoFit/>
          </a:bodyPr>
          <a:lstStyle/>
          <a:p>
            <a:pPr algn="just"/>
            <a:r>
              <a:rPr lang="en-US" sz="2000" dirty="0">
                <a:solidFill>
                  <a:schemeClr val="bg1"/>
                </a:solidFill>
              </a:rPr>
              <a:t>Even the most secure systems can fail. It is important to prepare for this possibility to minimize the impact, this principle is a crucial component of any successful </a:t>
            </a:r>
            <a:r>
              <a:rPr lang="en-US" sz="2000" dirty="0" err="1">
                <a:solidFill>
                  <a:schemeClr val="bg1"/>
                </a:solidFill>
              </a:rPr>
              <a:t>cybersecurity</a:t>
            </a:r>
            <a:r>
              <a:rPr lang="en-US" sz="2000" dirty="0">
                <a:solidFill>
                  <a:schemeClr val="bg1"/>
                </a:solidFill>
              </a:rPr>
              <a:t> strategy. No system can be totally secure, hence it's crucial to prepare for failure to lessen its effects. The principle of failing securely is a critical concept in </a:t>
            </a:r>
            <a:r>
              <a:rPr lang="en-US" sz="2000" dirty="0" err="1">
                <a:solidFill>
                  <a:schemeClr val="bg1"/>
                </a:solidFill>
              </a:rPr>
              <a:t>cybersecurity</a:t>
            </a:r>
            <a:r>
              <a:rPr lang="en-US" sz="2000" dirty="0">
                <a:solidFill>
                  <a:schemeClr val="bg1"/>
                </a:solidFill>
              </a:rPr>
              <a:t> that emphasizes the need for systems and applications to be designed in a way that minimizes the impact of security breaches and other failures.</a:t>
            </a:r>
            <a:endParaRPr lang="fr-FR" sz="2000" dirty="0">
              <a:solidFill>
                <a:schemeClr val="bg1"/>
              </a:solidFill>
            </a:endParaRPr>
          </a:p>
        </p:txBody>
      </p:sp>
      <p:sp>
        <p:nvSpPr>
          <p:cNvPr id="4" name="Rectangle 3"/>
          <p:cNvSpPr/>
          <p:nvPr/>
        </p:nvSpPr>
        <p:spPr>
          <a:xfrm>
            <a:off x="356886" y="3501234"/>
            <a:ext cx="3451586" cy="2554545"/>
          </a:xfrm>
          <a:prstGeom prst="rect">
            <a:avLst/>
          </a:prstGeom>
        </p:spPr>
        <p:txBody>
          <a:bodyPr wrap="none">
            <a:spAutoFit/>
          </a:bodyPr>
          <a:lstStyle/>
          <a:p>
            <a:pPr marL="342900" indent="-342900">
              <a:lnSpc>
                <a:spcPct val="200000"/>
              </a:lnSpc>
              <a:buFont typeface="Wingdings" pitchFamily="2" charset="2"/>
              <a:buChar char="q"/>
            </a:pPr>
            <a:r>
              <a:rPr lang="fr-FR" sz="2000" dirty="0">
                <a:solidFill>
                  <a:schemeClr val="bg1"/>
                </a:solidFill>
              </a:rPr>
              <a:t>Fail </a:t>
            </a:r>
            <a:r>
              <a:rPr lang="fr-FR" sz="2000" dirty="0" err="1">
                <a:solidFill>
                  <a:schemeClr val="bg1"/>
                </a:solidFill>
              </a:rPr>
              <a:t>gracefully</a:t>
            </a:r>
            <a:endParaRPr lang="fr-FR" sz="2000" dirty="0">
              <a:solidFill>
                <a:schemeClr val="bg1"/>
              </a:solidFill>
            </a:endParaRPr>
          </a:p>
          <a:p>
            <a:pPr marL="342900" indent="-342900">
              <a:lnSpc>
                <a:spcPct val="200000"/>
              </a:lnSpc>
              <a:buFont typeface="Wingdings" pitchFamily="2" charset="2"/>
              <a:buChar char="q"/>
            </a:pPr>
            <a:r>
              <a:rPr lang="fr-FR" sz="2000" dirty="0" err="1">
                <a:solidFill>
                  <a:schemeClr val="bg1"/>
                </a:solidFill>
              </a:rPr>
              <a:t>Limit</a:t>
            </a:r>
            <a:r>
              <a:rPr lang="fr-FR" sz="2000" dirty="0">
                <a:solidFill>
                  <a:schemeClr val="bg1"/>
                </a:solidFill>
              </a:rPr>
              <a:t> </a:t>
            </a:r>
            <a:r>
              <a:rPr lang="fr-FR" sz="2000" dirty="0" err="1">
                <a:solidFill>
                  <a:schemeClr val="bg1"/>
                </a:solidFill>
              </a:rPr>
              <a:t>access</a:t>
            </a:r>
            <a:endParaRPr lang="fr-FR" sz="2000" dirty="0">
              <a:solidFill>
                <a:schemeClr val="bg1"/>
              </a:solidFill>
            </a:endParaRPr>
          </a:p>
          <a:p>
            <a:pPr marL="342900" indent="-342900">
              <a:lnSpc>
                <a:spcPct val="200000"/>
              </a:lnSpc>
              <a:buFont typeface="Wingdings" pitchFamily="2" charset="2"/>
              <a:buChar char="q"/>
            </a:pPr>
            <a:r>
              <a:rPr lang="fr-FR" sz="2000" dirty="0" err="1">
                <a:solidFill>
                  <a:schemeClr val="bg1"/>
                </a:solidFill>
              </a:rPr>
              <a:t>Regularly</a:t>
            </a:r>
            <a:r>
              <a:rPr lang="fr-FR" sz="2000" dirty="0">
                <a:solidFill>
                  <a:schemeClr val="bg1"/>
                </a:solidFill>
              </a:rPr>
              <a:t> test and update</a:t>
            </a:r>
          </a:p>
          <a:p>
            <a:pPr marL="342900" indent="-342900">
              <a:lnSpc>
                <a:spcPct val="200000"/>
              </a:lnSpc>
              <a:buFont typeface="Wingdings" pitchFamily="2" charset="2"/>
              <a:buChar char="q"/>
            </a:pPr>
            <a:r>
              <a:rPr lang="fr-FR" sz="2000" dirty="0" err="1">
                <a:solidFill>
                  <a:schemeClr val="bg1"/>
                </a:solidFill>
              </a:rPr>
              <a:t>Encryption</a:t>
            </a:r>
            <a:endParaRPr lang="fr-FR" sz="2000" dirty="0">
              <a:solidFill>
                <a:schemeClr val="bg1"/>
              </a:solidFill>
            </a:endParaRPr>
          </a:p>
        </p:txBody>
      </p:sp>
      <p:sp>
        <p:nvSpPr>
          <p:cNvPr id="15" name="ZoneTexte 14"/>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16" name="ZoneTexte 15"/>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17" name="ZoneTexte 16"/>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18" name="ZoneTexte 17"/>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Tree>
    <p:extLst>
      <p:ext uri="{BB962C8B-B14F-4D97-AF65-F5344CB8AC3E}">
        <p14:creationId xmlns:p14="http://schemas.microsoft.com/office/powerpoint/2010/main" val="298393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2" dur="1000" fill="hold"/>
                                        <p:tgtEl>
                                          <p:spTgt spid="4"/>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18</a:t>
            </a:fld>
            <a:endParaRPr lang="fr-FR" dirty="0"/>
          </a:p>
        </p:txBody>
      </p:sp>
      <p:sp>
        <p:nvSpPr>
          <p:cNvPr id="2" name="Rectangle 1"/>
          <p:cNvSpPr/>
          <p:nvPr/>
        </p:nvSpPr>
        <p:spPr>
          <a:xfrm rot="4874918">
            <a:off x="7620073" y="1499098"/>
            <a:ext cx="1458728" cy="4579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fr-FR" sz="2400" dirty="0"/>
              <a:t>Isolation </a:t>
            </a:r>
          </a:p>
        </p:txBody>
      </p:sp>
      <p:sp>
        <p:nvSpPr>
          <p:cNvPr id="3" name="Rectangle 2"/>
          <p:cNvSpPr/>
          <p:nvPr/>
        </p:nvSpPr>
        <p:spPr>
          <a:xfrm>
            <a:off x="-11825" y="1149712"/>
            <a:ext cx="7608161" cy="1631216"/>
          </a:xfrm>
          <a:prstGeom prst="rect">
            <a:avLst/>
          </a:prstGeom>
        </p:spPr>
        <p:txBody>
          <a:bodyPr wrap="square">
            <a:spAutoFit/>
          </a:bodyPr>
          <a:lstStyle/>
          <a:p>
            <a:pPr algn="just"/>
            <a:r>
              <a:rPr lang="en-US" sz="2000" dirty="0">
                <a:solidFill>
                  <a:schemeClr val="bg1"/>
                </a:solidFill>
              </a:rPr>
              <a:t>separating various parts of a system or network to prevent unwanted access or malware distribution.</a:t>
            </a:r>
          </a:p>
          <a:p>
            <a:pPr algn="just"/>
            <a:r>
              <a:rPr lang="en-US" sz="2000" dirty="0">
                <a:solidFill>
                  <a:schemeClr val="bg1"/>
                </a:solidFill>
              </a:rPr>
              <a:t>Organizations can limit the harm caused by security breaches and lower the danger of unauthorized access or data loss by isolating distinct components of a system or network. </a:t>
            </a:r>
            <a:endParaRPr lang="fr-FR" sz="2000" dirty="0">
              <a:solidFill>
                <a:schemeClr val="bg1"/>
              </a:solidFill>
            </a:endParaRPr>
          </a:p>
        </p:txBody>
      </p:sp>
      <p:sp>
        <p:nvSpPr>
          <p:cNvPr id="5" name="Rectangle 4"/>
          <p:cNvSpPr/>
          <p:nvPr/>
        </p:nvSpPr>
        <p:spPr>
          <a:xfrm>
            <a:off x="35496" y="3717032"/>
            <a:ext cx="9093494" cy="1631216"/>
          </a:xfrm>
          <a:prstGeom prst="rect">
            <a:avLst/>
          </a:prstGeom>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2000" dirty="0"/>
              <a:t>Separating different parts of a network to prevent unauthorized access or the spread of malware (through firewalls, VPNs, and network segmentation.</a:t>
            </a:r>
          </a:p>
          <a:p>
            <a:pPr algn="just"/>
            <a:r>
              <a:rPr lang="en-US" sz="2000" dirty="0"/>
              <a:t> Example: a company might use network segmentation to separate their finance department's network from the rest of the organization's network to protect sensitive financial information from unauthorized access. </a:t>
            </a:r>
            <a:r>
              <a:rPr lang="fr-FR" sz="2000" dirty="0"/>
              <a:t> </a:t>
            </a:r>
          </a:p>
        </p:txBody>
      </p:sp>
      <p:sp>
        <p:nvSpPr>
          <p:cNvPr id="6" name="Rectangle 5"/>
          <p:cNvSpPr/>
          <p:nvPr/>
        </p:nvSpPr>
        <p:spPr>
          <a:xfrm>
            <a:off x="107504" y="3059668"/>
            <a:ext cx="3179075" cy="461665"/>
          </a:xfrm>
          <a:prstGeom prst="rect">
            <a:avLst/>
          </a:prstGeom>
        </p:spPr>
        <p:txBody>
          <a:bodyPr wrap="none">
            <a:spAutoFit/>
          </a:bodyPr>
          <a:lstStyle/>
          <a:p>
            <a:pPr marL="342900" indent="-342900">
              <a:buFont typeface="Wingdings" pitchFamily="2" charset="2"/>
              <a:buChar char="ü"/>
            </a:pPr>
            <a:r>
              <a:rPr lang="fr-FR" sz="2400" b="1" dirty="0">
                <a:solidFill>
                  <a:srgbClr val="FFFF00"/>
                </a:solidFill>
              </a:rPr>
              <a:t>Network Isolation </a:t>
            </a:r>
          </a:p>
        </p:txBody>
      </p:sp>
      <p:sp>
        <p:nvSpPr>
          <p:cNvPr id="15" name="Rectangle 14"/>
          <p:cNvSpPr/>
          <p:nvPr/>
        </p:nvSpPr>
        <p:spPr>
          <a:xfrm>
            <a:off x="37768" y="3592880"/>
            <a:ext cx="9093494" cy="1631216"/>
          </a:xfrm>
          <a:prstGeom prst="rect">
            <a:avLst/>
          </a:prstGeom>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2000" dirty="0"/>
              <a:t>Separating different processes or applications running on a computer to prevent malware or other malicious code from spreading between them.  Through (containerization and sandboxing). Example: a company might use containerization to isolate different applications running on a server to prevent a security breach in one application from spreading to others. </a:t>
            </a:r>
            <a:endParaRPr lang="fr-FR" sz="2000" dirty="0"/>
          </a:p>
        </p:txBody>
      </p:sp>
      <p:sp>
        <p:nvSpPr>
          <p:cNvPr id="16" name="Rectangle 15"/>
          <p:cNvSpPr/>
          <p:nvPr/>
        </p:nvSpPr>
        <p:spPr>
          <a:xfrm>
            <a:off x="109776" y="2935516"/>
            <a:ext cx="3248005" cy="461665"/>
          </a:xfrm>
          <a:prstGeom prst="rect">
            <a:avLst/>
          </a:prstGeom>
        </p:spPr>
        <p:txBody>
          <a:bodyPr wrap="none">
            <a:spAutoFit/>
          </a:bodyPr>
          <a:lstStyle/>
          <a:p>
            <a:pPr marL="342900" indent="-342900">
              <a:buFont typeface="Wingdings" pitchFamily="2" charset="2"/>
              <a:buChar char="ü"/>
            </a:pPr>
            <a:r>
              <a:rPr lang="fr-FR" sz="2400" b="1" dirty="0" err="1">
                <a:solidFill>
                  <a:srgbClr val="FFFF00"/>
                </a:solidFill>
              </a:rPr>
              <a:t>Process</a:t>
            </a:r>
            <a:r>
              <a:rPr lang="fr-FR" sz="2400" b="1" dirty="0">
                <a:solidFill>
                  <a:srgbClr val="FFFF00"/>
                </a:solidFill>
              </a:rPr>
              <a:t>  Isolation </a:t>
            </a:r>
          </a:p>
        </p:txBody>
      </p:sp>
      <p:sp>
        <p:nvSpPr>
          <p:cNvPr id="17" name="Rectangle 16"/>
          <p:cNvSpPr/>
          <p:nvPr/>
        </p:nvSpPr>
        <p:spPr>
          <a:xfrm>
            <a:off x="51416" y="3459992"/>
            <a:ext cx="9093494" cy="1631216"/>
          </a:xfrm>
          <a:prstGeom prst="rect">
            <a:avLst/>
          </a:prstGeom>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2000" dirty="0"/>
              <a:t>Separating sensitive data from the rest of the system or network to prevent unauthorized access or data loss. Through data encryption, access control, and secure storage. Example: a company might use encryption to protect sensitive customer data stored on their servers and restrict access to that data only to authorized personnel. </a:t>
            </a:r>
            <a:endParaRPr lang="fr-FR" sz="2000" dirty="0"/>
          </a:p>
        </p:txBody>
      </p:sp>
      <p:sp>
        <p:nvSpPr>
          <p:cNvPr id="18" name="Rectangle 17"/>
          <p:cNvSpPr/>
          <p:nvPr/>
        </p:nvSpPr>
        <p:spPr>
          <a:xfrm>
            <a:off x="123424" y="2802628"/>
            <a:ext cx="2632452" cy="461665"/>
          </a:xfrm>
          <a:prstGeom prst="rect">
            <a:avLst/>
          </a:prstGeom>
        </p:spPr>
        <p:txBody>
          <a:bodyPr wrap="none">
            <a:spAutoFit/>
          </a:bodyPr>
          <a:lstStyle/>
          <a:p>
            <a:pPr marL="342900" indent="-342900">
              <a:buFont typeface="Wingdings" pitchFamily="2" charset="2"/>
              <a:buChar char="ü"/>
            </a:pPr>
            <a:r>
              <a:rPr lang="fr-FR" sz="2400" b="1" dirty="0">
                <a:solidFill>
                  <a:srgbClr val="FFFF00"/>
                </a:solidFill>
              </a:rPr>
              <a:t>Data Isolation </a:t>
            </a:r>
          </a:p>
        </p:txBody>
      </p:sp>
      <p:sp>
        <p:nvSpPr>
          <p:cNvPr id="19" name="ZoneTexte 18"/>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SS Design</a:t>
            </a:r>
            <a:endParaRPr lang="fr-FR" dirty="0"/>
          </a:p>
        </p:txBody>
      </p:sp>
      <p:sp>
        <p:nvSpPr>
          <p:cNvPr id="21" name="ZoneTexte 20"/>
          <p:cNvSpPr txBox="1"/>
          <p:nvPr/>
        </p:nvSpPr>
        <p:spPr>
          <a:xfrm>
            <a:off x="3563888" y="305733"/>
            <a:ext cx="1785950"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Access ctrl</a:t>
            </a:r>
            <a:endParaRPr lang="fr-FR" dirty="0"/>
          </a:p>
        </p:txBody>
      </p:sp>
      <p:sp>
        <p:nvSpPr>
          <p:cNvPr id="22" name="ZoneTexte 21"/>
          <p:cNvSpPr txBox="1"/>
          <p:nvPr/>
        </p:nvSpPr>
        <p:spPr>
          <a:xfrm>
            <a:off x="5436096" y="305733"/>
            <a:ext cx="170596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OS Security</a:t>
            </a:r>
            <a:endParaRPr lang="fr-FR" dirty="0"/>
          </a:p>
        </p:txBody>
      </p:sp>
      <p:sp>
        <p:nvSpPr>
          <p:cNvPr id="23" name="ZoneTexte 22"/>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Authentication</a:t>
            </a:r>
            <a:endParaRPr lang="fr-FR" dirty="0"/>
          </a:p>
        </p:txBody>
      </p:sp>
    </p:spTree>
    <p:extLst>
      <p:ext uri="{BB962C8B-B14F-4D97-AF65-F5344CB8AC3E}">
        <p14:creationId xmlns:p14="http://schemas.microsoft.com/office/powerpoint/2010/main" val="287852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xit" presetSubtype="21" fill="hold" grpId="1" nodeType="clickEffect">
                                  <p:stCondLst>
                                    <p:cond delay="0"/>
                                  </p:stCondLst>
                                  <p:childTnLst>
                                    <p:animEffect transition="out" filter="barn(inVertical)">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16" presetClass="exit" presetSubtype="21" fill="hold" grpId="1" nodeType="withEffect">
                                  <p:stCondLst>
                                    <p:cond delay="0"/>
                                  </p:stCondLst>
                                  <p:childTnLst>
                                    <p:animEffect transition="out" filter="barn(inVertical)">
                                      <p:cBhvr>
                                        <p:cTn id="33" dur="500"/>
                                        <p:tgtEl>
                                          <p:spTgt spid="5"/>
                                        </p:tgtEl>
                                      </p:cBhvr>
                                    </p:animEffect>
                                    <p:set>
                                      <p:cBhvr>
                                        <p:cTn id="34" dur="1" fill="hold">
                                          <p:stCondLst>
                                            <p:cond delay="499"/>
                                          </p:stCondLst>
                                        </p:cTn>
                                        <p:tgtEl>
                                          <p:spTgt spid="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arn(inVertical)">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xit" presetSubtype="21" fill="hold" grpId="1" nodeType="clickEffect">
                                  <p:stCondLst>
                                    <p:cond delay="0"/>
                                  </p:stCondLst>
                                  <p:childTnLst>
                                    <p:animEffect transition="out" filter="barn(inVertical)">
                                      <p:cBhvr>
                                        <p:cTn id="50" dur="500"/>
                                        <p:tgtEl>
                                          <p:spTgt spid="16"/>
                                        </p:tgtEl>
                                      </p:cBhvr>
                                    </p:animEffect>
                                    <p:set>
                                      <p:cBhvr>
                                        <p:cTn id="51" dur="1" fill="hold">
                                          <p:stCondLst>
                                            <p:cond delay="499"/>
                                          </p:stCondLst>
                                        </p:cTn>
                                        <p:tgtEl>
                                          <p:spTgt spid="16"/>
                                        </p:tgtEl>
                                        <p:attrNameLst>
                                          <p:attrName>style.visibility</p:attrName>
                                        </p:attrNameLst>
                                      </p:cBhvr>
                                      <p:to>
                                        <p:strVal val="hidden"/>
                                      </p:to>
                                    </p:set>
                                  </p:childTnLst>
                                </p:cTn>
                              </p:par>
                              <p:par>
                                <p:cTn id="52" presetID="16" presetClass="exit" presetSubtype="21" fill="hold" grpId="1" nodeType="withEffect">
                                  <p:stCondLst>
                                    <p:cond delay="0"/>
                                  </p:stCondLst>
                                  <p:childTnLst>
                                    <p:animEffect transition="out" filter="barn(inVertical)">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barn(inVertical)">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00" fill="hold"/>
                                        <p:tgtEl>
                                          <p:spTgt spid="17"/>
                                        </p:tgtEl>
                                        <p:attrNameLst>
                                          <p:attrName>ppt_w</p:attrName>
                                        </p:attrNameLst>
                                      </p:cBhvr>
                                      <p:tavLst>
                                        <p:tav tm="0">
                                          <p:val>
                                            <p:fltVal val="0"/>
                                          </p:val>
                                        </p:tav>
                                        <p:tav tm="100000">
                                          <p:val>
                                            <p:strVal val="#ppt_w"/>
                                          </p:val>
                                        </p:tav>
                                      </p:tavLst>
                                    </p:anim>
                                    <p:anim calcmode="lin" valueType="num">
                                      <p:cBhvr>
                                        <p:cTn id="65" dur="500" fill="hold"/>
                                        <p:tgtEl>
                                          <p:spTgt spid="17"/>
                                        </p:tgtEl>
                                        <p:attrNameLst>
                                          <p:attrName>ppt_h</p:attrName>
                                        </p:attrNameLst>
                                      </p:cBhvr>
                                      <p:tavLst>
                                        <p:tav tm="0">
                                          <p:val>
                                            <p:fltVal val="0"/>
                                          </p:val>
                                        </p:tav>
                                        <p:tav tm="100000">
                                          <p:val>
                                            <p:strVal val="#ppt_h"/>
                                          </p:val>
                                        </p:tav>
                                      </p:tavLst>
                                    </p:anim>
                                    <p:animEffect transition="in" filter="fade">
                                      <p:cBhvr>
                                        <p:cTn id="6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5" grpId="1" animBg="1"/>
      <p:bldP spid="6" grpId="0"/>
      <p:bldP spid="6" grpId="1"/>
      <p:bldP spid="15" grpId="0" animBg="1"/>
      <p:bldP spid="15" grpId="1" animBg="1"/>
      <p:bldP spid="16" grpId="0"/>
      <p:bldP spid="16" grpId="1"/>
      <p:bldP spid="17" grpId="0" animBg="1"/>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81" y="868760"/>
            <a:ext cx="8440283" cy="597666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ZoneTexte 6"/>
          <p:cNvSpPr txBox="1"/>
          <p:nvPr/>
        </p:nvSpPr>
        <p:spPr>
          <a:xfrm>
            <a:off x="1403648" y="664820"/>
            <a:ext cx="6624736" cy="1107996"/>
          </a:xfrm>
          <a:prstGeom prst="rect">
            <a:avLst/>
          </a:prstGeom>
          <a:noFill/>
        </p:spPr>
        <p:txBody>
          <a:bodyPr wrap="square" rtlCol="0">
            <a:spAutoFit/>
          </a:bodyPr>
          <a:lstStyle/>
          <a:p>
            <a:r>
              <a:rPr lang="fr-FR" sz="6600" b="1" dirty="0">
                <a:solidFill>
                  <a:srgbClr val="FFFF00"/>
                </a:solidFill>
              </a:rPr>
              <a:t>Access control</a:t>
            </a:r>
          </a:p>
        </p:txBody>
      </p:sp>
    </p:spTree>
    <p:extLst>
      <p:ext uri="{BB962C8B-B14F-4D97-AF65-F5344CB8AC3E}">
        <p14:creationId xmlns:p14="http://schemas.microsoft.com/office/powerpoint/2010/main" val="1395927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20</a:t>
            </a:fld>
            <a:endParaRPr lang="fr-FR" dirty="0"/>
          </a:p>
        </p:txBody>
      </p:sp>
      <p:sp>
        <p:nvSpPr>
          <p:cNvPr id="3" name="Rectangle 2"/>
          <p:cNvSpPr/>
          <p:nvPr/>
        </p:nvSpPr>
        <p:spPr>
          <a:xfrm>
            <a:off x="-11825" y="1304512"/>
            <a:ext cx="7680169" cy="1323439"/>
          </a:xfrm>
          <a:prstGeom prst="rect">
            <a:avLst/>
          </a:prstGeom>
        </p:spPr>
        <p:txBody>
          <a:bodyPr wrap="square">
            <a:spAutoFit/>
          </a:bodyPr>
          <a:lstStyle/>
          <a:p>
            <a:pPr algn="just"/>
            <a:r>
              <a:rPr lang="en-US" sz="2000" dirty="0">
                <a:solidFill>
                  <a:schemeClr val="bg1"/>
                </a:solidFill>
              </a:rPr>
              <a:t>Control which principals (persons, processes, machines, ...) have access to which resources in the system — which files they can read, which programs they can execute, how they share data with other principals, and so on.</a:t>
            </a:r>
          </a:p>
        </p:txBody>
      </p:sp>
      <p:sp>
        <p:nvSpPr>
          <p:cNvPr id="19" name="ZoneTexte 18"/>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21" name="ZoneTexte 20"/>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22" name="ZoneTexte 21"/>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23" name="ZoneTexte 22"/>
          <p:cNvSpPr txBox="1"/>
          <p:nvPr/>
        </p:nvSpPr>
        <p:spPr>
          <a:xfrm>
            <a:off x="1652636" y="305733"/>
            <a:ext cx="1767236"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2763009"/>
            <a:ext cx="2300089" cy="182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503821" y="4597374"/>
            <a:ext cx="3676691" cy="584775"/>
          </a:xfrm>
          <a:prstGeom prst="rect">
            <a:avLst/>
          </a:prstGeom>
        </p:spPr>
        <p:txBody>
          <a:bodyPr wrap="square">
            <a:spAutoFit/>
          </a:bodyPr>
          <a:lstStyle/>
          <a:p>
            <a:pPr algn="ctr"/>
            <a:r>
              <a:rPr lang="en-US" sz="1600" b="1" dirty="0">
                <a:solidFill>
                  <a:schemeClr val="bg1"/>
                </a:solidFill>
              </a:rPr>
              <a:t>Figure: Access controls at different </a:t>
            </a:r>
          </a:p>
          <a:p>
            <a:pPr algn="ctr"/>
            <a:r>
              <a:rPr lang="en-US" sz="1600" b="1" dirty="0">
                <a:solidFill>
                  <a:schemeClr val="bg1"/>
                </a:solidFill>
              </a:rPr>
              <a:t>levels in a system</a:t>
            </a:r>
            <a:endParaRPr lang="fr-FR" sz="1600" b="1" dirty="0">
              <a:solidFill>
                <a:schemeClr val="bg1"/>
              </a:solidFill>
            </a:endParaRPr>
          </a:p>
        </p:txBody>
      </p:sp>
    </p:spTree>
    <p:extLst>
      <p:ext uri="{BB962C8B-B14F-4D97-AF65-F5344CB8AC3E}">
        <p14:creationId xmlns:p14="http://schemas.microsoft.com/office/powerpoint/2010/main" val="218628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1000"/>
                                        <p:tgtEl>
                                          <p:spTgt spid="1026"/>
                                        </p:tgtEl>
                                      </p:cBhvr>
                                    </p:animEffect>
                                    <p:anim calcmode="lin" valueType="num">
                                      <p:cBhvr>
                                        <p:cTn id="15" dur="1000" fill="hold"/>
                                        <p:tgtEl>
                                          <p:spTgt spid="1026"/>
                                        </p:tgtEl>
                                        <p:attrNameLst>
                                          <p:attrName>ppt_x</p:attrName>
                                        </p:attrNameLst>
                                      </p:cBhvr>
                                      <p:tavLst>
                                        <p:tav tm="0">
                                          <p:val>
                                            <p:strVal val="#ppt_x"/>
                                          </p:val>
                                        </p:tav>
                                        <p:tav tm="100000">
                                          <p:val>
                                            <p:strVal val="#ppt_x"/>
                                          </p:val>
                                        </p:tav>
                                      </p:tavLst>
                                    </p:anim>
                                    <p:anim calcmode="lin" valueType="num">
                                      <p:cBhvr>
                                        <p:cTn id="16" dur="1000" fill="hold"/>
                                        <p:tgtEl>
                                          <p:spTgt spid="102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21</a:t>
            </a:fld>
            <a:endParaRPr lang="fr-FR" dirty="0"/>
          </a:p>
        </p:txBody>
      </p:sp>
      <p:sp>
        <p:nvSpPr>
          <p:cNvPr id="3" name="Rectangle 2"/>
          <p:cNvSpPr/>
          <p:nvPr/>
        </p:nvSpPr>
        <p:spPr>
          <a:xfrm>
            <a:off x="-11825" y="1149712"/>
            <a:ext cx="7608161" cy="1015663"/>
          </a:xfrm>
          <a:prstGeom prst="rect">
            <a:avLst/>
          </a:prstGeom>
        </p:spPr>
        <p:txBody>
          <a:bodyPr wrap="square">
            <a:spAutoFit/>
          </a:bodyPr>
          <a:lstStyle/>
          <a:p>
            <a:pPr algn="just"/>
            <a:r>
              <a:rPr lang="en-US" sz="2000" dirty="0">
                <a:solidFill>
                  <a:schemeClr val="bg1"/>
                </a:solidFill>
              </a:rPr>
              <a:t>Access controls seek to provide tools for identification, authentication, authorization, and accounting with regard to a particular resource (asset).</a:t>
            </a:r>
            <a:endParaRPr lang="fr-FR" sz="2000" dirty="0">
              <a:solidFill>
                <a:schemeClr val="bg1"/>
              </a:solidFill>
            </a:endParaRPr>
          </a:p>
        </p:txBody>
      </p:sp>
      <p:sp>
        <p:nvSpPr>
          <p:cNvPr id="4" name="Rectangle 3"/>
          <p:cNvSpPr/>
          <p:nvPr/>
        </p:nvSpPr>
        <p:spPr>
          <a:xfrm>
            <a:off x="0" y="2165375"/>
            <a:ext cx="8892480" cy="707886"/>
          </a:xfrm>
          <a:prstGeom prst="rect">
            <a:avLst/>
          </a:prstGeom>
        </p:spPr>
        <p:txBody>
          <a:bodyPr wrap="square">
            <a:spAutoFit/>
          </a:bodyPr>
          <a:lstStyle/>
          <a:p>
            <a:r>
              <a:rPr lang="en-US" dirty="0">
                <a:solidFill>
                  <a:schemeClr val="bg1"/>
                </a:solidFill>
              </a:rPr>
              <a:t> </a:t>
            </a:r>
            <a:r>
              <a:rPr lang="en-US" sz="2000" b="1" dirty="0">
                <a:solidFill>
                  <a:srgbClr val="FFFF00"/>
                </a:solidFill>
              </a:rPr>
              <a:t>Identification</a:t>
            </a:r>
          </a:p>
          <a:p>
            <a:r>
              <a:rPr lang="en-US" sz="2000" dirty="0">
                <a:solidFill>
                  <a:schemeClr val="bg1"/>
                </a:solidFill>
              </a:rPr>
              <a:t> The act of identifying an actor or something that is used to identify an actor. </a:t>
            </a:r>
            <a:endParaRPr lang="fr-FR" sz="2000" dirty="0">
              <a:solidFill>
                <a:schemeClr val="bg1"/>
              </a:solidFill>
            </a:endParaRPr>
          </a:p>
        </p:txBody>
      </p:sp>
      <p:sp>
        <p:nvSpPr>
          <p:cNvPr id="20" name="Rectangle 19"/>
          <p:cNvSpPr/>
          <p:nvPr/>
        </p:nvSpPr>
        <p:spPr>
          <a:xfrm>
            <a:off x="0" y="2937138"/>
            <a:ext cx="8892480" cy="1015663"/>
          </a:xfrm>
          <a:prstGeom prst="rect">
            <a:avLst/>
          </a:prstGeom>
        </p:spPr>
        <p:txBody>
          <a:bodyPr wrap="square">
            <a:spAutoFit/>
          </a:bodyPr>
          <a:lstStyle/>
          <a:p>
            <a:r>
              <a:rPr lang="en-US" dirty="0">
                <a:solidFill>
                  <a:schemeClr val="bg1"/>
                </a:solidFill>
              </a:rPr>
              <a:t> </a:t>
            </a:r>
            <a:r>
              <a:rPr lang="en-US" sz="2000" b="1" dirty="0">
                <a:solidFill>
                  <a:srgbClr val="FFFF00"/>
                </a:solidFill>
              </a:rPr>
              <a:t>Authentication</a:t>
            </a:r>
          </a:p>
          <a:p>
            <a:r>
              <a:rPr lang="en-US" sz="2000" dirty="0">
                <a:solidFill>
                  <a:schemeClr val="bg1"/>
                </a:solidFill>
              </a:rPr>
              <a:t>This step occurs when an identity is confirmed through the use of a specific process. </a:t>
            </a:r>
            <a:endParaRPr lang="fr-FR" sz="2000" dirty="0">
              <a:solidFill>
                <a:schemeClr val="bg1"/>
              </a:solidFill>
            </a:endParaRPr>
          </a:p>
        </p:txBody>
      </p:sp>
      <p:sp>
        <p:nvSpPr>
          <p:cNvPr id="24" name="Rectangle 23"/>
          <p:cNvSpPr/>
          <p:nvPr/>
        </p:nvSpPr>
        <p:spPr>
          <a:xfrm>
            <a:off x="0" y="3925505"/>
            <a:ext cx="8892480" cy="707886"/>
          </a:xfrm>
          <a:prstGeom prst="rect">
            <a:avLst/>
          </a:prstGeom>
        </p:spPr>
        <p:txBody>
          <a:bodyPr wrap="square">
            <a:spAutoFit/>
          </a:bodyPr>
          <a:lstStyle/>
          <a:p>
            <a:r>
              <a:rPr lang="en-US" dirty="0">
                <a:solidFill>
                  <a:schemeClr val="bg1"/>
                </a:solidFill>
              </a:rPr>
              <a:t> </a:t>
            </a:r>
            <a:r>
              <a:rPr lang="en-US" sz="2000" b="1" dirty="0">
                <a:solidFill>
                  <a:srgbClr val="FFFF00"/>
                </a:solidFill>
              </a:rPr>
              <a:t>Authorization</a:t>
            </a:r>
          </a:p>
          <a:p>
            <a:r>
              <a:rPr lang="en-US" sz="2000" dirty="0">
                <a:solidFill>
                  <a:schemeClr val="bg1"/>
                </a:solidFill>
              </a:rPr>
              <a:t>Authorization is when an actor is given permission to access a resource.</a:t>
            </a:r>
            <a:endParaRPr lang="fr-FR" sz="2000" dirty="0">
              <a:solidFill>
                <a:schemeClr val="bg1"/>
              </a:solidFill>
            </a:endParaRPr>
          </a:p>
        </p:txBody>
      </p:sp>
      <p:sp>
        <p:nvSpPr>
          <p:cNvPr id="25" name="Rectangle 24"/>
          <p:cNvSpPr/>
          <p:nvPr/>
        </p:nvSpPr>
        <p:spPr>
          <a:xfrm>
            <a:off x="0" y="4665330"/>
            <a:ext cx="8892480" cy="1015663"/>
          </a:xfrm>
          <a:prstGeom prst="rect">
            <a:avLst/>
          </a:prstGeom>
        </p:spPr>
        <p:txBody>
          <a:bodyPr wrap="square">
            <a:spAutoFit/>
          </a:bodyPr>
          <a:lstStyle/>
          <a:p>
            <a:r>
              <a:rPr lang="en-US" dirty="0">
                <a:solidFill>
                  <a:schemeClr val="bg1"/>
                </a:solidFill>
              </a:rPr>
              <a:t> </a:t>
            </a:r>
            <a:r>
              <a:rPr lang="en-US" sz="2000" b="1" dirty="0">
                <a:solidFill>
                  <a:srgbClr val="FFFF00"/>
                </a:solidFill>
              </a:rPr>
              <a:t>Accounting</a:t>
            </a:r>
          </a:p>
          <a:p>
            <a:r>
              <a:rPr lang="en-US" sz="2000" dirty="0">
                <a:solidFill>
                  <a:schemeClr val="bg1"/>
                </a:solidFill>
              </a:rPr>
              <a:t>Finally accounting is the process through which a record of access to the resource is recorded.</a:t>
            </a:r>
            <a:endParaRPr lang="fr-FR" sz="2000" dirty="0">
              <a:solidFill>
                <a:schemeClr val="bg1"/>
              </a:solidFill>
            </a:endParaRPr>
          </a:p>
        </p:txBody>
      </p:sp>
      <p:sp>
        <p:nvSpPr>
          <p:cNvPr id="26" name="ZoneTexte 25"/>
          <p:cNvSpPr txBox="1"/>
          <p:nvPr/>
        </p:nvSpPr>
        <p:spPr>
          <a:xfrm>
            <a:off x="50506" y="305733"/>
            <a:ext cx="1500198"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27" name="ZoneTexte 26"/>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28" name="ZoneTexte 27"/>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29" name="ZoneTexte 28"/>
          <p:cNvSpPr txBox="1"/>
          <p:nvPr/>
        </p:nvSpPr>
        <p:spPr>
          <a:xfrm>
            <a:off x="1652636" y="305733"/>
            <a:ext cx="1767236" cy="408623"/>
          </a:xfrm>
          <a:prstGeom prst="flowChartAlternateProcess">
            <a:avLst/>
          </a:prstGeom>
          <a:solidFill>
            <a:schemeClr val="tx2"/>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409483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p:cTn id="28" dur="500" fill="hold"/>
                                        <p:tgtEl>
                                          <p:spTgt spid="24"/>
                                        </p:tgtEl>
                                        <p:attrNameLst>
                                          <p:attrName>ppt_w</p:attrName>
                                        </p:attrNameLst>
                                      </p:cBhvr>
                                      <p:tavLst>
                                        <p:tav tm="0">
                                          <p:val>
                                            <p:fltVal val="0"/>
                                          </p:val>
                                        </p:tav>
                                        <p:tav tm="100000">
                                          <p:val>
                                            <p:strVal val="#ppt_w"/>
                                          </p:val>
                                        </p:tav>
                                      </p:tavLst>
                                    </p:anim>
                                    <p:anim calcmode="lin" valueType="num">
                                      <p:cBhvr>
                                        <p:cTn id="29" dur="500" fill="hold"/>
                                        <p:tgtEl>
                                          <p:spTgt spid="24"/>
                                        </p:tgtEl>
                                        <p:attrNameLst>
                                          <p:attrName>ppt_h</p:attrName>
                                        </p:attrNameLst>
                                      </p:cBhvr>
                                      <p:tavLst>
                                        <p:tav tm="0">
                                          <p:val>
                                            <p:fltVal val="0"/>
                                          </p:val>
                                        </p:tav>
                                        <p:tav tm="100000">
                                          <p:val>
                                            <p:strVal val="#ppt_h"/>
                                          </p:val>
                                        </p:tav>
                                      </p:tavLst>
                                    </p:anim>
                                    <p:animEffect transition="in" filter="fade">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20" grpId="0"/>
      <p:bldP spid="2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22</a:t>
            </a:fld>
            <a:endParaRPr lang="fr-FR" dirty="0"/>
          </a:p>
        </p:txBody>
      </p:sp>
      <p:sp>
        <p:nvSpPr>
          <p:cNvPr id="4" name="Rectangle 3"/>
          <p:cNvSpPr/>
          <p:nvPr/>
        </p:nvSpPr>
        <p:spPr>
          <a:xfrm>
            <a:off x="0" y="836712"/>
            <a:ext cx="8244408" cy="1323439"/>
          </a:xfrm>
          <a:prstGeom prst="rect">
            <a:avLst/>
          </a:prstGeom>
        </p:spPr>
        <p:txBody>
          <a:bodyPr wrap="square">
            <a:spAutoFit/>
          </a:bodyPr>
          <a:lstStyle/>
          <a:p>
            <a:pPr algn="just"/>
            <a:r>
              <a:rPr lang="en-US" sz="2000" b="1" dirty="0">
                <a:solidFill>
                  <a:srgbClr val="FFFF00"/>
                </a:solidFill>
              </a:rPr>
              <a:t>Least Privilege</a:t>
            </a:r>
          </a:p>
          <a:p>
            <a:pPr algn="just"/>
            <a:r>
              <a:rPr lang="en-US" sz="2000" dirty="0">
                <a:solidFill>
                  <a:schemeClr val="bg1"/>
                </a:solidFill>
              </a:rPr>
              <a:t>An actor should only be given access to resources as necessary and with the permissions necessary to complete their task. These resources may be processes, programs, or even user accounts.</a:t>
            </a:r>
            <a:endParaRPr lang="fr-FR" sz="2000" dirty="0">
              <a:solidFill>
                <a:schemeClr val="bg1"/>
              </a:solidFill>
            </a:endParaRPr>
          </a:p>
        </p:txBody>
      </p:sp>
      <p:sp>
        <p:nvSpPr>
          <p:cNvPr id="20" name="Rectangle 19"/>
          <p:cNvSpPr/>
          <p:nvPr/>
        </p:nvSpPr>
        <p:spPr>
          <a:xfrm>
            <a:off x="-28207" y="2842171"/>
            <a:ext cx="8892480" cy="2246769"/>
          </a:xfrm>
          <a:prstGeom prst="rect">
            <a:avLst/>
          </a:prstGeom>
        </p:spPr>
        <p:txBody>
          <a:bodyPr wrap="square">
            <a:spAutoFit/>
          </a:bodyPr>
          <a:lstStyle/>
          <a:p>
            <a:pPr algn="just"/>
            <a:r>
              <a:rPr lang="en-US" dirty="0">
                <a:solidFill>
                  <a:schemeClr val="bg1"/>
                </a:solidFill>
              </a:rPr>
              <a:t> </a:t>
            </a:r>
            <a:r>
              <a:rPr lang="en-US" sz="2000" b="1" dirty="0">
                <a:solidFill>
                  <a:srgbClr val="FFFF00"/>
                </a:solidFill>
              </a:rPr>
              <a:t>Multi-factor Authentication (MFA)</a:t>
            </a:r>
          </a:p>
          <a:p>
            <a:pPr algn="just"/>
            <a:r>
              <a:rPr lang="en-US" sz="2000" dirty="0">
                <a:solidFill>
                  <a:schemeClr val="bg1"/>
                </a:solidFill>
              </a:rPr>
              <a:t>A technique that requires actors to provide two or more pieces of  information to be used as identification. Example: usernames and passwords, token codes, a physical token, or biometric data. Typically it is suggested to use "something you have and something you know" for example the code in an SMS message to your phone (you have your phone) and a password (you know your password).</a:t>
            </a:r>
            <a:endParaRPr lang="fr-FR" sz="2000" dirty="0">
              <a:solidFill>
                <a:schemeClr val="bg1"/>
              </a:solidFill>
            </a:endParaRPr>
          </a:p>
        </p:txBody>
      </p:sp>
      <p:sp>
        <p:nvSpPr>
          <p:cNvPr id="25" name="Rectangle 24"/>
          <p:cNvSpPr/>
          <p:nvPr/>
        </p:nvSpPr>
        <p:spPr>
          <a:xfrm>
            <a:off x="-43926" y="5088940"/>
            <a:ext cx="8892480" cy="707886"/>
          </a:xfrm>
          <a:prstGeom prst="rect">
            <a:avLst/>
          </a:prstGeom>
        </p:spPr>
        <p:txBody>
          <a:bodyPr wrap="square">
            <a:spAutoFit/>
          </a:bodyPr>
          <a:lstStyle/>
          <a:p>
            <a:r>
              <a:rPr lang="en-US" dirty="0">
                <a:solidFill>
                  <a:schemeClr val="bg1"/>
                </a:solidFill>
              </a:rPr>
              <a:t> </a:t>
            </a:r>
            <a:r>
              <a:rPr lang="en-US" sz="2000" b="1" dirty="0">
                <a:solidFill>
                  <a:srgbClr val="FFFF00"/>
                </a:solidFill>
              </a:rPr>
              <a:t>Authorization models</a:t>
            </a:r>
          </a:p>
          <a:p>
            <a:r>
              <a:rPr lang="en-US" sz="2000" dirty="0">
                <a:solidFill>
                  <a:schemeClr val="bg1"/>
                </a:solidFill>
              </a:rPr>
              <a:t> MAC, DAC, RBAC, and ABAC</a:t>
            </a:r>
            <a:endParaRPr lang="fr-FR" sz="2000" dirty="0">
              <a:solidFill>
                <a:schemeClr val="bg1"/>
              </a:solidFill>
            </a:endParaRPr>
          </a:p>
        </p:txBody>
      </p:sp>
      <p:sp>
        <p:nvSpPr>
          <p:cNvPr id="2" name="Rectangle 1"/>
          <p:cNvSpPr/>
          <p:nvPr/>
        </p:nvSpPr>
        <p:spPr>
          <a:xfrm>
            <a:off x="50506" y="2145050"/>
            <a:ext cx="9093494" cy="707886"/>
          </a:xfrm>
          <a:prstGeom prst="rect">
            <a:avLst/>
          </a:prstGeom>
        </p:spPr>
        <p:txBody>
          <a:bodyPr wrap="square">
            <a:spAutoFit/>
          </a:bodyPr>
          <a:lstStyle/>
          <a:p>
            <a:pPr marL="342900" indent="-342900" algn="just">
              <a:buFont typeface="Wingdings" pitchFamily="2" charset="2"/>
              <a:buChar char="Ø"/>
            </a:pPr>
            <a:r>
              <a:rPr lang="en-US" sz="2000" dirty="0">
                <a:solidFill>
                  <a:schemeClr val="bg1"/>
                </a:solidFill>
              </a:rPr>
              <a:t>Reduce an attack surface and helps stop the spread of malware as a single compromised account will not have access to all of the resources.</a:t>
            </a:r>
            <a:endParaRPr lang="fr-FR" sz="2000" dirty="0">
              <a:solidFill>
                <a:schemeClr val="bg1"/>
              </a:solidFill>
            </a:endParaRPr>
          </a:p>
        </p:txBody>
      </p:sp>
      <p:sp>
        <p:nvSpPr>
          <p:cNvPr id="15" name="ZoneTexte 14"/>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6" name="ZoneTexte 15"/>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7" name="ZoneTexte 16"/>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8" name="ZoneTexte 17"/>
          <p:cNvSpPr txBox="1"/>
          <p:nvPr/>
        </p:nvSpPr>
        <p:spPr>
          <a:xfrm>
            <a:off x="1652636" y="305733"/>
            <a:ext cx="1767236"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296956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fltVal val="0"/>
                                          </p:val>
                                        </p:tav>
                                        <p:tav tm="100000">
                                          <p:val>
                                            <p:strVal val="#ppt_w"/>
                                          </p:val>
                                        </p:tav>
                                      </p:tavLst>
                                    </p:anim>
                                    <p:anim calcmode="lin" valueType="num">
                                      <p:cBhvr>
                                        <p:cTn id="29" dur="500" fill="hold"/>
                                        <p:tgtEl>
                                          <p:spTgt spid="25"/>
                                        </p:tgtEl>
                                        <p:attrNameLst>
                                          <p:attrName>ppt_h</p:attrName>
                                        </p:attrNameLst>
                                      </p:cBhvr>
                                      <p:tavLst>
                                        <p:tav tm="0">
                                          <p:val>
                                            <p:fltVal val="0"/>
                                          </p:val>
                                        </p:tav>
                                        <p:tav tm="100000">
                                          <p:val>
                                            <p:strVal val="#ppt_h"/>
                                          </p:val>
                                        </p:tav>
                                      </p:tavLst>
                                    </p:anim>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P spid="25"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23</a:t>
            </a:fld>
            <a:endParaRPr lang="fr-FR" dirty="0"/>
          </a:p>
        </p:txBody>
      </p:sp>
      <p:sp>
        <p:nvSpPr>
          <p:cNvPr id="4" name="Rectangle 3"/>
          <p:cNvSpPr/>
          <p:nvPr/>
        </p:nvSpPr>
        <p:spPr>
          <a:xfrm>
            <a:off x="0" y="1149712"/>
            <a:ext cx="8244408" cy="1631216"/>
          </a:xfrm>
          <a:prstGeom prst="rect">
            <a:avLst/>
          </a:prstGeom>
        </p:spPr>
        <p:txBody>
          <a:bodyPr wrap="square">
            <a:spAutoFit/>
          </a:bodyPr>
          <a:lstStyle/>
          <a:p>
            <a:pPr algn="just"/>
            <a:r>
              <a:rPr lang="en-US" sz="2000" b="1" dirty="0">
                <a:solidFill>
                  <a:srgbClr val="FFFF00"/>
                </a:solidFill>
              </a:rPr>
              <a:t>Mandatory Access Control (MAC)</a:t>
            </a:r>
          </a:p>
          <a:p>
            <a:pPr algn="just"/>
            <a:r>
              <a:rPr lang="en-US" sz="2000" dirty="0">
                <a:solidFill>
                  <a:schemeClr val="bg1"/>
                </a:solidFill>
              </a:rPr>
              <a:t> Requires all objects (files, directories, devices, etc.) to have a security label that identifies who can  access it and how. This is a particularly stringent form of access control which requires a great deal  of effort to implement and maintain, but results in a high level of security. </a:t>
            </a:r>
            <a:endParaRPr lang="fr-FR" sz="2000"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50" y="3597045"/>
            <a:ext cx="797242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95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3315"/>
                                        </p:tgtEl>
                                        <p:attrNameLst>
                                          <p:attrName>style.visibility</p:attrName>
                                        </p:attrNameLst>
                                      </p:cBhvr>
                                      <p:to>
                                        <p:strVal val="visible"/>
                                      </p:to>
                                    </p:set>
                                    <p:animEffect transition="in" filter="wipe(down)">
                                      <p:cBhvr>
                                        <p:cTn id="14"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24</a:t>
            </a:fld>
            <a:endParaRPr lang="fr-FR" dirty="0"/>
          </a:p>
        </p:txBody>
      </p:sp>
      <p:sp>
        <p:nvSpPr>
          <p:cNvPr id="20" name="Rectangle 19"/>
          <p:cNvSpPr/>
          <p:nvPr/>
        </p:nvSpPr>
        <p:spPr>
          <a:xfrm>
            <a:off x="-28207" y="1052736"/>
            <a:ext cx="8892480" cy="1631216"/>
          </a:xfrm>
          <a:prstGeom prst="rect">
            <a:avLst/>
          </a:prstGeom>
        </p:spPr>
        <p:txBody>
          <a:bodyPr wrap="square">
            <a:spAutoFit/>
          </a:bodyPr>
          <a:lstStyle/>
          <a:p>
            <a:pPr algn="just"/>
            <a:r>
              <a:rPr lang="en-US" sz="2000" b="1" dirty="0">
                <a:solidFill>
                  <a:srgbClr val="FFFF00"/>
                </a:solidFill>
              </a:rPr>
              <a:t>Discretional Access Control (DAC) </a:t>
            </a:r>
          </a:p>
          <a:p>
            <a:pPr algn="just"/>
            <a:r>
              <a:rPr lang="en-US" sz="2000" dirty="0">
                <a:solidFill>
                  <a:schemeClr val="bg1"/>
                </a:solidFill>
              </a:rPr>
              <a:t>Simplifies things by allowing owners of objects to determine which permissions groups/users should be given to that object. This offers great flexibility and ease of implementation, but can result in a less secure environment if the owner of the object is compromised</a:t>
            </a:r>
            <a:endParaRPr lang="fr-FR" sz="2000"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50" y="3356992"/>
            <a:ext cx="7419975" cy="2564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318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266"/>
                                        </p:tgtEl>
                                        <p:attrNameLst>
                                          <p:attrName>style.visibility</p:attrName>
                                        </p:attrNameLst>
                                      </p:cBhvr>
                                      <p:to>
                                        <p:strVal val="visible"/>
                                      </p:to>
                                    </p:set>
                                    <p:anim calcmode="lin" valueType="num">
                                      <p:cBhvr>
                                        <p:cTn id="14" dur="500" fill="hold"/>
                                        <p:tgtEl>
                                          <p:spTgt spid="11266"/>
                                        </p:tgtEl>
                                        <p:attrNameLst>
                                          <p:attrName>ppt_w</p:attrName>
                                        </p:attrNameLst>
                                      </p:cBhvr>
                                      <p:tavLst>
                                        <p:tav tm="0">
                                          <p:val>
                                            <p:fltVal val="0"/>
                                          </p:val>
                                        </p:tav>
                                        <p:tav tm="100000">
                                          <p:val>
                                            <p:strVal val="#ppt_w"/>
                                          </p:val>
                                        </p:tav>
                                      </p:tavLst>
                                    </p:anim>
                                    <p:anim calcmode="lin" valueType="num">
                                      <p:cBhvr>
                                        <p:cTn id="15" dur="500" fill="hold"/>
                                        <p:tgtEl>
                                          <p:spTgt spid="11266"/>
                                        </p:tgtEl>
                                        <p:attrNameLst>
                                          <p:attrName>ppt_h</p:attrName>
                                        </p:attrNameLst>
                                      </p:cBhvr>
                                      <p:tavLst>
                                        <p:tav tm="0">
                                          <p:val>
                                            <p:fltVal val="0"/>
                                          </p:val>
                                        </p:tav>
                                        <p:tav tm="100000">
                                          <p:val>
                                            <p:strVal val="#ppt_h"/>
                                          </p:val>
                                        </p:tav>
                                      </p:tavLst>
                                    </p:anim>
                                    <p:animEffect transition="in" filter="fade">
                                      <p:cBhvr>
                                        <p:cTn id="16"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25</a:t>
            </a:fld>
            <a:endParaRPr lang="fr-FR" dirty="0"/>
          </a:p>
        </p:txBody>
      </p:sp>
      <p:sp>
        <p:nvSpPr>
          <p:cNvPr id="3" name="Rectangle 2"/>
          <p:cNvSpPr/>
          <p:nvPr/>
        </p:nvSpPr>
        <p:spPr>
          <a:xfrm>
            <a:off x="0" y="1052736"/>
            <a:ext cx="9025873" cy="1323439"/>
          </a:xfrm>
          <a:prstGeom prst="rect">
            <a:avLst/>
          </a:prstGeom>
        </p:spPr>
        <p:txBody>
          <a:bodyPr wrap="square">
            <a:spAutoFit/>
          </a:bodyPr>
          <a:lstStyle/>
          <a:p>
            <a:pPr algn="just"/>
            <a:r>
              <a:rPr lang="en-US" dirty="0"/>
              <a:t> </a:t>
            </a:r>
            <a:r>
              <a:rPr lang="en-US" sz="2000" b="1" dirty="0">
                <a:solidFill>
                  <a:srgbClr val="FFFF00"/>
                </a:solidFill>
              </a:rPr>
              <a:t>Role-Based Access Control (RBAC) </a:t>
            </a:r>
            <a:r>
              <a:rPr lang="en-US" sz="2000" dirty="0">
                <a:solidFill>
                  <a:schemeClr val="bg1"/>
                </a:solidFill>
              </a:rPr>
              <a:t>builds off of DAC uses a core set of roles within a system to determine who has different levels of access to objects. RBAC is a common and flexible model which can be intelligently used to implement DAC or MAC.</a:t>
            </a:r>
            <a:endParaRPr lang="fr-FR" sz="2000"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595095"/>
            <a:ext cx="6581775"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939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 calcmode="lin" valueType="num">
                                      <p:cBhvr additive="base">
                                        <p:cTn id="12" dur="500" fill="hold"/>
                                        <p:tgtEl>
                                          <p:spTgt spid="12290"/>
                                        </p:tgtEl>
                                        <p:attrNameLst>
                                          <p:attrName>ppt_x</p:attrName>
                                        </p:attrNameLst>
                                      </p:cBhvr>
                                      <p:tavLst>
                                        <p:tav tm="0">
                                          <p:val>
                                            <p:strVal val="#ppt_x"/>
                                          </p:val>
                                        </p:tav>
                                        <p:tav tm="100000">
                                          <p:val>
                                            <p:strVal val="#ppt_x"/>
                                          </p:val>
                                        </p:tav>
                                      </p:tavLst>
                                    </p:anim>
                                    <p:anim calcmode="lin" valueType="num">
                                      <p:cBhvr additive="base">
                                        <p:cTn id="13"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26</a:t>
            </a:fld>
            <a:endParaRPr lang="fr-FR" dirty="0"/>
          </a:p>
        </p:txBody>
      </p:sp>
      <p:sp>
        <p:nvSpPr>
          <p:cNvPr id="3" name="Rectangle 2"/>
          <p:cNvSpPr/>
          <p:nvPr/>
        </p:nvSpPr>
        <p:spPr>
          <a:xfrm>
            <a:off x="50506" y="1018471"/>
            <a:ext cx="7401814" cy="2554545"/>
          </a:xfrm>
          <a:prstGeom prst="rect">
            <a:avLst/>
          </a:prstGeom>
        </p:spPr>
        <p:txBody>
          <a:bodyPr wrap="square">
            <a:spAutoFit/>
          </a:bodyPr>
          <a:lstStyle/>
          <a:p>
            <a:pPr algn="just"/>
            <a:r>
              <a:rPr lang="en-US" sz="2000" b="1" dirty="0">
                <a:solidFill>
                  <a:srgbClr val="FFFF00"/>
                </a:solidFill>
              </a:rPr>
              <a:t>Attribute-Based access control (ABAC) </a:t>
            </a:r>
          </a:p>
          <a:p>
            <a:pPr algn="just"/>
            <a:r>
              <a:rPr lang="en-US" sz="2000" dirty="0">
                <a:solidFill>
                  <a:schemeClr val="bg1"/>
                </a:solidFill>
              </a:rPr>
              <a:t>A newer model that builds off of RBAC and uses more general attributes instead of just roles. ABAC can determine who has different levels of access to objects based on the attributes of the object, the user, the action, or even an external context. These attributes can be used together in any way that can be codified into a rule. For example, "Give Fred read access to non-classified documents in this folder from 9:00AM to 5:00PM."</a:t>
            </a:r>
            <a:endParaRPr lang="fr-FR" sz="2000"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573016"/>
            <a:ext cx="7972425" cy="328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318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down)">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27</a:t>
            </a:fld>
            <a:endParaRPr lang="fr-FR" dirty="0"/>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844824"/>
            <a:ext cx="8928992" cy="4725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ZoneTexte 1"/>
          <p:cNvSpPr txBox="1"/>
          <p:nvPr/>
        </p:nvSpPr>
        <p:spPr>
          <a:xfrm>
            <a:off x="251520" y="1268760"/>
            <a:ext cx="7560840" cy="400110"/>
          </a:xfrm>
          <a:prstGeom prst="rect">
            <a:avLst/>
          </a:prstGeom>
          <a:noFill/>
        </p:spPr>
        <p:txBody>
          <a:bodyPr wrap="square" rtlCol="0">
            <a:spAutoFit/>
          </a:bodyPr>
          <a:lstStyle/>
          <a:p>
            <a:r>
              <a:rPr lang="fr-FR" sz="2000" b="1" dirty="0">
                <a:solidFill>
                  <a:schemeClr val="bg1"/>
                </a:solidFill>
              </a:rPr>
              <a:t>Table : </a:t>
            </a:r>
            <a:r>
              <a:rPr lang="fr-FR" sz="2000" b="1" dirty="0" err="1">
                <a:solidFill>
                  <a:schemeClr val="bg1"/>
                </a:solidFill>
              </a:rPr>
              <a:t>Comparison</a:t>
            </a:r>
            <a:r>
              <a:rPr lang="fr-FR" sz="2000" b="1" dirty="0">
                <a:solidFill>
                  <a:schemeClr val="bg1"/>
                </a:solidFill>
              </a:rPr>
              <a:t> </a:t>
            </a:r>
            <a:r>
              <a:rPr lang="fr-FR" sz="2000" b="1" dirty="0" err="1">
                <a:solidFill>
                  <a:schemeClr val="bg1"/>
                </a:solidFill>
              </a:rPr>
              <a:t>between</a:t>
            </a:r>
            <a:r>
              <a:rPr lang="fr-FR" sz="2000" b="1" dirty="0">
                <a:solidFill>
                  <a:schemeClr val="bg1"/>
                </a:solidFill>
              </a:rPr>
              <a:t> </a:t>
            </a:r>
            <a:r>
              <a:rPr lang="fr-FR" sz="2000" b="1" dirty="0" err="1">
                <a:solidFill>
                  <a:schemeClr val="bg1"/>
                </a:solidFill>
              </a:rPr>
              <a:t>different</a:t>
            </a:r>
            <a:r>
              <a:rPr lang="fr-FR" sz="2000" b="1" dirty="0">
                <a:solidFill>
                  <a:schemeClr val="bg1"/>
                </a:solidFill>
              </a:rPr>
              <a:t> </a:t>
            </a:r>
            <a:r>
              <a:rPr lang="fr-FR" sz="2000" b="1" dirty="0" err="1">
                <a:solidFill>
                  <a:schemeClr val="bg1"/>
                </a:solidFill>
              </a:rPr>
              <a:t>authorization</a:t>
            </a:r>
            <a:r>
              <a:rPr lang="fr-FR" sz="2000" b="1" dirty="0">
                <a:solidFill>
                  <a:schemeClr val="bg1"/>
                </a:solidFill>
              </a:rPr>
              <a:t> </a:t>
            </a:r>
            <a:r>
              <a:rPr lang="fr-FR" sz="2000" b="1" dirty="0" err="1">
                <a:solidFill>
                  <a:schemeClr val="bg1"/>
                </a:solidFill>
              </a:rPr>
              <a:t>models</a:t>
            </a:r>
            <a:endParaRPr lang="fr-FR" sz="2000" b="1"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no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
        <p:nvSpPr>
          <p:cNvPr id="5" name="Rectangle 4"/>
          <p:cNvSpPr/>
          <p:nvPr/>
        </p:nvSpPr>
        <p:spPr bwMode="auto">
          <a:xfrm>
            <a:off x="1979712" y="2231694"/>
            <a:ext cx="7056784" cy="4293650"/>
          </a:xfrm>
          <a:prstGeom prst="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endParaRPr kumimoji="0" lang="fr-FR" sz="1800" b="0" i="0" u="none" strike="noStrike" cap="none" normalizeH="0" baseline="0">
              <a:ln>
                <a:noFill/>
              </a:ln>
              <a:solidFill>
                <a:schemeClr val="bg1"/>
              </a:solidFill>
              <a:effectLst/>
              <a:latin typeface="Arial" charset="0"/>
              <a:ea typeface="MS Gothic" charset="-128"/>
            </a:endParaRPr>
          </a:p>
        </p:txBody>
      </p:sp>
    </p:spTree>
    <p:extLst>
      <p:ext uri="{BB962C8B-B14F-4D97-AF65-F5344CB8AC3E}">
        <p14:creationId xmlns:p14="http://schemas.microsoft.com/office/powerpoint/2010/main" val="57881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xit" presetSubtype="21" fill="hold" grpId="1" nodeType="clickEffect">
                                  <p:stCondLst>
                                    <p:cond delay="0"/>
                                  </p:stCondLst>
                                  <p:childTnLst>
                                    <p:animEffect transition="out" filter="barn(inVertic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28</a:t>
            </a:fld>
            <a:endParaRPr lang="fr-FR" dirty="0"/>
          </a:p>
        </p:txBody>
      </p:sp>
      <p:sp>
        <p:nvSpPr>
          <p:cNvPr id="3" name="Rectangle 2"/>
          <p:cNvSpPr/>
          <p:nvPr/>
        </p:nvSpPr>
        <p:spPr>
          <a:xfrm>
            <a:off x="50506" y="1124744"/>
            <a:ext cx="8676456" cy="2246769"/>
          </a:xfrm>
          <a:prstGeom prst="rect">
            <a:avLst/>
          </a:prstGeom>
        </p:spPr>
        <p:txBody>
          <a:bodyPr wrap="square">
            <a:spAutoFit/>
          </a:bodyPr>
          <a:lstStyle/>
          <a:p>
            <a:pPr marL="342900" indent="-342900" algn="just">
              <a:buFont typeface="Wingdings" pitchFamily="2" charset="2"/>
              <a:buChar char="Ø"/>
            </a:pPr>
            <a:r>
              <a:rPr lang="en-US" sz="2000" b="1" dirty="0">
                <a:solidFill>
                  <a:schemeClr val="bg1"/>
                </a:solidFill>
              </a:rPr>
              <a:t>Gates</a:t>
            </a:r>
          </a:p>
          <a:p>
            <a:pPr marL="342900" indent="-342900" algn="just">
              <a:buFont typeface="Wingdings" pitchFamily="2" charset="2"/>
              <a:buChar char="Ø"/>
            </a:pPr>
            <a:r>
              <a:rPr lang="en-US" sz="2000" b="1" dirty="0">
                <a:solidFill>
                  <a:schemeClr val="bg1"/>
                </a:solidFill>
              </a:rPr>
              <a:t>Biometrics</a:t>
            </a:r>
          </a:p>
          <a:p>
            <a:pPr marL="342900" indent="-342900" algn="just">
              <a:buFont typeface="Wingdings" pitchFamily="2" charset="2"/>
              <a:buChar char="Ø"/>
            </a:pPr>
            <a:r>
              <a:rPr lang="en-US" sz="2000" b="1" dirty="0">
                <a:solidFill>
                  <a:schemeClr val="bg1"/>
                </a:solidFill>
              </a:rPr>
              <a:t>Key Cards</a:t>
            </a:r>
          </a:p>
          <a:p>
            <a:pPr marL="342900" indent="-342900" algn="just">
              <a:buFont typeface="Wingdings" pitchFamily="2" charset="2"/>
              <a:buChar char="Ø"/>
            </a:pPr>
            <a:r>
              <a:rPr lang="fr-FR" sz="2000" b="1" dirty="0">
                <a:solidFill>
                  <a:schemeClr val="bg1"/>
                </a:solidFill>
              </a:rPr>
              <a:t>Security </a:t>
            </a:r>
            <a:r>
              <a:rPr lang="fr-FR" sz="2000" b="1" dirty="0" err="1">
                <a:solidFill>
                  <a:schemeClr val="bg1"/>
                </a:solidFill>
              </a:rPr>
              <a:t>Guards</a:t>
            </a:r>
            <a:endParaRPr lang="fr-FR" sz="2000" b="1" dirty="0">
              <a:solidFill>
                <a:schemeClr val="bg1"/>
              </a:solidFill>
            </a:endParaRPr>
          </a:p>
          <a:p>
            <a:pPr marL="342900" indent="-342900" algn="just">
              <a:buFont typeface="Wingdings" pitchFamily="2" charset="2"/>
              <a:buChar char="Ø"/>
            </a:pPr>
            <a:r>
              <a:rPr lang="fr-FR" sz="2000" b="1" dirty="0">
                <a:solidFill>
                  <a:schemeClr val="bg1"/>
                </a:solidFill>
              </a:rPr>
              <a:t>Cameras</a:t>
            </a:r>
          </a:p>
          <a:p>
            <a:pPr marL="342900" indent="-342900" algn="just">
              <a:buFont typeface="Wingdings" pitchFamily="2" charset="2"/>
              <a:buChar char="Ø"/>
            </a:pPr>
            <a:r>
              <a:rPr lang="fr-FR" sz="2000" b="1" dirty="0" err="1">
                <a:solidFill>
                  <a:schemeClr val="bg1"/>
                </a:solidFill>
              </a:rPr>
              <a:t>Mantraps</a:t>
            </a:r>
            <a:endParaRPr lang="fr-FR" sz="2000" b="1" dirty="0">
              <a:solidFill>
                <a:schemeClr val="bg1"/>
              </a:solidFill>
            </a:endParaRPr>
          </a:p>
          <a:p>
            <a:pPr algn="just"/>
            <a:endParaRPr lang="en-US" sz="2000" b="1" dirty="0">
              <a:solidFill>
                <a:srgbClr val="FFFF00"/>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668" y="4941168"/>
            <a:ext cx="5021631" cy="1844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2517" y="1781156"/>
            <a:ext cx="245745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2243" y="3369917"/>
            <a:ext cx="263842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75" y="5049192"/>
            <a:ext cx="280035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1546" y="714356"/>
            <a:ext cx="21336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ZoneTexte 16"/>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8" name="ZoneTexte 17"/>
          <p:cNvSpPr txBox="1"/>
          <p:nvPr/>
        </p:nvSpPr>
        <p:spPr>
          <a:xfrm>
            <a:off x="3491880" y="305733"/>
            <a:ext cx="1939932"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20" name="ZoneTexte 19"/>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24" name="ZoneTexte 23"/>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4105"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3186" y="2798043"/>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881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ppt_x"/>
                                          </p:val>
                                        </p:tav>
                                        <p:tav tm="100000">
                                          <p:val>
                                            <p:strVal val="#ppt_x"/>
                                          </p:val>
                                        </p:tav>
                                      </p:tavLst>
                                    </p:anim>
                                    <p:anim calcmode="lin" valueType="num">
                                      <p:cBhvr additive="base">
                                        <p:cTn id="8" dur="500" fill="hold"/>
                                        <p:tgtEl>
                                          <p:spTgt spid="409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100"/>
                                        </p:tgtEl>
                                        <p:attrNameLst>
                                          <p:attrName>style.visibility</p:attrName>
                                        </p:attrNameLst>
                                      </p:cBhvr>
                                      <p:to>
                                        <p:strVal val="visible"/>
                                      </p:to>
                                    </p:set>
                                    <p:anim calcmode="lin" valueType="num">
                                      <p:cBhvr additive="base">
                                        <p:cTn id="12" dur="500" fill="hold"/>
                                        <p:tgtEl>
                                          <p:spTgt spid="4100"/>
                                        </p:tgtEl>
                                        <p:attrNameLst>
                                          <p:attrName>ppt_x</p:attrName>
                                        </p:attrNameLst>
                                      </p:cBhvr>
                                      <p:tavLst>
                                        <p:tav tm="0">
                                          <p:val>
                                            <p:strVal val="#ppt_x"/>
                                          </p:val>
                                        </p:tav>
                                        <p:tav tm="100000">
                                          <p:val>
                                            <p:strVal val="#ppt_x"/>
                                          </p:val>
                                        </p:tav>
                                      </p:tavLst>
                                    </p:anim>
                                    <p:anim calcmode="lin" valueType="num">
                                      <p:cBhvr additive="base">
                                        <p:cTn id="13" dur="500" fill="hold"/>
                                        <p:tgtEl>
                                          <p:spTgt spid="410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101"/>
                                        </p:tgtEl>
                                        <p:attrNameLst>
                                          <p:attrName>style.visibility</p:attrName>
                                        </p:attrNameLst>
                                      </p:cBhvr>
                                      <p:to>
                                        <p:strVal val="visible"/>
                                      </p:to>
                                    </p:set>
                                    <p:anim calcmode="lin" valueType="num">
                                      <p:cBhvr additive="base">
                                        <p:cTn id="17" dur="500" fill="hold"/>
                                        <p:tgtEl>
                                          <p:spTgt spid="4101"/>
                                        </p:tgtEl>
                                        <p:attrNameLst>
                                          <p:attrName>ppt_x</p:attrName>
                                        </p:attrNameLst>
                                      </p:cBhvr>
                                      <p:tavLst>
                                        <p:tav tm="0">
                                          <p:val>
                                            <p:strVal val="#ppt_x"/>
                                          </p:val>
                                        </p:tav>
                                        <p:tav tm="100000">
                                          <p:val>
                                            <p:strVal val="#ppt_x"/>
                                          </p:val>
                                        </p:tav>
                                      </p:tavLst>
                                    </p:anim>
                                    <p:anim calcmode="lin" valueType="num">
                                      <p:cBhvr additive="base">
                                        <p:cTn id="18" dur="500" fill="hold"/>
                                        <p:tgtEl>
                                          <p:spTgt spid="410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105"/>
                                        </p:tgtEl>
                                        <p:attrNameLst>
                                          <p:attrName>style.visibility</p:attrName>
                                        </p:attrNameLst>
                                      </p:cBhvr>
                                      <p:to>
                                        <p:strVal val="visible"/>
                                      </p:to>
                                    </p:set>
                                    <p:anim calcmode="lin" valueType="num">
                                      <p:cBhvr additive="base">
                                        <p:cTn id="22" dur="500" fill="hold"/>
                                        <p:tgtEl>
                                          <p:spTgt spid="4105"/>
                                        </p:tgtEl>
                                        <p:attrNameLst>
                                          <p:attrName>ppt_x</p:attrName>
                                        </p:attrNameLst>
                                      </p:cBhvr>
                                      <p:tavLst>
                                        <p:tav tm="0">
                                          <p:val>
                                            <p:strVal val="#ppt_x"/>
                                          </p:val>
                                        </p:tav>
                                        <p:tav tm="100000">
                                          <p:val>
                                            <p:strVal val="#ppt_x"/>
                                          </p:val>
                                        </p:tav>
                                      </p:tavLst>
                                    </p:anim>
                                    <p:anim calcmode="lin" valueType="num">
                                      <p:cBhvr additive="base">
                                        <p:cTn id="23" dur="500" fill="hold"/>
                                        <p:tgtEl>
                                          <p:spTgt spid="4105"/>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104"/>
                                        </p:tgtEl>
                                        <p:attrNameLst>
                                          <p:attrName>style.visibility</p:attrName>
                                        </p:attrNameLst>
                                      </p:cBhvr>
                                      <p:to>
                                        <p:strVal val="visible"/>
                                      </p:to>
                                    </p:set>
                                    <p:anim calcmode="lin" valueType="num">
                                      <p:cBhvr additive="base">
                                        <p:cTn id="27" dur="500" fill="hold"/>
                                        <p:tgtEl>
                                          <p:spTgt spid="4104"/>
                                        </p:tgtEl>
                                        <p:attrNameLst>
                                          <p:attrName>ppt_x</p:attrName>
                                        </p:attrNameLst>
                                      </p:cBhvr>
                                      <p:tavLst>
                                        <p:tav tm="0">
                                          <p:val>
                                            <p:strVal val="#ppt_x"/>
                                          </p:val>
                                        </p:tav>
                                        <p:tav tm="100000">
                                          <p:val>
                                            <p:strVal val="#ppt_x"/>
                                          </p:val>
                                        </p:tav>
                                      </p:tavLst>
                                    </p:anim>
                                    <p:anim calcmode="lin" valueType="num">
                                      <p:cBhvr additive="base">
                                        <p:cTn id="28" dur="500" fill="hold"/>
                                        <p:tgtEl>
                                          <p:spTgt spid="410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098"/>
                                        </p:tgtEl>
                                        <p:attrNameLst>
                                          <p:attrName>style.visibility</p:attrName>
                                        </p:attrNameLst>
                                      </p:cBhvr>
                                      <p:to>
                                        <p:strVal val="visible"/>
                                      </p:to>
                                    </p:set>
                                    <p:animEffect transition="in" filter="wipe(down)">
                                      <p:cBhvr>
                                        <p:cTn id="33"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29</a:t>
            </a:fld>
            <a:endParaRPr lang="fr-FR" dirty="0"/>
          </a:p>
        </p:txBody>
      </p:sp>
      <p:sp>
        <p:nvSpPr>
          <p:cNvPr id="3" name="Rectangle 2"/>
          <p:cNvSpPr/>
          <p:nvPr/>
        </p:nvSpPr>
        <p:spPr>
          <a:xfrm>
            <a:off x="-19364" y="1052736"/>
            <a:ext cx="8695820" cy="1323439"/>
          </a:xfrm>
          <a:prstGeom prst="rect">
            <a:avLst/>
          </a:prstGeom>
        </p:spPr>
        <p:txBody>
          <a:bodyPr wrap="square">
            <a:spAutoFit/>
          </a:bodyPr>
          <a:lstStyle/>
          <a:p>
            <a:r>
              <a:rPr lang="en-US" sz="2000" b="1" dirty="0">
                <a:solidFill>
                  <a:srgbClr val="FFFF00"/>
                </a:solidFill>
              </a:rPr>
              <a:t>Active Directory (AD) </a:t>
            </a:r>
          </a:p>
          <a:p>
            <a:r>
              <a:rPr lang="en-US" sz="2000" b="1" dirty="0">
                <a:solidFill>
                  <a:srgbClr val="FFFFFF"/>
                </a:solidFill>
              </a:rPr>
              <a:t>A directory service typically used in Windows networks to control and track resources. It is a Microsoft technology that enables centralized network management. </a:t>
            </a:r>
            <a:endParaRPr lang="fr-FR" sz="2000" b="1" dirty="0">
              <a:solidFill>
                <a:srgbClr val="FFFFFF"/>
              </a:solidFill>
            </a:endParaRPr>
          </a:p>
        </p:txBody>
      </p:sp>
      <p:sp>
        <p:nvSpPr>
          <p:cNvPr id="4" name="Rectangle 3"/>
          <p:cNvSpPr/>
          <p:nvPr/>
        </p:nvSpPr>
        <p:spPr>
          <a:xfrm>
            <a:off x="-19364" y="2492896"/>
            <a:ext cx="9163364" cy="1631216"/>
          </a:xfrm>
          <a:prstGeom prst="rect">
            <a:avLst/>
          </a:prstGeom>
        </p:spPr>
        <p:txBody>
          <a:bodyPr wrap="square">
            <a:spAutoFit/>
          </a:bodyPr>
          <a:lstStyle/>
          <a:p>
            <a:pPr algn="just"/>
            <a:r>
              <a:rPr lang="en-US" sz="2000" b="1" dirty="0">
                <a:solidFill>
                  <a:srgbClr val="FFFF00"/>
                </a:solidFill>
              </a:rPr>
              <a:t>Privileged Identity Management (PIM) </a:t>
            </a:r>
          </a:p>
          <a:p>
            <a:pPr algn="just"/>
            <a:r>
              <a:rPr lang="en-US" sz="2000" b="1" dirty="0">
                <a:solidFill>
                  <a:srgbClr val="FFFFFF"/>
                </a:solidFill>
              </a:rPr>
              <a:t>A method of managing access to resources such as locations, commands, audit reports, and services. It aims to provide more granular access control. By recording more information about access it allows for better reporting regarding suspicious behavior and anomalies.</a:t>
            </a:r>
            <a:endParaRPr lang="fr-FR" sz="2000" b="1" dirty="0">
              <a:solidFill>
                <a:srgbClr val="FFFFFF"/>
              </a:solidFill>
            </a:endParaRPr>
          </a:p>
        </p:txBody>
      </p:sp>
      <p:sp>
        <p:nvSpPr>
          <p:cNvPr id="5" name="Rectangle 4"/>
          <p:cNvSpPr/>
          <p:nvPr/>
        </p:nvSpPr>
        <p:spPr>
          <a:xfrm>
            <a:off x="50506" y="4221088"/>
            <a:ext cx="9093494" cy="2246769"/>
          </a:xfrm>
          <a:prstGeom prst="rect">
            <a:avLst/>
          </a:prstGeom>
        </p:spPr>
        <p:txBody>
          <a:bodyPr wrap="square">
            <a:spAutoFit/>
          </a:bodyPr>
          <a:lstStyle/>
          <a:p>
            <a:pPr algn="just"/>
            <a:r>
              <a:rPr lang="en-US" sz="2000" b="1" dirty="0">
                <a:solidFill>
                  <a:srgbClr val="FFFF00"/>
                </a:solidFill>
              </a:rPr>
              <a:t>Privileged Access Management (PAM) </a:t>
            </a:r>
          </a:p>
          <a:p>
            <a:pPr algn="just"/>
            <a:r>
              <a:rPr lang="en-US" sz="2000" b="1" dirty="0">
                <a:solidFill>
                  <a:schemeClr val="bg1"/>
                </a:solidFill>
              </a:rPr>
              <a:t>A</a:t>
            </a:r>
            <a:r>
              <a:rPr lang="en-US" sz="2000" b="1" dirty="0">
                <a:solidFill>
                  <a:srgbClr val="FFFFFF"/>
                </a:solidFill>
              </a:rPr>
              <a:t> framework for safeguarding identities with advanced capabilities. It is common in the Linux world, where it is used to control how administrators log in. PAM supports many more features than the older "become root and perform admin tasks" model. With PAM passwords can be set to expire, better auditing can be put in place, and privilege escalation can be made temporary.</a:t>
            </a:r>
            <a:endParaRPr lang="fr-FR" sz="2000" b="1" dirty="0">
              <a:solidFill>
                <a:srgbClr val="FFFFFF"/>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44374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900" decel="100000" fill="hold"/>
                                        <p:tgtEl>
                                          <p:spTgt spid="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p:tgtEl>
                                          <p:spTgt spid="5"/>
                                        </p:tgtEl>
                                        <p:attrNameLst>
                                          <p:attrName>ppt_y</p:attrName>
                                        </p:attrNameLst>
                                      </p:cBhvr>
                                      <p:tavLst>
                                        <p:tav tm="0">
                                          <p:val>
                                            <p:strVal val="#ppt_y+#ppt_h*1.125000"/>
                                          </p:val>
                                        </p:tav>
                                        <p:tav tm="100000">
                                          <p:val>
                                            <p:strVal val="#ppt_y"/>
                                          </p:val>
                                        </p:tav>
                                      </p:tavLst>
                                    </p:anim>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30</a:t>
            </a:fld>
            <a:endParaRPr lang="fr-FR" dirty="0"/>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3" y="930031"/>
            <a:ext cx="633412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0" y="3789040"/>
            <a:ext cx="622935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633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p:cTn id="7" dur="500" fill="hold"/>
                                        <p:tgtEl>
                                          <p:spTgt spid="10243"/>
                                        </p:tgtEl>
                                        <p:attrNameLst>
                                          <p:attrName>ppt_w</p:attrName>
                                        </p:attrNameLst>
                                      </p:cBhvr>
                                      <p:tavLst>
                                        <p:tav tm="0">
                                          <p:val>
                                            <p:fltVal val="0"/>
                                          </p:val>
                                        </p:tav>
                                        <p:tav tm="100000">
                                          <p:val>
                                            <p:strVal val="#ppt_w"/>
                                          </p:val>
                                        </p:tav>
                                      </p:tavLst>
                                    </p:anim>
                                    <p:anim calcmode="lin" valueType="num">
                                      <p:cBhvr>
                                        <p:cTn id="8" dur="500" fill="hold"/>
                                        <p:tgtEl>
                                          <p:spTgt spid="10243"/>
                                        </p:tgtEl>
                                        <p:attrNameLst>
                                          <p:attrName>ppt_h</p:attrName>
                                        </p:attrNameLst>
                                      </p:cBhvr>
                                      <p:tavLst>
                                        <p:tav tm="0">
                                          <p:val>
                                            <p:fltVal val="0"/>
                                          </p:val>
                                        </p:tav>
                                        <p:tav tm="100000">
                                          <p:val>
                                            <p:strVal val="#ppt_h"/>
                                          </p:val>
                                        </p:tav>
                                      </p:tavLst>
                                    </p:anim>
                                    <p:animEffect transition="in" filter="fade">
                                      <p:cBhvr>
                                        <p:cTn id="9"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285720" y="6215082"/>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31</a:t>
            </a:fld>
            <a:endParaRPr lang="fr-FR" dirty="0"/>
          </a:p>
        </p:txBody>
      </p:sp>
      <p:sp>
        <p:nvSpPr>
          <p:cNvPr id="9" name="Rectangle 8"/>
          <p:cNvSpPr/>
          <p:nvPr/>
        </p:nvSpPr>
        <p:spPr>
          <a:xfrm>
            <a:off x="50506" y="861680"/>
            <a:ext cx="9163364" cy="1631216"/>
          </a:xfrm>
          <a:prstGeom prst="rect">
            <a:avLst/>
          </a:prstGeom>
        </p:spPr>
        <p:txBody>
          <a:bodyPr wrap="square">
            <a:spAutoFit/>
          </a:bodyPr>
          <a:lstStyle/>
          <a:p>
            <a:pPr algn="just"/>
            <a:r>
              <a:rPr lang="en-US" sz="2000" b="1" dirty="0">
                <a:solidFill>
                  <a:srgbClr val="FFFF00"/>
                </a:solidFill>
              </a:rPr>
              <a:t>Privileged Identity Management (PIM) </a:t>
            </a:r>
          </a:p>
          <a:p>
            <a:pPr algn="just"/>
            <a:r>
              <a:rPr lang="en-US" sz="2000" b="1" dirty="0">
                <a:solidFill>
                  <a:srgbClr val="FFFFFF"/>
                </a:solidFill>
              </a:rPr>
              <a:t>A method of managing access to resources such as locations, commands, audit reports, and services. It aims to provide more granular access control. By recording more information about access it allows for better reporting regarding suspicious behavior and anomalies.</a:t>
            </a:r>
            <a:endParaRPr lang="fr-FR" sz="2000" b="1" dirty="0">
              <a:solidFill>
                <a:srgbClr val="FFFFFF"/>
              </a:solidFill>
            </a:endParaRPr>
          </a:p>
        </p:txBody>
      </p:sp>
      <p:sp>
        <p:nvSpPr>
          <p:cNvPr id="3" name="Rectangle 2"/>
          <p:cNvSpPr/>
          <p:nvPr/>
        </p:nvSpPr>
        <p:spPr>
          <a:xfrm>
            <a:off x="27489" y="2498120"/>
            <a:ext cx="8964488" cy="1938992"/>
          </a:xfrm>
          <a:prstGeom prst="rect">
            <a:avLst/>
          </a:prstGeom>
        </p:spPr>
        <p:txBody>
          <a:bodyPr wrap="square">
            <a:spAutoFit/>
          </a:bodyPr>
          <a:lstStyle/>
          <a:p>
            <a:pPr algn="just"/>
            <a:r>
              <a:rPr lang="en-US" sz="2000" b="1" dirty="0">
                <a:solidFill>
                  <a:srgbClr val="FFFF00"/>
                </a:solidFill>
              </a:rPr>
              <a:t>Identity and Access Management </a:t>
            </a:r>
          </a:p>
          <a:p>
            <a:pPr algn="just"/>
            <a:r>
              <a:rPr lang="en-US" sz="2000" b="1" dirty="0">
                <a:solidFill>
                  <a:schemeClr val="bg1"/>
                </a:solidFill>
              </a:rPr>
              <a:t>A framework for managing digital identities. It manages the user database, logs when users sign in and out, manages the creation of groups or roles, and allows for the assignment and removal of access privileges. IAM often makes use of PIM and PAM to accomplish these goals.</a:t>
            </a:r>
            <a:endParaRPr lang="fr-FR" sz="2000" b="1" dirty="0">
              <a:solidFill>
                <a:schemeClr val="bg1"/>
              </a:solidFill>
            </a:endParaRPr>
          </a:p>
        </p:txBody>
      </p:sp>
      <p:sp>
        <p:nvSpPr>
          <p:cNvPr id="4" name="Rectangle 3"/>
          <p:cNvSpPr/>
          <p:nvPr/>
        </p:nvSpPr>
        <p:spPr>
          <a:xfrm>
            <a:off x="0" y="4377298"/>
            <a:ext cx="2847254" cy="707886"/>
          </a:xfrm>
          <a:prstGeom prst="rect">
            <a:avLst/>
          </a:prstGeom>
        </p:spPr>
        <p:txBody>
          <a:bodyPr wrap="none">
            <a:spAutoFit/>
          </a:bodyPr>
          <a:lstStyle/>
          <a:p>
            <a:r>
              <a:rPr lang="fr-FR" sz="2000" b="1" dirty="0">
                <a:solidFill>
                  <a:srgbClr val="FFFF00"/>
                </a:solidFill>
              </a:rPr>
              <a:t>Unix File Permissions</a:t>
            </a:r>
          </a:p>
          <a:p>
            <a:endParaRPr lang="fr-FR" sz="2000" b="1" dirty="0">
              <a:solidFill>
                <a:srgbClr val="FFFF00"/>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5000982"/>
            <a:ext cx="41338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ZoneTexte 4"/>
          <p:cNvSpPr txBox="1"/>
          <p:nvPr/>
        </p:nvSpPr>
        <p:spPr>
          <a:xfrm>
            <a:off x="2411760" y="5805264"/>
            <a:ext cx="3312368" cy="461665"/>
          </a:xfrm>
          <a:prstGeom prst="rect">
            <a:avLst/>
          </a:prstGeom>
          <a:noFill/>
        </p:spPr>
        <p:txBody>
          <a:bodyPr wrap="square" rtlCol="0">
            <a:spAutoFit/>
          </a:bodyPr>
          <a:lstStyle/>
          <a:p>
            <a:r>
              <a:rPr lang="fr-FR" sz="2400" b="1" dirty="0">
                <a:solidFill>
                  <a:schemeClr val="bg1"/>
                </a:solidFill>
              </a:rPr>
              <a:t>7               7               7</a:t>
            </a: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426744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par>
                                <p:cTn id="22" presetID="53" presetClass="entr" presetSubtype="16" fill="hold" nodeType="withEffect">
                                  <p:stCondLst>
                                    <p:cond delay="0"/>
                                  </p:stCondLst>
                                  <p:childTnLst>
                                    <p:set>
                                      <p:cBhvr>
                                        <p:cTn id="23" dur="1" fill="hold">
                                          <p:stCondLst>
                                            <p:cond delay="0"/>
                                          </p:stCondLst>
                                        </p:cTn>
                                        <p:tgtEl>
                                          <p:spTgt spid="5122"/>
                                        </p:tgtEl>
                                        <p:attrNameLst>
                                          <p:attrName>style.visibility</p:attrName>
                                        </p:attrNameLst>
                                      </p:cBhvr>
                                      <p:to>
                                        <p:strVal val="visible"/>
                                      </p:to>
                                    </p:set>
                                    <p:anim calcmode="lin" valueType="num">
                                      <p:cBhvr>
                                        <p:cTn id="24" dur="500" fill="hold"/>
                                        <p:tgtEl>
                                          <p:spTgt spid="5122"/>
                                        </p:tgtEl>
                                        <p:attrNameLst>
                                          <p:attrName>ppt_w</p:attrName>
                                        </p:attrNameLst>
                                      </p:cBhvr>
                                      <p:tavLst>
                                        <p:tav tm="0">
                                          <p:val>
                                            <p:fltVal val="0"/>
                                          </p:val>
                                        </p:tav>
                                        <p:tav tm="100000">
                                          <p:val>
                                            <p:strVal val="#ppt_w"/>
                                          </p:val>
                                        </p:tav>
                                      </p:tavLst>
                                    </p:anim>
                                    <p:anim calcmode="lin" valueType="num">
                                      <p:cBhvr>
                                        <p:cTn id="25" dur="500" fill="hold"/>
                                        <p:tgtEl>
                                          <p:spTgt spid="5122"/>
                                        </p:tgtEl>
                                        <p:attrNameLst>
                                          <p:attrName>ppt_h</p:attrName>
                                        </p:attrNameLst>
                                      </p:cBhvr>
                                      <p:tavLst>
                                        <p:tav tm="0">
                                          <p:val>
                                            <p:fltVal val="0"/>
                                          </p:val>
                                        </p:tav>
                                        <p:tav tm="100000">
                                          <p:val>
                                            <p:strVal val="#ppt_h"/>
                                          </p:val>
                                        </p:tav>
                                      </p:tavLst>
                                    </p:anim>
                                    <p:animEffect transition="in" filter="fade">
                                      <p:cBhvr>
                                        <p:cTn id="26" dur="500"/>
                                        <p:tgtEl>
                                          <p:spTgt spid="512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32</a:t>
            </a:fld>
            <a:endParaRPr lang="fr-FR" dirty="0"/>
          </a:p>
        </p:txBody>
      </p:sp>
      <p:sp>
        <p:nvSpPr>
          <p:cNvPr id="2" name="ZoneTexte 1"/>
          <p:cNvSpPr txBox="1"/>
          <p:nvPr/>
        </p:nvSpPr>
        <p:spPr>
          <a:xfrm>
            <a:off x="-36512" y="908720"/>
            <a:ext cx="7560840" cy="1323439"/>
          </a:xfrm>
          <a:prstGeom prst="rect">
            <a:avLst/>
          </a:prstGeom>
          <a:noFill/>
        </p:spPr>
        <p:txBody>
          <a:bodyPr wrap="square" rtlCol="0">
            <a:spAutoFit/>
          </a:bodyPr>
          <a:lstStyle/>
          <a:p>
            <a:r>
              <a:rPr lang="en-US" sz="2000" b="1" dirty="0">
                <a:solidFill>
                  <a:srgbClr val="FFFF00"/>
                </a:solidFill>
              </a:rPr>
              <a:t>Access Control Lists (ACL) </a:t>
            </a:r>
          </a:p>
          <a:p>
            <a:r>
              <a:rPr lang="en-US" sz="2000" b="1" dirty="0">
                <a:solidFill>
                  <a:schemeClr val="bg1"/>
                </a:solidFill>
              </a:rPr>
              <a:t>Are used to permit or deny access based on a characteristic.</a:t>
            </a:r>
          </a:p>
          <a:p>
            <a:r>
              <a:rPr lang="en-US" sz="2000" b="1" dirty="0" err="1">
                <a:solidFill>
                  <a:schemeClr val="accent1">
                    <a:lumMod val="40000"/>
                    <a:lumOff val="60000"/>
                  </a:schemeClr>
                </a:solidFill>
              </a:rPr>
              <a:t>Allowlist</a:t>
            </a:r>
            <a:r>
              <a:rPr lang="en-US" sz="2000" b="1" dirty="0">
                <a:solidFill>
                  <a:schemeClr val="accent1">
                    <a:lumMod val="40000"/>
                    <a:lumOff val="60000"/>
                  </a:schemeClr>
                </a:solidFill>
              </a:rPr>
              <a:t>: </a:t>
            </a:r>
            <a:r>
              <a:rPr lang="en-US" sz="2000" b="1" dirty="0">
                <a:solidFill>
                  <a:schemeClr val="bg1"/>
                </a:solidFill>
              </a:rPr>
              <a:t>deny access to anyone not on the list.</a:t>
            </a:r>
          </a:p>
          <a:p>
            <a:r>
              <a:rPr lang="en-US" sz="2000" b="1" dirty="0" err="1">
                <a:solidFill>
                  <a:srgbClr val="FF3300"/>
                </a:solidFill>
              </a:rPr>
              <a:t>Denylist</a:t>
            </a:r>
            <a:r>
              <a:rPr lang="en-US" sz="2000" b="1" dirty="0">
                <a:solidFill>
                  <a:srgbClr val="FF3300"/>
                </a:solidFill>
              </a:rPr>
              <a:t> : </a:t>
            </a:r>
            <a:r>
              <a:rPr lang="en-US" sz="2000" b="1" dirty="0">
                <a:solidFill>
                  <a:schemeClr val="bg1"/>
                </a:solidFill>
              </a:rPr>
              <a:t>deny access to anyone who is on the list.</a:t>
            </a:r>
            <a:endParaRPr lang="fr-FR" sz="2000" b="1" dirty="0">
              <a:solidFill>
                <a:schemeClr val="bg1"/>
              </a:solidFill>
            </a:endParaRPr>
          </a:p>
        </p:txBody>
      </p:sp>
      <p:sp>
        <p:nvSpPr>
          <p:cNvPr id="3" name="Rectangle 2"/>
          <p:cNvSpPr/>
          <p:nvPr/>
        </p:nvSpPr>
        <p:spPr>
          <a:xfrm>
            <a:off x="35496" y="2204864"/>
            <a:ext cx="9001000" cy="1015663"/>
          </a:xfrm>
          <a:prstGeom prst="rect">
            <a:avLst/>
          </a:prstGeom>
        </p:spPr>
        <p:txBody>
          <a:bodyPr wrap="square">
            <a:spAutoFit/>
          </a:bodyPr>
          <a:lstStyle/>
          <a:p>
            <a:r>
              <a:rPr lang="en-US" sz="2000" b="1" dirty="0">
                <a:solidFill>
                  <a:srgbClr val="FFFF00"/>
                </a:solidFill>
              </a:rPr>
              <a:t>SSH Keys </a:t>
            </a:r>
          </a:p>
          <a:p>
            <a:r>
              <a:rPr lang="en-US" sz="2000" b="1" dirty="0">
                <a:solidFill>
                  <a:schemeClr val="bg1"/>
                </a:solidFill>
              </a:rPr>
              <a:t>Secure Shell Server (SSH) supports the use of asymmetric encryption keys for authentication.</a:t>
            </a:r>
            <a:endParaRPr lang="fr-FR" sz="2000" b="1" dirty="0">
              <a:solidFill>
                <a:schemeClr val="bg1"/>
              </a:solidFill>
            </a:endParaRPr>
          </a:p>
        </p:txBody>
      </p:sp>
      <p:sp>
        <p:nvSpPr>
          <p:cNvPr id="4" name="Rectangle 3"/>
          <p:cNvSpPr/>
          <p:nvPr/>
        </p:nvSpPr>
        <p:spPr>
          <a:xfrm>
            <a:off x="35496" y="3284984"/>
            <a:ext cx="2789546" cy="400110"/>
          </a:xfrm>
          <a:prstGeom prst="rect">
            <a:avLst/>
          </a:prstGeom>
        </p:spPr>
        <p:txBody>
          <a:bodyPr wrap="none">
            <a:spAutoFit/>
          </a:bodyPr>
          <a:lstStyle/>
          <a:p>
            <a:r>
              <a:rPr lang="fr-FR" sz="2000" b="1" dirty="0">
                <a:solidFill>
                  <a:srgbClr val="FFFF00"/>
                </a:solidFill>
              </a:rPr>
              <a:t>Single </a:t>
            </a:r>
            <a:r>
              <a:rPr lang="fr-FR" sz="2000" b="1" dirty="0" err="1">
                <a:solidFill>
                  <a:srgbClr val="FFFF00"/>
                </a:solidFill>
              </a:rPr>
              <a:t>Sign</a:t>
            </a:r>
            <a:r>
              <a:rPr lang="fr-FR" sz="2000" b="1" dirty="0">
                <a:solidFill>
                  <a:srgbClr val="FFFF00"/>
                </a:solidFill>
              </a:rPr>
              <a:t> On (SSO)</a:t>
            </a:r>
          </a:p>
        </p:txBody>
      </p:sp>
      <p:sp>
        <p:nvSpPr>
          <p:cNvPr id="5" name="Rectangle 4"/>
          <p:cNvSpPr/>
          <p:nvPr/>
        </p:nvSpPr>
        <p:spPr>
          <a:xfrm>
            <a:off x="20062" y="3748970"/>
            <a:ext cx="1311578" cy="400110"/>
          </a:xfrm>
          <a:prstGeom prst="rect">
            <a:avLst/>
          </a:prstGeom>
        </p:spPr>
        <p:txBody>
          <a:bodyPr wrap="none">
            <a:spAutoFit/>
          </a:bodyPr>
          <a:lstStyle/>
          <a:p>
            <a:r>
              <a:rPr lang="fr-FR" sz="2000" b="1" dirty="0" err="1">
                <a:solidFill>
                  <a:srgbClr val="FFFF00"/>
                </a:solidFill>
              </a:rPr>
              <a:t>Kerberos</a:t>
            </a:r>
            <a:endParaRPr lang="fr-FR" sz="2000" b="1" dirty="0">
              <a:solidFill>
                <a:srgbClr val="FFFF00"/>
              </a:solidFill>
            </a:endParaRPr>
          </a:p>
        </p:txBody>
      </p:sp>
      <p:sp>
        <p:nvSpPr>
          <p:cNvPr id="6" name="Rectangle 5"/>
          <p:cNvSpPr/>
          <p:nvPr/>
        </p:nvSpPr>
        <p:spPr>
          <a:xfrm>
            <a:off x="-15595" y="4226312"/>
            <a:ext cx="9159595" cy="1938992"/>
          </a:xfrm>
          <a:prstGeom prst="rect">
            <a:avLst/>
          </a:prstGeom>
        </p:spPr>
        <p:txBody>
          <a:bodyPr wrap="square">
            <a:spAutoFit/>
          </a:bodyPr>
          <a:lstStyle/>
          <a:p>
            <a:pPr algn="just"/>
            <a:r>
              <a:rPr lang="fr-FR" sz="2000" b="1" dirty="0" err="1">
                <a:solidFill>
                  <a:srgbClr val="FFFF00"/>
                </a:solidFill>
              </a:rPr>
              <a:t>Tokenization</a:t>
            </a:r>
            <a:endParaRPr lang="fr-FR" sz="2000" b="1" dirty="0">
              <a:solidFill>
                <a:srgbClr val="FFFF00"/>
              </a:solidFill>
            </a:endParaRPr>
          </a:p>
          <a:p>
            <a:pPr algn="just"/>
            <a:r>
              <a:rPr lang="en-US" sz="2000" b="1" dirty="0">
                <a:solidFill>
                  <a:schemeClr val="bg1"/>
                </a:solidFill>
              </a:rPr>
              <a:t>Used  to protect sensitive information.  Information that would be highly valuable if compromised is replaced with a random token known  to the parties involved in the transaction. In a typically scenario once the tokens have been  established, only the token is sent out over an untrusted network.</a:t>
            </a:r>
            <a:endParaRPr lang="fr-FR" sz="2000" b="1" dirty="0">
              <a:solidFill>
                <a:schemeClr val="bg1"/>
              </a:solidFill>
            </a:endParaRPr>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426744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randombar(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33</a:t>
            </a:fld>
            <a:endParaRPr lang="fr-FR" dirty="0"/>
          </a:p>
        </p:txBody>
      </p:sp>
      <p:sp>
        <p:nvSpPr>
          <p:cNvPr id="14" name="ZoneTexte 13"/>
          <p:cNvSpPr txBox="1"/>
          <p:nvPr/>
        </p:nvSpPr>
        <p:spPr>
          <a:xfrm>
            <a:off x="50506" y="305733"/>
            <a:ext cx="1500198"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endParaRPr lang="fr-FR" dirty="0"/>
          </a:p>
        </p:txBody>
      </p:sp>
      <p:sp>
        <p:nvSpPr>
          <p:cNvPr id="15" name="ZoneTexte 14"/>
          <p:cNvSpPr txBox="1"/>
          <p:nvPr/>
        </p:nvSpPr>
        <p:spPr>
          <a:xfrm>
            <a:off x="3491880" y="305733"/>
            <a:ext cx="1939932"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Physical</a:t>
            </a:r>
            <a:r>
              <a:rPr lang="fr-FR" dirty="0">
                <a:solidFill>
                  <a:schemeClr val="bg1"/>
                </a:solidFill>
              </a:rPr>
              <a:t> Access</a:t>
            </a:r>
          </a:p>
        </p:txBody>
      </p:sp>
      <p:sp>
        <p:nvSpPr>
          <p:cNvPr id="16" name="ZoneTexte 15"/>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Network Access</a:t>
            </a:r>
          </a:p>
        </p:txBody>
      </p:sp>
      <p:sp>
        <p:nvSpPr>
          <p:cNvPr id="17" name="ZoneTexte 16"/>
          <p:cNvSpPr txBox="1"/>
          <p:nvPr/>
        </p:nvSpPr>
        <p:spPr>
          <a:xfrm>
            <a:off x="1652636"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
        <p:nvSpPr>
          <p:cNvPr id="7" name="Rectangle 6"/>
          <p:cNvSpPr/>
          <p:nvPr/>
        </p:nvSpPr>
        <p:spPr>
          <a:xfrm>
            <a:off x="2195736" y="1988840"/>
            <a:ext cx="3733714" cy="584775"/>
          </a:xfrm>
          <a:prstGeom prst="rect">
            <a:avLst/>
          </a:prstGeom>
        </p:spPr>
        <p:txBody>
          <a:bodyPr wrap="none">
            <a:spAutoFit/>
          </a:bodyPr>
          <a:lstStyle/>
          <a:p>
            <a:pPr algn="ctr"/>
            <a:r>
              <a:rPr lang="fr-FR" sz="3200" b="1" dirty="0" err="1">
                <a:solidFill>
                  <a:schemeClr val="bg1"/>
                </a:solidFill>
              </a:rPr>
              <a:t>who</a:t>
            </a:r>
            <a:r>
              <a:rPr lang="fr-FR" sz="3200" b="1" dirty="0">
                <a:solidFill>
                  <a:schemeClr val="bg1"/>
                </a:solidFill>
              </a:rPr>
              <a:t> </a:t>
            </a:r>
            <a:r>
              <a:rPr lang="fr-FR" sz="3200" b="1" dirty="0" err="1">
                <a:solidFill>
                  <a:schemeClr val="bg1"/>
                </a:solidFill>
              </a:rPr>
              <a:t>can</a:t>
            </a:r>
            <a:r>
              <a:rPr lang="fr-FR" sz="3200" b="1" dirty="0">
                <a:solidFill>
                  <a:schemeClr val="bg1"/>
                </a:solidFill>
              </a:rPr>
              <a:t> do </a:t>
            </a:r>
            <a:r>
              <a:rPr lang="fr-FR" sz="3200" b="1" dirty="0" err="1">
                <a:solidFill>
                  <a:schemeClr val="bg1"/>
                </a:solidFill>
              </a:rPr>
              <a:t>what</a:t>
            </a:r>
            <a:r>
              <a:rPr lang="fr-FR" sz="3200" b="1" dirty="0">
                <a:solidFill>
                  <a:schemeClr val="bg1"/>
                </a:solidFill>
              </a:rPr>
              <a:t>?</a:t>
            </a:r>
          </a:p>
        </p:txBody>
      </p:sp>
      <p:sp>
        <p:nvSpPr>
          <p:cNvPr id="18" name="Rectangle 17"/>
          <p:cNvSpPr/>
          <p:nvPr/>
        </p:nvSpPr>
        <p:spPr>
          <a:xfrm>
            <a:off x="2267744" y="1239802"/>
            <a:ext cx="3435556" cy="461665"/>
          </a:xfrm>
          <a:prstGeom prst="rect">
            <a:avLst/>
          </a:prstGeom>
        </p:spPr>
        <p:txBody>
          <a:bodyPr wrap="none">
            <a:spAutoFit/>
          </a:bodyPr>
          <a:lstStyle/>
          <a:p>
            <a:r>
              <a:rPr lang="fr-FR" sz="2400" b="1" dirty="0">
                <a:solidFill>
                  <a:srgbClr val="FFFF00"/>
                </a:solidFill>
              </a:rPr>
              <a:t>Access Control Matrix</a:t>
            </a:r>
          </a:p>
        </p:txBody>
      </p:sp>
    </p:spTree>
    <p:extLst>
      <p:ext uri="{BB962C8B-B14F-4D97-AF65-F5344CB8AC3E}">
        <p14:creationId xmlns:p14="http://schemas.microsoft.com/office/powerpoint/2010/main" val="1651711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16" y="620688"/>
            <a:ext cx="8909772" cy="6192688"/>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997968" y="88756"/>
            <a:ext cx="5454352" cy="1107996"/>
          </a:xfrm>
          <a:prstGeom prst="rect">
            <a:avLst/>
          </a:prstGeom>
        </p:spPr>
        <p:txBody>
          <a:bodyPr wrap="square">
            <a:spAutoFit/>
          </a:bodyPr>
          <a:lstStyle/>
          <a:p>
            <a:pPr lvl="0"/>
            <a:r>
              <a:rPr lang="fr-FR" sz="6600" b="1" dirty="0">
                <a:solidFill>
                  <a:srgbClr val="FFFF00"/>
                </a:solidFill>
              </a:rPr>
              <a:t>OS Security</a:t>
            </a:r>
          </a:p>
        </p:txBody>
      </p:sp>
    </p:spTree>
    <p:extLst>
      <p:ext uri="{BB962C8B-B14F-4D97-AF65-F5344CB8AC3E}">
        <p14:creationId xmlns:p14="http://schemas.microsoft.com/office/powerpoint/2010/main" val="1239941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35</a:t>
            </a:fld>
            <a:endParaRPr lang="fr-FR" dirty="0"/>
          </a:p>
        </p:txBody>
      </p:sp>
      <p:sp>
        <p:nvSpPr>
          <p:cNvPr id="2" name="Rectangle 1"/>
          <p:cNvSpPr/>
          <p:nvPr/>
        </p:nvSpPr>
        <p:spPr>
          <a:xfrm>
            <a:off x="35496" y="832058"/>
            <a:ext cx="8784976" cy="5909310"/>
          </a:xfrm>
          <a:prstGeom prst="rect">
            <a:avLst/>
          </a:prstGeom>
        </p:spPr>
        <p:txBody>
          <a:bodyPr wrap="square">
            <a:spAutoFit/>
          </a:bodyPr>
          <a:lstStyle/>
          <a:p>
            <a:pPr algn="just">
              <a:lnSpc>
                <a:spcPct val="150000"/>
              </a:lnSpc>
            </a:pPr>
            <a:r>
              <a:rPr lang="en-US" dirty="0">
                <a:solidFill>
                  <a:schemeClr val="bg1"/>
                </a:solidFill>
              </a:rPr>
              <a:t>Computer programs are not trustworthy in general Software may be grouped into three categories of trust: </a:t>
            </a:r>
          </a:p>
          <a:p>
            <a:pPr algn="just">
              <a:lnSpc>
                <a:spcPct val="150000"/>
              </a:lnSpc>
            </a:pPr>
            <a:r>
              <a:rPr lang="en-US" b="1" dirty="0">
                <a:solidFill>
                  <a:srgbClr val="66FF33"/>
                </a:solidFill>
              </a:rPr>
              <a:t>Trusted: </a:t>
            </a:r>
            <a:r>
              <a:rPr lang="en-US" dirty="0">
                <a:solidFill>
                  <a:schemeClr val="bg1"/>
                </a:solidFill>
              </a:rPr>
              <a:t>The software is responsible for enforcing security </a:t>
            </a:r>
          </a:p>
          <a:p>
            <a:pPr algn="just">
              <a:lnSpc>
                <a:spcPct val="150000"/>
              </a:lnSpc>
            </a:pPr>
            <a:r>
              <a:rPr lang="en-US" b="1" dirty="0">
                <a:solidFill>
                  <a:srgbClr val="FFC000"/>
                </a:solidFill>
              </a:rPr>
              <a:t>Benign</a:t>
            </a:r>
            <a:r>
              <a:rPr lang="en-US" dirty="0">
                <a:solidFill>
                  <a:schemeClr val="bg1"/>
                </a:solidFill>
              </a:rPr>
              <a:t>: The software is not responsible for enforcing security but uses special privileges, so it must be trusted not to violate the rules intentionally</a:t>
            </a:r>
          </a:p>
          <a:p>
            <a:pPr algn="just">
              <a:lnSpc>
                <a:spcPct val="150000"/>
              </a:lnSpc>
            </a:pPr>
            <a:r>
              <a:rPr lang="en-US" b="1" dirty="0">
                <a:solidFill>
                  <a:srgbClr val="FF0000"/>
                </a:solidFill>
              </a:rPr>
              <a:t>Malicious: </a:t>
            </a:r>
            <a:r>
              <a:rPr lang="en-US" dirty="0">
                <a:solidFill>
                  <a:schemeClr val="bg1"/>
                </a:solidFill>
              </a:rPr>
              <a:t>The software is of unknown origin and must be treated as malicious and likely to attempt actively to subvert the system</a:t>
            </a:r>
          </a:p>
          <a:p>
            <a:pPr algn="just">
              <a:lnSpc>
                <a:spcPct val="150000"/>
              </a:lnSpc>
            </a:pPr>
            <a:r>
              <a:rPr lang="en-US" b="1" dirty="0">
                <a:solidFill>
                  <a:srgbClr val="FFFF00"/>
                </a:solidFill>
              </a:rPr>
              <a:t>Classifying software</a:t>
            </a:r>
          </a:p>
          <a:p>
            <a:pPr algn="just">
              <a:lnSpc>
                <a:spcPct val="150000"/>
              </a:lnSpc>
            </a:pPr>
            <a:r>
              <a:rPr lang="en-US" dirty="0">
                <a:solidFill>
                  <a:schemeClr val="bg1"/>
                </a:solidFill>
              </a:rPr>
              <a:t>Most software is benign, whether it is written by a good or an incompetent programmer </a:t>
            </a:r>
          </a:p>
          <a:p>
            <a:pPr algn="just">
              <a:lnSpc>
                <a:spcPct val="150000"/>
              </a:lnSpc>
            </a:pPr>
            <a:r>
              <a:rPr lang="en-US" dirty="0">
                <a:solidFill>
                  <a:schemeClr val="bg1"/>
                </a:solidFill>
              </a:rPr>
              <a:t>Software is often not trusted, because it is not responsible for enforcing security of the system</a:t>
            </a:r>
          </a:p>
          <a:p>
            <a:pPr algn="just">
              <a:lnSpc>
                <a:spcPct val="150000"/>
              </a:lnSpc>
            </a:pPr>
            <a:r>
              <a:rPr lang="en-US" dirty="0">
                <a:solidFill>
                  <a:schemeClr val="bg1"/>
                </a:solidFill>
              </a:rPr>
              <a:t>In environments with extremely sensitive information the benign and malicious software are assigned to a single group: untrusted</a:t>
            </a:r>
            <a:endParaRPr lang="fr-FR" dirty="0">
              <a:solidFill>
                <a:schemeClr val="bg1"/>
              </a:solidFill>
            </a:endParaRPr>
          </a:p>
        </p:txBody>
      </p:sp>
      <p:sp>
        <p:nvSpPr>
          <p:cNvPr id="11" name="ZoneTexte 10"/>
          <p:cNvSpPr txBox="1"/>
          <p:nvPr/>
        </p:nvSpPr>
        <p:spPr>
          <a:xfrm>
            <a:off x="50506" y="305733"/>
            <a:ext cx="1602130"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9" name="ZoneTexte 18"/>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0" name="ZoneTexte 19"/>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1" name="ZoneTexte 20"/>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2116486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36</a:t>
            </a:fld>
            <a:endParaRPr lang="fr-FR" dirty="0"/>
          </a:p>
        </p:txBody>
      </p:sp>
      <p:sp>
        <p:nvSpPr>
          <p:cNvPr id="2" name="Rectangle 1"/>
          <p:cNvSpPr/>
          <p:nvPr/>
        </p:nvSpPr>
        <p:spPr>
          <a:xfrm>
            <a:off x="35496" y="1113440"/>
            <a:ext cx="7992888" cy="2308324"/>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Why need security at the OS level?</a:t>
            </a:r>
          </a:p>
          <a:p>
            <a:pPr algn="just"/>
            <a:r>
              <a:rPr lang="en-US" dirty="0">
                <a:solidFill>
                  <a:schemeClr val="bg1"/>
                </a:solidFill>
              </a:rPr>
              <a:t>• No more standalone computer system environments.</a:t>
            </a:r>
          </a:p>
          <a:p>
            <a:pPr algn="just"/>
            <a:r>
              <a:rPr lang="en-US" dirty="0">
                <a:solidFill>
                  <a:schemeClr val="bg1"/>
                </a:solidFill>
              </a:rPr>
              <a:t>• Any system can be globally accessible through a set of vast inter and intra-network connections.</a:t>
            </a:r>
          </a:p>
          <a:p>
            <a:pPr algn="just"/>
            <a:r>
              <a:rPr lang="en-US" dirty="0">
                <a:solidFill>
                  <a:schemeClr val="bg1"/>
                </a:solidFill>
              </a:rPr>
              <a:t>• Transition motivated by the need to work remotely,</a:t>
            </a:r>
          </a:p>
          <a:p>
            <a:pPr algn="just"/>
            <a:r>
              <a:rPr lang="en-US" dirty="0">
                <a:solidFill>
                  <a:schemeClr val="bg1"/>
                </a:solidFill>
              </a:rPr>
              <a:t>    – convenience in accessing personal records, online shopping etc.</a:t>
            </a:r>
          </a:p>
          <a:p>
            <a:pPr algn="just"/>
            <a:r>
              <a:rPr lang="en-US" dirty="0">
                <a:solidFill>
                  <a:schemeClr val="bg1"/>
                </a:solidFill>
              </a:rPr>
              <a:t>• A single security loophole in the OS design and implementation known to a malicious attacker could do serious damage.</a:t>
            </a:r>
          </a:p>
        </p:txBody>
      </p:sp>
      <p:sp>
        <p:nvSpPr>
          <p:cNvPr id="5" name="Rectangle 4"/>
          <p:cNvSpPr/>
          <p:nvPr/>
        </p:nvSpPr>
        <p:spPr>
          <a:xfrm>
            <a:off x="35496" y="3599188"/>
            <a:ext cx="8786242" cy="2585323"/>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Security in Operating System</a:t>
            </a:r>
          </a:p>
          <a:p>
            <a:pPr algn="just"/>
            <a:r>
              <a:rPr lang="en-US" dirty="0">
                <a:solidFill>
                  <a:schemeClr val="bg1"/>
                </a:solidFill>
              </a:rPr>
              <a:t>• Security refers to providing a protection system to computer system resources such as:</a:t>
            </a:r>
          </a:p>
          <a:p>
            <a:pPr algn="just"/>
            <a:r>
              <a:rPr lang="en-US" dirty="0">
                <a:solidFill>
                  <a:schemeClr val="bg1"/>
                </a:solidFill>
              </a:rPr>
              <a:t>– CPU, memory, disk </a:t>
            </a:r>
          </a:p>
          <a:p>
            <a:pPr algn="just"/>
            <a:r>
              <a:rPr lang="en-US" dirty="0">
                <a:solidFill>
                  <a:schemeClr val="bg1"/>
                </a:solidFill>
              </a:rPr>
              <a:t>– software programs and </a:t>
            </a:r>
          </a:p>
          <a:p>
            <a:pPr algn="just"/>
            <a:r>
              <a:rPr lang="en-US" dirty="0">
                <a:solidFill>
                  <a:schemeClr val="bg1"/>
                </a:solidFill>
              </a:rPr>
              <a:t>– most importantly data/information stored in the computer system. </a:t>
            </a:r>
          </a:p>
          <a:p>
            <a:pPr algn="just"/>
            <a:r>
              <a:rPr lang="en-US" dirty="0">
                <a:solidFill>
                  <a:schemeClr val="bg1"/>
                </a:solidFill>
              </a:rPr>
              <a:t>• So a computer system must be protected against</a:t>
            </a:r>
          </a:p>
          <a:p>
            <a:pPr algn="just"/>
            <a:r>
              <a:rPr lang="en-US" dirty="0">
                <a:solidFill>
                  <a:schemeClr val="bg1"/>
                </a:solidFill>
              </a:rPr>
              <a:t>– unauthorized access by users and </a:t>
            </a:r>
          </a:p>
          <a:p>
            <a:pPr algn="just"/>
            <a:r>
              <a:rPr lang="en-US" dirty="0">
                <a:solidFill>
                  <a:schemeClr val="bg1"/>
                </a:solidFill>
              </a:rPr>
              <a:t>– malicious access to system including viruses, worms etc…</a:t>
            </a:r>
            <a:endParaRPr lang="fr-FR" dirty="0">
              <a:solidFill>
                <a:schemeClr val="bg1"/>
              </a:solidFill>
            </a:endParaRPr>
          </a:p>
        </p:txBody>
      </p:sp>
      <p:sp>
        <p:nvSpPr>
          <p:cNvPr id="19" name="ZoneTexte 18"/>
          <p:cNvSpPr txBox="1"/>
          <p:nvPr/>
        </p:nvSpPr>
        <p:spPr>
          <a:xfrm>
            <a:off x="50506" y="305733"/>
            <a:ext cx="1602130"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20" name="ZoneTexte 19"/>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1" name="ZoneTexte 20"/>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2" name="ZoneTexte 21"/>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25527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37</a:t>
            </a:fld>
            <a:endParaRPr lang="fr-FR" dirty="0"/>
          </a:p>
        </p:txBody>
      </p:sp>
      <p:sp>
        <p:nvSpPr>
          <p:cNvPr id="14" name="ZoneTexte 13"/>
          <p:cNvSpPr txBox="1"/>
          <p:nvPr/>
        </p:nvSpPr>
        <p:spPr>
          <a:xfrm>
            <a:off x="50506" y="305733"/>
            <a:ext cx="1602130" cy="408623"/>
          </a:xfrm>
          <a:prstGeom prst="flowChartAlternateProcess">
            <a:avLst/>
          </a:prstGeom>
          <a:solidFill>
            <a:srgbClr val="FF33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5" name="ZoneTexte 14"/>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16" name="ZoneTexte 15"/>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17" name="ZoneTexte 16"/>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
        <p:nvSpPr>
          <p:cNvPr id="2" name="Rectangle 1"/>
          <p:cNvSpPr/>
          <p:nvPr/>
        </p:nvSpPr>
        <p:spPr>
          <a:xfrm>
            <a:off x="35496" y="1124744"/>
            <a:ext cx="7992888" cy="4801314"/>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OS vulnerabilities?</a:t>
            </a:r>
          </a:p>
          <a:p>
            <a:pPr algn="just"/>
            <a:r>
              <a:rPr lang="en-US" dirty="0">
                <a:solidFill>
                  <a:schemeClr val="bg1"/>
                </a:solidFill>
              </a:rPr>
              <a:t>• Physical : Computer can be stolen</a:t>
            </a:r>
          </a:p>
          <a:p>
            <a:pPr algn="just"/>
            <a:r>
              <a:rPr lang="en-US" dirty="0">
                <a:solidFill>
                  <a:schemeClr val="bg1"/>
                </a:solidFill>
              </a:rPr>
              <a:t>• Natural : Earthquake</a:t>
            </a:r>
          </a:p>
          <a:p>
            <a:pPr algn="just"/>
            <a:r>
              <a:rPr lang="en-US" dirty="0">
                <a:solidFill>
                  <a:schemeClr val="bg1"/>
                </a:solidFill>
              </a:rPr>
              <a:t>• Hardware and Software : Failures</a:t>
            </a:r>
          </a:p>
          <a:p>
            <a:pPr algn="just"/>
            <a:r>
              <a:rPr lang="en-US" dirty="0">
                <a:solidFill>
                  <a:schemeClr val="bg1"/>
                </a:solidFill>
              </a:rPr>
              <a:t>• Media : Hard disks can be stolen</a:t>
            </a:r>
          </a:p>
          <a:p>
            <a:pPr algn="just"/>
            <a:r>
              <a:rPr lang="en-US" dirty="0">
                <a:solidFill>
                  <a:schemeClr val="bg1"/>
                </a:solidFill>
              </a:rPr>
              <a:t>• Communication : Wires can be tapped</a:t>
            </a:r>
          </a:p>
          <a:p>
            <a:pPr algn="just"/>
            <a:r>
              <a:rPr lang="en-US" dirty="0">
                <a:solidFill>
                  <a:schemeClr val="bg1"/>
                </a:solidFill>
              </a:rPr>
              <a:t>• Human : Insiders</a:t>
            </a:r>
          </a:p>
          <a:p>
            <a:pPr algn="just"/>
            <a:r>
              <a:rPr lang="en-US" dirty="0">
                <a:solidFill>
                  <a:schemeClr val="bg1"/>
                </a:solidFill>
              </a:rPr>
              <a:t>• Poorly chosen passwords</a:t>
            </a:r>
          </a:p>
          <a:p>
            <a:pPr algn="just"/>
            <a:r>
              <a:rPr lang="en-US" dirty="0">
                <a:solidFill>
                  <a:schemeClr val="bg1"/>
                </a:solidFill>
              </a:rPr>
              <a:t>• Software bugs (non reliability of software)</a:t>
            </a:r>
          </a:p>
          <a:p>
            <a:pPr algn="just"/>
            <a:r>
              <a:rPr lang="en-US" dirty="0">
                <a:solidFill>
                  <a:schemeClr val="bg1"/>
                </a:solidFill>
              </a:rPr>
              <a:t>• Automatically running active content: active-x, scripts, Java programs (applet)</a:t>
            </a:r>
          </a:p>
          <a:p>
            <a:pPr algn="just"/>
            <a:r>
              <a:rPr lang="en-US" dirty="0">
                <a:solidFill>
                  <a:schemeClr val="bg1"/>
                </a:solidFill>
              </a:rPr>
              <a:t>• Open ports: telnet, mail</a:t>
            </a:r>
          </a:p>
          <a:p>
            <a:pPr algn="just"/>
            <a:r>
              <a:rPr lang="en-US" dirty="0">
                <a:solidFill>
                  <a:schemeClr val="bg1"/>
                </a:solidFill>
              </a:rPr>
              <a:t>• Incorrect configuration:– file permissions – administrative privileges</a:t>
            </a:r>
          </a:p>
          <a:p>
            <a:pPr algn="just"/>
            <a:r>
              <a:rPr lang="en-US" dirty="0">
                <a:solidFill>
                  <a:schemeClr val="bg1"/>
                </a:solidFill>
              </a:rPr>
              <a:t>• Untrained users/system administrators</a:t>
            </a:r>
          </a:p>
          <a:p>
            <a:pPr algn="just"/>
            <a:r>
              <a:rPr lang="en-US" dirty="0">
                <a:solidFill>
                  <a:schemeClr val="bg1"/>
                </a:solidFill>
              </a:rPr>
              <a:t>• Trap doors (intentional security holes)</a:t>
            </a:r>
          </a:p>
          <a:p>
            <a:pPr algn="just"/>
            <a:r>
              <a:rPr lang="en-US" dirty="0">
                <a:solidFill>
                  <a:schemeClr val="bg1"/>
                </a:solidFill>
              </a:rPr>
              <a:t>• Unencrypted communication</a:t>
            </a:r>
          </a:p>
          <a:p>
            <a:pPr algn="just"/>
            <a:r>
              <a:rPr lang="en-US" dirty="0">
                <a:solidFill>
                  <a:schemeClr val="bg1"/>
                </a:solidFill>
              </a:rPr>
              <a:t>• Limited Resources (i.e. TCP connections)</a:t>
            </a:r>
          </a:p>
        </p:txBody>
      </p:sp>
    </p:spTree>
    <p:extLst>
      <p:ext uri="{BB962C8B-B14F-4D97-AF65-F5344CB8AC3E}">
        <p14:creationId xmlns:p14="http://schemas.microsoft.com/office/powerpoint/2010/main" val="122611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38</a:t>
            </a:fld>
            <a:endParaRPr lang="fr-FR" dirty="0"/>
          </a:p>
        </p:txBody>
      </p:sp>
      <p:sp>
        <p:nvSpPr>
          <p:cNvPr id="4" name="Rectangle 3"/>
          <p:cNvSpPr/>
          <p:nvPr/>
        </p:nvSpPr>
        <p:spPr>
          <a:xfrm>
            <a:off x="0" y="894199"/>
            <a:ext cx="8887721" cy="2246769"/>
          </a:xfrm>
          <a:prstGeom prst="rect">
            <a:avLst/>
          </a:prstGeom>
        </p:spPr>
        <p:txBody>
          <a:bodyPr wrap="square">
            <a:spAutoFit/>
          </a:bodyPr>
          <a:lstStyle/>
          <a:p>
            <a:pPr algn="just"/>
            <a:r>
              <a:rPr lang="en-US" sz="2000" b="1" dirty="0">
                <a:solidFill>
                  <a:srgbClr val="FFFF00"/>
                </a:solidFill>
              </a:rPr>
              <a:t>Principles of Operating System Security</a:t>
            </a:r>
          </a:p>
          <a:p>
            <a:pPr marL="285750" indent="-285750" algn="just">
              <a:buFont typeface="Wingdings" pitchFamily="2" charset="2"/>
              <a:buChar char="Ø"/>
            </a:pPr>
            <a:r>
              <a:rPr lang="en-US" sz="2000" b="1" dirty="0">
                <a:solidFill>
                  <a:schemeClr val="bg1"/>
                </a:solidFill>
              </a:rPr>
              <a:t>Least Privilege</a:t>
            </a:r>
          </a:p>
          <a:p>
            <a:pPr marL="285750" indent="-285750" algn="just">
              <a:buFont typeface="Wingdings" pitchFamily="2" charset="2"/>
              <a:buChar char="Ø"/>
            </a:pPr>
            <a:r>
              <a:rPr lang="en-US" sz="2000" b="1" dirty="0">
                <a:solidFill>
                  <a:schemeClr val="bg1"/>
                </a:solidFill>
              </a:rPr>
              <a:t>Defense in Depth</a:t>
            </a:r>
          </a:p>
          <a:p>
            <a:pPr marL="285750" indent="-285750" algn="just">
              <a:buFont typeface="Wingdings" pitchFamily="2" charset="2"/>
              <a:buChar char="Ø"/>
            </a:pPr>
            <a:r>
              <a:rPr lang="en-US" sz="2000" b="1" dirty="0">
                <a:solidFill>
                  <a:schemeClr val="bg1"/>
                </a:solidFill>
              </a:rPr>
              <a:t>Fail-Safe Defaults</a:t>
            </a:r>
          </a:p>
          <a:p>
            <a:pPr marL="285750" indent="-285750" algn="just">
              <a:buFont typeface="Wingdings" pitchFamily="2" charset="2"/>
              <a:buChar char="Ø"/>
            </a:pPr>
            <a:r>
              <a:rPr lang="en-US" sz="2000" b="1" dirty="0">
                <a:solidFill>
                  <a:schemeClr val="bg1"/>
                </a:solidFill>
              </a:rPr>
              <a:t>Economy of Mechanism</a:t>
            </a:r>
          </a:p>
          <a:p>
            <a:pPr marL="285750" indent="-285750" algn="just">
              <a:buFont typeface="Wingdings" pitchFamily="2" charset="2"/>
              <a:buChar char="Ø"/>
            </a:pPr>
            <a:r>
              <a:rPr lang="en-US" sz="2000" b="1" dirty="0">
                <a:solidFill>
                  <a:schemeClr val="bg1"/>
                </a:solidFill>
              </a:rPr>
              <a:t>Complete Mediation</a:t>
            </a:r>
          </a:p>
          <a:p>
            <a:pPr algn="just"/>
            <a:endParaRPr lang="en-US" sz="2000" dirty="0">
              <a:solidFill>
                <a:schemeClr val="bg1"/>
              </a:solidFill>
            </a:endParaRPr>
          </a:p>
        </p:txBody>
      </p:sp>
      <p:sp>
        <p:nvSpPr>
          <p:cNvPr id="5" name="Rectangle 4"/>
          <p:cNvSpPr/>
          <p:nvPr/>
        </p:nvSpPr>
        <p:spPr>
          <a:xfrm>
            <a:off x="-9876" y="2693819"/>
            <a:ext cx="9046372" cy="2031325"/>
          </a:xfrm>
          <a:prstGeom prst="rect">
            <a:avLst/>
          </a:prstGeom>
        </p:spPr>
        <p:txBody>
          <a:bodyPr wrap="square">
            <a:spAutoFit/>
          </a:bodyPr>
          <a:lstStyle/>
          <a:p>
            <a:pPr algn="just"/>
            <a:endParaRPr lang="en-US" b="1" dirty="0">
              <a:solidFill>
                <a:srgbClr val="FFFF00"/>
              </a:solidFill>
            </a:endParaRPr>
          </a:p>
          <a:p>
            <a:pPr algn="just"/>
            <a:r>
              <a:rPr lang="en-US" dirty="0">
                <a:solidFill>
                  <a:schemeClr val="bg1"/>
                </a:solidFill>
              </a:rPr>
              <a:t>• This principle emphasizes the importance of defaulting to a secure state in case of errors or unexpected situations.</a:t>
            </a:r>
          </a:p>
          <a:p>
            <a:pPr algn="just"/>
            <a:r>
              <a:rPr lang="en-US" dirty="0">
                <a:solidFill>
                  <a:schemeClr val="bg1"/>
                </a:solidFill>
              </a:rPr>
              <a:t>• Access decisions should deny by default, and permissions should be explicitly granted only when necessary.</a:t>
            </a:r>
          </a:p>
          <a:p>
            <a:pPr algn="just"/>
            <a:r>
              <a:rPr lang="en-US" dirty="0">
                <a:solidFill>
                  <a:schemeClr val="bg1"/>
                </a:solidFill>
              </a:rPr>
              <a:t>• This approach ensures that security is maintained even in the event of system failures or misconfigurations.</a:t>
            </a:r>
            <a:endParaRPr lang="fr-FR" dirty="0">
              <a:solidFill>
                <a:schemeClr val="bg1"/>
              </a:solidFill>
            </a:endParaRPr>
          </a:p>
        </p:txBody>
      </p:sp>
      <p:sp>
        <p:nvSpPr>
          <p:cNvPr id="6" name="Rectangle 5"/>
          <p:cNvSpPr/>
          <p:nvPr/>
        </p:nvSpPr>
        <p:spPr>
          <a:xfrm>
            <a:off x="32053" y="3140968"/>
            <a:ext cx="8985990" cy="2031325"/>
          </a:xfrm>
          <a:prstGeom prst="rect">
            <a:avLst/>
          </a:prstGeom>
        </p:spPr>
        <p:txBody>
          <a:bodyPr wrap="square">
            <a:spAutoFit/>
          </a:bodyPr>
          <a:lstStyle/>
          <a:p>
            <a:pPr algn="just"/>
            <a:r>
              <a:rPr lang="en-US" dirty="0">
                <a:solidFill>
                  <a:schemeClr val="bg1"/>
                </a:solidFill>
              </a:rPr>
              <a:t>• Security mechanisms should be designed with simplicity and </a:t>
            </a:r>
            <a:r>
              <a:rPr lang="en-US" dirty="0" err="1">
                <a:solidFill>
                  <a:schemeClr val="bg1"/>
                </a:solidFill>
              </a:rPr>
              <a:t>minimality</a:t>
            </a:r>
            <a:r>
              <a:rPr lang="en-US" dirty="0">
                <a:solidFill>
                  <a:schemeClr val="bg1"/>
                </a:solidFill>
              </a:rPr>
              <a:t> in mind. </a:t>
            </a:r>
          </a:p>
          <a:p>
            <a:pPr algn="just"/>
            <a:r>
              <a:rPr lang="en-US" dirty="0">
                <a:solidFill>
                  <a:schemeClr val="bg1"/>
                </a:solidFill>
              </a:rPr>
              <a:t>• Complex systems are inherently more difficult to secure due to increased potential for vulnerabilities and unforeseen interactions. </a:t>
            </a:r>
          </a:p>
          <a:p>
            <a:pPr algn="just"/>
            <a:r>
              <a:rPr lang="en-US" dirty="0">
                <a:solidFill>
                  <a:schemeClr val="bg1"/>
                </a:solidFill>
              </a:rPr>
              <a:t>• A simpler design facilitates easier understanding, implementation, and verification of security properties. • For instance, a straightforward access control model is easier to audit and maintain compared to a convoluted system with numerous exceptions and special cases</a:t>
            </a:r>
            <a:endParaRPr lang="fr-FR" dirty="0">
              <a:solidFill>
                <a:schemeClr val="bg1"/>
              </a:solidFill>
            </a:endParaRPr>
          </a:p>
        </p:txBody>
      </p:sp>
      <p:sp>
        <p:nvSpPr>
          <p:cNvPr id="7" name="Rectangle 6"/>
          <p:cNvSpPr/>
          <p:nvPr/>
        </p:nvSpPr>
        <p:spPr>
          <a:xfrm>
            <a:off x="50507" y="3114834"/>
            <a:ext cx="8837214" cy="1754326"/>
          </a:xfrm>
          <a:prstGeom prst="rect">
            <a:avLst/>
          </a:prstGeom>
        </p:spPr>
        <p:txBody>
          <a:bodyPr wrap="square">
            <a:spAutoFit/>
          </a:bodyPr>
          <a:lstStyle/>
          <a:p>
            <a:pPr algn="just"/>
            <a:r>
              <a:rPr lang="en-US" dirty="0">
                <a:solidFill>
                  <a:schemeClr val="bg1"/>
                </a:solidFill>
              </a:rPr>
              <a:t>This principle mandates that every access attempt to any resource must be verified for authorization. • This prevents attackers from circumventing security controls and gaining unauthorized access to sensitive information. • Complete mediation requires continuous monitoring and enforcement of access control policies. • For example, even if a user has previously accessed a file, the system should revalidate their permissions every time they attempt to access it again</a:t>
            </a:r>
            <a:endParaRPr lang="fr-FR" dirty="0">
              <a:solidFill>
                <a:schemeClr val="bg1"/>
              </a:solidFill>
            </a:endParaRPr>
          </a:p>
        </p:txBody>
      </p:sp>
      <p:sp>
        <p:nvSpPr>
          <p:cNvPr id="8" name="Rectangle 7"/>
          <p:cNvSpPr/>
          <p:nvPr/>
        </p:nvSpPr>
        <p:spPr>
          <a:xfrm>
            <a:off x="117036" y="5517232"/>
            <a:ext cx="4961615" cy="369332"/>
          </a:xfrm>
          <a:prstGeom prst="rect">
            <a:avLst/>
          </a:prstGeom>
          <a:solidFill>
            <a:srgbClr val="FF9900"/>
          </a:solidFill>
        </p:spPr>
        <p:style>
          <a:lnRef idx="1">
            <a:schemeClr val="accent1"/>
          </a:lnRef>
          <a:fillRef idx="3">
            <a:schemeClr val="accent1"/>
          </a:fillRef>
          <a:effectRef idx="2">
            <a:schemeClr val="accent1"/>
          </a:effectRef>
          <a:fontRef idx="minor">
            <a:schemeClr val="lt1"/>
          </a:fontRef>
        </p:style>
        <p:txBody>
          <a:bodyPr wrap="none">
            <a:spAutoFit/>
          </a:bodyPr>
          <a:lstStyle/>
          <a:p>
            <a:pPr marL="285750" indent="-285750">
              <a:buBlip>
                <a:blip r:embed="rId3"/>
              </a:buBlip>
            </a:pPr>
            <a:r>
              <a:rPr lang="fr-FR" b="1" u="sng" dirty="0" err="1">
                <a:solidFill>
                  <a:schemeClr val="bg1"/>
                </a:solidFill>
              </a:rPr>
              <a:t>Saltzer</a:t>
            </a:r>
            <a:r>
              <a:rPr lang="fr-FR" b="1" u="sng" dirty="0">
                <a:solidFill>
                  <a:schemeClr val="bg1"/>
                </a:solidFill>
              </a:rPr>
              <a:t> &amp; </a:t>
            </a:r>
            <a:r>
              <a:rPr lang="fr-FR" b="1" u="sng" dirty="0" err="1">
                <a:solidFill>
                  <a:schemeClr val="bg1"/>
                </a:solidFill>
              </a:rPr>
              <a:t>Schroeder’s</a:t>
            </a:r>
            <a:r>
              <a:rPr lang="fr-FR" b="1" u="sng" dirty="0">
                <a:solidFill>
                  <a:schemeClr val="bg1"/>
                </a:solidFill>
              </a:rPr>
              <a:t> </a:t>
            </a:r>
            <a:r>
              <a:rPr lang="fr-FR" b="1" u="sng" dirty="0" err="1">
                <a:solidFill>
                  <a:schemeClr val="bg1"/>
                </a:solidFill>
              </a:rPr>
              <a:t>security</a:t>
            </a:r>
            <a:r>
              <a:rPr lang="fr-FR" b="1" u="sng" dirty="0">
                <a:solidFill>
                  <a:schemeClr val="bg1"/>
                </a:solidFill>
              </a:rPr>
              <a:t> </a:t>
            </a:r>
            <a:r>
              <a:rPr lang="fr-FR" b="1" u="sng" dirty="0" err="1">
                <a:solidFill>
                  <a:schemeClr val="bg1"/>
                </a:solidFill>
              </a:rPr>
              <a:t>principles</a:t>
            </a:r>
            <a:endParaRPr lang="fr-FR" b="1" u="sng" dirty="0">
              <a:solidFill>
                <a:schemeClr val="bg1"/>
              </a:solidFill>
            </a:endParaRPr>
          </a:p>
        </p:txBody>
      </p:sp>
      <p:sp>
        <p:nvSpPr>
          <p:cNvPr id="18" name="ZoneTexte 17"/>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9" name="ZoneTexte 18"/>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0" name="ZoneTexte 19"/>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1" name="ZoneTexte 20"/>
          <p:cNvSpPr txBox="1"/>
          <p:nvPr/>
        </p:nvSpPr>
        <p:spPr>
          <a:xfrm>
            <a:off x="1724644"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12024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childTnLst>
                                    <p:animClr clrSpc="rgb" dir="cw">
                                      <p:cBhvr override="childStyle">
                                        <p:cTn id="12" dur="2000" fill="hold"/>
                                        <p:tgtEl>
                                          <p:spTgt spid="4">
                                            <p:txEl>
                                              <p:pRg st="1" end="1"/>
                                            </p:txEl>
                                          </p:spTgt>
                                        </p:tgtEl>
                                        <p:attrNameLst>
                                          <p:attrName>style.color</p:attrName>
                                        </p:attrNameLst>
                                      </p:cBhvr>
                                      <p:to>
                                        <a:srgbClr val="FFFF00"/>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2000" fill="hold"/>
                                        <p:tgtEl>
                                          <p:spTgt spid="4">
                                            <p:txEl>
                                              <p:pRg st="2" end="2"/>
                                            </p:txEl>
                                          </p:spTgt>
                                        </p:tgtEl>
                                        <p:attrNameLst>
                                          <p:attrName>style.color</p:attrName>
                                        </p:attrNameLst>
                                      </p:cBhvr>
                                      <p:to>
                                        <a:srgbClr val="FFFF00"/>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nodeType="clickEffect">
                                  <p:stCondLst>
                                    <p:cond delay="0"/>
                                  </p:stCondLst>
                                  <p:childTnLst>
                                    <p:animClr clrSpc="rgb" dir="cw">
                                      <p:cBhvr override="childStyle">
                                        <p:cTn id="20" dur="2000" fill="hold"/>
                                        <p:tgtEl>
                                          <p:spTgt spid="4">
                                            <p:txEl>
                                              <p:pRg st="3" end="3"/>
                                            </p:txEl>
                                          </p:spTgt>
                                        </p:tgtEl>
                                        <p:attrNameLst>
                                          <p:attrName>style.color</p:attrName>
                                        </p:attrNameLst>
                                      </p:cBhvr>
                                      <p:to>
                                        <a:srgbClr val="FFFF00"/>
                                      </p:to>
                                    </p:animClr>
                                  </p:childTnLst>
                                </p:cTn>
                              </p:par>
                            </p:childTnLst>
                          </p:cTn>
                        </p:par>
                        <p:par>
                          <p:cTn id="21" fill="hold">
                            <p:stCondLst>
                              <p:cond delay="2000"/>
                            </p:stCondLst>
                            <p:childTnLst>
                              <p:par>
                                <p:cTn id="22" presetID="16" presetClass="entr" presetSubtype="21"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par>
                          <p:cTn id="30" fill="hold">
                            <p:stCondLst>
                              <p:cond delay="500"/>
                            </p:stCondLst>
                            <p:childTnLst>
                              <p:par>
                                <p:cTn id="31" presetID="3" presetClass="emph" presetSubtype="2" fill="hold" nodeType="afterEffect">
                                  <p:stCondLst>
                                    <p:cond delay="0"/>
                                  </p:stCondLst>
                                  <p:childTnLst>
                                    <p:animClr clrSpc="rgb" dir="cw">
                                      <p:cBhvr override="childStyle">
                                        <p:cTn id="32" dur="2000" fill="hold"/>
                                        <p:tgtEl>
                                          <p:spTgt spid="4">
                                            <p:txEl>
                                              <p:pRg st="4" end="4"/>
                                            </p:txEl>
                                          </p:spTgt>
                                        </p:tgtEl>
                                        <p:attrNameLst>
                                          <p:attrName>style.color</p:attrName>
                                        </p:attrNameLst>
                                      </p:cBhvr>
                                      <p:to>
                                        <a:srgbClr val="FFFF00"/>
                                      </p:to>
                                    </p:animClr>
                                  </p:childTnLst>
                                </p:cTn>
                              </p:par>
                            </p:childTnLst>
                          </p:cTn>
                        </p:par>
                        <p:par>
                          <p:cTn id="33" fill="hold">
                            <p:stCondLst>
                              <p:cond delay="2500"/>
                            </p:stCondLst>
                            <p:childTnLst>
                              <p:par>
                                <p:cTn id="34" presetID="53" presetClass="entr" presetSubtype="16"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1" nodeType="clickEffect">
                                  <p:stCondLst>
                                    <p:cond delay="0"/>
                                  </p:stCondLst>
                                  <p:childTnLst>
                                    <p:anim calcmode="lin" valueType="num">
                                      <p:cBhvr additive="base">
                                        <p:cTn id="42" dur="500"/>
                                        <p:tgtEl>
                                          <p:spTgt spid="6"/>
                                        </p:tgtEl>
                                        <p:attrNameLst>
                                          <p:attrName>ppt_x</p:attrName>
                                        </p:attrNameLst>
                                      </p:cBhvr>
                                      <p:tavLst>
                                        <p:tav tm="0">
                                          <p:val>
                                            <p:strVal val="ppt_x"/>
                                          </p:val>
                                        </p:tav>
                                        <p:tav tm="100000">
                                          <p:val>
                                            <p:strVal val="ppt_x"/>
                                          </p:val>
                                        </p:tav>
                                      </p:tavLst>
                                    </p:anim>
                                    <p:anim calcmode="lin" valueType="num">
                                      <p:cBhvr additive="base">
                                        <p:cTn id="43" dur="500"/>
                                        <p:tgtEl>
                                          <p:spTgt spid="6"/>
                                        </p:tgtEl>
                                        <p:attrNameLst>
                                          <p:attrName>ppt_y</p:attrName>
                                        </p:attrNameLst>
                                      </p:cBhvr>
                                      <p:tavLst>
                                        <p:tav tm="0">
                                          <p:val>
                                            <p:strVal val="ppt_y"/>
                                          </p:val>
                                        </p:tav>
                                        <p:tav tm="100000">
                                          <p:val>
                                            <p:strVal val="1+ppt_h/2"/>
                                          </p:val>
                                        </p:tav>
                                      </p:tavLst>
                                    </p:anim>
                                    <p:set>
                                      <p:cBhvr>
                                        <p:cTn id="44" dur="1" fill="hold">
                                          <p:stCondLst>
                                            <p:cond delay="499"/>
                                          </p:stCondLst>
                                        </p:cTn>
                                        <p:tgtEl>
                                          <p:spTgt spid="6"/>
                                        </p:tgtEl>
                                        <p:attrNameLst>
                                          <p:attrName>style.visibility</p:attrName>
                                        </p:attrNameLst>
                                      </p:cBhvr>
                                      <p:to>
                                        <p:strVal val="hidden"/>
                                      </p:to>
                                    </p:set>
                                  </p:childTnLst>
                                </p:cTn>
                              </p:par>
                            </p:childTnLst>
                          </p:cTn>
                        </p:par>
                        <p:par>
                          <p:cTn id="45" fill="hold">
                            <p:stCondLst>
                              <p:cond delay="500"/>
                            </p:stCondLst>
                            <p:childTnLst>
                              <p:par>
                                <p:cTn id="46" presetID="3" presetClass="emph" presetSubtype="2" fill="hold" nodeType="afterEffect">
                                  <p:stCondLst>
                                    <p:cond delay="0"/>
                                  </p:stCondLst>
                                  <p:childTnLst>
                                    <p:animClr clrSpc="rgb" dir="cw">
                                      <p:cBhvr override="childStyle">
                                        <p:cTn id="47" dur="2000" fill="hold"/>
                                        <p:tgtEl>
                                          <p:spTgt spid="4">
                                            <p:txEl>
                                              <p:pRg st="5" end="5"/>
                                            </p:txEl>
                                          </p:spTgt>
                                        </p:tgtEl>
                                        <p:attrNameLst>
                                          <p:attrName>style.color</p:attrName>
                                        </p:attrNameLst>
                                      </p:cBhvr>
                                      <p:to>
                                        <a:srgbClr val="FFFF00"/>
                                      </p:to>
                                    </p:animClr>
                                  </p:childTnLst>
                                </p:cTn>
                              </p:par>
                            </p:childTnLst>
                          </p:cTn>
                        </p:par>
                        <p:par>
                          <p:cTn id="48" fill="hold">
                            <p:stCondLst>
                              <p:cond delay="2500"/>
                            </p:stCondLst>
                            <p:childTnLst>
                              <p:par>
                                <p:cTn id="49" presetID="22" presetClass="entr" presetSubtype="4" fill="hold" grpId="0"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3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down)">
                                      <p:cBhvr>
                                        <p:cTn id="5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5" grpId="1"/>
      <p:bldP spid="6" grpId="0"/>
      <p:bldP spid="6" grpId="1"/>
      <p:bldP spid="7" grpId="0"/>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39</a:t>
            </a:fld>
            <a:endParaRPr lang="fr-FR" dirty="0"/>
          </a:p>
        </p:txBody>
      </p:sp>
      <p:sp>
        <p:nvSpPr>
          <p:cNvPr id="2" name="Rectangle 1"/>
          <p:cNvSpPr/>
          <p:nvPr/>
        </p:nvSpPr>
        <p:spPr>
          <a:xfrm>
            <a:off x="35496" y="908720"/>
            <a:ext cx="7920880" cy="1754326"/>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Access Control</a:t>
            </a:r>
          </a:p>
          <a:p>
            <a:pPr algn="just"/>
            <a:r>
              <a:rPr lang="en-US" dirty="0">
                <a:solidFill>
                  <a:schemeClr val="bg1"/>
                </a:solidFill>
              </a:rPr>
              <a:t>◦Regulates user access to system components, subsystems, and data.</a:t>
            </a:r>
          </a:p>
          <a:p>
            <a:pPr algn="just"/>
            <a:r>
              <a:rPr lang="en-US" dirty="0">
                <a:solidFill>
                  <a:schemeClr val="bg1"/>
                </a:solidFill>
              </a:rPr>
              <a:t>◦Employs authentication, authorization, and auditing to enforce access policies.</a:t>
            </a:r>
          </a:p>
          <a:p>
            <a:pPr algn="just"/>
            <a:r>
              <a:rPr lang="en-US" dirty="0">
                <a:solidFill>
                  <a:schemeClr val="bg1"/>
                </a:solidFill>
              </a:rPr>
              <a:t>◦Mechanisms include access control lists (ACLs), role-based access control (RBAC), and mandatory access control (MAC).</a:t>
            </a:r>
          </a:p>
        </p:txBody>
      </p:sp>
      <p:sp>
        <p:nvSpPr>
          <p:cNvPr id="3" name="Rectangle 2"/>
          <p:cNvSpPr/>
          <p:nvPr/>
        </p:nvSpPr>
        <p:spPr>
          <a:xfrm>
            <a:off x="76766" y="2610778"/>
            <a:ext cx="8887722" cy="1754326"/>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Information Flow Control</a:t>
            </a:r>
          </a:p>
          <a:p>
            <a:pPr algn="just"/>
            <a:r>
              <a:rPr lang="en-US" dirty="0">
                <a:solidFill>
                  <a:schemeClr val="bg1"/>
                </a:solidFill>
              </a:rPr>
              <a:t>◦Governs the movement of data within the system and its dissemination to users.</a:t>
            </a:r>
          </a:p>
          <a:p>
            <a:pPr algn="just"/>
            <a:r>
              <a:rPr lang="en-US" dirty="0">
                <a:solidFill>
                  <a:schemeClr val="bg1"/>
                </a:solidFill>
              </a:rPr>
              <a:t>◦Ensures that information flows only through authorized channels and adheres to confidentiality and integrity constraints.</a:t>
            </a:r>
          </a:p>
          <a:p>
            <a:pPr algn="just"/>
            <a:r>
              <a:rPr lang="en-US" dirty="0">
                <a:solidFill>
                  <a:schemeClr val="bg1"/>
                </a:solidFill>
              </a:rPr>
              <a:t>◦Techniques include taint analysis, information flow tracking, and secure multi-execution environments.</a:t>
            </a:r>
            <a:endParaRPr lang="fr-FR" dirty="0">
              <a:solidFill>
                <a:schemeClr val="bg1"/>
              </a:solidFill>
            </a:endParaRPr>
          </a:p>
        </p:txBody>
      </p:sp>
      <p:sp>
        <p:nvSpPr>
          <p:cNvPr id="4" name="Rectangle 3"/>
          <p:cNvSpPr/>
          <p:nvPr/>
        </p:nvSpPr>
        <p:spPr>
          <a:xfrm>
            <a:off x="76766" y="4365104"/>
            <a:ext cx="8887721" cy="2308324"/>
          </a:xfrm>
          <a:prstGeom prst="rect">
            <a:avLst/>
          </a:prstGeom>
        </p:spPr>
        <p:txBody>
          <a:bodyPr wrap="square">
            <a:spAutoFit/>
          </a:bodyPr>
          <a:lstStyle/>
          <a:p>
            <a:pPr marL="285750" indent="-285750" algn="just">
              <a:buFont typeface="Wingdings" pitchFamily="2" charset="2"/>
              <a:buChar char="Ø"/>
            </a:pPr>
            <a:r>
              <a:rPr lang="en-US" b="1" dirty="0">
                <a:solidFill>
                  <a:srgbClr val="FFFF00"/>
                </a:solidFill>
              </a:rPr>
              <a:t>Certification</a:t>
            </a:r>
          </a:p>
          <a:p>
            <a:pPr algn="just"/>
            <a:r>
              <a:rPr lang="en-US" dirty="0">
                <a:solidFill>
                  <a:schemeClr val="bg1"/>
                </a:solidFill>
              </a:rPr>
              <a:t>◦Focuses on formally verifying the correctness and effectiveness of security mechanisms. </a:t>
            </a:r>
          </a:p>
          <a:p>
            <a:pPr algn="just"/>
            <a:r>
              <a:rPr lang="en-US" dirty="0">
                <a:solidFill>
                  <a:schemeClr val="bg1"/>
                </a:solidFill>
              </a:rPr>
              <a:t>◦Involves rigorous testing, formal analysis, and code reviews to ensure compliance with security policies. </a:t>
            </a:r>
          </a:p>
          <a:p>
            <a:pPr algn="just"/>
            <a:r>
              <a:rPr lang="en-US" dirty="0">
                <a:solidFill>
                  <a:schemeClr val="bg1"/>
                </a:solidFill>
              </a:rPr>
              <a:t>◦Certification provides assurance that the implemented security measures function as intended and enforce the desired protection levels.</a:t>
            </a:r>
          </a:p>
          <a:p>
            <a:pPr marL="285750" indent="-285750" algn="just">
              <a:buFont typeface="Wingdings" pitchFamily="2" charset="2"/>
              <a:buChar char="Ø"/>
            </a:pPr>
            <a:r>
              <a:rPr lang="en-US" b="1" dirty="0">
                <a:solidFill>
                  <a:srgbClr val="FFFF00"/>
                </a:solidFill>
              </a:rPr>
              <a:t> …….</a:t>
            </a:r>
            <a:endParaRPr lang="fr-FR" b="1" dirty="0">
              <a:solidFill>
                <a:srgbClr val="FFFF00"/>
              </a:solidFill>
            </a:endParaRPr>
          </a:p>
        </p:txBody>
      </p:sp>
      <p:sp>
        <p:nvSpPr>
          <p:cNvPr id="11" name="ZoneTexte 10"/>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8" name="ZoneTexte 17"/>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19" name="ZoneTexte 18"/>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0" name="ZoneTexte 19"/>
          <p:cNvSpPr txBox="1"/>
          <p:nvPr/>
        </p:nvSpPr>
        <p:spPr>
          <a:xfrm>
            <a:off x="1724644" y="305733"/>
            <a:ext cx="1767236"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323416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40</a:t>
            </a:fld>
            <a:endParaRPr lang="fr-FR" dirty="0"/>
          </a:p>
        </p:txBody>
      </p:sp>
      <p:sp>
        <p:nvSpPr>
          <p:cNvPr id="2" name="Rectangle 1"/>
          <p:cNvSpPr/>
          <p:nvPr/>
        </p:nvSpPr>
        <p:spPr>
          <a:xfrm>
            <a:off x="35496" y="1124744"/>
            <a:ext cx="8928992" cy="1754326"/>
          </a:xfrm>
          <a:prstGeom prst="rect">
            <a:avLst/>
          </a:prstGeom>
        </p:spPr>
        <p:txBody>
          <a:bodyPr wrap="square">
            <a:spAutoFit/>
          </a:bodyPr>
          <a:lstStyle/>
          <a:p>
            <a:pPr marL="285750" indent="-285750" algn="just">
              <a:lnSpc>
                <a:spcPct val="150000"/>
              </a:lnSpc>
              <a:buFont typeface="Wingdings" pitchFamily="2" charset="2"/>
              <a:buChar char="§"/>
            </a:pPr>
            <a:r>
              <a:rPr lang="en-US" b="1" dirty="0">
                <a:solidFill>
                  <a:srgbClr val="FFFF00"/>
                </a:solidFill>
              </a:rPr>
              <a:t>Confidentiality: </a:t>
            </a:r>
            <a:r>
              <a:rPr lang="en-US" dirty="0">
                <a:solidFill>
                  <a:schemeClr val="bg1"/>
                </a:solidFill>
              </a:rPr>
              <a:t>preventing unauthorized access to information</a:t>
            </a:r>
          </a:p>
          <a:p>
            <a:pPr marL="285750" indent="-285750" algn="just">
              <a:lnSpc>
                <a:spcPct val="150000"/>
              </a:lnSpc>
              <a:buFont typeface="Wingdings" pitchFamily="2" charset="2"/>
              <a:buChar char="ü"/>
            </a:pPr>
            <a:r>
              <a:rPr lang="fr-FR" b="1" dirty="0" err="1">
                <a:solidFill>
                  <a:srgbClr val="66FF33"/>
                </a:solidFill>
              </a:rPr>
              <a:t>Mechanisms</a:t>
            </a:r>
            <a:r>
              <a:rPr lang="fr-FR" b="1" dirty="0">
                <a:solidFill>
                  <a:srgbClr val="66FF33"/>
                </a:solidFill>
              </a:rPr>
              <a:t>: </a:t>
            </a:r>
            <a:r>
              <a:rPr lang="fr-FR" dirty="0">
                <a:solidFill>
                  <a:schemeClr val="bg1"/>
                </a:solidFill>
              </a:rPr>
              <a:t>ACL, MAC, ..</a:t>
            </a:r>
          </a:p>
          <a:p>
            <a:pPr marL="285750" indent="-285750" algn="just">
              <a:lnSpc>
                <a:spcPct val="150000"/>
              </a:lnSpc>
              <a:buFont typeface="Courier New" pitchFamily="49" charset="0"/>
              <a:buChar char="o"/>
            </a:pPr>
            <a:r>
              <a:rPr lang="fr-FR" b="1" dirty="0">
                <a:solidFill>
                  <a:srgbClr val="FFC000"/>
                </a:solidFill>
              </a:rPr>
              <a:t>Challenges: </a:t>
            </a:r>
            <a:r>
              <a:rPr lang="en-US" dirty="0">
                <a:solidFill>
                  <a:schemeClr val="bg1"/>
                </a:solidFill>
              </a:rPr>
              <a:t>insider threats, sophisticated malware, and the increasing use of cloud storage and mobile devices. </a:t>
            </a:r>
          </a:p>
        </p:txBody>
      </p:sp>
      <p:sp>
        <p:nvSpPr>
          <p:cNvPr id="5" name="Rectangle 4"/>
          <p:cNvSpPr/>
          <p:nvPr/>
        </p:nvSpPr>
        <p:spPr>
          <a:xfrm>
            <a:off x="81964" y="3068960"/>
            <a:ext cx="9110202" cy="3000821"/>
          </a:xfrm>
          <a:prstGeom prst="rect">
            <a:avLst/>
          </a:prstGeom>
        </p:spPr>
        <p:txBody>
          <a:bodyPr wrap="square">
            <a:spAutoFit/>
          </a:bodyPr>
          <a:lstStyle/>
          <a:p>
            <a:pPr marL="285750" indent="-285750" algn="just">
              <a:lnSpc>
                <a:spcPct val="150000"/>
              </a:lnSpc>
              <a:buFont typeface="Wingdings" pitchFamily="2" charset="2"/>
              <a:buChar char="§"/>
            </a:pPr>
            <a:r>
              <a:rPr lang="en-US" b="1" dirty="0">
                <a:solidFill>
                  <a:srgbClr val="FFFF00"/>
                </a:solidFill>
              </a:rPr>
              <a:t>Integrity: </a:t>
            </a:r>
            <a:r>
              <a:rPr lang="en-US" dirty="0">
                <a:solidFill>
                  <a:schemeClr val="bg1"/>
                </a:solidFill>
              </a:rPr>
              <a:t>ensures that only authorized parties can modify system assets, writing, changing, deleting, and creating data or resources.</a:t>
            </a:r>
          </a:p>
          <a:p>
            <a:pPr marL="285750" indent="-285750" algn="just">
              <a:lnSpc>
                <a:spcPct val="150000"/>
              </a:lnSpc>
              <a:buFont typeface="Wingdings" pitchFamily="2" charset="2"/>
              <a:buChar char="ü"/>
            </a:pPr>
            <a:r>
              <a:rPr lang="fr-FR" b="1" dirty="0" err="1">
                <a:solidFill>
                  <a:srgbClr val="66FF33"/>
                </a:solidFill>
              </a:rPr>
              <a:t>Mechanisms</a:t>
            </a:r>
            <a:r>
              <a:rPr lang="fr-FR" b="1" dirty="0">
                <a:solidFill>
                  <a:srgbClr val="66FF33"/>
                </a:solidFill>
              </a:rPr>
              <a:t>: </a:t>
            </a:r>
            <a:r>
              <a:rPr lang="en-US" dirty="0">
                <a:solidFill>
                  <a:schemeClr val="bg1"/>
                </a:solidFill>
              </a:rPr>
              <a:t>Access controls, data validation techniques, version control systems (VCS), and digital signatures, …</a:t>
            </a:r>
          </a:p>
          <a:p>
            <a:pPr marL="285750" indent="-285750" algn="just">
              <a:lnSpc>
                <a:spcPct val="150000"/>
              </a:lnSpc>
              <a:buFont typeface="Courier New" pitchFamily="49" charset="0"/>
              <a:buChar char="o"/>
            </a:pPr>
            <a:r>
              <a:rPr lang="fr-FR" b="1" dirty="0">
                <a:solidFill>
                  <a:srgbClr val="FFC000"/>
                </a:solidFill>
              </a:rPr>
              <a:t>Challenges: </a:t>
            </a:r>
            <a:r>
              <a:rPr lang="en-US" dirty="0">
                <a:solidFill>
                  <a:schemeClr val="bg1"/>
                </a:solidFill>
              </a:rPr>
              <a:t>malware attacks, software bugs, and accidental data corruption requires robust error detection and correction mechanisms, secure backup and recovery procedures, and comprehensive data validation routines.</a:t>
            </a:r>
          </a:p>
        </p:txBody>
      </p:sp>
      <p:sp>
        <p:nvSpPr>
          <p:cNvPr id="18" name="ZoneTexte 17"/>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9" name="ZoneTexte 18"/>
          <p:cNvSpPr txBox="1"/>
          <p:nvPr/>
        </p:nvSpPr>
        <p:spPr>
          <a:xfrm>
            <a:off x="3563888" y="305733"/>
            <a:ext cx="1867924"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0" name="ZoneTexte 19"/>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1" name="ZoneTexte 20"/>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32717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41</a:t>
            </a:fld>
            <a:endParaRPr lang="fr-FR" dirty="0"/>
          </a:p>
        </p:txBody>
      </p:sp>
      <p:sp>
        <p:nvSpPr>
          <p:cNvPr id="3" name="Rectangle 2"/>
          <p:cNvSpPr/>
          <p:nvPr/>
        </p:nvSpPr>
        <p:spPr>
          <a:xfrm>
            <a:off x="50506" y="980728"/>
            <a:ext cx="8887722" cy="2585323"/>
          </a:xfrm>
          <a:prstGeom prst="rect">
            <a:avLst/>
          </a:prstGeom>
        </p:spPr>
        <p:txBody>
          <a:bodyPr wrap="square">
            <a:spAutoFit/>
          </a:bodyPr>
          <a:lstStyle/>
          <a:p>
            <a:pPr marL="285750" indent="-285750" algn="just">
              <a:lnSpc>
                <a:spcPct val="150000"/>
              </a:lnSpc>
              <a:buFont typeface="Wingdings" pitchFamily="2" charset="2"/>
              <a:buChar char="§"/>
            </a:pPr>
            <a:r>
              <a:rPr lang="en-US" b="1" dirty="0">
                <a:solidFill>
                  <a:srgbClr val="FFFF00"/>
                </a:solidFill>
              </a:rPr>
              <a:t>Availability:</a:t>
            </a:r>
            <a:r>
              <a:rPr lang="en-US" dirty="0">
                <a:solidFill>
                  <a:schemeClr val="bg1"/>
                </a:solidFill>
              </a:rPr>
              <a:t> guarantees that authorized users have timely and reliable access to system resources.</a:t>
            </a:r>
          </a:p>
          <a:p>
            <a:pPr marL="285750" indent="-285750" algn="just">
              <a:lnSpc>
                <a:spcPct val="150000"/>
              </a:lnSpc>
              <a:buFont typeface="Wingdings" pitchFamily="2" charset="2"/>
              <a:buChar char="ü"/>
            </a:pPr>
            <a:r>
              <a:rPr lang="fr-FR" b="1" dirty="0" err="1">
                <a:solidFill>
                  <a:srgbClr val="66FF33"/>
                </a:solidFill>
              </a:rPr>
              <a:t>Mechanisms</a:t>
            </a:r>
            <a:r>
              <a:rPr lang="fr-FR" b="1" dirty="0">
                <a:solidFill>
                  <a:srgbClr val="66FF33"/>
                </a:solidFill>
              </a:rPr>
              <a:t>: </a:t>
            </a:r>
            <a:r>
              <a:rPr lang="en-US" dirty="0">
                <a:solidFill>
                  <a:schemeClr val="bg1"/>
                </a:solidFill>
              </a:rPr>
              <a:t>redundancy (e.g., RAID for storage, failover clusters for servers), disaster recovery planning, load balancing, and robust network infrastructure.</a:t>
            </a:r>
          </a:p>
          <a:p>
            <a:pPr marL="285750" indent="-285750" algn="just">
              <a:lnSpc>
                <a:spcPct val="150000"/>
              </a:lnSpc>
              <a:buFont typeface="Courier New" pitchFamily="49" charset="0"/>
              <a:buChar char="o"/>
            </a:pPr>
            <a:r>
              <a:rPr lang="fr-FR" b="1" dirty="0">
                <a:solidFill>
                  <a:srgbClr val="FFC000"/>
                </a:solidFill>
              </a:rPr>
              <a:t>Challenges: </a:t>
            </a:r>
            <a:r>
              <a:rPr lang="en-US" dirty="0">
                <a:solidFill>
                  <a:schemeClr val="bg1"/>
                </a:solidFill>
              </a:rPr>
              <a:t>denial-of-service attacks, hardware failures, natural disasters, and the growing complexity of distributed systems.</a:t>
            </a:r>
            <a:endParaRPr lang="fr-FR" dirty="0">
              <a:solidFill>
                <a:schemeClr val="bg1"/>
              </a:solidFill>
            </a:endParaRPr>
          </a:p>
        </p:txBody>
      </p:sp>
      <p:sp>
        <p:nvSpPr>
          <p:cNvPr id="4" name="Rectangle 3"/>
          <p:cNvSpPr/>
          <p:nvPr/>
        </p:nvSpPr>
        <p:spPr>
          <a:xfrm>
            <a:off x="0" y="3618890"/>
            <a:ext cx="8887721" cy="2585323"/>
          </a:xfrm>
          <a:prstGeom prst="rect">
            <a:avLst/>
          </a:prstGeom>
        </p:spPr>
        <p:txBody>
          <a:bodyPr wrap="square">
            <a:spAutoFit/>
          </a:bodyPr>
          <a:lstStyle/>
          <a:p>
            <a:pPr marL="285750" indent="-285750" algn="just">
              <a:lnSpc>
                <a:spcPct val="150000"/>
              </a:lnSpc>
              <a:buFont typeface="Wingdings" pitchFamily="2" charset="2"/>
              <a:buChar char="§"/>
            </a:pPr>
            <a:r>
              <a:rPr lang="en-US" b="1" dirty="0">
                <a:solidFill>
                  <a:srgbClr val="FFFF00"/>
                </a:solidFill>
              </a:rPr>
              <a:t>Authenticity: </a:t>
            </a:r>
            <a:r>
              <a:rPr lang="en-US" dirty="0">
                <a:solidFill>
                  <a:schemeClr val="bg1"/>
                </a:solidFill>
              </a:rPr>
              <a:t>verifying the identity of users and the origin of information.</a:t>
            </a:r>
          </a:p>
          <a:p>
            <a:pPr marL="285750" indent="-285750" algn="just">
              <a:lnSpc>
                <a:spcPct val="150000"/>
              </a:lnSpc>
              <a:buFont typeface="Wingdings" pitchFamily="2" charset="2"/>
              <a:buChar char="ü"/>
            </a:pPr>
            <a:r>
              <a:rPr lang="fr-FR" b="1" dirty="0" err="1">
                <a:solidFill>
                  <a:srgbClr val="66FF33"/>
                </a:solidFill>
              </a:rPr>
              <a:t>Mechanisms</a:t>
            </a:r>
            <a:r>
              <a:rPr lang="fr-FR" b="1" dirty="0">
                <a:solidFill>
                  <a:srgbClr val="66FF33"/>
                </a:solidFill>
              </a:rPr>
              <a:t>: </a:t>
            </a:r>
            <a:r>
              <a:rPr lang="en-US" dirty="0">
                <a:solidFill>
                  <a:schemeClr val="bg1"/>
                </a:solidFill>
              </a:rPr>
              <a:t>passwords, biometrics, multi-factor authentication, and digital certificates. </a:t>
            </a:r>
          </a:p>
          <a:p>
            <a:pPr marL="285750" indent="-285750" algn="just">
              <a:lnSpc>
                <a:spcPct val="150000"/>
              </a:lnSpc>
              <a:buFont typeface="Courier New" pitchFamily="49" charset="0"/>
              <a:buChar char="o"/>
            </a:pPr>
            <a:r>
              <a:rPr lang="fr-FR" b="1" dirty="0">
                <a:solidFill>
                  <a:srgbClr val="FFC000"/>
                </a:solidFill>
              </a:rPr>
              <a:t>Challenges: </a:t>
            </a:r>
            <a:r>
              <a:rPr lang="en-US" dirty="0">
                <a:solidFill>
                  <a:schemeClr val="bg1"/>
                </a:solidFill>
              </a:rPr>
              <a:t>Ensuring authenticity in the face of sophisticated phishing attacks, identity theft, and social engineering requires robust authentication protocols, user awareness training, and continuous monitoring for suspicious activities. </a:t>
            </a:r>
          </a:p>
        </p:txBody>
      </p:sp>
      <p:sp>
        <p:nvSpPr>
          <p:cNvPr id="18" name="ZoneTexte 17"/>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9" name="ZoneTexte 18"/>
          <p:cNvSpPr txBox="1"/>
          <p:nvPr/>
        </p:nvSpPr>
        <p:spPr>
          <a:xfrm>
            <a:off x="3563888" y="305733"/>
            <a:ext cx="1867924"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0" name="ZoneTexte 19"/>
          <p:cNvSpPr txBox="1"/>
          <p:nvPr/>
        </p:nvSpPr>
        <p:spPr>
          <a:xfrm>
            <a:off x="5503820" y="305733"/>
            <a:ext cx="1948499"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1" name="ZoneTexte 20"/>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2044891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6553200" y="6286520"/>
            <a:ext cx="2132013" cy="474663"/>
          </a:xfrm>
        </p:spPr>
        <p:txBody>
          <a:bodyPr/>
          <a:lstStyle/>
          <a:p>
            <a:fld id="{66EFF29A-B2FD-4D7F-BD7D-29982909C77B}" type="slidenum">
              <a:rPr lang="fr-FR" smtClean="0"/>
              <a:pPr/>
              <a:t>42</a:t>
            </a:fld>
            <a:endParaRPr lang="fr-FR" dirty="0"/>
          </a:p>
        </p:txBody>
      </p:sp>
      <p:sp>
        <p:nvSpPr>
          <p:cNvPr id="2" name="Rectangle 1"/>
          <p:cNvSpPr/>
          <p:nvPr/>
        </p:nvSpPr>
        <p:spPr>
          <a:xfrm>
            <a:off x="107504" y="1196752"/>
            <a:ext cx="7920880" cy="4662815"/>
          </a:xfrm>
          <a:prstGeom prst="rect">
            <a:avLst/>
          </a:prstGeom>
        </p:spPr>
        <p:txBody>
          <a:bodyPr wrap="square">
            <a:spAutoFit/>
          </a:bodyPr>
          <a:lstStyle/>
          <a:p>
            <a:pPr marL="285750" indent="-285750" algn="just">
              <a:lnSpc>
                <a:spcPct val="150000"/>
              </a:lnSpc>
              <a:buFont typeface="Wingdings" pitchFamily="2" charset="2"/>
              <a:buChar char="Ø"/>
            </a:pPr>
            <a:r>
              <a:rPr lang="en-US" b="1" dirty="0">
                <a:solidFill>
                  <a:srgbClr val="FFFF00"/>
                </a:solidFill>
              </a:rPr>
              <a:t>Enhancing Operating System Security: A Multi-Layered Approach</a:t>
            </a:r>
          </a:p>
          <a:p>
            <a:pPr marL="285750" indent="-285750" algn="just">
              <a:lnSpc>
                <a:spcPct val="150000"/>
              </a:lnSpc>
              <a:buFont typeface="Wingdings" pitchFamily="2" charset="2"/>
              <a:buChar char="Ø"/>
            </a:pPr>
            <a:r>
              <a:rPr lang="en-US" dirty="0">
                <a:solidFill>
                  <a:schemeClr val="bg1"/>
                </a:solidFill>
              </a:rPr>
              <a:t>Data Backup and Recovery</a:t>
            </a:r>
          </a:p>
          <a:p>
            <a:pPr marL="285750" indent="-285750" algn="just">
              <a:lnSpc>
                <a:spcPct val="150000"/>
              </a:lnSpc>
              <a:buFont typeface="Wingdings" pitchFamily="2" charset="2"/>
              <a:buChar char="Ø"/>
            </a:pPr>
            <a:r>
              <a:rPr lang="fr-FR" dirty="0">
                <a:solidFill>
                  <a:schemeClr val="bg1"/>
                </a:solidFill>
              </a:rPr>
              <a:t>Secure User Practices</a:t>
            </a:r>
          </a:p>
          <a:p>
            <a:pPr marL="285750" indent="-285750" algn="just">
              <a:lnSpc>
                <a:spcPct val="150000"/>
              </a:lnSpc>
              <a:buFont typeface="Wingdings" pitchFamily="2" charset="2"/>
              <a:buChar char="Ø"/>
            </a:pPr>
            <a:r>
              <a:rPr lang="fr-FR" dirty="0" err="1">
                <a:solidFill>
                  <a:schemeClr val="bg1"/>
                </a:solidFill>
              </a:rPr>
              <a:t>Robust</a:t>
            </a:r>
            <a:r>
              <a:rPr lang="fr-FR" dirty="0">
                <a:solidFill>
                  <a:schemeClr val="bg1"/>
                </a:solidFill>
              </a:rPr>
              <a:t> Access Control</a:t>
            </a:r>
          </a:p>
          <a:p>
            <a:pPr marL="285750" indent="-285750" algn="just">
              <a:lnSpc>
                <a:spcPct val="150000"/>
              </a:lnSpc>
              <a:buFont typeface="Wingdings" pitchFamily="2" charset="2"/>
              <a:buChar char="Ø"/>
            </a:pPr>
            <a:r>
              <a:rPr lang="fr-FR" dirty="0">
                <a:solidFill>
                  <a:schemeClr val="bg1"/>
                </a:solidFill>
              </a:rPr>
              <a:t>Network Security</a:t>
            </a:r>
          </a:p>
          <a:p>
            <a:pPr marL="285750" indent="-285750" algn="just">
              <a:lnSpc>
                <a:spcPct val="150000"/>
              </a:lnSpc>
              <a:buFont typeface="Wingdings" pitchFamily="2" charset="2"/>
              <a:buChar char="Ø"/>
            </a:pPr>
            <a:r>
              <a:rPr lang="fr-FR" dirty="0">
                <a:solidFill>
                  <a:schemeClr val="bg1"/>
                </a:solidFill>
              </a:rPr>
              <a:t>Malware Protection</a:t>
            </a:r>
          </a:p>
          <a:p>
            <a:pPr marL="285750" indent="-285750" algn="just">
              <a:lnSpc>
                <a:spcPct val="150000"/>
              </a:lnSpc>
              <a:buFont typeface="Wingdings" pitchFamily="2" charset="2"/>
              <a:buChar char="Ø"/>
            </a:pPr>
            <a:r>
              <a:rPr lang="fr-FR" dirty="0">
                <a:solidFill>
                  <a:schemeClr val="bg1"/>
                </a:solidFill>
              </a:rPr>
              <a:t>Application Control</a:t>
            </a:r>
          </a:p>
          <a:p>
            <a:pPr marL="285750" indent="-285750" algn="just">
              <a:lnSpc>
                <a:spcPct val="150000"/>
              </a:lnSpc>
              <a:buFont typeface="Wingdings" pitchFamily="2" charset="2"/>
              <a:buChar char="Ø"/>
            </a:pPr>
            <a:r>
              <a:rPr lang="fr-FR" dirty="0">
                <a:solidFill>
                  <a:schemeClr val="bg1"/>
                </a:solidFill>
              </a:rPr>
              <a:t>Firewall </a:t>
            </a:r>
            <a:r>
              <a:rPr lang="fr-FR" dirty="0" err="1">
                <a:solidFill>
                  <a:schemeClr val="bg1"/>
                </a:solidFill>
              </a:rPr>
              <a:t>Implementation</a:t>
            </a:r>
            <a:endParaRPr lang="fr-FR" dirty="0">
              <a:solidFill>
                <a:schemeClr val="bg1"/>
              </a:solidFill>
            </a:endParaRPr>
          </a:p>
          <a:p>
            <a:pPr marL="285750" indent="-285750" algn="just">
              <a:lnSpc>
                <a:spcPct val="150000"/>
              </a:lnSpc>
              <a:buFont typeface="Wingdings" pitchFamily="2" charset="2"/>
              <a:buChar char="Ø"/>
            </a:pPr>
            <a:r>
              <a:rPr lang="fr-FR" dirty="0">
                <a:solidFill>
                  <a:schemeClr val="bg1"/>
                </a:solidFill>
              </a:rPr>
              <a:t>Data </a:t>
            </a:r>
            <a:r>
              <a:rPr lang="fr-FR" dirty="0" err="1">
                <a:solidFill>
                  <a:schemeClr val="bg1"/>
                </a:solidFill>
              </a:rPr>
              <a:t>Encryption</a:t>
            </a:r>
            <a:endParaRPr lang="fr-FR" dirty="0">
              <a:solidFill>
                <a:schemeClr val="bg1"/>
              </a:solidFill>
            </a:endParaRPr>
          </a:p>
          <a:p>
            <a:pPr marL="285750" indent="-285750" algn="just">
              <a:lnSpc>
                <a:spcPct val="150000"/>
              </a:lnSpc>
              <a:buFont typeface="Wingdings" pitchFamily="2" charset="2"/>
              <a:buChar char="Ø"/>
            </a:pPr>
            <a:endParaRPr lang="fr-FR" dirty="0">
              <a:solidFill>
                <a:schemeClr val="bg1"/>
              </a:solidFill>
            </a:endParaRPr>
          </a:p>
          <a:p>
            <a:pPr marL="285750" indent="-285750" algn="just">
              <a:lnSpc>
                <a:spcPct val="150000"/>
              </a:lnSpc>
              <a:buFont typeface="Wingdings" pitchFamily="2" charset="2"/>
              <a:buChar char="Ø"/>
            </a:pPr>
            <a:endParaRPr lang="en-US" dirty="0">
              <a:solidFill>
                <a:schemeClr val="bg1"/>
              </a:solidFill>
            </a:endParaRPr>
          </a:p>
        </p:txBody>
      </p:sp>
      <p:sp>
        <p:nvSpPr>
          <p:cNvPr id="11" name="ZoneTexte 10"/>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8" name="ZoneTexte 17"/>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19" name="ZoneTexte 18"/>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0" name="ZoneTexte 19"/>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fr-FR" dirty="0" err="1"/>
              <a:t>Princ</a:t>
            </a:r>
            <a:r>
              <a:rPr lang="fr-FR" dirty="0"/>
              <a:t>.&amp;Tech.</a:t>
            </a:r>
          </a:p>
        </p:txBody>
      </p:sp>
    </p:spTree>
    <p:extLst>
      <p:ext uri="{BB962C8B-B14F-4D97-AF65-F5344CB8AC3E}">
        <p14:creationId xmlns:p14="http://schemas.microsoft.com/office/powerpoint/2010/main" val="136136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e la date 11"/>
          <p:cNvSpPr>
            <a:spLocks noGrp="1"/>
          </p:cNvSpPr>
          <p:nvPr>
            <p:ph type="dt" idx="10"/>
          </p:nvPr>
        </p:nvSpPr>
        <p:spPr>
          <a:xfrm>
            <a:off x="107504" y="6525344"/>
            <a:ext cx="2132013" cy="474663"/>
          </a:xfrm>
        </p:spPr>
        <p:txBody>
          <a:bodyPr/>
          <a:lstStyle/>
          <a:p>
            <a:fld id="{EE583F78-3381-4BCD-992A-108CC30EC25A}" type="datetime1">
              <a:rPr lang="fr-FR" smtClean="0"/>
              <a:pPr/>
              <a:t>09/01/2026</a:t>
            </a:fld>
            <a:endParaRPr lang="fr-FR" dirty="0"/>
          </a:p>
        </p:txBody>
      </p:sp>
      <p:sp>
        <p:nvSpPr>
          <p:cNvPr id="13" name="Espace réservé du numéro de diapositive 12"/>
          <p:cNvSpPr>
            <a:spLocks noGrp="1"/>
          </p:cNvSpPr>
          <p:nvPr>
            <p:ph type="sldNum" idx="12"/>
          </p:nvPr>
        </p:nvSpPr>
        <p:spPr>
          <a:xfrm>
            <a:off x="7014576" y="6429529"/>
            <a:ext cx="2132013" cy="474663"/>
          </a:xfrm>
        </p:spPr>
        <p:txBody>
          <a:bodyPr/>
          <a:lstStyle/>
          <a:p>
            <a:fld id="{66EFF29A-B2FD-4D7F-BD7D-29982909C77B}" type="slidenum">
              <a:rPr lang="fr-FR" smtClean="0"/>
              <a:pPr/>
              <a:t>43</a:t>
            </a:fld>
            <a:endParaRPr lang="fr-FR" dirty="0"/>
          </a:p>
        </p:txBody>
      </p:sp>
      <p:sp>
        <p:nvSpPr>
          <p:cNvPr id="3" name="Rectangle 2"/>
          <p:cNvSpPr/>
          <p:nvPr/>
        </p:nvSpPr>
        <p:spPr>
          <a:xfrm>
            <a:off x="50506" y="821611"/>
            <a:ext cx="8887722" cy="2031325"/>
          </a:xfrm>
          <a:prstGeom prst="rect">
            <a:avLst/>
          </a:prstGeom>
        </p:spPr>
        <p:txBody>
          <a:bodyPr wrap="square">
            <a:spAutoFit/>
          </a:bodyPr>
          <a:lstStyle/>
          <a:p>
            <a:pPr algn="just"/>
            <a:r>
              <a:rPr lang="en-US" b="1" dirty="0">
                <a:solidFill>
                  <a:srgbClr val="FFFF00"/>
                </a:solidFill>
              </a:rPr>
              <a:t>◦Foundations of a Trusted Operating System</a:t>
            </a:r>
          </a:p>
          <a:p>
            <a:pPr marL="285750" indent="-285750" algn="just">
              <a:buFont typeface="Wingdings" pitchFamily="2" charset="2"/>
              <a:buChar char="q"/>
            </a:pPr>
            <a:r>
              <a:rPr lang="en-US" b="1" dirty="0">
                <a:solidFill>
                  <a:schemeClr val="bg1"/>
                </a:solidFill>
              </a:rPr>
              <a:t>Memory Protection: </a:t>
            </a:r>
            <a:r>
              <a:rPr lang="en-US" dirty="0">
                <a:solidFill>
                  <a:schemeClr val="bg1"/>
                </a:solidFill>
              </a:rPr>
              <a:t>virtual memory, address space layout </a:t>
            </a:r>
          </a:p>
          <a:p>
            <a:pPr algn="just"/>
            <a:r>
              <a:rPr lang="en-US" dirty="0">
                <a:solidFill>
                  <a:schemeClr val="bg1"/>
                </a:solidFill>
              </a:rPr>
              <a:t>    randomization (ASLR), …</a:t>
            </a:r>
          </a:p>
          <a:p>
            <a:pPr marL="285750" indent="-285750" algn="just">
              <a:buFont typeface="Wingdings" pitchFamily="2" charset="2"/>
              <a:buChar char="q"/>
            </a:pPr>
            <a:r>
              <a:rPr lang="fr-FR" b="1" dirty="0">
                <a:solidFill>
                  <a:schemeClr val="bg1"/>
                </a:solidFill>
              </a:rPr>
              <a:t>File Protection: </a:t>
            </a:r>
            <a:r>
              <a:rPr lang="fr-FR" dirty="0">
                <a:solidFill>
                  <a:schemeClr val="bg1"/>
                </a:solidFill>
              </a:rPr>
              <a:t>ACL, …</a:t>
            </a:r>
          </a:p>
          <a:p>
            <a:pPr marL="285750" indent="-285750" algn="just">
              <a:buFont typeface="Wingdings" pitchFamily="2" charset="2"/>
              <a:buChar char="q"/>
            </a:pPr>
            <a:r>
              <a:rPr lang="fr-FR" b="1" dirty="0">
                <a:solidFill>
                  <a:schemeClr val="bg1"/>
                </a:solidFill>
              </a:rPr>
              <a:t>General Object Access Protection: </a:t>
            </a:r>
            <a:r>
              <a:rPr lang="en-US" dirty="0">
                <a:solidFill>
                  <a:schemeClr val="bg1"/>
                </a:solidFill>
              </a:rPr>
              <a:t>semaphores, shared memory segments, and I/O devices. </a:t>
            </a:r>
          </a:p>
          <a:p>
            <a:pPr marL="285750" indent="-285750" algn="just">
              <a:buFont typeface="Wingdings" pitchFamily="2" charset="2"/>
              <a:buChar char="q"/>
            </a:pPr>
            <a:r>
              <a:rPr lang="en-US" b="1" dirty="0">
                <a:solidFill>
                  <a:schemeClr val="bg1"/>
                </a:solidFill>
              </a:rPr>
              <a:t>Us</a:t>
            </a:r>
            <a:r>
              <a:rPr lang="fr-FR" b="1" dirty="0">
                <a:solidFill>
                  <a:schemeClr val="bg1"/>
                </a:solidFill>
              </a:rPr>
              <a:t>er </a:t>
            </a:r>
            <a:r>
              <a:rPr lang="fr-FR" b="1" dirty="0" err="1">
                <a:solidFill>
                  <a:schemeClr val="bg1"/>
                </a:solidFill>
              </a:rPr>
              <a:t>Authentication</a:t>
            </a:r>
            <a:r>
              <a:rPr lang="en-US" dirty="0">
                <a:solidFill>
                  <a:schemeClr val="bg1"/>
                </a:solidFill>
              </a:rPr>
              <a:t> </a:t>
            </a:r>
            <a:endParaRPr lang="fr-FR" dirty="0">
              <a:solidFill>
                <a:schemeClr val="bg1"/>
              </a:solidFill>
            </a:endParaRPr>
          </a:p>
        </p:txBody>
      </p:sp>
      <p:sp>
        <p:nvSpPr>
          <p:cNvPr id="4" name="Rectangle 3"/>
          <p:cNvSpPr/>
          <p:nvPr/>
        </p:nvSpPr>
        <p:spPr>
          <a:xfrm>
            <a:off x="539552" y="2780928"/>
            <a:ext cx="2016224" cy="2308324"/>
          </a:xfrm>
          <a:prstGeom prst="rect">
            <a:avLst/>
          </a:prstGeom>
        </p:spPr>
        <p:txBody>
          <a:bodyPr wrap="square">
            <a:spAutoFit/>
          </a:bodyPr>
          <a:lstStyle/>
          <a:p>
            <a:pPr marL="285750" indent="-285750" algn="just">
              <a:lnSpc>
                <a:spcPct val="200000"/>
              </a:lnSpc>
              <a:buFont typeface="Courier New" pitchFamily="49" charset="0"/>
              <a:buChar char="o"/>
            </a:pPr>
            <a:r>
              <a:rPr lang="fr-FR" b="1" dirty="0">
                <a:solidFill>
                  <a:schemeClr val="bg1"/>
                </a:solidFill>
              </a:rPr>
              <a:t>Policy</a:t>
            </a:r>
          </a:p>
          <a:p>
            <a:pPr marL="285750" indent="-285750" algn="just">
              <a:lnSpc>
                <a:spcPct val="200000"/>
              </a:lnSpc>
              <a:buFont typeface="Courier New" pitchFamily="49" charset="0"/>
              <a:buChar char="o"/>
            </a:pPr>
            <a:r>
              <a:rPr lang="fr-FR" b="1" dirty="0">
                <a:solidFill>
                  <a:schemeClr val="bg1"/>
                </a:solidFill>
              </a:rPr>
              <a:t>Model</a:t>
            </a:r>
          </a:p>
          <a:p>
            <a:pPr marL="285750" indent="-285750" algn="just">
              <a:lnSpc>
                <a:spcPct val="200000"/>
              </a:lnSpc>
              <a:buFont typeface="Courier New" pitchFamily="49" charset="0"/>
              <a:buChar char="o"/>
            </a:pPr>
            <a:r>
              <a:rPr lang="fr-FR" b="1" dirty="0">
                <a:solidFill>
                  <a:schemeClr val="bg1"/>
                </a:solidFill>
              </a:rPr>
              <a:t>Design</a:t>
            </a:r>
          </a:p>
          <a:p>
            <a:pPr marL="285750" indent="-285750" algn="just">
              <a:lnSpc>
                <a:spcPct val="200000"/>
              </a:lnSpc>
              <a:buFont typeface="Courier New" pitchFamily="49" charset="0"/>
              <a:buChar char="o"/>
            </a:pPr>
            <a:r>
              <a:rPr lang="fr-FR" b="1" dirty="0">
                <a:solidFill>
                  <a:schemeClr val="bg1"/>
                </a:solidFill>
              </a:rPr>
              <a:t>Trust</a:t>
            </a:r>
          </a:p>
        </p:txBody>
      </p:sp>
      <p:sp>
        <p:nvSpPr>
          <p:cNvPr id="5" name="Plus 4"/>
          <p:cNvSpPr/>
          <p:nvPr/>
        </p:nvSpPr>
        <p:spPr bwMode="auto">
          <a:xfrm>
            <a:off x="-36512" y="3717032"/>
            <a:ext cx="672059" cy="504056"/>
          </a:xfrm>
          <a:prstGeom prst="mathPlus">
            <a:avLst/>
          </a:prstGeom>
          <a:solidFill>
            <a:srgbClr val="66FF3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pPr>
            <a:endParaRPr kumimoji="0" lang="fr-FR" sz="1800" b="0" i="0" u="none" strike="noStrike" cap="none" normalizeH="0" baseline="0">
              <a:ln>
                <a:noFill/>
              </a:ln>
              <a:solidFill>
                <a:schemeClr val="bg1"/>
              </a:solidFill>
              <a:effectLst/>
              <a:latin typeface="Arial" charset="0"/>
              <a:ea typeface="MS Gothic" charset="-128"/>
            </a:endParaRPr>
          </a:p>
        </p:txBody>
      </p:sp>
      <p:sp>
        <p:nvSpPr>
          <p:cNvPr id="6" name="Rectangle 5"/>
          <p:cNvSpPr/>
          <p:nvPr/>
        </p:nvSpPr>
        <p:spPr>
          <a:xfrm>
            <a:off x="1835696" y="3513782"/>
            <a:ext cx="7144766" cy="923330"/>
          </a:xfrm>
          <a:prstGeom prst="rect">
            <a:avLst/>
          </a:prstGeom>
        </p:spPr>
        <p:txBody>
          <a:bodyPr wrap="square">
            <a:spAutoFit/>
          </a:bodyPr>
          <a:lstStyle/>
          <a:p>
            <a:pPr algn="just"/>
            <a:r>
              <a:rPr lang="en-US" dirty="0">
                <a:solidFill>
                  <a:schemeClr val="bg1"/>
                </a:solidFill>
              </a:rPr>
              <a:t>A security model provides a formal representation of the security policy, enabling rigorous analysis and verification of its properties. Common models include Bell-</a:t>
            </a:r>
            <a:r>
              <a:rPr lang="en-US" dirty="0" err="1">
                <a:solidFill>
                  <a:schemeClr val="bg1"/>
                </a:solidFill>
              </a:rPr>
              <a:t>LaPadula</a:t>
            </a:r>
            <a:r>
              <a:rPr lang="en-US" dirty="0">
                <a:solidFill>
                  <a:schemeClr val="bg1"/>
                </a:solidFill>
              </a:rPr>
              <a:t>, </a:t>
            </a:r>
            <a:r>
              <a:rPr lang="en-US" dirty="0" err="1">
                <a:solidFill>
                  <a:schemeClr val="bg1"/>
                </a:solidFill>
              </a:rPr>
              <a:t>Biba</a:t>
            </a:r>
            <a:r>
              <a:rPr lang="en-US" dirty="0">
                <a:solidFill>
                  <a:schemeClr val="bg1"/>
                </a:solidFill>
              </a:rPr>
              <a:t>, and Clark-Wilson.</a:t>
            </a:r>
            <a:endParaRPr lang="fr-FR" dirty="0">
              <a:solidFill>
                <a:schemeClr val="bg1"/>
              </a:solidFill>
            </a:endParaRPr>
          </a:p>
        </p:txBody>
      </p:sp>
      <p:sp>
        <p:nvSpPr>
          <p:cNvPr id="7" name="Rectangle 6"/>
          <p:cNvSpPr/>
          <p:nvPr/>
        </p:nvSpPr>
        <p:spPr>
          <a:xfrm>
            <a:off x="2536254" y="2300679"/>
            <a:ext cx="6572250" cy="1200329"/>
          </a:xfrm>
          <a:prstGeom prst="rect">
            <a:avLst/>
          </a:prstGeom>
        </p:spPr>
        <p:txBody>
          <a:bodyPr wrap="square">
            <a:spAutoFit/>
          </a:bodyPr>
          <a:lstStyle/>
          <a:p>
            <a:pPr algn="just"/>
            <a:r>
              <a:rPr lang="en-US" dirty="0">
                <a:solidFill>
                  <a:schemeClr val="bg1"/>
                </a:solidFill>
              </a:rPr>
              <a:t>A well-defined security policy outlines the rules and regulations governing access to system resources and information. It establishes the security goals and the permissible actions within the system.</a:t>
            </a:r>
            <a:endParaRPr lang="fr-FR" dirty="0">
              <a:solidFill>
                <a:schemeClr val="bg1"/>
              </a:solidFill>
            </a:endParaRPr>
          </a:p>
        </p:txBody>
      </p:sp>
      <p:sp>
        <p:nvSpPr>
          <p:cNvPr id="8" name="Rectangle 7"/>
          <p:cNvSpPr/>
          <p:nvPr/>
        </p:nvSpPr>
        <p:spPr>
          <a:xfrm>
            <a:off x="1835696" y="4509120"/>
            <a:ext cx="7272808" cy="1200329"/>
          </a:xfrm>
          <a:prstGeom prst="rect">
            <a:avLst/>
          </a:prstGeom>
        </p:spPr>
        <p:txBody>
          <a:bodyPr wrap="square">
            <a:spAutoFit/>
          </a:bodyPr>
          <a:lstStyle/>
          <a:p>
            <a:pPr algn="just"/>
            <a:r>
              <a:rPr lang="en-US" dirty="0">
                <a:solidFill>
                  <a:schemeClr val="bg1"/>
                </a:solidFill>
              </a:rPr>
              <a:t>The OS design should incorporate security considerations from the outset, integrating security mechanisms seamlessly into its architecture. This includes secure coding practices, minimized attack surfaces, and defense-in depth strategies.</a:t>
            </a:r>
            <a:endParaRPr lang="fr-FR" dirty="0">
              <a:solidFill>
                <a:schemeClr val="bg1"/>
              </a:solidFill>
            </a:endParaRPr>
          </a:p>
        </p:txBody>
      </p:sp>
      <p:sp>
        <p:nvSpPr>
          <p:cNvPr id="9" name="Rectangle 8"/>
          <p:cNvSpPr/>
          <p:nvPr/>
        </p:nvSpPr>
        <p:spPr>
          <a:xfrm>
            <a:off x="1612826" y="5685055"/>
            <a:ext cx="7351662" cy="1200329"/>
          </a:xfrm>
          <a:prstGeom prst="rect">
            <a:avLst/>
          </a:prstGeom>
        </p:spPr>
        <p:txBody>
          <a:bodyPr wrap="square">
            <a:spAutoFit/>
          </a:bodyPr>
          <a:lstStyle/>
          <a:p>
            <a:pPr algn="just"/>
            <a:r>
              <a:rPr lang="en-US" dirty="0">
                <a:solidFill>
                  <a:schemeClr val="bg1"/>
                </a:solidFill>
              </a:rPr>
              <a:t>Trustworthiness is built upon a foundation of assurance, demonstrating that the OS has been rigorously evaluated and certified to meet its security requirements.</a:t>
            </a:r>
          </a:p>
          <a:p>
            <a:pPr algn="just"/>
            <a:r>
              <a:rPr lang="en-US" dirty="0">
                <a:solidFill>
                  <a:schemeClr val="bg1"/>
                </a:solidFill>
              </a:rPr>
              <a:t>This involves formal verification, penetration testing, and code audits</a:t>
            </a:r>
            <a:endParaRPr lang="fr-FR" dirty="0">
              <a:solidFill>
                <a:schemeClr val="bg1"/>
              </a:solidFill>
            </a:endParaRPr>
          </a:p>
        </p:txBody>
      </p:sp>
      <p:sp>
        <p:nvSpPr>
          <p:cNvPr id="18" name="ZoneTexte 17"/>
          <p:cNvSpPr txBox="1"/>
          <p:nvPr/>
        </p:nvSpPr>
        <p:spPr>
          <a:xfrm>
            <a:off x="50506" y="305733"/>
            <a:ext cx="1602130"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a:solidFill>
                  <a:schemeClr val="bg1"/>
                </a:solidFill>
              </a:rPr>
              <a:t>Introduction</a:t>
            </a:r>
          </a:p>
        </p:txBody>
      </p:sp>
      <p:sp>
        <p:nvSpPr>
          <p:cNvPr id="19" name="ZoneTexte 18"/>
          <p:cNvSpPr txBox="1"/>
          <p:nvPr/>
        </p:nvSpPr>
        <p:spPr>
          <a:xfrm>
            <a:off x="3563888" y="305733"/>
            <a:ext cx="1867924"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Sec.Reqs</a:t>
            </a:r>
            <a:endParaRPr lang="fr-FR" dirty="0">
              <a:solidFill>
                <a:schemeClr val="bg1"/>
              </a:solidFill>
            </a:endParaRPr>
          </a:p>
        </p:txBody>
      </p:sp>
      <p:sp>
        <p:nvSpPr>
          <p:cNvPr id="20" name="ZoneTexte 19"/>
          <p:cNvSpPr txBox="1"/>
          <p:nvPr/>
        </p:nvSpPr>
        <p:spPr>
          <a:xfrm>
            <a:off x="5503820" y="305733"/>
            <a:ext cx="1948499" cy="408623"/>
          </a:xfrm>
          <a:prstGeom prst="flowChartAlternateProcess">
            <a:avLst/>
          </a:prstGeom>
          <a:solidFill>
            <a:srgbClr val="FF000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r-FR" dirty="0" err="1">
                <a:solidFill>
                  <a:schemeClr val="bg1"/>
                </a:solidFill>
              </a:rPr>
              <a:t>Trusted</a:t>
            </a:r>
            <a:r>
              <a:rPr lang="fr-FR" dirty="0">
                <a:solidFill>
                  <a:schemeClr val="bg1"/>
                </a:solidFill>
              </a:rPr>
              <a:t> OS</a:t>
            </a:r>
          </a:p>
        </p:txBody>
      </p:sp>
      <p:sp>
        <p:nvSpPr>
          <p:cNvPr id="21" name="ZoneTexte 20"/>
          <p:cNvSpPr txBox="1"/>
          <p:nvPr/>
        </p:nvSpPr>
        <p:spPr>
          <a:xfrm>
            <a:off x="1724644" y="305733"/>
            <a:ext cx="1767236" cy="408623"/>
          </a:xfrm>
          <a:prstGeom prst="flowChartAlternateProcess">
            <a:avLst/>
          </a:prstGeom>
          <a:solidFill>
            <a:schemeClr val="tx1"/>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ar-DZ" dirty="0"/>
              <a:t>  </a:t>
            </a:r>
            <a:r>
              <a:rPr lang="fr-FR" dirty="0" err="1"/>
              <a:t>Princ</a:t>
            </a:r>
            <a:r>
              <a:rPr lang="fr-FR" dirty="0"/>
              <a:t>.&amp;Tech.</a:t>
            </a:r>
          </a:p>
        </p:txBody>
      </p:sp>
    </p:spTree>
    <p:extLst>
      <p:ext uri="{BB962C8B-B14F-4D97-AF65-F5344CB8AC3E}">
        <p14:creationId xmlns:p14="http://schemas.microsoft.com/office/powerpoint/2010/main" val="256578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mph" presetSubtype="0" fill="hold" nodeType="clickEffect">
                                  <p:stCondLst>
                                    <p:cond delay="0"/>
                                  </p:stCondLst>
                                  <p:iterate type="lt">
                                    <p:tmPct val="4000"/>
                                  </p:iterate>
                                  <p:childTnLst>
                                    <p:set>
                                      <p:cBhvr override="childStyle">
                                        <p:cTn id="19" dur="500" fill="hold"/>
                                        <p:tgtEl>
                                          <p:spTgt spid="4">
                                            <p:txEl>
                                              <p:pRg st="0" end="0"/>
                                            </p:txEl>
                                          </p:spTgt>
                                        </p:tgtEl>
                                        <p:attrNameLst>
                                          <p:attrName>style.color</p:attrName>
                                        </p:attrNameLst>
                                      </p:cBhvr>
                                      <p:to>
                                        <p:clrVal>
                                          <a:srgbClr val="99FF66"/>
                                        </p:clrVal>
                                      </p:to>
                                    </p:set>
                                    <p:set>
                                      <p:cBhvr>
                                        <p:cTn id="20" dur="500" fill="hold"/>
                                        <p:tgtEl>
                                          <p:spTgt spid="4">
                                            <p:txEl>
                                              <p:pRg st="0" end="0"/>
                                            </p:txEl>
                                          </p:spTgt>
                                        </p:tgtEl>
                                        <p:attrNameLst>
                                          <p:attrName>fillcolor</p:attrName>
                                        </p:attrNameLst>
                                      </p:cBhvr>
                                      <p:to>
                                        <p:clrVal>
                                          <a:srgbClr val="99FF66"/>
                                        </p:clrVal>
                                      </p:to>
                                    </p:set>
                                    <p:set>
                                      <p:cBhvr>
                                        <p:cTn id="21" dur="500" fill="hold"/>
                                        <p:tgtEl>
                                          <p:spTgt spid="4">
                                            <p:txEl>
                                              <p:pRg st="0" end="0"/>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4">
                                            <p:txEl>
                                              <p:pRg st="1" end="1"/>
                                            </p:txEl>
                                          </p:spTgt>
                                        </p:tgtEl>
                                        <p:attrNameLst>
                                          <p:attrName>style.color</p:attrName>
                                        </p:attrNameLst>
                                      </p:cBhvr>
                                      <p:to>
                                        <p:clrVal>
                                          <a:srgbClr val="99FF66"/>
                                        </p:clrVal>
                                      </p:to>
                                    </p:set>
                                    <p:set>
                                      <p:cBhvr>
                                        <p:cTn id="31" dur="500" fill="hold"/>
                                        <p:tgtEl>
                                          <p:spTgt spid="4">
                                            <p:txEl>
                                              <p:pRg st="1" end="1"/>
                                            </p:txEl>
                                          </p:spTgt>
                                        </p:tgtEl>
                                        <p:attrNameLst>
                                          <p:attrName>fillcolor</p:attrName>
                                        </p:attrNameLst>
                                      </p:cBhvr>
                                      <p:to>
                                        <p:clrVal>
                                          <a:srgbClr val="99FF66"/>
                                        </p:clrVal>
                                      </p:to>
                                    </p:set>
                                    <p:set>
                                      <p:cBhvr>
                                        <p:cTn id="32" dur="500" fill="hold"/>
                                        <p:tgtEl>
                                          <p:spTgt spid="4">
                                            <p:txEl>
                                              <p:pRg st="1" end="1"/>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mph" presetSubtype="0" fill="hold" nodeType="clickEffect">
                                  <p:stCondLst>
                                    <p:cond delay="0"/>
                                  </p:stCondLst>
                                  <p:iterate type="lt">
                                    <p:tmPct val="4000"/>
                                  </p:iterate>
                                  <p:childTnLst>
                                    <p:set>
                                      <p:cBhvr override="childStyle">
                                        <p:cTn id="41" dur="500" fill="hold"/>
                                        <p:tgtEl>
                                          <p:spTgt spid="4">
                                            <p:txEl>
                                              <p:pRg st="2" end="2"/>
                                            </p:txEl>
                                          </p:spTgt>
                                        </p:tgtEl>
                                        <p:attrNameLst>
                                          <p:attrName>style.color</p:attrName>
                                        </p:attrNameLst>
                                      </p:cBhvr>
                                      <p:to>
                                        <p:clrVal>
                                          <a:srgbClr val="99FF66"/>
                                        </p:clrVal>
                                      </p:to>
                                    </p:set>
                                    <p:set>
                                      <p:cBhvr>
                                        <p:cTn id="42" dur="500" fill="hold"/>
                                        <p:tgtEl>
                                          <p:spTgt spid="4">
                                            <p:txEl>
                                              <p:pRg st="2" end="2"/>
                                            </p:txEl>
                                          </p:spTgt>
                                        </p:tgtEl>
                                        <p:attrNameLst>
                                          <p:attrName>fillcolor</p:attrName>
                                        </p:attrNameLst>
                                      </p:cBhvr>
                                      <p:to>
                                        <p:clrVal>
                                          <a:srgbClr val="99FF66"/>
                                        </p:clrVal>
                                      </p:to>
                                    </p:set>
                                    <p:set>
                                      <p:cBhvr>
                                        <p:cTn id="43" dur="500" fill="hold"/>
                                        <p:tgtEl>
                                          <p:spTgt spid="4">
                                            <p:txEl>
                                              <p:pRg st="2" end="2"/>
                                            </p:txEl>
                                          </p:spTgt>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barn(inVertical)">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mph" presetSubtype="0" fill="hold" nodeType="clickEffect">
                                  <p:stCondLst>
                                    <p:cond delay="0"/>
                                  </p:stCondLst>
                                  <p:iterate type="lt">
                                    <p:tmPct val="4000"/>
                                  </p:iterate>
                                  <p:childTnLst>
                                    <p:set>
                                      <p:cBhvr override="childStyle">
                                        <p:cTn id="52" dur="500" fill="hold"/>
                                        <p:tgtEl>
                                          <p:spTgt spid="4">
                                            <p:txEl>
                                              <p:pRg st="3" end="3"/>
                                            </p:txEl>
                                          </p:spTgt>
                                        </p:tgtEl>
                                        <p:attrNameLst>
                                          <p:attrName>style.color</p:attrName>
                                        </p:attrNameLst>
                                      </p:cBhvr>
                                      <p:to>
                                        <p:clrVal>
                                          <a:srgbClr val="99FF66"/>
                                        </p:clrVal>
                                      </p:to>
                                    </p:set>
                                    <p:set>
                                      <p:cBhvr>
                                        <p:cTn id="53" dur="500" fill="hold"/>
                                        <p:tgtEl>
                                          <p:spTgt spid="4">
                                            <p:txEl>
                                              <p:pRg st="3" end="3"/>
                                            </p:txEl>
                                          </p:spTgt>
                                        </p:tgtEl>
                                        <p:attrNameLst>
                                          <p:attrName>fillcolor</p:attrName>
                                        </p:attrNameLst>
                                      </p:cBhvr>
                                      <p:to>
                                        <p:clrVal>
                                          <a:srgbClr val="99FF66"/>
                                        </p:clrVal>
                                      </p:to>
                                    </p:set>
                                    <p:set>
                                      <p:cBhvr>
                                        <p:cTn id="54" dur="500" fill="hold"/>
                                        <p:tgtEl>
                                          <p:spTgt spid="4">
                                            <p:txEl>
                                              <p:pRg st="3" end="3"/>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barn(inVertical)">
                                      <p:cBhvr>
                                        <p:cTn id="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rot="19863107">
            <a:off x="45213" y="872226"/>
            <a:ext cx="6010332" cy="1967294"/>
          </a:xfrm>
          <a:prstGeom prst="rect">
            <a:avLst/>
          </a:prstGeom>
          <a:noFill/>
        </p:spPr>
        <p:txBody>
          <a:bodyPr wrap="square" rtlCol="0">
            <a:prstTxWarp prst="textCurveDown">
              <a:avLst/>
            </a:prstTxWarp>
            <a:spAutoFit/>
            <a:scene3d>
              <a:camera prst="orthographicFront"/>
              <a:lightRig rig="threePt" dir="t"/>
            </a:scene3d>
            <a:sp3d extrusionH="57150">
              <a:bevelT w="82550" h="38100" prst="coolSlant"/>
            </a:sp3d>
          </a:bodyPr>
          <a:lstStyle/>
          <a:p>
            <a:pPr algn="ctr"/>
            <a:r>
              <a:rPr lang="fr-FR" sz="6000" b="1" dirty="0" err="1">
                <a:solidFill>
                  <a:srgbClr val="FF0000"/>
                </a:solidFill>
                <a:effectLst>
                  <a:outerShdw blurRad="38100" dist="38100" dir="2700000" algn="tl">
                    <a:srgbClr val="000000">
                      <a:alpha val="43137"/>
                    </a:srgbClr>
                  </a:outerShdw>
                </a:effectLst>
                <a:latin typeface="Ink Free" pitchFamily="66" charset="0"/>
              </a:rPr>
              <a:t>Thank</a:t>
            </a:r>
            <a:r>
              <a:rPr lang="fr-FR" sz="6000" b="1" dirty="0">
                <a:solidFill>
                  <a:srgbClr val="FF0000"/>
                </a:solidFill>
                <a:effectLst>
                  <a:outerShdw blurRad="38100" dist="38100" dir="2700000" algn="tl">
                    <a:srgbClr val="000000">
                      <a:alpha val="43137"/>
                    </a:srgbClr>
                  </a:outerShdw>
                </a:effectLst>
                <a:latin typeface="Ink Free" pitchFamily="66" charset="0"/>
              </a:rPr>
              <a:t> U</a:t>
            </a:r>
            <a:r>
              <a:rPr lang="fr-FR" sz="6000" b="1" dirty="0">
                <a:solidFill>
                  <a:schemeClr val="bg1"/>
                </a:solidFill>
                <a:effectLst>
                  <a:outerShdw blurRad="38100" dist="38100" dir="2700000" algn="tl">
                    <a:srgbClr val="000000">
                      <a:alpha val="43137"/>
                    </a:srgbClr>
                  </a:outerShdw>
                </a:effectLst>
                <a:latin typeface="Ink Free" pitchFamily="66" charset="0"/>
              </a:rPr>
              <a:t> </a:t>
            </a:r>
          </a:p>
          <a:p>
            <a:pPr algn="ctr"/>
            <a:r>
              <a:rPr lang="fr-FR" sz="4000" b="1" dirty="0">
                <a:solidFill>
                  <a:schemeClr val="bg1"/>
                </a:solidFill>
                <a:effectLst>
                  <a:outerShdw blurRad="38100" dist="38100" dir="2700000" algn="tl">
                    <a:srgbClr val="000000">
                      <a:alpha val="43137"/>
                    </a:srgbClr>
                  </a:outerShdw>
                </a:effectLst>
                <a:latin typeface="Ink Free" pitchFamily="66" charset="0"/>
              </a:rPr>
              <a:t>For </a:t>
            </a:r>
            <a:r>
              <a:rPr lang="fr-FR" sz="4000" b="1" dirty="0" err="1">
                <a:solidFill>
                  <a:schemeClr val="bg1"/>
                </a:solidFill>
                <a:effectLst>
                  <a:outerShdw blurRad="38100" dist="38100" dir="2700000" algn="tl">
                    <a:srgbClr val="000000">
                      <a:alpha val="43137"/>
                    </a:srgbClr>
                  </a:outerShdw>
                </a:effectLst>
                <a:latin typeface="Ink Free" pitchFamily="66" charset="0"/>
              </a:rPr>
              <a:t>your</a:t>
            </a:r>
            <a:r>
              <a:rPr lang="fr-FR" sz="4000" b="1" dirty="0">
                <a:solidFill>
                  <a:schemeClr val="bg1"/>
                </a:solidFill>
                <a:effectLst>
                  <a:outerShdw blurRad="38100" dist="38100" dir="2700000" algn="tl">
                    <a:srgbClr val="000000">
                      <a:alpha val="43137"/>
                    </a:srgbClr>
                  </a:outerShdw>
                </a:effectLst>
                <a:latin typeface="Ink Free" pitchFamily="66" charset="0"/>
              </a:rPr>
              <a:t> attention</a:t>
            </a:r>
          </a:p>
          <a:p>
            <a:pPr algn="ctr"/>
            <a:endParaRPr lang="fr-FR" sz="4000" b="1" dirty="0">
              <a:solidFill>
                <a:schemeClr val="bg1"/>
              </a:solidFill>
              <a:effectLst>
                <a:outerShdw blurRad="38100" dist="38100" dir="2700000" algn="tl">
                  <a:srgbClr val="000000">
                    <a:alpha val="43137"/>
                  </a:srgbClr>
                </a:outerShdw>
              </a:effectLst>
              <a:latin typeface="Jokerman" pitchFamily="82" charset="0"/>
            </a:endParaRPr>
          </a:p>
        </p:txBody>
      </p:sp>
      <p:pic>
        <p:nvPicPr>
          <p:cNvPr id="6" name="Image 5" descr="img.bmp"/>
          <p:cNvPicPr>
            <a:picLocks noChangeAspect="1"/>
          </p:cNvPicPr>
          <p:nvPr/>
        </p:nvPicPr>
        <p:blipFill>
          <a:blip r:embed="rId2">
            <a:clrChange>
              <a:clrFrom>
                <a:srgbClr val="FFFFFF"/>
              </a:clrFrom>
              <a:clrTo>
                <a:srgbClr val="FFFFFF">
                  <a:alpha val="0"/>
                </a:srgbClr>
              </a:clrTo>
            </a:clrChange>
          </a:blip>
          <a:stretch>
            <a:fillRect/>
          </a:stretch>
        </p:blipFill>
        <p:spPr>
          <a:xfrm>
            <a:off x="1071538" y="2786058"/>
            <a:ext cx="1847850" cy="2786082"/>
          </a:xfrm>
          <a:prstGeom prst="rect">
            <a:avLst/>
          </a:prstGeom>
        </p:spPr>
      </p:pic>
      <p:grpSp>
        <p:nvGrpSpPr>
          <p:cNvPr id="3" name="Group 118"/>
          <p:cNvGrpSpPr>
            <a:grpSpLocks/>
          </p:cNvGrpSpPr>
          <p:nvPr/>
        </p:nvGrpSpPr>
        <p:grpSpPr bwMode="auto">
          <a:xfrm>
            <a:off x="3000364" y="5715000"/>
            <a:ext cx="490538" cy="1143000"/>
            <a:chOff x="1536" y="3312"/>
            <a:chExt cx="309" cy="720"/>
          </a:xfrm>
        </p:grpSpPr>
        <p:sp>
          <p:nvSpPr>
            <p:cNvPr id="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1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1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1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1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1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1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1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4" name="Group 118"/>
          <p:cNvGrpSpPr>
            <a:grpSpLocks/>
          </p:cNvGrpSpPr>
          <p:nvPr/>
        </p:nvGrpSpPr>
        <p:grpSpPr bwMode="auto">
          <a:xfrm>
            <a:off x="2438400" y="5270500"/>
            <a:ext cx="490538" cy="1143000"/>
            <a:chOff x="1536" y="3312"/>
            <a:chExt cx="309" cy="720"/>
          </a:xfrm>
        </p:grpSpPr>
        <p:sp>
          <p:nvSpPr>
            <p:cNvPr id="1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1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2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2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2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2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2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2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2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5" name="Group 118"/>
          <p:cNvGrpSpPr>
            <a:grpSpLocks/>
          </p:cNvGrpSpPr>
          <p:nvPr/>
        </p:nvGrpSpPr>
        <p:grpSpPr bwMode="auto">
          <a:xfrm>
            <a:off x="2590800" y="5422900"/>
            <a:ext cx="490538" cy="1143000"/>
            <a:chOff x="1536" y="3312"/>
            <a:chExt cx="309" cy="720"/>
          </a:xfrm>
        </p:grpSpPr>
        <p:sp>
          <p:nvSpPr>
            <p:cNvPr id="2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2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3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3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3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3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3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3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3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7" name="Group 118"/>
          <p:cNvGrpSpPr>
            <a:grpSpLocks/>
          </p:cNvGrpSpPr>
          <p:nvPr/>
        </p:nvGrpSpPr>
        <p:grpSpPr bwMode="auto">
          <a:xfrm>
            <a:off x="2743200" y="5575300"/>
            <a:ext cx="490538" cy="1143000"/>
            <a:chOff x="1536" y="3312"/>
            <a:chExt cx="309" cy="720"/>
          </a:xfrm>
        </p:grpSpPr>
        <p:sp>
          <p:nvSpPr>
            <p:cNvPr id="3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3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4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4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4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4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4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4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4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17" name="Group 118"/>
          <p:cNvGrpSpPr>
            <a:grpSpLocks/>
          </p:cNvGrpSpPr>
          <p:nvPr/>
        </p:nvGrpSpPr>
        <p:grpSpPr bwMode="auto">
          <a:xfrm>
            <a:off x="3071802" y="5357826"/>
            <a:ext cx="490538" cy="1143000"/>
            <a:chOff x="1536" y="3312"/>
            <a:chExt cx="309" cy="720"/>
          </a:xfrm>
        </p:grpSpPr>
        <p:sp>
          <p:nvSpPr>
            <p:cNvPr id="4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4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5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5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5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5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5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5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5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27" name="Group 118"/>
          <p:cNvGrpSpPr>
            <a:grpSpLocks/>
          </p:cNvGrpSpPr>
          <p:nvPr/>
        </p:nvGrpSpPr>
        <p:grpSpPr bwMode="auto">
          <a:xfrm>
            <a:off x="3357554" y="5429264"/>
            <a:ext cx="490538" cy="1143000"/>
            <a:chOff x="1536" y="3312"/>
            <a:chExt cx="309" cy="720"/>
          </a:xfrm>
        </p:grpSpPr>
        <p:sp>
          <p:nvSpPr>
            <p:cNvPr id="5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5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6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6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6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6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6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6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6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37" name="Group 118"/>
          <p:cNvGrpSpPr>
            <a:grpSpLocks/>
          </p:cNvGrpSpPr>
          <p:nvPr/>
        </p:nvGrpSpPr>
        <p:grpSpPr bwMode="auto">
          <a:xfrm>
            <a:off x="1857356" y="5500702"/>
            <a:ext cx="490538" cy="1143000"/>
            <a:chOff x="1536" y="3312"/>
            <a:chExt cx="309" cy="720"/>
          </a:xfrm>
        </p:grpSpPr>
        <p:sp>
          <p:nvSpPr>
            <p:cNvPr id="6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6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7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7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7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7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7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7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7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47" name="Group 118"/>
          <p:cNvGrpSpPr>
            <a:grpSpLocks/>
          </p:cNvGrpSpPr>
          <p:nvPr/>
        </p:nvGrpSpPr>
        <p:grpSpPr bwMode="auto">
          <a:xfrm>
            <a:off x="3357554" y="4857760"/>
            <a:ext cx="490538" cy="1143000"/>
            <a:chOff x="1536" y="3312"/>
            <a:chExt cx="309" cy="720"/>
          </a:xfrm>
        </p:grpSpPr>
        <p:sp>
          <p:nvSpPr>
            <p:cNvPr id="7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7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8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8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8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8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8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8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8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57" name="Group 118"/>
          <p:cNvGrpSpPr>
            <a:grpSpLocks/>
          </p:cNvGrpSpPr>
          <p:nvPr/>
        </p:nvGrpSpPr>
        <p:grpSpPr bwMode="auto">
          <a:xfrm>
            <a:off x="2928926" y="4929198"/>
            <a:ext cx="490538" cy="1143000"/>
            <a:chOff x="1536" y="3312"/>
            <a:chExt cx="309" cy="720"/>
          </a:xfrm>
        </p:grpSpPr>
        <p:sp>
          <p:nvSpPr>
            <p:cNvPr id="8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8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9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9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9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9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9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9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9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grpSp>
        <p:nvGrpSpPr>
          <p:cNvPr id="67" name="Group 118"/>
          <p:cNvGrpSpPr>
            <a:grpSpLocks/>
          </p:cNvGrpSpPr>
          <p:nvPr/>
        </p:nvGrpSpPr>
        <p:grpSpPr bwMode="auto">
          <a:xfrm>
            <a:off x="1428728" y="5429264"/>
            <a:ext cx="490538" cy="1143000"/>
            <a:chOff x="1536" y="3312"/>
            <a:chExt cx="309" cy="720"/>
          </a:xfrm>
        </p:grpSpPr>
        <p:sp>
          <p:nvSpPr>
            <p:cNvPr id="98" name="Freeform 108"/>
            <p:cNvSpPr>
              <a:spLocks/>
            </p:cNvSpPr>
            <p:nvPr/>
          </p:nvSpPr>
          <p:spPr bwMode="auto">
            <a:xfrm rot="240000" flipH="1">
              <a:off x="1697" y="3754"/>
              <a:ext cx="148" cy="274"/>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99" name="Freeform 109"/>
            <p:cNvSpPr>
              <a:spLocks/>
            </p:cNvSpPr>
            <p:nvPr/>
          </p:nvSpPr>
          <p:spPr bwMode="auto">
            <a:xfrm>
              <a:off x="1536" y="3754"/>
              <a:ext cx="139" cy="278"/>
            </a:xfrm>
            <a:custGeom>
              <a:avLst/>
              <a:gdLst>
                <a:gd name="T0" fmla="*/ 849 w 1626"/>
                <a:gd name="T1" fmla="*/ 1460 h 3027"/>
                <a:gd name="T2" fmla="*/ 812 w 1626"/>
                <a:gd name="T3" fmla="*/ 1932 h 3027"/>
                <a:gd name="T4" fmla="*/ 731 w 1626"/>
                <a:gd name="T5" fmla="*/ 2494 h 3027"/>
                <a:gd name="T6" fmla="*/ 724 w 1626"/>
                <a:gd name="T7" fmla="*/ 2516 h 3027"/>
                <a:gd name="T8" fmla="*/ 701 w 1626"/>
                <a:gd name="T9" fmla="*/ 2523 h 3027"/>
                <a:gd name="T10" fmla="*/ 635 w 1626"/>
                <a:gd name="T11" fmla="*/ 2575 h 3027"/>
                <a:gd name="T12" fmla="*/ 598 w 1626"/>
                <a:gd name="T13" fmla="*/ 2604 h 3027"/>
                <a:gd name="T14" fmla="*/ 576 w 1626"/>
                <a:gd name="T15" fmla="*/ 2626 h 3027"/>
                <a:gd name="T16" fmla="*/ 465 w 1626"/>
                <a:gd name="T17" fmla="*/ 2678 h 3027"/>
                <a:gd name="T18" fmla="*/ 406 w 1626"/>
                <a:gd name="T19" fmla="*/ 2700 h 3027"/>
                <a:gd name="T20" fmla="*/ 376 w 1626"/>
                <a:gd name="T21" fmla="*/ 2722 h 3027"/>
                <a:gd name="T22" fmla="*/ 273 w 1626"/>
                <a:gd name="T23" fmla="*/ 2745 h 3027"/>
                <a:gd name="T24" fmla="*/ 148 w 1626"/>
                <a:gd name="T25" fmla="*/ 2767 h 3027"/>
                <a:gd name="T26" fmla="*/ 96 w 1626"/>
                <a:gd name="T27" fmla="*/ 2782 h 3027"/>
                <a:gd name="T28" fmla="*/ 44 w 1626"/>
                <a:gd name="T29" fmla="*/ 2811 h 3027"/>
                <a:gd name="T30" fmla="*/ 0 w 1626"/>
                <a:gd name="T31" fmla="*/ 2885 h 3027"/>
                <a:gd name="T32" fmla="*/ 177 w 1626"/>
                <a:gd name="T33" fmla="*/ 2988 h 3027"/>
                <a:gd name="T34" fmla="*/ 679 w 1626"/>
                <a:gd name="T35" fmla="*/ 2996 h 3027"/>
                <a:gd name="T36" fmla="*/ 1004 w 1626"/>
                <a:gd name="T37" fmla="*/ 2988 h 3027"/>
                <a:gd name="T38" fmla="*/ 1071 w 1626"/>
                <a:gd name="T39" fmla="*/ 2951 h 3027"/>
                <a:gd name="T40" fmla="*/ 1122 w 1626"/>
                <a:gd name="T41" fmla="*/ 2892 h 3027"/>
                <a:gd name="T42" fmla="*/ 1167 w 1626"/>
                <a:gd name="T43" fmla="*/ 2774 h 3027"/>
                <a:gd name="T44" fmla="*/ 1285 w 1626"/>
                <a:gd name="T45" fmla="*/ 2228 h 3027"/>
                <a:gd name="T46" fmla="*/ 1314 w 1626"/>
                <a:gd name="T47" fmla="*/ 1622 h 3027"/>
                <a:gd name="T48" fmla="*/ 1359 w 1626"/>
                <a:gd name="T49" fmla="*/ 1445 h 3027"/>
                <a:gd name="T50" fmla="*/ 1418 w 1626"/>
                <a:gd name="T51" fmla="*/ 1231 h 3027"/>
                <a:gd name="T52" fmla="*/ 1432 w 1626"/>
                <a:gd name="T53" fmla="*/ 1186 h 3027"/>
                <a:gd name="T54" fmla="*/ 1462 w 1626"/>
                <a:gd name="T55" fmla="*/ 1113 h 3027"/>
                <a:gd name="T56" fmla="*/ 1506 w 1626"/>
                <a:gd name="T57" fmla="*/ 965 h 3027"/>
                <a:gd name="T58" fmla="*/ 1536 w 1626"/>
                <a:gd name="T59" fmla="*/ 854 h 3027"/>
                <a:gd name="T60" fmla="*/ 1573 w 1626"/>
                <a:gd name="T61" fmla="*/ 463 h 3027"/>
                <a:gd name="T62" fmla="*/ 1573 w 1626"/>
                <a:gd name="T63" fmla="*/ 27 h 3027"/>
                <a:gd name="T64" fmla="*/ 1506 w 1626"/>
                <a:gd name="T65" fmla="*/ 5 h 3027"/>
                <a:gd name="T66" fmla="*/ 1048 w 1626"/>
                <a:gd name="T67" fmla="*/ 12 h 3027"/>
                <a:gd name="T68" fmla="*/ 1034 w 1626"/>
                <a:gd name="T69" fmla="*/ 42 h 3027"/>
                <a:gd name="T70" fmla="*/ 1012 w 1626"/>
                <a:gd name="T71" fmla="*/ 167 h 3027"/>
                <a:gd name="T72" fmla="*/ 893 w 1626"/>
                <a:gd name="T73" fmla="*/ 1090 h 3027"/>
                <a:gd name="T74" fmla="*/ 849 w 1626"/>
                <a:gd name="T75" fmla="*/ 1460 h 302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26"/>
                <a:gd name="T115" fmla="*/ 0 h 3027"/>
                <a:gd name="T116" fmla="*/ 1626 w 1626"/>
                <a:gd name="T117" fmla="*/ 3027 h 302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26" h="3027">
                  <a:moveTo>
                    <a:pt x="849" y="1460"/>
                  </a:moveTo>
                  <a:cubicBezTo>
                    <a:pt x="844" y="1615"/>
                    <a:pt x="854" y="1781"/>
                    <a:pt x="812" y="1932"/>
                  </a:cubicBezTo>
                  <a:cubicBezTo>
                    <a:pt x="808" y="2130"/>
                    <a:pt x="841" y="2325"/>
                    <a:pt x="731" y="2494"/>
                  </a:cubicBezTo>
                  <a:cubicBezTo>
                    <a:pt x="729" y="2501"/>
                    <a:pt x="730" y="2511"/>
                    <a:pt x="724" y="2516"/>
                  </a:cubicBezTo>
                  <a:cubicBezTo>
                    <a:pt x="718" y="2522"/>
                    <a:pt x="708" y="2519"/>
                    <a:pt x="701" y="2523"/>
                  </a:cubicBezTo>
                  <a:cubicBezTo>
                    <a:pt x="676" y="2535"/>
                    <a:pt x="658" y="2559"/>
                    <a:pt x="635" y="2575"/>
                  </a:cubicBezTo>
                  <a:cubicBezTo>
                    <a:pt x="601" y="2625"/>
                    <a:pt x="641" y="2575"/>
                    <a:pt x="598" y="2604"/>
                  </a:cubicBezTo>
                  <a:cubicBezTo>
                    <a:pt x="589" y="2610"/>
                    <a:pt x="584" y="2619"/>
                    <a:pt x="576" y="2626"/>
                  </a:cubicBezTo>
                  <a:cubicBezTo>
                    <a:pt x="546" y="2651"/>
                    <a:pt x="502" y="2666"/>
                    <a:pt x="465" y="2678"/>
                  </a:cubicBezTo>
                  <a:cubicBezTo>
                    <a:pt x="401" y="2722"/>
                    <a:pt x="496" y="2661"/>
                    <a:pt x="406" y="2700"/>
                  </a:cubicBezTo>
                  <a:cubicBezTo>
                    <a:pt x="395" y="2705"/>
                    <a:pt x="387" y="2716"/>
                    <a:pt x="376" y="2722"/>
                  </a:cubicBezTo>
                  <a:cubicBezTo>
                    <a:pt x="338" y="2743"/>
                    <a:pt x="321" y="2739"/>
                    <a:pt x="273" y="2745"/>
                  </a:cubicBezTo>
                  <a:cubicBezTo>
                    <a:pt x="232" y="2758"/>
                    <a:pt x="190" y="2756"/>
                    <a:pt x="148" y="2767"/>
                  </a:cubicBezTo>
                  <a:cubicBezTo>
                    <a:pt x="131" y="2772"/>
                    <a:pt x="96" y="2782"/>
                    <a:pt x="96" y="2782"/>
                  </a:cubicBezTo>
                  <a:cubicBezTo>
                    <a:pt x="79" y="2793"/>
                    <a:pt x="58" y="2797"/>
                    <a:pt x="44" y="2811"/>
                  </a:cubicBezTo>
                  <a:cubicBezTo>
                    <a:pt x="27" y="2828"/>
                    <a:pt x="11" y="2862"/>
                    <a:pt x="0" y="2885"/>
                  </a:cubicBezTo>
                  <a:cubicBezTo>
                    <a:pt x="16" y="2983"/>
                    <a:pt x="92" y="2968"/>
                    <a:pt x="177" y="2988"/>
                  </a:cubicBezTo>
                  <a:cubicBezTo>
                    <a:pt x="340" y="3027"/>
                    <a:pt x="512" y="2993"/>
                    <a:pt x="679" y="2996"/>
                  </a:cubicBezTo>
                  <a:cubicBezTo>
                    <a:pt x="787" y="2993"/>
                    <a:pt x="896" y="2993"/>
                    <a:pt x="1004" y="2988"/>
                  </a:cubicBezTo>
                  <a:cubicBezTo>
                    <a:pt x="1029" y="2987"/>
                    <a:pt x="1071" y="2951"/>
                    <a:pt x="1071" y="2951"/>
                  </a:cubicBezTo>
                  <a:cubicBezTo>
                    <a:pt x="1087" y="2926"/>
                    <a:pt x="1106" y="2917"/>
                    <a:pt x="1122" y="2892"/>
                  </a:cubicBezTo>
                  <a:cubicBezTo>
                    <a:pt x="1133" y="2852"/>
                    <a:pt x="1148" y="2811"/>
                    <a:pt x="1167" y="2774"/>
                  </a:cubicBezTo>
                  <a:cubicBezTo>
                    <a:pt x="1194" y="2572"/>
                    <a:pt x="1191" y="2410"/>
                    <a:pt x="1285" y="2228"/>
                  </a:cubicBezTo>
                  <a:cubicBezTo>
                    <a:pt x="1322" y="2033"/>
                    <a:pt x="1253" y="1813"/>
                    <a:pt x="1314" y="1622"/>
                  </a:cubicBezTo>
                  <a:cubicBezTo>
                    <a:pt x="1320" y="1570"/>
                    <a:pt x="1328" y="1490"/>
                    <a:pt x="1359" y="1445"/>
                  </a:cubicBezTo>
                  <a:cubicBezTo>
                    <a:pt x="1371" y="1371"/>
                    <a:pt x="1400" y="1303"/>
                    <a:pt x="1418" y="1231"/>
                  </a:cubicBezTo>
                  <a:cubicBezTo>
                    <a:pt x="1422" y="1216"/>
                    <a:pt x="1426" y="1201"/>
                    <a:pt x="1432" y="1186"/>
                  </a:cubicBezTo>
                  <a:cubicBezTo>
                    <a:pt x="1442" y="1162"/>
                    <a:pt x="1462" y="1113"/>
                    <a:pt x="1462" y="1113"/>
                  </a:cubicBezTo>
                  <a:cubicBezTo>
                    <a:pt x="1470" y="1051"/>
                    <a:pt x="1482" y="1027"/>
                    <a:pt x="1506" y="965"/>
                  </a:cubicBezTo>
                  <a:cubicBezTo>
                    <a:pt x="1519" y="932"/>
                    <a:pt x="1523" y="889"/>
                    <a:pt x="1536" y="854"/>
                  </a:cubicBezTo>
                  <a:cubicBezTo>
                    <a:pt x="1538" y="753"/>
                    <a:pt x="1499" y="571"/>
                    <a:pt x="1573" y="463"/>
                  </a:cubicBezTo>
                  <a:cubicBezTo>
                    <a:pt x="1626" y="305"/>
                    <a:pt x="1619" y="341"/>
                    <a:pt x="1573" y="27"/>
                  </a:cubicBezTo>
                  <a:cubicBezTo>
                    <a:pt x="1570" y="4"/>
                    <a:pt x="1506" y="5"/>
                    <a:pt x="1506" y="5"/>
                  </a:cubicBezTo>
                  <a:cubicBezTo>
                    <a:pt x="1353" y="7"/>
                    <a:pt x="1200" y="0"/>
                    <a:pt x="1048" y="12"/>
                  </a:cubicBezTo>
                  <a:cubicBezTo>
                    <a:pt x="1037" y="13"/>
                    <a:pt x="1037" y="32"/>
                    <a:pt x="1034" y="42"/>
                  </a:cubicBezTo>
                  <a:cubicBezTo>
                    <a:pt x="1021" y="82"/>
                    <a:pt x="1012" y="167"/>
                    <a:pt x="1012" y="167"/>
                  </a:cubicBezTo>
                  <a:cubicBezTo>
                    <a:pt x="1006" y="460"/>
                    <a:pt x="1036" y="814"/>
                    <a:pt x="893" y="1090"/>
                  </a:cubicBezTo>
                  <a:cubicBezTo>
                    <a:pt x="861" y="1228"/>
                    <a:pt x="859" y="1277"/>
                    <a:pt x="849" y="1460"/>
                  </a:cubicBezTo>
                  <a:close/>
                </a:path>
              </a:pathLst>
            </a:custGeom>
            <a:solidFill>
              <a:schemeClr val="tx1"/>
            </a:solidFill>
            <a:ln w="9525">
              <a:noFill/>
              <a:round/>
              <a:headEnd/>
              <a:tailEnd/>
            </a:ln>
          </p:spPr>
          <p:txBody>
            <a:bodyPr/>
            <a:lstStyle/>
            <a:p>
              <a:endParaRPr lang="fr-FR"/>
            </a:p>
          </p:txBody>
        </p:sp>
        <p:sp>
          <p:nvSpPr>
            <p:cNvPr id="100" name="Freeform 110"/>
            <p:cNvSpPr>
              <a:spLocks/>
            </p:cNvSpPr>
            <p:nvPr/>
          </p:nvSpPr>
          <p:spPr bwMode="auto">
            <a:xfrm flipH="1">
              <a:off x="1591" y="3440"/>
              <a:ext cx="207" cy="352"/>
            </a:xfrm>
            <a:custGeom>
              <a:avLst/>
              <a:gdLst>
                <a:gd name="T0" fmla="*/ 315 w 675"/>
                <a:gd name="T1" fmla="*/ 1111 h 1154"/>
                <a:gd name="T2" fmla="*/ 367 w 675"/>
                <a:gd name="T3" fmla="*/ 912 h 1154"/>
                <a:gd name="T4" fmla="*/ 374 w 675"/>
                <a:gd name="T5" fmla="*/ 875 h 1154"/>
                <a:gd name="T6" fmla="*/ 381 w 675"/>
                <a:gd name="T7" fmla="*/ 897 h 1154"/>
                <a:gd name="T8" fmla="*/ 396 w 675"/>
                <a:gd name="T9" fmla="*/ 941 h 1154"/>
                <a:gd name="T10" fmla="*/ 440 w 675"/>
                <a:gd name="T11" fmla="*/ 1119 h 1154"/>
                <a:gd name="T12" fmla="*/ 573 w 675"/>
                <a:gd name="T13" fmla="*/ 1111 h 1154"/>
                <a:gd name="T14" fmla="*/ 588 w 675"/>
                <a:gd name="T15" fmla="*/ 594 h 1154"/>
                <a:gd name="T16" fmla="*/ 647 w 675"/>
                <a:gd name="T17" fmla="*/ 240 h 1154"/>
                <a:gd name="T18" fmla="*/ 603 w 675"/>
                <a:gd name="T19" fmla="*/ 63 h 1154"/>
                <a:gd name="T20" fmla="*/ 300 w 675"/>
                <a:gd name="T21" fmla="*/ 48 h 1154"/>
                <a:gd name="T22" fmla="*/ 197 w 675"/>
                <a:gd name="T23" fmla="*/ 63 h 1154"/>
                <a:gd name="T24" fmla="*/ 152 w 675"/>
                <a:gd name="T25" fmla="*/ 92 h 1154"/>
                <a:gd name="T26" fmla="*/ 101 w 675"/>
                <a:gd name="T27" fmla="*/ 181 h 1154"/>
                <a:gd name="T28" fmla="*/ 138 w 675"/>
                <a:gd name="T29" fmla="*/ 513 h 1154"/>
                <a:gd name="T30" fmla="*/ 152 w 675"/>
                <a:gd name="T31" fmla="*/ 557 h 1154"/>
                <a:gd name="T32" fmla="*/ 160 w 675"/>
                <a:gd name="T33" fmla="*/ 580 h 1154"/>
                <a:gd name="T34" fmla="*/ 315 w 675"/>
                <a:gd name="T35" fmla="*/ 1111 h 11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5"/>
                <a:gd name="T55" fmla="*/ 0 h 1154"/>
                <a:gd name="T56" fmla="*/ 675 w 675"/>
                <a:gd name="T57" fmla="*/ 1154 h 11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5" h="1154">
                  <a:moveTo>
                    <a:pt x="315" y="1111"/>
                  </a:moveTo>
                  <a:cubicBezTo>
                    <a:pt x="336" y="1044"/>
                    <a:pt x="302" y="955"/>
                    <a:pt x="367" y="912"/>
                  </a:cubicBezTo>
                  <a:cubicBezTo>
                    <a:pt x="369" y="900"/>
                    <a:pt x="365" y="884"/>
                    <a:pt x="374" y="875"/>
                  </a:cubicBezTo>
                  <a:cubicBezTo>
                    <a:pt x="379" y="869"/>
                    <a:pt x="379" y="890"/>
                    <a:pt x="381" y="897"/>
                  </a:cubicBezTo>
                  <a:cubicBezTo>
                    <a:pt x="401" y="955"/>
                    <a:pt x="377" y="883"/>
                    <a:pt x="396" y="941"/>
                  </a:cubicBezTo>
                  <a:cubicBezTo>
                    <a:pt x="400" y="986"/>
                    <a:pt x="386" y="1099"/>
                    <a:pt x="440" y="1119"/>
                  </a:cubicBezTo>
                  <a:cubicBezTo>
                    <a:pt x="484" y="1116"/>
                    <a:pt x="561" y="1154"/>
                    <a:pt x="573" y="1111"/>
                  </a:cubicBezTo>
                  <a:cubicBezTo>
                    <a:pt x="621" y="945"/>
                    <a:pt x="556" y="763"/>
                    <a:pt x="588" y="594"/>
                  </a:cubicBezTo>
                  <a:cubicBezTo>
                    <a:pt x="595" y="477"/>
                    <a:pt x="611" y="353"/>
                    <a:pt x="647" y="240"/>
                  </a:cubicBezTo>
                  <a:cubicBezTo>
                    <a:pt x="644" y="173"/>
                    <a:pt x="675" y="86"/>
                    <a:pt x="603" y="63"/>
                  </a:cubicBezTo>
                  <a:cubicBezTo>
                    <a:pt x="510" y="0"/>
                    <a:pt x="442" y="44"/>
                    <a:pt x="300" y="48"/>
                  </a:cubicBezTo>
                  <a:cubicBezTo>
                    <a:pt x="278" y="50"/>
                    <a:pt x="225" y="47"/>
                    <a:pt x="197" y="63"/>
                  </a:cubicBezTo>
                  <a:cubicBezTo>
                    <a:pt x="181" y="72"/>
                    <a:pt x="152" y="92"/>
                    <a:pt x="152" y="92"/>
                  </a:cubicBezTo>
                  <a:cubicBezTo>
                    <a:pt x="132" y="123"/>
                    <a:pt x="121" y="152"/>
                    <a:pt x="101" y="181"/>
                  </a:cubicBezTo>
                  <a:cubicBezTo>
                    <a:pt x="104" y="285"/>
                    <a:pt x="74" y="418"/>
                    <a:pt x="138" y="513"/>
                  </a:cubicBezTo>
                  <a:cubicBezTo>
                    <a:pt x="143" y="528"/>
                    <a:pt x="147" y="542"/>
                    <a:pt x="152" y="557"/>
                  </a:cubicBezTo>
                  <a:cubicBezTo>
                    <a:pt x="155" y="565"/>
                    <a:pt x="160" y="580"/>
                    <a:pt x="160" y="580"/>
                  </a:cubicBezTo>
                  <a:cubicBezTo>
                    <a:pt x="167" y="1114"/>
                    <a:pt x="0" y="1131"/>
                    <a:pt x="315" y="1111"/>
                  </a:cubicBezTo>
                  <a:close/>
                </a:path>
              </a:pathLst>
            </a:custGeom>
            <a:solidFill>
              <a:schemeClr val="tx1"/>
            </a:solidFill>
            <a:ln w="9525">
              <a:noFill/>
              <a:round/>
              <a:headEnd/>
              <a:tailEnd/>
            </a:ln>
          </p:spPr>
          <p:txBody>
            <a:bodyPr/>
            <a:lstStyle/>
            <a:p>
              <a:endParaRPr lang="fr-FR"/>
            </a:p>
          </p:txBody>
        </p:sp>
        <p:sp>
          <p:nvSpPr>
            <p:cNvPr id="101" name="Freeform 111"/>
            <p:cNvSpPr>
              <a:spLocks/>
            </p:cNvSpPr>
            <p:nvPr/>
          </p:nvSpPr>
          <p:spPr bwMode="auto">
            <a:xfrm rot="21358603" flipH="1">
              <a:off x="1734" y="3476"/>
              <a:ext cx="82"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102" name="Freeform 112"/>
            <p:cNvSpPr>
              <a:spLocks/>
            </p:cNvSpPr>
            <p:nvPr/>
          </p:nvSpPr>
          <p:spPr bwMode="auto">
            <a:xfrm rot="300000">
              <a:off x="1556" y="3456"/>
              <a:ext cx="74" cy="278"/>
            </a:xfrm>
            <a:custGeom>
              <a:avLst/>
              <a:gdLst>
                <a:gd name="T0" fmla="*/ 481 w 827"/>
                <a:gd name="T1" fmla="*/ 60 h 2824"/>
                <a:gd name="T2" fmla="*/ 370 w 827"/>
                <a:gd name="T3" fmla="*/ 179 h 2824"/>
                <a:gd name="T4" fmla="*/ 356 w 827"/>
                <a:gd name="T5" fmla="*/ 201 h 2824"/>
                <a:gd name="T6" fmla="*/ 326 w 827"/>
                <a:gd name="T7" fmla="*/ 223 h 2824"/>
                <a:gd name="T8" fmla="*/ 319 w 827"/>
                <a:gd name="T9" fmla="*/ 252 h 2824"/>
                <a:gd name="T10" fmla="*/ 274 w 827"/>
                <a:gd name="T11" fmla="*/ 319 h 2824"/>
                <a:gd name="T12" fmla="*/ 230 w 827"/>
                <a:gd name="T13" fmla="*/ 415 h 2824"/>
                <a:gd name="T14" fmla="*/ 164 w 827"/>
                <a:gd name="T15" fmla="*/ 629 h 2824"/>
                <a:gd name="T16" fmla="*/ 75 w 827"/>
                <a:gd name="T17" fmla="*/ 969 h 2824"/>
                <a:gd name="T18" fmla="*/ 60 w 827"/>
                <a:gd name="T19" fmla="*/ 1781 h 2824"/>
                <a:gd name="T20" fmla="*/ 23 w 827"/>
                <a:gd name="T21" fmla="*/ 2711 h 2824"/>
                <a:gd name="T22" fmla="*/ 105 w 827"/>
                <a:gd name="T23" fmla="*/ 2800 h 2824"/>
                <a:gd name="T24" fmla="*/ 127 w 827"/>
                <a:gd name="T25" fmla="*/ 2785 h 2824"/>
                <a:gd name="T26" fmla="*/ 186 w 827"/>
                <a:gd name="T27" fmla="*/ 2652 h 2824"/>
                <a:gd name="T28" fmla="*/ 215 w 827"/>
                <a:gd name="T29" fmla="*/ 2608 h 2824"/>
                <a:gd name="T30" fmla="*/ 245 w 827"/>
                <a:gd name="T31" fmla="*/ 2534 h 2824"/>
                <a:gd name="T32" fmla="*/ 267 w 827"/>
                <a:gd name="T33" fmla="*/ 2364 h 2824"/>
                <a:gd name="T34" fmla="*/ 260 w 827"/>
                <a:gd name="T35" fmla="*/ 2652 h 2824"/>
                <a:gd name="T36" fmla="*/ 245 w 827"/>
                <a:gd name="T37" fmla="*/ 2697 h 2824"/>
                <a:gd name="T38" fmla="*/ 311 w 827"/>
                <a:gd name="T39" fmla="*/ 2719 h 2824"/>
                <a:gd name="T40" fmla="*/ 348 w 827"/>
                <a:gd name="T41" fmla="*/ 2645 h 2824"/>
                <a:gd name="T42" fmla="*/ 363 w 827"/>
                <a:gd name="T43" fmla="*/ 2276 h 2824"/>
                <a:gd name="T44" fmla="*/ 370 w 827"/>
                <a:gd name="T45" fmla="*/ 2305 h 2824"/>
                <a:gd name="T46" fmla="*/ 378 w 827"/>
                <a:gd name="T47" fmla="*/ 2342 h 2824"/>
                <a:gd name="T48" fmla="*/ 415 w 827"/>
                <a:gd name="T49" fmla="*/ 2475 h 2824"/>
                <a:gd name="T50" fmla="*/ 452 w 827"/>
                <a:gd name="T51" fmla="*/ 2645 h 2824"/>
                <a:gd name="T52" fmla="*/ 459 w 827"/>
                <a:gd name="T53" fmla="*/ 2689 h 2824"/>
                <a:gd name="T54" fmla="*/ 481 w 827"/>
                <a:gd name="T55" fmla="*/ 2675 h 2824"/>
                <a:gd name="T56" fmla="*/ 503 w 827"/>
                <a:gd name="T57" fmla="*/ 2630 h 2824"/>
                <a:gd name="T58" fmla="*/ 489 w 827"/>
                <a:gd name="T59" fmla="*/ 2387 h 2824"/>
                <a:gd name="T60" fmla="*/ 459 w 827"/>
                <a:gd name="T61" fmla="*/ 2320 h 2824"/>
                <a:gd name="T62" fmla="*/ 452 w 827"/>
                <a:gd name="T63" fmla="*/ 2291 h 2824"/>
                <a:gd name="T64" fmla="*/ 444 w 827"/>
                <a:gd name="T65" fmla="*/ 2268 h 2824"/>
                <a:gd name="T66" fmla="*/ 489 w 827"/>
                <a:gd name="T67" fmla="*/ 2327 h 2824"/>
                <a:gd name="T68" fmla="*/ 503 w 827"/>
                <a:gd name="T69" fmla="*/ 2357 h 2824"/>
                <a:gd name="T70" fmla="*/ 511 w 827"/>
                <a:gd name="T71" fmla="*/ 2387 h 2824"/>
                <a:gd name="T72" fmla="*/ 570 w 827"/>
                <a:gd name="T73" fmla="*/ 2475 h 2824"/>
                <a:gd name="T74" fmla="*/ 614 w 827"/>
                <a:gd name="T75" fmla="*/ 2549 h 2824"/>
                <a:gd name="T76" fmla="*/ 585 w 827"/>
                <a:gd name="T77" fmla="*/ 2350 h 2824"/>
                <a:gd name="T78" fmla="*/ 570 w 827"/>
                <a:gd name="T79" fmla="*/ 2320 h 2824"/>
                <a:gd name="T80" fmla="*/ 540 w 827"/>
                <a:gd name="T81" fmla="*/ 2276 h 2824"/>
                <a:gd name="T82" fmla="*/ 518 w 827"/>
                <a:gd name="T83" fmla="*/ 2231 h 2824"/>
                <a:gd name="T84" fmla="*/ 533 w 827"/>
                <a:gd name="T85" fmla="*/ 2254 h 2824"/>
                <a:gd name="T86" fmla="*/ 592 w 827"/>
                <a:gd name="T87" fmla="*/ 2313 h 2824"/>
                <a:gd name="T88" fmla="*/ 533 w 827"/>
                <a:gd name="T89" fmla="*/ 2135 h 2824"/>
                <a:gd name="T90" fmla="*/ 466 w 827"/>
                <a:gd name="T91" fmla="*/ 1995 h 2824"/>
                <a:gd name="T92" fmla="*/ 393 w 827"/>
                <a:gd name="T93" fmla="*/ 1729 h 2824"/>
                <a:gd name="T94" fmla="*/ 393 w 827"/>
                <a:gd name="T95" fmla="*/ 1190 h 2824"/>
                <a:gd name="T96" fmla="*/ 459 w 827"/>
                <a:gd name="T97" fmla="*/ 924 h 2824"/>
                <a:gd name="T98" fmla="*/ 703 w 827"/>
                <a:gd name="T99" fmla="*/ 503 h 2824"/>
                <a:gd name="T100" fmla="*/ 681 w 827"/>
                <a:gd name="T101" fmla="*/ 1 h 2824"/>
                <a:gd name="T102" fmla="*/ 555 w 827"/>
                <a:gd name="T103" fmla="*/ 31 h 2824"/>
                <a:gd name="T104" fmla="*/ 533 w 827"/>
                <a:gd name="T105" fmla="*/ 53 h 2824"/>
                <a:gd name="T106" fmla="*/ 481 w 827"/>
                <a:gd name="T107" fmla="*/ 60 h 282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27"/>
                <a:gd name="T163" fmla="*/ 0 h 2824"/>
                <a:gd name="T164" fmla="*/ 827 w 827"/>
                <a:gd name="T165" fmla="*/ 2824 h 282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27" h="2824">
                  <a:moveTo>
                    <a:pt x="481" y="60"/>
                  </a:moveTo>
                  <a:cubicBezTo>
                    <a:pt x="433" y="93"/>
                    <a:pt x="418" y="148"/>
                    <a:pt x="370" y="179"/>
                  </a:cubicBezTo>
                  <a:cubicBezTo>
                    <a:pt x="365" y="186"/>
                    <a:pt x="362" y="195"/>
                    <a:pt x="356" y="201"/>
                  </a:cubicBezTo>
                  <a:cubicBezTo>
                    <a:pt x="347" y="210"/>
                    <a:pt x="333" y="213"/>
                    <a:pt x="326" y="223"/>
                  </a:cubicBezTo>
                  <a:cubicBezTo>
                    <a:pt x="320" y="231"/>
                    <a:pt x="323" y="243"/>
                    <a:pt x="319" y="252"/>
                  </a:cubicBezTo>
                  <a:cubicBezTo>
                    <a:pt x="308" y="277"/>
                    <a:pt x="290" y="298"/>
                    <a:pt x="274" y="319"/>
                  </a:cubicBezTo>
                  <a:cubicBezTo>
                    <a:pt x="261" y="353"/>
                    <a:pt x="243" y="381"/>
                    <a:pt x="230" y="415"/>
                  </a:cubicBezTo>
                  <a:cubicBezTo>
                    <a:pt x="204" y="485"/>
                    <a:pt x="195" y="562"/>
                    <a:pt x="164" y="629"/>
                  </a:cubicBezTo>
                  <a:cubicBezTo>
                    <a:pt x="139" y="743"/>
                    <a:pt x="97" y="854"/>
                    <a:pt x="75" y="969"/>
                  </a:cubicBezTo>
                  <a:cubicBezTo>
                    <a:pt x="51" y="1300"/>
                    <a:pt x="67" y="1052"/>
                    <a:pt x="60" y="1781"/>
                  </a:cubicBezTo>
                  <a:cubicBezTo>
                    <a:pt x="57" y="2091"/>
                    <a:pt x="198" y="2455"/>
                    <a:pt x="23" y="2711"/>
                  </a:cubicBezTo>
                  <a:cubicBezTo>
                    <a:pt x="32" y="2814"/>
                    <a:pt x="0" y="2824"/>
                    <a:pt x="105" y="2800"/>
                  </a:cubicBezTo>
                  <a:cubicBezTo>
                    <a:pt x="114" y="2798"/>
                    <a:pt x="120" y="2790"/>
                    <a:pt x="127" y="2785"/>
                  </a:cubicBezTo>
                  <a:cubicBezTo>
                    <a:pt x="157" y="2740"/>
                    <a:pt x="168" y="2704"/>
                    <a:pt x="186" y="2652"/>
                  </a:cubicBezTo>
                  <a:cubicBezTo>
                    <a:pt x="192" y="2635"/>
                    <a:pt x="205" y="2623"/>
                    <a:pt x="215" y="2608"/>
                  </a:cubicBezTo>
                  <a:cubicBezTo>
                    <a:pt x="230" y="2585"/>
                    <a:pt x="236" y="2559"/>
                    <a:pt x="245" y="2534"/>
                  </a:cubicBezTo>
                  <a:cubicBezTo>
                    <a:pt x="256" y="2124"/>
                    <a:pt x="238" y="2245"/>
                    <a:pt x="267" y="2364"/>
                  </a:cubicBezTo>
                  <a:cubicBezTo>
                    <a:pt x="265" y="2460"/>
                    <a:pt x="266" y="2556"/>
                    <a:pt x="260" y="2652"/>
                  </a:cubicBezTo>
                  <a:cubicBezTo>
                    <a:pt x="259" y="2668"/>
                    <a:pt x="245" y="2697"/>
                    <a:pt x="245" y="2697"/>
                  </a:cubicBezTo>
                  <a:cubicBezTo>
                    <a:pt x="257" y="2735"/>
                    <a:pt x="274" y="2726"/>
                    <a:pt x="311" y="2719"/>
                  </a:cubicBezTo>
                  <a:cubicBezTo>
                    <a:pt x="324" y="2693"/>
                    <a:pt x="339" y="2672"/>
                    <a:pt x="348" y="2645"/>
                  </a:cubicBezTo>
                  <a:cubicBezTo>
                    <a:pt x="373" y="2463"/>
                    <a:pt x="341" y="2711"/>
                    <a:pt x="363" y="2276"/>
                  </a:cubicBezTo>
                  <a:cubicBezTo>
                    <a:pt x="363" y="2266"/>
                    <a:pt x="368" y="2295"/>
                    <a:pt x="370" y="2305"/>
                  </a:cubicBezTo>
                  <a:cubicBezTo>
                    <a:pt x="373" y="2317"/>
                    <a:pt x="375" y="2330"/>
                    <a:pt x="378" y="2342"/>
                  </a:cubicBezTo>
                  <a:cubicBezTo>
                    <a:pt x="390" y="2387"/>
                    <a:pt x="403" y="2430"/>
                    <a:pt x="415" y="2475"/>
                  </a:cubicBezTo>
                  <a:cubicBezTo>
                    <a:pt x="421" y="2532"/>
                    <a:pt x="419" y="2596"/>
                    <a:pt x="452" y="2645"/>
                  </a:cubicBezTo>
                  <a:cubicBezTo>
                    <a:pt x="454" y="2660"/>
                    <a:pt x="449" y="2678"/>
                    <a:pt x="459" y="2689"/>
                  </a:cubicBezTo>
                  <a:cubicBezTo>
                    <a:pt x="465" y="2695"/>
                    <a:pt x="476" y="2682"/>
                    <a:pt x="481" y="2675"/>
                  </a:cubicBezTo>
                  <a:cubicBezTo>
                    <a:pt x="492" y="2662"/>
                    <a:pt x="494" y="2644"/>
                    <a:pt x="503" y="2630"/>
                  </a:cubicBezTo>
                  <a:cubicBezTo>
                    <a:pt x="523" y="2559"/>
                    <a:pt x="524" y="2456"/>
                    <a:pt x="489" y="2387"/>
                  </a:cubicBezTo>
                  <a:cubicBezTo>
                    <a:pt x="477" y="2362"/>
                    <a:pt x="468" y="2347"/>
                    <a:pt x="459" y="2320"/>
                  </a:cubicBezTo>
                  <a:cubicBezTo>
                    <a:pt x="456" y="2311"/>
                    <a:pt x="455" y="2301"/>
                    <a:pt x="452" y="2291"/>
                  </a:cubicBezTo>
                  <a:cubicBezTo>
                    <a:pt x="450" y="2283"/>
                    <a:pt x="436" y="2268"/>
                    <a:pt x="444" y="2268"/>
                  </a:cubicBezTo>
                  <a:cubicBezTo>
                    <a:pt x="455" y="2268"/>
                    <a:pt x="489" y="2327"/>
                    <a:pt x="489" y="2327"/>
                  </a:cubicBezTo>
                  <a:cubicBezTo>
                    <a:pt x="494" y="2337"/>
                    <a:pt x="499" y="2347"/>
                    <a:pt x="503" y="2357"/>
                  </a:cubicBezTo>
                  <a:cubicBezTo>
                    <a:pt x="507" y="2367"/>
                    <a:pt x="506" y="2378"/>
                    <a:pt x="511" y="2387"/>
                  </a:cubicBezTo>
                  <a:cubicBezTo>
                    <a:pt x="526" y="2416"/>
                    <a:pt x="550" y="2449"/>
                    <a:pt x="570" y="2475"/>
                  </a:cubicBezTo>
                  <a:cubicBezTo>
                    <a:pt x="579" y="2502"/>
                    <a:pt x="614" y="2549"/>
                    <a:pt x="614" y="2549"/>
                  </a:cubicBezTo>
                  <a:cubicBezTo>
                    <a:pt x="650" y="2476"/>
                    <a:pt x="620" y="2413"/>
                    <a:pt x="585" y="2350"/>
                  </a:cubicBezTo>
                  <a:cubicBezTo>
                    <a:pt x="580" y="2340"/>
                    <a:pt x="576" y="2330"/>
                    <a:pt x="570" y="2320"/>
                  </a:cubicBezTo>
                  <a:cubicBezTo>
                    <a:pt x="561" y="2305"/>
                    <a:pt x="540" y="2276"/>
                    <a:pt x="540" y="2276"/>
                  </a:cubicBezTo>
                  <a:cubicBezTo>
                    <a:pt x="530" y="2245"/>
                    <a:pt x="537" y="2260"/>
                    <a:pt x="518" y="2231"/>
                  </a:cubicBezTo>
                  <a:cubicBezTo>
                    <a:pt x="513" y="2223"/>
                    <a:pt x="527" y="2247"/>
                    <a:pt x="533" y="2254"/>
                  </a:cubicBezTo>
                  <a:cubicBezTo>
                    <a:pt x="551" y="2276"/>
                    <a:pt x="569" y="2297"/>
                    <a:pt x="592" y="2313"/>
                  </a:cubicBezTo>
                  <a:cubicBezTo>
                    <a:pt x="643" y="2238"/>
                    <a:pt x="572" y="2189"/>
                    <a:pt x="533" y="2135"/>
                  </a:cubicBezTo>
                  <a:cubicBezTo>
                    <a:pt x="515" y="2086"/>
                    <a:pt x="482" y="2044"/>
                    <a:pt x="466" y="1995"/>
                  </a:cubicBezTo>
                  <a:cubicBezTo>
                    <a:pt x="437" y="1907"/>
                    <a:pt x="421" y="1817"/>
                    <a:pt x="393" y="1729"/>
                  </a:cubicBezTo>
                  <a:cubicBezTo>
                    <a:pt x="360" y="1520"/>
                    <a:pt x="381" y="1669"/>
                    <a:pt x="393" y="1190"/>
                  </a:cubicBezTo>
                  <a:cubicBezTo>
                    <a:pt x="395" y="1102"/>
                    <a:pt x="413" y="1001"/>
                    <a:pt x="459" y="924"/>
                  </a:cubicBezTo>
                  <a:cubicBezTo>
                    <a:pt x="490" y="760"/>
                    <a:pt x="615" y="638"/>
                    <a:pt x="703" y="503"/>
                  </a:cubicBezTo>
                  <a:cubicBezTo>
                    <a:pt x="742" y="340"/>
                    <a:pt x="827" y="101"/>
                    <a:pt x="681" y="1"/>
                  </a:cubicBezTo>
                  <a:cubicBezTo>
                    <a:pt x="634" y="6"/>
                    <a:pt x="592" y="0"/>
                    <a:pt x="555" y="31"/>
                  </a:cubicBezTo>
                  <a:cubicBezTo>
                    <a:pt x="547" y="38"/>
                    <a:pt x="542" y="47"/>
                    <a:pt x="533" y="53"/>
                  </a:cubicBezTo>
                  <a:cubicBezTo>
                    <a:pt x="519" y="62"/>
                    <a:pt x="493" y="72"/>
                    <a:pt x="481" y="60"/>
                  </a:cubicBezTo>
                  <a:close/>
                </a:path>
              </a:pathLst>
            </a:custGeom>
            <a:solidFill>
              <a:schemeClr val="tx1"/>
            </a:solidFill>
            <a:ln w="9525">
              <a:noFill/>
              <a:round/>
              <a:headEnd/>
              <a:tailEnd/>
            </a:ln>
          </p:spPr>
          <p:txBody>
            <a:bodyPr/>
            <a:lstStyle/>
            <a:p>
              <a:endParaRPr lang="fr-FR"/>
            </a:p>
          </p:txBody>
        </p:sp>
        <p:sp>
          <p:nvSpPr>
            <p:cNvPr id="103" name="Freeform 113"/>
            <p:cNvSpPr>
              <a:spLocks/>
            </p:cNvSpPr>
            <p:nvPr/>
          </p:nvSpPr>
          <p:spPr bwMode="auto">
            <a:xfrm flipH="1">
              <a:off x="1621" y="3315"/>
              <a:ext cx="119" cy="165"/>
            </a:xfrm>
            <a:custGeom>
              <a:avLst/>
              <a:gdLst>
                <a:gd name="T0" fmla="*/ 336 w 936"/>
                <a:gd name="T1" fmla="*/ 1112 h 1152"/>
                <a:gd name="T2" fmla="*/ 384 w 936"/>
                <a:gd name="T3" fmla="*/ 872 h 1152"/>
                <a:gd name="T4" fmla="*/ 192 w 936"/>
                <a:gd name="T5" fmla="*/ 824 h 1152"/>
                <a:gd name="T6" fmla="*/ 0 w 936"/>
                <a:gd name="T7" fmla="*/ 536 h 1152"/>
                <a:gd name="T8" fmla="*/ 192 w 936"/>
                <a:gd name="T9" fmla="*/ 104 h 1152"/>
                <a:gd name="T10" fmla="*/ 624 w 936"/>
                <a:gd name="T11" fmla="*/ 56 h 1152"/>
                <a:gd name="T12" fmla="*/ 912 w 936"/>
                <a:gd name="T13" fmla="*/ 440 h 1152"/>
                <a:gd name="T14" fmla="*/ 768 w 936"/>
                <a:gd name="T15" fmla="*/ 824 h 1152"/>
                <a:gd name="T16" fmla="*/ 576 w 936"/>
                <a:gd name="T17" fmla="*/ 872 h 1152"/>
                <a:gd name="T18" fmla="*/ 672 w 936"/>
                <a:gd name="T19" fmla="*/ 1112 h 1152"/>
                <a:gd name="T20" fmla="*/ 336 w 936"/>
                <a:gd name="T21" fmla="*/ 1112 h 1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6"/>
                <a:gd name="T34" fmla="*/ 0 h 1152"/>
                <a:gd name="T35" fmla="*/ 936 w 936"/>
                <a:gd name="T36" fmla="*/ 1152 h 11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6" h="1152">
                  <a:moveTo>
                    <a:pt x="336" y="1112"/>
                  </a:moveTo>
                  <a:cubicBezTo>
                    <a:pt x="288" y="1072"/>
                    <a:pt x="408" y="920"/>
                    <a:pt x="384" y="872"/>
                  </a:cubicBezTo>
                  <a:cubicBezTo>
                    <a:pt x="360" y="824"/>
                    <a:pt x="256" y="880"/>
                    <a:pt x="192" y="824"/>
                  </a:cubicBezTo>
                  <a:cubicBezTo>
                    <a:pt x="128" y="768"/>
                    <a:pt x="0" y="656"/>
                    <a:pt x="0" y="536"/>
                  </a:cubicBezTo>
                  <a:cubicBezTo>
                    <a:pt x="0" y="416"/>
                    <a:pt x="88" y="184"/>
                    <a:pt x="192" y="104"/>
                  </a:cubicBezTo>
                  <a:cubicBezTo>
                    <a:pt x="296" y="24"/>
                    <a:pt x="504" y="0"/>
                    <a:pt x="624" y="56"/>
                  </a:cubicBezTo>
                  <a:cubicBezTo>
                    <a:pt x="744" y="112"/>
                    <a:pt x="888" y="312"/>
                    <a:pt x="912" y="440"/>
                  </a:cubicBezTo>
                  <a:cubicBezTo>
                    <a:pt x="936" y="568"/>
                    <a:pt x="824" y="752"/>
                    <a:pt x="768" y="824"/>
                  </a:cubicBezTo>
                  <a:cubicBezTo>
                    <a:pt x="712" y="896"/>
                    <a:pt x="592" y="824"/>
                    <a:pt x="576" y="872"/>
                  </a:cubicBezTo>
                  <a:cubicBezTo>
                    <a:pt x="560" y="920"/>
                    <a:pt x="712" y="1072"/>
                    <a:pt x="672" y="1112"/>
                  </a:cubicBezTo>
                  <a:cubicBezTo>
                    <a:pt x="632" y="1152"/>
                    <a:pt x="384" y="1152"/>
                    <a:pt x="336" y="1112"/>
                  </a:cubicBezTo>
                  <a:close/>
                </a:path>
              </a:pathLst>
            </a:custGeom>
            <a:solidFill>
              <a:schemeClr val="tx1"/>
            </a:solidFill>
            <a:ln w="9525">
              <a:noFill/>
              <a:round/>
              <a:headEnd/>
              <a:tailEnd/>
            </a:ln>
          </p:spPr>
          <p:txBody>
            <a:bodyPr/>
            <a:lstStyle/>
            <a:p>
              <a:endParaRPr lang="fr-FR"/>
            </a:p>
          </p:txBody>
        </p:sp>
        <p:sp>
          <p:nvSpPr>
            <p:cNvPr id="104" name="Freeform 114"/>
            <p:cNvSpPr>
              <a:spLocks/>
            </p:cNvSpPr>
            <p:nvPr/>
          </p:nvSpPr>
          <p:spPr bwMode="auto">
            <a:xfrm flipH="1">
              <a:off x="1624" y="3431"/>
              <a:ext cx="112" cy="64"/>
            </a:xfrm>
            <a:custGeom>
              <a:avLst/>
              <a:gdLst>
                <a:gd name="T0" fmla="*/ 101 w 406"/>
                <a:gd name="T1" fmla="*/ 0 h 313"/>
                <a:gd name="T2" fmla="*/ 35 w 406"/>
                <a:gd name="T3" fmla="*/ 236 h 313"/>
                <a:gd name="T4" fmla="*/ 396 w 406"/>
                <a:gd name="T5" fmla="*/ 244 h 313"/>
                <a:gd name="T6" fmla="*/ 374 w 406"/>
                <a:gd name="T7" fmla="*/ 222 h 313"/>
                <a:gd name="T8" fmla="*/ 359 w 406"/>
                <a:gd name="T9" fmla="*/ 192 h 313"/>
                <a:gd name="T10" fmla="*/ 315 w 406"/>
                <a:gd name="T11" fmla="*/ 118 h 313"/>
                <a:gd name="T12" fmla="*/ 300 w 406"/>
                <a:gd name="T13" fmla="*/ 7 h 313"/>
                <a:gd name="T14" fmla="*/ 101 w 406"/>
                <a:gd name="T15" fmla="*/ 0 h 313"/>
                <a:gd name="T16" fmla="*/ 0 60000 65536"/>
                <a:gd name="T17" fmla="*/ 0 60000 65536"/>
                <a:gd name="T18" fmla="*/ 0 60000 65536"/>
                <a:gd name="T19" fmla="*/ 0 60000 65536"/>
                <a:gd name="T20" fmla="*/ 0 60000 65536"/>
                <a:gd name="T21" fmla="*/ 0 60000 65536"/>
                <a:gd name="T22" fmla="*/ 0 60000 65536"/>
                <a:gd name="T23" fmla="*/ 0 60000 65536"/>
                <a:gd name="T24" fmla="*/ 0 w 406"/>
                <a:gd name="T25" fmla="*/ 0 h 313"/>
                <a:gd name="T26" fmla="*/ 406 w 406"/>
                <a:gd name="T27" fmla="*/ 313 h 3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6" h="313">
                  <a:moveTo>
                    <a:pt x="101" y="0"/>
                  </a:moveTo>
                  <a:cubicBezTo>
                    <a:pt x="96" y="81"/>
                    <a:pt x="97" y="174"/>
                    <a:pt x="35" y="236"/>
                  </a:cubicBezTo>
                  <a:cubicBezTo>
                    <a:pt x="148" y="313"/>
                    <a:pt x="80" y="273"/>
                    <a:pt x="396" y="244"/>
                  </a:cubicBezTo>
                  <a:cubicBezTo>
                    <a:pt x="406" y="243"/>
                    <a:pt x="380" y="230"/>
                    <a:pt x="374" y="222"/>
                  </a:cubicBezTo>
                  <a:cubicBezTo>
                    <a:pt x="368" y="213"/>
                    <a:pt x="364" y="202"/>
                    <a:pt x="359" y="192"/>
                  </a:cubicBezTo>
                  <a:cubicBezTo>
                    <a:pt x="344" y="166"/>
                    <a:pt x="333" y="143"/>
                    <a:pt x="315" y="118"/>
                  </a:cubicBezTo>
                  <a:cubicBezTo>
                    <a:pt x="304" y="82"/>
                    <a:pt x="334" y="22"/>
                    <a:pt x="300" y="7"/>
                  </a:cubicBezTo>
                  <a:cubicBezTo>
                    <a:pt x="283" y="0"/>
                    <a:pt x="0" y="0"/>
                    <a:pt x="101" y="0"/>
                  </a:cubicBezTo>
                  <a:close/>
                </a:path>
              </a:pathLst>
            </a:custGeom>
            <a:solidFill>
              <a:schemeClr val="tx1"/>
            </a:solidFill>
            <a:ln w="9525">
              <a:noFill/>
              <a:round/>
              <a:headEnd/>
              <a:tailEnd/>
            </a:ln>
          </p:spPr>
          <p:txBody>
            <a:bodyPr/>
            <a:lstStyle/>
            <a:p>
              <a:endParaRPr lang="fr-FR"/>
            </a:p>
          </p:txBody>
        </p:sp>
        <p:sp>
          <p:nvSpPr>
            <p:cNvPr id="105" name="Freeform 115"/>
            <p:cNvSpPr>
              <a:spLocks/>
            </p:cNvSpPr>
            <p:nvPr/>
          </p:nvSpPr>
          <p:spPr bwMode="auto">
            <a:xfrm flipH="1">
              <a:off x="1647" y="3690"/>
              <a:ext cx="92" cy="92"/>
            </a:xfrm>
            <a:custGeom>
              <a:avLst/>
              <a:gdLst>
                <a:gd name="T0" fmla="*/ 128 w 396"/>
                <a:gd name="T1" fmla="*/ 445 h 459"/>
                <a:gd name="T2" fmla="*/ 239 w 396"/>
                <a:gd name="T3" fmla="*/ 267 h 459"/>
                <a:gd name="T4" fmla="*/ 283 w 396"/>
                <a:gd name="T5" fmla="*/ 334 h 459"/>
                <a:gd name="T6" fmla="*/ 298 w 396"/>
                <a:gd name="T7" fmla="*/ 356 h 459"/>
                <a:gd name="T8" fmla="*/ 312 w 396"/>
                <a:gd name="T9" fmla="*/ 378 h 459"/>
                <a:gd name="T10" fmla="*/ 342 w 396"/>
                <a:gd name="T11" fmla="*/ 452 h 459"/>
                <a:gd name="T12" fmla="*/ 364 w 396"/>
                <a:gd name="T13" fmla="*/ 459 h 459"/>
                <a:gd name="T14" fmla="*/ 394 w 396"/>
                <a:gd name="T15" fmla="*/ 312 h 459"/>
                <a:gd name="T16" fmla="*/ 386 w 396"/>
                <a:gd name="T17" fmla="*/ 105 h 459"/>
                <a:gd name="T18" fmla="*/ 194 w 396"/>
                <a:gd name="T19" fmla="*/ 1 h 459"/>
                <a:gd name="T20" fmla="*/ 32 w 396"/>
                <a:gd name="T21" fmla="*/ 9 h 459"/>
                <a:gd name="T22" fmla="*/ 24 w 396"/>
                <a:gd name="T23" fmla="*/ 31 h 459"/>
                <a:gd name="T24" fmla="*/ 2 w 396"/>
                <a:gd name="T25" fmla="*/ 105 h 459"/>
                <a:gd name="T26" fmla="*/ 10 w 396"/>
                <a:gd name="T27" fmla="*/ 334 h 459"/>
                <a:gd name="T28" fmla="*/ 113 w 396"/>
                <a:gd name="T29" fmla="*/ 422 h 459"/>
                <a:gd name="T30" fmla="*/ 128 w 396"/>
                <a:gd name="T31" fmla="*/ 445 h 4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459"/>
                <a:gd name="T50" fmla="*/ 396 w 396"/>
                <a:gd name="T51" fmla="*/ 459 h 4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459">
                  <a:moveTo>
                    <a:pt x="128" y="445"/>
                  </a:moveTo>
                  <a:cubicBezTo>
                    <a:pt x="140" y="380"/>
                    <a:pt x="183" y="304"/>
                    <a:pt x="239" y="267"/>
                  </a:cubicBezTo>
                  <a:cubicBezTo>
                    <a:pt x="273" y="319"/>
                    <a:pt x="258" y="297"/>
                    <a:pt x="283" y="334"/>
                  </a:cubicBezTo>
                  <a:cubicBezTo>
                    <a:pt x="288" y="341"/>
                    <a:pt x="293" y="349"/>
                    <a:pt x="298" y="356"/>
                  </a:cubicBezTo>
                  <a:cubicBezTo>
                    <a:pt x="303" y="363"/>
                    <a:pt x="312" y="378"/>
                    <a:pt x="312" y="378"/>
                  </a:cubicBezTo>
                  <a:cubicBezTo>
                    <a:pt x="315" y="389"/>
                    <a:pt x="334" y="444"/>
                    <a:pt x="342" y="452"/>
                  </a:cubicBezTo>
                  <a:cubicBezTo>
                    <a:pt x="347" y="457"/>
                    <a:pt x="357" y="457"/>
                    <a:pt x="364" y="459"/>
                  </a:cubicBezTo>
                  <a:cubicBezTo>
                    <a:pt x="382" y="411"/>
                    <a:pt x="377" y="360"/>
                    <a:pt x="394" y="312"/>
                  </a:cubicBezTo>
                  <a:cubicBezTo>
                    <a:pt x="391" y="243"/>
                    <a:pt x="396" y="173"/>
                    <a:pt x="386" y="105"/>
                  </a:cubicBezTo>
                  <a:cubicBezTo>
                    <a:pt x="374" y="24"/>
                    <a:pt x="253" y="17"/>
                    <a:pt x="194" y="1"/>
                  </a:cubicBezTo>
                  <a:cubicBezTo>
                    <a:pt x="140" y="4"/>
                    <a:pt x="85" y="0"/>
                    <a:pt x="32" y="9"/>
                  </a:cubicBezTo>
                  <a:cubicBezTo>
                    <a:pt x="24" y="10"/>
                    <a:pt x="27" y="24"/>
                    <a:pt x="24" y="31"/>
                  </a:cubicBezTo>
                  <a:cubicBezTo>
                    <a:pt x="16" y="56"/>
                    <a:pt x="11" y="81"/>
                    <a:pt x="2" y="105"/>
                  </a:cubicBezTo>
                  <a:cubicBezTo>
                    <a:pt x="5" y="181"/>
                    <a:pt x="0" y="258"/>
                    <a:pt x="10" y="334"/>
                  </a:cubicBezTo>
                  <a:cubicBezTo>
                    <a:pt x="16" y="382"/>
                    <a:pt x="80" y="401"/>
                    <a:pt x="113" y="422"/>
                  </a:cubicBezTo>
                  <a:cubicBezTo>
                    <a:pt x="118" y="430"/>
                    <a:pt x="128" y="445"/>
                    <a:pt x="128" y="445"/>
                  </a:cubicBezTo>
                  <a:close/>
                </a:path>
              </a:pathLst>
            </a:custGeom>
            <a:solidFill>
              <a:schemeClr val="tx1"/>
            </a:solidFill>
            <a:ln w="9525">
              <a:noFill/>
              <a:round/>
              <a:headEnd/>
              <a:tailEnd/>
            </a:ln>
          </p:spPr>
          <p:txBody>
            <a:bodyPr/>
            <a:lstStyle/>
            <a:p>
              <a:endParaRPr lang="fr-FR"/>
            </a:p>
          </p:txBody>
        </p:sp>
        <p:sp>
          <p:nvSpPr>
            <p:cNvPr id="106" name="Freeform 116"/>
            <p:cNvSpPr>
              <a:spLocks/>
            </p:cNvSpPr>
            <p:nvPr/>
          </p:nvSpPr>
          <p:spPr bwMode="auto">
            <a:xfrm flipH="1">
              <a:off x="1619" y="3312"/>
              <a:ext cx="132" cy="118"/>
            </a:xfrm>
            <a:custGeom>
              <a:avLst/>
              <a:gdLst>
                <a:gd name="T0" fmla="*/ 67 w 627"/>
                <a:gd name="T1" fmla="*/ 387 h 638"/>
                <a:gd name="T2" fmla="*/ 31 w 627"/>
                <a:gd name="T3" fmla="*/ 306 h 638"/>
                <a:gd name="T4" fmla="*/ 60 w 627"/>
                <a:gd name="T5" fmla="*/ 298 h 638"/>
                <a:gd name="T6" fmla="*/ 75 w 627"/>
                <a:gd name="T7" fmla="*/ 239 h 638"/>
                <a:gd name="T8" fmla="*/ 67 w 627"/>
                <a:gd name="T9" fmla="*/ 217 h 638"/>
                <a:gd name="T10" fmla="*/ 82 w 627"/>
                <a:gd name="T11" fmla="*/ 195 h 638"/>
                <a:gd name="T12" fmla="*/ 90 w 627"/>
                <a:gd name="T13" fmla="*/ 173 h 638"/>
                <a:gd name="T14" fmla="*/ 112 w 627"/>
                <a:gd name="T15" fmla="*/ 165 h 638"/>
                <a:gd name="T16" fmla="*/ 119 w 627"/>
                <a:gd name="T17" fmla="*/ 106 h 638"/>
                <a:gd name="T18" fmla="*/ 156 w 627"/>
                <a:gd name="T19" fmla="*/ 114 h 638"/>
                <a:gd name="T20" fmla="*/ 171 w 627"/>
                <a:gd name="T21" fmla="*/ 69 h 638"/>
                <a:gd name="T22" fmla="*/ 200 w 627"/>
                <a:gd name="T23" fmla="*/ 77 h 638"/>
                <a:gd name="T24" fmla="*/ 237 w 627"/>
                <a:gd name="T25" fmla="*/ 32 h 638"/>
                <a:gd name="T26" fmla="*/ 282 w 627"/>
                <a:gd name="T27" fmla="*/ 25 h 638"/>
                <a:gd name="T28" fmla="*/ 341 w 627"/>
                <a:gd name="T29" fmla="*/ 47 h 638"/>
                <a:gd name="T30" fmla="*/ 437 w 627"/>
                <a:gd name="T31" fmla="*/ 40 h 638"/>
                <a:gd name="T32" fmla="*/ 481 w 627"/>
                <a:gd name="T33" fmla="*/ 55 h 638"/>
                <a:gd name="T34" fmla="*/ 540 w 627"/>
                <a:gd name="T35" fmla="*/ 106 h 638"/>
                <a:gd name="T36" fmla="*/ 562 w 627"/>
                <a:gd name="T37" fmla="*/ 180 h 638"/>
                <a:gd name="T38" fmla="*/ 570 w 627"/>
                <a:gd name="T39" fmla="*/ 202 h 638"/>
                <a:gd name="T40" fmla="*/ 570 w 627"/>
                <a:gd name="T41" fmla="*/ 232 h 638"/>
                <a:gd name="T42" fmla="*/ 570 w 627"/>
                <a:gd name="T43" fmla="*/ 291 h 638"/>
                <a:gd name="T44" fmla="*/ 607 w 627"/>
                <a:gd name="T45" fmla="*/ 380 h 638"/>
                <a:gd name="T46" fmla="*/ 481 w 627"/>
                <a:gd name="T47" fmla="*/ 439 h 638"/>
                <a:gd name="T48" fmla="*/ 53 w 627"/>
                <a:gd name="T49" fmla="*/ 409 h 638"/>
                <a:gd name="T50" fmla="*/ 16 w 627"/>
                <a:gd name="T51" fmla="*/ 380 h 638"/>
                <a:gd name="T52" fmla="*/ 241 w 627"/>
                <a:gd name="T53" fmla="*/ 638 h 638"/>
                <a:gd name="T54" fmla="*/ 67 w 627"/>
                <a:gd name="T55" fmla="*/ 387 h 63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7"/>
                <a:gd name="T85" fmla="*/ 0 h 638"/>
                <a:gd name="T86" fmla="*/ 627 w 627"/>
                <a:gd name="T87" fmla="*/ 638 h 63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7" h="638">
                  <a:moveTo>
                    <a:pt x="67" y="387"/>
                  </a:moveTo>
                  <a:cubicBezTo>
                    <a:pt x="27" y="374"/>
                    <a:pt x="0" y="363"/>
                    <a:pt x="31" y="306"/>
                  </a:cubicBezTo>
                  <a:cubicBezTo>
                    <a:pt x="36" y="297"/>
                    <a:pt x="50" y="301"/>
                    <a:pt x="60" y="298"/>
                  </a:cubicBezTo>
                  <a:cubicBezTo>
                    <a:pt x="21" y="259"/>
                    <a:pt x="48" y="279"/>
                    <a:pt x="75" y="239"/>
                  </a:cubicBezTo>
                  <a:cubicBezTo>
                    <a:pt x="72" y="232"/>
                    <a:pt x="66" y="225"/>
                    <a:pt x="67" y="217"/>
                  </a:cubicBezTo>
                  <a:cubicBezTo>
                    <a:pt x="68" y="208"/>
                    <a:pt x="78" y="203"/>
                    <a:pt x="82" y="195"/>
                  </a:cubicBezTo>
                  <a:cubicBezTo>
                    <a:pt x="86" y="188"/>
                    <a:pt x="84" y="179"/>
                    <a:pt x="90" y="173"/>
                  </a:cubicBezTo>
                  <a:cubicBezTo>
                    <a:pt x="96" y="167"/>
                    <a:pt x="105" y="168"/>
                    <a:pt x="112" y="165"/>
                  </a:cubicBezTo>
                  <a:cubicBezTo>
                    <a:pt x="114" y="145"/>
                    <a:pt x="106" y="121"/>
                    <a:pt x="119" y="106"/>
                  </a:cubicBezTo>
                  <a:cubicBezTo>
                    <a:pt x="127" y="96"/>
                    <a:pt x="146" y="121"/>
                    <a:pt x="156" y="114"/>
                  </a:cubicBezTo>
                  <a:cubicBezTo>
                    <a:pt x="169" y="105"/>
                    <a:pt x="171" y="69"/>
                    <a:pt x="171" y="69"/>
                  </a:cubicBezTo>
                  <a:cubicBezTo>
                    <a:pt x="181" y="72"/>
                    <a:pt x="190" y="80"/>
                    <a:pt x="200" y="77"/>
                  </a:cubicBezTo>
                  <a:cubicBezTo>
                    <a:pt x="254" y="62"/>
                    <a:pt x="197" y="53"/>
                    <a:pt x="237" y="32"/>
                  </a:cubicBezTo>
                  <a:cubicBezTo>
                    <a:pt x="251" y="25"/>
                    <a:pt x="267" y="27"/>
                    <a:pt x="282" y="25"/>
                  </a:cubicBezTo>
                  <a:cubicBezTo>
                    <a:pt x="318" y="0"/>
                    <a:pt x="319" y="14"/>
                    <a:pt x="341" y="47"/>
                  </a:cubicBezTo>
                  <a:cubicBezTo>
                    <a:pt x="383" y="34"/>
                    <a:pt x="386" y="32"/>
                    <a:pt x="437" y="40"/>
                  </a:cubicBezTo>
                  <a:cubicBezTo>
                    <a:pt x="441" y="41"/>
                    <a:pt x="477" y="53"/>
                    <a:pt x="481" y="55"/>
                  </a:cubicBezTo>
                  <a:cubicBezTo>
                    <a:pt x="509" y="74"/>
                    <a:pt x="508" y="96"/>
                    <a:pt x="540" y="106"/>
                  </a:cubicBezTo>
                  <a:cubicBezTo>
                    <a:pt x="552" y="143"/>
                    <a:pt x="576" y="141"/>
                    <a:pt x="562" y="180"/>
                  </a:cubicBezTo>
                  <a:cubicBezTo>
                    <a:pt x="565" y="187"/>
                    <a:pt x="573" y="195"/>
                    <a:pt x="570" y="202"/>
                  </a:cubicBezTo>
                  <a:cubicBezTo>
                    <a:pt x="557" y="234"/>
                    <a:pt x="521" y="200"/>
                    <a:pt x="570" y="232"/>
                  </a:cubicBezTo>
                  <a:cubicBezTo>
                    <a:pt x="530" y="258"/>
                    <a:pt x="556" y="251"/>
                    <a:pt x="570" y="291"/>
                  </a:cubicBezTo>
                  <a:cubicBezTo>
                    <a:pt x="553" y="337"/>
                    <a:pt x="583" y="344"/>
                    <a:pt x="607" y="380"/>
                  </a:cubicBezTo>
                  <a:cubicBezTo>
                    <a:pt x="627" y="464"/>
                    <a:pt x="581" y="433"/>
                    <a:pt x="481" y="439"/>
                  </a:cubicBezTo>
                  <a:cubicBezTo>
                    <a:pt x="250" y="434"/>
                    <a:pt x="205" y="457"/>
                    <a:pt x="53" y="409"/>
                  </a:cubicBezTo>
                  <a:cubicBezTo>
                    <a:pt x="25" y="390"/>
                    <a:pt x="37" y="400"/>
                    <a:pt x="16" y="380"/>
                  </a:cubicBezTo>
                  <a:lnTo>
                    <a:pt x="241" y="638"/>
                  </a:lnTo>
                  <a:lnTo>
                    <a:pt x="67" y="387"/>
                  </a:lnTo>
                  <a:close/>
                </a:path>
              </a:pathLst>
            </a:custGeom>
            <a:solidFill>
              <a:schemeClr val="tx1"/>
            </a:solidFill>
            <a:ln w="9525">
              <a:noFill/>
              <a:round/>
              <a:headEnd/>
              <a:tailEnd/>
            </a:ln>
          </p:spPr>
          <p:txBody>
            <a:bodyP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hème1">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Black"/>
        <a:ea typeface="MS Gothic"/>
        <a:cs typeface=""/>
      </a:majorFont>
      <a:minorFont>
        <a:latin typeface="Arial"/>
        <a:ea typeface="MS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hème Office">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Black"/>
        <a:ea typeface="MS Gothic"/>
        <a:cs typeface=""/>
      </a:majorFont>
      <a:minorFont>
        <a:latin typeface="Arial"/>
        <a:ea typeface="MS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Thème1">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Black"/>
        <a:ea typeface="MS Gothic"/>
        <a:cs typeface=""/>
      </a:majorFont>
      <a:minorFont>
        <a:latin typeface="Arial"/>
        <a:ea typeface="MS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Thème Office">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Black"/>
        <a:ea typeface="MS Gothic"/>
        <a:cs typeface=""/>
      </a:majorFont>
      <a:minorFont>
        <a:latin typeface="Arial"/>
        <a:ea typeface="MS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FFFFFF"/>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MS Gothic" charset="-128"/>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Thème1</Template>
  <TotalTime>42321</TotalTime>
  <Words>4484</Words>
  <Application>Microsoft Office PowerPoint</Application>
  <PresentationFormat>On-screen Show (4:3)</PresentationFormat>
  <Paragraphs>574</Paragraphs>
  <Slides>44</Slides>
  <Notes>32</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44</vt:i4>
      </vt:variant>
    </vt:vector>
  </HeadingPairs>
  <TitlesOfParts>
    <vt:vector size="59" baseType="lpstr">
      <vt:lpstr>Algerian</vt:lpstr>
      <vt:lpstr>Arial</vt:lpstr>
      <vt:lpstr>Arial Black</vt:lpstr>
      <vt:lpstr>Baskerville Old Face</vt:lpstr>
      <vt:lpstr>Bradley Hand ITC</vt:lpstr>
      <vt:lpstr>Calibri</vt:lpstr>
      <vt:lpstr>Courier New</vt:lpstr>
      <vt:lpstr>Ink Free</vt:lpstr>
      <vt:lpstr>Jokerman</vt:lpstr>
      <vt:lpstr>Times New Roman</vt:lpstr>
      <vt:lpstr>Wingdings</vt:lpstr>
      <vt:lpstr>Thème1</vt:lpstr>
      <vt:lpstr>1_Thème Office</vt:lpstr>
      <vt:lpstr>1_Thème1</vt:lpstr>
      <vt:lpstr>2_Thème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dif</dc:creator>
  <cp:lastModifiedBy>Midou</cp:lastModifiedBy>
  <cp:revision>346</cp:revision>
  <dcterms:created xsi:type="dcterms:W3CDTF">2010-04-21T15:02:12Z</dcterms:created>
  <dcterms:modified xsi:type="dcterms:W3CDTF">2026-01-09T19:35:57Z</dcterms:modified>
</cp:coreProperties>
</file>