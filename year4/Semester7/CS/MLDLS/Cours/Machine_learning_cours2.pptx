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88" r:id="rId3"/>
    <p:sldId id="289" r:id="rId4"/>
    <p:sldId id="283" r:id="rId5"/>
    <p:sldId id="296" r:id="rId6"/>
    <p:sldId id="297" r:id="rId7"/>
    <p:sldId id="299" r:id="rId8"/>
    <p:sldId id="290" r:id="rId9"/>
    <p:sldId id="291" r:id="rId10"/>
    <p:sldId id="292" r:id="rId11"/>
    <p:sldId id="293" r:id="rId12"/>
    <p:sldId id="294" r:id="rId13"/>
    <p:sldId id="295" r:id="rId14"/>
    <p:sldId id="272" r:id="rId15"/>
    <p:sldId id="266" r:id="rId16"/>
    <p:sldId id="300" r:id="rId17"/>
    <p:sldId id="277" r:id="rId18"/>
    <p:sldId id="298" r:id="rId19"/>
    <p:sldId id="278" r:id="rId20"/>
    <p:sldId id="302" r:id="rId21"/>
    <p:sldId id="303" r:id="rId22"/>
    <p:sldId id="30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93" d="100"/>
          <a:sy n="93" d="100"/>
        </p:scale>
        <p:origin x="211"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4742A-A101-6657-38A3-CE53BCB65F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0D2585B-1A1E-123D-9894-1EAB57602B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A8E96FB-D89F-1AE7-1885-5CAAC9548C8F}"/>
              </a:ext>
            </a:extLst>
          </p:cNvPr>
          <p:cNvSpPr>
            <a:spLocks noGrp="1"/>
          </p:cNvSpPr>
          <p:nvPr>
            <p:ph type="dt" sz="half" idx="10"/>
          </p:nvPr>
        </p:nvSpPr>
        <p:spPr/>
        <p:txBody>
          <a:bodyPr/>
          <a:lstStyle/>
          <a:p>
            <a:fld id="{5F463B61-6203-441D-84D1-117238F43CDF}" type="datetimeFigureOut">
              <a:rPr lang="en-GB" smtClean="0"/>
              <a:t>18/10/2025</a:t>
            </a:fld>
            <a:endParaRPr lang="en-GB"/>
          </a:p>
        </p:txBody>
      </p:sp>
      <p:sp>
        <p:nvSpPr>
          <p:cNvPr id="5" name="Footer Placeholder 4">
            <a:extLst>
              <a:ext uri="{FF2B5EF4-FFF2-40B4-BE49-F238E27FC236}">
                <a16:creationId xmlns:a16="http://schemas.microsoft.com/office/drawing/2014/main" id="{C7DA4FFF-62B7-2BBB-EDAB-8D754CDE50A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5B994FF-CE4B-AE9C-FDF9-EA96B21F90FA}"/>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4158592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4592-4FCF-DE4A-3B20-5FD2C1BC47B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12FD6C7-6B93-85C9-C047-594AEA8D2F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9C5BFFB-ECCE-7B99-806F-AF0291BCA5B9}"/>
              </a:ext>
            </a:extLst>
          </p:cNvPr>
          <p:cNvSpPr>
            <a:spLocks noGrp="1"/>
          </p:cNvSpPr>
          <p:nvPr>
            <p:ph type="dt" sz="half" idx="10"/>
          </p:nvPr>
        </p:nvSpPr>
        <p:spPr/>
        <p:txBody>
          <a:bodyPr/>
          <a:lstStyle/>
          <a:p>
            <a:fld id="{5F463B61-6203-441D-84D1-117238F43CDF}" type="datetimeFigureOut">
              <a:rPr lang="en-GB" smtClean="0"/>
              <a:t>18/10/2025</a:t>
            </a:fld>
            <a:endParaRPr lang="en-GB"/>
          </a:p>
        </p:txBody>
      </p:sp>
      <p:sp>
        <p:nvSpPr>
          <p:cNvPr id="5" name="Footer Placeholder 4">
            <a:extLst>
              <a:ext uri="{FF2B5EF4-FFF2-40B4-BE49-F238E27FC236}">
                <a16:creationId xmlns:a16="http://schemas.microsoft.com/office/drawing/2014/main" id="{832E267A-68F4-E12F-D01D-6ECE7D7F939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12C37AB-614C-F349-6136-B5A60731A09C}"/>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2758234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0404B-394B-EB0A-00B2-F690423FA5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FE30760-2A1F-BD66-13AA-914E517640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5333FA-E8AF-6A79-73D4-47E74F47EAD2}"/>
              </a:ext>
            </a:extLst>
          </p:cNvPr>
          <p:cNvSpPr>
            <a:spLocks noGrp="1"/>
          </p:cNvSpPr>
          <p:nvPr>
            <p:ph type="dt" sz="half" idx="10"/>
          </p:nvPr>
        </p:nvSpPr>
        <p:spPr/>
        <p:txBody>
          <a:bodyPr/>
          <a:lstStyle/>
          <a:p>
            <a:fld id="{5F463B61-6203-441D-84D1-117238F43CDF}" type="datetimeFigureOut">
              <a:rPr lang="en-GB" smtClean="0"/>
              <a:t>18/10/2025</a:t>
            </a:fld>
            <a:endParaRPr lang="en-GB"/>
          </a:p>
        </p:txBody>
      </p:sp>
      <p:sp>
        <p:nvSpPr>
          <p:cNvPr id="5" name="Footer Placeholder 4">
            <a:extLst>
              <a:ext uri="{FF2B5EF4-FFF2-40B4-BE49-F238E27FC236}">
                <a16:creationId xmlns:a16="http://schemas.microsoft.com/office/drawing/2014/main" id="{8F98FFE1-8D57-29B2-FEAB-8D43D3C8DFA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38647D7-077B-A23B-FAA3-ADB7096EF933}"/>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652844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87C82-B896-BE3E-61CF-F7D77474F17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5F334E6-88C7-1E45-FD44-B2EA9BD524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D251C79-141A-E485-3D31-2320403BDE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07ECD7E-6FE2-4A6D-73EA-69F7451AEDD1}"/>
              </a:ext>
            </a:extLst>
          </p:cNvPr>
          <p:cNvSpPr>
            <a:spLocks noGrp="1"/>
          </p:cNvSpPr>
          <p:nvPr>
            <p:ph type="dt" sz="half" idx="10"/>
          </p:nvPr>
        </p:nvSpPr>
        <p:spPr/>
        <p:txBody>
          <a:bodyPr/>
          <a:lstStyle/>
          <a:p>
            <a:fld id="{5F463B61-6203-441D-84D1-117238F43CDF}" type="datetimeFigureOut">
              <a:rPr lang="en-GB" smtClean="0"/>
              <a:t>18/10/2025</a:t>
            </a:fld>
            <a:endParaRPr lang="en-GB"/>
          </a:p>
        </p:txBody>
      </p:sp>
      <p:sp>
        <p:nvSpPr>
          <p:cNvPr id="6" name="Footer Placeholder 5">
            <a:extLst>
              <a:ext uri="{FF2B5EF4-FFF2-40B4-BE49-F238E27FC236}">
                <a16:creationId xmlns:a16="http://schemas.microsoft.com/office/drawing/2014/main" id="{D58309D3-A6C2-AAE6-AD39-F23240B9F1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00B6645-00BC-8A98-FC83-EDE5C8ACE2EB}"/>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891134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AEE12-1822-F076-7DD0-B702BD0D834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D1A686F-ED66-A0D4-1A2A-072354C6E0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E6A0E2-43FB-0D4F-AC28-2C52578B30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C990EFB-8BF1-50F9-4822-765720639A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61A13A-90A8-86A9-0BE4-9CD8F41134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B783532-F974-7C43-5239-30BC3BA00276}"/>
              </a:ext>
            </a:extLst>
          </p:cNvPr>
          <p:cNvSpPr>
            <a:spLocks noGrp="1"/>
          </p:cNvSpPr>
          <p:nvPr>
            <p:ph type="dt" sz="half" idx="10"/>
          </p:nvPr>
        </p:nvSpPr>
        <p:spPr/>
        <p:txBody>
          <a:bodyPr/>
          <a:lstStyle/>
          <a:p>
            <a:fld id="{5F463B61-6203-441D-84D1-117238F43CDF}" type="datetimeFigureOut">
              <a:rPr lang="en-GB" smtClean="0"/>
              <a:t>18/10/2025</a:t>
            </a:fld>
            <a:endParaRPr lang="en-GB"/>
          </a:p>
        </p:txBody>
      </p:sp>
      <p:sp>
        <p:nvSpPr>
          <p:cNvPr id="8" name="Footer Placeholder 7">
            <a:extLst>
              <a:ext uri="{FF2B5EF4-FFF2-40B4-BE49-F238E27FC236}">
                <a16:creationId xmlns:a16="http://schemas.microsoft.com/office/drawing/2014/main" id="{F8902146-E33B-BF23-35CD-6CA75497F6D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E8BCFAD-1A10-CB2D-4F49-ECEF13E20B35}"/>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257567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44BCF-1329-1839-6352-60C88618348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1F9BC3A-3D02-51EC-B8F1-80CB50256325}"/>
              </a:ext>
            </a:extLst>
          </p:cNvPr>
          <p:cNvSpPr>
            <a:spLocks noGrp="1"/>
          </p:cNvSpPr>
          <p:nvPr>
            <p:ph type="dt" sz="half" idx="10"/>
          </p:nvPr>
        </p:nvSpPr>
        <p:spPr/>
        <p:txBody>
          <a:bodyPr/>
          <a:lstStyle/>
          <a:p>
            <a:fld id="{5F463B61-6203-441D-84D1-117238F43CDF}" type="datetimeFigureOut">
              <a:rPr lang="en-GB" smtClean="0"/>
              <a:t>18/10/2025</a:t>
            </a:fld>
            <a:endParaRPr lang="en-GB"/>
          </a:p>
        </p:txBody>
      </p:sp>
      <p:sp>
        <p:nvSpPr>
          <p:cNvPr id="4" name="Footer Placeholder 3">
            <a:extLst>
              <a:ext uri="{FF2B5EF4-FFF2-40B4-BE49-F238E27FC236}">
                <a16:creationId xmlns:a16="http://schemas.microsoft.com/office/drawing/2014/main" id="{9A495575-A40D-060F-5CE4-EB5AAA3BD42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F7029AC-C898-651F-B904-071ED2951604}"/>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2344134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A17FCF-85A3-56A6-1C6E-FEA57E750F8B}"/>
              </a:ext>
            </a:extLst>
          </p:cNvPr>
          <p:cNvSpPr>
            <a:spLocks noGrp="1"/>
          </p:cNvSpPr>
          <p:nvPr>
            <p:ph type="dt" sz="half" idx="10"/>
          </p:nvPr>
        </p:nvSpPr>
        <p:spPr/>
        <p:txBody>
          <a:bodyPr/>
          <a:lstStyle/>
          <a:p>
            <a:fld id="{5F463B61-6203-441D-84D1-117238F43CDF}" type="datetimeFigureOut">
              <a:rPr lang="en-GB" smtClean="0"/>
              <a:t>18/10/2025</a:t>
            </a:fld>
            <a:endParaRPr lang="en-GB"/>
          </a:p>
        </p:txBody>
      </p:sp>
      <p:sp>
        <p:nvSpPr>
          <p:cNvPr id="3" name="Footer Placeholder 2">
            <a:extLst>
              <a:ext uri="{FF2B5EF4-FFF2-40B4-BE49-F238E27FC236}">
                <a16:creationId xmlns:a16="http://schemas.microsoft.com/office/drawing/2014/main" id="{B4FFD6AD-FF83-040D-0C7B-C0AE1FD2FA7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EAE1DCF-7181-2602-74AD-98D3B1016E21}"/>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2045060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9F1A1-7FF8-1ACE-7B6D-BE3FE4750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795EEC2-73E9-1ECD-160D-0286E97BF7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D7A7F0C-32E7-C27D-3692-CBB4911F94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A98B8F-74C8-9F6A-7C0A-34DD49C0BE41}"/>
              </a:ext>
            </a:extLst>
          </p:cNvPr>
          <p:cNvSpPr>
            <a:spLocks noGrp="1"/>
          </p:cNvSpPr>
          <p:nvPr>
            <p:ph type="dt" sz="half" idx="10"/>
          </p:nvPr>
        </p:nvSpPr>
        <p:spPr/>
        <p:txBody>
          <a:bodyPr/>
          <a:lstStyle/>
          <a:p>
            <a:fld id="{5F463B61-6203-441D-84D1-117238F43CDF}" type="datetimeFigureOut">
              <a:rPr lang="en-GB" smtClean="0"/>
              <a:t>18/10/2025</a:t>
            </a:fld>
            <a:endParaRPr lang="en-GB"/>
          </a:p>
        </p:txBody>
      </p:sp>
      <p:sp>
        <p:nvSpPr>
          <p:cNvPr id="6" name="Footer Placeholder 5">
            <a:extLst>
              <a:ext uri="{FF2B5EF4-FFF2-40B4-BE49-F238E27FC236}">
                <a16:creationId xmlns:a16="http://schemas.microsoft.com/office/drawing/2014/main" id="{B4F05507-2E1D-E586-5F21-4B0F5AED226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53BEB9D-D5CC-31D5-406F-1A9CB2C4CD13}"/>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2888947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009DF-98FE-2C67-29DD-F781E34B2D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79D064A-DD5B-0E25-E290-E3F19D797C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499C5A7-16B1-7344-377B-3478F7E1DD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863EBD-9042-9AB3-72B5-ACE6683D3D72}"/>
              </a:ext>
            </a:extLst>
          </p:cNvPr>
          <p:cNvSpPr>
            <a:spLocks noGrp="1"/>
          </p:cNvSpPr>
          <p:nvPr>
            <p:ph type="dt" sz="half" idx="10"/>
          </p:nvPr>
        </p:nvSpPr>
        <p:spPr/>
        <p:txBody>
          <a:bodyPr/>
          <a:lstStyle/>
          <a:p>
            <a:fld id="{5F463B61-6203-441D-84D1-117238F43CDF}" type="datetimeFigureOut">
              <a:rPr lang="en-GB" smtClean="0"/>
              <a:t>18/10/2025</a:t>
            </a:fld>
            <a:endParaRPr lang="en-GB"/>
          </a:p>
        </p:txBody>
      </p:sp>
      <p:sp>
        <p:nvSpPr>
          <p:cNvPr id="6" name="Footer Placeholder 5">
            <a:extLst>
              <a:ext uri="{FF2B5EF4-FFF2-40B4-BE49-F238E27FC236}">
                <a16:creationId xmlns:a16="http://schemas.microsoft.com/office/drawing/2014/main" id="{C8B1C70F-AF37-6CF0-BAF2-0FE2A0208F0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9CC3E2D-3218-89C6-DA97-1F706834BFE9}"/>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856853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882C8-DD89-00B8-C8D0-422973B15BD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F56828E-2F7A-1A83-3E2B-8C73032608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A96389E-E157-5B23-339A-E8A88011607C}"/>
              </a:ext>
            </a:extLst>
          </p:cNvPr>
          <p:cNvSpPr>
            <a:spLocks noGrp="1"/>
          </p:cNvSpPr>
          <p:nvPr>
            <p:ph type="dt" sz="half" idx="10"/>
          </p:nvPr>
        </p:nvSpPr>
        <p:spPr/>
        <p:txBody>
          <a:bodyPr/>
          <a:lstStyle/>
          <a:p>
            <a:fld id="{5F463B61-6203-441D-84D1-117238F43CDF}" type="datetimeFigureOut">
              <a:rPr lang="en-GB" smtClean="0"/>
              <a:t>18/10/2025</a:t>
            </a:fld>
            <a:endParaRPr lang="en-GB"/>
          </a:p>
        </p:txBody>
      </p:sp>
      <p:sp>
        <p:nvSpPr>
          <p:cNvPr id="5" name="Footer Placeholder 4">
            <a:extLst>
              <a:ext uri="{FF2B5EF4-FFF2-40B4-BE49-F238E27FC236}">
                <a16:creationId xmlns:a16="http://schemas.microsoft.com/office/drawing/2014/main" id="{F0C2D040-F3DA-85E0-CA02-DAE8F6FD652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7930752-3CA9-879B-2810-36E8A95DF472}"/>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1249797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52FD5A-FB18-69ED-0A8A-51D511E03A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6814203-BEE2-A14F-DE97-86302B6650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E89A6B8-3507-A422-1BAF-1037B898D11E}"/>
              </a:ext>
            </a:extLst>
          </p:cNvPr>
          <p:cNvSpPr>
            <a:spLocks noGrp="1"/>
          </p:cNvSpPr>
          <p:nvPr>
            <p:ph type="dt" sz="half" idx="10"/>
          </p:nvPr>
        </p:nvSpPr>
        <p:spPr/>
        <p:txBody>
          <a:bodyPr/>
          <a:lstStyle/>
          <a:p>
            <a:fld id="{5F463B61-6203-441D-84D1-117238F43CDF}" type="datetimeFigureOut">
              <a:rPr lang="en-GB" smtClean="0"/>
              <a:t>18/10/2025</a:t>
            </a:fld>
            <a:endParaRPr lang="en-GB"/>
          </a:p>
        </p:txBody>
      </p:sp>
      <p:sp>
        <p:nvSpPr>
          <p:cNvPr id="5" name="Footer Placeholder 4">
            <a:extLst>
              <a:ext uri="{FF2B5EF4-FFF2-40B4-BE49-F238E27FC236}">
                <a16:creationId xmlns:a16="http://schemas.microsoft.com/office/drawing/2014/main" id="{7F68BC56-B751-7C34-1CC9-816F6097F0E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13642D-C4FE-186C-20D4-C36F2782A8FC}"/>
              </a:ext>
            </a:extLst>
          </p:cNvPr>
          <p:cNvSpPr>
            <a:spLocks noGrp="1"/>
          </p:cNvSpPr>
          <p:nvPr>
            <p:ph type="sldNum" sz="quarter" idx="12"/>
          </p:nvPr>
        </p:nvSpPr>
        <p:spPr/>
        <p:txBody>
          <a:bodyPr/>
          <a:lstStyle/>
          <a:p>
            <a:fld id="{641E7075-23B8-4DBD-8CAA-21AD9A7FCBD4}" type="slidenum">
              <a:rPr lang="en-GB" smtClean="0"/>
              <a:t>‹#›</a:t>
            </a:fld>
            <a:endParaRPr lang="en-GB"/>
          </a:p>
        </p:txBody>
      </p:sp>
    </p:spTree>
    <p:extLst>
      <p:ext uri="{BB962C8B-B14F-4D97-AF65-F5344CB8AC3E}">
        <p14:creationId xmlns:p14="http://schemas.microsoft.com/office/powerpoint/2010/main" val="2833733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8C32B7-E828-F7BC-0F8F-A82A2BBBB7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287F938-7798-C878-8D2B-F535904546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6B89328-94BA-BDF5-2112-65D4D1CECC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463B61-6203-441D-84D1-117238F43CDF}" type="datetimeFigureOut">
              <a:rPr lang="en-GB" smtClean="0"/>
              <a:t>18/10/2025</a:t>
            </a:fld>
            <a:endParaRPr lang="en-GB"/>
          </a:p>
        </p:txBody>
      </p:sp>
      <p:sp>
        <p:nvSpPr>
          <p:cNvPr id="5" name="Footer Placeholder 4">
            <a:extLst>
              <a:ext uri="{FF2B5EF4-FFF2-40B4-BE49-F238E27FC236}">
                <a16:creationId xmlns:a16="http://schemas.microsoft.com/office/drawing/2014/main" id="{A1131F85-A1C1-F8FF-D62E-A3DEEF7001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DA5DCC1-B1FD-C313-E4B8-559BC09C07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1E7075-23B8-4DBD-8CAA-21AD9A7FCBD4}" type="slidenum">
              <a:rPr lang="en-GB" smtClean="0"/>
              <a:t>‹#›</a:t>
            </a:fld>
            <a:endParaRPr lang="en-GB"/>
          </a:p>
        </p:txBody>
      </p:sp>
    </p:spTree>
    <p:extLst>
      <p:ext uri="{BB962C8B-B14F-4D97-AF65-F5344CB8AC3E}">
        <p14:creationId xmlns:p14="http://schemas.microsoft.com/office/powerpoint/2010/main" val="17215590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geeksforgeeks.org/machine-learning/types-of-regression-techniques/" TargetMode="External"/><Relationship Id="rId2" Type="http://schemas.openxmlformats.org/officeDocument/2006/relationships/hyperlink" Target="https://www.geeksforgeeks.org/machine-learning/getting-started-with-classification/" TargetMode="Externa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0068FB-8F2F-8881-36B3-D35C28732CA9}"/>
              </a:ext>
            </a:extLst>
          </p:cNvPr>
          <p:cNvSpPr>
            <a:spLocks noGrp="1"/>
          </p:cNvSpPr>
          <p:nvPr>
            <p:ph idx="1"/>
          </p:nvPr>
        </p:nvSpPr>
        <p:spPr>
          <a:xfrm>
            <a:off x="838200" y="1104600"/>
            <a:ext cx="10515600" cy="4093475"/>
          </a:xfrm>
        </p:spPr>
        <p:txBody>
          <a:bodyPr>
            <a:normAutofit lnSpcReduction="10000"/>
          </a:bodyPr>
          <a:lstStyle/>
          <a:p>
            <a:pPr algn="just"/>
            <a:r>
              <a:rPr lang="en-GB" sz="1800" b="0" i="0" u="none" strike="noStrike" baseline="0" dirty="0">
                <a:solidFill>
                  <a:srgbClr val="1D1F20"/>
                </a:solidFill>
                <a:latin typeface="Proxima Nova Rg"/>
              </a:rPr>
              <a:t>Model training, testing, and evaluation are the next steps in the machine learning process, which focuses on developing an accurate model to solve a speci</a:t>
            </a:r>
            <a:r>
              <a:rPr lang="en-GB" sz="1800" b="0" i="0" u="none" strike="noStrike" baseline="0" dirty="0">
                <a:solidFill>
                  <a:srgbClr val="000000"/>
                </a:solidFill>
                <a:latin typeface="Proxima Nova Rg"/>
              </a:rPr>
              <a:t>fi</a:t>
            </a:r>
            <a:r>
              <a:rPr lang="en-GB" sz="1800" b="0" i="0" u="none" strike="noStrike" baseline="0" dirty="0">
                <a:solidFill>
                  <a:srgbClr val="1D1F20"/>
                </a:solidFill>
                <a:latin typeface="Proxima Nova Rg"/>
              </a:rPr>
              <a:t>c problem. This stage involves selecting a suitable algorithm, training the model on the prepared data, and thoroughly evaluating its performance.</a:t>
            </a:r>
          </a:p>
          <a:p>
            <a:pPr algn="just"/>
            <a:r>
              <a:rPr lang="en-GB" sz="1800" b="1" i="0" u="none" strike="noStrike" baseline="0" dirty="0">
                <a:solidFill>
                  <a:srgbClr val="1D1F20"/>
                </a:solidFill>
                <a:latin typeface="Proxima Nova Rg"/>
              </a:rPr>
              <a:t>Choosing a model</a:t>
            </a:r>
            <a:r>
              <a:rPr lang="en-GB" sz="1800" dirty="0">
                <a:solidFill>
                  <a:srgbClr val="1D1F20"/>
                </a:solidFill>
                <a:latin typeface="Proxima Nova Rg"/>
              </a:rPr>
              <a:t>: </a:t>
            </a:r>
            <a:r>
              <a:rPr lang="en-GB" sz="1800" b="0" i="0" u="none" strike="noStrike" baseline="0" dirty="0">
                <a:solidFill>
                  <a:srgbClr val="1D1F20"/>
                </a:solidFill>
                <a:latin typeface="Proxima Nova Rg"/>
              </a:rPr>
              <a:t>The </a:t>
            </a:r>
            <a:r>
              <a:rPr lang="en-GB" sz="1800" b="0" i="0" u="none" strike="noStrike" baseline="0" dirty="0">
                <a:solidFill>
                  <a:srgbClr val="000000"/>
                </a:solidFill>
                <a:latin typeface="Proxima Nova Rg"/>
              </a:rPr>
              <a:t>fi</a:t>
            </a:r>
            <a:r>
              <a:rPr lang="en-GB" sz="1800" b="0" i="0" u="none" strike="noStrike" baseline="0" dirty="0">
                <a:solidFill>
                  <a:srgbClr val="1D1F20"/>
                </a:solidFill>
                <a:latin typeface="Proxima Nova Rg"/>
              </a:rPr>
              <a:t>rst step is to understand the nature of your problem. </a:t>
            </a:r>
          </a:p>
          <a:p>
            <a:pPr marL="0" indent="0" algn="just">
              <a:buNone/>
            </a:pPr>
            <a:r>
              <a:rPr lang="en-GB" sz="1800" dirty="0">
                <a:solidFill>
                  <a:srgbClr val="1D1F20"/>
                </a:solidFill>
                <a:latin typeface="Proxima Nova Rg"/>
              </a:rPr>
              <a:t>    </a:t>
            </a:r>
            <a:r>
              <a:rPr lang="en-GB" sz="1800" b="0" i="0" u="none" strike="noStrike" baseline="0" dirty="0">
                <a:solidFill>
                  <a:srgbClr val="1D1F20"/>
                </a:solidFill>
                <a:latin typeface="Proxima Nova Rg"/>
              </a:rPr>
              <a:t>Is it about sorting things into categories (classi</a:t>
            </a:r>
            <a:r>
              <a:rPr lang="en-GB" sz="1800" b="0" i="0" u="none" strike="noStrike" baseline="0" dirty="0">
                <a:solidFill>
                  <a:srgbClr val="000000"/>
                </a:solidFill>
                <a:latin typeface="Proxima Nova Rg"/>
              </a:rPr>
              <a:t>fi</a:t>
            </a:r>
            <a:r>
              <a:rPr lang="en-GB" sz="1800" b="0" i="0" u="none" strike="noStrike" baseline="0" dirty="0">
                <a:solidFill>
                  <a:srgbClr val="1D1F20"/>
                </a:solidFill>
                <a:latin typeface="Proxima Nova Rg"/>
              </a:rPr>
              <a:t>cation), predicting numbers (regression), or grouping similar items (clustering)? </a:t>
            </a:r>
          </a:p>
          <a:p>
            <a:pPr marL="0" indent="0" algn="just">
              <a:buNone/>
            </a:pPr>
            <a:endParaRPr lang="en-GB" sz="1800" dirty="0">
              <a:solidFill>
                <a:srgbClr val="1D1F20"/>
              </a:solidFill>
              <a:latin typeface="Proxima Nova Rg"/>
            </a:endParaRPr>
          </a:p>
          <a:p>
            <a:pPr marL="0" indent="0" algn="just">
              <a:buNone/>
            </a:pPr>
            <a:r>
              <a:rPr lang="en-GB" sz="1800" b="0" i="0" u="none" strike="noStrike" baseline="0" dirty="0">
                <a:solidFill>
                  <a:srgbClr val="1D1F20"/>
                </a:solidFill>
                <a:latin typeface="Proxima Nova Rg"/>
              </a:rPr>
              <a:t>Determining the type of issue helps in choosing the right candidate models. Using your domain knowledge, you can identify proven e</a:t>
            </a:r>
            <a:r>
              <a:rPr lang="en-GB" sz="1800" b="0" i="0" u="none" strike="noStrike" baseline="0" dirty="0">
                <a:solidFill>
                  <a:srgbClr val="000000"/>
                </a:solidFill>
                <a:latin typeface="Proxima Nova Rg"/>
              </a:rPr>
              <a:t>ff</a:t>
            </a:r>
            <a:r>
              <a:rPr lang="en-GB" sz="1800" b="0" i="0" u="none" strike="noStrike" baseline="0" dirty="0">
                <a:solidFill>
                  <a:srgbClr val="1D1F20"/>
                </a:solidFill>
                <a:latin typeface="Proxima Nova Rg"/>
              </a:rPr>
              <a:t>ective models for similar tasks. The most </a:t>
            </a:r>
            <a:r>
              <a:rPr lang="en-GB" sz="1800" dirty="0">
                <a:solidFill>
                  <a:srgbClr val="1D1F20"/>
                </a:solidFill>
                <a:latin typeface="Proxima Nova Rg"/>
              </a:rPr>
              <a:t>common options include:</a:t>
            </a:r>
            <a:endParaRPr lang="en-GB" sz="1800" dirty="0"/>
          </a:p>
          <a:p>
            <a:pPr marL="0" indent="0" algn="just">
              <a:buNone/>
            </a:pPr>
            <a:r>
              <a:rPr lang="en-GB" sz="1800" b="1" i="0" u="none" strike="noStrike" baseline="0" dirty="0">
                <a:solidFill>
                  <a:srgbClr val="1D1F20"/>
                </a:solidFill>
                <a:latin typeface="Proxima Nova Rg"/>
              </a:rPr>
              <a:t>    - Linear models</a:t>
            </a:r>
            <a:r>
              <a:rPr lang="en-GB" sz="1800" b="0" i="0" u="none" strike="noStrike" baseline="0" dirty="0">
                <a:solidFill>
                  <a:srgbClr val="1D1F20"/>
                </a:solidFill>
                <a:latin typeface="Proxima Nova Rg"/>
              </a:rPr>
              <a:t>. </a:t>
            </a:r>
          </a:p>
          <a:p>
            <a:pPr marL="0" indent="0" algn="just">
              <a:buNone/>
            </a:pPr>
            <a:r>
              <a:rPr lang="en-GB" sz="1800" b="1" i="0" u="none" strike="noStrike" baseline="0" dirty="0">
                <a:solidFill>
                  <a:srgbClr val="1D1F20"/>
                </a:solidFill>
                <a:latin typeface="Proxima Nova Rg"/>
              </a:rPr>
              <a:t>    - Tree models</a:t>
            </a:r>
            <a:r>
              <a:rPr lang="en-GB" sz="1800" b="0" i="0" u="none" strike="noStrike" baseline="0" dirty="0">
                <a:solidFill>
                  <a:srgbClr val="1D1F20"/>
                </a:solidFill>
                <a:latin typeface="Proxima Nova Rg"/>
              </a:rPr>
              <a:t>.</a:t>
            </a:r>
          </a:p>
          <a:p>
            <a:pPr marL="0" indent="0" algn="just">
              <a:buNone/>
            </a:pPr>
            <a:r>
              <a:rPr lang="en-GB" sz="1800" b="1" i="0" u="none" strike="noStrike" baseline="0" dirty="0">
                <a:solidFill>
                  <a:srgbClr val="1D1F20"/>
                </a:solidFill>
                <a:latin typeface="Proxima Nova Rg"/>
              </a:rPr>
              <a:t>    - Neural networks</a:t>
            </a:r>
            <a:r>
              <a:rPr lang="en-GB" sz="1800" b="0" i="0" u="none" strike="noStrike" baseline="0" dirty="0">
                <a:solidFill>
                  <a:srgbClr val="1D1F20"/>
                </a:solidFill>
                <a:latin typeface="Proxima Nova Rg"/>
              </a:rPr>
              <a:t>.</a:t>
            </a:r>
          </a:p>
          <a:p>
            <a:pPr algn="just"/>
            <a:endParaRPr lang="en-GB" sz="1800" b="0" i="0" u="none" strike="noStrike" baseline="0" dirty="0">
              <a:solidFill>
                <a:srgbClr val="000000"/>
              </a:solidFill>
              <a:latin typeface="Proxima Nova Rg"/>
            </a:endParaRPr>
          </a:p>
        </p:txBody>
      </p:sp>
      <p:sp>
        <p:nvSpPr>
          <p:cNvPr id="5" name="TextBox 4">
            <a:extLst>
              <a:ext uri="{FF2B5EF4-FFF2-40B4-BE49-F238E27FC236}">
                <a16:creationId xmlns:a16="http://schemas.microsoft.com/office/drawing/2014/main" id="{9B154D21-B7C5-74C0-7C44-A5CF83299295}"/>
              </a:ext>
            </a:extLst>
          </p:cNvPr>
          <p:cNvSpPr txBox="1"/>
          <p:nvPr/>
        </p:nvSpPr>
        <p:spPr>
          <a:xfrm>
            <a:off x="601363" y="389279"/>
            <a:ext cx="6096000" cy="369332"/>
          </a:xfrm>
          <a:prstGeom prst="rect">
            <a:avLst/>
          </a:prstGeom>
          <a:noFill/>
        </p:spPr>
        <p:txBody>
          <a:bodyPr wrap="square">
            <a:spAutoFit/>
          </a:bodyPr>
          <a:lstStyle/>
          <a:p>
            <a:r>
              <a:rPr lang="en-GB" b="1" i="0" dirty="0">
                <a:solidFill>
                  <a:srgbClr val="05192D"/>
                </a:solidFill>
                <a:effectLst/>
                <a:latin typeface="Studio-Feixen-Sans"/>
              </a:rPr>
              <a:t>Step 3</a:t>
            </a:r>
            <a:r>
              <a:rPr lang="en-GB" sz="1800" b="1" i="0" u="none" strike="noStrike" baseline="0" dirty="0">
                <a:solidFill>
                  <a:srgbClr val="1D1F20"/>
                </a:solidFill>
                <a:latin typeface="Proxima Nova Rg"/>
              </a:rPr>
              <a:t>. Model Selection, Training &amp; Validation</a:t>
            </a:r>
            <a:endParaRPr lang="en-GB" dirty="0"/>
          </a:p>
        </p:txBody>
      </p:sp>
    </p:spTree>
    <p:extLst>
      <p:ext uri="{BB962C8B-B14F-4D97-AF65-F5344CB8AC3E}">
        <p14:creationId xmlns:p14="http://schemas.microsoft.com/office/powerpoint/2010/main" val="32396927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9797F4C-CC1C-414F-48BE-714F3F7CA811}"/>
              </a:ext>
            </a:extLst>
          </p:cNvPr>
          <p:cNvSpPr txBox="1"/>
          <p:nvPr/>
        </p:nvSpPr>
        <p:spPr>
          <a:xfrm>
            <a:off x="1091513" y="382012"/>
            <a:ext cx="9621795" cy="3046988"/>
          </a:xfrm>
          <a:prstGeom prst="rect">
            <a:avLst/>
          </a:prstGeom>
          <a:noFill/>
        </p:spPr>
        <p:txBody>
          <a:bodyPr wrap="square">
            <a:spAutoFit/>
          </a:bodyPr>
          <a:lstStyle/>
          <a:p>
            <a:pPr algn="l" rtl="0"/>
            <a:r>
              <a:rPr lang="en-GB" sz="2400" b="1" i="0" dirty="0">
                <a:solidFill>
                  <a:srgbClr val="05192D"/>
                </a:solidFill>
                <a:effectLst/>
                <a:latin typeface="Studio-Feixen-Sans"/>
              </a:rPr>
              <a:t>Step 4: Training the model</a:t>
            </a:r>
          </a:p>
          <a:p>
            <a:pPr algn="l" rtl="0"/>
            <a:endParaRPr lang="en-GB" sz="2400" b="1" i="0" dirty="0">
              <a:solidFill>
                <a:srgbClr val="05192D"/>
              </a:solidFill>
              <a:effectLst/>
              <a:latin typeface="Studio-Feixen-Sans"/>
            </a:endParaRPr>
          </a:p>
          <a:p>
            <a:pPr algn="just" rtl="0"/>
            <a:r>
              <a:rPr lang="en-GB" sz="2400" b="0" i="0" dirty="0">
                <a:solidFill>
                  <a:srgbClr val="05192D"/>
                </a:solidFill>
                <a:effectLst/>
                <a:latin typeface="Studio-Feixen-Sans"/>
              </a:rPr>
              <a:t>After choosing a model, the next step is to train it using the prepared data. Training involves feeding the data into the model and allowing it to adjust its internal parameters to better predict the output.</a:t>
            </a:r>
          </a:p>
          <a:p>
            <a:pPr algn="l" rtl="0"/>
            <a:r>
              <a:rPr lang="en-GB" sz="2400" b="0" i="0" dirty="0">
                <a:solidFill>
                  <a:srgbClr val="05192D"/>
                </a:solidFill>
                <a:effectLst/>
                <a:latin typeface="Studio-Feixen-Sans"/>
              </a:rPr>
              <a:t>During training, it's important to avoid overfitting (where the model performs well on the training data but poorly on new data) and underfitting (where the model performs poorly on both the training data and new data).</a:t>
            </a:r>
          </a:p>
        </p:txBody>
      </p:sp>
      <p:sp>
        <p:nvSpPr>
          <p:cNvPr id="7" name="TextBox 6">
            <a:extLst>
              <a:ext uri="{FF2B5EF4-FFF2-40B4-BE49-F238E27FC236}">
                <a16:creationId xmlns:a16="http://schemas.microsoft.com/office/drawing/2014/main" id="{B2D54766-508E-311A-B49A-A50B7AD87C5D}"/>
              </a:ext>
            </a:extLst>
          </p:cNvPr>
          <p:cNvSpPr txBox="1"/>
          <p:nvPr/>
        </p:nvSpPr>
        <p:spPr>
          <a:xfrm>
            <a:off x="1091513" y="3807759"/>
            <a:ext cx="10008973" cy="1938992"/>
          </a:xfrm>
          <a:prstGeom prst="rect">
            <a:avLst/>
          </a:prstGeom>
          <a:noFill/>
        </p:spPr>
        <p:txBody>
          <a:bodyPr wrap="square">
            <a:spAutoFit/>
          </a:bodyPr>
          <a:lstStyle/>
          <a:p>
            <a:pPr algn="just" rtl="0"/>
            <a:r>
              <a:rPr lang="en-GB" sz="2400" b="1" i="0" dirty="0">
                <a:solidFill>
                  <a:srgbClr val="05192D"/>
                </a:solidFill>
                <a:effectLst/>
                <a:latin typeface="Studio-Feixen-Sans"/>
              </a:rPr>
              <a:t>Step 5: Evaluating the model</a:t>
            </a:r>
          </a:p>
          <a:p>
            <a:pPr algn="just"/>
            <a:r>
              <a:rPr lang="en-GB" sz="2400" b="0" i="0" dirty="0">
                <a:solidFill>
                  <a:srgbClr val="05192D"/>
                </a:solidFill>
                <a:effectLst/>
                <a:latin typeface="Studio-Feixen-Sans"/>
              </a:rPr>
              <a:t>Once a model is trained, evaluating its performance on unseen data is essential before deployment. Common metrics for evaluating a model's performance include accuracy (for classification problems), precision and recall (for binary classification problems), and mean squared error (for regression problems).</a:t>
            </a:r>
          </a:p>
        </p:txBody>
      </p:sp>
    </p:spTree>
    <p:extLst>
      <p:ext uri="{BB962C8B-B14F-4D97-AF65-F5344CB8AC3E}">
        <p14:creationId xmlns:p14="http://schemas.microsoft.com/office/powerpoint/2010/main" val="1164810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41C2F1-7975-A529-38D1-72D5D5203203}"/>
              </a:ext>
            </a:extLst>
          </p:cNvPr>
          <p:cNvSpPr txBox="1"/>
          <p:nvPr/>
        </p:nvSpPr>
        <p:spPr>
          <a:xfrm>
            <a:off x="679621" y="307535"/>
            <a:ext cx="10832757" cy="1938992"/>
          </a:xfrm>
          <a:prstGeom prst="rect">
            <a:avLst/>
          </a:prstGeom>
          <a:noFill/>
        </p:spPr>
        <p:txBody>
          <a:bodyPr wrap="square">
            <a:spAutoFit/>
          </a:bodyPr>
          <a:lstStyle/>
          <a:p>
            <a:pPr algn="l" rtl="0"/>
            <a:r>
              <a:rPr lang="en-GB" sz="2000" b="1" i="0" dirty="0">
                <a:solidFill>
                  <a:srgbClr val="05192D"/>
                </a:solidFill>
                <a:effectLst/>
                <a:latin typeface="Studio-Feixen-Sans"/>
              </a:rPr>
              <a:t>Step 6: Hyperparameter tuning and optimization</a:t>
            </a:r>
          </a:p>
          <a:p>
            <a:pPr algn="l" rtl="0"/>
            <a:endParaRPr lang="en-GB" sz="2000" b="1" i="0" dirty="0">
              <a:solidFill>
                <a:srgbClr val="05192D"/>
              </a:solidFill>
              <a:effectLst/>
              <a:latin typeface="Studio-Feixen-Sans"/>
            </a:endParaRPr>
          </a:p>
          <a:p>
            <a:pPr algn="l" rtl="0"/>
            <a:r>
              <a:rPr lang="en-GB" sz="2000" b="1" i="0" dirty="0">
                <a:solidFill>
                  <a:srgbClr val="273239"/>
                </a:solidFill>
                <a:effectLst/>
                <a:latin typeface="Nunito"/>
              </a:rPr>
              <a:t>Hyperparameter tuning</a:t>
            </a:r>
            <a:r>
              <a:rPr lang="en-GB" sz="2000" b="0" i="0" dirty="0">
                <a:solidFill>
                  <a:srgbClr val="273239"/>
                </a:solidFill>
                <a:effectLst/>
                <a:latin typeface="Nunito"/>
              </a:rPr>
              <a:t> is the process of selecting the optimal values for a machine learning model's hyperparameters. These are typically set before the actual training process begins and control aspects of the learning process itself. They influence the model's performance its complexity and how fast it learns.</a:t>
            </a:r>
            <a:endParaRPr lang="en-GB" sz="2000" b="1" i="0" dirty="0">
              <a:solidFill>
                <a:srgbClr val="05192D"/>
              </a:solidFill>
              <a:effectLst/>
              <a:latin typeface="Studio-Feixen-Sans"/>
            </a:endParaRPr>
          </a:p>
        </p:txBody>
      </p:sp>
      <p:sp>
        <p:nvSpPr>
          <p:cNvPr id="7" name="TextBox 6">
            <a:extLst>
              <a:ext uri="{FF2B5EF4-FFF2-40B4-BE49-F238E27FC236}">
                <a16:creationId xmlns:a16="http://schemas.microsoft.com/office/drawing/2014/main" id="{02BBC68E-FF4E-3E5C-C020-18714153CC52}"/>
              </a:ext>
            </a:extLst>
          </p:cNvPr>
          <p:cNvSpPr txBox="1"/>
          <p:nvPr/>
        </p:nvSpPr>
        <p:spPr>
          <a:xfrm>
            <a:off x="749643" y="3276763"/>
            <a:ext cx="10346725" cy="2246769"/>
          </a:xfrm>
          <a:prstGeom prst="rect">
            <a:avLst/>
          </a:prstGeom>
          <a:noFill/>
        </p:spPr>
        <p:txBody>
          <a:bodyPr wrap="square">
            <a:spAutoFit/>
          </a:bodyPr>
          <a:lstStyle/>
          <a:p>
            <a:pPr algn="l" rtl="0"/>
            <a:r>
              <a:rPr lang="en-GB" sz="2000" b="1" i="0" dirty="0">
                <a:solidFill>
                  <a:srgbClr val="05192D"/>
                </a:solidFill>
                <a:effectLst/>
                <a:latin typeface="Studio-Feixen-Sans"/>
              </a:rPr>
              <a:t>Step 7: Predictions and deployment</a:t>
            </a:r>
          </a:p>
          <a:p>
            <a:pPr algn="l" rtl="0"/>
            <a:r>
              <a:rPr lang="en-GB" sz="2000" b="0" i="0" dirty="0">
                <a:solidFill>
                  <a:srgbClr val="05192D"/>
                </a:solidFill>
                <a:effectLst/>
                <a:latin typeface="Studio-Feixen-Sans"/>
              </a:rPr>
              <a:t>Deploying a machine learning model involves integrating it into a production environment, where it can deliver real-time predictions or insights. MLOps (Machine Learning Operations) has emerged as a standard practice to streamline this process. It encompasses version control, monitoring, and automated testing to ensure models are reproducible, reliable, and robust. MLOps frameworks like </a:t>
            </a:r>
            <a:r>
              <a:rPr lang="en-GB" sz="2000" b="0" i="0" dirty="0" err="1">
                <a:solidFill>
                  <a:srgbClr val="05192D"/>
                </a:solidFill>
                <a:effectLst/>
                <a:latin typeface="Studio-Feixen-Sans"/>
              </a:rPr>
              <a:t>MLflow</a:t>
            </a:r>
            <a:r>
              <a:rPr lang="en-GB" sz="2000" b="0" i="0" dirty="0">
                <a:solidFill>
                  <a:srgbClr val="05192D"/>
                </a:solidFill>
                <a:effectLst/>
                <a:latin typeface="Studio-Feixen-Sans"/>
              </a:rPr>
              <a:t> or Kubeflow support these goals by providing seamless workflows for deployment, retraining, and model rollback if issues arise.</a:t>
            </a:r>
          </a:p>
        </p:txBody>
      </p:sp>
    </p:spTree>
    <p:extLst>
      <p:ext uri="{BB962C8B-B14F-4D97-AF65-F5344CB8AC3E}">
        <p14:creationId xmlns:p14="http://schemas.microsoft.com/office/powerpoint/2010/main" val="892675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A85F5A-474C-1376-B0E0-BF5A257FB8CA}"/>
              </a:ext>
            </a:extLst>
          </p:cNvPr>
          <p:cNvSpPr txBox="1"/>
          <p:nvPr/>
        </p:nvSpPr>
        <p:spPr>
          <a:xfrm>
            <a:off x="1070919" y="849688"/>
            <a:ext cx="9811265" cy="3970318"/>
          </a:xfrm>
          <a:prstGeom prst="rect">
            <a:avLst/>
          </a:prstGeom>
          <a:noFill/>
        </p:spPr>
        <p:txBody>
          <a:bodyPr wrap="square">
            <a:spAutoFit/>
          </a:bodyPr>
          <a:lstStyle/>
          <a:p>
            <a:r>
              <a:rPr lang="en-GB" b="1" dirty="0"/>
              <a:t>Example Workflow:</a:t>
            </a:r>
          </a:p>
          <a:p>
            <a:endParaRPr lang="en-GB" b="1" dirty="0"/>
          </a:p>
          <a:p>
            <a:endParaRPr lang="en-GB" b="1" dirty="0"/>
          </a:p>
          <a:p>
            <a:pPr>
              <a:buFont typeface="+mj-lt"/>
              <a:buAutoNum type="arabicPeriod"/>
            </a:pPr>
            <a:r>
              <a:rPr lang="en-GB" b="1" dirty="0"/>
              <a:t> Data Collection/Preprocessing</a:t>
            </a:r>
            <a:r>
              <a:rPr lang="en-GB" dirty="0"/>
              <a:t>: Use Pandas and NumPy for data cleaning and preparation.</a:t>
            </a:r>
          </a:p>
          <a:p>
            <a:pPr>
              <a:buFont typeface="+mj-lt"/>
              <a:buAutoNum type="arabicPeriod"/>
            </a:pPr>
            <a:endParaRPr lang="en-GB" dirty="0"/>
          </a:p>
          <a:p>
            <a:pPr>
              <a:buFont typeface="+mj-lt"/>
              <a:buAutoNum type="arabicPeriod"/>
            </a:pPr>
            <a:r>
              <a:rPr lang="en-GB" b="1" dirty="0"/>
              <a:t> Exploratory Data Analysis (EDA)</a:t>
            </a:r>
            <a:r>
              <a:rPr lang="en-GB" dirty="0"/>
              <a:t>: Visualize the data with Matplotlib/Seaborn.</a:t>
            </a:r>
          </a:p>
          <a:p>
            <a:pPr>
              <a:buFont typeface="+mj-lt"/>
              <a:buAutoNum type="arabicPeriod"/>
            </a:pPr>
            <a:endParaRPr lang="en-GB" dirty="0"/>
          </a:p>
          <a:p>
            <a:pPr>
              <a:buFont typeface="+mj-lt"/>
              <a:buAutoNum type="arabicPeriod"/>
            </a:pPr>
            <a:r>
              <a:rPr lang="en-GB" b="1" dirty="0"/>
              <a:t> Model Building</a:t>
            </a:r>
            <a:r>
              <a:rPr lang="en-GB" dirty="0"/>
              <a:t>: Use Scikit-learn, TensorFlow, or </a:t>
            </a:r>
            <a:r>
              <a:rPr lang="en-GB" dirty="0" err="1"/>
              <a:t>PyTorch</a:t>
            </a:r>
            <a:r>
              <a:rPr lang="en-GB" dirty="0"/>
              <a:t>.</a:t>
            </a:r>
          </a:p>
          <a:p>
            <a:pPr>
              <a:buFont typeface="+mj-lt"/>
              <a:buAutoNum type="arabicPeriod"/>
            </a:pPr>
            <a:endParaRPr lang="en-GB" dirty="0"/>
          </a:p>
          <a:p>
            <a:pPr>
              <a:buFont typeface="+mj-lt"/>
              <a:buAutoNum type="arabicPeriod"/>
            </a:pPr>
            <a:r>
              <a:rPr lang="en-GB" b="1" dirty="0"/>
              <a:t> Model Evaluation</a:t>
            </a:r>
            <a:r>
              <a:rPr lang="en-GB" dirty="0"/>
              <a:t>: Validate the model using Scikit-</a:t>
            </a:r>
            <a:r>
              <a:rPr lang="en-GB" dirty="0" err="1"/>
              <a:t>learn’s</a:t>
            </a:r>
            <a:r>
              <a:rPr lang="en-GB" dirty="0"/>
              <a:t> metrics.</a:t>
            </a:r>
          </a:p>
          <a:p>
            <a:pPr>
              <a:buFont typeface="+mj-lt"/>
              <a:buAutoNum type="arabicPeriod"/>
            </a:pPr>
            <a:endParaRPr lang="en-GB" dirty="0"/>
          </a:p>
          <a:p>
            <a:pPr>
              <a:buFont typeface="+mj-lt"/>
              <a:buAutoNum type="arabicPeriod"/>
            </a:pPr>
            <a:r>
              <a:rPr lang="en-GB" b="1" dirty="0"/>
              <a:t> Hyperparameter Tuning</a:t>
            </a:r>
            <a:r>
              <a:rPr lang="en-GB" dirty="0"/>
              <a:t>: Use grid search or randomized search for hyperparameter tuning.</a:t>
            </a:r>
          </a:p>
          <a:p>
            <a:pPr>
              <a:buFont typeface="+mj-lt"/>
              <a:buAutoNum type="arabicPeriod"/>
            </a:pPr>
            <a:endParaRPr lang="en-GB" dirty="0"/>
          </a:p>
          <a:p>
            <a:pPr>
              <a:buFont typeface="+mj-lt"/>
              <a:buAutoNum type="arabicPeriod"/>
            </a:pPr>
            <a:r>
              <a:rPr lang="en-GB" b="1" dirty="0"/>
              <a:t> Deployment</a:t>
            </a:r>
            <a:r>
              <a:rPr lang="en-GB" dirty="0"/>
              <a:t>: Use Flask/Docker for API-based deployment or cloud services for scaling.</a:t>
            </a:r>
          </a:p>
        </p:txBody>
      </p:sp>
    </p:spTree>
    <p:extLst>
      <p:ext uri="{BB962C8B-B14F-4D97-AF65-F5344CB8AC3E}">
        <p14:creationId xmlns:p14="http://schemas.microsoft.com/office/powerpoint/2010/main" val="2641279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4197E69-8D9F-79FA-EA93-07E0CA5404AF}"/>
              </a:ext>
            </a:extLst>
          </p:cNvPr>
          <p:cNvSpPr txBox="1"/>
          <p:nvPr/>
        </p:nvSpPr>
        <p:spPr>
          <a:xfrm>
            <a:off x="626076" y="764741"/>
            <a:ext cx="11458832" cy="923330"/>
          </a:xfrm>
          <a:prstGeom prst="rect">
            <a:avLst/>
          </a:prstGeom>
          <a:noFill/>
        </p:spPr>
        <p:txBody>
          <a:bodyPr wrap="square">
            <a:spAutoFit/>
          </a:bodyPr>
          <a:lstStyle/>
          <a:p>
            <a:r>
              <a:rPr lang="en-GB" b="0" i="0" dirty="0">
                <a:solidFill>
                  <a:srgbClr val="242424"/>
                </a:solidFill>
                <a:effectLst/>
                <a:latin typeface="source-serif-pro"/>
              </a:rPr>
              <a:t>In machine learning, the </a:t>
            </a:r>
            <a:r>
              <a:rPr lang="en-GB" b="1" i="0" dirty="0">
                <a:solidFill>
                  <a:srgbClr val="242424"/>
                </a:solidFill>
                <a:effectLst/>
                <a:latin typeface="source-serif-pro"/>
              </a:rPr>
              <a:t>concept of “input”</a:t>
            </a:r>
            <a:r>
              <a:rPr lang="en-GB" b="0" i="0" dirty="0">
                <a:solidFill>
                  <a:srgbClr val="242424"/>
                </a:solidFill>
                <a:effectLst/>
                <a:latin typeface="source-serif-pro"/>
              </a:rPr>
              <a:t> refers to the data provided to the model to </a:t>
            </a:r>
            <a:r>
              <a:rPr lang="en-GB" b="0" i="0" dirty="0" err="1">
                <a:solidFill>
                  <a:srgbClr val="242424"/>
                </a:solidFill>
                <a:effectLst/>
                <a:latin typeface="source-serif-pro"/>
              </a:rPr>
              <a:t>analyze</a:t>
            </a:r>
            <a:r>
              <a:rPr lang="en-GB" b="0" i="0" dirty="0">
                <a:solidFill>
                  <a:srgbClr val="242424"/>
                </a:solidFill>
                <a:effectLst/>
                <a:latin typeface="source-serif-pro"/>
              </a:rPr>
              <a:t> and learn from. Inputs are the essential building blocks of machine learning models, as they represent the </a:t>
            </a:r>
            <a:r>
              <a:rPr lang="en-GB" b="1" i="0" dirty="0">
                <a:solidFill>
                  <a:srgbClr val="FF0000"/>
                </a:solidFill>
                <a:effectLst/>
                <a:latin typeface="source-serif-pro"/>
              </a:rPr>
              <a:t>features</a:t>
            </a:r>
            <a:r>
              <a:rPr lang="en-GB" b="0" i="0" dirty="0">
                <a:solidFill>
                  <a:srgbClr val="242424"/>
                </a:solidFill>
                <a:effectLst/>
                <a:latin typeface="source-serif-pro"/>
              </a:rPr>
              <a:t> or </a:t>
            </a:r>
            <a:r>
              <a:rPr lang="en-GB" b="1" i="0" dirty="0">
                <a:solidFill>
                  <a:srgbClr val="FF0000"/>
                </a:solidFill>
                <a:effectLst/>
                <a:latin typeface="source-serif-pro"/>
              </a:rPr>
              <a:t>attributes</a:t>
            </a:r>
            <a:r>
              <a:rPr lang="en-GB" b="0" i="0" dirty="0">
                <a:solidFill>
                  <a:srgbClr val="242424"/>
                </a:solidFill>
                <a:effectLst/>
                <a:latin typeface="source-serif-pro"/>
              </a:rPr>
              <a:t> of each data point that the model uses to make </a:t>
            </a:r>
            <a:r>
              <a:rPr lang="en-GB" b="1" i="0" dirty="0">
                <a:solidFill>
                  <a:srgbClr val="242424"/>
                </a:solidFill>
                <a:effectLst/>
                <a:latin typeface="source-serif-pro"/>
              </a:rPr>
              <a:t>predictions</a:t>
            </a:r>
            <a:r>
              <a:rPr lang="en-GB" b="0" i="0" dirty="0">
                <a:solidFill>
                  <a:srgbClr val="242424"/>
                </a:solidFill>
                <a:effectLst/>
                <a:latin typeface="source-serif-pro"/>
              </a:rPr>
              <a:t> or </a:t>
            </a:r>
            <a:r>
              <a:rPr lang="en-GB" b="1" i="0" dirty="0">
                <a:solidFill>
                  <a:srgbClr val="242424"/>
                </a:solidFill>
                <a:effectLst/>
                <a:latin typeface="source-serif-pro"/>
              </a:rPr>
              <a:t>classifications</a:t>
            </a:r>
            <a:r>
              <a:rPr lang="en-GB" b="0" i="0" dirty="0">
                <a:solidFill>
                  <a:srgbClr val="242424"/>
                </a:solidFill>
                <a:effectLst/>
                <a:latin typeface="source-serif-pro"/>
              </a:rPr>
              <a:t>.</a:t>
            </a:r>
            <a:endParaRPr lang="en-GB" dirty="0"/>
          </a:p>
        </p:txBody>
      </p:sp>
      <p:sp>
        <p:nvSpPr>
          <p:cNvPr id="7" name="TextBox 6">
            <a:extLst>
              <a:ext uri="{FF2B5EF4-FFF2-40B4-BE49-F238E27FC236}">
                <a16:creationId xmlns:a16="http://schemas.microsoft.com/office/drawing/2014/main" id="{822454B8-BC91-4F8A-BCC0-C195BCC71CF7}"/>
              </a:ext>
            </a:extLst>
          </p:cNvPr>
          <p:cNvSpPr txBox="1"/>
          <p:nvPr/>
        </p:nvSpPr>
        <p:spPr>
          <a:xfrm>
            <a:off x="2471351" y="206631"/>
            <a:ext cx="6096000" cy="369332"/>
          </a:xfrm>
          <a:prstGeom prst="rect">
            <a:avLst/>
          </a:prstGeom>
          <a:noFill/>
        </p:spPr>
        <p:txBody>
          <a:bodyPr wrap="square">
            <a:spAutoFit/>
          </a:bodyPr>
          <a:lstStyle/>
          <a:p>
            <a:pPr algn="l"/>
            <a:r>
              <a:rPr lang="en-GB" b="1" i="0" dirty="0">
                <a:solidFill>
                  <a:srgbClr val="242424"/>
                </a:solidFill>
                <a:effectLst/>
                <a:latin typeface="sohne"/>
              </a:rPr>
              <a:t>Understanding Input and Attributes in Machine Learning</a:t>
            </a:r>
          </a:p>
        </p:txBody>
      </p:sp>
      <p:sp>
        <p:nvSpPr>
          <p:cNvPr id="9" name="TextBox 8">
            <a:extLst>
              <a:ext uri="{FF2B5EF4-FFF2-40B4-BE49-F238E27FC236}">
                <a16:creationId xmlns:a16="http://schemas.microsoft.com/office/drawing/2014/main" id="{5E185D13-FB94-CC8C-98AE-9717599F4171}"/>
              </a:ext>
            </a:extLst>
          </p:cNvPr>
          <p:cNvSpPr txBox="1"/>
          <p:nvPr/>
        </p:nvSpPr>
        <p:spPr>
          <a:xfrm>
            <a:off x="626075" y="1876849"/>
            <a:ext cx="11211697" cy="646331"/>
          </a:xfrm>
          <a:prstGeom prst="rect">
            <a:avLst/>
          </a:prstGeom>
          <a:noFill/>
        </p:spPr>
        <p:txBody>
          <a:bodyPr wrap="square">
            <a:spAutoFit/>
          </a:bodyPr>
          <a:lstStyle/>
          <a:p>
            <a:r>
              <a:rPr lang="en-GB" b="1" i="0" dirty="0">
                <a:solidFill>
                  <a:srgbClr val="242424"/>
                </a:solidFill>
                <a:effectLst/>
                <a:latin typeface="source-serif-pro"/>
              </a:rPr>
              <a:t>Attributes or features</a:t>
            </a:r>
            <a:r>
              <a:rPr lang="en-GB" b="0" i="0" dirty="0">
                <a:solidFill>
                  <a:srgbClr val="242424"/>
                </a:solidFill>
                <a:effectLst/>
                <a:latin typeface="source-serif-pro"/>
              </a:rPr>
              <a:t> are the characteristics or properties of the data. In a dataset, each row represents an instance (or example), and each column represents a feature of that instance.</a:t>
            </a:r>
            <a:endParaRPr lang="en-GB" dirty="0"/>
          </a:p>
        </p:txBody>
      </p:sp>
      <p:sp>
        <p:nvSpPr>
          <p:cNvPr id="11" name="TextBox 10">
            <a:extLst>
              <a:ext uri="{FF2B5EF4-FFF2-40B4-BE49-F238E27FC236}">
                <a16:creationId xmlns:a16="http://schemas.microsoft.com/office/drawing/2014/main" id="{F1FCC1B7-F0D9-CD1F-D094-D1F554D81B9B}"/>
              </a:ext>
            </a:extLst>
          </p:cNvPr>
          <p:cNvSpPr txBox="1"/>
          <p:nvPr/>
        </p:nvSpPr>
        <p:spPr>
          <a:xfrm>
            <a:off x="626075" y="3092617"/>
            <a:ext cx="11145795" cy="2308324"/>
          </a:xfrm>
          <a:prstGeom prst="rect">
            <a:avLst/>
          </a:prstGeom>
          <a:noFill/>
        </p:spPr>
        <p:txBody>
          <a:bodyPr wrap="square">
            <a:spAutoFit/>
          </a:bodyPr>
          <a:lstStyle/>
          <a:p>
            <a:pPr algn="l" fontAlgn="base"/>
            <a:r>
              <a:rPr lang="en-GB" b="1" i="0" u="sng" dirty="0">
                <a:solidFill>
                  <a:srgbClr val="FF0000"/>
                </a:solidFill>
                <a:effectLst/>
                <a:latin typeface="Nunito"/>
              </a:rPr>
              <a:t>Characteristics of Features</a:t>
            </a:r>
          </a:p>
          <a:p>
            <a:pPr algn="l" fontAlgn="base"/>
            <a:endParaRPr lang="en-GB" b="1" i="0" dirty="0">
              <a:solidFill>
                <a:srgbClr val="273239"/>
              </a:solidFill>
              <a:effectLst/>
              <a:latin typeface="Nunito"/>
            </a:endParaRPr>
          </a:p>
          <a:p>
            <a:pPr algn="l" fontAlgn="base">
              <a:buFont typeface="+mj-lt"/>
              <a:buAutoNum type="arabicPeriod"/>
            </a:pPr>
            <a:r>
              <a:rPr lang="en-GB" b="1" i="0" dirty="0">
                <a:solidFill>
                  <a:srgbClr val="273239"/>
                </a:solidFill>
                <a:effectLst/>
                <a:latin typeface="Nunito"/>
              </a:rPr>
              <a:t>Measurable</a:t>
            </a:r>
            <a:r>
              <a:rPr lang="en-GB" b="0" i="0" dirty="0">
                <a:solidFill>
                  <a:srgbClr val="273239"/>
                </a:solidFill>
                <a:effectLst/>
                <a:latin typeface="Nunito"/>
              </a:rPr>
              <a:t>: Features are quantifiable properties that can be measured and recorded.</a:t>
            </a:r>
          </a:p>
          <a:p>
            <a:pPr algn="l" fontAlgn="base">
              <a:buFont typeface="+mj-lt"/>
              <a:buAutoNum type="arabicPeriod"/>
            </a:pPr>
            <a:endParaRPr lang="en-GB" b="0" i="0" dirty="0">
              <a:solidFill>
                <a:srgbClr val="273239"/>
              </a:solidFill>
              <a:effectLst/>
              <a:latin typeface="Nunito"/>
            </a:endParaRPr>
          </a:p>
          <a:p>
            <a:pPr algn="l" fontAlgn="base">
              <a:buFont typeface="+mj-lt"/>
              <a:buAutoNum type="arabicPeriod" startAt="2"/>
            </a:pPr>
            <a:r>
              <a:rPr lang="en-GB" b="1" i="0" dirty="0">
                <a:solidFill>
                  <a:srgbClr val="273239"/>
                </a:solidFill>
                <a:effectLst/>
                <a:latin typeface="Nunito"/>
              </a:rPr>
              <a:t>Independent</a:t>
            </a:r>
            <a:r>
              <a:rPr lang="en-GB" b="0" i="0" dirty="0">
                <a:solidFill>
                  <a:srgbClr val="273239"/>
                </a:solidFill>
                <a:effectLst/>
                <a:latin typeface="Nunito"/>
              </a:rPr>
              <a:t>: Each feature should ideally be independent of the others, providing unique information to the model.</a:t>
            </a:r>
          </a:p>
          <a:p>
            <a:pPr algn="l" fontAlgn="base">
              <a:buFont typeface="+mj-lt"/>
              <a:buAutoNum type="arabicPeriod" startAt="2"/>
            </a:pPr>
            <a:endParaRPr lang="en-GB" b="0" i="0" dirty="0">
              <a:solidFill>
                <a:srgbClr val="273239"/>
              </a:solidFill>
              <a:effectLst/>
              <a:latin typeface="Nunito"/>
            </a:endParaRPr>
          </a:p>
          <a:p>
            <a:pPr algn="l" fontAlgn="base">
              <a:buFont typeface="+mj-lt"/>
              <a:buAutoNum type="arabicPeriod" startAt="3"/>
            </a:pPr>
            <a:r>
              <a:rPr lang="en-GB" b="1" i="0" dirty="0">
                <a:solidFill>
                  <a:srgbClr val="273239"/>
                </a:solidFill>
                <a:effectLst/>
                <a:latin typeface="Nunito"/>
              </a:rPr>
              <a:t>Varied Types</a:t>
            </a:r>
            <a:r>
              <a:rPr lang="en-GB" b="0" i="0" dirty="0">
                <a:solidFill>
                  <a:srgbClr val="273239"/>
                </a:solidFill>
                <a:effectLst/>
                <a:latin typeface="Nunito"/>
              </a:rPr>
              <a:t>: Features can be numerical (e.g., age, height), categorical (e.g., gender, </a:t>
            </a:r>
            <a:r>
              <a:rPr lang="en-GB" b="0" i="0" dirty="0" err="1">
                <a:solidFill>
                  <a:srgbClr val="273239"/>
                </a:solidFill>
                <a:effectLst/>
                <a:latin typeface="Nunito"/>
              </a:rPr>
              <a:t>color</a:t>
            </a:r>
            <a:r>
              <a:rPr lang="en-GB" b="0" i="0" dirty="0">
                <a:solidFill>
                  <a:srgbClr val="273239"/>
                </a:solidFill>
                <a:effectLst/>
                <a:latin typeface="Nunito"/>
              </a:rPr>
              <a:t>), or even text-based (e.g., reviews, comments).</a:t>
            </a:r>
          </a:p>
        </p:txBody>
      </p:sp>
    </p:spTree>
    <p:extLst>
      <p:ext uri="{BB962C8B-B14F-4D97-AF65-F5344CB8AC3E}">
        <p14:creationId xmlns:p14="http://schemas.microsoft.com/office/powerpoint/2010/main" val="275774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2" name="Freeform: Shape 11">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23">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093AF0C2-3148-DB4A-E627-B32A9F4CBFF2}"/>
              </a:ext>
            </a:extLst>
          </p:cNvPr>
          <p:cNvGraphicFramePr>
            <a:graphicFrameLocks noGrp="1"/>
          </p:cNvGraphicFramePr>
          <p:nvPr>
            <p:extLst>
              <p:ext uri="{D42A27DB-BD31-4B8C-83A1-F6EECF244321}">
                <p14:modId xmlns:p14="http://schemas.microsoft.com/office/powerpoint/2010/main" val="3008916065"/>
              </p:ext>
            </p:extLst>
          </p:nvPr>
        </p:nvGraphicFramePr>
        <p:xfrm>
          <a:off x="864881" y="878477"/>
          <a:ext cx="10462238" cy="5101050"/>
        </p:xfrm>
        <a:graphic>
          <a:graphicData uri="http://schemas.openxmlformats.org/drawingml/2006/table">
            <a:tbl>
              <a:tblPr>
                <a:solidFill>
                  <a:schemeClr val="bg1"/>
                </a:solidFill>
              </a:tblPr>
              <a:tblGrid>
                <a:gridCol w="3088918">
                  <a:extLst>
                    <a:ext uri="{9D8B030D-6E8A-4147-A177-3AD203B41FA5}">
                      <a16:colId xmlns:a16="http://schemas.microsoft.com/office/drawing/2014/main" val="3258121962"/>
                    </a:ext>
                  </a:extLst>
                </a:gridCol>
                <a:gridCol w="2362977">
                  <a:extLst>
                    <a:ext uri="{9D8B030D-6E8A-4147-A177-3AD203B41FA5}">
                      <a16:colId xmlns:a16="http://schemas.microsoft.com/office/drawing/2014/main" val="3689472097"/>
                    </a:ext>
                  </a:extLst>
                </a:gridCol>
                <a:gridCol w="2348009">
                  <a:extLst>
                    <a:ext uri="{9D8B030D-6E8A-4147-A177-3AD203B41FA5}">
                      <a16:colId xmlns:a16="http://schemas.microsoft.com/office/drawing/2014/main" val="2777041460"/>
                    </a:ext>
                  </a:extLst>
                </a:gridCol>
                <a:gridCol w="2662334">
                  <a:extLst>
                    <a:ext uri="{9D8B030D-6E8A-4147-A177-3AD203B41FA5}">
                      <a16:colId xmlns:a16="http://schemas.microsoft.com/office/drawing/2014/main" val="2968530997"/>
                    </a:ext>
                  </a:extLst>
                </a:gridCol>
              </a:tblGrid>
              <a:tr h="1020210">
                <a:tc gridSpan="3">
                  <a:txBody>
                    <a:bodyPr/>
                    <a:lstStyle/>
                    <a:p>
                      <a:pPr algn="l" fontAlgn="ctr"/>
                      <a:r>
                        <a:rPr lang="en-GB" sz="3300" b="0" cap="none" spc="0" dirty="0">
                          <a:solidFill>
                            <a:srgbClr val="FF0000"/>
                          </a:solidFill>
                          <a:effectLst/>
                          <a:latin typeface="Roboto"/>
                        </a:rPr>
                        <a:t>Features</a:t>
                      </a:r>
                    </a:p>
                  </a:txBody>
                  <a:tcPr marL="280198" marR="143691" marT="215537" marB="215537"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hMerge="1">
                  <a:txBody>
                    <a:bodyPr/>
                    <a:lstStyle/>
                    <a:p>
                      <a:endParaRPr lang="en-GB"/>
                    </a:p>
                  </a:txBody>
                  <a:tcPr/>
                </a:tc>
                <a:tc hMerge="1">
                  <a:txBody>
                    <a:bodyPr/>
                    <a:lstStyle/>
                    <a:p>
                      <a:endParaRPr lang="en-GB"/>
                    </a:p>
                  </a:txBody>
                  <a:tcPr/>
                </a:tc>
                <a:tc>
                  <a:txBody>
                    <a:bodyPr/>
                    <a:lstStyle/>
                    <a:p>
                      <a:pPr algn="l" fontAlgn="ctr"/>
                      <a:r>
                        <a:rPr lang="en-GB" sz="3300" b="0" cap="none" spc="0" dirty="0">
                          <a:solidFill>
                            <a:srgbClr val="FF0000"/>
                          </a:solidFill>
                          <a:effectLst/>
                          <a:latin typeface="Roboto"/>
                        </a:rPr>
                        <a:t>Label</a:t>
                      </a:r>
                    </a:p>
                  </a:txBody>
                  <a:tcPr marL="280198" marR="143691" marT="215537" marB="215537"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00711523"/>
                  </a:ext>
                </a:extLst>
              </a:tr>
              <a:tr h="1020210">
                <a:tc>
                  <a:txBody>
                    <a:bodyPr/>
                    <a:lstStyle/>
                    <a:p>
                      <a:pPr algn="l" fontAlgn="ctr"/>
                      <a:r>
                        <a:rPr lang="en-GB" sz="3300" b="0" cap="none" spc="0">
                          <a:solidFill>
                            <a:schemeClr val="tx1"/>
                          </a:solidFill>
                          <a:effectLst/>
                          <a:latin typeface="Roboto"/>
                        </a:rPr>
                        <a:t>Temperature</a:t>
                      </a:r>
                    </a:p>
                  </a:txBody>
                  <a:tcPr marL="280198" marR="143691" marT="215537" marB="215537"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ctr"/>
                      <a:r>
                        <a:rPr lang="en-GB" sz="3300" b="0" cap="none" spc="0">
                          <a:solidFill>
                            <a:schemeClr val="tx1"/>
                          </a:solidFill>
                          <a:effectLst/>
                          <a:latin typeface="Roboto"/>
                        </a:rPr>
                        <a:t>Humidity</a:t>
                      </a:r>
                    </a:p>
                  </a:txBody>
                  <a:tcPr marL="280198" marR="143691" marT="215537" marB="21553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ctr"/>
                      <a:r>
                        <a:rPr lang="en-GB" sz="3300" b="0" cap="none" spc="0">
                          <a:solidFill>
                            <a:schemeClr val="tx1"/>
                          </a:solidFill>
                          <a:effectLst/>
                          <a:latin typeface="Roboto"/>
                        </a:rPr>
                        <a:t>Pressure</a:t>
                      </a:r>
                    </a:p>
                  </a:txBody>
                  <a:tcPr marL="280198" marR="143691" marT="215537" marB="21553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ctr"/>
                      <a:r>
                        <a:rPr lang="en-GB" sz="3300" b="0" cap="none" spc="0">
                          <a:solidFill>
                            <a:schemeClr val="tx1"/>
                          </a:solidFill>
                          <a:effectLst/>
                          <a:latin typeface="Roboto"/>
                        </a:rPr>
                        <a:t>Test score</a:t>
                      </a:r>
                    </a:p>
                  </a:txBody>
                  <a:tcPr marL="280198" marR="143691" marT="215537" marB="215537"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4106433697"/>
                  </a:ext>
                </a:extLst>
              </a:tr>
              <a:tr h="1020210">
                <a:tc>
                  <a:txBody>
                    <a:bodyPr/>
                    <a:lstStyle/>
                    <a:p>
                      <a:pPr algn="l" fontAlgn="t"/>
                      <a:r>
                        <a:rPr lang="en-GB" sz="3300" cap="none" spc="0">
                          <a:solidFill>
                            <a:schemeClr val="tx1"/>
                          </a:solidFill>
                          <a:effectLst/>
                        </a:rPr>
                        <a:t>15</a:t>
                      </a:r>
                    </a:p>
                  </a:txBody>
                  <a:tcPr marL="280198" marR="143691" marT="215537" marB="215537">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t"/>
                      <a:r>
                        <a:rPr lang="en-GB" sz="3300" cap="none" spc="0">
                          <a:solidFill>
                            <a:schemeClr val="tx1"/>
                          </a:solidFill>
                          <a:effectLst/>
                        </a:rPr>
                        <a:t>47</a:t>
                      </a:r>
                    </a:p>
                  </a:txBody>
                  <a:tcPr marL="280198" marR="143691" marT="215537" marB="215537">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t"/>
                      <a:r>
                        <a:rPr lang="en-GB" sz="3300" cap="none" spc="0">
                          <a:solidFill>
                            <a:schemeClr val="tx1"/>
                          </a:solidFill>
                          <a:effectLst/>
                        </a:rPr>
                        <a:t>998</a:t>
                      </a:r>
                    </a:p>
                  </a:txBody>
                  <a:tcPr marL="280198" marR="143691" marT="215537" marB="215537">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t"/>
                      <a:r>
                        <a:rPr lang="en-GB" sz="3300" cap="none" spc="0">
                          <a:solidFill>
                            <a:schemeClr val="tx1"/>
                          </a:solidFill>
                          <a:effectLst/>
                        </a:rPr>
                        <a:t>Good</a:t>
                      </a:r>
                    </a:p>
                  </a:txBody>
                  <a:tcPr marL="280198" marR="143691" marT="215537" marB="215537">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268779323"/>
                  </a:ext>
                </a:extLst>
              </a:tr>
              <a:tr h="1020210">
                <a:tc>
                  <a:txBody>
                    <a:bodyPr/>
                    <a:lstStyle/>
                    <a:p>
                      <a:pPr algn="l" fontAlgn="t"/>
                      <a:r>
                        <a:rPr lang="en-GB" sz="3300" cap="none" spc="0">
                          <a:solidFill>
                            <a:schemeClr val="tx1"/>
                          </a:solidFill>
                          <a:effectLst/>
                        </a:rPr>
                        <a:t>19</a:t>
                      </a:r>
                    </a:p>
                  </a:txBody>
                  <a:tcPr marL="280198" marR="143691" marT="215537" marB="215537">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t"/>
                      <a:r>
                        <a:rPr lang="en-GB" sz="3300" cap="none" spc="0">
                          <a:solidFill>
                            <a:schemeClr val="tx1"/>
                          </a:solidFill>
                          <a:effectLst/>
                        </a:rPr>
                        <a:t>34</a:t>
                      </a:r>
                    </a:p>
                  </a:txBody>
                  <a:tcPr marL="280198" marR="143691" marT="215537" marB="215537">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t"/>
                      <a:r>
                        <a:rPr lang="en-GB" sz="3300" cap="none" spc="0">
                          <a:solidFill>
                            <a:schemeClr val="tx1"/>
                          </a:solidFill>
                          <a:effectLst/>
                        </a:rPr>
                        <a:t>1020</a:t>
                      </a:r>
                    </a:p>
                  </a:txBody>
                  <a:tcPr marL="280198" marR="143691" marT="215537" marB="215537">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t"/>
                      <a:r>
                        <a:rPr lang="en-GB" sz="3300" cap="none" spc="0">
                          <a:solidFill>
                            <a:schemeClr val="tx1"/>
                          </a:solidFill>
                          <a:effectLst/>
                        </a:rPr>
                        <a:t>Excellent</a:t>
                      </a:r>
                    </a:p>
                  </a:txBody>
                  <a:tcPr marL="280198" marR="143691" marT="215537" marB="215537">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141526543"/>
                  </a:ext>
                </a:extLst>
              </a:tr>
              <a:tr h="1020210">
                <a:tc>
                  <a:txBody>
                    <a:bodyPr/>
                    <a:lstStyle/>
                    <a:p>
                      <a:pPr algn="l" fontAlgn="t"/>
                      <a:r>
                        <a:rPr lang="en-GB" sz="3300" cap="none" spc="0">
                          <a:solidFill>
                            <a:schemeClr val="tx1"/>
                          </a:solidFill>
                          <a:effectLst/>
                        </a:rPr>
                        <a:t>18</a:t>
                      </a:r>
                    </a:p>
                  </a:txBody>
                  <a:tcPr marL="280198" marR="143691" marT="215537" marB="215537">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t"/>
                      <a:r>
                        <a:rPr lang="en-GB" sz="3300" cap="none" spc="0">
                          <a:solidFill>
                            <a:schemeClr val="tx1"/>
                          </a:solidFill>
                          <a:effectLst/>
                        </a:rPr>
                        <a:t>92</a:t>
                      </a:r>
                    </a:p>
                  </a:txBody>
                  <a:tcPr marL="280198" marR="143691" marT="215537" marB="215537">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t"/>
                      <a:r>
                        <a:rPr lang="en-GB" sz="3300" cap="none" spc="0">
                          <a:solidFill>
                            <a:schemeClr val="tx1"/>
                          </a:solidFill>
                          <a:effectLst/>
                        </a:rPr>
                        <a:t>1012</a:t>
                      </a:r>
                    </a:p>
                  </a:txBody>
                  <a:tcPr marL="280198" marR="143691" marT="215537" marB="215537">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l" fontAlgn="t"/>
                      <a:r>
                        <a:rPr lang="en-GB" sz="3300" cap="none" spc="0" dirty="0">
                          <a:solidFill>
                            <a:schemeClr val="tx1"/>
                          </a:solidFill>
                          <a:effectLst/>
                        </a:rPr>
                        <a:t>Poor</a:t>
                      </a:r>
                    </a:p>
                  </a:txBody>
                  <a:tcPr marL="280198" marR="143691" marT="215537" marB="215537">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174941706"/>
                  </a:ext>
                </a:extLst>
              </a:tr>
            </a:tbl>
          </a:graphicData>
        </a:graphic>
      </p:graphicFrame>
    </p:spTree>
    <p:extLst>
      <p:ext uri="{BB962C8B-B14F-4D97-AF65-F5344CB8AC3E}">
        <p14:creationId xmlns:p14="http://schemas.microsoft.com/office/powerpoint/2010/main" val="246089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69A3B2-50B0-E938-B920-E744678BEBE7}"/>
              </a:ext>
            </a:extLst>
          </p:cNvPr>
          <p:cNvPicPr>
            <a:picLocks noChangeAspect="1"/>
          </p:cNvPicPr>
          <p:nvPr/>
        </p:nvPicPr>
        <p:blipFill>
          <a:blip r:embed="rId2"/>
          <a:stretch>
            <a:fillRect/>
          </a:stretch>
        </p:blipFill>
        <p:spPr>
          <a:xfrm>
            <a:off x="1667276" y="1227438"/>
            <a:ext cx="8514692" cy="4232737"/>
          </a:xfrm>
          <a:prstGeom prst="rect">
            <a:avLst/>
          </a:prstGeom>
        </p:spPr>
      </p:pic>
    </p:spTree>
    <p:extLst>
      <p:ext uri="{BB962C8B-B14F-4D97-AF65-F5344CB8AC3E}">
        <p14:creationId xmlns:p14="http://schemas.microsoft.com/office/powerpoint/2010/main" val="3532433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82E2C13-B7B5-8EFD-EB77-6F6FB1E7F689}"/>
              </a:ext>
            </a:extLst>
          </p:cNvPr>
          <p:cNvSpPr txBox="1"/>
          <p:nvPr/>
        </p:nvSpPr>
        <p:spPr>
          <a:xfrm>
            <a:off x="1902941" y="264296"/>
            <a:ext cx="6096000" cy="369332"/>
          </a:xfrm>
          <a:prstGeom prst="rect">
            <a:avLst/>
          </a:prstGeom>
          <a:noFill/>
        </p:spPr>
        <p:txBody>
          <a:bodyPr wrap="square">
            <a:spAutoFit/>
          </a:bodyPr>
          <a:lstStyle/>
          <a:p>
            <a:pPr algn="l" fontAlgn="base"/>
            <a:r>
              <a:rPr lang="en-GB" b="1" i="0" dirty="0">
                <a:solidFill>
                  <a:srgbClr val="273239"/>
                </a:solidFill>
                <a:effectLst/>
                <a:latin typeface="Source Sans 3"/>
              </a:rPr>
              <a:t>What is Data Visualization and Why is It Important?</a:t>
            </a:r>
          </a:p>
        </p:txBody>
      </p:sp>
      <p:sp>
        <p:nvSpPr>
          <p:cNvPr id="11" name="TextBox 10">
            <a:extLst>
              <a:ext uri="{FF2B5EF4-FFF2-40B4-BE49-F238E27FC236}">
                <a16:creationId xmlns:a16="http://schemas.microsoft.com/office/drawing/2014/main" id="{9926904A-93CA-D074-C6CF-FEEB949FCFA8}"/>
              </a:ext>
            </a:extLst>
          </p:cNvPr>
          <p:cNvSpPr txBox="1"/>
          <p:nvPr/>
        </p:nvSpPr>
        <p:spPr>
          <a:xfrm>
            <a:off x="362464" y="3340097"/>
            <a:ext cx="11607113" cy="707886"/>
          </a:xfrm>
          <a:prstGeom prst="rect">
            <a:avLst/>
          </a:prstGeom>
          <a:noFill/>
        </p:spPr>
        <p:txBody>
          <a:bodyPr wrap="square">
            <a:spAutoFit/>
          </a:bodyPr>
          <a:lstStyle/>
          <a:p>
            <a:r>
              <a:rPr lang="en-GB" sz="2000" b="0" i="0" dirty="0">
                <a:solidFill>
                  <a:srgbClr val="273239"/>
                </a:solidFill>
                <a:effectLst/>
                <a:latin typeface="Verdana" panose="020B0604030504040204" pitchFamily="34" charset="0"/>
                <a:ea typeface="Verdana" panose="020B0604030504040204" pitchFamily="34" charset="0"/>
              </a:rPr>
              <a:t>Data visualization uses charts, graphs and maps to present information clearly and simply. It turns complex data into visuals that are easy to understand.</a:t>
            </a:r>
            <a:endParaRPr lang="en-GB" sz="2000" dirty="0">
              <a:latin typeface="Verdana" panose="020B0604030504040204" pitchFamily="34" charset="0"/>
              <a:ea typeface="Verdana" panose="020B0604030504040204" pitchFamily="34" charset="0"/>
            </a:endParaRPr>
          </a:p>
        </p:txBody>
      </p:sp>
      <p:sp>
        <p:nvSpPr>
          <p:cNvPr id="13" name="TextBox 12">
            <a:extLst>
              <a:ext uri="{FF2B5EF4-FFF2-40B4-BE49-F238E27FC236}">
                <a16:creationId xmlns:a16="http://schemas.microsoft.com/office/drawing/2014/main" id="{1D010649-B60B-ABE0-1217-9033E0D37857}"/>
              </a:ext>
            </a:extLst>
          </p:cNvPr>
          <p:cNvSpPr txBox="1"/>
          <p:nvPr/>
        </p:nvSpPr>
        <p:spPr>
          <a:xfrm>
            <a:off x="444841" y="1325143"/>
            <a:ext cx="11524736" cy="1323439"/>
          </a:xfrm>
          <a:prstGeom prst="rect">
            <a:avLst/>
          </a:prstGeom>
          <a:noFill/>
        </p:spPr>
        <p:txBody>
          <a:bodyPr wrap="square">
            <a:spAutoFit/>
          </a:bodyPr>
          <a:lstStyle/>
          <a:p>
            <a:r>
              <a:rPr lang="en-GB" sz="2000" b="0" i="0" dirty="0">
                <a:solidFill>
                  <a:srgbClr val="000000"/>
                </a:solidFill>
                <a:effectLst/>
                <a:latin typeface="Verdana" panose="020B0604030504040204" pitchFamily="34" charset="0"/>
              </a:rPr>
              <a:t>Data visualization is an important aspect of machine learning (ML) as it helps to </a:t>
            </a:r>
            <a:r>
              <a:rPr lang="en-GB" sz="2000" b="0" i="0" dirty="0" err="1">
                <a:solidFill>
                  <a:srgbClr val="000000"/>
                </a:solidFill>
                <a:effectLst/>
                <a:latin typeface="Verdana" panose="020B0604030504040204" pitchFamily="34" charset="0"/>
              </a:rPr>
              <a:t>analyze</a:t>
            </a:r>
            <a:r>
              <a:rPr lang="en-GB" sz="2000" b="0" i="0" dirty="0">
                <a:solidFill>
                  <a:srgbClr val="000000"/>
                </a:solidFill>
                <a:effectLst/>
                <a:latin typeface="Verdana" panose="020B0604030504040204" pitchFamily="34" charset="0"/>
              </a:rPr>
              <a:t> and communicate patterns, trends, and insights in the data. Data visualization involves creating graphical representations of the data, which can help to identify patterns and relationships that may not be apparent from the raw data.</a:t>
            </a:r>
            <a:endParaRPr lang="en-GB" sz="2000" dirty="0"/>
          </a:p>
        </p:txBody>
      </p:sp>
    </p:spTree>
    <p:extLst>
      <p:ext uri="{BB962C8B-B14F-4D97-AF65-F5344CB8AC3E}">
        <p14:creationId xmlns:p14="http://schemas.microsoft.com/office/powerpoint/2010/main" val="3619878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D483B8-75C0-A06C-9315-2D6838011DCB}"/>
              </a:ext>
            </a:extLst>
          </p:cNvPr>
          <p:cNvSpPr txBox="1"/>
          <p:nvPr/>
        </p:nvSpPr>
        <p:spPr>
          <a:xfrm>
            <a:off x="3048000" y="247820"/>
            <a:ext cx="6096000" cy="369332"/>
          </a:xfrm>
          <a:prstGeom prst="rect">
            <a:avLst/>
          </a:prstGeom>
          <a:noFill/>
        </p:spPr>
        <p:txBody>
          <a:bodyPr wrap="square">
            <a:spAutoFit/>
          </a:bodyPr>
          <a:lstStyle/>
          <a:p>
            <a:pPr algn="l" fontAlgn="base"/>
            <a:r>
              <a:rPr lang="en-GB" b="1" i="0" dirty="0">
                <a:solidFill>
                  <a:srgbClr val="273239"/>
                </a:solidFill>
                <a:effectLst/>
                <a:latin typeface="Source Sans 3"/>
              </a:rPr>
              <a:t>Types of Data Visualization Charts</a:t>
            </a:r>
          </a:p>
        </p:txBody>
      </p:sp>
      <p:sp>
        <p:nvSpPr>
          <p:cNvPr id="7" name="TextBox 6">
            <a:extLst>
              <a:ext uri="{FF2B5EF4-FFF2-40B4-BE49-F238E27FC236}">
                <a16:creationId xmlns:a16="http://schemas.microsoft.com/office/drawing/2014/main" id="{FB7C7A1D-B9D3-61DC-0EB0-728E3C43882E}"/>
              </a:ext>
            </a:extLst>
          </p:cNvPr>
          <p:cNvSpPr txBox="1"/>
          <p:nvPr/>
        </p:nvSpPr>
        <p:spPr>
          <a:xfrm>
            <a:off x="671384" y="731789"/>
            <a:ext cx="10849232" cy="923330"/>
          </a:xfrm>
          <a:prstGeom prst="rect">
            <a:avLst/>
          </a:prstGeom>
          <a:noFill/>
        </p:spPr>
        <p:txBody>
          <a:bodyPr wrap="square">
            <a:spAutoFit/>
          </a:bodyPr>
          <a:lstStyle/>
          <a:p>
            <a:pPr algn="l" fontAlgn="base"/>
            <a:r>
              <a:rPr lang="en-GB" b="1" i="0" dirty="0">
                <a:solidFill>
                  <a:srgbClr val="273239"/>
                </a:solidFill>
                <a:effectLst/>
                <a:latin typeface="Nunito"/>
              </a:rPr>
              <a:t>1. Bar Charts</a:t>
            </a:r>
          </a:p>
          <a:p>
            <a:pPr algn="l" rtl="0" fontAlgn="base"/>
            <a:r>
              <a:rPr lang="en-GB" b="0" i="0" dirty="0">
                <a:solidFill>
                  <a:srgbClr val="273239"/>
                </a:solidFill>
                <a:effectLst/>
                <a:latin typeface="Nunito"/>
              </a:rPr>
              <a:t>Bar charts are used to compare values across different categories using rectangular bars. X-axis shows categories while Y-axis represents values. Common types include horizontal, stacked and grouped bar charts.</a:t>
            </a:r>
          </a:p>
        </p:txBody>
      </p:sp>
      <p:pic>
        <p:nvPicPr>
          <p:cNvPr id="1026" name="Picture 2" descr="bar-chart">
            <a:extLst>
              <a:ext uri="{FF2B5EF4-FFF2-40B4-BE49-F238E27FC236}">
                <a16:creationId xmlns:a16="http://schemas.microsoft.com/office/drawing/2014/main" id="{B361E32C-EB42-A6F3-DBF9-29B2D62CC5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2497" y="1942070"/>
            <a:ext cx="6096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277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8A8226-C5F4-6CA7-CB58-834BF2126210}"/>
              </a:ext>
            </a:extLst>
          </p:cNvPr>
          <p:cNvSpPr txBox="1"/>
          <p:nvPr/>
        </p:nvSpPr>
        <p:spPr>
          <a:xfrm>
            <a:off x="453082" y="408971"/>
            <a:ext cx="11475308" cy="923330"/>
          </a:xfrm>
          <a:prstGeom prst="rect">
            <a:avLst/>
          </a:prstGeom>
          <a:noFill/>
        </p:spPr>
        <p:txBody>
          <a:bodyPr wrap="square">
            <a:spAutoFit/>
          </a:bodyPr>
          <a:lstStyle/>
          <a:p>
            <a:pPr algn="l" fontAlgn="base"/>
            <a:r>
              <a:rPr lang="en-GB" b="1" i="0" dirty="0">
                <a:solidFill>
                  <a:srgbClr val="273239"/>
                </a:solidFill>
                <a:effectLst/>
                <a:latin typeface="Nunito"/>
              </a:rPr>
              <a:t>2. Line Charts</a:t>
            </a:r>
          </a:p>
          <a:p>
            <a:pPr algn="l" rtl="0" fontAlgn="base"/>
            <a:r>
              <a:rPr lang="en-GB" b="0" i="0" dirty="0">
                <a:solidFill>
                  <a:srgbClr val="273239"/>
                </a:solidFill>
                <a:effectLst/>
                <a:latin typeface="Nunito"/>
              </a:rPr>
              <a:t>Line charts show how values change over time by connecting data points with lines. They help visualize trends like increases, decreases or stability.</a:t>
            </a:r>
          </a:p>
        </p:txBody>
      </p:sp>
      <p:pic>
        <p:nvPicPr>
          <p:cNvPr id="2054" name="Picture 6" descr="line-chart">
            <a:extLst>
              <a:ext uri="{FF2B5EF4-FFF2-40B4-BE49-F238E27FC236}">
                <a16:creationId xmlns:a16="http://schemas.microsoft.com/office/drawing/2014/main" id="{EE4F3522-582F-0788-578D-F46A2103A2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2097" y="1579605"/>
            <a:ext cx="6096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3237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DEBD1CB-B9EC-206B-41B9-98B703189337}"/>
              </a:ext>
            </a:extLst>
          </p:cNvPr>
          <p:cNvSpPr txBox="1"/>
          <p:nvPr/>
        </p:nvSpPr>
        <p:spPr>
          <a:xfrm>
            <a:off x="337752" y="285403"/>
            <a:ext cx="11615352" cy="923330"/>
          </a:xfrm>
          <a:prstGeom prst="rect">
            <a:avLst/>
          </a:prstGeom>
          <a:noFill/>
        </p:spPr>
        <p:txBody>
          <a:bodyPr wrap="square">
            <a:spAutoFit/>
          </a:bodyPr>
          <a:lstStyle/>
          <a:p>
            <a:pPr algn="l" fontAlgn="base"/>
            <a:r>
              <a:rPr lang="en-GB" b="1" i="0" dirty="0">
                <a:solidFill>
                  <a:srgbClr val="273239"/>
                </a:solidFill>
                <a:effectLst/>
                <a:latin typeface="Nunito"/>
              </a:rPr>
              <a:t>3. Pie Charts</a:t>
            </a:r>
          </a:p>
          <a:p>
            <a:pPr algn="l" rtl="0" fontAlgn="base"/>
            <a:r>
              <a:rPr lang="en-GB" b="0" i="0" dirty="0">
                <a:solidFill>
                  <a:srgbClr val="273239"/>
                </a:solidFill>
                <a:effectLst/>
                <a:latin typeface="Nunito"/>
              </a:rPr>
              <a:t>Pie charts are round charts divided into slices, where each slice shows a part of the whole. The size of each slice represents its percentage.</a:t>
            </a:r>
          </a:p>
        </p:txBody>
      </p:sp>
      <p:pic>
        <p:nvPicPr>
          <p:cNvPr id="3076" name="Picture 4" descr="pie-chart-python">
            <a:extLst>
              <a:ext uri="{FF2B5EF4-FFF2-40B4-BE49-F238E27FC236}">
                <a16:creationId xmlns:a16="http://schemas.microsoft.com/office/drawing/2014/main" id="{39499F8B-537E-6A7C-5074-81246ACB12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4304" y="1650931"/>
            <a:ext cx="5448300" cy="4133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0751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E2D113F-6EA5-E72A-CC6A-76EB1960D310}"/>
              </a:ext>
            </a:extLst>
          </p:cNvPr>
          <p:cNvSpPr txBox="1"/>
          <p:nvPr/>
        </p:nvSpPr>
        <p:spPr>
          <a:xfrm>
            <a:off x="420130" y="252451"/>
            <a:ext cx="11656540" cy="923330"/>
          </a:xfrm>
          <a:prstGeom prst="rect">
            <a:avLst/>
          </a:prstGeom>
          <a:noFill/>
        </p:spPr>
        <p:txBody>
          <a:bodyPr wrap="square">
            <a:spAutoFit/>
          </a:bodyPr>
          <a:lstStyle/>
          <a:p>
            <a:pPr algn="l" fontAlgn="base"/>
            <a:r>
              <a:rPr lang="en-GB" b="1" i="0" dirty="0">
                <a:solidFill>
                  <a:srgbClr val="273239"/>
                </a:solidFill>
                <a:effectLst/>
                <a:latin typeface="Nunito"/>
              </a:rPr>
              <a:t>4. Scatter Chart (Plots)</a:t>
            </a:r>
          </a:p>
          <a:p>
            <a:pPr algn="l" rtl="0" fontAlgn="base"/>
            <a:r>
              <a:rPr lang="en-GB" b="0" i="0" dirty="0">
                <a:solidFill>
                  <a:srgbClr val="273239"/>
                </a:solidFill>
                <a:effectLst/>
                <a:latin typeface="Nunito"/>
              </a:rPr>
              <a:t>Scatter charts use dots to show relationship between two numerical variables. X-axis shows the independent variable and Y-axis shows the dependent variable.</a:t>
            </a:r>
          </a:p>
        </p:txBody>
      </p:sp>
      <p:pic>
        <p:nvPicPr>
          <p:cNvPr id="4098" name="Picture 2" descr="scatter-plot">
            <a:extLst>
              <a:ext uri="{FF2B5EF4-FFF2-40B4-BE49-F238E27FC236}">
                <a16:creationId xmlns:a16="http://schemas.microsoft.com/office/drawing/2014/main" id="{44EE7C4B-4DC5-6FE3-A4A2-D71242E766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143000"/>
            <a:ext cx="6096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8729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1E4CED-99CF-611C-56CB-7D4335949F7C}"/>
              </a:ext>
            </a:extLst>
          </p:cNvPr>
          <p:cNvSpPr txBox="1"/>
          <p:nvPr/>
        </p:nvSpPr>
        <p:spPr>
          <a:xfrm>
            <a:off x="403654" y="179854"/>
            <a:ext cx="11623589" cy="923330"/>
          </a:xfrm>
          <a:prstGeom prst="rect">
            <a:avLst/>
          </a:prstGeom>
          <a:noFill/>
        </p:spPr>
        <p:txBody>
          <a:bodyPr wrap="square">
            <a:spAutoFit/>
          </a:bodyPr>
          <a:lstStyle/>
          <a:p>
            <a:pPr algn="l" fontAlgn="base"/>
            <a:r>
              <a:rPr lang="en-GB" b="1" i="0" dirty="0">
                <a:solidFill>
                  <a:srgbClr val="273239"/>
                </a:solidFill>
                <a:effectLst/>
                <a:latin typeface="Nunito"/>
              </a:rPr>
              <a:t>5. ﻿Histogram</a:t>
            </a:r>
          </a:p>
          <a:p>
            <a:pPr algn="l" rtl="0" fontAlgn="base"/>
            <a:r>
              <a:rPr lang="en-GB" b="0" i="0" dirty="0">
                <a:solidFill>
                  <a:srgbClr val="273239"/>
                </a:solidFill>
                <a:effectLst/>
                <a:latin typeface="Nunito"/>
              </a:rPr>
              <a:t>A histogram displays the distribution of numerical data by grouping values into intervals (bins) and showing their frequency as bars. It helps reveal the shape, spread and patterns in the data.</a:t>
            </a:r>
          </a:p>
        </p:txBody>
      </p:sp>
      <p:pic>
        <p:nvPicPr>
          <p:cNvPr id="5122" name="Picture 2" descr="ML Histograms Plot">
            <a:extLst>
              <a:ext uri="{FF2B5EF4-FFF2-40B4-BE49-F238E27FC236}">
                <a16:creationId xmlns:a16="http://schemas.microsoft.com/office/drawing/2014/main" id="{90A5F0EC-E705-AA2E-445F-0529716BEA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9506" y="1632924"/>
            <a:ext cx="6943725" cy="4590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3527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9E51CC-3195-4939-89C1-0E46ABD84049}"/>
              </a:ext>
            </a:extLst>
          </p:cNvPr>
          <p:cNvSpPr>
            <a:spLocks noGrp="1"/>
          </p:cNvSpPr>
          <p:nvPr>
            <p:ph idx="1"/>
          </p:nvPr>
        </p:nvSpPr>
        <p:spPr>
          <a:xfrm>
            <a:off x="829962" y="453081"/>
            <a:ext cx="10966622" cy="5246087"/>
          </a:xfrm>
        </p:spPr>
        <p:txBody>
          <a:bodyPr>
            <a:normAutofit fontScale="70000" lnSpcReduction="20000"/>
          </a:bodyPr>
          <a:lstStyle/>
          <a:p>
            <a:pPr algn="l"/>
            <a:r>
              <a:rPr lang="en-GB" sz="4000" b="0" i="0" u="none" strike="noStrike" baseline="0" dirty="0">
                <a:solidFill>
                  <a:srgbClr val="EC821B"/>
                </a:solidFill>
                <a:latin typeface="CMSSBX10"/>
              </a:rPr>
              <a:t>Terminology</a:t>
            </a:r>
          </a:p>
          <a:p>
            <a:pPr algn="l"/>
            <a:endParaRPr lang="en-GB" sz="4000" b="0" i="0" u="none" strike="noStrike" baseline="0" dirty="0">
              <a:solidFill>
                <a:srgbClr val="EC821B"/>
              </a:solidFill>
              <a:latin typeface="CMSSBX10"/>
            </a:endParaRPr>
          </a:p>
          <a:p>
            <a:pPr algn="l"/>
            <a:r>
              <a:rPr lang="en-GB" sz="2800" b="0" i="0" u="none" strike="noStrike" baseline="0" dirty="0">
                <a:solidFill>
                  <a:srgbClr val="FF0000"/>
                </a:solidFill>
                <a:latin typeface="CMSSBX10"/>
              </a:rPr>
              <a:t>Sample</a:t>
            </a:r>
            <a:r>
              <a:rPr lang="en-GB" sz="2800" b="0" i="0" u="none" strike="noStrike" baseline="0" dirty="0">
                <a:solidFill>
                  <a:srgbClr val="23373B"/>
                </a:solidFill>
                <a:latin typeface="CMSSBX10"/>
              </a:rPr>
              <a:t> (Observation or Data): </a:t>
            </a:r>
            <a:r>
              <a:rPr lang="en-GB" sz="2800" b="0" i="0" u="none" strike="noStrike" baseline="0" dirty="0">
                <a:solidFill>
                  <a:srgbClr val="23373B"/>
                </a:solidFill>
                <a:latin typeface="CMSS9"/>
              </a:rPr>
              <a:t>item to process (</a:t>
            </a:r>
            <a:r>
              <a:rPr lang="en-GB" sz="2800" b="0" i="0" u="none" strike="noStrike" baseline="0" dirty="0">
                <a:solidFill>
                  <a:srgbClr val="23373B"/>
                </a:solidFill>
                <a:latin typeface="CMSSI9"/>
              </a:rPr>
              <a:t>e.g.</a:t>
            </a:r>
            <a:r>
              <a:rPr lang="en-GB" sz="2800" b="0" i="0" u="none" strike="noStrike" baseline="0" dirty="0">
                <a:solidFill>
                  <a:srgbClr val="23373B"/>
                </a:solidFill>
                <a:latin typeface="CMSS9"/>
              </a:rPr>
              <a:t>, classify). </a:t>
            </a:r>
          </a:p>
          <a:p>
            <a:pPr marL="0" indent="0" algn="l">
              <a:buNone/>
            </a:pPr>
            <a:r>
              <a:rPr lang="en-GB" dirty="0">
                <a:solidFill>
                  <a:srgbClr val="23373B"/>
                </a:solidFill>
                <a:latin typeface="CMSS9"/>
              </a:rPr>
              <a:t>    </a:t>
            </a:r>
            <a:r>
              <a:rPr lang="en-GB" sz="2800" b="0" i="0" u="none" strike="noStrike" baseline="0" dirty="0">
                <a:solidFill>
                  <a:srgbClr val="23373B"/>
                </a:solidFill>
                <a:latin typeface="CMSSI9"/>
              </a:rPr>
              <a:t>Example: an</a:t>
            </a:r>
            <a:r>
              <a:rPr lang="ar-DZ" sz="2800" b="0" i="0" u="none" strike="noStrike" baseline="0" dirty="0">
                <a:solidFill>
                  <a:srgbClr val="23373B"/>
                </a:solidFill>
                <a:latin typeface="CMSSI9"/>
              </a:rPr>
              <a:t> </a:t>
            </a:r>
            <a:r>
              <a:rPr lang="en-GB" sz="2800" b="0" i="0" u="none" strike="noStrike" baseline="0" dirty="0">
                <a:solidFill>
                  <a:srgbClr val="23373B"/>
                </a:solidFill>
                <a:latin typeface="CMSSI9"/>
              </a:rPr>
              <a:t>individual, a document, a picture, a sound, a video. . .</a:t>
            </a:r>
          </a:p>
          <a:p>
            <a:pPr marL="0" indent="0" algn="l">
              <a:buNone/>
            </a:pPr>
            <a:endParaRPr lang="en-GB" sz="2800" b="0" i="0" u="none" strike="noStrike" baseline="0" dirty="0">
              <a:solidFill>
                <a:srgbClr val="23373B"/>
              </a:solidFill>
              <a:latin typeface="CMSSI9"/>
            </a:endParaRPr>
          </a:p>
          <a:p>
            <a:r>
              <a:rPr lang="en-GB" sz="2800" b="0" i="0" u="none" strike="noStrike" baseline="0" dirty="0">
                <a:solidFill>
                  <a:srgbClr val="FF0000"/>
                </a:solidFill>
                <a:latin typeface="CMSSBX10"/>
              </a:rPr>
              <a:t>Features</a:t>
            </a:r>
            <a:r>
              <a:rPr lang="en-GB" sz="2800" b="0" i="0" u="none" strike="noStrike" baseline="0" dirty="0">
                <a:solidFill>
                  <a:srgbClr val="23373B"/>
                </a:solidFill>
                <a:latin typeface="CMSSBX10"/>
              </a:rPr>
              <a:t> (Input)</a:t>
            </a:r>
            <a:r>
              <a:rPr lang="en-GB" sz="2800" b="0" i="0" u="none" strike="noStrike" baseline="0" dirty="0">
                <a:solidFill>
                  <a:srgbClr val="23373B"/>
                </a:solidFill>
                <a:latin typeface="CMSS9"/>
              </a:rPr>
              <a:t>: set of distinct traits that can be used to describe each</a:t>
            </a:r>
            <a:r>
              <a:rPr lang="ar-DZ" sz="2800" b="0" i="0" u="none" strike="noStrike" baseline="0" dirty="0">
                <a:solidFill>
                  <a:srgbClr val="23373B"/>
                </a:solidFill>
                <a:latin typeface="CMSS9"/>
              </a:rPr>
              <a:t> </a:t>
            </a:r>
            <a:r>
              <a:rPr lang="en-GB" sz="2800" b="0" i="0" u="none" strike="noStrike" baseline="0" dirty="0">
                <a:solidFill>
                  <a:srgbClr val="23373B"/>
                </a:solidFill>
                <a:latin typeface="CMSS9"/>
              </a:rPr>
              <a:t>sample in a quantitative manner. Represented as a multi-dimensional vector</a:t>
            </a:r>
            <a:r>
              <a:rPr lang="ar-DZ" sz="2800" b="0" i="0" u="none" strike="noStrike" baseline="0" dirty="0">
                <a:solidFill>
                  <a:srgbClr val="23373B"/>
                </a:solidFill>
                <a:latin typeface="CMSS9"/>
              </a:rPr>
              <a:t> </a:t>
            </a:r>
            <a:r>
              <a:rPr lang="en-GB" sz="2800" b="0" i="0" u="none" strike="noStrike" baseline="0" dirty="0">
                <a:solidFill>
                  <a:srgbClr val="23373B"/>
                </a:solidFill>
                <a:latin typeface="CMSS9"/>
              </a:rPr>
              <a:t>usually denoted by </a:t>
            </a:r>
            <a:r>
              <a:rPr lang="en-GB" sz="2800" b="0" i="0" u="none" strike="noStrike" baseline="0" dirty="0">
                <a:solidFill>
                  <a:srgbClr val="23373B"/>
                </a:solidFill>
                <a:latin typeface="CMMIB9"/>
              </a:rPr>
              <a:t>x</a:t>
            </a:r>
            <a:r>
              <a:rPr lang="en-GB" sz="2800" b="0" i="0" u="none" strike="noStrike" baseline="0" dirty="0">
                <a:solidFill>
                  <a:srgbClr val="23373B"/>
                </a:solidFill>
                <a:latin typeface="CMSS9"/>
              </a:rPr>
              <a:t>. </a:t>
            </a:r>
            <a:r>
              <a:rPr lang="en-GB" sz="2800" b="0" i="0" u="none" strike="noStrike" baseline="0" dirty="0">
                <a:solidFill>
                  <a:srgbClr val="23373B"/>
                </a:solidFill>
                <a:latin typeface="CMSSI9"/>
              </a:rPr>
              <a:t>Example: size, weight, citizenship, . . .</a:t>
            </a:r>
          </a:p>
          <a:p>
            <a:r>
              <a:rPr lang="en-GB" dirty="0">
                <a:solidFill>
                  <a:srgbClr val="FF0000"/>
                </a:solidFill>
                <a:latin typeface="CMSSBX10"/>
              </a:rPr>
              <a:t>Label</a:t>
            </a:r>
            <a:r>
              <a:rPr lang="en-GB" dirty="0">
                <a:solidFill>
                  <a:srgbClr val="23373B"/>
                </a:solidFill>
                <a:latin typeface="CMSSBX10"/>
              </a:rPr>
              <a:t> (Output): </a:t>
            </a:r>
            <a:r>
              <a:rPr lang="en-GB" dirty="0">
                <a:solidFill>
                  <a:srgbClr val="23373B"/>
                </a:solidFill>
                <a:latin typeface="CMSS9"/>
              </a:rPr>
              <a:t>The class or outcome assigned to a sample. </a:t>
            </a:r>
          </a:p>
          <a:p>
            <a:pPr algn="l"/>
            <a:endParaRPr lang="en-GB" sz="2800" b="0" i="0" u="none" strike="noStrike" baseline="0" dirty="0">
              <a:solidFill>
                <a:srgbClr val="23373B"/>
              </a:solidFill>
              <a:latin typeface="CMSSI9"/>
            </a:endParaRPr>
          </a:p>
          <a:p>
            <a:pPr algn="l"/>
            <a:r>
              <a:rPr lang="en-GB" sz="2800" b="0" i="0" u="none" strike="noStrike" baseline="0" dirty="0">
                <a:solidFill>
                  <a:srgbClr val="FF0000"/>
                </a:solidFill>
                <a:latin typeface="CMSSBX10"/>
              </a:rPr>
              <a:t>Training set</a:t>
            </a:r>
            <a:r>
              <a:rPr lang="en-GB" sz="2800" b="0" i="0" u="none" strike="noStrike" baseline="0" dirty="0">
                <a:solidFill>
                  <a:srgbClr val="23373B"/>
                </a:solidFill>
                <a:latin typeface="CMSSBX10"/>
              </a:rPr>
              <a:t>: </a:t>
            </a:r>
            <a:r>
              <a:rPr lang="en-GB" sz="2800" b="0" i="0" u="none" strike="noStrike" baseline="0" dirty="0">
                <a:solidFill>
                  <a:srgbClr val="23373B"/>
                </a:solidFill>
                <a:latin typeface="CMSS9"/>
              </a:rPr>
              <a:t>Set of data used to discover potentially predictive relationships.</a:t>
            </a:r>
          </a:p>
          <a:p>
            <a:pPr algn="l"/>
            <a:r>
              <a:rPr lang="en-GB" sz="2800" b="0" i="0" u="none" strike="noStrike" baseline="0" dirty="0">
                <a:solidFill>
                  <a:srgbClr val="FF0000"/>
                </a:solidFill>
                <a:latin typeface="CMSSBX10"/>
              </a:rPr>
              <a:t>Validation set</a:t>
            </a:r>
            <a:r>
              <a:rPr lang="en-GB" sz="2800" b="0" i="0" u="none" strike="noStrike" baseline="0" dirty="0">
                <a:solidFill>
                  <a:srgbClr val="23373B"/>
                </a:solidFill>
                <a:latin typeface="CMSSBX10"/>
              </a:rPr>
              <a:t>: </a:t>
            </a:r>
            <a:r>
              <a:rPr lang="en-GB" sz="2800" b="0" i="0" u="none" strike="noStrike" baseline="0" dirty="0">
                <a:solidFill>
                  <a:srgbClr val="23373B"/>
                </a:solidFill>
                <a:latin typeface="CMSS9"/>
              </a:rPr>
              <a:t>Set used to adjust the model hyperparameters.</a:t>
            </a:r>
          </a:p>
          <a:p>
            <a:pPr algn="l"/>
            <a:r>
              <a:rPr lang="en-GB" sz="2800" b="0" i="0" u="none" strike="noStrike" baseline="0" dirty="0">
                <a:solidFill>
                  <a:srgbClr val="FF0000"/>
                </a:solidFill>
                <a:latin typeface="CMSSBX10"/>
              </a:rPr>
              <a:t>Testing set</a:t>
            </a:r>
            <a:r>
              <a:rPr lang="en-GB" sz="2800" b="0" i="0" u="none" strike="noStrike" baseline="0" dirty="0">
                <a:solidFill>
                  <a:srgbClr val="23373B"/>
                </a:solidFill>
                <a:latin typeface="CMSSBX10"/>
              </a:rPr>
              <a:t>: </a:t>
            </a:r>
            <a:r>
              <a:rPr lang="en-GB" sz="2800" b="0" i="0" u="none" strike="noStrike" baseline="0" dirty="0">
                <a:solidFill>
                  <a:srgbClr val="23373B"/>
                </a:solidFill>
                <a:latin typeface="CMSS9"/>
              </a:rPr>
              <a:t>Set used to assess the performance of a model.</a:t>
            </a:r>
          </a:p>
          <a:p>
            <a:pPr algn="l"/>
            <a:endParaRPr lang="en-GB" sz="2800" b="0" i="0" u="none" strike="noStrike" baseline="0" dirty="0">
              <a:solidFill>
                <a:srgbClr val="23373B"/>
              </a:solidFill>
              <a:latin typeface="CMSS9"/>
            </a:endParaRPr>
          </a:p>
          <a:p>
            <a:pPr marL="0" indent="0" algn="l">
              <a:buNone/>
            </a:pPr>
            <a:r>
              <a:rPr lang="en-GB" sz="2800" b="0" i="0" u="none" strike="noStrike" baseline="0" dirty="0">
                <a:solidFill>
                  <a:srgbClr val="23373B"/>
                </a:solidFill>
                <a:latin typeface="CMSS9"/>
              </a:rPr>
              <a:t>prediction is often denoted by </a:t>
            </a:r>
            <a:r>
              <a:rPr lang="en-GB" sz="2800" b="0" i="0" u="none" strike="noStrike" baseline="0" dirty="0">
                <a:solidFill>
                  <a:srgbClr val="23373B"/>
                </a:solidFill>
                <a:latin typeface="CMMIB9"/>
              </a:rPr>
              <a:t>y </a:t>
            </a:r>
            <a:r>
              <a:rPr lang="en-GB" sz="2800" b="0" i="0" u="none" strike="noStrike" baseline="0" dirty="0">
                <a:solidFill>
                  <a:srgbClr val="23373B"/>
                </a:solidFill>
                <a:latin typeface="CMSS9"/>
              </a:rPr>
              <a:t>and the desired/targeted class by </a:t>
            </a:r>
            <a:r>
              <a:rPr lang="en-GB" sz="2800" b="0" i="0" u="none" strike="noStrike" baseline="0" dirty="0">
                <a:solidFill>
                  <a:srgbClr val="23373B"/>
                </a:solidFill>
                <a:latin typeface="CMMIB9"/>
              </a:rPr>
              <a:t>d </a:t>
            </a:r>
            <a:r>
              <a:rPr lang="en-GB" sz="2800" b="0" i="0" u="none" strike="noStrike" baseline="0" dirty="0">
                <a:solidFill>
                  <a:srgbClr val="23373B"/>
                </a:solidFill>
                <a:latin typeface="CMSS9"/>
              </a:rPr>
              <a:t>or </a:t>
            </a:r>
            <a:r>
              <a:rPr lang="en-GB" sz="2800" b="0" i="0" u="none" strike="noStrike" baseline="0" dirty="0">
                <a:solidFill>
                  <a:srgbClr val="23373B"/>
                </a:solidFill>
                <a:latin typeface="CMMIB9"/>
              </a:rPr>
              <a:t>t</a:t>
            </a:r>
            <a:r>
              <a:rPr lang="en-GB" sz="2800" b="0" i="0" u="none" strike="noStrike" baseline="0" dirty="0">
                <a:solidFill>
                  <a:srgbClr val="23373B"/>
                </a:solidFill>
                <a:latin typeface="CMSS9"/>
              </a:rPr>
              <a:t>.</a:t>
            </a:r>
            <a:r>
              <a:rPr lang="ar-DZ" sz="2800" b="0" i="0" u="none" strike="noStrike" baseline="0" dirty="0">
                <a:solidFill>
                  <a:srgbClr val="23373B"/>
                </a:solidFill>
                <a:latin typeface="CMSS9"/>
              </a:rPr>
              <a:t> </a:t>
            </a:r>
            <a:r>
              <a:rPr lang="en-GB" sz="2800" b="0" i="0" u="none" strike="noStrike" baseline="0" dirty="0">
                <a:solidFill>
                  <a:srgbClr val="23373B"/>
                </a:solidFill>
                <a:latin typeface="CMSSI9"/>
              </a:rPr>
              <a:t>Example: man/woman, wealth, education level,</a:t>
            </a:r>
            <a:endParaRPr lang="en-GB" dirty="0"/>
          </a:p>
        </p:txBody>
      </p:sp>
    </p:spTree>
    <p:extLst>
      <p:ext uri="{BB962C8B-B14F-4D97-AF65-F5344CB8AC3E}">
        <p14:creationId xmlns:p14="http://schemas.microsoft.com/office/powerpoint/2010/main" val="3353856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DD8B91-F480-AE63-629B-58398E045A8D}"/>
              </a:ext>
            </a:extLst>
          </p:cNvPr>
          <p:cNvSpPr>
            <a:spLocks noGrp="1"/>
          </p:cNvSpPr>
          <p:nvPr>
            <p:ph idx="1"/>
          </p:nvPr>
        </p:nvSpPr>
        <p:spPr>
          <a:xfrm>
            <a:off x="666236" y="2017612"/>
            <a:ext cx="10859528" cy="3847729"/>
          </a:xfrm>
        </p:spPr>
        <p:txBody>
          <a:bodyPr>
            <a:noAutofit/>
          </a:bodyPr>
          <a:lstStyle/>
          <a:p>
            <a:pPr marL="0" indent="0">
              <a:buNone/>
            </a:pPr>
            <a:r>
              <a:rPr lang="en-GB" sz="2000" b="0" i="0" u="none" strike="noStrike" baseline="0" dirty="0">
                <a:solidFill>
                  <a:srgbClr val="1D1F20"/>
                </a:solidFill>
                <a:latin typeface="Proxima Nova Rg"/>
              </a:rPr>
              <a:t>   There are several machine learning models, most commonly supervised and unsupervised learning. </a:t>
            </a:r>
            <a:endParaRPr lang="en-GB" sz="2000" dirty="0"/>
          </a:p>
          <a:p>
            <a:r>
              <a:rPr lang="en-GB" sz="2000" b="1" i="0" u="none" strike="noStrike" baseline="0" dirty="0">
                <a:solidFill>
                  <a:srgbClr val="1D1F20"/>
                </a:solidFill>
                <a:latin typeface="Proxima Nova Rg"/>
              </a:rPr>
              <a:t>Supervised learning </a:t>
            </a:r>
            <a:r>
              <a:rPr lang="en-GB" sz="2000" b="0" i="0" u="none" strike="noStrike" baseline="0" dirty="0">
                <a:solidFill>
                  <a:srgbClr val="1D1F20"/>
                </a:solidFill>
                <a:latin typeface="Proxima Nova Rg"/>
              </a:rPr>
              <a:t>is possible when training data contains input and output values. Each data set with input and target output is known as a training signal. Training is based on the discrepancy between the processed and captured results when input data is presented to the model. </a:t>
            </a:r>
          </a:p>
          <a:p>
            <a:endParaRPr lang="en-GB" sz="2000" b="0" i="0" u="none" strike="noStrike" baseline="0" dirty="0">
              <a:solidFill>
                <a:srgbClr val="1D1F20"/>
              </a:solidFill>
              <a:latin typeface="Proxima Nova Rg"/>
            </a:endParaRPr>
          </a:p>
          <a:p>
            <a:r>
              <a:rPr lang="en-GB" sz="2000" b="1" i="0" u="none" strike="noStrike" baseline="0" dirty="0">
                <a:solidFill>
                  <a:srgbClr val="1D1F20"/>
                </a:solidFill>
                <a:latin typeface="Proxima Nova Rg"/>
              </a:rPr>
              <a:t>Unsupervised learning </a:t>
            </a:r>
            <a:r>
              <a:rPr lang="en-GB" sz="2000" b="0" i="0" u="none" strike="noStrike" baseline="0" dirty="0">
                <a:solidFill>
                  <a:srgbClr val="1D1F20"/>
                </a:solidFill>
                <a:latin typeface="Proxima Nova Rg"/>
              </a:rPr>
              <a:t>is applied to discover patterns in the data. Additional data is used to </a:t>
            </a:r>
            <a:r>
              <a:rPr lang="en-GB" sz="2000" b="0" i="0" u="none" strike="noStrike" baseline="0" dirty="0">
                <a:solidFill>
                  <a:srgbClr val="000000"/>
                </a:solidFill>
                <a:latin typeface="Proxima Nova Rg"/>
              </a:rPr>
              <a:t>fi</a:t>
            </a:r>
            <a:r>
              <a:rPr lang="en-GB" sz="2000" b="0" i="0" u="none" strike="noStrike" baseline="0" dirty="0">
                <a:solidFill>
                  <a:srgbClr val="1D1F20"/>
                </a:solidFill>
                <a:latin typeface="Proxima Nova Rg"/>
              </a:rPr>
              <a:t>nd out matches for the patterns or clusters. It is also an iterative process that gets more re</a:t>
            </a:r>
            <a:r>
              <a:rPr lang="en-GB" sz="2000" b="0" i="0" u="none" strike="noStrike" baseline="0" dirty="0">
                <a:solidFill>
                  <a:srgbClr val="000000"/>
                </a:solidFill>
                <a:latin typeface="Proxima Nova Rg"/>
              </a:rPr>
              <a:t>fi</a:t>
            </a:r>
            <a:r>
              <a:rPr lang="en-GB" sz="2000" b="0" i="0" u="none" strike="noStrike" baseline="0" dirty="0">
                <a:solidFill>
                  <a:srgbClr val="1D1F20"/>
                </a:solidFill>
                <a:latin typeface="Proxima Nova Rg"/>
              </a:rPr>
              <a:t>ned with correlation against expected patterns or clusters. There is no initial reference dataset in this method. </a:t>
            </a:r>
            <a:endParaRPr lang="en-GB" sz="2000" dirty="0"/>
          </a:p>
        </p:txBody>
      </p:sp>
      <p:sp>
        <p:nvSpPr>
          <p:cNvPr id="5" name="TextBox 4">
            <a:extLst>
              <a:ext uri="{FF2B5EF4-FFF2-40B4-BE49-F238E27FC236}">
                <a16:creationId xmlns:a16="http://schemas.microsoft.com/office/drawing/2014/main" id="{D54DEB8F-7E4E-E381-CE66-FE7EE80B0D65}"/>
              </a:ext>
            </a:extLst>
          </p:cNvPr>
          <p:cNvSpPr txBox="1"/>
          <p:nvPr/>
        </p:nvSpPr>
        <p:spPr>
          <a:xfrm>
            <a:off x="666236" y="520585"/>
            <a:ext cx="10946027" cy="707886"/>
          </a:xfrm>
          <a:prstGeom prst="rect">
            <a:avLst/>
          </a:prstGeom>
          <a:noFill/>
        </p:spPr>
        <p:txBody>
          <a:bodyPr wrap="square">
            <a:spAutoFit/>
          </a:bodyPr>
          <a:lstStyle/>
          <a:p>
            <a:pPr marL="285750" indent="-285750">
              <a:buFont typeface="Arial" panose="020B0604020202020204" pitchFamily="34" charset="0"/>
              <a:buChar char="•"/>
            </a:pPr>
            <a:r>
              <a:rPr lang="en-GB" sz="2000" b="1" i="0" u="none" strike="noStrike" baseline="0" dirty="0">
                <a:solidFill>
                  <a:srgbClr val="1D1F20"/>
                </a:solidFill>
                <a:latin typeface="Proxima Nova Rg"/>
              </a:rPr>
              <a:t>Training the model : </a:t>
            </a:r>
            <a:r>
              <a:rPr lang="en-GB" sz="2000" b="0" i="0" u="none" strike="noStrike" baseline="0" dirty="0">
                <a:solidFill>
                  <a:srgbClr val="1D1F20"/>
                </a:solidFill>
                <a:latin typeface="Proxima Nova Rg"/>
              </a:rPr>
              <a:t>Once a model is selected, it is time to start training it. The </a:t>
            </a:r>
            <a:r>
              <a:rPr lang="en-GB" sz="2000" b="0" i="0" u="none" strike="noStrike" baseline="0" dirty="0">
                <a:solidFill>
                  <a:srgbClr val="000000"/>
                </a:solidFill>
                <a:latin typeface="Proxima Nova Rg"/>
              </a:rPr>
              <a:t>fi</a:t>
            </a:r>
            <a:r>
              <a:rPr lang="en-GB" sz="2000" b="0" i="0" u="none" strike="noStrike" baseline="0" dirty="0">
                <a:solidFill>
                  <a:srgbClr val="1D1F20"/>
                </a:solidFill>
                <a:latin typeface="Proxima Nova Rg"/>
              </a:rPr>
              <a:t>rst step involves preparing the appropriate algorithms for the task at hand.</a:t>
            </a:r>
          </a:p>
        </p:txBody>
      </p:sp>
    </p:spTree>
    <p:extLst>
      <p:ext uri="{BB962C8B-B14F-4D97-AF65-F5344CB8AC3E}">
        <p14:creationId xmlns:p14="http://schemas.microsoft.com/office/powerpoint/2010/main" val="1621844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0DC2AD8-3F48-58CF-F5EE-271C17FD6ABB}"/>
              </a:ext>
            </a:extLst>
          </p:cNvPr>
          <p:cNvSpPr txBox="1"/>
          <p:nvPr/>
        </p:nvSpPr>
        <p:spPr>
          <a:xfrm>
            <a:off x="1103871" y="1176633"/>
            <a:ext cx="10330248" cy="1200329"/>
          </a:xfrm>
          <a:prstGeom prst="rect">
            <a:avLst/>
          </a:prstGeom>
          <a:noFill/>
        </p:spPr>
        <p:txBody>
          <a:bodyPr wrap="square">
            <a:spAutoFit/>
          </a:bodyPr>
          <a:lstStyle/>
          <a:p>
            <a:pPr algn="l"/>
            <a:r>
              <a:rPr lang="en-GB" sz="1800" b="1" i="0" u="none" strike="noStrike" baseline="0" dirty="0">
                <a:solidFill>
                  <a:srgbClr val="FF0000"/>
                </a:solidFill>
                <a:latin typeface="Calibri" panose="020F0502020204030204" pitchFamily="34" charset="0"/>
              </a:rPr>
              <a:t>Example</a:t>
            </a:r>
          </a:p>
          <a:p>
            <a:pPr algn="l"/>
            <a:endParaRPr lang="en-GB" sz="1800" b="0" i="0" u="none" strike="noStrike" baseline="0" dirty="0">
              <a:latin typeface="Calibri" panose="020F0502020204030204" pitchFamily="34" charset="0"/>
            </a:endParaRPr>
          </a:p>
          <a:p>
            <a:pPr algn="l"/>
            <a:r>
              <a:rPr lang="en-GB" sz="1800" b="0" i="0" u="none" strike="noStrike" baseline="0" dirty="0">
                <a:latin typeface="Calibri" panose="020F0502020204030204" pitchFamily="34" charset="0"/>
              </a:rPr>
              <a:t>Consider the following data regarding patients entering a clinic. The data consists of the gender</a:t>
            </a:r>
          </a:p>
          <a:p>
            <a:pPr algn="l"/>
            <a:r>
              <a:rPr lang="en-GB" sz="1800" b="0" i="0" u="none" strike="noStrike" baseline="0" dirty="0">
                <a:latin typeface="Calibri" panose="020F0502020204030204" pitchFamily="34" charset="0"/>
              </a:rPr>
              <a:t>and age of the patients and each patient is </a:t>
            </a:r>
            <a:r>
              <a:rPr lang="en-GB" sz="1800" b="0" i="0" u="none" strike="noStrike" baseline="0" dirty="0" err="1">
                <a:latin typeface="Calibri" panose="020F0502020204030204" pitchFamily="34" charset="0"/>
              </a:rPr>
              <a:t>labeled</a:t>
            </a:r>
            <a:r>
              <a:rPr lang="en-GB" sz="1800" b="0" i="0" u="none" strike="noStrike" baseline="0" dirty="0">
                <a:latin typeface="Calibri" panose="020F0502020204030204" pitchFamily="34" charset="0"/>
              </a:rPr>
              <a:t> as “healthy” or “sick”.</a:t>
            </a:r>
            <a:endParaRPr lang="en-GB" dirty="0"/>
          </a:p>
        </p:txBody>
      </p:sp>
      <p:pic>
        <p:nvPicPr>
          <p:cNvPr id="7" name="Picture 6">
            <a:extLst>
              <a:ext uri="{FF2B5EF4-FFF2-40B4-BE49-F238E27FC236}">
                <a16:creationId xmlns:a16="http://schemas.microsoft.com/office/drawing/2014/main" id="{96EF13D2-35CC-CB46-7289-B526396A1D86}"/>
              </a:ext>
            </a:extLst>
          </p:cNvPr>
          <p:cNvPicPr>
            <a:picLocks noChangeAspect="1"/>
          </p:cNvPicPr>
          <p:nvPr/>
        </p:nvPicPr>
        <p:blipFill>
          <a:blip r:embed="rId2"/>
          <a:stretch>
            <a:fillRect/>
          </a:stretch>
        </p:blipFill>
        <p:spPr>
          <a:xfrm>
            <a:off x="3470739" y="2788275"/>
            <a:ext cx="3423751" cy="2747285"/>
          </a:xfrm>
          <a:prstGeom prst="rect">
            <a:avLst/>
          </a:prstGeom>
        </p:spPr>
      </p:pic>
    </p:spTree>
    <p:extLst>
      <p:ext uri="{BB962C8B-B14F-4D97-AF65-F5344CB8AC3E}">
        <p14:creationId xmlns:p14="http://schemas.microsoft.com/office/powerpoint/2010/main" val="28632393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Supervised-learning">
            <a:extLst>
              <a:ext uri="{FF2B5EF4-FFF2-40B4-BE49-F238E27FC236}">
                <a16:creationId xmlns:a16="http://schemas.microsoft.com/office/drawing/2014/main" id="{7FEEB572-87D9-6401-F4D3-5C82445897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557213"/>
            <a:ext cx="9525000" cy="5743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6775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41891F-2608-7024-AE0F-A4735F35EC2A}"/>
              </a:ext>
            </a:extLst>
          </p:cNvPr>
          <p:cNvSpPr txBox="1"/>
          <p:nvPr/>
        </p:nvSpPr>
        <p:spPr>
          <a:xfrm>
            <a:off x="815545" y="745746"/>
            <a:ext cx="10354963" cy="2062103"/>
          </a:xfrm>
          <a:prstGeom prst="rect">
            <a:avLst/>
          </a:prstGeom>
          <a:noFill/>
        </p:spPr>
        <p:txBody>
          <a:bodyPr wrap="square">
            <a:spAutoFit/>
          </a:bodyPr>
          <a:lstStyle/>
          <a:p>
            <a:pPr algn="l"/>
            <a:r>
              <a:rPr lang="en-GB" sz="2800" b="0" i="0" u="none" strike="noStrike" baseline="0" dirty="0">
                <a:solidFill>
                  <a:srgbClr val="333333"/>
                </a:solidFill>
                <a:latin typeface="LiberationSerif"/>
              </a:rPr>
              <a:t>Some examples of supervised learning are</a:t>
            </a:r>
          </a:p>
          <a:p>
            <a:pPr algn="l"/>
            <a:endParaRPr lang="en-GB" sz="2800" b="0" i="0" u="none" strike="noStrike" baseline="0" dirty="0">
              <a:solidFill>
                <a:srgbClr val="333333"/>
              </a:solidFill>
              <a:latin typeface="LiberationSerif"/>
            </a:endParaRPr>
          </a:p>
          <a:p>
            <a:pPr algn="l"/>
            <a:r>
              <a:rPr lang="en-GB" sz="1800" b="0" i="0" u="none" strike="noStrike" baseline="0" dirty="0">
                <a:solidFill>
                  <a:srgbClr val="333333"/>
                </a:solidFill>
                <a:latin typeface="LiberationSerif"/>
              </a:rPr>
              <a:t>Predicting the results of a game</a:t>
            </a:r>
          </a:p>
          <a:p>
            <a:pPr algn="l"/>
            <a:r>
              <a:rPr lang="en-GB" sz="1800" b="0" i="0" u="none" strike="noStrike" baseline="0" dirty="0">
                <a:solidFill>
                  <a:srgbClr val="333333"/>
                </a:solidFill>
                <a:latin typeface="LiberationSerif"/>
              </a:rPr>
              <a:t>Predicting whether a tumour is malignant or benign</a:t>
            </a:r>
          </a:p>
          <a:p>
            <a:pPr algn="l"/>
            <a:r>
              <a:rPr lang="en-GB" sz="1800" b="0" i="0" u="none" strike="noStrike" baseline="0" dirty="0">
                <a:solidFill>
                  <a:srgbClr val="333333"/>
                </a:solidFill>
                <a:latin typeface="LiberationSerif"/>
              </a:rPr>
              <a:t>Predicting the price of domains like real estate, stocks, etc.</a:t>
            </a:r>
          </a:p>
          <a:p>
            <a:pPr algn="l"/>
            <a:r>
              <a:rPr lang="en-GB" sz="1800" b="0" i="0" u="none" strike="noStrike" baseline="0" dirty="0">
                <a:solidFill>
                  <a:srgbClr val="333333"/>
                </a:solidFill>
                <a:latin typeface="LiberationSerif"/>
              </a:rPr>
              <a:t>Classifying texts such as classifying a set of emails as spam or non-spam</a:t>
            </a:r>
            <a:endParaRPr lang="en-GB" dirty="0"/>
          </a:p>
        </p:txBody>
      </p:sp>
    </p:spTree>
    <p:extLst>
      <p:ext uri="{BB962C8B-B14F-4D97-AF65-F5344CB8AC3E}">
        <p14:creationId xmlns:p14="http://schemas.microsoft.com/office/powerpoint/2010/main" val="1244135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09EDF1C-30BB-E28C-5B97-FC0BE873C000}"/>
              </a:ext>
            </a:extLst>
          </p:cNvPr>
          <p:cNvSpPr txBox="1"/>
          <p:nvPr/>
        </p:nvSpPr>
        <p:spPr>
          <a:xfrm>
            <a:off x="543697" y="771435"/>
            <a:ext cx="10313773" cy="923330"/>
          </a:xfrm>
          <a:prstGeom prst="rect">
            <a:avLst/>
          </a:prstGeom>
          <a:noFill/>
        </p:spPr>
        <p:txBody>
          <a:bodyPr wrap="square">
            <a:spAutoFit/>
          </a:bodyPr>
          <a:lstStyle/>
          <a:p>
            <a:pPr algn="l" rtl="0" fontAlgn="base"/>
            <a:r>
              <a:rPr lang="en-GB" b="0" i="0" dirty="0">
                <a:solidFill>
                  <a:srgbClr val="273239"/>
                </a:solidFill>
                <a:effectLst/>
                <a:latin typeface="Nunito" pitchFamily="2" charset="0"/>
              </a:rPr>
              <a:t>There are two main categories of supervised learning that are mentioned below:</a:t>
            </a:r>
          </a:p>
          <a:p>
            <a:pPr algn="l" fontAlgn="base">
              <a:buFont typeface="Arial" panose="020B0604020202020204" pitchFamily="34" charset="0"/>
              <a:buChar char="•"/>
            </a:pPr>
            <a:r>
              <a:rPr lang="en-GB" b="0" i="0" u="sng" dirty="0">
                <a:solidFill>
                  <a:srgbClr val="357960"/>
                </a:solidFill>
                <a:effectLst/>
                <a:latin typeface="Nunito" pitchFamily="2" charset="0"/>
                <a:hlinkClick r:id="rId2"/>
              </a:rPr>
              <a:t>Classification</a:t>
            </a:r>
            <a:endParaRPr lang="en-GB" b="0" i="0" dirty="0">
              <a:solidFill>
                <a:srgbClr val="273239"/>
              </a:solidFill>
              <a:effectLst/>
              <a:latin typeface="Nunito" pitchFamily="2" charset="0"/>
            </a:endParaRPr>
          </a:p>
          <a:p>
            <a:pPr algn="l" fontAlgn="base">
              <a:buFont typeface="Arial" panose="020B0604020202020204" pitchFamily="34" charset="0"/>
              <a:buChar char="•"/>
            </a:pPr>
            <a:r>
              <a:rPr lang="en-GB" b="0" i="0" u="sng" dirty="0">
                <a:solidFill>
                  <a:srgbClr val="357960"/>
                </a:solidFill>
                <a:effectLst/>
                <a:latin typeface="Nunito" pitchFamily="2" charset="0"/>
                <a:hlinkClick r:id="rId3"/>
              </a:rPr>
              <a:t>Regression</a:t>
            </a:r>
            <a:endParaRPr lang="en-GB" b="0" i="0" dirty="0">
              <a:solidFill>
                <a:srgbClr val="273239"/>
              </a:solidFill>
              <a:effectLst/>
              <a:latin typeface="Nunito" pitchFamily="2" charset="0"/>
            </a:endParaRPr>
          </a:p>
        </p:txBody>
      </p:sp>
      <p:pic>
        <p:nvPicPr>
          <p:cNvPr id="3" name="Picture 2">
            <a:extLst>
              <a:ext uri="{FF2B5EF4-FFF2-40B4-BE49-F238E27FC236}">
                <a16:creationId xmlns:a16="http://schemas.microsoft.com/office/drawing/2014/main" id="{602A817C-1887-2F5E-33B9-A3C166E38FB6}"/>
              </a:ext>
            </a:extLst>
          </p:cNvPr>
          <p:cNvPicPr>
            <a:picLocks noChangeAspect="1"/>
          </p:cNvPicPr>
          <p:nvPr/>
        </p:nvPicPr>
        <p:blipFill>
          <a:blip r:embed="rId4"/>
          <a:stretch>
            <a:fillRect/>
          </a:stretch>
        </p:blipFill>
        <p:spPr>
          <a:xfrm>
            <a:off x="2623983" y="1671453"/>
            <a:ext cx="5772765" cy="2349975"/>
          </a:xfrm>
          <a:prstGeom prst="rect">
            <a:avLst/>
          </a:prstGeom>
        </p:spPr>
      </p:pic>
    </p:spTree>
    <p:extLst>
      <p:ext uri="{BB962C8B-B14F-4D97-AF65-F5344CB8AC3E}">
        <p14:creationId xmlns:p14="http://schemas.microsoft.com/office/powerpoint/2010/main" val="31032522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DBD0F5-4383-71E4-39B6-9B6156359116}"/>
              </a:ext>
            </a:extLst>
          </p:cNvPr>
          <p:cNvSpPr txBox="1"/>
          <p:nvPr/>
        </p:nvSpPr>
        <p:spPr>
          <a:xfrm>
            <a:off x="428368" y="294666"/>
            <a:ext cx="11335264" cy="2862322"/>
          </a:xfrm>
          <a:prstGeom prst="rect">
            <a:avLst/>
          </a:prstGeom>
          <a:noFill/>
        </p:spPr>
        <p:txBody>
          <a:bodyPr wrap="square">
            <a:spAutoFit/>
          </a:bodyPr>
          <a:lstStyle/>
          <a:p>
            <a:r>
              <a:rPr lang="en-GB" sz="1800" b="1" i="1" u="none" strike="noStrike" baseline="0" dirty="0">
                <a:solidFill>
                  <a:srgbClr val="000000"/>
                </a:solidFill>
                <a:latin typeface="Times New Roman" panose="02020603050405020304" pitchFamily="18" charset="0"/>
              </a:rPr>
              <a:t>Regression: </a:t>
            </a:r>
            <a:r>
              <a:rPr lang="en-GB" sz="1800" b="0" i="0" u="none" strike="noStrike" baseline="0" dirty="0">
                <a:solidFill>
                  <a:srgbClr val="000000"/>
                </a:solidFill>
                <a:latin typeface="Times New Roman" panose="02020603050405020304" pitchFamily="18" charset="0"/>
              </a:rPr>
              <a:t>This is a type of problem where we need to predict the </a:t>
            </a:r>
            <a:r>
              <a:rPr lang="en-GB" sz="1800" b="0" i="1" u="none" strike="noStrike" baseline="0" dirty="0">
                <a:solidFill>
                  <a:srgbClr val="000000"/>
                </a:solidFill>
                <a:latin typeface="Times New Roman" panose="02020603050405020304" pitchFamily="18" charset="0"/>
              </a:rPr>
              <a:t>continuous-response </a:t>
            </a:r>
            <a:r>
              <a:rPr lang="en-GB" sz="1800" b="0" i="0" u="none" strike="noStrike" baseline="0" dirty="0">
                <a:solidFill>
                  <a:srgbClr val="000000"/>
                </a:solidFill>
                <a:latin typeface="Times New Roman" panose="02020603050405020304" pitchFamily="18" charset="0"/>
              </a:rPr>
              <a:t>value (ex : above we predict number which can vary from -infinity to +infinity) </a:t>
            </a:r>
          </a:p>
          <a:p>
            <a:endParaRPr lang="en-GB" sz="1800" b="0" i="0" u="none" strike="noStrike" baseline="0" dirty="0">
              <a:solidFill>
                <a:srgbClr val="000000"/>
              </a:solidFill>
              <a:latin typeface="Times New Roman" panose="02020603050405020304" pitchFamily="18" charset="0"/>
            </a:endParaRPr>
          </a:p>
          <a:p>
            <a:r>
              <a:rPr lang="en-GB" sz="1800" b="0" i="0" u="none" strike="noStrike" baseline="0" dirty="0">
                <a:solidFill>
                  <a:srgbClr val="000000"/>
                </a:solidFill>
                <a:latin typeface="Times New Roman" panose="02020603050405020304" pitchFamily="18" charset="0"/>
              </a:rPr>
              <a:t>Some examples are :</a:t>
            </a:r>
          </a:p>
          <a:p>
            <a:endParaRPr lang="en-GB" sz="1800" b="0" i="0" u="none" strike="noStrike" baseline="0" dirty="0">
              <a:solidFill>
                <a:srgbClr val="000000"/>
              </a:solidFill>
              <a:latin typeface="Times New Roman" panose="02020603050405020304" pitchFamily="18" charset="0"/>
            </a:endParaRPr>
          </a:p>
          <a:p>
            <a:r>
              <a:rPr lang="en-GB" sz="1400" b="0" i="0" u="none" strike="noStrike" baseline="0" dirty="0">
                <a:solidFill>
                  <a:srgbClr val="000000"/>
                </a:solidFill>
                <a:latin typeface="Times New Roman" panose="02020603050405020304" pitchFamily="18" charset="0"/>
              </a:rPr>
              <a:t>• </a:t>
            </a:r>
            <a:r>
              <a:rPr lang="en-GB" sz="1800" b="0" i="0" u="none" strike="noStrike" baseline="0" dirty="0">
                <a:solidFill>
                  <a:srgbClr val="000000"/>
                </a:solidFill>
                <a:latin typeface="Times New Roman" panose="02020603050405020304" pitchFamily="18" charset="0"/>
              </a:rPr>
              <a:t>what is the price of house in a specific city? </a:t>
            </a:r>
          </a:p>
          <a:p>
            <a:endParaRPr lang="en-GB" sz="1800" b="0" i="0" u="none" strike="noStrike" baseline="0" dirty="0">
              <a:solidFill>
                <a:srgbClr val="000000"/>
              </a:solidFill>
              <a:latin typeface="Times New Roman" panose="02020603050405020304" pitchFamily="18" charset="0"/>
            </a:endParaRPr>
          </a:p>
          <a:p>
            <a:r>
              <a:rPr lang="en-GB" sz="1400" b="0" i="0" u="none" strike="noStrike" baseline="0" dirty="0">
                <a:solidFill>
                  <a:srgbClr val="000000"/>
                </a:solidFill>
                <a:latin typeface="Times New Roman" panose="02020603050405020304" pitchFamily="18" charset="0"/>
              </a:rPr>
              <a:t>• </a:t>
            </a:r>
            <a:r>
              <a:rPr lang="en-GB" sz="1800" b="0" i="0" u="none" strike="noStrike" baseline="0" dirty="0">
                <a:solidFill>
                  <a:srgbClr val="000000"/>
                </a:solidFill>
                <a:latin typeface="Times New Roman" panose="02020603050405020304" pitchFamily="18" charset="0"/>
              </a:rPr>
              <a:t>what is the value of the stock? </a:t>
            </a:r>
          </a:p>
          <a:p>
            <a:endParaRPr lang="en-GB" sz="1800" b="0" i="0" u="none" strike="noStrike" baseline="0" dirty="0">
              <a:solidFill>
                <a:srgbClr val="000000"/>
              </a:solidFill>
              <a:latin typeface="Times New Roman" panose="02020603050405020304" pitchFamily="18" charset="0"/>
            </a:endParaRPr>
          </a:p>
          <a:p>
            <a:r>
              <a:rPr lang="en-GB" sz="1400" b="0" i="0" u="none" strike="noStrike" baseline="0" dirty="0">
                <a:solidFill>
                  <a:srgbClr val="000000"/>
                </a:solidFill>
                <a:latin typeface="Times New Roman" panose="02020603050405020304" pitchFamily="18" charset="0"/>
              </a:rPr>
              <a:t>• </a:t>
            </a:r>
            <a:r>
              <a:rPr lang="en-GB" sz="1800" b="0" i="0" u="none" strike="noStrike" baseline="0" dirty="0">
                <a:solidFill>
                  <a:srgbClr val="000000"/>
                </a:solidFill>
                <a:latin typeface="Times New Roman" panose="02020603050405020304" pitchFamily="18" charset="0"/>
              </a:rPr>
              <a:t>how many total runs can be on board in a cricket </a:t>
            </a:r>
            <a:r>
              <a:rPr lang="en-GB" sz="1800" b="0" i="0" u="none" strike="noStrike" baseline="0" dirty="0" err="1">
                <a:solidFill>
                  <a:srgbClr val="000000"/>
                </a:solidFill>
                <a:latin typeface="Times New Roman" panose="02020603050405020304" pitchFamily="18" charset="0"/>
              </a:rPr>
              <a:t>game?etc</a:t>
            </a:r>
            <a:r>
              <a:rPr lang="en-GB" sz="1800" b="0" i="0" u="none" strike="noStrike" baseline="0" dirty="0">
                <a:solidFill>
                  <a:srgbClr val="000000"/>
                </a:solidFill>
                <a:latin typeface="Times New Roman" panose="02020603050405020304" pitchFamily="18" charset="0"/>
              </a:rPr>
              <a:t>… There are tons of things we can predict if we wish. </a:t>
            </a:r>
          </a:p>
        </p:txBody>
      </p:sp>
    </p:spTree>
    <p:extLst>
      <p:ext uri="{BB962C8B-B14F-4D97-AF65-F5344CB8AC3E}">
        <p14:creationId xmlns:p14="http://schemas.microsoft.com/office/powerpoint/2010/main" val="3486635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5B1BC0B-08DD-76FF-BE49-DB4043A4BA3E}"/>
              </a:ext>
            </a:extLst>
          </p:cNvPr>
          <p:cNvSpPr txBox="1"/>
          <p:nvPr/>
        </p:nvSpPr>
        <p:spPr>
          <a:xfrm>
            <a:off x="667265" y="677720"/>
            <a:ext cx="10198443" cy="5355312"/>
          </a:xfrm>
          <a:prstGeom prst="rect">
            <a:avLst/>
          </a:prstGeom>
          <a:noFill/>
        </p:spPr>
        <p:txBody>
          <a:bodyPr wrap="square">
            <a:spAutoFit/>
          </a:bodyPr>
          <a:lstStyle/>
          <a:p>
            <a:r>
              <a:rPr lang="en-GB" sz="1800" b="1" i="1" u="none" strike="noStrike" baseline="0" dirty="0">
                <a:solidFill>
                  <a:srgbClr val="000000"/>
                </a:solidFill>
                <a:latin typeface="Times New Roman" panose="02020603050405020304" pitchFamily="18" charset="0"/>
              </a:rPr>
              <a:t>Classification: </a:t>
            </a:r>
            <a:r>
              <a:rPr lang="en-GB" sz="1800" b="0" i="0" u="none" strike="noStrike" baseline="0" dirty="0">
                <a:solidFill>
                  <a:srgbClr val="000000"/>
                </a:solidFill>
                <a:latin typeface="Times New Roman" panose="02020603050405020304" pitchFamily="18" charset="0"/>
              </a:rPr>
              <a:t>This is a type of problem where we predict the </a:t>
            </a:r>
            <a:r>
              <a:rPr lang="en-GB" sz="1800" b="0" i="1" u="none" strike="noStrike" baseline="0" dirty="0">
                <a:solidFill>
                  <a:srgbClr val="000000"/>
                </a:solidFill>
                <a:latin typeface="Times New Roman" panose="02020603050405020304" pitchFamily="18" charset="0"/>
              </a:rPr>
              <a:t>categorical response </a:t>
            </a:r>
            <a:r>
              <a:rPr lang="en-GB" sz="1800" b="0" i="0" u="none" strike="noStrike" baseline="0" dirty="0">
                <a:solidFill>
                  <a:srgbClr val="000000"/>
                </a:solidFill>
                <a:latin typeface="Times New Roman" panose="02020603050405020304" pitchFamily="18" charset="0"/>
              </a:rPr>
              <a:t>value where the data can be separated into specific “</a:t>
            </a:r>
            <a:r>
              <a:rPr lang="en-GB" sz="1800" b="1" i="0" u="none" strike="noStrike" baseline="0" dirty="0">
                <a:solidFill>
                  <a:srgbClr val="000000"/>
                </a:solidFill>
                <a:latin typeface="Times New Roman" panose="02020603050405020304" pitchFamily="18" charset="0"/>
              </a:rPr>
              <a:t>classes</a:t>
            </a:r>
            <a:r>
              <a:rPr lang="en-GB" sz="1800" b="0" i="0" u="none" strike="noStrike" baseline="0" dirty="0">
                <a:solidFill>
                  <a:srgbClr val="000000"/>
                </a:solidFill>
                <a:latin typeface="Times New Roman" panose="02020603050405020304" pitchFamily="18" charset="0"/>
              </a:rPr>
              <a:t>” (ex: we predict one of the values in a set of values). </a:t>
            </a:r>
          </a:p>
          <a:p>
            <a:endParaRPr lang="en-GB" sz="1800" b="0" i="0" u="none" strike="noStrike" baseline="0" dirty="0">
              <a:solidFill>
                <a:srgbClr val="000000"/>
              </a:solidFill>
              <a:latin typeface="Times New Roman" panose="02020603050405020304" pitchFamily="18" charset="0"/>
            </a:endParaRPr>
          </a:p>
          <a:p>
            <a:r>
              <a:rPr lang="en-GB" sz="1800" b="0" i="0" u="none" strike="noStrike" baseline="0" dirty="0">
                <a:solidFill>
                  <a:srgbClr val="000000"/>
                </a:solidFill>
                <a:latin typeface="Times New Roman" panose="02020603050405020304" pitchFamily="18" charset="0"/>
              </a:rPr>
              <a:t>Some examples are : </a:t>
            </a:r>
          </a:p>
          <a:p>
            <a:endParaRPr lang="en-GB" sz="1800" b="0" i="0" u="none" strike="noStrike" baseline="0" dirty="0">
              <a:solidFill>
                <a:srgbClr val="000000"/>
              </a:solidFill>
              <a:latin typeface="Times New Roman" panose="02020603050405020304" pitchFamily="18" charset="0"/>
            </a:endParaRPr>
          </a:p>
          <a:p>
            <a:r>
              <a:rPr lang="en-GB" sz="1400" b="0" i="0" u="none" strike="noStrike" baseline="0" dirty="0">
                <a:solidFill>
                  <a:srgbClr val="000000"/>
                </a:solidFill>
                <a:latin typeface="Times New Roman" panose="02020603050405020304" pitchFamily="18" charset="0"/>
              </a:rPr>
              <a:t>• </a:t>
            </a:r>
            <a:r>
              <a:rPr lang="en-GB" sz="1800" b="0" i="0" u="none" strike="noStrike" baseline="0" dirty="0">
                <a:solidFill>
                  <a:srgbClr val="000000"/>
                </a:solidFill>
                <a:latin typeface="Times New Roman" panose="02020603050405020304" pitchFamily="18" charset="0"/>
              </a:rPr>
              <a:t>this mail is spam or not? </a:t>
            </a:r>
          </a:p>
          <a:p>
            <a:endParaRPr lang="en-GB" sz="1800" b="0" i="0" u="none" strike="noStrike" baseline="0" dirty="0">
              <a:solidFill>
                <a:srgbClr val="000000"/>
              </a:solidFill>
              <a:latin typeface="Times New Roman" panose="02020603050405020304" pitchFamily="18" charset="0"/>
            </a:endParaRPr>
          </a:p>
          <a:p>
            <a:r>
              <a:rPr lang="en-GB" sz="1400" b="0" i="0" u="none" strike="noStrike" baseline="0" dirty="0">
                <a:solidFill>
                  <a:srgbClr val="000000"/>
                </a:solidFill>
                <a:latin typeface="Times New Roman" panose="02020603050405020304" pitchFamily="18" charset="0"/>
              </a:rPr>
              <a:t>• </a:t>
            </a:r>
            <a:r>
              <a:rPr lang="en-GB" sz="1800" b="0" i="0" u="none" strike="noStrike" baseline="0" dirty="0">
                <a:solidFill>
                  <a:srgbClr val="000000"/>
                </a:solidFill>
                <a:latin typeface="Times New Roman" panose="02020603050405020304" pitchFamily="18" charset="0"/>
              </a:rPr>
              <a:t>will it rain today or not? </a:t>
            </a:r>
          </a:p>
          <a:p>
            <a:endParaRPr lang="en-GB" sz="1800" b="0" i="0" u="none" strike="noStrike" baseline="0" dirty="0">
              <a:solidFill>
                <a:srgbClr val="000000"/>
              </a:solidFill>
              <a:latin typeface="Times New Roman" panose="02020603050405020304" pitchFamily="18" charset="0"/>
            </a:endParaRPr>
          </a:p>
          <a:p>
            <a:r>
              <a:rPr lang="en-GB" sz="1400" b="0" i="0" u="none" strike="noStrike" baseline="0" dirty="0">
                <a:solidFill>
                  <a:srgbClr val="000000"/>
                </a:solidFill>
                <a:latin typeface="Times New Roman" panose="02020603050405020304" pitchFamily="18" charset="0"/>
              </a:rPr>
              <a:t>• </a:t>
            </a:r>
            <a:r>
              <a:rPr lang="en-GB" sz="1800" b="0" i="0" u="none" strike="noStrike" baseline="0" dirty="0">
                <a:solidFill>
                  <a:srgbClr val="000000"/>
                </a:solidFill>
                <a:latin typeface="Times New Roman" panose="02020603050405020304" pitchFamily="18" charset="0"/>
              </a:rPr>
              <a:t>is this picture a cat or not? </a:t>
            </a:r>
          </a:p>
          <a:p>
            <a:endParaRPr lang="en-GB" sz="1800" b="0" i="0" u="none" strike="noStrike" baseline="0" dirty="0">
              <a:solidFill>
                <a:srgbClr val="000000"/>
              </a:solidFill>
              <a:latin typeface="Times New Roman" panose="02020603050405020304" pitchFamily="18" charset="0"/>
            </a:endParaRPr>
          </a:p>
          <a:p>
            <a:r>
              <a:rPr lang="en-GB" sz="1800" b="0" i="0" u="none" strike="noStrike" baseline="0" dirty="0">
                <a:solidFill>
                  <a:srgbClr val="000000"/>
                </a:solidFill>
                <a:latin typeface="Times New Roman" panose="02020603050405020304" pitchFamily="18" charset="0"/>
              </a:rPr>
              <a:t>Basically ‘Yes/No’ type questions called </a:t>
            </a:r>
            <a:r>
              <a:rPr lang="en-GB" sz="1800" b="1" i="0" u="none" strike="noStrike" baseline="0" dirty="0">
                <a:solidFill>
                  <a:srgbClr val="000000"/>
                </a:solidFill>
                <a:latin typeface="Times New Roman" panose="02020603050405020304" pitchFamily="18" charset="0"/>
              </a:rPr>
              <a:t>binary classification. </a:t>
            </a:r>
          </a:p>
          <a:p>
            <a:endParaRPr lang="en-GB" sz="1800" b="0" i="0" u="none" strike="noStrike" baseline="0" dirty="0">
              <a:solidFill>
                <a:srgbClr val="000000"/>
              </a:solidFill>
              <a:latin typeface="Times New Roman" panose="02020603050405020304" pitchFamily="18" charset="0"/>
            </a:endParaRPr>
          </a:p>
          <a:p>
            <a:r>
              <a:rPr lang="en-GB" sz="1800" b="0" i="0" u="none" strike="noStrike" baseline="0" dirty="0">
                <a:solidFill>
                  <a:srgbClr val="000000"/>
                </a:solidFill>
                <a:latin typeface="Times New Roman" panose="02020603050405020304" pitchFamily="18" charset="0"/>
              </a:rPr>
              <a:t>Other examples are : </a:t>
            </a:r>
          </a:p>
          <a:p>
            <a:r>
              <a:rPr lang="en-GB" sz="1400" b="0" i="0" u="none" strike="noStrike" baseline="0" dirty="0">
                <a:solidFill>
                  <a:srgbClr val="000000"/>
                </a:solidFill>
                <a:latin typeface="Times New Roman" panose="02020603050405020304" pitchFamily="18" charset="0"/>
              </a:rPr>
              <a:t>• </a:t>
            </a:r>
            <a:r>
              <a:rPr lang="en-GB" sz="1800" b="0" i="0" u="none" strike="noStrike" baseline="0" dirty="0">
                <a:solidFill>
                  <a:srgbClr val="000000"/>
                </a:solidFill>
                <a:latin typeface="Times New Roman" panose="02020603050405020304" pitchFamily="18" charset="0"/>
              </a:rPr>
              <a:t>this mail is spam or important or promotion? </a:t>
            </a:r>
          </a:p>
          <a:p>
            <a:endParaRPr lang="en-GB" sz="1800" b="0" i="0" u="none" strike="noStrike" baseline="0" dirty="0">
              <a:solidFill>
                <a:srgbClr val="000000"/>
              </a:solidFill>
              <a:latin typeface="Times New Roman" panose="02020603050405020304" pitchFamily="18" charset="0"/>
            </a:endParaRPr>
          </a:p>
          <a:p>
            <a:r>
              <a:rPr lang="en-GB" sz="1400" b="0" i="0" u="none" strike="noStrike" baseline="0" dirty="0">
                <a:solidFill>
                  <a:srgbClr val="000000"/>
                </a:solidFill>
                <a:latin typeface="Times New Roman" panose="02020603050405020304" pitchFamily="18" charset="0"/>
              </a:rPr>
              <a:t>• </a:t>
            </a:r>
            <a:r>
              <a:rPr lang="en-GB" sz="1800" b="0" i="0" u="none" strike="noStrike" baseline="0" dirty="0">
                <a:solidFill>
                  <a:srgbClr val="000000"/>
                </a:solidFill>
                <a:latin typeface="Times New Roman" panose="02020603050405020304" pitchFamily="18" charset="0"/>
              </a:rPr>
              <a:t>is this picture a cat or a dog or a tiger? </a:t>
            </a:r>
          </a:p>
          <a:p>
            <a:endParaRPr lang="en-GB" sz="1800" b="0" i="0" u="none" strike="noStrike" baseline="0" dirty="0">
              <a:solidFill>
                <a:srgbClr val="000000"/>
              </a:solidFill>
              <a:latin typeface="Times New Roman" panose="02020603050405020304" pitchFamily="18" charset="0"/>
            </a:endParaRPr>
          </a:p>
          <a:p>
            <a:r>
              <a:rPr lang="en-GB" sz="1800" b="0" i="0" u="none" strike="noStrike" baseline="0" dirty="0">
                <a:solidFill>
                  <a:srgbClr val="000000"/>
                </a:solidFill>
                <a:latin typeface="Times New Roman" panose="02020603050405020304" pitchFamily="18" charset="0"/>
              </a:rPr>
              <a:t>This type is called </a:t>
            </a:r>
            <a:r>
              <a:rPr lang="en-GB" sz="1800" b="1" i="0" u="none" strike="noStrike" baseline="0" dirty="0">
                <a:solidFill>
                  <a:srgbClr val="000000"/>
                </a:solidFill>
                <a:latin typeface="Times New Roman" panose="02020603050405020304" pitchFamily="18" charset="0"/>
              </a:rPr>
              <a:t>multi-class classification. </a:t>
            </a:r>
            <a:endParaRPr lang="en-GB" dirty="0"/>
          </a:p>
        </p:txBody>
      </p:sp>
    </p:spTree>
    <p:extLst>
      <p:ext uri="{BB962C8B-B14F-4D97-AF65-F5344CB8AC3E}">
        <p14:creationId xmlns:p14="http://schemas.microsoft.com/office/powerpoint/2010/main" val="3382565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27C334-B1B6-23E3-B51F-36BD00F942C0}"/>
              </a:ext>
            </a:extLst>
          </p:cNvPr>
          <p:cNvPicPr>
            <a:picLocks noChangeAspect="1"/>
          </p:cNvPicPr>
          <p:nvPr/>
        </p:nvPicPr>
        <p:blipFill>
          <a:blip r:embed="rId2"/>
          <a:stretch>
            <a:fillRect/>
          </a:stretch>
        </p:blipFill>
        <p:spPr>
          <a:xfrm>
            <a:off x="1695584" y="608389"/>
            <a:ext cx="8445193" cy="3993108"/>
          </a:xfrm>
          <a:prstGeom prst="rect">
            <a:avLst/>
          </a:prstGeom>
        </p:spPr>
      </p:pic>
      <p:sp>
        <p:nvSpPr>
          <p:cNvPr id="7" name="TextBox 6">
            <a:extLst>
              <a:ext uri="{FF2B5EF4-FFF2-40B4-BE49-F238E27FC236}">
                <a16:creationId xmlns:a16="http://schemas.microsoft.com/office/drawing/2014/main" id="{72C0284A-9F85-158E-955C-2FDF27AAC6D0}"/>
              </a:ext>
            </a:extLst>
          </p:cNvPr>
          <p:cNvSpPr txBox="1"/>
          <p:nvPr/>
        </p:nvSpPr>
        <p:spPr>
          <a:xfrm>
            <a:off x="2726725" y="5199160"/>
            <a:ext cx="6096000" cy="369332"/>
          </a:xfrm>
          <a:prstGeom prst="rect">
            <a:avLst/>
          </a:prstGeom>
          <a:noFill/>
        </p:spPr>
        <p:txBody>
          <a:bodyPr wrap="square">
            <a:spAutoFit/>
          </a:bodyPr>
          <a:lstStyle/>
          <a:p>
            <a:r>
              <a:rPr lang="en-GB" sz="1800" b="0" i="1" u="none" strike="noStrike" baseline="0" dirty="0">
                <a:solidFill>
                  <a:srgbClr val="000000"/>
                </a:solidFill>
                <a:latin typeface="Times New Roman" panose="02020603050405020304" pitchFamily="18" charset="0"/>
              </a:rPr>
              <a:t>Classification separates the data,      Regression fits the data </a:t>
            </a:r>
            <a:endParaRPr lang="en-GB" dirty="0"/>
          </a:p>
        </p:txBody>
      </p:sp>
    </p:spTree>
    <p:extLst>
      <p:ext uri="{BB962C8B-B14F-4D97-AF65-F5344CB8AC3E}">
        <p14:creationId xmlns:p14="http://schemas.microsoft.com/office/powerpoint/2010/main" val="14317489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3141</TotalTime>
  <Words>1595</Words>
  <Application>Microsoft Office PowerPoint</Application>
  <PresentationFormat>Widescreen</PresentationFormat>
  <Paragraphs>135</Paragraphs>
  <Slides>22</Slides>
  <Notes>0</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22</vt:i4>
      </vt:variant>
    </vt:vector>
  </HeadingPairs>
  <TitlesOfParts>
    <vt:vector size="41" baseType="lpstr">
      <vt:lpstr>Aptos</vt:lpstr>
      <vt:lpstr>Aptos Display</vt:lpstr>
      <vt:lpstr>Arial</vt:lpstr>
      <vt:lpstr>Calibri</vt:lpstr>
      <vt:lpstr>CMMIB9</vt:lpstr>
      <vt:lpstr>CMSS9</vt:lpstr>
      <vt:lpstr>CMSSBX10</vt:lpstr>
      <vt:lpstr>CMSSI9</vt:lpstr>
      <vt:lpstr>LiberationSerif</vt:lpstr>
      <vt:lpstr>Nunito</vt:lpstr>
      <vt:lpstr>Proxima Nova Rg</vt:lpstr>
      <vt:lpstr>Roboto</vt:lpstr>
      <vt:lpstr>sohne</vt:lpstr>
      <vt:lpstr>Source Sans 3</vt:lpstr>
      <vt:lpstr>source-serif-pro</vt:lpstr>
      <vt:lpstr>Studio-Feixen-Sans</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eArtificial Intelligence Refers to the simulation of human intelligence</dc:title>
  <dc:creator>Omen HPInc</dc:creator>
  <cp:lastModifiedBy>Omen HPInc</cp:lastModifiedBy>
  <cp:revision>118</cp:revision>
  <dcterms:created xsi:type="dcterms:W3CDTF">2025-07-23T08:55:24Z</dcterms:created>
  <dcterms:modified xsi:type="dcterms:W3CDTF">2025-10-18T20:49:44Z</dcterms:modified>
</cp:coreProperties>
</file>