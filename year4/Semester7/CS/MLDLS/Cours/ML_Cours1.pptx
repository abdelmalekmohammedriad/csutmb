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80" r:id="rId2"/>
    <p:sldId id="257" r:id="rId3"/>
    <p:sldId id="258" r:id="rId4"/>
    <p:sldId id="281" r:id="rId5"/>
    <p:sldId id="282" r:id="rId6"/>
    <p:sldId id="273" r:id="rId7"/>
    <p:sldId id="259" r:id="rId8"/>
    <p:sldId id="270" r:id="rId9"/>
    <p:sldId id="260" r:id="rId10"/>
    <p:sldId id="274" r:id="rId11"/>
    <p:sldId id="283" r:id="rId12"/>
    <p:sldId id="262" r:id="rId13"/>
    <p:sldId id="263" r:id="rId14"/>
    <p:sldId id="284" r:id="rId15"/>
    <p:sldId id="285" r:id="rId16"/>
    <p:sldId id="286" r:id="rId17"/>
    <p:sldId id="287" r:id="rId18"/>
    <p:sldId id="275" r:id="rId19"/>
    <p:sldId id="26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91" d="100"/>
          <a:sy n="91" d="100"/>
        </p:scale>
        <p:origin x="499"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4742A-A101-6657-38A3-CE53BCB65F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0D2585B-1A1E-123D-9894-1EAB57602B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A8E96FB-D89F-1AE7-1885-5CAAC9548C8F}"/>
              </a:ext>
            </a:extLst>
          </p:cNvPr>
          <p:cNvSpPr>
            <a:spLocks noGrp="1"/>
          </p:cNvSpPr>
          <p:nvPr>
            <p:ph type="dt" sz="half" idx="10"/>
          </p:nvPr>
        </p:nvSpPr>
        <p:spPr/>
        <p:txBody>
          <a:bodyPr/>
          <a:lstStyle/>
          <a:p>
            <a:fld id="{5F463B61-6203-441D-84D1-117238F43CDF}" type="datetimeFigureOut">
              <a:rPr lang="en-GB" smtClean="0"/>
              <a:t>12/10/2025</a:t>
            </a:fld>
            <a:endParaRPr lang="en-GB"/>
          </a:p>
        </p:txBody>
      </p:sp>
      <p:sp>
        <p:nvSpPr>
          <p:cNvPr id="5" name="Footer Placeholder 4">
            <a:extLst>
              <a:ext uri="{FF2B5EF4-FFF2-40B4-BE49-F238E27FC236}">
                <a16:creationId xmlns:a16="http://schemas.microsoft.com/office/drawing/2014/main" id="{C7DA4FFF-62B7-2BBB-EDAB-8D754CDE50A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5B994FF-CE4B-AE9C-FDF9-EA96B21F90FA}"/>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3108280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4592-4FCF-DE4A-3B20-5FD2C1BC47B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12FD6C7-6B93-85C9-C047-594AEA8D2F9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9C5BFFB-ECCE-7B99-806F-AF0291BCA5B9}"/>
              </a:ext>
            </a:extLst>
          </p:cNvPr>
          <p:cNvSpPr>
            <a:spLocks noGrp="1"/>
          </p:cNvSpPr>
          <p:nvPr>
            <p:ph type="dt" sz="half" idx="10"/>
          </p:nvPr>
        </p:nvSpPr>
        <p:spPr/>
        <p:txBody>
          <a:bodyPr/>
          <a:lstStyle/>
          <a:p>
            <a:fld id="{5F463B61-6203-441D-84D1-117238F43CDF}" type="datetimeFigureOut">
              <a:rPr lang="en-GB" smtClean="0"/>
              <a:t>12/10/2025</a:t>
            </a:fld>
            <a:endParaRPr lang="en-GB"/>
          </a:p>
        </p:txBody>
      </p:sp>
      <p:sp>
        <p:nvSpPr>
          <p:cNvPr id="5" name="Footer Placeholder 4">
            <a:extLst>
              <a:ext uri="{FF2B5EF4-FFF2-40B4-BE49-F238E27FC236}">
                <a16:creationId xmlns:a16="http://schemas.microsoft.com/office/drawing/2014/main" id="{832E267A-68F4-E12F-D01D-6ECE7D7F939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12C37AB-614C-F349-6136-B5A60731A09C}"/>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1491497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0404B-394B-EB0A-00B2-F690423FA5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FE30760-2A1F-BD66-13AA-914E517640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5333FA-E8AF-6A79-73D4-47E74F47EAD2}"/>
              </a:ext>
            </a:extLst>
          </p:cNvPr>
          <p:cNvSpPr>
            <a:spLocks noGrp="1"/>
          </p:cNvSpPr>
          <p:nvPr>
            <p:ph type="dt" sz="half" idx="10"/>
          </p:nvPr>
        </p:nvSpPr>
        <p:spPr/>
        <p:txBody>
          <a:bodyPr/>
          <a:lstStyle/>
          <a:p>
            <a:fld id="{5F463B61-6203-441D-84D1-117238F43CDF}" type="datetimeFigureOut">
              <a:rPr lang="en-GB" smtClean="0"/>
              <a:t>12/10/2025</a:t>
            </a:fld>
            <a:endParaRPr lang="en-GB"/>
          </a:p>
        </p:txBody>
      </p:sp>
      <p:sp>
        <p:nvSpPr>
          <p:cNvPr id="5" name="Footer Placeholder 4">
            <a:extLst>
              <a:ext uri="{FF2B5EF4-FFF2-40B4-BE49-F238E27FC236}">
                <a16:creationId xmlns:a16="http://schemas.microsoft.com/office/drawing/2014/main" id="{8F98FFE1-8D57-29B2-FEAB-8D43D3C8DFA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38647D7-077B-A23B-FAA3-ADB7096EF933}"/>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8168598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87C82-B896-BE3E-61CF-F7D77474F17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5F334E6-88C7-1E45-FD44-B2EA9BD524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D251C79-141A-E485-3D31-2320403BDE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07ECD7E-6FE2-4A6D-73EA-69F7451AEDD1}"/>
              </a:ext>
            </a:extLst>
          </p:cNvPr>
          <p:cNvSpPr>
            <a:spLocks noGrp="1"/>
          </p:cNvSpPr>
          <p:nvPr>
            <p:ph type="dt" sz="half" idx="10"/>
          </p:nvPr>
        </p:nvSpPr>
        <p:spPr/>
        <p:txBody>
          <a:bodyPr/>
          <a:lstStyle/>
          <a:p>
            <a:fld id="{5F463B61-6203-441D-84D1-117238F43CDF}" type="datetimeFigureOut">
              <a:rPr lang="en-GB" smtClean="0"/>
              <a:t>12/10/2025</a:t>
            </a:fld>
            <a:endParaRPr lang="en-GB"/>
          </a:p>
        </p:txBody>
      </p:sp>
      <p:sp>
        <p:nvSpPr>
          <p:cNvPr id="6" name="Footer Placeholder 5">
            <a:extLst>
              <a:ext uri="{FF2B5EF4-FFF2-40B4-BE49-F238E27FC236}">
                <a16:creationId xmlns:a16="http://schemas.microsoft.com/office/drawing/2014/main" id="{D58309D3-A6C2-AAE6-AD39-F23240B9F13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00B6645-00BC-8A98-FC83-EDE5C8ACE2EB}"/>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2076893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AEE12-1822-F076-7DD0-B702BD0D834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D1A686F-ED66-A0D4-1A2A-072354C6E0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E6A0E2-43FB-0D4F-AC28-2C52578B30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C990EFB-8BF1-50F9-4822-765720639A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61A13A-90A8-86A9-0BE4-9CD8F41134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B783532-F974-7C43-5239-30BC3BA00276}"/>
              </a:ext>
            </a:extLst>
          </p:cNvPr>
          <p:cNvSpPr>
            <a:spLocks noGrp="1"/>
          </p:cNvSpPr>
          <p:nvPr>
            <p:ph type="dt" sz="half" idx="10"/>
          </p:nvPr>
        </p:nvSpPr>
        <p:spPr/>
        <p:txBody>
          <a:bodyPr/>
          <a:lstStyle/>
          <a:p>
            <a:fld id="{5F463B61-6203-441D-84D1-117238F43CDF}" type="datetimeFigureOut">
              <a:rPr lang="en-GB" smtClean="0"/>
              <a:t>12/10/2025</a:t>
            </a:fld>
            <a:endParaRPr lang="en-GB"/>
          </a:p>
        </p:txBody>
      </p:sp>
      <p:sp>
        <p:nvSpPr>
          <p:cNvPr id="8" name="Footer Placeholder 7">
            <a:extLst>
              <a:ext uri="{FF2B5EF4-FFF2-40B4-BE49-F238E27FC236}">
                <a16:creationId xmlns:a16="http://schemas.microsoft.com/office/drawing/2014/main" id="{F8902146-E33B-BF23-35CD-6CA75497F6D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E8BCFAD-1A10-CB2D-4F49-ECEF13E20B35}"/>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933232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44BCF-1329-1839-6352-60C88618348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1F9BC3A-3D02-51EC-B8F1-80CB50256325}"/>
              </a:ext>
            </a:extLst>
          </p:cNvPr>
          <p:cNvSpPr>
            <a:spLocks noGrp="1"/>
          </p:cNvSpPr>
          <p:nvPr>
            <p:ph type="dt" sz="half" idx="10"/>
          </p:nvPr>
        </p:nvSpPr>
        <p:spPr/>
        <p:txBody>
          <a:bodyPr/>
          <a:lstStyle/>
          <a:p>
            <a:fld id="{5F463B61-6203-441D-84D1-117238F43CDF}" type="datetimeFigureOut">
              <a:rPr lang="en-GB" smtClean="0"/>
              <a:t>12/10/2025</a:t>
            </a:fld>
            <a:endParaRPr lang="en-GB"/>
          </a:p>
        </p:txBody>
      </p:sp>
      <p:sp>
        <p:nvSpPr>
          <p:cNvPr id="4" name="Footer Placeholder 3">
            <a:extLst>
              <a:ext uri="{FF2B5EF4-FFF2-40B4-BE49-F238E27FC236}">
                <a16:creationId xmlns:a16="http://schemas.microsoft.com/office/drawing/2014/main" id="{9A495575-A40D-060F-5CE4-EB5AAA3BD42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F7029AC-C898-651F-B904-071ED2951604}"/>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2804189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A17FCF-85A3-56A6-1C6E-FEA57E750F8B}"/>
              </a:ext>
            </a:extLst>
          </p:cNvPr>
          <p:cNvSpPr>
            <a:spLocks noGrp="1"/>
          </p:cNvSpPr>
          <p:nvPr>
            <p:ph type="dt" sz="half" idx="10"/>
          </p:nvPr>
        </p:nvSpPr>
        <p:spPr/>
        <p:txBody>
          <a:bodyPr/>
          <a:lstStyle/>
          <a:p>
            <a:fld id="{5F463B61-6203-441D-84D1-117238F43CDF}" type="datetimeFigureOut">
              <a:rPr lang="en-GB" smtClean="0"/>
              <a:t>12/10/2025</a:t>
            </a:fld>
            <a:endParaRPr lang="en-GB"/>
          </a:p>
        </p:txBody>
      </p:sp>
      <p:sp>
        <p:nvSpPr>
          <p:cNvPr id="3" name="Footer Placeholder 2">
            <a:extLst>
              <a:ext uri="{FF2B5EF4-FFF2-40B4-BE49-F238E27FC236}">
                <a16:creationId xmlns:a16="http://schemas.microsoft.com/office/drawing/2014/main" id="{B4FFD6AD-FF83-040D-0C7B-C0AE1FD2FA7A}"/>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EAE1DCF-7181-2602-74AD-98D3B1016E21}"/>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1645325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9F1A1-7FF8-1ACE-7B6D-BE3FE47508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795EEC2-73E9-1ECD-160D-0286E97BF7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D7A7F0C-32E7-C27D-3692-CBB4911F94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A98B8F-74C8-9F6A-7C0A-34DD49C0BE41}"/>
              </a:ext>
            </a:extLst>
          </p:cNvPr>
          <p:cNvSpPr>
            <a:spLocks noGrp="1"/>
          </p:cNvSpPr>
          <p:nvPr>
            <p:ph type="dt" sz="half" idx="10"/>
          </p:nvPr>
        </p:nvSpPr>
        <p:spPr/>
        <p:txBody>
          <a:bodyPr/>
          <a:lstStyle/>
          <a:p>
            <a:fld id="{5F463B61-6203-441D-84D1-117238F43CDF}" type="datetimeFigureOut">
              <a:rPr lang="en-GB" smtClean="0"/>
              <a:t>12/10/2025</a:t>
            </a:fld>
            <a:endParaRPr lang="en-GB"/>
          </a:p>
        </p:txBody>
      </p:sp>
      <p:sp>
        <p:nvSpPr>
          <p:cNvPr id="6" name="Footer Placeholder 5">
            <a:extLst>
              <a:ext uri="{FF2B5EF4-FFF2-40B4-BE49-F238E27FC236}">
                <a16:creationId xmlns:a16="http://schemas.microsoft.com/office/drawing/2014/main" id="{B4F05507-2E1D-E586-5F21-4B0F5AED226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53BEB9D-D5CC-31D5-406F-1A9CB2C4CD13}"/>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1670360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009DF-98FE-2C67-29DD-F781E34B2D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79D064A-DD5B-0E25-E290-E3F19D797C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499C5A7-16B1-7344-377B-3478F7E1DD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863EBD-9042-9AB3-72B5-ACE6683D3D72}"/>
              </a:ext>
            </a:extLst>
          </p:cNvPr>
          <p:cNvSpPr>
            <a:spLocks noGrp="1"/>
          </p:cNvSpPr>
          <p:nvPr>
            <p:ph type="dt" sz="half" idx="10"/>
          </p:nvPr>
        </p:nvSpPr>
        <p:spPr/>
        <p:txBody>
          <a:bodyPr/>
          <a:lstStyle/>
          <a:p>
            <a:fld id="{5F463B61-6203-441D-84D1-117238F43CDF}" type="datetimeFigureOut">
              <a:rPr lang="en-GB" smtClean="0"/>
              <a:t>12/10/2025</a:t>
            </a:fld>
            <a:endParaRPr lang="en-GB"/>
          </a:p>
        </p:txBody>
      </p:sp>
      <p:sp>
        <p:nvSpPr>
          <p:cNvPr id="6" name="Footer Placeholder 5">
            <a:extLst>
              <a:ext uri="{FF2B5EF4-FFF2-40B4-BE49-F238E27FC236}">
                <a16:creationId xmlns:a16="http://schemas.microsoft.com/office/drawing/2014/main" id="{C8B1C70F-AF37-6CF0-BAF2-0FE2A0208F0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9CC3E2D-3218-89C6-DA97-1F706834BFE9}"/>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38207302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882C8-DD89-00B8-C8D0-422973B15BD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F56828E-2F7A-1A83-3E2B-8C73032608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A96389E-E157-5B23-339A-E8A88011607C}"/>
              </a:ext>
            </a:extLst>
          </p:cNvPr>
          <p:cNvSpPr>
            <a:spLocks noGrp="1"/>
          </p:cNvSpPr>
          <p:nvPr>
            <p:ph type="dt" sz="half" idx="10"/>
          </p:nvPr>
        </p:nvSpPr>
        <p:spPr/>
        <p:txBody>
          <a:bodyPr/>
          <a:lstStyle/>
          <a:p>
            <a:fld id="{5F463B61-6203-441D-84D1-117238F43CDF}" type="datetimeFigureOut">
              <a:rPr lang="en-GB" smtClean="0"/>
              <a:t>12/10/2025</a:t>
            </a:fld>
            <a:endParaRPr lang="en-GB"/>
          </a:p>
        </p:txBody>
      </p:sp>
      <p:sp>
        <p:nvSpPr>
          <p:cNvPr id="5" name="Footer Placeholder 4">
            <a:extLst>
              <a:ext uri="{FF2B5EF4-FFF2-40B4-BE49-F238E27FC236}">
                <a16:creationId xmlns:a16="http://schemas.microsoft.com/office/drawing/2014/main" id="{F0C2D040-F3DA-85E0-CA02-DAE8F6FD652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7930752-3CA9-879B-2810-36E8A95DF472}"/>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713762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52FD5A-FB18-69ED-0A8A-51D511E03AB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6814203-BEE2-A14F-DE97-86302B66500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E89A6B8-3507-A422-1BAF-1037B898D11E}"/>
              </a:ext>
            </a:extLst>
          </p:cNvPr>
          <p:cNvSpPr>
            <a:spLocks noGrp="1"/>
          </p:cNvSpPr>
          <p:nvPr>
            <p:ph type="dt" sz="half" idx="10"/>
          </p:nvPr>
        </p:nvSpPr>
        <p:spPr/>
        <p:txBody>
          <a:bodyPr/>
          <a:lstStyle/>
          <a:p>
            <a:fld id="{5F463B61-6203-441D-84D1-117238F43CDF}" type="datetimeFigureOut">
              <a:rPr lang="en-GB" smtClean="0"/>
              <a:t>12/10/2025</a:t>
            </a:fld>
            <a:endParaRPr lang="en-GB"/>
          </a:p>
        </p:txBody>
      </p:sp>
      <p:sp>
        <p:nvSpPr>
          <p:cNvPr id="5" name="Footer Placeholder 4">
            <a:extLst>
              <a:ext uri="{FF2B5EF4-FFF2-40B4-BE49-F238E27FC236}">
                <a16:creationId xmlns:a16="http://schemas.microsoft.com/office/drawing/2014/main" id="{7F68BC56-B751-7C34-1CC9-816F6097F0E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013642D-C4FE-186C-20D4-C36F2782A8FC}"/>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3408901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8C32B7-E828-F7BC-0F8F-A82A2BBBB7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287F938-7798-C878-8D2B-F535904546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6B89328-94BA-BDF5-2112-65D4D1CECC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463B61-6203-441D-84D1-117238F43CDF}" type="datetimeFigureOut">
              <a:rPr lang="en-GB" smtClean="0"/>
              <a:t>12/10/2025</a:t>
            </a:fld>
            <a:endParaRPr lang="en-GB"/>
          </a:p>
        </p:txBody>
      </p:sp>
      <p:sp>
        <p:nvSpPr>
          <p:cNvPr id="5" name="Footer Placeholder 4">
            <a:extLst>
              <a:ext uri="{FF2B5EF4-FFF2-40B4-BE49-F238E27FC236}">
                <a16:creationId xmlns:a16="http://schemas.microsoft.com/office/drawing/2014/main" id="{A1131F85-A1C1-F8FF-D62E-A3DEEF7001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0DA5DCC1-B1FD-C313-E4B8-559BC09C07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41E7075-23B8-4DBD-8CAA-21AD9A7FCBD4}" type="slidenum">
              <a:rPr lang="en-GB" smtClean="0"/>
              <a:t>‹#›</a:t>
            </a:fld>
            <a:endParaRPr lang="en-GB"/>
          </a:p>
        </p:txBody>
      </p:sp>
    </p:spTree>
    <p:extLst>
      <p:ext uri="{BB962C8B-B14F-4D97-AF65-F5344CB8AC3E}">
        <p14:creationId xmlns:p14="http://schemas.microsoft.com/office/powerpoint/2010/main" val="827725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jpe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EE55B432-1C50-B59C-54DC-345D607283D6}"/>
              </a:ext>
            </a:extLst>
          </p:cNvPr>
          <p:cNvSpPr txBox="1"/>
          <p:nvPr/>
        </p:nvSpPr>
        <p:spPr>
          <a:xfrm>
            <a:off x="1449859" y="2018953"/>
            <a:ext cx="9292281"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FF0000"/>
                </a:solidFill>
                <a:effectLst/>
                <a:uLnTx/>
                <a:uFillTx/>
                <a:latin typeface="Calibri" panose="020F0502020204030204" pitchFamily="34" charset="0"/>
                <a:ea typeface="SimSun" panose="02010600030101010101" pitchFamily="2" charset="-122"/>
                <a:cs typeface="+mn-cs"/>
              </a:rPr>
              <a:t>Machine Learning, Deep Learning, and Security.</a:t>
            </a:r>
            <a:endParaRPr kumimoji="0" lang="en-GB" sz="3200" b="0" i="0" u="none" strike="noStrike" kern="1200" cap="none" spc="0" normalizeH="0" baseline="0" noProof="0" dirty="0">
              <a:ln>
                <a:noFill/>
              </a:ln>
              <a:solidFill>
                <a:srgbClr val="FF0000"/>
              </a:solidFill>
              <a:effectLst/>
              <a:uLnTx/>
              <a:uFillTx/>
              <a:latin typeface="Aptos" panose="02110004020202020204"/>
              <a:ea typeface="+mn-ea"/>
              <a:cs typeface="+mn-cs"/>
            </a:endParaRPr>
          </a:p>
        </p:txBody>
      </p:sp>
    </p:spTree>
    <p:extLst>
      <p:ext uri="{BB962C8B-B14F-4D97-AF65-F5344CB8AC3E}">
        <p14:creationId xmlns:p14="http://schemas.microsoft.com/office/powerpoint/2010/main" val="5972182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2B89D-5501-64D5-0548-493BA0A59FF7}"/>
              </a:ext>
            </a:extLst>
          </p:cNvPr>
          <p:cNvSpPr>
            <a:spLocks noGrp="1"/>
          </p:cNvSpPr>
          <p:nvPr>
            <p:ph type="title"/>
          </p:nvPr>
        </p:nvSpPr>
        <p:spPr>
          <a:xfrm>
            <a:off x="-1398242" y="1617327"/>
            <a:ext cx="7494241" cy="535460"/>
          </a:xfrm>
        </p:spPr>
        <p:txBody>
          <a:bodyPr>
            <a:normAutofit fontScale="90000"/>
          </a:bodyPr>
          <a:lstStyle/>
          <a:p>
            <a:pPr algn="ctr"/>
            <a:r>
              <a:rPr lang="en-GB" sz="2200" b="0" i="0" u="none" strike="noStrike" baseline="0" dirty="0">
                <a:solidFill>
                  <a:srgbClr val="E22353"/>
                </a:solidFill>
                <a:latin typeface="Calibri-Light"/>
              </a:rPr>
              <a:t>1.1.1 Artificial Intelligence</a:t>
            </a:r>
            <a:br>
              <a:rPr lang="en-GB" sz="2200" b="0" i="0" u="none" strike="noStrike" baseline="0" dirty="0">
                <a:solidFill>
                  <a:srgbClr val="E22353"/>
                </a:solidFill>
                <a:latin typeface="Calibri-Light"/>
              </a:rPr>
            </a:br>
            <a:r>
              <a:rPr lang="en-GB" sz="2200" b="0" i="0" u="none" strike="noStrike" baseline="0" dirty="0">
                <a:solidFill>
                  <a:srgbClr val="E22353"/>
                </a:solidFill>
                <a:latin typeface="Calibri-Light"/>
              </a:rPr>
              <a:t>                                    </a:t>
            </a:r>
            <a:r>
              <a:rPr lang="en-GB" sz="2200" b="0" i="0" u="none" strike="noStrike" baseline="0" dirty="0">
                <a:solidFill>
                  <a:srgbClr val="4420B4"/>
                </a:solidFill>
                <a:latin typeface="Calibri" panose="020F0502020204030204" pitchFamily="34" charset="0"/>
              </a:rPr>
              <a:t>Refers to the simulation of human intelligence</a:t>
            </a:r>
            <a:br>
              <a:rPr lang="en-GB" sz="1800" b="0" i="0" u="none" strike="noStrike" baseline="0" dirty="0">
                <a:solidFill>
                  <a:srgbClr val="FFFFFF"/>
                </a:solidFill>
                <a:latin typeface="Verdana" panose="020B0604030504040204" pitchFamily="34" charset="0"/>
              </a:rPr>
            </a:br>
            <a:endParaRPr lang="en-GB" dirty="0"/>
          </a:p>
        </p:txBody>
      </p:sp>
      <p:sp>
        <p:nvSpPr>
          <p:cNvPr id="3" name="Content Placeholder 2">
            <a:extLst>
              <a:ext uri="{FF2B5EF4-FFF2-40B4-BE49-F238E27FC236}">
                <a16:creationId xmlns:a16="http://schemas.microsoft.com/office/drawing/2014/main" id="{895C8480-C93E-DA7F-8C9E-3BA33B21B606}"/>
              </a:ext>
            </a:extLst>
          </p:cNvPr>
          <p:cNvSpPr>
            <a:spLocks noGrp="1"/>
          </p:cNvSpPr>
          <p:nvPr>
            <p:ph idx="1"/>
          </p:nvPr>
        </p:nvSpPr>
        <p:spPr>
          <a:xfrm>
            <a:off x="988779" y="2584205"/>
            <a:ext cx="10515600" cy="983478"/>
          </a:xfrm>
        </p:spPr>
        <p:txBody>
          <a:bodyPr/>
          <a:lstStyle/>
          <a:p>
            <a:r>
              <a:rPr lang="en-GB" dirty="0">
                <a:solidFill>
                  <a:srgbClr val="000000"/>
                </a:solidFill>
                <a:latin typeface="Verdana" panose="020B0604030504040204" pitchFamily="34" charset="0"/>
              </a:rPr>
              <a:t>Mimicking the intelligence or </a:t>
            </a:r>
            <a:r>
              <a:rPr lang="en-GB" dirty="0" err="1">
                <a:solidFill>
                  <a:srgbClr val="000000"/>
                </a:solidFill>
                <a:latin typeface="Verdana" panose="020B0604030504040204" pitchFamily="34" charset="0"/>
              </a:rPr>
              <a:t>behavioral</a:t>
            </a:r>
            <a:r>
              <a:rPr lang="en-GB" dirty="0">
                <a:solidFill>
                  <a:srgbClr val="000000"/>
                </a:solidFill>
                <a:latin typeface="Verdana" panose="020B0604030504040204" pitchFamily="34" charset="0"/>
              </a:rPr>
              <a:t> pattern of humans or any other living entity.</a:t>
            </a:r>
            <a:endParaRPr lang="en-GB" dirty="0"/>
          </a:p>
        </p:txBody>
      </p:sp>
      <p:sp>
        <p:nvSpPr>
          <p:cNvPr id="5" name="TextBox 4">
            <a:extLst>
              <a:ext uri="{FF2B5EF4-FFF2-40B4-BE49-F238E27FC236}">
                <a16:creationId xmlns:a16="http://schemas.microsoft.com/office/drawing/2014/main" id="{7AED9F7C-4695-88D1-83AD-DCAFAC564443}"/>
              </a:ext>
            </a:extLst>
          </p:cNvPr>
          <p:cNvSpPr txBox="1"/>
          <p:nvPr/>
        </p:nvSpPr>
        <p:spPr>
          <a:xfrm>
            <a:off x="9088603" y="5709350"/>
            <a:ext cx="255373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highlight>
                  <a:srgbClr val="FF0000"/>
                </a:highlight>
                <a:uLnTx/>
                <a:uFillTx/>
                <a:latin typeface="Aptos" panose="02110004020202020204"/>
                <a:ea typeface="+mn-ea"/>
                <a:cs typeface="+mn-cs"/>
              </a:rPr>
              <a:t>Artificial</a:t>
            </a:r>
            <a:r>
              <a:rPr kumimoji="0" lang="en-GB" sz="1800" b="0" i="0" u="none" strike="noStrike" kern="1200" cap="none" spc="0" normalizeH="0" baseline="0" noProof="0" dirty="0">
                <a:ln>
                  <a:noFill/>
                </a:ln>
                <a:solidFill>
                  <a:prstClr val="black"/>
                </a:solidFill>
                <a:effectLst/>
                <a:highlight>
                  <a:srgbClr val="FF0000"/>
                </a:highlight>
                <a:uLnTx/>
                <a:uFillTx/>
                <a:latin typeface="Aptos" panose="02110004020202020204"/>
                <a:ea typeface="+mn-ea"/>
                <a:cs typeface="+mn-cs"/>
              </a:rPr>
              <a:t>  </a:t>
            </a:r>
            <a:r>
              <a:rPr kumimoji="0" lang="en-GB" sz="1800" b="1" i="0" u="none" strike="noStrike" kern="1200" cap="none" spc="0" normalizeH="0" baseline="0" noProof="0" dirty="0">
                <a:ln>
                  <a:noFill/>
                </a:ln>
                <a:solidFill>
                  <a:prstClr val="white"/>
                </a:solidFill>
                <a:effectLst/>
                <a:highlight>
                  <a:srgbClr val="FF0000"/>
                </a:highlight>
                <a:uLnTx/>
                <a:uFillTx/>
                <a:latin typeface="Aptos" panose="02110004020202020204"/>
                <a:ea typeface="+mn-ea"/>
                <a:cs typeface="+mn-cs"/>
              </a:rPr>
              <a:t>Intelligence</a:t>
            </a:r>
          </a:p>
        </p:txBody>
      </p:sp>
      <p:sp>
        <p:nvSpPr>
          <p:cNvPr id="6" name="TextBox 5">
            <a:extLst>
              <a:ext uri="{FF2B5EF4-FFF2-40B4-BE49-F238E27FC236}">
                <a16:creationId xmlns:a16="http://schemas.microsoft.com/office/drawing/2014/main" id="{44A6660E-B4C1-46D9-1C8B-AEC84B7A9130}"/>
              </a:ext>
            </a:extLst>
          </p:cNvPr>
          <p:cNvSpPr txBox="1"/>
          <p:nvPr/>
        </p:nvSpPr>
        <p:spPr>
          <a:xfrm>
            <a:off x="988779" y="4009767"/>
            <a:ext cx="7462299"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ar-DZ" sz="3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تقليد نمط الذكاء أو السلوك البشري أو أي كائن حي اخر.</a:t>
            </a:r>
            <a:endParaRPr kumimoji="0" lang="en-GB" sz="3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TextBox 6">
            <a:extLst>
              <a:ext uri="{FF2B5EF4-FFF2-40B4-BE49-F238E27FC236}">
                <a16:creationId xmlns:a16="http://schemas.microsoft.com/office/drawing/2014/main" id="{D17900FD-3C23-E40A-994E-033B2C4423AE}"/>
              </a:ext>
            </a:extLst>
          </p:cNvPr>
          <p:cNvSpPr txBox="1"/>
          <p:nvPr/>
        </p:nvSpPr>
        <p:spPr>
          <a:xfrm>
            <a:off x="4254843" y="232505"/>
            <a:ext cx="3682313" cy="461665"/>
          </a:xfrm>
          <a:prstGeom prst="rect">
            <a:avLst/>
          </a:prstGeom>
          <a:noFill/>
        </p:spPr>
        <p:txBody>
          <a:bodyPr wrap="square">
            <a:spAutoFit/>
          </a:bodyPr>
          <a:lstStyle/>
          <a:p>
            <a:pPr marL="0" marR="37465" lvl="0" indent="0" algn="ctr" defTabSz="914400" rtl="0" eaLnBrk="1" fontAlgn="auto" latinLnBrk="0" hangingPunct="1">
              <a:lnSpc>
                <a:spcPct val="100000"/>
              </a:lnSpc>
              <a:spcBef>
                <a:spcPts val="0"/>
              </a:spcBef>
              <a:spcAft>
                <a:spcPts val="0"/>
              </a:spcAft>
              <a:buClrTx/>
              <a:buSzTx/>
              <a:buFontTx/>
              <a:buNone/>
              <a:tabLst>
                <a:tab pos="2365375" algn="l"/>
              </a:tabLst>
              <a:defRPr/>
            </a:pPr>
            <a:r>
              <a:rPr kumimoji="0" lang="en-US" sz="2400" b="1" i="0" u="none" strike="noStrike" kern="1200" cap="none" spc="0" normalizeH="0" baseline="0" noProof="0" dirty="0">
                <a:ln>
                  <a:noFill/>
                </a:ln>
                <a:solidFill>
                  <a:srgbClr val="FF0000"/>
                </a:solidFill>
                <a:effectLst/>
                <a:uLnTx/>
                <a:uFillTx/>
                <a:latin typeface="Calibri" panose="020F0502020204030204" pitchFamily="34" charset="0"/>
                <a:ea typeface="Arial" panose="020B0604020202020204" pitchFamily="34" charset="0"/>
                <a:cs typeface="+mn-cs"/>
              </a:rPr>
              <a:t>1. Machine Learning (ML).</a:t>
            </a:r>
            <a:endParaRPr kumimoji="0" lang="en-GB" sz="2400" b="1" i="0" u="none" strike="noStrike" kern="1200" cap="none" spc="0" normalizeH="0" baseline="0" noProof="0" dirty="0">
              <a:ln>
                <a:noFill/>
              </a:ln>
              <a:solidFill>
                <a:srgbClr val="FF0000"/>
              </a:solidFill>
              <a:effectLst/>
              <a:uLnTx/>
              <a:uFillTx/>
              <a:latin typeface="Times New Roman" panose="02020603050405020304" pitchFamily="18" charset="0"/>
              <a:ea typeface="SimSun" panose="02010600030101010101" pitchFamily="2" charset="-122"/>
              <a:cs typeface="+mn-cs"/>
            </a:endParaRPr>
          </a:p>
        </p:txBody>
      </p:sp>
      <p:pic>
        <p:nvPicPr>
          <p:cNvPr id="1026" name="Picture 2" descr="L'IA va-t-elle remplacer les développeurs ?">
            <a:extLst>
              <a:ext uri="{FF2B5EF4-FFF2-40B4-BE49-F238E27FC236}">
                <a16:creationId xmlns:a16="http://schemas.microsoft.com/office/drawing/2014/main" id="{2A2D1C35-CE27-997C-3BA2-8F279666C6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23470" y="3567683"/>
            <a:ext cx="2918864" cy="19423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3657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363BD-764D-3D2E-4FCA-D644FED811CF}"/>
              </a:ext>
            </a:extLst>
          </p:cNvPr>
          <p:cNvSpPr>
            <a:spLocks noGrp="1"/>
          </p:cNvSpPr>
          <p:nvPr>
            <p:ph type="title"/>
          </p:nvPr>
        </p:nvSpPr>
        <p:spPr>
          <a:xfrm>
            <a:off x="3326027" y="2861190"/>
            <a:ext cx="7053649" cy="442183"/>
          </a:xfrm>
        </p:spPr>
        <p:txBody>
          <a:bodyPr>
            <a:noAutofit/>
          </a:bodyPr>
          <a:lstStyle/>
          <a:p>
            <a:r>
              <a:rPr lang="en-GB" sz="6000" b="0" i="0" u="none" strike="noStrike" baseline="0" dirty="0">
                <a:latin typeface="Calibri-Light"/>
              </a:rPr>
              <a:t>What is ML?</a:t>
            </a:r>
            <a:endParaRPr lang="en-GB" sz="6000" dirty="0"/>
          </a:p>
        </p:txBody>
      </p:sp>
    </p:spTree>
    <p:extLst>
      <p:ext uri="{BB962C8B-B14F-4D97-AF65-F5344CB8AC3E}">
        <p14:creationId xmlns:p14="http://schemas.microsoft.com/office/powerpoint/2010/main" val="22271395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EB86C-BA04-BA97-ACA8-80344F0022BB}"/>
              </a:ext>
            </a:extLst>
          </p:cNvPr>
          <p:cNvSpPr>
            <a:spLocks noGrp="1"/>
          </p:cNvSpPr>
          <p:nvPr>
            <p:ph type="ctrTitle"/>
          </p:nvPr>
        </p:nvSpPr>
        <p:spPr>
          <a:xfrm>
            <a:off x="1219200" y="107092"/>
            <a:ext cx="9144000" cy="906806"/>
          </a:xfrm>
        </p:spPr>
        <p:txBody>
          <a:bodyPr>
            <a:normAutofit fontScale="90000"/>
          </a:bodyPr>
          <a:lstStyle/>
          <a:p>
            <a:r>
              <a:rPr lang="en-GB" dirty="0"/>
              <a:t>Machine learning </a:t>
            </a:r>
          </a:p>
        </p:txBody>
      </p:sp>
      <p:sp>
        <p:nvSpPr>
          <p:cNvPr id="3" name="Subtitle 2">
            <a:extLst>
              <a:ext uri="{FF2B5EF4-FFF2-40B4-BE49-F238E27FC236}">
                <a16:creationId xmlns:a16="http://schemas.microsoft.com/office/drawing/2014/main" id="{05669007-CAB2-2254-5D06-D190C6EE27A2}"/>
              </a:ext>
            </a:extLst>
          </p:cNvPr>
          <p:cNvSpPr>
            <a:spLocks noGrp="1"/>
          </p:cNvSpPr>
          <p:nvPr>
            <p:ph type="subTitle" idx="1"/>
          </p:nvPr>
        </p:nvSpPr>
        <p:spPr>
          <a:xfrm>
            <a:off x="1103869" y="1013898"/>
            <a:ext cx="9621795" cy="316858"/>
          </a:xfrm>
        </p:spPr>
        <p:txBody>
          <a:bodyPr>
            <a:normAutofit fontScale="85000" lnSpcReduction="20000"/>
          </a:bodyPr>
          <a:lstStyle/>
          <a:p>
            <a:r>
              <a:rPr lang="ar-DZ" b="1" dirty="0"/>
              <a:t>تعلــــــــــــــــــــــــــــم</a:t>
            </a:r>
            <a:r>
              <a:rPr lang="ar-DZ" dirty="0"/>
              <a:t> </a:t>
            </a:r>
            <a:r>
              <a:rPr lang="ar-DZ" b="1" dirty="0"/>
              <a:t>الالــــــــــة</a:t>
            </a:r>
          </a:p>
          <a:p>
            <a:endParaRPr lang="en-GB" dirty="0"/>
          </a:p>
        </p:txBody>
      </p:sp>
      <p:sp>
        <p:nvSpPr>
          <p:cNvPr id="5" name="TextBox 4">
            <a:extLst>
              <a:ext uri="{FF2B5EF4-FFF2-40B4-BE49-F238E27FC236}">
                <a16:creationId xmlns:a16="http://schemas.microsoft.com/office/drawing/2014/main" id="{7601A5AD-40DC-F1DD-F29A-02E86208DBBA}"/>
              </a:ext>
            </a:extLst>
          </p:cNvPr>
          <p:cNvSpPr txBox="1"/>
          <p:nvPr/>
        </p:nvSpPr>
        <p:spPr>
          <a:xfrm>
            <a:off x="3295135" y="1034155"/>
            <a:ext cx="4736757"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srgbClr val="E22353"/>
                </a:solidFill>
                <a:effectLst/>
                <a:uLnTx/>
                <a:uFillTx/>
                <a:latin typeface="Calibri-Light"/>
                <a:ea typeface="+mn-ea"/>
                <a:cs typeface="+mn-cs"/>
              </a:rPr>
              <a:t>ML</a:t>
            </a:r>
            <a:r>
              <a:rPr kumimoji="0" lang="ar-DZ" sz="3600" b="0" i="0" u="none" strike="noStrike" kern="1200" cap="none" spc="0" normalizeH="0" baseline="0" noProof="0" dirty="0">
                <a:ln>
                  <a:noFill/>
                </a:ln>
                <a:solidFill>
                  <a:srgbClr val="E22353"/>
                </a:solidFill>
                <a:effectLst/>
                <a:uLnTx/>
                <a:uFillTx/>
                <a:latin typeface="Calibri-Light"/>
                <a:ea typeface="+mn-ea"/>
                <a:cs typeface="Arial" panose="020B0604020202020204" pitchFamily="34" charset="0"/>
              </a:rPr>
              <a:t> </a:t>
            </a:r>
            <a:r>
              <a:rPr kumimoji="0" lang="en-GB" sz="1800" b="0" i="0" u="none" strike="noStrike" kern="1200" cap="none" spc="0" normalizeH="0" baseline="0" noProof="0" dirty="0">
                <a:ln>
                  <a:noFill/>
                </a:ln>
                <a:solidFill>
                  <a:srgbClr val="4420B4"/>
                </a:solidFill>
                <a:effectLst/>
                <a:uLnTx/>
                <a:uFillTx/>
                <a:latin typeface="Calibri" panose="020F0502020204030204" pitchFamily="34" charset="0"/>
                <a:ea typeface="+mn-ea"/>
                <a:cs typeface="+mn-cs"/>
              </a:rPr>
              <a:t>Enables computers to learn from data</a:t>
            </a:r>
            <a:endPar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TextBox 6">
            <a:extLst>
              <a:ext uri="{FF2B5EF4-FFF2-40B4-BE49-F238E27FC236}">
                <a16:creationId xmlns:a16="http://schemas.microsoft.com/office/drawing/2014/main" id="{DA821E32-A8B0-7D2E-64A5-99555B6714B2}"/>
              </a:ext>
            </a:extLst>
          </p:cNvPr>
          <p:cNvSpPr txBox="1"/>
          <p:nvPr/>
        </p:nvSpPr>
        <p:spPr>
          <a:xfrm>
            <a:off x="448962" y="1975538"/>
            <a:ext cx="11458833" cy="203132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a:ln>
                  <a:noFill/>
                </a:ln>
                <a:solidFill>
                  <a:srgbClr val="FF0000"/>
                </a:solidFill>
                <a:effectLst/>
                <a:uLnTx/>
                <a:uFillTx/>
                <a:latin typeface="Proxima Nova Rg"/>
                <a:ea typeface="+mn-ea"/>
                <a:cs typeface="+mn-cs"/>
              </a:rPr>
              <a:t>ML</a:t>
            </a:r>
            <a:r>
              <a:rPr kumimoji="0" lang="en-GB" sz="1800" b="0" i="0" u="none" strike="noStrike" kern="1200" cap="none" spc="0" normalizeH="0" baseline="0" noProof="0" dirty="0">
                <a:ln>
                  <a:noFill/>
                </a:ln>
                <a:solidFill>
                  <a:srgbClr val="FF0000"/>
                </a:solidFill>
                <a:effectLst/>
                <a:uLnTx/>
                <a:uFillTx/>
                <a:latin typeface="Proxima Nova Rg"/>
                <a:ea typeface="+mn-ea"/>
                <a:cs typeface="+mn-cs"/>
              </a:rPr>
              <a:t> </a:t>
            </a:r>
            <a:r>
              <a:rPr kumimoji="0" lang="en-GB" sz="1800" b="0" i="0" u="none" strike="noStrike" kern="1200" cap="none" spc="0" normalizeH="0" baseline="0" noProof="0" dirty="0">
                <a:ln>
                  <a:noFill/>
                </a:ln>
                <a:solidFill>
                  <a:srgbClr val="1D1F20"/>
                </a:solidFill>
                <a:effectLst/>
                <a:uLnTx/>
                <a:uFillTx/>
                <a:latin typeface="Proxima Nova Rg"/>
                <a:ea typeface="+mn-ea"/>
                <a:cs typeface="+mn-cs"/>
              </a:rPr>
              <a:t>is a branch of arti</a:t>
            </a:r>
            <a:r>
              <a:rPr kumimoji="0" lang="en-GB" sz="1800" b="0" i="0" u="none" strike="noStrike" kern="1200" cap="none" spc="0" normalizeH="0" baseline="0" noProof="0" dirty="0">
                <a:ln>
                  <a:noFill/>
                </a:ln>
                <a:solidFill>
                  <a:srgbClr val="000000"/>
                </a:solidFill>
                <a:effectLst/>
                <a:uLnTx/>
                <a:uFillTx/>
                <a:latin typeface="Proxima Nova Rg"/>
                <a:ea typeface="+mn-ea"/>
                <a:cs typeface="+mn-cs"/>
              </a:rPr>
              <a:t>fi</a:t>
            </a:r>
            <a:r>
              <a:rPr kumimoji="0" lang="en-GB" sz="1800" b="0" i="0" u="none" strike="noStrike" kern="1200" cap="none" spc="0" normalizeH="0" baseline="0" noProof="0" dirty="0">
                <a:ln>
                  <a:noFill/>
                </a:ln>
                <a:solidFill>
                  <a:srgbClr val="1D1F20"/>
                </a:solidFill>
                <a:effectLst/>
                <a:uLnTx/>
                <a:uFillTx/>
                <a:latin typeface="Proxima Nova Rg"/>
                <a:ea typeface="+mn-ea"/>
                <a:cs typeface="+mn-cs"/>
              </a:rPr>
              <a:t>cial intelligence (</a:t>
            </a:r>
            <a:r>
              <a:rPr kumimoji="0" lang="en-GB" sz="1800" b="1" i="0" u="none" strike="noStrike" kern="1200" cap="none" spc="0" normalizeH="0" baseline="0" noProof="0" dirty="0">
                <a:ln>
                  <a:noFill/>
                </a:ln>
                <a:solidFill>
                  <a:srgbClr val="FF0000"/>
                </a:solidFill>
                <a:effectLst/>
                <a:uLnTx/>
                <a:uFillTx/>
                <a:latin typeface="Proxima Nova Rg"/>
                <a:ea typeface="+mn-ea"/>
                <a:cs typeface="+mn-cs"/>
              </a:rPr>
              <a:t>AI</a:t>
            </a:r>
            <a:r>
              <a:rPr kumimoji="0" lang="en-GB" sz="1800" b="0" i="0" u="none" strike="noStrike" kern="1200" cap="none" spc="0" normalizeH="0" baseline="0" noProof="0" dirty="0">
                <a:ln>
                  <a:noFill/>
                </a:ln>
                <a:solidFill>
                  <a:srgbClr val="1D1F20"/>
                </a:solidFill>
                <a:effectLst/>
                <a:uLnTx/>
                <a:uFillTx/>
                <a:latin typeface="Proxima Nova Rg"/>
                <a:ea typeface="+mn-ea"/>
                <a:cs typeface="+mn-cs"/>
              </a:rPr>
              <a:t>) that allows computers to automatically learn from data.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A technique by which a computer</a:t>
            </a:r>
            <a:r>
              <a:rPr kumimoji="0" lang="ar-DZ" sz="1800" b="0" i="0" u="none" strike="noStrike" kern="1200" cap="none" spc="0" normalizeH="0" baseline="0" noProof="0" dirty="0">
                <a:ln>
                  <a:noFill/>
                </a:ln>
                <a:solidFill>
                  <a:prstClr val="black"/>
                </a:solidFill>
                <a:effectLst/>
                <a:uLnTx/>
                <a:uFillTx/>
                <a:latin typeface="Verdana" panose="020B0604030504040204" pitchFamily="34" charset="0"/>
                <a:ea typeface="+mn-ea"/>
                <a:cs typeface="Times New Roman" panose="02020603050405020304" pitchFamily="18" charset="0"/>
              </a:rPr>
              <a:t> </a:t>
            </a:r>
            <a:r>
              <a:rPr kumimoji="0" lang="en-GB" sz="18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can “</a:t>
            </a:r>
            <a:r>
              <a:rPr kumimoji="0" lang="en-GB" sz="1800" b="1" i="0" u="none" strike="noStrike" kern="1200" cap="none" spc="0" normalizeH="0" baseline="0" noProof="0" dirty="0">
                <a:ln>
                  <a:noFill/>
                </a:ln>
                <a:solidFill>
                  <a:srgbClr val="FF0000"/>
                </a:solidFill>
                <a:effectLst/>
                <a:uLnTx/>
                <a:uFillTx/>
                <a:latin typeface="Verdana" panose="020B0604030504040204" pitchFamily="34" charset="0"/>
                <a:ea typeface="+mn-ea"/>
                <a:cs typeface="+mn-cs"/>
              </a:rPr>
              <a:t>learn</a:t>
            </a:r>
            <a:r>
              <a:rPr kumimoji="0" lang="en-GB" sz="18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 from </a:t>
            </a:r>
            <a:r>
              <a:rPr kumimoji="0" lang="en-GB" sz="1800" b="1" i="0" u="sng" strike="noStrike" kern="1200" cap="none" spc="0" normalizeH="0" baseline="0" noProof="0" dirty="0">
                <a:ln>
                  <a:noFill/>
                </a:ln>
                <a:solidFill>
                  <a:srgbClr val="FF0000"/>
                </a:solidFill>
                <a:effectLst/>
                <a:uLnTx/>
                <a:uFillTx/>
                <a:latin typeface="Verdana" panose="020B0604030504040204" pitchFamily="34" charset="0"/>
                <a:ea typeface="+mn-ea"/>
                <a:cs typeface="+mn-cs"/>
              </a:rPr>
              <a:t>data</a:t>
            </a:r>
            <a:r>
              <a:rPr kumimoji="0" lang="en-GB" sz="18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 without</a:t>
            </a:r>
            <a:r>
              <a:rPr kumimoji="0" lang="ar-DZ" sz="1800" b="0" i="0" u="none" strike="noStrike" kern="1200" cap="none" spc="0" normalizeH="0" baseline="0" noProof="0" dirty="0">
                <a:ln>
                  <a:noFill/>
                </a:ln>
                <a:solidFill>
                  <a:prstClr val="black"/>
                </a:solidFill>
                <a:effectLst/>
                <a:uLnTx/>
                <a:uFillTx/>
                <a:latin typeface="Verdana" panose="020B0604030504040204" pitchFamily="34" charset="0"/>
                <a:ea typeface="+mn-ea"/>
                <a:cs typeface="Times New Roman" panose="02020603050405020304" pitchFamily="18" charset="0"/>
              </a:rPr>
              <a:t> </a:t>
            </a:r>
            <a:r>
              <a:rPr kumimoji="0" lang="en-GB" sz="18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using a complex set of rules.</a:t>
            </a:r>
            <a:endParaRPr kumimoji="0" lang="ar-DZ" sz="1800" b="0" i="0" u="none" strike="noStrike" kern="1200" cap="none" spc="0" normalizeH="0" baseline="0" noProof="0" dirty="0">
              <a:ln>
                <a:noFill/>
              </a:ln>
              <a:solidFill>
                <a:prstClr val="black"/>
              </a:solidFill>
              <a:effectLst/>
              <a:uLnTx/>
              <a:uFillTx/>
              <a:latin typeface="Verdana" panose="020B0604030504040204" pitchFamily="34"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Mainly based on </a:t>
            </a:r>
            <a:r>
              <a:rPr kumimoji="0" lang="en-GB" sz="1800" b="1" i="0" u="none" strike="noStrike" kern="1200" cap="none" spc="0" normalizeH="0" baseline="0" noProof="0" dirty="0">
                <a:ln>
                  <a:noFill/>
                </a:ln>
                <a:solidFill>
                  <a:srgbClr val="FF0000"/>
                </a:solidFill>
                <a:effectLst/>
                <a:uLnTx/>
                <a:uFillTx/>
                <a:latin typeface="Verdana" panose="020B0604030504040204" pitchFamily="34" charset="0"/>
                <a:ea typeface="+mn-ea"/>
                <a:cs typeface="+mn-cs"/>
              </a:rPr>
              <a:t>training</a:t>
            </a:r>
            <a:r>
              <a:rPr kumimoji="0" lang="en-GB" sz="18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 a </a:t>
            </a:r>
            <a:r>
              <a:rPr kumimoji="0" lang="en-GB" sz="1800" b="1" i="0" u="none" strike="noStrike" kern="1200" cap="none" spc="0" normalizeH="0" baseline="0" noProof="0" dirty="0">
                <a:ln>
                  <a:noFill/>
                </a:ln>
                <a:solidFill>
                  <a:srgbClr val="FF0000"/>
                </a:solidFill>
                <a:effectLst/>
                <a:uLnTx/>
                <a:uFillTx/>
                <a:latin typeface="Verdana" panose="020B0604030504040204" pitchFamily="34" charset="0"/>
                <a:ea typeface="+mn-ea"/>
                <a:cs typeface="+mn-cs"/>
              </a:rPr>
              <a:t>model</a:t>
            </a:r>
            <a:r>
              <a:rPr kumimoji="0" lang="ar-DZ" sz="1800" b="0" i="0" u="none" strike="noStrike" kern="1200" cap="none" spc="0" normalizeH="0" baseline="0" noProof="0" dirty="0">
                <a:ln>
                  <a:noFill/>
                </a:ln>
                <a:solidFill>
                  <a:prstClr val="black"/>
                </a:solidFill>
                <a:effectLst/>
                <a:uLnTx/>
                <a:uFillTx/>
                <a:latin typeface="Verdana" panose="020B0604030504040204" pitchFamily="34" charset="0"/>
                <a:ea typeface="+mn-ea"/>
                <a:cs typeface="Times New Roman" panose="02020603050405020304" pitchFamily="18" charset="0"/>
              </a:rPr>
              <a:t> </a:t>
            </a:r>
            <a:r>
              <a:rPr kumimoji="0" lang="en-GB" sz="18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from </a:t>
            </a:r>
            <a:r>
              <a:rPr kumimoji="0" lang="en-GB" sz="1800" b="1" i="0" u="none" strike="noStrike" kern="1200" cap="none" spc="0" normalizeH="0" baseline="0" noProof="0" dirty="0">
                <a:ln>
                  <a:noFill/>
                </a:ln>
                <a:solidFill>
                  <a:srgbClr val="FF0000"/>
                </a:solidFill>
                <a:effectLst/>
                <a:uLnTx/>
                <a:uFillTx/>
                <a:latin typeface="Verdana" panose="020B0604030504040204" pitchFamily="34" charset="0"/>
                <a:ea typeface="+mn-ea"/>
                <a:cs typeface="+mn-cs"/>
              </a:rPr>
              <a:t>datasets</a:t>
            </a:r>
            <a:r>
              <a:rPr kumimoji="0" lang="ar-DZ" sz="1800" b="0" i="0" u="none" strike="noStrike" kern="1200" cap="none" spc="0" normalizeH="0" baseline="0" noProof="0" dirty="0">
                <a:ln>
                  <a:noFill/>
                </a:ln>
                <a:solidFill>
                  <a:prstClr val="black"/>
                </a:solidFill>
                <a:effectLst/>
                <a:uLnTx/>
                <a:uFillTx/>
                <a:latin typeface="Verdana" panose="020B0604030504040204" pitchFamily="34" charset="0"/>
                <a:ea typeface="+mn-ea"/>
                <a:cs typeface="Times New Roman" panose="02020603050405020304" pitchFamily="18" charset="0"/>
              </a:rPr>
              <a:t>.</a:t>
            </a:r>
            <a:endParaRPr kumimoji="0" lang="en-GB" sz="18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Proxima Nova Rg"/>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Proxima Nova Rg"/>
                <a:ea typeface="+mn-ea"/>
                <a:cs typeface="+mn-cs"/>
              </a:rPr>
              <a:t> </a:t>
            </a:r>
          </a:p>
        </p:txBody>
      </p:sp>
      <p:sp>
        <p:nvSpPr>
          <p:cNvPr id="8" name="Flowchart: Connector 7">
            <a:extLst>
              <a:ext uri="{FF2B5EF4-FFF2-40B4-BE49-F238E27FC236}">
                <a16:creationId xmlns:a16="http://schemas.microsoft.com/office/drawing/2014/main" id="{60C04670-4AB8-8275-4373-EE625D7C2E31}"/>
              </a:ext>
            </a:extLst>
          </p:cNvPr>
          <p:cNvSpPr/>
          <p:nvPr/>
        </p:nvSpPr>
        <p:spPr>
          <a:xfrm>
            <a:off x="7959644" y="3242275"/>
            <a:ext cx="3633054" cy="3317789"/>
          </a:xfrm>
          <a:prstGeom prst="flowChartConnector">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highlight>
                <a:srgbClr val="FF0000"/>
              </a:highligh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B045CEF4-407E-FE7A-9FD9-6770C41D0E69}"/>
              </a:ext>
            </a:extLst>
          </p:cNvPr>
          <p:cNvSpPr txBox="1"/>
          <p:nvPr/>
        </p:nvSpPr>
        <p:spPr>
          <a:xfrm>
            <a:off x="8524019" y="3615725"/>
            <a:ext cx="255373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highlight>
                  <a:srgbClr val="FF0000"/>
                </a:highlight>
                <a:uLnTx/>
                <a:uFillTx/>
                <a:latin typeface="Aptos" panose="02110004020202020204"/>
                <a:ea typeface="+mn-ea"/>
                <a:cs typeface="+mn-cs"/>
              </a:rPr>
              <a:t>Artificial</a:t>
            </a:r>
            <a:r>
              <a:rPr kumimoji="0" lang="en-GB" sz="1800" b="0" i="0" u="none" strike="noStrike" kern="1200" cap="none" spc="0" normalizeH="0" baseline="0" noProof="0" dirty="0">
                <a:ln>
                  <a:noFill/>
                </a:ln>
                <a:solidFill>
                  <a:prstClr val="black"/>
                </a:solidFill>
                <a:effectLst/>
                <a:highlight>
                  <a:srgbClr val="FF0000"/>
                </a:highlight>
                <a:uLnTx/>
                <a:uFillTx/>
                <a:latin typeface="Aptos" panose="02110004020202020204"/>
                <a:ea typeface="+mn-ea"/>
                <a:cs typeface="+mn-cs"/>
              </a:rPr>
              <a:t>  </a:t>
            </a:r>
            <a:r>
              <a:rPr kumimoji="0" lang="en-GB" sz="1800" b="1" i="0" u="none" strike="noStrike" kern="1200" cap="none" spc="0" normalizeH="0" baseline="0" noProof="0" dirty="0">
                <a:ln>
                  <a:noFill/>
                </a:ln>
                <a:solidFill>
                  <a:prstClr val="white"/>
                </a:solidFill>
                <a:effectLst/>
                <a:highlight>
                  <a:srgbClr val="FF0000"/>
                </a:highlight>
                <a:uLnTx/>
                <a:uFillTx/>
                <a:latin typeface="Aptos" panose="02110004020202020204"/>
                <a:ea typeface="+mn-ea"/>
                <a:cs typeface="+mn-cs"/>
              </a:rPr>
              <a:t>Intelligence</a:t>
            </a:r>
          </a:p>
        </p:txBody>
      </p:sp>
      <p:sp>
        <p:nvSpPr>
          <p:cNvPr id="10" name="Flowchart: Connector 9">
            <a:extLst>
              <a:ext uri="{FF2B5EF4-FFF2-40B4-BE49-F238E27FC236}">
                <a16:creationId xmlns:a16="http://schemas.microsoft.com/office/drawing/2014/main" id="{C3E71DBA-5CAB-9E22-C807-1FECD0817B60}"/>
              </a:ext>
            </a:extLst>
          </p:cNvPr>
          <p:cNvSpPr/>
          <p:nvPr/>
        </p:nvSpPr>
        <p:spPr>
          <a:xfrm>
            <a:off x="8313870" y="3985057"/>
            <a:ext cx="2932669" cy="230041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highlight>
                <a:srgbClr val="0000FF"/>
              </a:highlight>
              <a:uLnTx/>
              <a:uFillTx/>
              <a:latin typeface="Aptos" panose="02110004020202020204"/>
              <a:ea typeface="+mn-ea"/>
              <a:cs typeface="+mn-cs"/>
            </a:endParaRPr>
          </a:p>
        </p:txBody>
      </p:sp>
      <p:sp>
        <p:nvSpPr>
          <p:cNvPr id="11" name="TextBox 10">
            <a:extLst>
              <a:ext uri="{FF2B5EF4-FFF2-40B4-BE49-F238E27FC236}">
                <a16:creationId xmlns:a16="http://schemas.microsoft.com/office/drawing/2014/main" id="{A1AE60DD-1AFE-0D58-3616-B22A8E3813DD}"/>
              </a:ext>
            </a:extLst>
          </p:cNvPr>
          <p:cNvSpPr txBox="1"/>
          <p:nvPr/>
        </p:nvSpPr>
        <p:spPr>
          <a:xfrm>
            <a:off x="8503339" y="4282313"/>
            <a:ext cx="255373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ptos" panose="02110004020202020204"/>
                <a:ea typeface="+mn-ea"/>
                <a:cs typeface="+mn-cs"/>
              </a:rPr>
              <a:t>Machine Learning</a:t>
            </a:r>
          </a:p>
        </p:txBody>
      </p:sp>
      <p:sp>
        <p:nvSpPr>
          <p:cNvPr id="13" name="TextBox 12">
            <a:extLst>
              <a:ext uri="{FF2B5EF4-FFF2-40B4-BE49-F238E27FC236}">
                <a16:creationId xmlns:a16="http://schemas.microsoft.com/office/drawing/2014/main" id="{445AABF1-209E-E6DC-5723-345509E7541D}"/>
              </a:ext>
            </a:extLst>
          </p:cNvPr>
          <p:cNvSpPr txBox="1"/>
          <p:nvPr/>
        </p:nvSpPr>
        <p:spPr>
          <a:xfrm>
            <a:off x="844378" y="4083134"/>
            <a:ext cx="6347255" cy="1200329"/>
          </a:xfrm>
          <a:prstGeom prst="rect">
            <a:avLst/>
          </a:prstGeom>
          <a:noFill/>
          <a:ln>
            <a:solidFill>
              <a:schemeClr val="accent1"/>
            </a:solidFill>
          </a:ln>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Machine Learning is the field of study that gives computers the ability to learn without being explicitly programmed.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Arthur Samuel, 1959</a:t>
            </a:r>
          </a:p>
        </p:txBody>
      </p:sp>
      <p:sp>
        <p:nvSpPr>
          <p:cNvPr id="6" name="TextBox 5">
            <a:extLst>
              <a:ext uri="{FF2B5EF4-FFF2-40B4-BE49-F238E27FC236}">
                <a16:creationId xmlns:a16="http://schemas.microsoft.com/office/drawing/2014/main" id="{FB53DD81-5C04-4456-7815-F5D770E0885B}"/>
              </a:ext>
            </a:extLst>
          </p:cNvPr>
          <p:cNvSpPr txBox="1"/>
          <p:nvPr/>
        </p:nvSpPr>
        <p:spPr>
          <a:xfrm>
            <a:off x="378941" y="5931527"/>
            <a:ext cx="7743567" cy="707886"/>
          </a:xfrm>
          <a:prstGeom prst="rect">
            <a:avLst/>
          </a:prstGeom>
          <a:noFill/>
          <a:ln w="12700">
            <a:solidFill>
              <a:schemeClr val="accent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FF0000"/>
                </a:solidFill>
                <a:effectLst/>
                <a:uLnTx/>
                <a:uFillTx/>
                <a:latin typeface="Nunito" panose="020F0502020204030204" pitchFamily="2" charset="0"/>
                <a:ea typeface="+mn-ea"/>
                <a:cs typeface="+mn-cs"/>
              </a:rPr>
              <a:t>ML</a:t>
            </a:r>
            <a:r>
              <a:rPr kumimoji="0" lang="en-GB" sz="2000" b="0" i="0" u="none" strike="noStrike" kern="1200" cap="none" spc="0" normalizeH="0" baseline="0" noProof="0" dirty="0">
                <a:ln>
                  <a:noFill/>
                </a:ln>
                <a:solidFill>
                  <a:srgbClr val="273239"/>
                </a:solidFill>
                <a:effectLst/>
                <a:uLnTx/>
                <a:uFillTx/>
                <a:latin typeface="Nunito" panose="020F0502020204030204" pitchFamily="2" charset="0"/>
                <a:ea typeface="+mn-ea"/>
                <a:cs typeface="+mn-cs"/>
              </a:rPr>
              <a:t> teaches the </a:t>
            </a:r>
            <a:r>
              <a:rPr kumimoji="0" lang="en-GB" sz="2000" b="0" i="0" u="none" strike="noStrike" kern="1200" cap="none" spc="0" normalizeH="0" baseline="0" noProof="0" dirty="0">
                <a:ln>
                  <a:noFill/>
                </a:ln>
                <a:solidFill>
                  <a:srgbClr val="FF0000"/>
                </a:solidFill>
                <a:effectLst/>
                <a:uLnTx/>
                <a:uFillTx/>
                <a:latin typeface="Nunito" panose="020F0502020204030204" pitchFamily="2" charset="0"/>
                <a:ea typeface="+mn-ea"/>
                <a:cs typeface="+mn-cs"/>
              </a:rPr>
              <a:t>systems</a:t>
            </a:r>
            <a:r>
              <a:rPr kumimoji="0" lang="en-GB" sz="2000" b="0" i="0" u="none" strike="noStrike" kern="1200" cap="none" spc="0" normalizeH="0" baseline="0" noProof="0" dirty="0">
                <a:ln>
                  <a:noFill/>
                </a:ln>
                <a:solidFill>
                  <a:srgbClr val="273239"/>
                </a:solidFill>
                <a:effectLst/>
                <a:uLnTx/>
                <a:uFillTx/>
                <a:latin typeface="Nunito" panose="020F0502020204030204" pitchFamily="2" charset="0"/>
                <a:ea typeface="+mn-ea"/>
                <a:cs typeface="+mn-cs"/>
              </a:rPr>
              <a:t> to </a:t>
            </a:r>
            <a:r>
              <a:rPr kumimoji="0" lang="en-GB" sz="2000" b="0" i="0" u="none" strike="noStrike" kern="1200" cap="none" spc="0" normalizeH="0" baseline="0" noProof="0" dirty="0">
                <a:ln>
                  <a:noFill/>
                </a:ln>
                <a:solidFill>
                  <a:srgbClr val="FF0000"/>
                </a:solidFill>
                <a:effectLst/>
                <a:uLnTx/>
                <a:uFillTx/>
                <a:latin typeface="Nunito" panose="020F0502020204030204" pitchFamily="2" charset="0"/>
                <a:ea typeface="+mn-ea"/>
                <a:cs typeface="+mn-cs"/>
              </a:rPr>
              <a:t>think</a:t>
            </a:r>
            <a:r>
              <a:rPr kumimoji="0" lang="en-GB" sz="2000" b="0" i="0" u="none" strike="noStrike" kern="1200" cap="none" spc="0" normalizeH="0" baseline="0" noProof="0" dirty="0">
                <a:ln>
                  <a:noFill/>
                </a:ln>
                <a:solidFill>
                  <a:srgbClr val="273239"/>
                </a:solidFill>
                <a:effectLst/>
                <a:uLnTx/>
                <a:uFillTx/>
                <a:latin typeface="Nunito" panose="020F0502020204030204" pitchFamily="2" charset="0"/>
                <a:ea typeface="+mn-ea"/>
                <a:cs typeface="+mn-cs"/>
              </a:rPr>
              <a:t> and </a:t>
            </a:r>
            <a:r>
              <a:rPr kumimoji="0" lang="en-GB" sz="2000" b="0" i="0" u="none" strike="noStrike" kern="1200" cap="none" spc="0" normalizeH="0" baseline="0" noProof="0" dirty="0">
                <a:ln>
                  <a:noFill/>
                </a:ln>
                <a:solidFill>
                  <a:srgbClr val="FF0000"/>
                </a:solidFill>
                <a:effectLst/>
                <a:uLnTx/>
                <a:uFillTx/>
                <a:latin typeface="Nunito" panose="020F0502020204030204" pitchFamily="2" charset="0"/>
                <a:ea typeface="+mn-ea"/>
                <a:cs typeface="+mn-cs"/>
              </a:rPr>
              <a:t>understand</a:t>
            </a:r>
            <a:r>
              <a:rPr kumimoji="0" lang="en-GB" sz="2000" b="0" i="0" u="none" strike="noStrike" kern="1200" cap="none" spc="0" normalizeH="0" baseline="0" noProof="0" dirty="0">
                <a:ln>
                  <a:noFill/>
                </a:ln>
                <a:solidFill>
                  <a:srgbClr val="273239"/>
                </a:solidFill>
                <a:effectLst/>
                <a:uLnTx/>
                <a:uFillTx/>
                <a:latin typeface="Nunito" panose="020F0502020204030204" pitchFamily="2" charset="0"/>
                <a:ea typeface="+mn-ea"/>
                <a:cs typeface="+mn-cs"/>
              </a:rPr>
              <a:t> like humans by </a:t>
            </a:r>
            <a:r>
              <a:rPr kumimoji="0" lang="en-GB" sz="2000" b="0" i="0" u="none" strike="noStrike" kern="1200" cap="none" spc="0" normalizeH="0" baseline="0" noProof="0" dirty="0">
                <a:ln>
                  <a:noFill/>
                </a:ln>
                <a:solidFill>
                  <a:srgbClr val="FF0000"/>
                </a:solidFill>
                <a:effectLst/>
                <a:uLnTx/>
                <a:uFillTx/>
                <a:latin typeface="Nunito" panose="020F0502020204030204" pitchFamily="2" charset="0"/>
                <a:ea typeface="+mn-ea"/>
                <a:cs typeface="+mn-cs"/>
              </a:rPr>
              <a:t>learning</a:t>
            </a:r>
            <a:r>
              <a:rPr kumimoji="0" lang="en-GB" sz="2000" b="0" i="0" u="none" strike="noStrike" kern="1200" cap="none" spc="0" normalizeH="0" baseline="0" noProof="0" dirty="0">
                <a:ln>
                  <a:noFill/>
                </a:ln>
                <a:solidFill>
                  <a:srgbClr val="273239"/>
                </a:solidFill>
                <a:effectLst/>
                <a:uLnTx/>
                <a:uFillTx/>
                <a:latin typeface="Nunito" panose="020F0502020204030204" pitchFamily="2" charset="0"/>
                <a:ea typeface="+mn-ea"/>
                <a:cs typeface="+mn-cs"/>
              </a:rPr>
              <a:t> from the </a:t>
            </a:r>
            <a:r>
              <a:rPr kumimoji="0" lang="en-GB" sz="2000" b="0" i="0" u="none" strike="noStrike" kern="1200" cap="none" spc="0" normalizeH="0" baseline="0" noProof="0" dirty="0">
                <a:ln>
                  <a:noFill/>
                </a:ln>
                <a:solidFill>
                  <a:srgbClr val="FF0000"/>
                </a:solidFill>
                <a:effectLst/>
                <a:uLnTx/>
                <a:uFillTx/>
                <a:latin typeface="Nunito" panose="020F0502020204030204" pitchFamily="2" charset="0"/>
                <a:ea typeface="+mn-ea"/>
                <a:cs typeface="+mn-cs"/>
              </a:rPr>
              <a:t>data</a:t>
            </a:r>
            <a:r>
              <a:rPr kumimoji="0" lang="en-GB" sz="2000" b="0" i="0" u="none" strike="noStrike" kern="1200" cap="none" spc="0" normalizeH="0" baseline="0" noProof="0" dirty="0">
                <a:ln>
                  <a:noFill/>
                </a:ln>
                <a:solidFill>
                  <a:srgbClr val="273239"/>
                </a:solidFill>
                <a:effectLst/>
                <a:uLnTx/>
                <a:uFillTx/>
                <a:latin typeface="Nunito" panose="020F0502020204030204" pitchFamily="2" charset="0"/>
                <a:ea typeface="+mn-ea"/>
                <a:cs typeface="+mn-cs"/>
              </a:rPr>
              <a:t>.</a:t>
            </a:r>
            <a:endParaRPr kumimoji="0" lang="en-GB"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82855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FDF88C-1BBD-A655-62F3-2A13CC10AB70}"/>
              </a:ext>
            </a:extLst>
          </p:cNvPr>
          <p:cNvPicPr>
            <a:picLocks noChangeAspect="1"/>
          </p:cNvPicPr>
          <p:nvPr/>
        </p:nvPicPr>
        <p:blipFill>
          <a:blip r:embed="rId2"/>
          <a:stretch>
            <a:fillRect/>
          </a:stretch>
        </p:blipFill>
        <p:spPr>
          <a:xfrm>
            <a:off x="973128" y="3487795"/>
            <a:ext cx="9999406" cy="2375805"/>
          </a:xfrm>
          <a:prstGeom prst="rect">
            <a:avLst/>
          </a:prstGeom>
        </p:spPr>
      </p:pic>
      <p:sp>
        <p:nvSpPr>
          <p:cNvPr id="7" name="TextBox 6">
            <a:extLst>
              <a:ext uri="{FF2B5EF4-FFF2-40B4-BE49-F238E27FC236}">
                <a16:creationId xmlns:a16="http://schemas.microsoft.com/office/drawing/2014/main" id="{E6C4A53E-F17F-FA24-92F1-72A5A0D2AD63}"/>
              </a:ext>
            </a:extLst>
          </p:cNvPr>
          <p:cNvSpPr txBox="1"/>
          <p:nvPr/>
        </p:nvSpPr>
        <p:spPr>
          <a:xfrm>
            <a:off x="3906794" y="6205732"/>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000000"/>
                </a:solidFill>
                <a:effectLst/>
                <a:uLnTx/>
                <a:uFillTx/>
                <a:latin typeface="Frutiger LT Std 45 Light"/>
                <a:ea typeface="+mn-ea"/>
                <a:cs typeface="+mn-cs"/>
              </a:rPr>
              <a:t>Figure 1.1 </a:t>
            </a:r>
            <a:r>
              <a:rPr kumimoji="0" lang="en-GB" sz="1800" b="0" i="0" u="none" strike="noStrike" kern="1200" cap="none" spc="0" normalizeH="0" baseline="0" noProof="0" dirty="0">
                <a:ln>
                  <a:noFill/>
                </a:ln>
                <a:solidFill>
                  <a:srgbClr val="000000"/>
                </a:solidFill>
                <a:effectLst/>
                <a:uLnTx/>
                <a:uFillTx/>
                <a:latin typeface="Frutiger LT Std 45 Light"/>
                <a:ea typeface="+mn-ea"/>
                <a:cs typeface="+mn-cs"/>
              </a:rPr>
              <a:t>The meaning of machine learning.</a:t>
            </a:r>
            <a:endPar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8" name="TextBox 7">
            <a:extLst>
              <a:ext uri="{FF2B5EF4-FFF2-40B4-BE49-F238E27FC236}">
                <a16:creationId xmlns:a16="http://schemas.microsoft.com/office/drawing/2014/main" id="{A898DC02-043E-27C4-7FCB-60C3B20A8976}"/>
              </a:ext>
            </a:extLst>
          </p:cNvPr>
          <p:cNvSpPr txBox="1"/>
          <p:nvPr/>
        </p:nvSpPr>
        <p:spPr>
          <a:xfrm>
            <a:off x="747584" y="837339"/>
            <a:ext cx="10696831" cy="193899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000000"/>
                </a:solidFill>
                <a:effectLst/>
                <a:uLnTx/>
                <a:uFillTx/>
                <a:latin typeface="Times LT Std"/>
                <a:ea typeface="+mn-ea"/>
                <a:cs typeface="+mn-cs"/>
              </a:rPr>
              <a:t>An algorithm is a set of mathematical instructions or rules that directs a computer program to solve a specific problem or perform a task.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Times LT St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000000"/>
                </a:solidFill>
                <a:effectLst/>
                <a:uLnTx/>
                <a:uFillTx/>
                <a:latin typeface="Times LT Std"/>
                <a:ea typeface="+mn-ea"/>
                <a:cs typeface="+mn-cs"/>
              </a:rPr>
              <a:t>In machine learning, an algorithm enables a model to </a:t>
            </a:r>
            <a:r>
              <a:rPr kumimoji="0" lang="en-GB" sz="2400" b="0" i="0" u="none" strike="noStrike" kern="1200" cap="none" spc="0" normalizeH="0" baseline="0" noProof="0" dirty="0">
                <a:ln>
                  <a:noFill/>
                </a:ln>
                <a:solidFill>
                  <a:srgbClr val="FF0000"/>
                </a:solidFill>
                <a:effectLst/>
                <a:uLnTx/>
                <a:uFillTx/>
                <a:latin typeface="Times LT Std"/>
                <a:ea typeface="+mn-ea"/>
                <a:cs typeface="+mn-cs"/>
              </a:rPr>
              <a:t>process data</a:t>
            </a:r>
            <a:r>
              <a:rPr kumimoji="0" lang="en-GB" sz="2400" b="0" i="0" u="none" strike="noStrike" kern="1200" cap="none" spc="0" normalizeH="0" baseline="0" noProof="0" dirty="0">
                <a:ln>
                  <a:noFill/>
                </a:ln>
                <a:solidFill>
                  <a:srgbClr val="000000"/>
                </a:solidFill>
                <a:effectLst/>
                <a:uLnTx/>
                <a:uFillTx/>
                <a:latin typeface="Times LT Std"/>
                <a:ea typeface="+mn-ea"/>
                <a:cs typeface="+mn-cs"/>
              </a:rPr>
              <a:t>, </a:t>
            </a:r>
            <a:r>
              <a:rPr kumimoji="0" lang="en-GB" sz="2400" b="0" i="0" u="none" strike="noStrike" kern="1200" cap="none" spc="0" normalizeH="0" baseline="0" noProof="0" dirty="0">
                <a:ln>
                  <a:noFill/>
                </a:ln>
                <a:solidFill>
                  <a:srgbClr val="FF0000"/>
                </a:solidFill>
                <a:effectLst/>
                <a:uLnTx/>
                <a:uFillTx/>
                <a:latin typeface="Times LT Std"/>
                <a:ea typeface="+mn-ea"/>
                <a:cs typeface="+mn-cs"/>
              </a:rPr>
              <a:t>identify patterns</a:t>
            </a:r>
            <a:r>
              <a:rPr kumimoji="0" lang="en-GB" sz="2400" b="0" i="0" u="none" strike="noStrike" kern="1200" cap="none" spc="0" normalizeH="0" baseline="0" noProof="0" dirty="0">
                <a:ln>
                  <a:noFill/>
                </a:ln>
                <a:solidFill>
                  <a:srgbClr val="000000"/>
                </a:solidFill>
                <a:effectLst/>
                <a:uLnTx/>
                <a:uFillTx/>
                <a:latin typeface="Times LT Std"/>
                <a:ea typeface="+mn-ea"/>
                <a:cs typeface="+mn-cs"/>
              </a:rPr>
              <a:t>, and make </a:t>
            </a:r>
            <a:r>
              <a:rPr kumimoji="0" lang="en-GB" sz="2400" b="0" i="0" u="none" strike="noStrike" kern="1200" cap="none" spc="0" normalizeH="0" baseline="0" noProof="0" dirty="0">
                <a:ln>
                  <a:noFill/>
                </a:ln>
                <a:solidFill>
                  <a:srgbClr val="FF0000"/>
                </a:solidFill>
                <a:effectLst/>
                <a:uLnTx/>
                <a:uFillTx/>
                <a:latin typeface="Times LT Std"/>
                <a:ea typeface="+mn-ea"/>
                <a:cs typeface="+mn-cs"/>
              </a:rPr>
              <a:t>predictions</a:t>
            </a:r>
            <a:r>
              <a:rPr kumimoji="0" lang="en-GB" sz="2400" b="0" i="0" u="none" strike="noStrike" kern="1200" cap="none" spc="0" normalizeH="0" baseline="0" noProof="0" dirty="0">
                <a:ln>
                  <a:noFill/>
                </a:ln>
                <a:solidFill>
                  <a:srgbClr val="000000"/>
                </a:solidFill>
                <a:effectLst/>
                <a:uLnTx/>
                <a:uFillTx/>
                <a:latin typeface="Times LT Std"/>
                <a:ea typeface="+mn-ea"/>
                <a:cs typeface="+mn-cs"/>
              </a:rPr>
              <a:t>. </a:t>
            </a:r>
            <a:endParaRPr kumimoji="0" lang="en-GB"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9" name="Title 1">
            <a:extLst>
              <a:ext uri="{FF2B5EF4-FFF2-40B4-BE49-F238E27FC236}">
                <a16:creationId xmlns:a16="http://schemas.microsoft.com/office/drawing/2014/main" id="{00EDC4A6-DE9A-2F9C-FD4B-11E966F71E11}"/>
              </a:ext>
            </a:extLst>
          </p:cNvPr>
          <p:cNvSpPr>
            <a:spLocks noGrp="1"/>
          </p:cNvSpPr>
          <p:nvPr>
            <p:ph type="title"/>
          </p:nvPr>
        </p:nvSpPr>
        <p:spPr>
          <a:xfrm>
            <a:off x="937054" y="551934"/>
            <a:ext cx="10515600" cy="90617"/>
          </a:xfrm>
        </p:spPr>
        <p:txBody>
          <a:bodyPr>
            <a:normAutofit fontScale="90000"/>
          </a:bodyPr>
          <a:lstStyle/>
          <a:p>
            <a:r>
              <a:rPr lang="en-GB" dirty="0"/>
              <a:t>Machine learning  </a:t>
            </a:r>
            <a:r>
              <a:rPr lang="ar-DZ" b="1" dirty="0"/>
              <a:t>تعلــــــــــــــــــــــــــــم</a:t>
            </a:r>
            <a:r>
              <a:rPr lang="ar-DZ" dirty="0"/>
              <a:t> </a:t>
            </a:r>
            <a:r>
              <a:rPr lang="ar-DZ" b="1" dirty="0"/>
              <a:t>الالــــــــــة</a:t>
            </a:r>
            <a:br>
              <a:rPr lang="ar-DZ" b="1" dirty="0"/>
            </a:br>
            <a:endParaRPr lang="en-GB" dirty="0"/>
          </a:p>
        </p:txBody>
      </p:sp>
    </p:spTree>
    <p:extLst>
      <p:ext uri="{BB962C8B-B14F-4D97-AF65-F5344CB8AC3E}">
        <p14:creationId xmlns:p14="http://schemas.microsoft.com/office/powerpoint/2010/main" val="2044397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A5730E5-4F1C-5DB6-A3AE-26C9B50F8DBD}"/>
              </a:ext>
            </a:extLst>
          </p:cNvPr>
          <p:cNvSpPr txBox="1"/>
          <p:nvPr/>
        </p:nvSpPr>
        <p:spPr>
          <a:xfrm>
            <a:off x="1062680" y="1128583"/>
            <a:ext cx="10635049" cy="45243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FF0000"/>
                </a:solidFill>
                <a:effectLst/>
                <a:uLnTx/>
                <a:uFillTx/>
                <a:latin typeface="Aptos" panose="02110004020202020204"/>
                <a:ea typeface="+mn-ea"/>
                <a:cs typeface="+mn-cs"/>
              </a:rPr>
              <a:t>How does ML  work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black"/>
                </a:solidFill>
                <a:effectLst/>
                <a:uLnTx/>
                <a:uFillTx/>
                <a:latin typeface="Aptos" panose="02110004020202020204"/>
                <a:ea typeface="+mn-ea"/>
                <a:cs typeface="+mn-cs"/>
              </a:rPr>
              <a:t>1- </a:t>
            </a:r>
            <a:r>
              <a:rPr kumimoji="0" lang="en-GB" sz="2400" b="0" i="0" u="none" strike="noStrike" kern="1200" cap="none" spc="0" normalizeH="0" baseline="0" noProof="0" dirty="0">
                <a:ln>
                  <a:noFill/>
                </a:ln>
                <a:solidFill>
                  <a:srgbClr val="FF0000"/>
                </a:solidFill>
                <a:effectLst/>
                <a:uLnTx/>
                <a:uFillTx/>
                <a:latin typeface="Aptos" panose="02110004020202020204"/>
                <a:ea typeface="+mn-ea"/>
                <a:cs typeface="+mn-cs"/>
              </a:rPr>
              <a:t>ML</a:t>
            </a:r>
            <a:r>
              <a:rPr kumimoji="0" lang="en-GB" sz="2400" b="0" i="0" u="none" strike="noStrike" kern="1200" cap="none" spc="0" normalizeH="0" baseline="0" noProof="0" dirty="0">
                <a:ln>
                  <a:noFill/>
                </a:ln>
                <a:solidFill>
                  <a:prstClr val="black"/>
                </a:solidFill>
                <a:effectLst/>
                <a:uLnTx/>
                <a:uFillTx/>
                <a:latin typeface="Aptos" panose="02110004020202020204"/>
                <a:ea typeface="+mn-ea"/>
                <a:cs typeface="+mn-cs"/>
              </a:rPr>
              <a:t> algorithm is trained using a training </a:t>
            </a:r>
            <a:r>
              <a:rPr kumimoji="0" lang="en-GB" sz="2400" b="0" i="0" u="sng" strike="noStrike" kern="1200" cap="none" spc="0" normalizeH="0" baseline="0" noProof="0" dirty="0">
                <a:ln>
                  <a:noFill/>
                </a:ln>
                <a:solidFill>
                  <a:srgbClr val="FF0000"/>
                </a:solidFill>
                <a:effectLst/>
                <a:uLnTx/>
                <a:uFillTx/>
                <a:latin typeface="Aptos" panose="02110004020202020204"/>
                <a:ea typeface="+mn-ea"/>
                <a:cs typeface="+mn-cs"/>
              </a:rPr>
              <a:t>dataset</a:t>
            </a:r>
            <a:r>
              <a:rPr kumimoji="0" lang="en-GB" sz="2400" b="0" i="0" u="none" strike="noStrike" kern="1200" cap="none" spc="0" normalizeH="0" baseline="0" noProof="0" dirty="0">
                <a:ln>
                  <a:noFill/>
                </a:ln>
                <a:solidFill>
                  <a:prstClr val="black"/>
                </a:solidFill>
                <a:effectLst/>
                <a:uLnTx/>
                <a:uFillTx/>
                <a:latin typeface="Aptos" panose="02110004020202020204"/>
                <a:ea typeface="+mn-ea"/>
                <a:cs typeface="+mn-cs"/>
              </a:rPr>
              <a:t> to create a </a:t>
            </a:r>
            <a:r>
              <a:rPr kumimoji="0" lang="en-GB" sz="2400" b="0" i="0" u="sng" strike="noStrike" kern="1200" cap="none" spc="0" normalizeH="0" baseline="0" noProof="0" dirty="0">
                <a:ln>
                  <a:noFill/>
                </a:ln>
                <a:solidFill>
                  <a:srgbClr val="FF0000"/>
                </a:solidFill>
                <a:effectLst/>
                <a:uLnTx/>
                <a:uFillTx/>
                <a:latin typeface="Aptos" panose="02110004020202020204"/>
                <a:ea typeface="+mn-ea"/>
                <a:cs typeface="+mn-cs"/>
              </a:rPr>
              <a:t>model</a:t>
            </a:r>
            <a:r>
              <a:rPr kumimoji="0" lang="en-GB" sz="2400" b="0" i="0" u="none" strike="noStrike" kern="1200" cap="none" spc="0" normalizeH="0" baseline="0" noProof="0" dirty="0">
                <a:ln>
                  <a:noFill/>
                </a:ln>
                <a:solidFill>
                  <a:prstClr val="black"/>
                </a:solidFill>
                <a:effectLst/>
                <a:uLnTx/>
                <a:uFillTx/>
                <a:latin typeface="Aptos" panose="021100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black"/>
                </a:solidFill>
                <a:effectLst/>
                <a:uLnTx/>
                <a:uFillTx/>
                <a:latin typeface="Aptos" panose="02110004020202020204"/>
                <a:ea typeface="+mn-ea"/>
                <a:cs typeface="+mn-cs"/>
              </a:rPr>
              <a:t>2- When </a:t>
            </a:r>
            <a:r>
              <a:rPr kumimoji="0" lang="en-GB" sz="2400" b="0" i="0" u="none" strike="noStrike" kern="1200" cap="none" spc="0" normalizeH="0" baseline="0" noProof="0" dirty="0">
                <a:ln>
                  <a:noFill/>
                </a:ln>
                <a:solidFill>
                  <a:srgbClr val="FF0000"/>
                </a:solidFill>
                <a:effectLst/>
                <a:uLnTx/>
                <a:uFillTx/>
                <a:latin typeface="Aptos" panose="02110004020202020204"/>
                <a:ea typeface="+mn-ea"/>
                <a:cs typeface="+mn-cs"/>
              </a:rPr>
              <a:t>new input data </a:t>
            </a:r>
            <a:r>
              <a:rPr kumimoji="0" lang="en-GB" sz="2400" b="0" i="0" u="none" strike="noStrike" kern="1200" cap="none" spc="0" normalizeH="0" baseline="0" noProof="0" dirty="0">
                <a:ln>
                  <a:noFill/>
                </a:ln>
                <a:solidFill>
                  <a:prstClr val="black"/>
                </a:solidFill>
                <a:effectLst/>
                <a:uLnTx/>
                <a:uFillTx/>
                <a:latin typeface="Aptos" panose="02110004020202020204"/>
                <a:ea typeface="+mn-ea"/>
                <a:cs typeface="+mn-cs"/>
              </a:rPr>
              <a:t>is introduced to the </a:t>
            </a:r>
            <a:r>
              <a:rPr kumimoji="0" lang="en-GB" sz="2400" b="0" i="0" u="none" strike="noStrike" kern="1200" cap="none" spc="0" normalizeH="0" baseline="0" noProof="0" dirty="0">
                <a:ln>
                  <a:noFill/>
                </a:ln>
                <a:solidFill>
                  <a:srgbClr val="FF0000"/>
                </a:solidFill>
                <a:effectLst/>
                <a:uLnTx/>
                <a:uFillTx/>
                <a:latin typeface="Aptos" panose="02110004020202020204"/>
                <a:ea typeface="+mn-ea"/>
                <a:cs typeface="+mn-cs"/>
              </a:rPr>
              <a:t>ML</a:t>
            </a:r>
            <a:r>
              <a:rPr kumimoji="0" lang="en-GB" sz="2400" b="0" i="0" u="none" strike="noStrike" kern="1200" cap="none" spc="0" normalizeH="0" baseline="0" noProof="0" dirty="0">
                <a:ln>
                  <a:noFill/>
                </a:ln>
                <a:solidFill>
                  <a:prstClr val="black"/>
                </a:solidFill>
                <a:effectLst/>
                <a:uLnTx/>
                <a:uFillTx/>
                <a:latin typeface="Aptos" panose="02110004020202020204"/>
                <a:ea typeface="+mn-ea"/>
                <a:cs typeface="+mn-cs"/>
              </a:rPr>
              <a:t> algorithm, it makes a prediction    on the basis of the model.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black"/>
                </a:solidFill>
                <a:effectLst/>
                <a:uLnTx/>
                <a:uFillTx/>
                <a:latin typeface="Aptos" panose="02110004020202020204"/>
                <a:ea typeface="+mn-ea"/>
                <a:cs typeface="+mn-cs"/>
              </a:rPr>
              <a:t>3- The prediction is evaluated for accuracy, and if the accuracy is acceptable, the </a:t>
            </a:r>
            <a:r>
              <a:rPr kumimoji="0" lang="en-GB" sz="2400" b="0" i="0" u="none" strike="noStrike" kern="1200" cap="none" spc="0" normalizeH="0" baseline="0" noProof="0" dirty="0">
                <a:ln>
                  <a:noFill/>
                </a:ln>
                <a:solidFill>
                  <a:srgbClr val="FF0000"/>
                </a:solidFill>
                <a:effectLst/>
                <a:uLnTx/>
                <a:uFillTx/>
                <a:latin typeface="Aptos" panose="02110004020202020204"/>
                <a:ea typeface="+mn-ea"/>
                <a:cs typeface="+mn-cs"/>
              </a:rPr>
              <a:t>ML</a:t>
            </a:r>
            <a:r>
              <a:rPr kumimoji="0" lang="en-GB" sz="2400" b="0" i="0" u="none" strike="noStrike" kern="1200" cap="none" spc="0" normalizeH="0" baseline="0" noProof="0" dirty="0">
                <a:ln>
                  <a:noFill/>
                </a:ln>
                <a:solidFill>
                  <a:prstClr val="black"/>
                </a:solidFill>
                <a:effectLst/>
                <a:uLnTx/>
                <a:uFillTx/>
                <a:latin typeface="Aptos" panose="02110004020202020204"/>
                <a:ea typeface="+mn-ea"/>
                <a:cs typeface="+mn-cs"/>
              </a:rPr>
              <a:t> algorithm is deployed.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black"/>
                </a:solidFill>
                <a:effectLst/>
                <a:uLnTx/>
                <a:uFillTx/>
                <a:latin typeface="Aptos" panose="02110004020202020204"/>
                <a:ea typeface="+mn-ea"/>
                <a:cs typeface="+mn-cs"/>
              </a:rPr>
              <a:t>4- If the accuracy is not acceptable, the </a:t>
            </a:r>
            <a:r>
              <a:rPr kumimoji="0" lang="en-GB" sz="2400" b="0" i="0" u="none" strike="noStrike" kern="1200" cap="none" spc="0" normalizeH="0" baseline="0" noProof="0" dirty="0">
                <a:ln>
                  <a:noFill/>
                </a:ln>
                <a:solidFill>
                  <a:srgbClr val="FF0000"/>
                </a:solidFill>
                <a:effectLst/>
                <a:uLnTx/>
                <a:uFillTx/>
                <a:latin typeface="Aptos" panose="02110004020202020204"/>
                <a:ea typeface="+mn-ea"/>
                <a:cs typeface="+mn-cs"/>
              </a:rPr>
              <a:t>ML</a:t>
            </a:r>
            <a:r>
              <a:rPr kumimoji="0" lang="en-GB" sz="2400" b="0" i="0" u="none" strike="noStrike" kern="1200" cap="none" spc="0" normalizeH="0" baseline="0" noProof="0" dirty="0">
                <a:ln>
                  <a:noFill/>
                </a:ln>
                <a:solidFill>
                  <a:prstClr val="black"/>
                </a:solidFill>
                <a:effectLst/>
                <a:uLnTx/>
                <a:uFillTx/>
                <a:latin typeface="Aptos" panose="02110004020202020204"/>
                <a:ea typeface="+mn-ea"/>
                <a:cs typeface="+mn-cs"/>
              </a:rPr>
              <a:t> algorithm is trained again with an augmented raining data set.</a:t>
            </a:r>
          </a:p>
        </p:txBody>
      </p:sp>
      <p:sp>
        <p:nvSpPr>
          <p:cNvPr id="8" name="Title 1">
            <a:extLst>
              <a:ext uri="{FF2B5EF4-FFF2-40B4-BE49-F238E27FC236}">
                <a16:creationId xmlns:a16="http://schemas.microsoft.com/office/drawing/2014/main" id="{5558CC1C-C916-5F4B-F4A5-FB5EE48B43DB}"/>
              </a:ext>
            </a:extLst>
          </p:cNvPr>
          <p:cNvSpPr>
            <a:spLocks noGrp="1"/>
          </p:cNvSpPr>
          <p:nvPr>
            <p:ph type="title"/>
          </p:nvPr>
        </p:nvSpPr>
        <p:spPr>
          <a:xfrm>
            <a:off x="937054" y="551934"/>
            <a:ext cx="10515600" cy="90617"/>
          </a:xfrm>
        </p:spPr>
        <p:txBody>
          <a:bodyPr>
            <a:normAutofit fontScale="90000"/>
          </a:bodyPr>
          <a:lstStyle/>
          <a:p>
            <a:r>
              <a:rPr lang="en-GB" dirty="0"/>
              <a:t>Machine learning  </a:t>
            </a:r>
            <a:r>
              <a:rPr lang="ar-DZ" b="1" dirty="0"/>
              <a:t>تعلــــــــــــــــــــــــــــم</a:t>
            </a:r>
            <a:r>
              <a:rPr lang="ar-DZ" dirty="0"/>
              <a:t> </a:t>
            </a:r>
            <a:r>
              <a:rPr lang="ar-DZ" b="1" dirty="0"/>
              <a:t>الالــــــــــة</a:t>
            </a:r>
            <a:br>
              <a:rPr lang="ar-DZ" b="1" dirty="0"/>
            </a:br>
            <a:endParaRPr lang="en-GB" dirty="0"/>
          </a:p>
        </p:txBody>
      </p:sp>
    </p:spTree>
    <p:extLst>
      <p:ext uri="{BB962C8B-B14F-4D97-AF65-F5344CB8AC3E}">
        <p14:creationId xmlns:p14="http://schemas.microsoft.com/office/powerpoint/2010/main" val="13009849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EB8CF8-1716-84AA-28F5-5B8757C8E1DC}"/>
              </a:ext>
            </a:extLst>
          </p:cNvPr>
          <p:cNvSpPr>
            <a:spLocks noGrp="1"/>
          </p:cNvSpPr>
          <p:nvPr>
            <p:ph idx="1"/>
          </p:nvPr>
        </p:nvSpPr>
        <p:spPr>
          <a:xfrm>
            <a:off x="465437" y="757882"/>
            <a:ext cx="11458833" cy="1494224"/>
          </a:xfrm>
        </p:spPr>
        <p:txBody>
          <a:bodyPr>
            <a:noAutofit/>
          </a:bodyPr>
          <a:lstStyle/>
          <a:p>
            <a:pPr algn="l"/>
            <a:r>
              <a:rPr lang="en-GB" sz="2000" b="0" i="0" u="none" strike="noStrike" baseline="0" dirty="0">
                <a:latin typeface="CMR12"/>
              </a:rPr>
              <a:t>Machine learning combines three main components: </a:t>
            </a:r>
            <a:r>
              <a:rPr lang="en-GB" sz="2000" b="0" i="0" u="none" strike="noStrike" baseline="0" dirty="0">
                <a:solidFill>
                  <a:srgbClr val="FF0000"/>
                </a:solidFill>
                <a:latin typeface="CMR12"/>
              </a:rPr>
              <a:t>model</a:t>
            </a:r>
            <a:r>
              <a:rPr lang="en-GB" sz="2000" b="0" i="0" u="none" strike="noStrike" baseline="0" dirty="0">
                <a:latin typeface="CMR12"/>
              </a:rPr>
              <a:t>, </a:t>
            </a:r>
            <a:r>
              <a:rPr lang="en-GB" sz="2000" b="0" i="0" u="none" strike="noStrike" baseline="0" dirty="0">
                <a:solidFill>
                  <a:srgbClr val="FF0000"/>
                </a:solidFill>
                <a:latin typeface="CMR12"/>
              </a:rPr>
              <a:t>data</a:t>
            </a:r>
            <a:r>
              <a:rPr lang="en-GB" sz="2000" b="0" i="0" u="none" strike="noStrike" baseline="0" dirty="0">
                <a:latin typeface="CMR12"/>
              </a:rPr>
              <a:t> and </a:t>
            </a:r>
            <a:r>
              <a:rPr lang="en-GB" sz="2000" b="0" i="0" u="none" strike="noStrike" baseline="0" dirty="0">
                <a:solidFill>
                  <a:srgbClr val="FF0000"/>
                </a:solidFill>
                <a:latin typeface="CMR12"/>
              </a:rPr>
              <a:t>loss</a:t>
            </a:r>
            <a:r>
              <a:rPr lang="en-GB" sz="2000" b="0" i="0" u="none" strike="noStrike" baseline="0" dirty="0">
                <a:latin typeface="CMR12"/>
              </a:rPr>
              <a:t>. </a:t>
            </a:r>
          </a:p>
          <a:p>
            <a:pPr algn="l"/>
            <a:r>
              <a:rPr lang="en-GB" sz="2000" b="0" i="0" u="none" strike="noStrike" baseline="0" dirty="0">
                <a:latin typeface="CMR12"/>
              </a:rPr>
              <a:t>Machine learning methods implement the scientific principle of \</a:t>
            </a:r>
            <a:r>
              <a:rPr lang="en-GB" sz="2000" b="0" i="0" u="none" strike="noStrike" baseline="0" dirty="0">
                <a:solidFill>
                  <a:srgbClr val="FF0000"/>
                </a:solidFill>
                <a:latin typeface="CMR12"/>
              </a:rPr>
              <a:t>trial</a:t>
            </a:r>
            <a:r>
              <a:rPr lang="en-GB" sz="2000" b="0" i="0" u="none" strike="noStrike" baseline="0" dirty="0">
                <a:latin typeface="CMR12"/>
              </a:rPr>
              <a:t> and </a:t>
            </a:r>
            <a:r>
              <a:rPr lang="en-GB" sz="2000" b="0" i="0" u="none" strike="noStrike" baseline="0" dirty="0">
                <a:solidFill>
                  <a:srgbClr val="FF0000"/>
                </a:solidFill>
                <a:latin typeface="CMR12"/>
              </a:rPr>
              <a:t>error</a:t>
            </a:r>
            <a:r>
              <a:rPr lang="en-GB" sz="2000" b="0" i="0" u="none" strike="noStrike" baseline="0" dirty="0">
                <a:latin typeface="CMR12"/>
              </a:rPr>
              <a:t>. </a:t>
            </a:r>
          </a:p>
          <a:p>
            <a:pPr algn="l"/>
            <a:r>
              <a:rPr lang="en-GB" sz="2000" b="0" i="0" u="none" strike="noStrike" baseline="0" dirty="0">
                <a:latin typeface="CMR12"/>
              </a:rPr>
              <a:t>These methods continuously </a:t>
            </a:r>
            <a:r>
              <a:rPr lang="en-GB" sz="2000" b="0" i="0" u="none" strike="noStrike" baseline="0" dirty="0">
                <a:solidFill>
                  <a:srgbClr val="FF0000"/>
                </a:solidFill>
                <a:latin typeface="CMR12"/>
              </a:rPr>
              <a:t>validate</a:t>
            </a:r>
            <a:r>
              <a:rPr lang="en-GB" sz="2000" b="0" i="0" u="none" strike="noStrike" baseline="0" dirty="0">
                <a:latin typeface="CMR12"/>
              </a:rPr>
              <a:t> and </a:t>
            </a:r>
            <a:r>
              <a:rPr lang="en-GB" sz="2000" b="0" i="0" u="none" strike="noStrike" baseline="0" dirty="0">
                <a:solidFill>
                  <a:srgbClr val="FF0000"/>
                </a:solidFill>
                <a:latin typeface="CMR12"/>
              </a:rPr>
              <a:t>refine</a:t>
            </a:r>
            <a:r>
              <a:rPr lang="en-GB" sz="2000" b="0" i="0" u="none" strike="noStrike" baseline="0" dirty="0">
                <a:latin typeface="CMR12"/>
              </a:rPr>
              <a:t> a model based on the </a:t>
            </a:r>
            <a:r>
              <a:rPr lang="en-GB" sz="2000" b="0" i="0" u="none" strike="noStrike" baseline="0" dirty="0">
                <a:solidFill>
                  <a:srgbClr val="FF0000"/>
                </a:solidFill>
                <a:latin typeface="CMR12"/>
              </a:rPr>
              <a:t>loss</a:t>
            </a:r>
            <a:r>
              <a:rPr lang="en-GB" sz="2000" b="0" i="0" u="none" strike="noStrike" baseline="0" dirty="0">
                <a:latin typeface="CMR12"/>
              </a:rPr>
              <a:t> incurred by its predictions about a phenomenon that generates data.</a:t>
            </a:r>
            <a:endParaRPr lang="en-GB" sz="2000" dirty="0"/>
          </a:p>
        </p:txBody>
      </p:sp>
      <p:sp>
        <p:nvSpPr>
          <p:cNvPr id="4" name="Title 1">
            <a:extLst>
              <a:ext uri="{FF2B5EF4-FFF2-40B4-BE49-F238E27FC236}">
                <a16:creationId xmlns:a16="http://schemas.microsoft.com/office/drawing/2014/main" id="{42B9DC07-AB5E-E80D-87AC-A8D7E950473E}"/>
              </a:ext>
            </a:extLst>
          </p:cNvPr>
          <p:cNvSpPr>
            <a:spLocks noGrp="1"/>
          </p:cNvSpPr>
          <p:nvPr>
            <p:ph type="title"/>
          </p:nvPr>
        </p:nvSpPr>
        <p:spPr>
          <a:xfrm>
            <a:off x="937054" y="551934"/>
            <a:ext cx="10515600" cy="90617"/>
          </a:xfrm>
        </p:spPr>
        <p:txBody>
          <a:bodyPr>
            <a:normAutofit fontScale="90000"/>
          </a:bodyPr>
          <a:lstStyle/>
          <a:p>
            <a:r>
              <a:rPr lang="en-GB" dirty="0"/>
              <a:t>Machine learning  </a:t>
            </a:r>
            <a:r>
              <a:rPr lang="ar-DZ" b="1" dirty="0"/>
              <a:t>تعلــــــــــــــــــــــــــــم</a:t>
            </a:r>
            <a:r>
              <a:rPr lang="ar-DZ" dirty="0"/>
              <a:t> </a:t>
            </a:r>
            <a:r>
              <a:rPr lang="ar-DZ" b="1" dirty="0"/>
              <a:t>الالــــــــــة</a:t>
            </a:r>
            <a:br>
              <a:rPr lang="ar-DZ" b="1" dirty="0"/>
            </a:br>
            <a:endParaRPr lang="en-GB" dirty="0"/>
          </a:p>
        </p:txBody>
      </p:sp>
      <p:pic>
        <p:nvPicPr>
          <p:cNvPr id="6" name="Picture 5">
            <a:extLst>
              <a:ext uri="{FF2B5EF4-FFF2-40B4-BE49-F238E27FC236}">
                <a16:creationId xmlns:a16="http://schemas.microsoft.com/office/drawing/2014/main" id="{AA1A1494-D758-AEC4-E08F-098BC2543875}"/>
              </a:ext>
            </a:extLst>
          </p:cNvPr>
          <p:cNvPicPr>
            <a:picLocks noChangeAspect="1"/>
          </p:cNvPicPr>
          <p:nvPr/>
        </p:nvPicPr>
        <p:blipFill>
          <a:blip r:embed="rId2"/>
          <a:stretch>
            <a:fillRect/>
          </a:stretch>
        </p:blipFill>
        <p:spPr>
          <a:xfrm>
            <a:off x="3043366" y="2367437"/>
            <a:ext cx="5861736" cy="4160107"/>
          </a:xfrm>
          <a:prstGeom prst="rect">
            <a:avLst/>
          </a:prstGeom>
        </p:spPr>
      </p:pic>
    </p:spTree>
    <p:extLst>
      <p:ext uri="{BB962C8B-B14F-4D97-AF65-F5344CB8AC3E}">
        <p14:creationId xmlns:p14="http://schemas.microsoft.com/office/powerpoint/2010/main" val="398941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157D0-D37A-B964-EE95-6DC1F1595C17}"/>
              </a:ext>
            </a:extLst>
          </p:cNvPr>
          <p:cNvSpPr>
            <a:spLocks noGrp="1"/>
          </p:cNvSpPr>
          <p:nvPr>
            <p:ph type="title"/>
          </p:nvPr>
        </p:nvSpPr>
        <p:spPr/>
        <p:txBody>
          <a:bodyPr/>
          <a:lstStyle/>
          <a:p>
            <a:r>
              <a:rPr lang="en-GB" sz="1800" b="1" i="0" u="none" strike="noStrike" baseline="0" dirty="0">
                <a:solidFill>
                  <a:srgbClr val="2C292A"/>
                </a:solidFill>
                <a:latin typeface="JprljpVwhvqyTxtchxJmtxdyHelveticaNeue-MediumCon"/>
              </a:rPr>
              <a:t>Real-World Applications of Machine Learning</a:t>
            </a:r>
            <a:br>
              <a:rPr lang="en-GB" sz="1800" b="0" i="0" u="none" strike="noStrike" baseline="0" dirty="0">
                <a:solidFill>
                  <a:srgbClr val="2C292A"/>
                </a:solidFill>
                <a:latin typeface="JprljpVwhvqyTxtchxJmtxdyHelveticaNeue-MediumCon"/>
              </a:rPr>
            </a:br>
            <a:r>
              <a:rPr lang="en-GB" sz="1800" b="0" i="0" u="none" strike="noStrike" baseline="0" dirty="0">
                <a:solidFill>
                  <a:srgbClr val="2C292A"/>
                </a:solidFill>
                <a:latin typeface="WlctmlDkkpspLcwjxsKtxkbpUtopiaStd-Regular"/>
              </a:rPr>
              <a:t>Machine Learning is widely being applied and used in the real world today to solve complex problems that</a:t>
            </a:r>
            <a:br>
              <a:rPr lang="en-GB" sz="1800" b="0" i="0" u="none" strike="noStrike" baseline="0" dirty="0">
                <a:solidFill>
                  <a:srgbClr val="2C292A"/>
                </a:solidFill>
                <a:latin typeface="WlctmlDkkpspLcwjxsKtxkbpUtopiaStd-Regular"/>
              </a:rPr>
            </a:br>
            <a:r>
              <a:rPr lang="en-GB" sz="1800" b="0" i="0" u="none" strike="noStrike" baseline="0" dirty="0">
                <a:solidFill>
                  <a:srgbClr val="2C292A"/>
                </a:solidFill>
                <a:latin typeface="WlctmlDkkpspLcwjxsKtxkbpUtopiaStd-Regular"/>
              </a:rPr>
              <a:t>would otherwise have been impossible to solve based on traditional approaches and rule-based systems.</a:t>
            </a:r>
            <a:br>
              <a:rPr lang="en-GB" sz="1800" b="0" i="0" u="none" strike="noStrike" baseline="0" dirty="0">
                <a:solidFill>
                  <a:srgbClr val="2C292A"/>
                </a:solidFill>
                <a:latin typeface="WlctmlDkkpspLcwjxsKtxkbpUtopiaStd-Regular"/>
              </a:rPr>
            </a:br>
            <a:r>
              <a:rPr lang="en-GB" sz="1800" b="0" i="0" u="none" strike="noStrike" baseline="0" dirty="0">
                <a:solidFill>
                  <a:srgbClr val="2C292A"/>
                </a:solidFill>
                <a:latin typeface="WlctmlDkkpspLcwjxsKtxkbpUtopiaStd-Regular"/>
              </a:rPr>
              <a:t>The following list depicts some of the real-world applications of Machine Learning.</a:t>
            </a:r>
            <a:endParaRPr lang="en-GB" dirty="0"/>
          </a:p>
        </p:txBody>
      </p:sp>
      <p:sp>
        <p:nvSpPr>
          <p:cNvPr id="3" name="Content Placeholder 2">
            <a:extLst>
              <a:ext uri="{FF2B5EF4-FFF2-40B4-BE49-F238E27FC236}">
                <a16:creationId xmlns:a16="http://schemas.microsoft.com/office/drawing/2014/main" id="{62448CB4-9AE6-0F2C-DC4C-B43E999690FE}"/>
              </a:ext>
            </a:extLst>
          </p:cNvPr>
          <p:cNvSpPr>
            <a:spLocks noGrp="1"/>
          </p:cNvSpPr>
          <p:nvPr>
            <p:ph idx="1"/>
          </p:nvPr>
        </p:nvSpPr>
        <p:spPr/>
        <p:txBody>
          <a:bodyPr>
            <a:normAutofit fontScale="85000" lnSpcReduction="20000"/>
          </a:bodyPr>
          <a:lstStyle/>
          <a:p>
            <a:pPr algn="l"/>
            <a:r>
              <a:rPr lang="en-GB" sz="1800" b="0" i="0" u="none" strike="noStrike" baseline="0" dirty="0">
                <a:solidFill>
                  <a:srgbClr val="2C292A"/>
                </a:solidFill>
                <a:latin typeface="GtfwryTfwtvnLbnkqcHtgwygSymbol"/>
              </a:rPr>
              <a:t>• </a:t>
            </a:r>
            <a:r>
              <a:rPr lang="en-GB" sz="1800" b="0" i="0" u="none" strike="noStrike" baseline="0" dirty="0">
                <a:solidFill>
                  <a:srgbClr val="2C292A"/>
                </a:solidFill>
                <a:latin typeface="WlctmlDkkpspLcwjxsKtxkbpUtopiaStd-Regular"/>
              </a:rPr>
              <a:t>Product recommendations in online shopping platforms</a:t>
            </a:r>
          </a:p>
          <a:p>
            <a:pPr algn="l"/>
            <a:r>
              <a:rPr lang="en-GB" sz="1800" b="0" i="0" u="none" strike="noStrike" baseline="0" dirty="0">
                <a:solidFill>
                  <a:srgbClr val="2C292A"/>
                </a:solidFill>
                <a:latin typeface="GtfwryTfwtvnLbnkqcHtgwygSymbol"/>
              </a:rPr>
              <a:t>• </a:t>
            </a:r>
            <a:r>
              <a:rPr lang="en-GB" sz="1800" b="0" i="0" u="none" strike="noStrike" baseline="0" dirty="0">
                <a:solidFill>
                  <a:srgbClr val="2C292A"/>
                </a:solidFill>
                <a:latin typeface="WlctmlDkkpspLcwjxsKtxkbpUtopiaStd-Regular"/>
              </a:rPr>
              <a:t>Sentiment and emotion analysis</a:t>
            </a:r>
          </a:p>
          <a:p>
            <a:pPr algn="l"/>
            <a:r>
              <a:rPr lang="en-GB" sz="1800" b="0" i="0" u="none" strike="noStrike" baseline="0" dirty="0">
                <a:solidFill>
                  <a:srgbClr val="2C292A"/>
                </a:solidFill>
                <a:latin typeface="GtfwryTfwtvnLbnkqcHtgwygSymbol"/>
              </a:rPr>
              <a:t>• </a:t>
            </a:r>
            <a:r>
              <a:rPr lang="en-GB" sz="1800" b="0" i="0" u="none" strike="noStrike" baseline="0" dirty="0">
                <a:solidFill>
                  <a:srgbClr val="2C292A"/>
                </a:solidFill>
                <a:latin typeface="WlctmlDkkpspLcwjxsKtxkbpUtopiaStd-Regular"/>
              </a:rPr>
              <a:t>Anomaly detection</a:t>
            </a:r>
          </a:p>
          <a:p>
            <a:pPr algn="l"/>
            <a:r>
              <a:rPr lang="en-GB" sz="1800" b="0" i="0" u="none" strike="noStrike" baseline="0" dirty="0">
                <a:solidFill>
                  <a:srgbClr val="2C292A"/>
                </a:solidFill>
                <a:latin typeface="GtfwryTfwtvnLbnkqcHtgwygSymbol"/>
              </a:rPr>
              <a:t>• </a:t>
            </a:r>
            <a:r>
              <a:rPr lang="en-GB" sz="1800" b="0" i="0" u="none" strike="noStrike" baseline="0" dirty="0">
                <a:solidFill>
                  <a:srgbClr val="2C292A"/>
                </a:solidFill>
                <a:latin typeface="WlctmlDkkpspLcwjxsKtxkbpUtopiaStd-Regular"/>
              </a:rPr>
              <a:t>Fraud detection and prevention</a:t>
            </a:r>
          </a:p>
          <a:p>
            <a:pPr algn="l"/>
            <a:r>
              <a:rPr lang="en-GB" sz="1800" b="0" i="0" u="none" strike="noStrike" baseline="0" dirty="0">
                <a:solidFill>
                  <a:srgbClr val="2C292A"/>
                </a:solidFill>
                <a:latin typeface="GtfwryTfwtvnLbnkqcHtgwygSymbol"/>
              </a:rPr>
              <a:t>• </a:t>
            </a:r>
            <a:r>
              <a:rPr lang="en-GB" sz="1800" b="0" i="0" u="none" strike="noStrike" baseline="0" dirty="0">
                <a:solidFill>
                  <a:srgbClr val="2C292A"/>
                </a:solidFill>
                <a:latin typeface="WlctmlDkkpspLcwjxsKtxkbpUtopiaStd-Regular"/>
              </a:rPr>
              <a:t>Content recommendation (news, music, movies, and so on)</a:t>
            </a:r>
          </a:p>
          <a:p>
            <a:pPr algn="l"/>
            <a:r>
              <a:rPr lang="en-GB" sz="1800" b="0" i="0" u="none" strike="noStrike" baseline="0" dirty="0">
                <a:solidFill>
                  <a:srgbClr val="2C292A"/>
                </a:solidFill>
                <a:latin typeface="GtfwryTfwtvnLbnkqcHtgwygSymbol"/>
              </a:rPr>
              <a:t>• </a:t>
            </a:r>
            <a:r>
              <a:rPr lang="en-GB" sz="1800" b="0" i="0" u="none" strike="noStrike" baseline="0" dirty="0">
                <a:solidFill>
                  <a:srgbClr val="2C292A"/>
                </a:solidFill>
                <a:latin typeface="WlctmlDkkpspLcwjxsKtxkbpUtopiaStd-Regular"/>
              </a:rPr>
              <a:t>Weather forecasting</a:t>
            </a:r>
          </a:p>
          <a:p>
            <a:pPr algn="l"/>
            <a:r>
              <a:rPr lang="en-GB" sz="1800" b="0" i="0" u="none" strike="noStrike" baseline="0" dirty="0">
                <a:solidFill>
                  <a:srgbClr val="2C292A"/>
                </a:solidFill>
                <a:latin typeface="GtfwryTfwtvnLbnkqcHtgwygSymbol"/>
              </a:rPr>
              <a:t>• </a:t>
            </a:r>
            <a:r>
              <a:rPr lang="en-GB" sz="1800" b="0" i="0" u="none" strike="noStrike" baseline="0" dirty="0">
                <a:solidFill>
                  <a:srgbClr val="2C292A"/>
                </a:solidFill>
                <a:latin typeface="WlctmlDkkpspLcwjxsKtxkbpUtopiaStd-Regular"/>
              </a:rPr>
              <a:t>Stock market forecasting</a:t>
            </a:r>
          </a:p>
          <a:p>
            <a:pPr algn="l"/>
            <a:r>
              <a:rPr lang="en-GB" sz="1800" b="0" i="0" u="none" strike="noStrike" baseline="0" dirty="0">
                <a:solidFill>
                  <a:srgbClr val="2C292A"/>
                </a:solidFill>
                <a:latin typeface="GtfwryTfwtvnLbnkqcHtgwygSymbol"/>
              </a:rPr>
              <a:t>• </a:t>
            </a:r>
            <a:r>
              <a:rPr lang="en-GB" sz="1800" b="0" i="0" u="none" strike="noStrike" baseline="0" dirty="0">
                <a:solidFill>
                  <a:srgbClr val="2C292A"/>
                </a:solidFill>
                <a:latin typeface="WlctmlDkkpspLcwjxsKtxkbpUtopiaStd-Regular"/>
              </a:rPr>
              <a:t>Market basket analysis</a:t>
            </a:r>
          </a:p>
          <a:p>
            <a:pPr algn="l"/>
            <a:r>
              <a:rPr lang="en-GB" sz="1800" b="0" i="0" u="none" strike="noStrike" baseline="0" dirty="0">
                <a:solidFill>
                  <a:srgbClr val="2C292A"/>
                </a:solidFill>
                <a:latin typeface="GtfwryTfwtvnLbnkqcHtgwygSymbol"/>
              </a:rPr>
              <a:t>• </a:t>
            </a:r>
            <a:r>
              <a:rPr lang="en-GB" sz="1800" b="0" i="0" u="none" strike="noStrike" baseline="0" dirty="0">
                <a:solidFill>
                  <a:srgbClr val="2C292A"/>
                </a:solidFill>
                <a:latin typeface="WlctmlDkkpspLcwjxsKtxkbpUtopiaStd-Regular"/>
              </a:rPr>
              <a:t>Customer segmentation</a:t>
            </a:r>
          </a:p>
          <a:p>
            <a:pPr algn="l"/>
            <a:r>
              <a:rPr lang="en-GB" sz="1800" b="0" i="0" u="none" strike="noStrike" baseline="0" dirty="0">
                <a:solidFill>
                  <a:srgbClr val="2C292A"/>
                </a:solidFill>
                <a:latin typeface="GtfwryTfwtvnLbnkqcHtgwygSymbol"/>
              </a:rPr>
              <a:t>• </a:t>
            </a:r>
            <a:r>
              <a:rPr lang="en-GB" sz="1800" b="0" i="0" u="none" strike="noStrike" baseline="0" dirty="0">
                <a:solidFill>
                  <a:srgbClr val="2C292A"/>
                </a:solidFill>
                <a:latin typeface="WlctmlDkkpspLcwjxsKtxkbpUtopiaStd-Regular"/>
              </a:rPr>
              <a:t>Object and scene recognition in images and video</a:t>
            </a:r>
          </a:p>
          <a:p>
            <a:pPr algn="l"/>
            <a:r>
              <a:rPr lang="en-GB" sz="1800" b="0" i="0" u="none" strike="noStrike" baseline="0" dirty="0">
                <a:solidFill>
                  <a:srgbClr val="2C292A"/>
                </a:solidFill>
                <a:latin typeface="GtfwryTfwtvnLbnkqcHtgwygSymbol"/>
              </a:rPr>
              <a:t>• </a:t>
            </a:r>
            <a:r>
              <a:rPr lang="en-GB" sz="1800" b="0" i="0" u="none" strike="noStrike" baseline="0" dirty="0">
                <a:solidFill>
                  <a:srgbClr val="2C292A"/>
                </a:solidFill>
                <a:latin typeface="WlctmlDkkpspLcwjxsKtxkbpUtopiaStd-Regular"/>
              </a:rPr>
              <a:t>Speech recognition</a:t>
            </a:r>
          </a:p>
          <a:p>
            <a:pPr algn="l"/>
            <a:r>
              <a:rPr lang="en-GB" sz="1800" b="0" i="0" u="none" strike="noStrike" baseline="0" dirty="0">
                <a:solidFill>
                  <a:srgbClr val="2C292A"/>
                </a:solidFill>
                <a:latin typeface="GtfwryTfwtvnLbnkqcHtgwygSymbol"/>
              </a:rPr>
              <a:t>• </a:t>
            </a:r>
            <a:r>
              <a:rPr lang="en-GB" sz="1800" b="0" i="0" u="none" strike="noStrike" baseline="0" dirty="0">
                <a:solidFill>
                  <a:srgbClr val="2C292A"/>
                </a:solidFill>
                <a:latin typeface="WlctmlDkkpspLcwjxsKtxkbpUtopiaStd-Regular"/>
              </a:rPr>
              <a:t>Churn analytics</a:t>
            </a:r>
          </a:p>
          <a:p>
            <a:pPr algn="l"/>
            <a:r>
              <a:rPr lang="en-GB" sz="1800" b="0" i="0" u="none" strike="noStrike" baseline="0" dirty="0">
                <a:solidFill>
                  <a:srgbClr val="2C292A"/>
                </a:solidFill>
                <a:latin typeface="GtfwryTfwtvnLbnkqcHtgwygSymbol"/>
              </a:rPr>
              <a:t>• </a:t>
            </a:r>
            <a:r>
              <a:rPr lang="en-GB" sz="1800" b="0" i="0" u="none" strike="noStrike" baseline="0" dirty="0">
                <a:solidFill>
                  <a:srgbClr val="2C292A"/>
                </a:solidFill>
                <a:latin typeface="WlctmlDkkpspLcwjxsKtxkbpUtopiaStd-Regular"/>
              </a:rPr>
              <a:t>Click through predictions</a:t>
            </a:r>
          </a:p>
          <a:p>
            <a:pPr algn="l"/>
            <a:r>
              <a:rPr lang="en-GB" sz="1800" b="0" i="0" u="none" strike="noStrike" baseline="0" dirty="0">
                <a:solidFill>
                  <a:srgbClr val="2C292A"/>
                </a:solidFill>
                <a:latin typeface="GtfwryTfwtvnLbnkqcHtgwygSymbol"/>
              </a:rPr>
              <a:t>• </a:t>
            </a:r>
            <a:r>
              <a:rPr lang="en-GB" sz="1800" b="0" i="0" u="none" strike="noStrike" baseline="0" dirty="0">
                <a:solidFill>
                  <a:srgbClr val="2C292A"/>
                </a:solidFill>
                <a:latin typeface="WlctmlDkkpspLcwjxsKtxkbpUtopiaStd-Regular"/>
              </a:rPr>
              <a:t>Failure/defect detection and prevention</a:t>
            </a:r>
          </a:p>
          <a:p>
            <a:pPr algn="l"/>
            <a:r>
              <a:rPr lang="en-GB" sz="1800" b="0" i="0" u="none" strike="noStrike" baseline="0" dirty="0">
                <a:solidFill>
                  <a:srgbClr val="2C292A"/>
                </a:solidFill>
                <a:latin typeface="GtfwryTfwtvnLbnkqcHtgwygSymbol"/>
              </a:rPr>
              <a:t>• </a:t>
            </a:r>
            <a:r>
              <a:rPr lang="en-GB" sz="1800" b="0" i="0" u="none" strike="noStrike" baseline="0" dirty="0">
                <a:solidFill>
                  <a:srgbClr val="2C292A"/>
                </a:solidFill>
                <a:latin typeface="WlctmlDkkpspLcwjxsKtxkbpUtopiaStd-Regular"/>
              </a:rPr>
              <a:t>E-mail spam filtering</a:t>
            </a:r>
            <a:endParaRPr lang="en-GB" dirty="0"/>
          </a:p>
        </p:txBody>
      </p:sp>
    </p:spTree>
    <p:extLst>
      <p:ext uri="{BB962C8B-B14F-4D97-AF65-F5344CB8AC3E}">
        <p14:creationId xmlns:p14="http://schemas.microsoft.com/office/powerpoint/2010/main" val="899695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9C47DE6-AE89-B633-94F0-56D7D74728DF}"/>
              </a:ext>
            </a:extLst>
          </p:cNvPr>
          <p:cNvSpPr>
            <a:spLocks noGrp="1"/>
          </p:cNvSpPr>
          <p:nvPr>
            <p:ph type="title"/>
          </p:nvPr>
        </p:nvSpPr>
        <p:spPr>
          <a:xfrm>
            <a:off x="838200" y="675502"/>
            <a:ext cx="10515600" cy="90617"/>
          </a:xfrm>
        </p:spPr>
        <p:txBody>
          <a:bodyPr>
            <a:normAutofit fontScale="90000"/>
          </a:bodyPr>
          <a:lstStyle/>
          <a:p>
            <a:r>
              <a:rPr lang="en-GB" dirty="0"/>
              <a:t>Machine learning  </a:t>
            </a:r>
            <a:r>
              <a:rPr lang="ar-DZ" b="1" dirty="0"/>
              <a:t>تعلــــــــــــــــــــــــــــم</a:t>
            </a:r>
            <a:r>
              <a:rPr lang="ar-DZ" dirty="0"/>
              <a:t> </a:t>
            </a:r>
            <a:r>
              <a:rPr lang="ar-DZ" b="1" dirty="0"/>
              <a:t>الالــــــــــة</a:t>
            </a:r>
            <a:br>
              <a:rPr lang="ar-DZ" b="1" dirty="0"/>
            </a:br>
            <a:endParaRPr lang="en-GB" dirty="0"/>
          </a:p>
        </p:txBody>
      </p:sp>
      <p:sp>
        <p:nvSpPr>
          <p:cNvPr id="8" name="Content Placeholder 7">
            <a:extLst>
              <a:ext uri="{FF2B5EF4-FFF2-40B4-BE49-F238E27FC236}">
                <a16:creationId xmlns:a16="http://schemas.microsoft.com/office/drawing/2014/main" id="{510857BB-73B3-D0F9-046C-355FB17AB105}"/>
              </a:ext>
            </a:extLst>
          </p:cNvPr>
          <p:cNvSpPr>
            <a:spLocks noGrp="1"/>
          </p:cNvSpPr>
          <p:nvPr>
            <p:ph idx="1"/>
          </p:nvPr>
        </p:nvSpPr>
        <p:spPr>
          <a:xfrm>
            <a:off x="838200" y="889687"/>
            <a:ext cx="10515600" cy="5008606"/>
          </a:xfrm>
        </p:spPr>
        <p:txBody>
          <a:bodyPr>
            <a:normAutofit/>
          </a:bodyPr>
          <a:lstStyle/>
          <a:p>
            <a:pPr marL="0" indent="0" algn="ctr">
              <a:buNone/>
            </a:pPr>
            <a:r>
              <a:rPr lang="en-GB" sz="1800" b="1" i="0" u="none" strike="noStrike" baseline="0" dirty="0">
                <a:solidFill>
                  <a:srgbClr val="FF0000"/>
                </a:solidFill>
                <a:latin typeface="MyriadPro-SemiboldCond"/>
              </a:rPr>
              <a:t>Main Challenges of Machine Learning</a:t>
            </a:r>
          </a:p>
          <a:p>
            <a:pPr marL="0" indent="0">
              <a:buNone/>
            </a:pPr>
            <a:endParaRPr lang="en-GB" sz="1800" dirty="0">
              <a:latin typeface="MyriadPro-SemiboldCond"/>
            </a:endParaRPr>
          </a:p>
          <a:p>
            <a:pPr marL="0" indent="0" algn="l">
              <a:buNone/>
            </a:pPr>
            <a:r>
              <a:rPr lang="en-GB" sz="1800" dirty="0">
                <a:latin typeface="MinionPro-Regular"/>
              </a:rPr>
              <a:t>S</a:t>
            </a:r>
            <a:r>
              <a:rPr lang="en-GB" sz="1800" b="0" i="0" u="none" strike="noStrike" baseline="0" dirty="0">
                <a:latin typeface="MinionPro-Regular"/>
              </a:rPr>
              <a:t>ince your main task is to select a learning algorithm and train it on some data, the two things that can go wrong are “bad algorithm” and “bad data.”</a:t>
            </a:r>
          </a:p>
          <a:p>
            <a:pPr marL="0" indent="0" algn="l">
              <a:buNone/>
            </a:pPr>
            <a:endParaRPr lang="en-GB" sz="1800" b="0" i="0" u="none" strike="noStrike" baseline="0" dirty="0">
              <a:latin typeface="MinionPro-Regular"/>
            </a:endParaRPr>
          </a:p>
          <a:p>
            <a:pPr marL="342900" indent="-342900" algn="l">
              <a:buFont typeface="+mj-lt"/>
              <a:buAutoNum type="arabicPeriod"/>
            </a:pPr>
            <a:r>
              <a:rPr lang="en-GB" sz="1800" b="0" i="0" u="none" strike="noStrike" baseline="0" dirty="0">
                <a:latin typeface="MyriadPro-SemiboldCond"/>
              </a:rPr>
              <a:t>Insufficient Quantity of Training Data :                                  </a:t>
            </a:r>
            <a:r>
              <a:rPr lang="ar-DZ" sz="1800" b="0" i="0" u="none" strike="noStrike" baseline="0" dirty="0">
                <a:latin typeface="MyriadPro-SemiboldCond"/>
              </a:rPr>
              <a:t>كمية بيانات التدريب غير كافية</a:t>
            </a:r>
            <a:endParaRPr lang="en-GB" sz="1800" b="0" i="0" u="none" strike="noStrike" baseline="0" dirty="0">
              <a:latin typeface="MyriadPro-SemiboldCond"/>
            </a:endParaRPr>
          </a:p>
          <a:p>
            <a:pPr marL="342900" indent="-342900" algn="l">
              <a:buFont typeface="+mj-lt"/>
              <a:buAutoNum type="arabicPeriod"/>
            </a:pPr>
            <a:r>
              <a:rPr lang="en-GB" sz="1800" b="0" i="0" u="none" strike="noStrike" baseline="0" dirty="0">
                <a:latin typeface="MyriadPro-SemiboldCond"/>
              </a:rPr>
              <a:t>The Unreasonable Effectiveness of Data</a:t>
            </a:r>
            <a:r>
              <a:rPr lang="en-GB" sz="1800" dirty="0">
                <a:latin typeface="MyriadPro-SemiboldCond"/>
              </a:rPr>
              <a:t>:                                   </a:t>
            </a:r>
            <a:r>
              <a:rPr lang="ar-DZ" sz="1800" dirty="0">
                <a:latin typeface="MyriadPro-SemiboldCond"/>
              </a:rPr>
              <a:t>فعالية البيانات غير المعقولة</a:t>
            </a:r>
            <a:endParaRPr lang="en-GB" sz="1800" dirty="0">
              <a:latin typeface="MyriadPro-SemiboldCond"/>
            </a:endParaRPr>
          </a:p>
          <a:p>
            <a:pPr marL="342900" indent="-342900" algn="l">
              <a:buFont typeface="+mj-lt"/>
              <a:buAutoNum type="arabicPeriod"/>
            </a:pPr>
            <a:r>
              <a:rPr lang="en-GB" sz="1800" b="0" i="0" u="none" strike="noStrike" baseline="0" dirty="0">
                <a:latin typeface="MyriadPro-SemiboldCond"/>
              </a:rPr>
              <a:t>Nonrepresentative Training Data:                                                  </a:t>
            </a:r>
            <a:r>
              <a:rPr lang="ar-DZ" sz="1800" dirty="0">
                <a:latin typeface="MyriadPro-SemiboldCond"/>
              </a:rPr>
              <a:t>بيانات تدريب غير تمثيلية</a:t>
            </a:r>
            <a:r>
              <a:rPr lang="en-GB" sz="1800" dirty="0">
                <a:latin typeface="MyriadPro-SemiboldCond"/>
              </a:rPr>
              <a:t>        </a:t>
            </a:r>
          </a:p>
          <a:p>
            <a:pPr marL="342900" indent="-342900">
              <a:buFont typeface="+mj-lt"/>
              <a:buAutoNum type="arabicPeriod"/>
            </a:pPr>
            <a:r>
              <a:rPr lang="en-GB" sz="1800" b="0" i="0" u="none" strike="noStrike" baseline="0" dirty="0">
                <a:latin typeface="MyriadPro-SemiboldCond"/>
              </a:rPr>
              <a:t>Poor-Quality Data</a:t>
            </a:r>
            <a:r>
              <a:rPr lang="ar-DZ" sz="1800" dirty="0">
                <a:latin typeface="MyriadPro-SemiboldCond"/>
              </a:rPr>
              <a:t>.</a:t>
            </a:r>
            <a:r>
              <a:rPr lang="en-GB" sz="1800" dirty="0">
                <a:latin typeface="MyriadPro-SemiboldCond"/>
              </a:rPr>
              <a:t>                                                                                   </a:t>
            </a:r>
            <a:r>
              <a:rPr lang="ar-DZ" sz="1800" dirty="0">
                <a:latin typeface="MyriadPro-SemiboldCond"/>
              </a:rPr>
              <a:t>بيانات رديئة الجودة</a:t>
            </a:r>
            <a:endParaRPr lang="en-GB" sz="1800" dirty="0">
              <a:latin typeface="MyriadPro-SemiboldCond"/>
            </a:endParaRPr>
          </a:p>
          <a:p>
            <a:pPr marL="342900" indent="-342900">
              <a:buFont typeface="+mj-lt"/>
              <a:buAutoNum type="arabicPeriod"/>
            </a:pPr>
            <a:r>
              <a:rPr lang="en-GB" sz="1800" b="0" i="0" u="none" strike="noStrike" baseline="0" dirty="0">
                <a:latin typeface="MyriadPro-SemiboldCond"/>
              </a:rPr>
              <a:t>Irrelevant Features</a:t>
            </a:r>
            <a:r>
              <a:rPr lang="ar-DZ" sz="1800" dirty="0">
                <a:latin typeface="MyriadPro-SemiboldCond"/>
              </a:rPr>
              <a:t>.</a:t>
            </a:r>
            <a:r>
              <a:rPr lang="en-GB" sz="1800" dirty="0">
                <a:latin typeface="MyriadPro-SemiboldCond"/>
              </a:rPr>
              <a:t>                                                                               </a:t>
            </a:r>
            <a:r>
              <a:rPr lang="ar-DZ" sz="1800" dirty="0">
                <a:latin typeface="MyriadPro-SemiboldCond"/>
              </a:rPr>
              <a:t>ميزات غير ذات صلة</a:t>
            </a:r>
            <a:endParaRPr lang="en-GB" sz="1800" b="0" i="0" u="none" strike="noStrike" baseline="0" dirty="0">
              <a:latin typeface="MyriadPro-SemiboldCond"/>
            </a:endParaRPr>
          </a:p>
          <a:p>
            <a:pPr marL="342900" indent="-342900">
              <a:buFont typeface="+mj-lt"/>
              <a:buAutoNum type="arabicPeriod"/>
            </a:pPr>
            <a:r>
              <a:rPr lang="en-GB" sz="1800" b="0" i="0" u="none" strike="noStrike" baseline="0" dirty="0">
                <a:latin typeface="MyriadPro-SemiboldCond"/>
              </a:rPr>
              <a:t>Overfitting the Training Data                                               </a:t>
            </a:r>
            <a:r>
              <a:rPr lang="ar-DZ" sz="1800" dirty="0">
                <a:latin typeface="MyriadPro-SemiboldCond"/>
              </a:rPr>
              <a:t>الإفراط في ملاءمة بيانات التدريب</a:t>
            </a:r>
            <a:endParaRPr lang="en-GB" sz="1800" dirty="0">
              <a:latin typeface="MyriadPro-SemiboldCond"/>
            </a:endParaRPr>
          </a:p>
          <a:p>
            <a:pPr marL="342900" indent="-342900">
              <a:buFont typeface="+mj-lt"/>
              <a:buAutoNum type="arabicPeriod"/>
            </a:pPr>
            <a:r>
              <a:rPr lang="en-GB" sz="1800" b="0" i="0" u="none" strike="noStrike" baseline="0" dirty="0">
                <a:latin typeface="MyriadPro-SemiboldCond"/>
              </a:rPr>
              <a:t>Underfitting the Training Data                                                       </a:t>
            </a:r>
            <a:r>
              <a:rPr lang="ar-DZ" sz="1800" dirty="0">
                <a:latin typeface="MyriadPro-SemiboldCond"/>
              </a:rPr>
              <a:t>عدم ملاءمة بيانات التدريب</a:t>
            </a:r>
            <a:endParaRPr lang="en-GB" sz="1800" b="0" i="0" u="none" strike="noStrike" baseline="0" dirty="0">
              <a:latin typeface="MyriadPro-SemiboldCond"/>
            </a:endParaRPr>
          </a:p>
        </p:txBody>
      </p:sp>
    </p:spTree>
    <p:extLst>
      <p:ext uri="{BB962C8B-B14F-4D97-AF65-F5344CB8AC3E}">
        <p14:creationId xmlns:p14="http://schemas.microsoft.com/office/powerpoint/2010/main" val="35743986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BFB2C49-EF90-B50B-F7B8-7017627FA98D}"/>
              </a:ext>
            </a:extLst>
          </p:cNvPr>
          <p:cNvSpPr txBox="1"/>
          <p:nvPr/>
        </p:nvSpPr>
        <p:spPr>
          <a:xfrm>
            <a:off x="593124" y="1146771"/>
            <a:ext cx="10939849" cy="14773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To practice machine learning on your own data, you'll need a few essential tools and libraries.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1. Programming Language: Python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Python is the go-to language for most machine learning tasks. It has a rich ecosystem of libraries,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frameworks, and community support.</a:t>
            </a:r>
          </a:p>
        </p:txBody>
      </p:sp>
      <p:sp>
        <p:nvSpPr>
          <p:cNvPr id="7" name="TextBox 6">
            <a:extLst>
              <a:ext uri="{FF2B5EF4-FFF2-40B4-BE49-F238E27FC236}">
                <a16:creationId xmlns:a16="http://schemas.microsoft.com/office/drawing/2014/main" id="{8CD84E60-D6DD-92E2-E378-849E70012E22}"/>
              </a:ext>
            </a:extLst>
          </p:cNvPr>
          <p:cNvSpPr txBox="1"/>
          <p:nvPr/>
        </p:nvSpPr>
        <p:spPr>
          <a:xfrm>
            <a:off x="593124" y="2938682"/>
            <a:ext cx="11088130" cy="258532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2. Development Environment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     IDE/Code Editor</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You can use tools like: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err="1">
                <a:ln>
                  <a:noFill/>
                </a:ln>
                <a:solidFill>
                  <a:prstClr val="black"/>
                </a:solidFill>
                <a:effectLst/>
                <a:uLnTx/>
                <a:uFillTx/>
                <a:latin typeface="Aptos" panose="02110004020202020204"/>
                <a:ea typeface="+mn-ea"/>
                <a:cs typeface="+mn-cs"/>
              </a:rPr>
              <a:t>Jupyter</a:t>
            </a: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 Notebook</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(great for experimentation and visualization)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err="1">
                <a:ln>
                  <a:noFill/>
                </a:ln>
                <a:solidFill>
                  <a:prstClr val="black"/>
                </a:solidFill>
                <a:effectLst/>
                <a:uLnTx/>
                <a:uFillTx/>
                <a:latin typeface="Aptos" panose="02110004020202020204"/>
                <a:ea typeface="+mn-ea"/>
                <a:cs typeface="+mn-cs"/>
              </a:rPr>
              <a:t>VSCode</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or </a:t>
            </a: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PyCharm</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(ideal for larger projects)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Google </a:t>
            </a:r>
            <a:r>
              <a:rPr kumimoji="0" lang="en-GB" sz="1800" b="1" i="0" u="none" strike="noStrike" kern="1200" cap="none" spc="0" normalizeH="0" baseline="0" noProof="0" dirty="0" err="1">
                <a:ln>
                  <a:noFill/>
                </a:ln>
                <a:solidFill>
                  <a:prstClr val="black"/>
                </a:solidFill>
                <a:effectLst/>
                <a:uLnTx/>
                <a:uFillTx/>
                <a:latin typeface="Aptos" panose="02110004020202020204"/>
                <a:ea typeface="+mn-ea"/>
                <a:cs typeface="+mn-cs"/>
              </a:rPr>
              <a:t>Colab</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(cloud-based and free, no setup required)</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     Python Environment Management</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Anaconda</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(for managing Python environments and packages easily)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err="1">
                <a:ln>
                  <a:noFill/>
                </a:ln>
                <a:solidFill>
                  <a:prstClr val="black"/>
                </a:solidFill>
                <a:effectLst/>
                <a:uLnTx/>
                <a:uFillTx/>
                <a:latin typeface="Aptos" panose="02110004020202020204"/>
                <a:ea typeface="+mn-ea"/>
                <a:cs typeface="+mn-cs"/>
              </a:rPr>
              <a:t>Virtualenv</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or </a:t>
            </a:r>
            <a:r>
              <a:rPr kumimoji="0" lang="en-GB" sz="1800" b="1" i="0" u="none" strike="noStrike" kern="1200" cap="none" spc="0" normalizeH="0" baseline="0" noProof="0" dirty="0" err="1">
                <a:ln>
                  <a:noFill/>
                </a:ln>
                <a:solidFill>
                  <a:prstClr val="black"/>
                </a:solidFill>
                <a:effectLst/>
                <a:uLnTx/>
                <a:uFillTx/>
                <a:latin typeface="Aptos" panose="02110004020202020204"/>
                <a:ea typeface="+mn-ea"/>
                <a:cs typeface="+mn-cs"/>
              </a:rPr>
              <a:t>Conda</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(to create isolated environments)</a:t>
            </a:r>
          </a:p>
        </p:txBody>
      </p:sp>
      <p:sp>
        <p:nvSpPr>
          <p:cNvPr id="9" name="TextBox 8">
            <a:extLst>
              <a:ext uri="{FF2B5EF4-FFF2-40B4-BE49-F238E27FC236}">
                <a16:creationId xmlns:a16="http://schemas.microsoft.com/office/drawing/2014/main" id="{7C278D0A-E42B-1D78-028C-F30CB0B98C45}"/>
              </a:ext>
            </a:extLst>
          </p:cNvPr>
          <p:cNvSpPr txBox="1"/>
          <p:nvPr/>
        </p:nvSpPr>
        <p:spPr>
          <a:xfrm>
            <a:off x="1276866" y="288145"/>
            <a:ext cx="896276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Calibri" panose="020F0502020204030204" pitchFamily="34" charset="0"/>
                <a:ea typeface="Arial" panose="020B0604020202020204" pitchFamily="34" charset="0"/>
                <a:cs typeface="+mn-cs"/>
              </a:rPr>
              <a:t>Necessary tools for practicing Machine Learning on your own data.</a:t>
            </a:r>
            <a:endParaRPr kumimoji="0" lang="en-GB" sz="2400" b="0" i="0" u="none" strike="noStrike" kern="1200" cap="none" spc="0" normalizeH="0" baseline="0" noProof="0" dirty="0">
              <a:ln>
                <a:noFill/>
              </a:ln>
              <a:solidFill>
                <a:srgbClr val="FF0000"/>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47243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43D7112-B097-FE88-0979-784FD2BDCB8B}"/>
              </a:ext>
            </a:extLst>
          </p:cNvPr>
          <p:cNvSpPr txBox="1"/>
          <p:nvPr/>
        </p:nvSpPr>
        <p:spPr>
          <a:xfrm>
            <a:off x="543697" y="180868"/>
            <a:ext cx="10939849" cy="618630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3. Libraries and Frameworks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You’ll need the following libraries for preprocessing data, building models, and evaluating them: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a) Data Handling &amp; Processing</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Pandas</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For handling structured data (like CSV, Excel files, databases)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NumPy</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For numerical operations and arrays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Scikit-learn</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A powerful library for standard machine learning tasks (classification, regression, clustering, etc.)</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Matplotlib/Seaborn</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For data visualization and plotting</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OpenCV</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For image processing tasks (if you're working with image data)</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b) Deep Learning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TensorFlow</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or </a:t>
            </a:r>
            <a:r>
              <a:rPr kumimoji="0" lang="en-GB" sz="1800" b="1" i="0" u="none" strike="noStrike" kern="1200" cap="none" spc="0" normalizeH="0" baseline="0" noProof="0" dirty="0" err="1">
                <a:ln>
                  <a:noFill/>
                </a:ln>
                <a:solidFill>
                  <a:prstClr val="black"/>
                </a:solidFill>
                <a:effectLst/>
                <a:uLnTx/>
                <a:uFillTx/>
                <a:latin typeface="Aptos" panose="02110004020202020204"/>
                <a:ea typeface="+mn-ea"/>
                <a:cs typeface="+mn-cs"/>
              </a:rPr>
              <a:t>Keras</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For building neural networks and deep learning models.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err="1">
                <a:ln>
                  <a:noFill/>
                </a:ln>
                <a:solidFill>
                  <a:prstClr val="black"/>
                </a:solidFill>
                <a:effectLst/>
                <a:uLnTx/>
                <a:uFillTx/>
                <a:latin typeface="Aptos" panose="02110004020202020204"/>
                <a:ea typeface="+mn-ea"/>
                <a:cs typeface="+mn-cs"/>
              </a:rPr>
              <a:t>PyTorch</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Another popular deep learning framework, known for dynamic computation graphs.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c) Model Evaluation &amp; Validation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Scikit-learn</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Also provides tools for model evaluation (cross-validation, accuracy, precision, recall, etc.)</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err="1">
                <a:ln>
                  <a:noFill/>
                </a:ln>
                <a:solidFill>
                  <a:prstClr val="black"/>
                </a:solidFill>
                <a:effectLst/>
                <a:uLnTx/>
                <a:uFillTx/>
                <a:latin typeface="Aptos" panose="02110004020202020204"/>
                <a:ea typeface="+mn-ea"/>
                <a:cs typeface="+mn-cs"/>
              </a:rPr>
              <a:t>XGBoost</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or </a:t>
            </a:r>
            <a:r>
              <a:rPr kumimoji="0" lang="en-GB" sz="1800" b="1" i="0" u="none" strike="noStrike" kern="1200" cap="none" spc="0" normalizeH="0" baseline="0" noProof="0" dirty="0" err="1">
                <a:ln>
                  <a:noFill/>
                </a:ln>
                <a:solidFill>
                  <a:prstClr val="black"/>
                </a:solidFill>
                <a:effectLst/>
                <a:uLnTx/>
                <a:uFillTx/>
                <a:latin typeface="Aptos" panose="02110004020202020204"/>
                <a:ea typeface="+mn-ea"/>
                <a:cs typeface="+mn-cs"/>
              </a:rPr>
              <a:t>LightGBM</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For gradient boosting models, which perform well in structured/tabular data tasks.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d) Data Augmentation &amp; Preprocessing (for specific data types)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err="1">
                <a:ln>
                  <a:noFill/>
                </a:ln>
                <a:solidFill>
                  <a:prstClr val="black"/>
                </a:solidFill>
                <a:effectLst/>
                <a:uLnTx/>
                <a:uFillTx/>
                <a:latin typeface="Aptos" panose="02110004020202020204"/>
                <a:ea typeface="+mn-ea"/>
                <a:cs typeface="+mn-cs"/>
              </a:rPr>
              <a:t>Augmentor</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or </a:t>
            </a:r>
            <a:r>
              <a:rPr kumimoji="0" lang="en-GB" sz="1800" b="1" i="0" u="none" strike="noStrike" kern="1200" cap="none" spc="0" normalizeH="0" baseline="0" noProof="0" dirty="0" err="1">
                <a:ln>
                  <a:noFill/>
                </a:ln>
                <a:solidFill>
                  <a:prstClr val="black"/>
                </a:solidFill>
                <a:effectLst/>
                <a:uLnTx/>
                <a:uFillTx/>
                <a:latin typeface="Aptos" panose="02110004020202020204"/>
                <a:ea typeface="+mn-ea"/>
                <a:cs typeface="+mn-cs"/>
              </a:rPr>
              <a:t>ImageDataGenerator</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(for image data augmentation)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NLTK</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or </a:t>
            </a:r>
            <a:r>
              <a:rPr kumimoji="0" lang="en-GB" sz="1800" b="1" i="0" u="none" strike="noStrike" kern="1200" cap="none" spc="0" normalizeH="0" baseline="0" noProof="0" dirty="0" err="1">
                <a:ln>
                  <a:noFill/>
                </a:ln>
                <a:solidFill>
                  <a:prstClr val="black"/>
                </a:solidFill>
                <a:effectLst/>
                <a:uLnTx/>
                <a:uFillTx/>
                <a:latin typeface="Aptos" panose="02110004020202020204"/>
                <a:ea typeface="+mn-ea"/>
                <a:cs typeface="+mn-cs"/>
              </a:rPr>
              <a:t>SpaCy</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(for Natural Language Processing tasks)</a:t>
            </a:r>
          </a:p>
        </p:txBody>
      </p:sp>
    </p:spTree>
    <p:extLst>
      <p:ext uri="{BB962C8B-B14F-4D97-AF65-F5344CB8AC3E}">
        <p14:creationId xmlns:p14="http://schemas.microsoft.com/office/powerpoint/2010/main" val="262842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EC53933-E8F7-2126-E285-B57F50B82467}"/>
              </a:ext>
            </a:extLst>
          </p:cNvPr>
          <p:cNvSpPr txBox="1"/>
          <p:nvPr/>
        </p:nvSpPr>
        <p:spPr>
          <a:xfrm>
            <a:off x="3344562" y="388649"/>
            <a:ext cx="6096000"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dirty="0">
              <a:ln>
                <a:noFill/>
              </a:ln>
              <a:solidFill>
                <a:srgbClr val="000000"/>
              </a:solidFill>
              <a:effectLst/>
              <a:uLnTx/>
              <a:uFillTx/>
              <a:latin typeface="Proxima Nova Rg"/>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1D1F20"/>
                </a:solidFill>
                <a:effectLst/>
                <a:uLnTx/>
                <a:uFillTx/>
                <a:latin typeface="Proxima Nova Rg"/>
                <a:ea typeface="+mn-ea"/>
                <a:cs typeface="+mn-cs"/>
              </a:rPr>
              <a:t>Machine Learning work</a:t>
            </a:r>
            <a:r>
              <a:rPr kumimoji="0" lang="en-GB" sz="1800" b="0" i="0" u="none" strike="noStrike" kern="1200" cap="none" spc="0" normalizeH="0" baseline="0" noProof="0" dirty="0">
                <a:ln>
                  <a:noFill/>
                </a:ln>
                <a:solidFill>
                  <a:srgbClr val="000000"/>
                </a:solidFill>
                <a:effectLst/>
                <a:uLnTx/>
                <a:uFillTx/>
                <a:latin typeface="Proxima Nova Rg"/>
                <a:ea typeface="+mn-ea"/>
                <a:cs typeface="+mn-cs"/>
              </a:rPr>
              <a:t>fl</a:t>
            </a:r>
            <a:r>
              <a:rPr kumimoji="0" lang="en-GB" sz="1800" b="1" i="0" u="none" strike="noStrike" kern="1200" cap="none" spc="0" normalizeH="0" baseline="0" noProof="0" dirty="0">
                <a:ln>
                  <a:noFill/>
                </a:ln>
                <a:solidFill>
                  <a:srgbClr val="1D1F20"/>
                </a:solidFill>
                <a:effectLst/>
                <a:uLnTx/>
                <a:uFillTx/>
                <a:latin typeface="Proxima Nova Rg"/>
                <a:ea typeface="+mn-ea"/>
                <a:cs typeface="+mn-cs"/>
              </a:rPr>
              <a:t>ow steps</a:t>
            </a:r>
            <a:endPar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9" name="Picture 8">
            <a:extLst>
              <a:ext uri="{FF2B5EF4-FFF2-40B4-BE49-F238E27FC236}">
                <a16:creationId xmlns:a16="http://schemas.microsoft.com/office/drawing/2014/main" id="{665BEC88-D234-5A63-0EDB-4B0FE11F84BF}"/>
              </a:ext>
            </a:extLst>
          </p:cNvPr>
          <p:cNvPicPr>
            <a:picLocks noChangeAspect="1"/>
          </p:cNvPicPr>
          <p:nvPr/>
        </p:nvPicPr>
        <p:blipFill>
          <a:blip r:embed="rId2"/>
          <a:stretch>
            <a:fillRect/>
          </a:stretch>
        </p:blipFill>
        <p:spPr>
          <a:xfrm>
            <a:off x="509587" y="1292773"/>
            <a:ext cx="9647667" cy="5074689"/>
          </a:xfrm>
          <a:prstGeom prst="rect">
            <a:avLst/>
          </a:prstGeom>
        </p:spPr>
      </p:pic>
      <p:sp>
        <p:nvSpPr>
          <p:cNvPr id="10" name="TextBox 9">
            <a:extLst>
              <a:ext uri="{FF2B5EF4-FFF2-40B4-BE49-F238E27FC236}">
                <a16:creationId xmlns:a16="http://schemas.microsoft.com/office/drawing/2014/main" id="{12842287-5783-A1EE-D4BD-CAF586BF9D35}"/>
              </a:ext>
            </a:extLst>
          </p:cNvPr>
          <p:cNvSpPr txBox="1"/>
          <p:nvPr/>
        </p:nvSpPr>
        <p:spPr>
          <a:xfrm>
            <a:off x="9226378" y="1136822"/>
            <a:ext cx="930876" cy="584775"/>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73049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B4A446-1909-ACA8-0B1E-A00B8E4B9F4D}"/>
              </a:ext>
            </a:extLst>
          </p:cNvPr>
          <p:cNvSpPr>
            <a:spLocks noGrp="1"/>
          </p:cNvSpPr>
          <p:nvPr>
            <p:ph idx="1"/>
          </p:nvPr>
        </p:nvSpPr>
        <p:spPr>
          <a:xfrm>
            <a:off x="780535" y="1125408"/>
            <a:ext cx="10515600" cy="4351338"/>
          </a:xfrm>
        </p:spPr>
        <p:txBody>
          <a:bodyPr>
            <a:normAutofit fontScale="85000" lnSpcReduction="10000"/>
          </a:bodyPr>
          <a:lstStyle/>
          <a:p>
            <a:pPr marL="0" indent="0" algn="just">
              <a:buNone/>
            </a:pPr>
            <a:r>
              <a:rPr lang="en-GB" sz="1800" b="0" i="0" u="none" strike="noStrike" baseline="0" dirty="0">
                <a:solidFill>
                  <a:srgbClr val="1D1F20"/>
                </a:solidFill>
                <a:latin typeface="Proxima Nova Rg"/>
              </a:rPr>
              <a:t>Data collection and processing are essential parts of the ML process. They will determine how precise and e</a:t>
            </a:r>
            <a:r>
              <a:rPr lang="en-GB" sz="1800" b="0" i="0" u="none" strike="noStrike" baseline="0" dirty="0">
                <a:solidFill>
                  <a:srgbClr val="000000"/>
                </a:solidFill>
                <a:latin typeface="Proxima Nova Rg"/>
              </a:rPr>
              <a:t>ff</a:t>
            </a:r>
            <a:r>
              <a:rPr lang="en-GB" sz="1800" b="0" i="0" u="none" strike="noStrike" baseline="0" dirty="0">
                <a:solidFill>
                  <a:srgbClr val="1D1F20"/>
                </a:solidFill>
                <a:latin typeface="Proxima Nova Rg"/>
              </a:rPr>
              <a:t>ective the model will be. </a:t>
            </a:r>
            <a:endParaRPr lang="ar-DZ" sz="1800" b="0" i="0" u="none" strike="noStrike" baseline="0" dirty="0">
              <a:solidFill>
                <a:srgbClr val="1D1F20"/>
              </a:solidFill>
              <a:latin typeface="Proxima Nova Rg"/>
            </a:endParaRPr>
          </a:p>
          <a:p>
            <a:pPr marL="0" indent="0" algn="just">
              <a:buNone/>
            </a:pPr>
            <a:endParaRPr lang="en-GB" sz="1800" b="1" i="0" u="none" strike="noStrike" baseline="0" dirty="0">
              <a:solidFill>
                <a:srgbClr val="1D1F20"/>
              </a:solidFill>
              <a:latin typeface="Proxima Nova Rg"/>
            </a:endParaRPr>
          </a:p>
          <a:p>
            <a:pPr marL="0" indent="0" algn="just" rtl="0">
              <a:buNone/>
            </a:pPr>
            <a:r>
              <a:rPr lang="en-GB" b="1" i="0" dirty="0">
                <a:solidFill>
                  <a:srgbClr val="05192D"/>
                </a:solidFill>
                <a:effectLst/>
                <a:latin typeface="Studio-Feixen-Sans"/>
              </a:rPr>
              <a:t>Step 1: Data collection</a:t>
            </a:r>
          </a:p>
          <a:p>
            <a:pPr algn="just" rtl="0"/>
            <a:r>
              <a:rPr lang="en-GB" b="0" i="0" dirty="0">
                <a:solidFill>
                  <a:srgbClr val="05192D"/>
                </a:solidFill>
                <a:effectLst/>
                <a:latin typeface="Studio-Feixen-Sans"/>
              </a:rPr>
              <a:t>The first step in the machine learning process is data collection. Data is the lifeblood of machine learning - the quality and quantity of your data can directly impact your model's performance. Data can be collected from various sources such as databases, text files, images, audio files, or even scraped from the web.</a:t>
            </a:r>
          </a:p>
          <a:p>
            <a:pPr algn="just" rtl="0"/>
            <a:r>
              <a:rPr lang="en-GB" b="0" i="0" dirty="0">
                <a:solidFill>
                  <a:srgbClr val="05192D"/>
                </a:solidFill>
                <a:effectLst/>
                <a:latin typeface="Studio-Feixen-Sans"/>
              </a:rPr>
              <a:t>Once collected, the data needs to be prepared for machine learning. This process involves organizing the data in a suitable format, such as a CSV file or a database, and ensuring that the data is relevant to the problem you're trying to solve.</a:t>
            </a:r>
          </a:p>
          <a:p>
            <a:pPr algn="just" rtl="0"/>
            <a:endParaRPr lang="en-GB" dirty="0">
              <a:solidFill>
                <a:srgbClr val="05192D"/>
              </a:solidFill>
              <a:latin typeface="Studio-Feixen-Sans"/>
            </a:endParaRPr>
          </a:p>
          <a:p>
            <a:pPr algn="just" rtl="0"/>
            <a:r>
              <a:rPr lang="en-GB" b="0" i="0">
                <a:solidFill>
                  <a:srgbClr val="05192D"/>
                </a:solidFill>
                <a:effectLst/>
                <a:latin typeface="Studio-Feixen-Sans"/>
              </a:rPr>
              <a:t>CSV </a:t>
            </a:r>
            <a:r>
              <a:rPr lang="en-GB" b="0" i="0">
                <a:solidFill>
                  <a:srgbClr val="001D35"/>
                </a:solidFill>
                <a:effectLst/>
                <a:latin typeface="Google Sans"/>
              </a:rPr>
              <a:t>(</a:t>
            </a:r>
            <a:r>
              <a:rPr lang="en-GB" b="0" i="0" dirty="0">
                <a:solidFill>
                  <a:srgbClr val="001D35"/>
                </a:solidFill>
                <a:effectLst/>
                <a:latin typeface="Google Sans"/>
              </a:rPr>
              <a:t>Comma Separated Values)</a:t>
            </a:r>
            <a:endParaRPr lang="en-GB" b="0" i="0" dirty="0">
              <a:solidFill>
                <a:srgbClr val="05192D"/>
              </a:solidFill>
              <a:effectLst/>
              <a:latin typeface="Studio-Feixen-Sans"/>
            </a:endParaRPr>
          </a:p>
          <a:p>
            <a:pPr algn="just"/>
            <a:endParaRPr lang="en-GB" dirty="0"/>
          </a:p>
        </p:txBody>
      </p:sp>
      <p:sp>
        <p:nvSpPr>
          <p:cNvPr id="5" name="TextBox 4">
            <a:extLst>
              <a:ext uri="{FF2B5EF4-FFF2-40B4-BE49-F238E27FC236}">
                <a16:creationId xmlns:a16="http://schemas.microsoft.com/office/drawing/2014/main" id="{1B84B605-6A84-929C-0687-D222757B33D5}"/>
              </a:ext>
            </a:extLst>
          </p:cNvPr>
          <p:cNvSpPr txBox="1"/>
          <p:nvPr/>
        </p:nvSpPr>
        <p:spPr>
          <a:xfrm>
            <a:off x="667265" y="593180"/>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1D1F20"/>
                </a:solidFill>
                <a:effectLst/>
                <a:uLnTx/>
                <a:uFillTx/>
                <a:latin typeface="Proxima Nova Rg"/>
                <a:ea typeface="+mn-ea"/>
                <a:cs typeface="+mn-cs"/>
              </a:rPr>
              <a:t>1. Data Collection &amp; Preprocessing</a:t>
            </a:r>
            <a:endPar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394245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descr="Empreinte Digitale, Toucher">
            <a:extLst>
              <a:ext uri="{FF2B5EF4-FFF2-40B4-BE49-F238E27FC236}">
                <a16:creationId xmlns:a16="http://schemas.microsoft.com/office/drawing/2014/main" id="{E6C9080E-4902-8135-9B41-66FAD9C564CB}"/>
              </a:ext>
            </a:extLst>
          </p:cNvPr>
          <p:cNvPicPr>
            <a:picLocks noChangeAspect="1" noChangeArrowheads="1"/>
          </p:cNvPicPr>
          <p:nvPr/>
        </p:nvPicPr>
        <p:blipFill>
          <a:blip r:embed="rId2" cstate="print"/>
          <a:srcRect/>
          <a:stretch>
            <a:fillRect/>
          </a:stretch>
        </p:blipFill>
        <p:spPr bwMode="auto">
          <a:xfrm>
            <a:off x="1304800" y="593345"/>
            <a:ext cx="1458065" cy="2123235"/>
          </a:xfrm>
          <a:prstGeom prst="rect">
            <a:avLst/>
          </a:prstGeom>
          <a:noFill/>
        </p:spPr>
      </p:pic>
      <p:pic>
        <p:nvPicPr>
          <p:cNvPr id="5" name="Picture 2" descr="Vieil Allemand, Écriture Manuscrite">
            <a:extLst>
              <a:ext uri="{FF2B5EF4-FFF2-40B4-BE49-F238E27FC236}">
                <a16:creationId xmlns:a16="http://schemas.microsoft.com/office/drawing/2014/main" id="{A31E75D8-ECC4-77E1-60AE-E5583B1A606B}"/>
              </a:ext>
            </a:extLst>
          </p:cNvPr>
          <p:cNvPicPr>
            <a:picLocks noChangeAspect="1" noChangeArrowheads="1"/>
          </p:cNvPicPr>
          <p:nvPr/>
        </p:nvPicPr>
        <p:blipFill>
          <a:blip r:embed="rId3"/>
          <a:srcRect/>
          <a:stretch>
            <a:fillRect/>
          </a:stretch>
        </p:blipFill>
        <p:spPr bwMode="auto">
          <a:xfrm>
            <a:off x="5882514" y="366424"/>
            <a:ext cx="3714776" cy="2736304"/>
          </a:xfrm>
          <a:prstGeom prst="rect">
            <a:avLst/>
          </a:prstGeom>
          <a:noFill/>
        </p:spPr>
      </p:pic>
      <p:pic>
        <p:nvPicPr>
          <p:cNvPr id="6" name="Picture 2" descr="Homme, Visage, La Reconnaissance Faciale">
            <a:extLst>
              <a:ext uri="{FF2B5EF4-FFF2-40B4-BE49-F238E27FC236}">
                <a16:creationId xmlns:a16="http://schemas.microsoft.com/office/drawing/2014/main" id="{8452AE49-69D6-D87E-CE4F-1A6A6A2F77D7}"/>
              </a:ext>
            </a:extLst>
          </p:cNvPr>
          <p:cNvPicPr>
            <a:picLocks noChangeAspect="1" noChangeArrowheads="1"/>
          </p:cNvPicPr>
          <p:nvPr/>
        </p:nvPicPr>
        <p:blipFill>
          <a:blip r:embed="rId4"/>
          <a:srcRect/>
          <a:stretch>
            <a:fillRect/>
          </a:stretch>
        </p:blipFill>
        <p:spPr bwMode="auto">
          <a:xfrm>
            <a:off x="967375" y="3681132"/>
            <a:ext cx="3334930" cy="2214602"/>
          </a:xfrm>
          <a:prstGeom prst="rect">
            <a:avLst/>
          </a:prstGeom>
          <a:noFill/>
        </p:spPr>
      </p:pic>
      <p:pic>
        <p:nvPicPr>
          <p:cNvPr id="7" name="Picture 10" descr="Podcast, Microphone, Vague, L'Audio">
            <a:extLst>
              <a:ext uri="{FF2B5EF4-FFF2-40B4-BE49-F238E27FC236}">
                <a16:creationId xmlns:a16="http://schemas.microsoft.com/office/drawing/2014/main" id="{D431DB92-F81B-DDBA-D8DF-E9026699F3CB}"/>
              </a:ext>
            </a:extLst>
          </p:cNvPr>
          <p:cNvPicPr>
            <a:picLocks noChangeAspect="1" noChangeArrowheads="1"/>
          </p:cNvPicPr>
          <p:nvPr/>
        </p:nvPicPr>
        <p:blipFill>
          <a:blip r:embed="rId5"/>
          <a:srcRect/>
          <a:stretch>
            <a:fillRect/>
          </a:stretch>
        </p:blipFill>
        <p:spPr bwMode="auto">
          <a:xfrm>
            <a:off x="7304579" y="3755273"/>
            <a:ext cx="2437117" cy="1785950"/>
          </a:xfrm>
          <a:prstGeom prst="rect">
            <a:avLst/>
          </a:prstGeom>
          <a:noFill/>
        </p:spPr>
      </p:pic>
      <p:sp>
        <p:nvSpPr>
          <p:cNvPr id="9" name="TextBox 8">
            <a:extLst>
              <a:ext uri="{FF2B5EF4-FFF2-40B4-BE49-F238E27FC236}">
                <a16:creationId xmlns:a16="http://schemas.microsoft.com/office/drawing/2014/main" id="{A56A83EC-4AE5-CCB2-C51D-C5CB3376FB31}"/>
              </a:ext>
            </a:extLst>
          </p:cNvPr>
          <p:cNvSpPr txBox="1"/>
          <p:nvPr/>
        </p:nvSpPr>
        <p:spPr>
          <a:xfrm>
            <a:off x="1379267" y="2644858"/>
            <a:ext cx="162733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Fingerprints.</a:t>
            </a:r>
          </a:p>
        </p:txBody>
      </p:sp>
      <p:sp>
        <p:nvSpPr>
          <p:cNvPr id="11" name="TextBox 10">
            <a:extLst>
              <a:ext uri="{FF2B5EF4-FFF2-40B4-BE49-F238E27FC236}">
                <a16:creationId xmlns:a16="http://schemas.microsoft.com/office/drawing/2014/main" id="{7F38FDC3-6063-7D65-AEDD-D214D4777A32}"/>
              </a:ext>
            </a:extLst>
          </p:cNvPr>
          <p:cNvSpPr txBox="1"/>
          <p:nvPr/>
        </p:nvSpPr>
        <p:spPr>
          <a:xfrm>
            <a:off x="7076302" y="3246393"/>
            <a:ext cx="206769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Handwriting,</a:t>
            </a:r>
          </a:p>
        </p:txBody>
      </p:sp>
    </p:spTree>
    <p:extLst>
      <p:ext uri="{BB962C8B-B14F-4D97-AF65-F5344CB8AC3E}">
        <p14:creationId xmlns:p14="http://schemas.microsoft.com/office/powerpoint/2010/main" val="1634994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ode, Analyse, Qr Code, Pratique">
            <a:extLst>
              <a:ext uri="{FF2B5EF4-FFF2-40B4-BE49-F238E27FC236}">
                <a16:creationId xmlns:a16="http://schemas.microsoft.com/office/drawing/2014/main" id="{04B0759C-D250-BC18-22DC-820AFEAE0897}"/>
              </a:ext>
            </a:extLst>
          </p:cNvPr>
          <p:cNvPicPr>
            <a:picLocks noChangeAspect="1" noChangeArrowheads="1"/>
          </p:cNvPicPr>
          <p:nvPr/>
        </p:nvPicPr>
        <p:blipFill>
          <a:blip r:embed="rId2"/>
          <a:srcRect/>
          <a:stretch>
            <a:fillRect/>
          </a:stretch>
        </p:blipFill>
        <p:spPr bwMode="auto">
          <a:xfrm>
            <a:off x="1222507" y="648887"/>
            <a:ext cx="2844789" cy="2502526"/>
          </a:xfrm>
          <a:prstGeom prst="rect">
            <a:avLst/>
          </a:prstGeom>
          <a:noFill/>
        </p:spPr>
      </p:pic>
      <p:pic>
        <p:nvPicPr>
          <p:cNvPr id="5" name="Picture 12" descr="Code À Barres, Étiquette Code À Barres">
            <a:extLst>
              <a:ext uri="{FF2B5EF4-FFF2-40B4-BE49-F238E27FC236}">
                <a16:creationId xmlns:a16="http://schemas.microsoft.com/office/drawing/2014/main" id="{0D06CCF1-0B6F-A4CD-D0C1-223ED94EEA34}"/>
              </a:ext>
            </a:extLst>
          </p:cNvPr>
          <p:cNvPicPr>
            <a:picLocks noChangeAspect="1" noChangeArrowheads="1"/>
          </p:cNvPicPr>
          <p:nvPr/>
        </p:nvPicPr>
        <p:blipFill>
          <a:blip r:embed="rId3"/>
          <a:srcRect/>
          <a:stretch>
            <a:fillRect/>
          </a:stretch>
        </p:blipFill>
        <p:spPr bwMode="auto">
          <a:xfrm>
            <a:off x="6548349" y="506353"/>
            <a:ext cx="2703476" cy="2112091"/>
          </a:xfrm>
          <a:prstGeom prst="rect">
            <a:avLst/>
          </a:prstGeom>
          <a:noFill/>
        </p:spPr>
      </p:pic>
      <p:pic>
        <p:nvPicPr>
          <p:cNvPr id="6" name="Picture 4" descr="https://media.istockphoto.com/id/1165138015/fr/photo/comparaison-mri-cerveau-axial-t1-et-t2-pour-d%C3%A9tecter-une-vari%C3%A9t%C3%A9-de-conditions-du-cerveau.jpg?b=1&amp;s=170667a&amp;w=0&amp;k=20&amp;c=-_QtLLqQpr3bB3Aav_qCTwKRwLWTpni0VFzoPFDoZlA=">
            <a:extLst>
              <a:ext uri="{FF2B5EF4-FFF2-40B4-BE49-F238E27FC236}">
                <a16:creationId xmlns:a16="http://schemas.microsoft.com/office/drawing/2014/main" id="{A2496FFC-98F6-5C3C-A57F-7D2436B72FC6}"/>
              </a:ext>
            </a:extLst>
          </p:cNvPr>
          <p:cNvPicPr>
            <a:picLocks noChangeAspect="1" noChangeArrowheads="1"/>
          </p:cNvPicPr>
          <p:nvPr/>
        </p:nvPicPr>
        <p:blipFill>
          <a:blip r:embed="rId4"/>
          <a:srcRect/>
          <a:stretch>
            <a:fillRect/>
          </a:stretch>
        </p:blipFill>
        <p:spPr bwMode="auto">
          <a:xfrm>
            <a:off x="4283027" y="3820340"/>
            <a:ext cx="3200674" cy="2219306"/>
          </a:xfrm>
          <a:prstGeom prst="rect">
            <a:avLst/>
          </a:prstGeom>
          <a:noFill/>
        </p:spPr>
      </p:pic>
    </p:spTree>
    <p:extLst>
      <p:ext uri="{BB962C8B-B14F-4D97-AF65-F5344CB8AC3E}">
        <p14:creationId xmlns:p14="http://schemas.microsoft.com/office/powerpoint/2010/main" val="35940126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static.wixstatic.com/media/c9d501_28eb20eca441440496645e867ee2e34e~mv2.jpg/v1/fill/w_740,h_370,al_c,q_80,usm_0.66_1.00_0.01,enc_auto/c9d501_28eb20eca441440496645e867ee2e34e~mv2.jpg">
            <a:extLst>
              <a:ext uri="{FF2B5EF4-FFF2-40B4-BE49-F238E27FC236}">
                <a16:creationId xmlns:a16="http://schemas.microsoft.com/office/drawing/2014/main" id="{9E396A49-D469-8165-C115-EECD19B395DA}"/>
              </a:ext>
            </a:extLst>
          </p:cNvPr>
          <p:cNvPicPr>
            <a:picLocks noChangeAspect="1" noChangeArrowheads="1"/>
          </p:cNvPicPr>
          <p:nvPr/>
        </p:nvPicPr>
        <p:blipFill>
          <a:blip r:embed="rId2"/>
          <a:srcRect/>
          <a:stretch>
            <a:fillRect/>
          </a:stretch>
        </p:blipFill>
        <p:spPr bwMode="auto">
          <a:xfrm>
            <a:off x="1881158" y="928670"/>
            <a:ext cx="8215370" cy="4714908"/>
          </a:xfrm>
          <a:prstGeom prst="rect">
            <a:avLst/>
          </a:prstGeom>
          <a:noFill/>
        </p:spPr>
      </p:pic>
    </p:spTree>
    <p:extLst>
      <p:ext uri="{BB962C8B-B14F-4D97-AF65-F5344CB8AC3E}">
        <p14:creationId xmlns:p14="http://schemas.microsoft.com/office/powerpoint/2010/main" val="33071120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44ED515A-87EF-AC4B-B911-FF972313B9C2}"/>
              </a:ext>
            </a:extLst>
          </p:cNvPr>
          <p:cNvPicPr>
            <a:picLocks noChangeAspect="1" noChangeArrowheads="1"/>
          </p:cNvPicPr>
          <p:nvPr/>
        </p:nvPicPr>
        <p:blipFill>
          <a:blip r:embed="rId2"/>
          <a:srcRect/>
          <a:stretch>
            <a:fillRect/>
          </a:stretch>
        </p:blipFill>
        <p:spPr bwMode="auto">
          <a:xfrm>
            <a:off x="1689216" y="964389"/>
            <a:ext cx="8813568" cy="4929222"/>
          </a:xfrm>
          <a:prstGeom prst="rect">
            <a:avLst/>
          </a:prstGeom>
          <a:noFill/>
          <a:ln w="9525">
            <a:noFill/>
            <a:miter lim="800000"/>
            <a:headEnd/>
            <a:tailEnd/>
          </a:ln>
          <a:effectLst/>
        </p:spPr>
      </p:pic>
    </p:spTree>
    <p:extLst>
      <p:ext uri="{BB962C8B-B14F-4D97-AF65-F5344CB8AC3E}">
        <p14:creationId xmlns:p14="http://schemas.microsoft.com/office/powerpoint/2010/main" val="29466546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65B845D-7EF0-D845-B49D-90432CFC254B}"/>
              </a:ext>
            </a:extLst>
          </p:cNvPr>
          <p:cNvSpPr txBox="1"/>
          <p:nvPr/>
        </p:nvSpPr>
        <p:spPr>
          <a:xfrm>
            <a:off x="691978" y="803869"/>
            <a:ext cx="10865708" cy="286232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05192D"/>
                </a:solidFill>
                <a:effectLst/>
                <a:uLnTx/>
                <a:uFillTx/>
                <a:latin typeface="Studio-Feixen-Sans"/>
                <a:ea typeface="+mn-ea"/>
                <a:cs typeface="+mn-cs"/>
              </a:rPr>
              <a:t>Step 2: Data preprocessing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05192D"/>
              </a:solidFill>
              <a:effectLst/>
              <a:uLnTx/>
              <a:uFillTx/>
              <a:latin typeface="Studio-Feixen-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5192D"/>
                </a:solidFill>
                <a:effectLst/>
                <a:uLnTx/>
                <a:uFillTx/>
                <a:latin typeface="Studio-Feixen-Sans"/>
                <a:ea typeface="+mn-ea"/>
                <a:cs typeface="+mn-cs"/>
              </a:rPr>
              <a:t>Data preprocessing is a crucial step in the machine learning process. It involves cleaning the data (removing duplicates, correcting errors), handling missing data (either by removing it or filling it in) and normalizing the data (scaling the data to a standard format).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5192D"/>
              </a:solidFill>
              <a:effectLst/>
              <a:uLnTx/>
              <a:uFillTx/>
              <a:latin typeface="Studio-Feixen-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5192D"/>
                </a:solidFill>
                <a:effectLst/>
                <a:uLnTx/>
                <a:uFillTx/>
                <a:latin typeface="Studio-Feixen-Sans"/>
                <a:ea typeface="+mn-ea"/>
                <a:cs typeface="+mn-cs"/>
              </a:rPr>
              <a:t>Preprocessing improves the quality of your data and ensures that your machine learning model can interpret it correctly.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5192D"/>
              </a:solidFill>
              <a:effectLst/>
              <a:uLnTx/>
              <a:uFillTx/>
              <a:latin typeface="Studio-Feixen-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5192D"/>
                </a:solidFill>
                <a:effectLst/>
                <a:uLnTx/>
                <a:uFillTx/>
                <a:latin typeface="Studio-Feixen-Sans"/>
                <a:ea typeface="+mn-ea"/>
                <a:cs typeface="+mn-cs"/>
              </a:rPr>
              <a:t>This step can significantly improve the accuracy of your model. </a:t>
            </a:r>
          </a:p>
        </p:txBody>
      </p:sp>
    </p:spTree>
    <p:extLst>
      <p:ext uri="{BB962C8B-B14F-4D97-AF65-F5344CB8AC3E}">
        <p14:creationId xmlns:p14="http://schemas.microsoft.com/office/powerpoint/2010/main" val="31235713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E01C10-F2A5-A810-8AF4-31B2F78845D5}"/>
              </a:ext>
            </a:extLst>
          </p:cNvPr>
          <p:cNvSpPr>
            <a:spLocks noGrp="1"/>
          </p:cNvSpPr>
          <p:nvPr>
            <p:ph idx="1"/>
          </p:nvPr>
        </p:nvSpPr>
        <p:spPr>
          <a:xfrm>
            <a:off x="838200" y="337750"/>
            <a:ext cx="10859530" cy="6145427"/>
          </a:xfrm>
        </p:spPr>
        <p:txBody>
          <a:bodyPr>
            <a:normAutofit lnSpcReduction="10000"/>
          </a:bodyPr>
          <a:lstStyle/>
          <a:p>
            <a:pPr marL="0" indent="0" algn="just">
              <a:buNone/>
            </a:pPr>
            <a:r>
              <a:rPr lang="en-GB" sz="1800" b="1" i="0" u="none" strike="noStrike" baseline="0" dirty="0">
                <a:solidFill>
                  <a:srgbClr val="1D1F20"/>
                </a:solidFill>
                <a:latin typeface="Proxima Nova Rg"/>
              </a:rPr>
              <a:t>Data preprocessing</a:t>
            </a:r>
            <a:endParaRPr lang="en-GB" sz="1800" b="0" i="0" u="none" strike="noStrike" baseline="0" dirty="0">
              <a:solidFill>
                <a:srgbClr val="000000"/>
              </a:solidFill>
              <a:latin typeface="Proxima Nova Rg"/>
            </a:endParaRPr>
          </a:p>
          <a:p>
            <a:pPr marL="0" indent="0" algn="just">
              <a:buNone/>
            </a:pPr>
            <a:r>
              <a:rPr lang="en-GB" sz="1800" b="0" i="0" u="none" strike="noStrike" baseline="0" dirty="0">
                <a:solidFill>
                  <a:srgbClr val="1D1F20"/>
                </a:solidFill>
                <a:latin typeface="Proxima Nova Rg"/>
              </a:rPr>
              <a:t>Data preprocessing follows data collection and involves preparing the data for training the model. It consists of numerous crucial processes:</a:t>
            </a:r>
            <a:endParaRPr lang="en-GB" sz="1800" b="0" i="0" u="none" strike="noStrike" baseline="0" dirty="0">
              <a:solidFill>
                <a:srgbClr val="000000"/>
              </a:solidFill>
              <a:latin typeface="Proxima Nova Rg"/>
            </a:endParaRPr>
          </a:p>
          <a:p>
            <a:pPr algn="just"/>
            <a:r>
              <a:rPr lang="en-GB" sz="1800" b="1" i="0" u="none" strike="noStrike" baseline="0" dirty="0">
                <a:solidFill>
                  <a:srgbClr val="1D1F20"/>
                </a:solidFill>
                <a:latin typeface="Proxima Nova Rg"/>
              </a:rPr>
              <a:t>Data cleaning </a:t>
            </a:r>
          </a:p>
          <a:p>
            <a:pPr algn="just"/>
            <a:r>
              <a:rPr lang="en-GB" sz="1800" b="1" i="0" u="none" strike="noStrike" baseline="0" dirty="0">
                <a:solidFill>
                  <a:srgbClr val="1D1F20"/>
                </a:solidFill>
                <a:latin typeface="Proxima Nova Rg"/>
              </a:rPr>
              <a:t>Data transformation: </a:t>
            </a:r>
            <a:r>
              <a:rPr lang="en-GB" sz="1800" b="0" i="0" u="none" strike="noStrike" baseline="0" dirty="0">
                <a:solidFill>
                  <a:srgbClr val="1D1F20"/>
                </a:solidFill>
                <a:latin typeface="Proxima Nova Rg"/>
              </a:rPr>
              <a:t>Data transformation ensures that the data obtained is in an easily handled format to </a:t>
            </a:r>
            <a:r>
              <a:rPr lang="en-GB" sz="1800" b="0" i="0" u="none" strike="noStrike" baseline="0" dirty="0" err="1">
                <a:solidFill>
                  <a:srgbClr val="1D1F20"/>
                </a:solidFill>
                <a:latin typeface="Proxima Nova Rg"/>
              </a:rPr>
              <a:t>analyze</a:t>
            </a:r>
            <a:r>
              <a:rPr lang="en-GB" sz="1800" b="0" i="0" u="none" strike="noStrike" baseline="0" dirty="0">
                <a:solidFill>
                  <a:srgbClr val="1D1F20"/>
                </a:solidFill>
                <a:latin typeface="Proxima Nova Rg"/>
              </a:rPr>
              <a:t>. It may include:</a:t>
            </a:r>
          </a:p>
          <a:p>
            <a:pPr marL="0" indent="0" algn="just">
              <a:buNone/>
            </a:pPr>
            <a:r>
              <a:rPr lang="en-GB" sz="1800" dirty="0">
                <a:solidFill>
                  <a:srgbClr val="1D1F20"/>
                </a:solidFill>
                <a:latin typeface="Proxima Nova Rg"/>
              </a:rPr>
              <a:t>    </a:t>
            </a:r>
            <a:r>
              <a:rPr lang="en-GB" sz="1800" b="1" dirty="0">
                <a:solidFill>
                  <a:srgbClr val="1D1F20"/>
                </a:solidFill>
                <a:latin typeface="Proxima Nova Rg"/>
              </a:rPr>
              <a:t>1</a:t>
            </a:r>
            <a:r>
              <a:rPr lang="en-GB" sz="1800" dirty="0">
                <a:solidFill>
                  <a:srgbClr val="1D1F20"/>
                </a:solidFill>
                <a:latin typeface="Proxima Nova Rg"/>
              </a:rPr>
              <a:t>. </a:t>
            </a:r>
            <a:r>
              <a:rPr lang="en-GB" sz="1800" b="1" i="0" u="none" strike="noStrike" baseline="0" dirty="0">
                <a:solidFill>
                  <a:srgbClr val="1D1F20"/>
                </a:solidFill>
                <a:latin typeface="Proxima Nova Rg"/>
              </a:rPr>
              <a:t>Normalization </a:t>
            </a:r>
          </a:p>
          <a:p>
            <a:pPr marL="0" indent="0" algn="just">
              <a:buNone/>
            </a:pPr>
            <a:r>
              <a:rPr lang="en-GB" sz="1800" b="1" i="0" u="none" strike="noStrike" baseline="0" dirty="0">
                <a:solidFill>
                  <a:srgbClr val="1D1F20"/>
                </a:solidFill>
                <a:latin typeface="Proxima Nova Rg"/>
              </a:rPr>
              <a:t>    2. Encoding categorical features </a:t>
            </a:r>
            <a:r>
              <a:rPr lang="en-GB" sz="1800" b="0" i="0" u="none" strike="noStrike" baseline="0" dirty="0">
                <a:solidFill>
                  <a:srgbClr val="1D1F20"/>
                </a:solidFill>
                <a:latin typeface="Proxima Nova Rg"/>
              </a:rPr>
              <a:t>is done by converting such features into a numerical form that  </a:t>
            </a:r>
          </a:p>
          <a:p>
            <a:pPr marL="0" indent="0" algn="just">
              <a:buNone/>
            </a:pPr>
            <a:r>
              <a:rPr lang="en-GB" sz="1800" dirty="0">
                <a:solidFill>
                  <a:srgbClr val="1D1F20"/>
                </a:solidFill>
                <a:latin typeface="Proxima Nova Rg"/>
              </a:rPr>
              <a:t>        </a:t>
            </a:r>
            <a:r>
              <a:rPr lang="en-GB" sz="1800" b="0" i="0" u="none" strike="noStrike" baseline="0" dirty="0">
                <a:solidFill>
                  <a:srgbClr val="1D1F20"/>
                </a:solidFill>
                <a:latin typeface="Proxima Nova Rg"/>
              </a:rPr>
              <a:t>machine learning algorithms can process.</a:t>
            </a:r>
          </a:p>
          <a:p>
            <a:pPr algn="just"/>
            <a:endParaRPr lang="en-GB" sz="1800" b="0" i="0" u="none" strike="noStrike" baseline="0" dirty="0">
              <a:solidFill>
                <a:srgbClr val="000000"/>
              </a:solidFill>
              <a:latin typeface="Proxima Nova Rg"/>
            </a:endParaRPr>
          </a:p>
          <a:p>
            <a:pPr algn="just"/>
            <a:r>
              <a:rPr lang="en-GB" sz="1800" b="1" i="0" u="none" strike="noStrike" baseline="0" dirty="0">
                <a:solidFill>
                  <a:srgbClr val="1D1F20"/>
                </a:solidFill>
                <a:latin typeface="Proxima Nova Rg"/>
              </a:rPr>
              <a:t>Data augmentation</a:t>
            </a:r>
            <a:r>
              <a:rPr lang="en-GB" sz="1800" dirty="0">
                <a:solidFill>
                  <a:srgbClr val="1D1F20"/>
                </a:solidFill>
                <a:latin typeface="Proxima Nova Rg"/>
              </a:rPr>
              <a:t>: </a:t>
            </a:r>
            <a:r>
              <a:rPr lang="en-GB" sz="1800" b="0" i="0" u="none" strike="noStrike" baseline="0" dirty="0">
                <a:solidFill>
                  <a:srgbClr val="1D1F20"/>
                </a:solidFill>
                <a:latin typeface="Proxima Nova Rg"/>
              </a:rPr>
              <a:t>Data augmentation techniques can be used to increase the size and diversity of a data set. This is especially useful when data is limited, such as in image or text classi</a:t>
            </a:r>
            <a:r>
              <a:rPr lang="en-GB" sz="1800" b="0" i="0" u="none" strike="noStrike" baseline="0" dirty="0">
                <a:solidFill>
                  <a:srgbClr val="000000"/>
                </a:solidFill>
                <a:latin typeface="Proxima Nova Rg"/>
              </a:rPr>
              <a:t>fi</a:t>
            </a:r>
            <a:r>
              <a:rPr lang="en-GB" sz="1800" b="0" i="0" u="none" strike="noStrike" baseline="0" dirty="0">
                <a:solidFill>
                  <a:srgbClr val="1D1F20"/>
                </a:solidFill>
                <a:latin typeface="Proxima Nova Rg"/>
              </a:rPr>
              <a:t>cation tasks. Generating additional data points from existing data can make the model more reliable and generalizable.</a:t>
            </a:r>
          </a:p>
          <a:p>
            <a:pPr marL="0" indent="0" algn="just">
              <a:buNone/>
            </a:pPr>
            <a:endParaRPr lang="en-GB" sz="1800" b="0" i="0" u="none" strike="noStrike" baseline="0" dirty="0">
              <a:solidFill>
                <a:srgbClr val="1D1F20"/>
              </a:solidFill>
              <a:latin typeface="Proxima Nova Rg"/>
            </a:endParaRPr>
          </a:p>
          <a:p>
            <a:pPr algn="just"/>
            <a:endParaRPr lang="en-GB" sz="1800" b="0" i="0" u="none" strike="noStrike" baseline="0" dirty="0">
              <a:solidFill>
                <a:srgbClr val="000000"/>
              </a:solidFill>
              <a:latin typeface="Proxima Nova Rg"/>
            </a:endParaRPr>
          </a:p>
          <a:p>
            <a:pPr algn="just"/>
            <a:r>
              <a:rPr lang="en-GB" sz="1800" b="0" i="0" u="none" strike="noStrike" baseline="0" dirty="0">
                <a:solidFill>
                  <a:srgbClr val="1D1F20"/>
                </a:solidFill>
                <a:latin typeface="Proxima Nova Rg"/>
              </a:rPr>
              <a:t>In summary, the data collection and processing phase is crucial for laying the groundwork for successful machine learning projects. By focusing on clear objectives, identifying quality data sources, and implementing robust processing techniques, you can signi</a:t>
            </a:r>
            <a:r>
              <a:rPr lang="en-GB" sz="1800" b="0" i="0" u="none" strike="noStrike" baseline="0" dirty="0">
                <a:solidFill>
                  <a:srgbClr val="000000"/>
                </a:solidFill>
                <a:latin typeface="Proxima Nova Rg"/>
              </a:rPr>
              <a:t>fi</a:t>
            </a:r>
            <a:r>
              <a:rPr lang="en-GB" sz="1800" b="0" i="0" u="none" strike="noStrike" baseline="0" dirty="0">
                <a:solidFill>
                  <a:srgbClr val="1D1F20"/>
                </a:solidFill>
                <a:latin typeface="Proxima Nova Rg"/>
              </a:rPr>
              <a:t>cantly enhance the performance and reliability of your ML models.</a:t>
            </a:r>
            <a:endParaRPr lang="en-GB" dirty="0"/>
          </a:p>
        </p:txBody>
      </p:sp>
    </p:spTree>
    <p:extLst>
      <p:ext uri="{BB962C8B-B14F-4D97-AF65-F5344CB8AC3E}">
        <p14:creationId xmlns:p14="http://schemas.microsoft.com/office/powerpoint/2010/main" val="1946310072"/>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1355</Words>
  <Application>Microsoft Office PowerPoint</Application>
  <PresentationFormat>Widescreen</PresentationFormat>
  <Paragraphs>137</Paragraphs>
  <Slides>19</Slides>
  <Notes>0</Notes>
  <HiddenSlides>0</HiddenSlides>
  <MMClips>0</MMClips>
  <ScaleCrop>false</ScaleCrop>
  <HeadingPairs>
    <vt:vector size="6" baseType="variant">
      <vt:variant>
        <vt:lpstr>Fonts Used</vt:lpstr>
      </vt:variant>
      <vt:variant>
        <vt:i4>19</vt:i4>
      </vt:variant>
      <vt:variant>
        <vt:lpstr>Theme</vt:lpstr>
      </vt:variant>
      <vt:variant>
        <vt:i4>1</vt:i4>
      </vt:variant>
      <vt:variant>
        <vt:lpstr>Slide Titles</vt:lpstr>
      </vt:variant>
      <vt:variant>
        <vt:i4>19</vt:i4>
      </vt:variant>
    </vt:vector>
  </HeadingPairs>
  <TitlesOfParts>
    <vt:vector size="39" baseType="lpstr">
      <vt:lpstr>Aptos</vt:lpstr>
      <vt:lpstr>Aptos Display</vt:lpstr>
      <vt:lpstr>Arial</vt:lpstr>
      <vt:lpstr>Calibri</vt:lpstr>
      <vt:lpstr>Calibri-Light</vt:lpstr>
      <vt:lpstr>CMR12</vt:lpstr>
      <vt:lpstr>Frutiger LT Std 45 Light</vt:lpstr>
      <vt:lpstr>Google Sans</vt:lpstr>
      <vt:lpstr>GtfwryTfwtvnLbnkqcHtgwygSymbol</vt:lpstr>
      <vt:lpstr>JprljpVwhvqyTxtchxJmtxdyHelveticaNeue-MediumCon</vt:lpstr>
      <vt:lpstr>MinionPro-Regular</vt:lpstr>
      <vt:lpstr>MyriadPro-SemiboldCond</vt:lpstr>
      <vt:lpstr>Nunito</vt:lpstr>
      <vt:lpstr>Proxima Nova Rg</vt:lpstr>
      <vt:lpstr>Studio-Feixen-Sans</vt:lpstr>
      <vt:lpstr>Times LT Std</vt:lpstr>
      <vt:lpstr>Times New Roman</vt:lpstr>
      <vt:lpstr>Verdana</vt:lpstr>
      <vt:lpstr>WlctmlDkkpspLcwjxsKtxkbpUtopiaStd-Regular</vt:lpstr>
      <vt:lpstr>1_Office Theme</vt:lpstr>
      <vt:lpstr>PowerPoint Presentation</vt:lpstr>
      <vt:lpstr>1.1.1 Artificial Intelligence                                     Refers to the simulation of human intelligence </vt:lpstr>
      <vt:lpstr>What is ML?</vt:lpstr>
      <vt:lpstr>Machine learning </vt:lpstr>
      <vt:lpstr>Machine learning  تعلــــــــــــــــــــــــــــم الالــــــــــة </vt:lpstr>
      <vt:lpstr>Machine learning  تعلــــــــــــــــــــــــــــم الالــــــــــة </vt:lpstr>
      <vt:lpstr>Machine learning  تعلــــــــــــــــــــــــــــم الالــــــــــة </vt:lpstr>
      <vt:lpstr>Real-World Applications of Machine Learning Machine Learning is widely being applied and used in the real world today to solve complex problems that would otherwise have been impossible to solve based on traditional approaches and rule-based systems. The following list depicts some of the real-world applications of Machine Learning.</vt:lpstr>
      <vt:lpstr>Machine learning  تعلــــــــــــــــــــــــــــم الالــــــــــة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Omen HPInc</dc:creator>
  <cp:lastModifiedBy>Omen HPInc</cp:lastModifiedBy>
  <cp:revision>3</cp:revision>
  <dcterms:created xsi:type="dcterms:W3CDTF">2025-10-12T08:29:57Z</dcterms:created>
  <dcterms:modified xsi:type="dcterms:W3CDTF">2025-10-12T08:41:33Z</dcterms:modified>
</cp:coreProperties>
</file>