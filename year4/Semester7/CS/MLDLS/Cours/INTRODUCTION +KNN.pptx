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57" r:id="rId3"/>
    <p:sldId id="258" r:id="rId4"/>
    <p:sldId id="256" r:id="rId5"/>
    <p:sldId id="281" r:id="rId6"/>
    <p:sldId id="273" r:id="rId7"/>
    <p:sldId id="259" r:id="rId8"/>
    <p:sldId id="270" r:id="rId9"/>
    <p:sldId id="260" r:id="rId10"/>
    <p:sldId id="274" r:id="rId11"/>
    <p:sldId id="282" r:id="rId12"/>
    <p:sldId id="262" r:id="rId13"/>
    <p:sldId id="263" r:id="rId14"/>
    <p:sldId id="284" r:id="rId15"/>
    <p:sldId id="285" r:id="rId16"/>
    <p:sldId id="286" r:id="rId17"/>
    <p:sldId id="287" r:id="rId18"/>
    <p:sldId id="275" r:id="rId19"/>
    <p:sldId id="264" r:id="rId20"/>
    <p:sldId id="265" r:id="rId21"/>
    <p:sldId id="288" r:id="rId22"/>
    <p:sldId id="289" r:id="rId23"/>
    <p:sldId id="283" r:id="rId24"/>
    <p:sldId id="296" r:id="rId25"/>
    <p:sldId id="297" r:id="rId26"/>
    <p:sldId id="299" r:id="rId27"/>
    <p:sldId id="290" r:id="rId28"/>
    <p:sldId id="291" r:id="rId29"/>
    <p:sldId id="292" r:id="rId30"/>
    <p:sldId id="293" r:id="rId31"/>
    <p:sldId id="294" r:id="rId32"/>
    <p:sldId id="295" r:id="rId33"/>
    <p:sldId id="272" r:id="rId34"/>
    <p:sldId id="266" r:id="rId35"/>
    <p:sldId id="300" r:id="rId36"/>
    <p:sldId id="277" r:id="rId37"/>
    <p:sldId id="279" r:id="rId38"/>
    <p:sldId id="301" r:id="rId39"/>
    <p:sldId id="298" r:id="rId40"/>
    <p:sldId id="278" r:id="rId41"/>
    <p:sldId id="302" r:id="rId42"/>
    <p:sldId id="303" r:id="rId43"/>
    <p:sldId id="304" r:id="rId44"/>
    <p:sldId id="311" r:id="rId45"/>
    <p:sldId id="312" r:id="rId46"/>
    <p:sldId id="313" r:id="rId47"/>
    <p:sldId id="314" r:id="rId48"/>
    <p:sldId id="315" r:id="rId49"/>
    <p:sldId id="317" r:id="rId50"/>
    <p:sldId id="316" r:id="rId51"/>
    <p:sldId id="329" r:id="rId52"/>
    <p:sldId id="319" r:id="rId53"/>
    <p:sldId id="305" r:id="rId54"/>
    <p:sldId id="306" r:id="rId55"/>
    <p:sldId id="307" r:id="rId56"/>
    <p:sldId id="308" r:id="rId57"/>
    <p:sldId id="309" r:id="rId58"/>
    <p:sldId id="310" r:id="rId59"/>
    <p:sldId id="320" r:id="rId60"/>
    <p:sldId id="323" r:id="rId61"/>
    <p:sldId id="321" r:id="rId62"/>
    <p:sldId id="322" r:id="rId63"/>
    <p:sldId id="324" r:id="rId64"/>
    <p:sldId id="325" r:id="rId65"/>
    <p:sldId id="326" r:id="rId66"/>
    <p:sldId id="328" r:id="rId67"/>
    <p:sldId id="327" r:id="rId68"/>
    <p:sldId id="318" r:id="rId69"/>
    <p:sldId id="271" r:id="rId70"/>
    <p:sldId id="267" r:id="rId71"/>
    <p:sldId id="268"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9" d="100"/>
          <a:sy n="79" d="100"/>
        </p:scale>
        <p:origin x="126" y="5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4742A-A101-6657-38A3-CE53BCB65F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0D2585B-1A1E-123D-9894-1EAB57602B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A8E96FB-D89F-1AE7-1885-5CAAC9548C8F}"/>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5" name="Footer Placeholder 4">
            <a:extLst>
              <a:ext uri="{FF2B5EF4-FFF2-40B4-BE49-F238E27FC236}">
                <a16:creationId xmlns:a16="http://schemas.microsoft.com/office/drawing/2014/main" id="{C7DA4FFF-62B7-2BBB-EDAB-8D754CDE50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B994FF-CE4B-AE9C-FDF9-EA96B21F90FA}"/>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4158592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4592-4FCF-DE4A-3B20-5FD2C1BC47B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2FD6C7-6B93-85C9-C047-594AEA8D2F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C5BFFB-ECCE-7B99-806F-AF0291BCA5B9}"/>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5" name="Footer Placeholder 4">
            <a:extLst>
              <a:ext uri="{FF2B5EF4-FFF2-40B4-BE49-F238E27FC236}">
                <a16:creationId xmlns:a16="http://schemas.microsoft.com/office/drawing/2014/main" id="{832E267A-68F4-E12F-D01D-6ECE7D7F93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2C37AB-614C-F349-6136-B5A60731A09C}"/>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758234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404B-394B-EB0A-00B2-F690423FA5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FE30760-2A1F-BD66-13AA-914E517640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5333FA-E8AF-6A79-73D4-47E74F47EAD2}"/>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5" name="Footer Placeholder 4">
            <a:extLst>
              <a:ext uri="{FF2B5EF4-FFF2-40B4-BE49-F238E27FC236}">
                <a16:creationId xmlns:a16="http://schemas.microsoft.com/office/drawing/2014/main" id="{8F98FFE1-8D57-29B2-FEAB-8D43D3C8DF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8647D7-077B-A23B-FAA3-ADB7096EF933}"/>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65284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7C82-B896-BE3E-61CF-F7D77474F17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5F334E6-88C7-1E45-FD44-B2EA9BD524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D251C79-141A-E485-3D31-2320403BDE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07ECD7E-6FE2-4A6D-73EA-69F7451AEDD1}"/>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6" name="Footer Placeholder 5">
            <a:extLst>
              <a:ext uri="{FF2B5EF4-FFF2-40B4-BE49-F238E27FC236}">
                <a16:creationId xmlns:a16="http://schemas.microsoft.com/office/drawing/2014/main" id="{D58309D3-A6C2-AAE6-AD39-F23240B9F1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00B6645-00BC-8A98-FC83-EDE5C8ACE2EB}"/>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891134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AEE12-1822-F076-7DD0-B702BD0D834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D1A686F-ED66-A0D4-1A2A-072354C6E0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E6A0E2-43FB-0D4F-AC28-2C52578B30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C990EFB-8BF1-50F9-4822-765720639A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61A13A-90A8-86A9-0BE4-9CD8F41134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B783532-F974-7C43-5239-30BC3BA00276}"/>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8" name="Footer Placeholder 7">
            <a:extLst>
              <a:ext uri="{FF2B5EF4-FFF2-40B4-BE49-F238E27FC236}">
                <a16:creationId xmlns:a16="http://schemas.microsoft.com/office/drawing/2014/main" id="{F8902146-E33B-BF23-35CD-6CA75497F6D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8BCFAD-1A10-CB2D-4F49-ECEF13E20B35}"/>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57567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44BCF-1329-1839-6352-60C88618348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1F9BC3A-3D02-51EC-B8F1-80CB50256325}"/>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4" name="Footer Placeholder 3">
            <a:extLst>
              <a:ext uri="{FF2B5EF4-FFF2-40B4-BE49-F238E27FC236}">
                <a16:creationId xmlns:a16="http://schemas.microsoft.com/office/drawing/2014/main" id="{9A495575-A40D-060F-5CE4-EB5AAA3BD42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F7029AC-C898-651F-B904-071ED2951604}"/>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344134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A17FCF-85A3-56A6-1C6E-FEA57E750F8B}"/>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3" name="Footer Placeholder 2">
            <a:extLst>
              <a:ext uri="{FF2B5EF4-FFF2-40B4-BE49-F238E27FC236}">
                <a16:creationId xmlns:a16="http://schemas.microsoft.com/office/drawing/2014/main" id="{B4FFD6AD-FF83-040D-0C7B-C0AE1FD2FA7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EAE1DCF-7181-2602-74AD-98D3B1016E21}"/>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045060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F1A1-7FF8-1ACE-7B6D-BE3FE475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795EEC2-73E9-1ECD-160D-0286E97BF7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D7A7F0C-32E7-C27D-3692-CBB4911F9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98B8F-74C8-9F6A-7C0A-34DD49C0BE41}"/>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6" name="Footer Placeholder 5">
            <a:extLst>
              <a:ext uri="{FF2B5EF4-FFF2-40B4-BE49-F238E27FC236}">
                <a16:creationId xmlns:a16="http://schemas.microsoft.com/office/drawing/2014/main" id="{B4F05507-2E1D-E586-5F21-4B0F5AED226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53BEB9D-D5CC-31D5-406F-1A9CB2C4CD13}"/>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888947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009DF-98FE-2C67-29DD-F781E34B2D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79D064A-DD5B-0E25-E290-E3F19D797C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499C5A7-16B1-7344-377B-3478F7E1DD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63EBD-9042-9AB3-72B5-ACE6683D3D72}"/>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6" name="Footer Placeholder 5">
            <a:extLst>
              <a:ext uri="{FF2B5EF4-FFF2-40B4-BE49-F238E27FC236}">
                <a16:creationId xmlns:a16="http://schemas.microsoft.com/office/drawing/2014/main" id="{C8B1C70F-AF37-6CF0-BAF2-0FE2A0208F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9CC3E2D-3218-89C6-DA97-1F706834BFE9}"/>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856853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882C8-DD89-00B8-C8D0-422973B15BD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F56828E-2F7A-1A83-3E2B-8C73032608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A96389E-E157-5B23-339A-E8A88011607C}"/>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5" name="Footer Placeholder 4">
            <a:extLst>
              <a:ext uri="{FF2B5EF4-FFF2-40B4-BE49-F238E27FC236}">
                <a16:creationId xmlns:a16="http://schemas.microsoft.com/office/drawing/2014/main" id="{F0C2D040-F3DA-85E0-CA02-DAE8F6FD65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7930752-3CA9-879B-2810-36E8A95DF472}"/>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1249797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2FD5A-FB18-69ED-0A8A-51D511E03A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6814203-BEE2-A14F-DE97-86302B6650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E89A6B8-3507-A422-1BAF-1037B898D11E}"/>
              </a:ext>
            </a:extLst>
          </p:cNvPr>
          <p:cNvSpPr>
            <a:spLocks noGrp="1"/>
          </p:cNvSpPr>
          <p:nvPr>
            <p:ph type="dt" sz="half" idx="10"/>
          </p:nvPr>
        </p:nvSpPr>
        <p:spPr/>
        <p:txBody>
          <a:bodyPr/>
          <a:lstStyle/>
          <a:p>
            <a:fld id="{5F463B61-6203-441D-84D1-117238F43CDF}" type="datetimeFigureOut">
              <a:rPr lang="en-GB" smtClean="0"/>
              <a:t>10/01/2026</a:t>
            </a:fld>
            <a:endParaRPr lang="en-GB"/>
          </a:p>
        </p:txBody>
      </p:sp>
      <p:sp>
        <p:nvSpPr>
          <p:cNvPr id="5" name="Footer Placeholder 4">
            <a:extLst>
              <a:ext uri="{FF2B5EF4-FFF2-40B4-BE49-F238E27FC236}">
                <a16:creationId xmlns:a16="http://schemas.microsoft.com/office/drawing/2014/main" id="{7F68BC56-B751-7C34-1CC9-816F6097F0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13642D-C4FE-186C-20D4-C36F2782A8FC}"/>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833733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8C32B7-E828-F7BC-0F8F-A82A2BBBB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287F938-7798-C878-8D2B-F535904546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B89328-94BA-BDF5-2112-65D4D1CECC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463B61-6203-441D-84D1-117238F43CDF}" type="datetimeFigureOut">
              <a:rPr lang="en-GB" smtClean="0"/>
              <a:t>10/01/2026</a:t>
            </a:fld>
            <a:endParaRPr lang="en-GB"/>
          </a:p>
        </p:txBody>
      </p:sp>
      <p:sp>
        <p:nvSpPr>
          <p:cNvPr id="5" name="Footer Placeholder 4">
            <a:extLst>
              <a:ext uri="{FF2B5EF4-FFF2-40B4-BE49-F238E27FC236}">
                <a16:creationId xmlns:a16="http://schemas.microsoft.com/office/drawing/2014/main" id="{A1131F85-A1C1-F8FF-D62E-A3DEEF7001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DA5DCC1-B1FD-C313-E4B8-559BC09C0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1E7075-23B8-4DBD-8CAA-21AD9A7FCBD4}" type="slidenum">
              <a:rPr lang="en-GB" smtClean="0"/>
              <a:t>‹#›</a:t>
            </a:fld>
            <a:endParaRPr lang="en-GB"/>
          </a:p>
        </p:txBody>
      </p:sp>
    </p:spTree>
    <p:extLst>
      <p:ext uri="{BB962C8B-B14F-4D97-AF65-F5344CB8AC3E}">
        <p14:creationId xmlns:p14="http://schemas.microsoft.com/office/powerpoint/2010/main" val="1721559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geeksforgeeks.org/machine-learning/types-of-regression-techniques/" TargetMode="External"/><Relationship Id="rId2" Type="http://schemas.openxmlformats.org/officeDocument/2006/relationships/hyperlink" Target="https://www.geeksforgeeks.org/machine-learning/getting-started-with-classification/" TargetMode="Externa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E55B432-1C50-B59C-54DC-345D607283D6}"/>
              </a:ext>
            </a:extLst>
          </p:cNvPr>
          <p:cNvSpPr txBox="1"/>
          <p:nvPr/>
        </p:nvSpPr>
        <p:spPr>
          <a:xfrm>
            <a:off x="1449859" y="2018953"/>
            <a:ext cx="9292281" cy="584775"/>
          </a:xfrm>
          <a:prstGeom prst="rect">
            <a:avLst/>
          </a:prstGeom>
          <a:noFill/>
        </p:spPr>
        <p:txBody>
          <a:bodyPr wrap="square">
            <a:spAutoFit/>
          </a:bodyPr>
          <a:lstStyle/>
          <a:p>
            <a:r>
              <a:rPr lang="en-US" sz="3200" dirty="0">
                <a:solidFill>
                  <a:srgbClr val="FF0000"/>
                </a:solidFill>
                <a:effectLst/>
                <a:latin typeface="Calibri" panose="020F0502020204030204" pitchFamily="34" charset="0"/>
                <a:ea typeface="SimSun" panose="02010600030101010101" pitchFamily="2" charset="-122"/>
              </a:rPr>
              <a:t>Machine Learning, Deep Learning, and Security.</a:t>
            </a:r>
            <a:endParaRPr lang="en-GB" sz="3200" dirty="0">
              <a:solidFill>
                <a:srgbClr val="FF0000"/>
              </a:solidFill>
            </a:endParaRPr>
          </a:p>
        </p:txBody>
      </p:sp>
    </p:spTree>
    <p:extLst>
      <p:ext uri="{BB962C8B-B14F-4D97-AF65-F5344CB8AC3E}">
        <p14:creationId xmlns:p14="http://schemas.microsoft.com/office/powerpoint/2010/main" val="597218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2B89D-5501-64D5-0548-493BA0A59FF7}"/>
              </a:ext>
            </a:extLst>
          </p:cNvPr>
          <p:cNvSpPr>
            <a:spLocks noGrp="1"/>
          </p:cNvSpPr>
          <p:nvPr>
            <p:ph type="title"/>
          </p:nvPr>
        </p:nvSpPr>
        <p:spPr>
          <a:xfrm>
            <a:off x="-1398242" y="1617327"/>
            <a:ext cx="7494241" cy="535460"/>
          </a:xfrm>
        </p:spPr>
        <p:txBody>
          <a:bodyPr>
            <a:normAutofit fontScale="90000"/>
          </a:bodyPr>
          <a:lstStyle/>
          <a:p>
            <a:pPr algn="ctr"/>
            <a:r>
              <a:rPr lang="en-GB" sz="2200" b="0" i="0" u="none" strike="noStrike" baseline="0" dirty="0">
                <a:solidFill>
                  <a:srgbClr val="E22353"/>
                </a:solidFill>
                <a:latin typeface="Calibri-Light"/>
              </a:rPr>
              <a:t>1.1.1 Artificial Intelligence</a:t>
            </a:r>
            <a:br>
              <a:rPr lang="en-GB" sz="2200" b="0" i="0" u="none" strike="noStrike" baseline="0" dirty="0">
                <a:solidFill>
                  <a:srgbClr val="E22353"/>
                </a:solidFill>
                <a:latin typeface="Calibri-Light"/>
              </a:rPr>
            </a:br>
            <a:r>
              <a:rPr lang="en-GB" sz="2200" b="0" i="0" u="none" strike="noStrike" baseline="0" dirty="0">
                <a:solidFill>
                  <a:srgbClr val="E22353"/>
                </a:solidFill>
                <a:latin typeface="Calibri-Light"/>
              </a:rPr>
              <a:t>                                    </a:t>
            </a:r>
            <a:r>
              <a:rPr lang="en-GB" sz="2200" b="0" i="0" u="none" strike="noStrike" baseline="0" dirty="0">
                <a:solidFill>
                  <a:srgbClr val="4420B4"/>
                </a:solidFill>
                <a:latin typeface="Calibri" panose="020F0502020204030204" pitchFamily="34" charset="0"/>
              </a:rPr>
              <a:t>Refers to the simulation of human intelligence</a:t>
            </a:r>
            <a:br>
              <a:rPr lang="en-GB" sz="1800" b="0" i="0" u="none" strike="noStrike" baseline="0" dirty="0">
                <a:solidFill>
                  <a:srgbClr val="FFFFFF"/>
                </a:solidFill>
                <a:latin typeface="Verdana" panose="020B0604030504040204" pitchFamily="34" charset="0"/>
              </a:rPr>
            </a:br>
            <a:endParaRPr lang="en-GB" dirty="0"/>
          </a:p>
        </p:txBody>
      </p:sp>
      <p:sp>
        <p:nvSpPr>
          <p:cNvPr id="3" name="Content Placeholder 2">
            <a:extLst>
              <a:ext uri="{FF2B5EF4-FFF2-40B4-BE49-F238E27FC236}">
                <a16:creationId xmlns:a16="http://schemas.microsoft.com/office/drawing/2014/main" id="{895C8480-C93E-DA7F-8C9E-3BA33B21B606}"/>
              </a:ext>
            </a:extLst>
          </p:cNvPr>
          <p:cNvSpPr>
            <a:spLocks noGrp="1"/>
          </p:cNvSpPr>
          <p:nvPr>
            <p:ph idx="1"/>
          </p:nvPr>
        </p:nvSpPr>
        <p:spPr>
          <a:xfrm>
            <a:off x="988779" y="2584205"/>
            <a:ext cx="10515600" cy="983478"/>
          </a:xfrm>
        </p:spPr>
        <p:txBody>
          <a:bodyPr/>
          <a:lstStyle/>
          <a:p>
            <a:r>
              <a:rPr lang="en-GB" dirty="0">
                <a:solidFill>
                  <a:srgbClr val="000000"/>
                </a:solidFill>
                <a:latin typeface="Verdana" panose="020B0604030504040204" pitchFamily="34" charset="0"/>
              </a:rPr>
              <a:t>Mimicking the intelligence or </a:t>
            </a:r>
            <a:r>
              <a:rPr lang="en-GB" dirty="0" err="1">
                <a:solidFill>
                  <a:srgbClr val="000000"/>
                </a:solidFill>
                <a:latin typeface="Verdana" panose="020B0604030504040204" pitchFamily="34" charset="0"/>
              </a:rPr>
              <a:t>behavioral</a:t>
            </a:r>
            <a:r>
              <a:rPr lang="en-GB" dirty="0">
                <a:solidFill>
                  <a:srgbClr val="000000"/>
                </a:solidFill>
                <a:latin typeface="Verdana" panose="020B0604030504040204" pitchFamily="34" charset="0"/>
              </a:rPr>
              <a:t> pattern of humans or any other living entity.</a:t>
            </a:r>
            <a:endParaRPr lang="en-GB" dirty="0"/>
          </a:p>
        </p:txBody>
      </p:sp>
      <p:sp>
        <p:nvSpPr>
          <p:cNvPr id="5" name="TextBox 4">
            <a:extLst>
              <a:ext uri="{FF2B5EF4-FFF2-40B4-BE49-F238E27FC236}">
                <a16:creationId xmlns:a16="http://schemas.microsoft.com/office/drawing/2014/main" id="{7AED9F7C-4695-88D1-83AD-DCAFAC564443}"/>
              </a:ext>
            </a:extLst>
          </p:cNvPr>
          <p:cNvSpPr txBox="1"/>
          <p:nvPr/>
        </p:nvSpPr>
        <p:spPr>
          <a:xfrm>
            <a:off x="9088603" y="5709350"/>
            <a:ext cx="2553730" cy="369332"/>
          </a:xfrm>
          <a:prstGeom prst="rect">
            <a:avLst/>
          </a:prstGeom>
          <a:noFill/>
        </p:spPr>
        <p:txBody>
          <a:bodyPr wrap="square" rtlCol="0">
            <a:spAutoFit/>
          </a:bodyPr>
          <a:lstStyle/>
          <a:p>
            <a:pPr algn="ctr"/>
            <a:r>
              <a:rPr lang="en-GB" b="1" dirty="0">
                <a:solidFill>
                  <a:schemeClr val="bg1"/>
                </a:solidFill>
                <a:highlight>
                  <a:srgbClr val="FF0000"/>
                </a:highlight>
              </a:rPr>
              <a:t>Artificial</a:t>
            </a:r>
            <a:r>
              <a:rPr lang="en-GB" dirty="0">
                <a:solidFill>
                  <a:schemeClr val="tx1"/>
                </a:solidFill>
                <a:highlight>
                  <a:srgbClr val="FF0000"/>
                </a:highlight>
              </a:rPr>
              <a:t>  </a:t>
            </a:r>
            <a:r>
              <a:rPr lang="en-GB" b="1" dirty="0">
                <a:solidFill>
                  <a:schemeClr val="bg1"/>
                </a:solidFill>
                <a:highlight>
                  <a:srgbClr val="FF0000"/>
                </a:highlight>
              </a:rPr>
              <a:t>Intelligence</a:t>
            </a:r>
          </a:p>
        </p:txBody>
      </p:sp>
      <p:sp>
        <p:nvSpPr>
          <p:cNvPr id="6" name="TextBox 5">
            <a:extLst>
              <a:ext uri="{FF2B5EF4-FFF2-40B4-BE49-F238E27FC236}">
                <a16:creationId xmlns:a16="http://schemas.microsoft.com/office/drawing/2014/main" id="{44A6660E-B4C1-46D9-1C8B-AEC84B7A9130}"/>
              </a:ext>
            </a:extLst>
          </p:cNvPr>
          <p:cNvSpPr txBox="1"/>
          <p:nvPr/>
        </p:nvSpPr>
        <p:spPr>
          <a:xfrm>
            <a:off x="988779" y="4009767"/>
            <a:ext cx="7462299" cy="584775"/>
          </a:xfrm>
          <a:prstGeom prst="rect">
            <a:avLst/>
          </a:prstGeom>
          <a:noFill/>
        </p:spPr>
        <p:txBody>
          <a:bodyPr wrap="none" rtlCol="0">
            <a:spAutoFit/>
          </a:bodyPr>
          <a:lstStyle/>
          <a:p>
            <a:r>
              <a:rPr lang="ar-DZ" sz="3200" dirty="0"/>
              <a:t>تقليد نمط الذكاء أو السلوك البشري أو أي كائن حي اخر.</a:t>
            </a:r>
            <a:endParaRPr lang="en-GB" sz="3200" dirty="0"/>
          </a:p>
        </p:txBody>
      </p:sp>
      <p:sp>
        <p:nvSpPr>
          <p:cNvPr id="7" name="TextBox 6">
            <a:extLst>
              <a:ext uri="{FF2B5EF4-FFF2-40B4-BE49-F238E27FC236}">
                <a16:creationId xmlns:a16="http://schemas.microsoft.com/office/drawing/2014/main" id="{D17900FD-3C23-E40A-994E-033B2C4423AE}"/>
              </a:ext>
            </a:extLst>
          </p:cNvPr>
          <p:cNvSpPr txBox="1"/>
          <p:nvPr/>
        </p:nvSpPr>
        <p:spPr>
          <a:xfrm>
            <a:off x="4254843" y="232505"/>
            <a:ext cx="3682313" cy="461665"/>
          </a:xfrm>
          <a:prstGeom prst="rect">
            <a:avLst/>
          </a:prstGeom>
          <a:noFill/>
        </p:spPr>
        <p:txBody>
          <a:bodyPr wrap="square">
            <a:spAutoFit/>
          </a:bodyPr>
          <a:lstStyle/>
          <a:p>
            <a:pPr marR="37465" algn="ctr">
              <a:tabLst>
                <a:tab pos="2365375" algn="l"/>
              </a:tabLst>
            </a:pPr>
            <a:r>
              <a:rPr lang="en-US" sz="2400" b="1" dirty="0">
                <a:solidFill>
                  <a:srgbClr val="FF0000"/>
                </a:solidFill>
                <a:effectLst/>
                <a:latin typeface="Calibri" panose="020F0502020204030204" pitchFamily="34" charset="0"/>
                <a:ea typeface="Arial" panose="020B0604020202020204" pitchFamily="34" charset="0"/>
              </a:rPr>
              <a:t>1. Machine Learning (ML).</a:t>
            </a:r>
            <a:endParaRPr lang="en-GB" sz="2400" b="1" dirty="0">
              <a:solidFill>
                <a:srgbClr val="FF0000"/>
              </a:solidFill>
              <a:effectLst/>
              <a:latin typeface="Times New Roman" panose="02020603050405020304" pitchFamily="18" charset="0"/>
              <a:ea typeface="SimSun" panose="02010600030101010101" pitchFamily="2" charset="-122"/>
            </a:endParaRPr>
          </a:p>
        </p:txBody>
      </p:sp>
      <p:pic>
        <p:nvPicPr>
          <p:cNvPr id="1026" name="Picture 2" descr="L'IA va-t-elle remplacer les développeurs ?">
            <a:extLst>
              <a:ext uri="{FF2B5EF4-FFF2-40B4-BE49-F238E27FC236}">
                <a16:creationId xmlns:a16="http://schemas.microsoft.com/office/drawing/2014/main" id="{2A2D1C35-CE27-997C-3BA2-8F279666C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3470" y="3567683"/>
            <a:ext cx="2918864" cy="1942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3657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363BD-764D-3D2E-4FCA-D644FED811CF}"/>
              </a:ext>
            </a:extLst>
          </p:cNvPr>
          <p:cNvSpPr>
            <a:spLocks noGrp="1"/>
          </p:cNvSpPr>
          <p:nvPr>
            <p:ph type="title"/>
          </p:nvPr>
        </p:nvSpPr>
        <p:spPr>
          <a:xfrm>
            <a:off x="3326027" y="2861190"/>
            <a:ext cx="7053649" cy="442183"/>
          </a:xfrm>
        </p:spPr>
        <p:txBody>
          <a:bodyPr>
            <a:noAutofit/>
          </a:bodyPr>
          <a:lstStyle/>
          <a:p>
            <a:r>
              <a:rPr lang="en-GB" sz="6000" b="0" i="0" u="none" strike="noStrike" baseline="0" dirty="0">
                <a:latin typeface="Calibri-Light"/>
              </a:rPr>
              <a:t>What is ML?</a:t>
            </a:r>
            <a:endParaRPr lang="en-GB" sz="6000" dirty="0"/>
          </a:p>
        </p:txBody>
      </p:sp>
    </p:spTree>
    <p:extLst>
      <p:ext uri="{BB962C8B-B14F-4D97-AF65-F5344CB8AC3E}">
        <p14:creationId xmlns:p14="http://schemas.microsoft.com/office/powerpoint/2010/main" val="2227139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B86C-BA04-BA97-ACA8-80344F0022BB}"/>
              </a:ext>
            </a:extLst>
          </p:cNvPr>
          <p:cNvSpPr>
            <a:spLocks noGrp="1"/>
          </p:cNvSpPr>
          <p:nvPr>
            <p:ph type="ctrTitle"/>
          </p:nvPr>
        </p:nvSpPr>
        <p:spPr>
          <a:xfrm>
            <a:off x="1219200" y="107092"/>
            <a:ext cx="9144000" cy="906806"/>
          </a:xfrm>
        </p:spPr>
        <p:txBody>
          <a:bodyPr>
            <a:normAutofit fontScale="90000"/>
          </a:bodyPr>
          <a:lstStyle/>
          <a:p>
            <a:r>
              <a:rPr lang="en-GB" dirty="0"/>
              <a:t>Machine learning </a:t>
            </a:r>
          </a:p>
        </p:txBody>
      </p:sp>
      <p:sp>
        <p:nvSpPr>
          <p:cNvPr id="3" name="Subtitle 2">
            <a:extLst>
              <a:ext uri="{FF2B5EF4-FFF2-40B4-BE49-F238E27FC236}">
                <a16:creationId xmlns:a16="http://schemas.microsoft.com/office/drawing/2014/main" id="{05669007-CAB2-2254-5D06-D190C6EE27A2}"/>
              </a:ext>
            </a:extLst>
          </p:cNvPr>
          <p:cNvSpPr>
            <a:spLocks noGrp="1"/>
          </p:cNvSpPr>
          <p:nvPr>
            <p:ph type="subTitle" idx="1"/>
          </p:nvPr>
        </p:nvSpPr>
        <p:spPr>
          <a:xfrm>
            <a:off x="1103869" y="1013898"/>
            <a:ext cx="9621795" cy="316858"/>
          </a:xfrm>
        </p:spPr>
        <p:txBody>
          <a:bodyPr>
            <a:normAutofit fontScale="85000" lnSpcReduction="20000"/>
          </a:bodyPr>
          <a:lstStyle/>
          <a:p>
            <a:r>
              <a:rPr lang="ar-DZ" b="1" dirty="0"/>
              <a:t>تعلــــــــــــــــــــــــــــم</a:t>
            </a:r>
            <a:r>
              <a:rPr lang="ar-DZ" dirty="0"/>
              <a:t> </a:t>
            </a:r>
            <a:r>
              <a:rPr lang="ar-DZ" b="1" dirty="0"/>
              <a:t>الالــــــــــة</a:t>
            </a:r>
          </a:p>
          <a:p>
            <a:endParaRPr lang="en-GB" dirty="0"/>
          </a:p>
        </p:txBody>
      </p:sp>
      <p:sp>
        <p:nvSpPr>
          <p:cNvPr id="5" name="TextBox 4">
            <a:extLst>
              <a:ext uri="{FF2B5EF4-FFF2-40B4-BE49-F238E27FC236}">
                <a16:creationId xmlns:a16="http://schemas.microsoft.com/office/drawing/2014/main" id="{7601A5AD-40DC-F1DD-F29A-02E86208DBBA}"/>
              </a:ext>
            </a:extLst>
          </p:cNvPr>
          <p:cNvSpPr txBox="1"/>
          <p:nvPr/>
        </p:nvSpPr>
        <p:spPr>
          <a:xfrm>
            <a:off x="3295135" y="1034155"/>
            <a:ext cx="4736757" cy="646331"/>
          </a:xfrm>
          <a:prstGeom prst="rect">
            <a:avLst/>
          </a:prstGeom>
          <a:noFill/>
        </p:spPr>
        <p:txBody>
          <a:bodyPr wrap="square">
            <a:spAutoFit/>
          </a:bodyPr>
          <a:lstStyle/>
          <a:p>
            <a:pPr algn="l"/>
            <a:r>
              <a:rPr lang="en-GB" sz="3600" b="0" i="0" u="none" strike="noStrike" baseline="0" dirty="0">
                <a:solidFill>
                  <a:srgbClr val="E22353"/>
                </a:solidFill>
                <a:latin typeface="Calibri-Light"/>
              </a:rPr>
              <a:t>ML</a:t>
            </a:r>
            <a:r>
              <a:rPr lang="ar-DZ" sz="3600" b="0" i="0" u="none" strike="noStrike" baseline="0" dirty="0">
                <a:solidFill>
                  <a:srgbClr val="E22353"/>
                </a:solidFill>
                <a:latin typeface="Calibri-Light"/>
              </a:rPr>
              <a:t> </a:t>
            </a:r>
            <a:r>
              <a:rPr lang="en-GB" sz="1800" b="0" i="0" u="none" strike="noStrike" baseline="0" dirty="0">
                <a:solidFill>
                  <a:srgbClr val="4420B4"/>
                </a:solidFill>
                <a:latin typeface="Calibri" panose="020F0502020204030204" pitchFamily="34" charset="0"/>
              </a:rPr>
              <a:t>Enables computers to learn from data</a:t>
            </a:r>
            <a:endParaRPr lang="en-GB" dirty="0"/>
          </a:p>
        </p:txBody>
      </p:sp>
      <p:sp>
        <p:nvSpPr>
          <p:cNvPr id="7" name="TextBox 6">
            <a:extLst>
              <a:ext uri="{FF2B5EF4-FFF2-40B4-BE49-F238E27FC236}">
                <a16:creationId xmlns:a16="http://schemas.microsoft.com/office/drawing/2014/main" id="{DA821E32-A8B0-7D2E-64A5-99555B6714B2}"/>
              </a:ext>
            </a:extLst>
          </p:cNvPr>
          <p:cNvSpPr txBox="1"/>
          <p:nvPr/>
        </p:nvSpPr>
        <p:spPr>
          <a:xfrm>
            <a:off x="448962" y="1975538"/>
            <a:ext cx="11458833" cy="2031325"/>
          </a:xfrm>
          <a:prstGeom prst="rect">
            <a:avLst/>
          </a:prstGeom>
          <a:noFill/>
        </p:spPr>
        <p:txBody>
          <a:bodyPr wrap="square">
            <a:spAutoFit/>
          </a:bodyPr>
          <a:lstStyle/>
          <a:p>
            <a:pPr marL="285750" indent="-285750">
              <a:buFont typeface="Arial" panose="020B0604020202020204" pitchFamily="34" charset="0"/>
              <a:buChar char="•"/>
            </a:pPr>
            <a:r>
              <a:rPr lang="en-GB" b="1" dirty="0">
                <a:solidFill>
                  <a:srgbClr val="FF0000"/>
                </a:solidFill>
                <a:latin typeface="Proxima Nova Rg"/>
              </a:rPr>
              <a:t>ML</a:t>
            </a:r>
            <a:r>
              <a:rPr lang="en-GB" dirty="0">
                <a:solidFill>
                  <a:srgbClr val="FF0000"/>
                </a:solidFill>
                <a:latin typeface="Proxima Nova Rg"/>
              </a:rPr>
              <a:t> </a:t>
            </a:r>
            <a:r>
              <a:rPr lang="en-GB" dirty="0">
                <a:solidFill>
                  <a:srgbClr val="1D1F20"/>
                </a:solidFill>
                <a:latin typeface="Proxima Nova Rg"/>
              </a:rPr>
              <a:t>is a branch of arti</a:t>
            </a:r>
            <a:r>
              <a:rPr lang="en-GB" dirty="0">
                <a:solidFill>
                  <a:srgbClr val="000000"/>
                </a:solidFill>
                <a:latin typeface="Proxima Nova Rg"/>
              </a:rPr>
              <a:t>fi</a:t>
            </a:r>
            <a:r>
              <a:rPr lang="en-GB" dirty="0">
                <a:solidFill>
                  <a:srgbClr val="1D1F20"/>
                </a:solidFill>
                <a:latin typeface="Proxima Nova Rg"/>
              </a:rPr>
              <a:t>cial intelligence (</a:t>
            </a:r>
            <a:r>
              <a:rPr lang="en-GB" b="1" dirty="0">
                <a:solidFill>
                  <a:srgbClr val="FF0000"/>
                </a:solidFill>
                <a:latin typeface="Proxima Nova Rg"/>
              </a:rPr>
              <a:t>AI</a:t>
            </a:r>
            <a:r>
              <a:rPr lang="en-GB" dirty="0">
                <a:solidFill>
                  <a:srgbClr val="1D1F20"/>
                </a:solidFill>
                <a:latin typeface="Proxima Nova Rg"/>
              </a:rPr>
              <a:t>) that allows computers to automatically learn from data.</a:t>
            </a:r>
          </a:p>
          <a:p>
            <a:endParaRPr lang="en-GB" dirty="0">
              <a:cs typeface="+mj-cs"/>
            </a:endParaRPr>
          </a:p>
          <a:p>
            <a:pPr marL="285750" indent="-285750" algn="l">
              <a:buFont typeface="Arial" panose="020B0604020202020204" pitchFamily="34" charset="0"/>
              <a:buChar char="•"/>
            </a:pPr>
            <a:r>
              <a:rPr lang="en-GB" sz="1800" b="0" i="0" u="none" strike="noStrike" baseline="0" dirty="0">
                <a:latin typeface="Verdana" panose="020B0604030504040204" pitchFamily="34" charset="0"/>
                <a:cs typeface="+mj-cs"/>
              </a:rPr>
              <a:t>A technique by which a computer</a:t>
            </a:r>
            <a:r>
              <a:rPr lang="ar-DZ" sz="1800" b="0" i="0" u="none" strike="noStrike" baseline="0" dirty="0">
                <a:latin typeface="Verdana" panose="020B0604030504040204" pitchFamily="34" charset="0"/>
                <a:cs typeface="+mj-cs"/>
              </a:rPr>
              <a:t> </a:t>
            </a:r>
            <a:r>
              <a:rPr lang="en-GB" sz="1800" b="0" i="0" u="none" strike="noStrike" baseline="0" dirty="0">
                <a:latin typeface="Verdana" panose="020B0604030504040204" pitchFamily="34" charset="0"/>
                <a:cs typeface="+mj-cs"/>
              </a:rPr>
              <a:t>can “</a:t>
            </a:r>
            <a:r>
              <a:rPr lang="en-GB" sz="1800" b="1" i="0" u="none" strike="noStrike" baseline="0" dirty="0">
                <a:solidFill>
                  <a:srgbClr val="FF0000"/>
                </a:solidFill>
                <a:latin typeface="Verdana" panose="020B0604030504040204" pitchFamily="34" charset="0"/>
                <a:cs typeface="+mj-cs"/>
              </a:rPr>
              <a:t>learn</a:t>
            </a:r>
            <a:r>
              <a:rPr lang="en-GB" sz="1800" b="0" i="0" u="none" strike="noStrike" baseline="0" dirty="0">
                <a:latin typeface="Verdana" panose="020B0604030504040204" pitchFamily="34" charset="0"/>
                <a:cs typeface="+mj-cs"/>
              </a:rPr>
              <a:t>” from </a:t>
            </a:r>
            <a:r>
              <a:rPr lang="en-GB" sz="1800" b="1" i="0" u="sng" strike="noStrike" baseline="0" dirty="0">
                <a:solidFill>
                  <a:srgbClr val="FF0000"/>
                </a:solidFill>
                <a:latin typeface="Verdana" panose="020B0604030504040204" pitchFamily="34" charset="0"/>
                <a:cs typeface="+mj-cs"/>
              </a:rPr>
              <a:t>data</a:t>
            </a:r>
            <a:r>
              <a:rPr lang="en-GB" sz="1800" b="0" i="0" u="none" strike="noStrike" baseline="0" dirty="0">
                <a:latin typeface="Verdana" panose="020B0604030504040204" pitchFamily="34" charset="0"/>
                <a:cs typeface="+mj-cs"/>
              </a:rPr>
              <a:t> without</a:t>
            </a:r>
            <a:r>
              <a:rPr lang="ar-DZ" sz="1800" b="0" i="0" u="none" strike="noStrike" baseline="0" dirty="0">
                <a:latin typeface="Verdana" panose="020B0604030504040204" pitchFamily="34" charset="0"/>
                <a:cs typeface="+mj-cs"/>
              </a:rPr>
              <a:t> </a:t>
            </a:r>
            <a:r>
              <a:rPr lang="en-GB" sz="1800" b="0" i="0" u="none" strike="noStrike" baseline="0" dirty="0">
                <a:latin typeface="Verdana" panose="020B0604030504040204" pitchFamily="34" charset="0"/>
                <a:cs typeface="+mj-cs"/>
              </a:rPr>
              <a:t>using a complex set of rules.</a:t>
            </a:r>
            <a:endParaRPr lang="ar-DZ" sz="1800" b="0" i="0" u="none" strike="noStrike" baseline="0" dirty="0">
              <a:latin typeface="Verdana" panose="020B0604030504040204" pitchFamily="34" charset="0"/>
              <a:cs typeface="+mj-cs"/>
            </a:endParaRPr>
          </a:p>
          <a:p>
            <a:pPr algn="l"/>
            <a:endParaRPr lang="en-GB" sz="1800" b="0" i="0" u="none" strike="noStrike" baseline="0" dirty="0">
              <a:latin typeface="Verdana" panose="020B0604030504040204" pitchFamily="34" charset="0"/>
              <a:cs typeface="+mj-cs"/>
            </a:endParaRPr>
          </a:p>
          <a:p>
            <a:pPr marL="285750" indent="-285750" algn="l">
              <a:buFont typeface="Arial" panose="020B0604020202020204" pitchFamily="34" charset="0"/>
              <a:buChar char="•"/>
            </a:pPr>
            <a:r>
              <a:rPr lang="en-GB" sz="1800" b="0" i="0" u="none" strike="noStrike" baseline="0" dirty="0">
                <a:latin typeface="Verdana" panose="020B0604030504040204" pitchFamily="34" charset="0"/>
                <a:cs typeface="+mj-cs"/>
              </a:rPr>
              <a:t>Mainly based on </a:t>
            </a:r>
            <a:r>
              <a:rPr lang="en-GB" sz="1800" b="1" i="0" u="none" strike="noStrike" baseline="0" dirty="0">
                <a:solidFill>
                  <a:srgbClr val="FF0000"/>
                </a:solidFill>
                <a:latin typeface="Verdana" panose="020B0604030504040204" pitchFamily="34" charset="0"/>
                <a:cs typeface="+mj-cs"/>
              </a:rPr>
              <a:t>training</a:t>
            </a:r>
            <a:r>
              <a:rPr lang="en-GB" sz="1800" b="0" i="0" u="none" strike="noStrike" baseline="0" dirty="0">
                <a:latin typeface="Verdana" panose="020B0604030504040204" pitchFamily="34" charset="0"/>
                <a:cs typeface="+mj-cs"/>
              </a:rPr>
              <a:t> a </a:t>
            </a:r>
            <a:r>
              <a:rPr lang="en-GB" sz="1800" b="1" i="0" u="none" strike="noStrike" baseline="0" dirty="0">
                <a:solidFill>
                  <a:srgbClr val="FF0000"/>
                </a:solidFill>
                <a:latin typeface="Verdana" panose="020B0604030504040204" pitchFamily="34" charset="0"/>
                <a:cs typeface="+mj-cs"/>
              </a:rPr>
              <a:t>model</a:t>
            </a:r>
            <a:r>
              <a:rPr lang="ar-DZ" sz="1800" b="0" i="0" u="none" strike="noStrike" baseline="0" dirty="0">
                <a:latin typeface="Verdana" panose="020B0604030504040204" pitchFamily="34" charset="0"/>
                <a:cs typeface="+mj-cs"/>
              </a:rPr>
              <a:t> </a:t>
            </a:r>
            <a:r>
              <a:rPr lang="en-GB" sz="1800" b="0" i="0" u="none" strike="noStrike" baseline="0" dirty="0">
                <a:latin typeface="Verdana" panose="020B0604030504040204" pitchFamily="34" charset="0"/>
                <a:cs typeface="+mj-cs"/>
              </a:rPr>
              <a:t>from </a:t>
            </a:r>
            <a:r>
              <a:rPr lang="en-GB" sz="1800" b="1" i="0" u="none" strike="noStrike" baseline="0" dirty="0">
                <a:solidFill>
                  <a:srgbClr val="FF0000"/>
                </a:solidFill>
                <a:latin typeface="Verdana" panose="020B0604030504040204" pitchFamily="34" charset="0"/>
                <a:cs typeface="+mj-cs"/>
              </a:rPr>
              <a:t>datasets</a:t>
            </a:r>
            <a:r>
              <a:rPr lang="ar-DZ" sz="1800" b="0" i="0" u="none" strike="noStrike" baseline="0" dirty="0">
                <a:latin typeface="Verdana" panose="020B0604030504040204" pitchFamily="34" charset="0"/>
                <a:cs typeface="+mj-cs"/>
              </a:rPr>
              <a:t>.</a:t>
            </a:r>
            <a:endParaRPr lang="en-GB" sz="1800" b="0" i="0" u="none" strike="noStrike" baseline="0" dirty="0">
              <a:latin typeface="Verdana" panose="020B0604030504040204" pitchFamily="34" charset="0"/>
              <a:cs typeface="+mj-cs"/>
            </a:endParaRPr>
          </a:p>
          <a:p>
            <a:pPr algn="l"/>
            <a:endParaRPr lang="en-GB" sz="1800" b="0" i="0" u="none" strike="noStrike" baseline="0" dirty="0">
              <a:solidFill>
                <a:srgbClr val="000000"/>
              </a:solidFill>
              <a:latin typeface="Proxima Nova Rg"/>
            </a:endParaRPr>
          </a:p>
          <a:p>
            <a:r>
              <a:rPr lang="en-GB" sz="1800" b="0" i="0" u="none" strike="noStrike" baseline="0" dirty="0">
                <a:solidFill>
                  <a:srgbClr val="000000"/>
                </a:solidFill>
                <a:latin typeface="Proxima Nova Rg"/>
              </a:rPr>
              <a:t> </a:t>
            </a:r>
          </a:p>
        </p:txBody>
      </p:sp>
      <p:sp>
        <p:nvSpPr>
          <p:cNvPr id="8" name="Flowchart: Connector 7">
            <a:extLst>
              <a:ext uri="{FF2B5EF4-FFF2-40B4-BE49-F238E27FC236}">
                <a16:creationId xmlns:a16="http://schemas.microsoft.com/office/drawing/2014/main" id="{60C04670-4AB8-8275-4373-EE625D7C2E31}"/>
              </a:ext>
            </a:extLst>
          </p:cNvPr>
          <p:cNvSpPr/>
          <p:nvPr/>
        </p:nvSpPr>
        <p:spPr>
          <a:xfrm>
            <a:off x="7959644" y="3242275"/>
            <a:ext cx="3633054" cy="3317789"/>
          </a:xfrm>
          <a:prstGeom prst="flowChartConnector">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highlight>
                <a:srgbClr val="FF0000"/>
              </a:highlight>
            </a:endParaRPr>
          </a:p>
        </p:txBody>
      </p:sp>
      <p:sp>
        <p:nvSpPr>
          <p:cNvPr id="9" name="TextBox 8">
            <a:extLst>
              <a:ext uri="{FF2B5EF4-FFF2-40B4-BE49-F238E27FC236}">
                <a16:creationId xmlns:a16="http://schemas.microsoft.com/office/drawing/2014/main" id="{B045CEF4-407E-FE7A-9FD9-6770C41D0E69}"/>
              </a:ext>
            </a:extLst>
          </p:cNvPr>
          <p:cNvSpPr txBox="1"/>
          <p:nvPr/>
        </p:nvSpPr>
        <p:spPr>
          <a:xfrm>
            <a:off x="8524019" y="3615725"/>
            <a:ext cx="2553730" cy="369332"/>
          </a:xfrm>
          <a:prstGeom prst="rect">
            <a:avLst/>
          </a:prstGeom>
          <a:noFill/>
        </p:spPr>
        <p:txBody>
          <a:bodyPr wrap="square" rtlCol="0">
            <a:spAutoFit/>
          </a:bodyPr>
          <a:lstStyle/>
          <a:p>
            <a:pPr algn="ctr"/>
            <a:r>
              <a:rPr lang="en-GB" b="1" dirty="0">
                <a:solidFill>
                  <a:schemeClr val="bg1"/>
                </a:solidFill>
                <a:highlight>
                  <a:srgbClr val="FF0000"/>
                </a:highlight>
              </a:rPr>
              <a:t>Artificial</a:t>
            </a:r>
            <a:r>
              <a:rPr lang="en-GB" dirty="0">
                <a:solidFill>
                  <a:schemeClr val="tx1"/>
                </a:solidFill>
                <a:highlight>
                  <a:srgbClr val="FF0000"/>
                </a:highlight>
              </a:rPr>
              <a:t>  </a:t>
            </a:r>
            <a:r>
              <a:rPr lang="en-GB" b="1" dirty="0">
                <a:solidFill>
                  <a:schemeClr val="bg1"/>
                </a:solidFill>
                <a:highlight>
                  <a:srgbClr val="FF0000"/>
                </a:highlight>
              </a:rPr>
              <a:t>Intelligence</a:t>
            </a:r>
          </a:p>
        </p:txBody>
      </p:sp>
      <p:sp>
        <p:nvSpPr>
          <p:cNvPr id="10" name="Flowchart: Connector 9">
            <a:extLst>
              <a:ext uri="{FF2B5EF4-FFF2-40B4-BE49-F238E27FC236}">
                <a16:creationId xmlns:a16="http://schemas.microsoft.com/office/drawing/2014/main" id="{C3E71DBA-5CAB-9E22-C807-1FECD0817B60}"/>
              </a:ext>
            </a:extLst>
          </p:cNvPr>
          <p:cNvSpPr/>
          <p:nvPr/>
        </p:nvSpPr>
        <p:spPr>
          <a:xfrm>
            <a:off x="8313870" y="3985057"/>
            <a:ext cx="2932669" cy="230041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highlight>
                <a:srgbClr val="0000FF"/>
              </a:highlight>
            </a:endParaRPr>
          </a:p>
        </p:txBody>
      </p:sp>
      <p:sp>
        <p:nvSpPr>
          <p:cNvPr id="11" name="TextBox 10">
            <a:extLst>
              <a:ext uri="{FF2B5EF4-FFF2-40B4-BE49-F238E27FC236}">
                <a16:creationId xmlns:a16="http://schemas.microsoft.com/office/drawing/2014/main" id="{A1AE60DD-1AFE-0D58-3616-B22A8E3813DD}"/>
              </a:ext>
            </a:extLst>
          </p:cNvPr>
          <p:cNvSpPr txBox="1"/>
          <p:nvPr/>
        </p:nvSpPr>
        <p:spPr>
          <a:xfrm>
            <a:off x="8503339" y="4282313"/>
            <a:ext cx="2553730" cy="369332"/>
          </a:xfrm>
          <a:prstGeom prst="rect">
            <a:avLst/>
          </a:prstGeom>
          <a:noFill/>
        </p:spPr>
        <p:txBody>
          <a:bodyPr wrap="square" rtlCol="0">
            <a:spAutoFit/>
          </a:bodyPr>
          <a:lstStyle/>
          <a:p>
            <a:pPr algn="ctr"/>
            <a:r>
              <a:rPr lang="en-GB" b="1" dirty="0">
                <a:solidFill>
                  <a:schemeClr val="bg1"/>
                </a:solidFill>
              </a:rPr>
              <a:t>Machine Learning</a:t>
            </a:r>
          </a:p>
        </p:txBody>
      </p:sp>
      <p:sp>
        <p:nvSpPr>
          <p:cNvPr id="13" name="TextBox 12">
            <a:extLst>
              <a:ext uri="{FF2B5EF4-FFF2-40B4-BE49-F238E27FC236}">
                <a16:creationId xmlns:a16="http://schemas.microsoft.com/office/drawing/2014/main" id="{445AABF1-209E-E6DC-5723-345509E7541D}"/>
              </a:ext>
            </a:extLst>
          </p:cNvPr>
          <p:cNvSpPr txBox="1"/>
          <p:nvPr/>
        </p:nvSpPr>
        <p:spPr>
          <a:xfrm>
            <a:off x="844378" y="4083134"/>
            <a:ext cx="6347255" cy="1200329"/>
          </a:xfrm>
          <a:prstGeom prst="rect">
            <a:avLst/>
          </a:prstGeom>
          <a:noFill/>
          <a:ln>
            <a:solidFill>
              <a:schemeClr val="accent1"/>
            </a:solidFill>
          </a:ln>
        </p:spPr>
        <p:txBody>
          <a:bodyPr wrap="square">
            <a:spAutoFit/>
          </a:bodyPr>
          <a:lstStyle/>
          <a:p>
            <a:pPr marL="285750" indent="-285750" algn="l">
              <a:buFont typeface="Arial" panose="020B0604020202020204" pitchFamily="34" charset="0"/>
              <a:buChar char="•"/>
            </a:pPr>
            <a:r>
              <a:rPr lang="en-GB" sz="1800" b="1" i="0" u="none" strike="noStrike" baseline="0" dirty="0">
                <a:latin typeface="Times New Roman" panose="02020603050405020304" pitchFamily="18" charset="0"/>
                <a:cs typeface="Times New Roman" panose="02020603050405020304" pitchFamily="18" charset="0"/>
              </a:rPr>
              <a:t>Machine Learning is the field of study that gives computers the ability to learn without being explicitly programmed.</a:t>
            </a:r>
          </a:p>
          <a:p>
            <a:pPr algn="l"/>
            <a:r>
              <a:rPr lang="en-GB" dirty="0">
                <a:latin typeface="Times New Roman" panose="02020603050405020304" pitchFamily="18" charset="0"/>
                <a:cs typeface="Times New Roman" panose="02020603050405020304" pitchFamily="18" charset="0"/>
              </a:rPr>
              <a:t>                                                             </a:t>
            </a:r>
          </a:p>
          <a:p>
            <a:pPr algn="l"/>
            <a:r>
              <a:rPr lang="en-GB" sz="1800" b="0" i="0" u="none" strike="noStrike" baseline="0" dirty="0">
                <a:latin typeface="Times New Roman" panose="02020603050405020304" pitchFamily="18" charset="0"/>
                <a:cs typeface="Times New Roman" panose="02020603050405020304" pitchFamily="18" charset="0"/>
              </a:rPr>
              <a:t>                                                                        Arthur Samuel, 1959</a:t>
            </a:r>
            <a:endParaRPr lang="en-GB"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B53DD81-5C04-4456-7815-F5D770E0885B}"/>
              </a:ext>
            </a:extLst>
          </p:cNvPr>
          <p:cNvSpPr txBox="1"/>
          <p:nvPr/>
        </p:nvSpPr>
        <p:spPr>
          <a:xfrm>
            <a:off x="378941" y="5931527"/>
            <a:ext cx="7743567" cy="707886"/>
          </a:xfrm>
          <a:prstGeom prst="rect">
            <a:avLst/>
          </a:prstGeom>
          <a:noFill/>
          <a:ln w="12700">
            <a:solidFill>
              <a:schemeClr val="accent1"/>
            </a:solidFill>
          </a:ln>
        </p:spPr>
        <p:txBody>
          <a:bodyPr wrap="square">
            <a:spAutoFit/>
          </a:bodyPr>
          <a:lstStyle/>
          <a:p>
            <a:r>
              <a:rPr lang="en-GB" sz="2000" b="1" i="0" dirty="0">
                <a:solidFill>
                  <a:srgbClr val="FF0000"/>
                </a:solidFill>
                <a:effectLst/>
                <a:latin typeface="Nunito" panose="020F0502020204030204" pitchFamily="2" charset="0"/>
              </a:rPr>
              <a:t>ML</a:t>
            </a:r>
            <a:r>
              <a:rPr lang="en-GB" sz="2000" b="0" i="0" dirty="0">
                <a:solidFill>
                  <a:srgbClr val="273239"/>
                </a:solidFill>
                <a:effectLst/>
                <a:latin typeface="Nunito" panose="020F0502020204030204" pitchFamily="2" charset="0"/>
              </a:rPr>
              <a:t> teaches the </a:t>
            </a:r>
            <a:r>
              <a:rPr lang="en-GB" sz="2000" b="0" i="0" dirty="0">
                <a:solidFill>
                  <a:srgbClr val="FF0000"/>
                </a:solidFill>
                <a:effectLst/>
                <a:latin typeface="Nunito" panose="020F0502020204030204" pitchFamily="2" charset="0"/>
              </a:rPr>
              <a:t>systems</a:t>
            </a:r>
            <a:r>
              <a:rPr lang="en-GB" sz="2000" b="0" i="0" dirty="0">
                <a:solidFill>
                  <a:srgbClr val="273239"/>
                </a:solidFill>
                <a:effectLst/>
                <a:latin typeface="Nunito" panose="020F0502020204030204" pitchFamily="2" charset="0"/>
              </a:rPr>
              <a:t> to </a:t>
            </a:r>
            <a:r>
              <a:rPr lang="en-GB" sz="2000" b="0" i="0" dirty="0">
                <a:solidFill>
                  <a:srgbClr val="FF0000"/>
                </a:solidFill>
                <a:effectLst/>
                <a:latin typeface="Nunito" panose="020F0502020204030204" pitchFamily="2" charset="0"/>
              </a:rPr>
              <a:t>think</a:t>
            </a:r>
            <a:r>
              <a:rPr lang="en-GB" sz="2000" b="0" i="0" dirty="0">
                <a:solidFill>
                  <a:srgbClr val="273239"/>
                </a:solidFill>
                <a:effectLst/>
                <a:latin typeface="Nunito" panose="020F0502020204030204" pitchFamily="2" charset="0"/>
              </a:rPr>
              <a:t> and </a:t>
            </a:r>
            <a:r>
              <a:rPr lang="en-GB" sz="2000" b="0" i="0" dirty="0">
                <a:solidFill>
                  <a:srgbClr val="FF0000"/>
                </a:solidFill>
                <a:effectLst/>
                <a:latin typeface="Nunito" panose="020F0502020204030204" pitchFamily="2" charset="0"/>
              </a:rPr>
              <a:t>understand</a:t>
            </a:r>
            <a:r>
              <a:rPr lang="en-GB" sz="2000" b="0" i="0" dirty="0">
                <a:solidFill>
                  <a:srgbClr val="273239"/>
                </a:solidFill>
                <a:effectLst/>
                <a:latin typeface="Nunito" panose="020F0502020204030204" pitchFamily="2" charset="0"/>
              </a:rPr>
              <a:t> like humans by </a:t>
            </a:r>
            <a:r>
              <a:rPr lang="en-GB" sz="2000" b="0" i="0" dirty="0">
                <a:solidFill>
                  <a:srgbClr val="FF0000"/>
                </a:solidFill>
                <a:effectLst/>
                <a:latin typeface="Nunito" panose="020F0502020204030204" pitchFamily="2" charset="0"/>
              </a:rPr>
              <a:t>learning</a:t>
            </a:r>
            <a:r>
              <a:rPr lang="en-GB" sz="2000" b="0" i="0" dirty="0">
                <a:solidFill>
                  <a:srgbClr val="273239"/>
                </a:solidFill>
                <a:effectLst/>
                <a:latin typeface="Nunito" panose="020F0502020204030204" pitchFamily="2" charset="0"/>
              </a:rPr>
              <a:t> from the </a:t>
            </a:r>
            <a:r>
              <a:rPr lang="en-GB" sz="2000" b="0" i="0" dirty="0">
                <a:solidFill>
                  <a:srgbClr val="FF0000"/>
                </a:solidFill>
                <a:effectLst/>
                <a:latin typeface="Nunito" panose="020F0502020204030204" pitchFamily="2" charset="0"/>
              </a:rPr>
              <a:t>data</a:t>
            </a:r>
            <a:r>
              <a:rPr lang="en-GB" sz="2000" b="0" i="0" dirty="0">
                <a:solidFill>
                  <a:srgbClr val="273239"/>
                </a:solidFill>
                <a:effectLst/>
                <a:latin typeface="Nunito" panose="020F0502020204030204" pitchFamily="2" charset="0"/>
              </a:rPr>
              <a:t>.</a:t>
            </a:r>
            <a:endParaRPr lang="en-GB" sz="2000" dirty="0"/>
          </a:p>
        </p:txBody>
      </p:sp>
    </p:spTree>
    <p:extLst>
      <p:ext uri="{BB962C8B-B14F-4D97-AF65-F5344CB8AC3E}">
        <p14:creationId xmlns:p14="http://schemas.microsoft.com/office/powerpoint/2010/main" val="2582855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FDF88C-1BBD-A655-62F3-2A13CC10AB70}"/>
              </a:ext>
            </a:extLst>
          </p:cNvPr>
          <p:cNvPicPr>
            <a:picLocks noChangeAspect="1"/>
          </p:cNvPicPr>
          <p:nvPr/>
        </p:nvPicPr>
        <p:blipFill>
          <a:blip r:embed="rId2"/>
          <a:stretch>
            <a:fillRect/>
          </a:stretch>
        </p:blipFill>
        <p:spPr>
          <a:xfrm>
            <a:off x="973128" y="3487795"/>
            <a:ext cx="9999406" cy="2375805"/>
          </a:xfrm>
          <a:prstGeom prst="rect">
            <a:avLst/>
          </a:prstGeom>
        </p:spPr>
      </p:pic>
      <p:sp>
        <p:nvSpPr>
          <p:cNvPr id="7" name="TextBox 6">
            <a:extLst>
              <a:ext uri="{FF2B5EF4-FFF2-40B4-BE49-F238E27FC236}">
                <a16:creationId xmlns:a16="http://schemas.microsoft.com/office/drawing/2014/main" id="{E6C4A53E-F17F-FA24-92F1-72A5A0D2AD63}"/>
              </a:ext>
            </a:extLst>
          </p:cNvPr>
          <p:cNvSpPr txBox="1"/>
          <p:nvPr/>
        </p:nvSpPr>
        <p:spPr>
          <a:xfrm>
            <a:off x="3906794" y="6205732"/>
            <a:ext cx="6096000" cy="369332"/>
          </a:xfrm>
          <a:prstGeom prst="rect">
            <a:avLst/>
          </a:prstGeom>
          <a:noFill/>
        </p:spPr>
        <p:txBody>
          <a:bodyPr wrap="square">
            <a:spAutoFit/>
          </a:bodyPr>
          <a:lstStyle/>
          <a:p>
            <a:r>
              <a:rPr lang="en-GB" sz="1800" b="1" i="0" u="none" strike="noStrike" baseline="0" dirty="0">
                <a:solidFill>
                  <a:srgbClr val="000000"/>
                </a:solidFill>
                <a:latin typeface="Frutiger LT Std 45 Light"/>
              </a:rPr>
              <a:t>Figure 1.1 </a:t>
            </a:r>
            <a:r>
              <a:rPr lang="en-GB" sz="1800" b="0" i="0" u="none" strike="noStrike" baseline="0" dirty="0">
                <a:solidFill>
                  <a:srgbClr val="000000"/>
                </a:solidFill>
                <a:latin typeface="Frutiger LT Std 45 Light"/>
              </a:rPr>
              <a:t>The meaning of machine learning.</a:t>
            </a:r>
            <a:endParaRPr lang="en-GB" dirty="0"/>
          </a:p>
        </p:txBody>
      </p:sp>
      <p:sp>
        <p:nvSpPr>
          <p:cNvPr id="8" name="TextBox 7">
            <a:extLst>
              <a:ext uri="{FF2B5EF4-FFF2-40B4-BE49-F238E27FC236}">
                <a16:creationId xmlns:a16="http://schemas.microsoft.com/office/drawing/2014/main" id="{A898DC02-043E-27C4-7FCB-60C3B20A8976}"/>
              </a:ext>
            </a:extLst>
          </p:cNvPr>
          <p:cNvSpPr txBox="1"/>
          <p:nvPr/>
        </p:nvSpPr>
        <p:spPr>
          <a:xfrm>
            <a:off x="747584" y="837339"/>
            <a:ext cx="10696831" cy="1938992"/>
          </a:xfrm>
          <a:prstGeom prst="rect">
            <a:avLst/>
          </a:prstGeom>
          <a:noFill/>
        </p:spPr>
        <p:txBody>
          <a:bodyPr wrap="square">
            <a:spAutoFit/>
          </a:bodyPr>
          <a:lstStyle/>
          <a:p>
            <a:r>
              <a:rPr lang="en-GB" sz="2400" b="0" i="0" u="none" strike="noStrike" baseline="0" dirty="0">
                <a:solidFill>
                  <a:srgbClr val="000000"/>
                </a:solidFill>
                <a:latin typeface="Times LT Std"/>
              </a:rPr>
              <a:t>An algorithm is a set of mathematical instructions or rules that directs a computer program to solve a specific problem or perform a task. </a:t>
            </a:r>
          </a:p>
          <a:p>
            <a:endParaRPr lang="en-GB" sz="2400" dirty="0">
              <a:solidFill>
                <a:srgbClr val="000000"/>
              </a:solidFill>
              <a:latin typeface="Times LT Std"/>
            </a:endParaRPr>
          </a:p>
          <a:p>
            <a:r>
              <a:rPr lang="en-GB" sz="2400" b="0" i="0" u="none" strike="noStrike" baseline="0" dirty="0">
                <a:solidFill>
                  <a:srgbClr val="000000"/>
                </a:solidFill>
                <a:latin typeface="Times LT Std"/>
              </a:rPr>
              <a:t>In machine learning, an algorithm enables a model to </a:t>
            </a:r>
            <a:r>
              <a:rPr lang="en-GB" sz="2400" b="0" i="0" u="none" strike="noStrike" baseline="0" dirty="0">
                <a:solidFill>
                  <a:srgbClr val="FF0000"/>
                </a:solidFill>
                <a:latin typeface="Times LT Std"/>
              </a:rPr>
              <a:t>process data</a:t>
            </a:r>
            <a:r>
              <a:rPr lang="en-GB" sz="2400" b="0" i="0" u="none" strike="noStrike" baseline="0" dirty="0">
                <a:solidFill>
                  <a:srgbClr val="000000"/>
                </a:solidFill>
                <a:latin typeface="Times LT Std"/>
              </a:rPr>
              <a:t>, </a:t>
            </a:r>
            <a:r>
              <a:rPr lang="en-GB" sz="2400" b="0" i="0" u="none" strike="noStrike" baseline="0" dirty="0">
                <a:solidFill>
                  <a:srgbClr val="FF0000"/>
                </a:solidFill>
                <a:latin typeface="Times LT Std"/>
              </a:rPr>
              <a:t>identify patterns</a:t>
            </a:r>
            <a:r>
              <a:rPr lang="en-GB" sz="2400" b="0" i="0" u="none" strike="noStrike" baseline="0" dirty="0">
                <a:solidFill>
                  <a:srgbClr val="000000"/>
                </a:solidFill>
                <a:latin typeface="Times LT Std"/>
              </a:rPr>
              <a:t>, and make </a:t>
            </a:r>
            <a:r>
              <a:rPr lang="en-GB" sz="2400" b="0" i="0" u="none" strike="noStrike" baseline="0" dirty="0">
                <a:solidFill>
                  <a:srgbClr val="FF0000"/>
                </a:solidFill>
                <a:latin typeface="Times LT Std"/>
              </a:rPr>
              <a:t>predictions</a:t>
            </a:r>
            <a:r>
              <a:rPr lang="en-GB" sz="2400" b="0" i="0" u="none" strike="noStrike" baseline="0" dirty="0">
                <a:solidFill>
                  <a:srgbClr val="000000"/>
                </a:solidFill>
                <a:latin typeface="Times LT Std"/>
              </a:rPr>
              <a:t>. </a:t>
            </a:r>
            <a:endParaRPr lang="en-GB" sz="2400" dirty="0"/>
          </a:p>
        </p:txBody>
      </p:sp>
      <p:sp>
        <p:nvSpPr>
          <p:cNvPr id="9" name="Title 1">
            <a:extLst>
              <a:ext uri="{FF2B5EF4-FFF2-40B4-BE49-F238E27FC236}">
                <a16:creationId xmlns:a16="http://schemas.microsoft.com/office/drawing/2014/main" id="{00EDC4A6-DE9A-2F9C-FD4B-11E966F71E11}"/>
              </a:ext>
            </a:extLst>
          </p:cNvPr>
          <p:cNvSpPr>
            <a:spLocks noGrp="1"/>
          </p:cNvSpPr>
          <p:nvPr>
            <p:ph type="title"/>
          </p:nvPr>
        </p:nvSpPr>
        <p:spPr>
          <a:xfrm>
            <a:off x="937054" y="551934"/>
            <a:ext cx="10515600" cy="90617"/>
          </a:xfrm>
        </p:spPr>
        <p:txBody>
          <a:bodyPr>
            <a:normAutofit fontScale="90000"/>
          </a:bodyPr>
          <a:lstStyle/>
          <a:p>
            <a:r>
              <a:rPr lang="en-GB" dirty="0"/>
              <a:t>Machine learning  </a:t>
            </a:r>
            <a:r>
              <a:rPr lang="ar-DZ" b="1" dirty="0"/>
              <a:t>تعلــــــــــــــــــــــــــــم</a:t>
            </a:r>
            <a:r>
              <a:rPr lang="ar-DZ" dirty="0"/>
              <a:t> </a:t>
            </a:r>
            <a:r>
              <a:rPr lang="ar-DZ" b="1" dirty="0"/>
              <a:t>الالــــــــــة</a:t>
            </a:r>
            <a:br>
              <a:rPr lang="ar-DZ" b="1" dirty="0"/>
            </a:br>
            <a:endParaRPr lang="en-GB" dirty="0"/>
          </a:p>
        </p:txBody>
      </p:sp>
    </p:spTree>
    <p:extLst>
      <p:ext uri="{BB962C8B-B14F-4D97-AF65-F5344CB8AC3E}">
        <p14:creationId xmlns:p14="http://schemas.microsoft.com/office/powerpoint/2010/main" val="2044397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5730E5-4F1C-5DB6-A3AE-26C9B50F8DBD}"/>
              </a:ext>
            </a:extLst>
          </p:cNvPr>
          <p:cNvSpPr txBox="1"/>
          <p:nvPr/>
        </p:nvSpPr>
        <p:spPr>
          <a:xfrm>
            <a:off x="1062680" y="1128583"/>
            <a:ext cx="10635049" cy="4524315"/>
          </a:xfrm>
          <a:prstGeom prst="rect">
            <a:avLst/>
          </a:prstGeom>
          <a:noFill/>
        </p:spPr>
        <p:txBody>
          <a:bodyPr wrap="square" rtlCol="0">
            <a:spAutoFit/>
          </a:bodyPr>
          <a:lstStyle/>
          <a:p>
            <a:r>
              <a:rPr lang="en-GB" sz="2400" b="1" dirty="0">
                <a:solidFill>
                  <a:srgbClr val="FF0000"/>
                </a:solidFill>
              </a:rPr>
              <a:t>How does ML  work ?</a:t>
            </a:r>
          </a:p>
          <a:p>
            <a:endParaRPr lang="en-GB" sz="2400" dirty="0"/>
          </a:p>
          <a:p>
            <a:r>
              <a:rPr lang="en-GB" sz="2400" dirty="0"/>
              <a:t>1- </a:t>
            </a:r>
            <a:r>
              <a:rPr lang="en-GB" sz="2400" dirty="0">
                <a:solidFill>
                  <a:srgbClr val="FF0000"/>
                </a:solidFill>
              </a:rPr>
              <a:t>ML</a:t>
            </a:r>
            <a:r>
              <a:rPr lang="en-GB" sz="2400" dirty="0"/>
              <a:t> algorithm is trained using a training </a:t>
            </a:r>
            <a:r>
              <a:rPr lang="en-GB" sz="2400" u="sng" dirty="0">
                <a:solidFill>
                  <a:srgbClr val="FF0000"/>
                </a:solidFill>
              </a:rPr>
              <a:t>dataset</a:t>
            </a:r>
            <a:r>
              <a:rPr lang="en-GB" sz="2400" dirty="0"/>
              <a:t> to create a </a:t>
            </a:r>
            <a:r>
              <a:rPr lang="en-GB" sz="2400" u="sng" dirty="0">
                <a:solidFill>
                  <a:srgbClr val="FF0000"/>
                </a:solidFill>
              </a:rPr>
              <a:t>model</a:t>
            </a:r>
            <a:r>
              <a:rPr lang="en-GB" sz="2400" dirty="0"/>
              <a:t>.</a:t>
            </a:r>
          </a:p>
          <a:p>
            <a:endParaRPr lang="en-GB" sz="2400" dirty="0"/>
          </a:p>
          <a:p>
            <a:r>
              <a:rPr lang="en-GB" sz="2400" dirty="0"/>
              <a:t>2- When </a:t>
            </a:r>
            <a:r>
              <a:rPr lang="en-GB" sz="2400" dirty="0">
                <a:solidFill>
                  <a:srgbClr val="FF0000"/>
                </a:solidFill>
              </a:rPr>
              <a:t>new input data </a:t>
            </a:r>
            <a:r>
              <a:rPr lang="en-GB" sz="2400" dirty="0"/>
              <a:t>is introduced to the </a:t>
            </a:r>
            <a:r>
              <a:rPr lang="en-GB" sz="2400" dirty="0">
                <a:solidFill>
                  <a:srgbClr val="FF0000"/>
                </a:solidFill>
              </a:rPr>
              <a:t>ML</a:t>
            </a:r>
            <a:r>
              <a:rPr lang="en-GB" sz="2400" dirty="0"/>
              <a:t> algorithm, it makes a prediction    on the basis of the model.</a:t>
            </a:r>
          </a:p>
          <a:p>
            <a:endParaRPr lang="en-GB" sz="2400" dirty="0"/>
          </a:p>
          <a:p>
            <a:r>
              <a:rPr lang="en-GB" sz="2400" dirty="0"/>
              <a:t>3- The prediction is evaluated for accuracy, and if the accuracy is acceptable, the </a:t>
            </a:r>
            <a:r>
              <a:rPr lang="en-GB" sz="2400" dirty="0">
                <a:solidFill>
                  <a:srgbClr val="FF0000"/>
                </a:solidFill>
              </a:rPr>
              <a:t>ML</a:t>
            </a:r>
            <a:r>
              <a:rPr lang="en-GB" sz="2400" dirty="0"/>
              <a:t> algorithm is deployed.</a:t>
            </a:r>
          </a:p>
          <a:p>
            <a:endParaRPr lang="en-GB" sz="2400" dirty="0"/>
          </a:p>
          <a:p>
            <a:r>
              <a:rPr lang="en-GB" sz="2400" dirty="0"/>
              <a:t>4- If the accuracy is not acceptable, the </a:t>
            </a:r>
            <a:r>
              <a:rPr lang="en-GB" sz="2400" dirty="0">
                <a:solidFill>
                  <a:srgbClr val="FF0000"/>
                </a:solidFill>
              </a:rPr>
              <a:t>ML</a:t>
            </a:r>
            <a:r>
              <a:rPr lang="en-GB" sz="2400" dirty="0"/>
              <a:t> algorithm is trained again with an augmented raining data set.</a:t>
            </a:r>
          </a:p>
        </p:txBody>
      </p:sp>
      <p:sp>
        <p:nvSpPr>
          <p:cNvPr id="8" name="Title 1">
            <a:extLst>
              <a:ext uri="{FF2B5EF4-FFF2-40B4-BE49-F238E27FC236}">
                <a16:creationId xmlns:a16="http://schemas.microsoft.com/office/drawing/2014/main" id="{5558CC1C-C916-5F4B-F4A5-FB5EE48B43DB}"/>
              </a:ext>
            </a:extLst>
          </p:cNvPr>
          <p:cNvSpPr>
            <a:spLocks noGrp="1"/>
          </p:cNvSpPr>
          <p:nvPr>
            <p:ph type="title"/>
          </p:nvPr>
        </p:nvSpPr>
        <p:spPr>
          <a:xfrm>
            <a:off x="937054" y="551934"/>
            <a:ext cx="10515600" cy="90617"/>
          </a:xfrm>
        </p:spPr>
        <p:txBody>
          <a:bodyPr>
            <a:normAutofit fontScale="90000"/>
          </a:bodyPr>
          <a:lstStyle/>
          <a:p>
            <a:r>
              <a:rPr lang="en-GB" dirty="0"/>
              <a:t>Machine learning  </a:t>
            </a:r>
            <a:r>
              <a:rPr lang="ar-DZ" b="1" dirty="0"/>
              <a:t>تعلــــــــــــــــــــــــــــم</a:t>
            </a:r>
            <a:r>
              <a:rPr lang="ar-DZ" dirty="0"/>
              <a:t> </a:t>
            </a:r>
            <a:r>
              <a:rPr lang="ar-DZ" b="1" dirty="0"/>
              <a:t>الالــــــــــة</a:t>
            </a:r>
            <a:br>
              <a:rPr lang="ar-DZ" b="1" dirty="0"/>
            </a:br>
            <a:endParaRPr lang="en-GB" dirty="0"/>
          </a:p>
        </p:txBody>
      </p:sp>
    </p:spTree>
    <p:extLst>
      <p:ext uri="{BB962C8B-B14F-4D97-AF65-F5344CB8AC3E}">
        <p14:creationId xmlns:p14="http://schemas.microsoft.com/office/powerpoint/2010/main" val="1300984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EB8CF8-1716-84AA-28F5-5B8757C8E1DC}"/>
              </a:ext>
            </a:extLst>
          </p:cNvPr>
          <p:cNvSpPr>
            <a:spLocks noGrp="1"/>
          </p:cNvSpPr>
          <p:nvPr>
            <p:ph idx="1"/>
          </p:nvPr>
        </p:nvSpPr>
        <p:spPr>
          <a:xfrm>
            <a:off x="465437" y="757882"/>
            <a:ext cx="11458833" cy="1494224"/>
          </a:xfrm>
        </p:spPr>
        <p:txBody>
          <a:bodyPr>
            <a:noAutofit/>
          </a:bodyPr>
          <a:lstStyle/>
          <a:p>
            <a:pPr algn="l"/>
            <a:r>
              <a:rPr lang="en-GB" sz="2000" b="0" i="0" u="none" strike="noStrike" baseline="0" dirty="0">
                <a:latin typeface="CMR12"/>
              </a:rPr>
              <a:t>Machine learning combines three main components: </a:t>
            </a:r>
            <a:r>
              <a:rPr lang="en-GB" sz="2000" b="0" i="0" u="none" strike="noStrike" baseline="0" dirty="0">
                <a:solidFill>
                  <a:srgbClr val="FF0000"/>
                </a:solidFill>
                <a:latin typeface="CMR12"/>
              </a:rPr>
              <a:t>model</a:t>
            </a:r>
            <a:r>
              <a:rPr lang="en-GB" sz="2000" b="0" i="0" u="none" strike="noStrike" baseline="0" dirty="0">
                <a:latin typeface="CMR12"/>
              </a:rPr>
              <a:t>, </a:t>
            </a:r>
            <a:r>
              <a:rPr lang="en-GB" sz="2000" b="0" i="0" u="none" strike="noStrike" baseline="0" dirty="0">
                <a:solidFill>
                  <a:srgbClr val="FF0000"/>
                </a:solidFill>
                <a:latin typeface="CMR12"/>
              </a:rPr>
              <a:t>data</a:t>
            </a:r>
            <a:r>
              <a:rPr lang="en-GB" sz="2000" b="0" i="0" u="none" strike="noStrike" baseline="0" dirty="0">
                <a:latin typeface="CMR12"/>
              </a:rPr>
              <a:t> and </a:t>
            </a:r>
            <a:r>
              <a:rPr lang="en-GB" sz="2000" b="0" i="0" u="none" strike="noStrike" baseline="0" dirty="0">
                <a:solidFill>
                  <a:srgbClr val="FF0000"/>
                </a:solidFill>
                <a:latin typeface="CMR12"/>
              </a:rPr>
              <a:t>loss</a:t>
            </a:r>
            <a:r>
              <a:rPr lang="en-GB" sz="2000" b="0" i="0" u="none" strike="noStrike" baseline="0" dirty="0">
                <a:latin typeface="CMR12"/>
              </a:rPr>
              <a:t>. </a:t>
            </a:r>
          </a:p>
          <a:p>
            <a:pPr algn="l"/>
            <a:r>
              <a:rPr lang="en-GB" sz="2000" b="0" i="0" u="none" strike="noStrike" baseline="0" dirty="0">
                <a:latin typeface="CMR12"/>
              </a:rPr>
              <a:t>Machine learning methods implement the scientific principle of \</a:t>
            </a:r>
            <a:r>
              <a:rPr lang="en-GB" sz="2000" b="0" i="0" u="none" strike="noStrike" baseline="0" dirty="0">
                <a:solidFill>
                  <a:srgbClr val="FF0000"/>
                </a:solidFill>
                <a:latin typeface="CMR12"/>
              </a:rPr>
              <a:t>trial</a:t>
            </a:r>
            <a:r>
              <a:rPr lang="en-GB" sz="2000" b="0" i="0" u="none" strike="noStrike" baseline="0" dirty="0">
                <a:latin typeface="CMR12"/>
              </a:rPr>
              <a:t> and </a:t>
            </a:r>
            <a:r>
              <a:rPr lang="en-GB" sz="2000" b="0" i="0" u="none" strike="noStrike" baseline="0" dirty="0">
                <a:solidFill>
                  <a:srgbClr val="FF0000"/>
                </a:solidFill>
                <a:latin typeface="CMR12"/>
              </a:rPr>
              <a:t>error</a:t>
            </a:r>
            <a:r>
              <a:rPr lang="en-GB" sz="2000" b="0" i="0" u="none" strike="noStrike" baseline="0" dirty="0">
                <a:latin typeface="CMR12"/>
              </a:rPr>
              <a:t>. </a:t>
            </a:r>
          </a:p>
          <a:p>
            <a:pPr algn="l"/>
            <a:r>
              <a:rPr lang="en-GB" sz="2000" b="0" i="0" u="none" strike="noStrike" baseline="0" dirty="0">
                <a:latin typeface="CMR12"/>
              </a:rPr>
              <a:t>These methods continuously </a:t>
            </a:r>
            <a:r>
              <a:rPr lang="en-GB" sz="2000" b="0" i="0" u="none" strike="noStrike" baseline="0" dirty="0">
                <a:solidFill>
                  <a:srgbClr val="FF0000"/>
                </a:solidFill>
                <a:latin typeface="CMR12"/>
              </a:rPr>
              <a:t>validate</a:t>
            </a:r>
            <a:r>
              <a:rPr lang="en-GB" sz="2000" b="0" i="0" u="none" strike="noStrike" baseline="0" dirty="0">
                <a:latin typeface="CMR12"/>
              </a:rPr>
              <a:t> and </a:t>
            </a:r>
            <a:r>
              <a:rPr lang="en-GB" sz="2000" b="0" i="0" u="none" strike="noStrike" baseline="0" dirty="0">
                <a:solidFill>
                  <a:srgbClr val="FF0000"/>
                </a:solidFill>
                <a:latin typeface="CMR12"/>
              </a:rPr>
              <a:t>refine</a:t>
            </a:r>
            <a:r>
              <a:rPr lang="en-GB" sz="2000" b="0" i="0" u="none" strike="noStrike" baseline="0" dirty="0">
                <a:latin typeface="CMR12"/>
              </a:rPr>
              <a:t> a model based on the </a:t>
            </a:r>
            <a:r>
              <a:rPr lang="en-GB" sz="2000" b="0" i="0" u="none" strike="noStrike" baseline="0" dirty="0">
                <a:solidFill>
                  <a:srgbClr val="FF0000"/>
                </a:solidFill>
                <a:latin typeface="CMR12"/>
              </a:rPr>
              <a:t>loss</a:t>
            </a:r>
            <a:r>
              <a:rPr lang="en-GB" sz="2000" b="0" i="0" u="none" strike="noStrike" baseline="0" dirty="0">
                <a:latin typeface="CMR12"/>
              </a:rPr>
              <a:t> incurred by its predictions about a phenomenon that generates data.</a:t>
            </a:r>
            <a:endParaRPr lang="en-GB" sz="2000" dirty="0"/>
          </a:p>
        </p:txBody>
      </p:sp>
      <p:sp>
        <p:nvSpPr>
          <p:cNvPr id="4" name="Title 1">
            <a:extLst>
              <a:ext uri="{FF2B5EF4-FFF2-40B4-BE49-F238E27FC236}">
                <a16:creationId xmlns:a16="http://schemas.microsoft.com/office/drawing/2014/main" id="{42B9DC07-AB5E-E80D-87AC-A8D7E950473E}"/>
              </a:ext>
            </a:extLst>
          </p:cNvPr>
          <p:cNvSpPr>
            <a:spLocks noGrp="1"/>
          </p:cNvSpPr>
          <p:nvPr>
            <p:ph type="title"/>
          </p:nvPr>
        </p:nvSpPr>
        <p:spPr>
          <a:xfrm>
            <a:off x="937054" y="551934"/>
            <a:ext cx="10515600" cy="90617"/>
          </a:xfrm>
        </p:spPr>
        <p:txBody>
          <a:bodyPr>
            <a:normAutofit fontScale="90000"/>
          </a:bodyPr>
          <a:lstStyle/>
          <a:p>
            <a:r>
              <a:rPr lang="en-GB" dirty="0"/>
              <a:t>Machine learning  </a:t>
            </a:r>
            <a:r>
              <a:rPr lang="ar-DZ" b="1" dirty="0"/>
              <a:t>تعلــــــــــــــــــــــــــــم</a:t>
            </a:r>
            <a:r>
              <a:rPr lang="ar-DZ" dirty="0"/>
              <a:t> </a:t>
            </a:r>
            <a:r>
              <a:rPr lang="ar-DZ" b="1" dirty="0"/>
              <a:t>الالــــــــــة</a:t>
            </a:r>
            <a:br>
              <a:rPr lang="ar-DZ" b="1" dirty="0"/>
            </a:br>
            <a:endParaRPr lang="en-GB" dirty="0"/>
          </a:p>
        </p:txBody>
      </p:sp>
      <p:pic>
        <p:nvPicPr>
          <p:cNvPr id="6" name="Picture 5">
            <a:extLst>
              <a:ext uri="{FF2B5EF4-FFF2-40B4-BE49-F238E27FC236}">
                <a16:creationId xmlns:a16="http://schemas.microsoft.com/office/drawing/2014/main" id="{AA1A1494-D758-AEC4-E08F-098BC2543875}"/>
              </a:ext>
            </a:extLst>
          </p:cNvPr>
          <p:cNvPicPr>
            <a:picLocks noChangeAspect="1"/>
          </p:cNvPicPr>
          <p:nvPr/>
        </p:nvPicPr>
        <p:blipFill>
          <a:blip r:embed="rId2"/>
          <a:stretch>
            <a:fillRect/>
          </a:stretch>
        </p:blipFill>
        <p:spPr>
          <a:xfrm>
            <a:off x="3043366" y="2367437"/>
            <a:ext cx="5861736" cy="4160107"/>
          </a:xfrm>
          <a:prstGeom prst="rect">
            <a:avLst/>
          </a:prstGeom>
        </p:spPr>
      </p:pic>
    </p:spTree>
    <p:extLst>
      <p:ext uri="{BB962C8B-B14F-4D97-AF65-F5344CB8AC3E}">
        <p14:creationId xmlns:p14="http://schemas.microsoft.com/office/powerpoint/2010/main" val="398941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157D0-D37A-B964-EE95-6DC1F1595C17}"/>
              </a:ext>
            </a:extLst>
          </p:cNvPr>
          <p:cNvSpPr>
            <a:spLocks noGrp="1"/>
          </p:cNvSpPr>
          <p:nvPr>
            <p:ph type="title"/>
          </p:nvPr>
        </p:nvSpPr>
        <p:spPr/>
        <p:txBody>
          <a:bodyPr/>
          <a:lstStyle/>
          <a:p>
            <a:r>
              <a:rPr lang="en-GB" sz="1800" b="1" i="0" u="none" strike="noStrike" baseline="0" dirty="0">
                <a:solidFill>
                  <a:srgbClr val="2C292A"/>
                </a:solidFill>
                <a:latin typeface="JprljpVwhvqyTxtchxJmtxdyHelveticaNeue-MediumCon"/>
              </a:rPr>
              <a:t>Real-World Applications of Machine Learning</a:t>
            </a:r>
            <a:br>
              <a:rPr lang="en-GB" sz="1800" b="0" i="0" u="none" strike="noStrike" baseline="0" dirty="0">
                <a:solidFill>
                  <a:srgbClr val="2C292A"/>
                </a:solidFill>
                <a:latin typeface="JprljpVwhvqyTxtchxJmtxdyHelveticaNeue-MediumCon"/>
              </a:rPr>
            </a:br>
            <a:r>
              <a:rPr lang="en-GB" sz="1800" b="0" i="0" u="none" strike="noStrike" baseline="0" dirty="0">
                <a:solidFill>
                  <a:srgbClr val="2C292A"/>
                </a:solidFill>
                <a:latin typeface="WlctmlDkkpspLcwjxsKtxkbpUtopiaStd-Regular"/>
              </a:rPr>
              <a:t>Machine Learning is widely being applied and used in the real world today to solve complex problems that</a:t>
            </a:r>
            <a:br>
              <a:rPr lang="en-GB" sz="1800" b="0" i="0" u="none" strike="noStrike" baseline="0" dirty="0">
                <a:solidFill>
                  <a:srgbClr val="2C292A"/>
                </a:solidFill>
                <a:latin typeface="WlctmlDkkpspLcwjxsKtxkbpUtopiaStd-Regular"/>
              </a:rPr>
            </a:br>
            <a:r>
              <a:rPr lang="en-GB" sz="1800" b="0" i="0" u="none" strike="noStrike" baseline="0" dirty="0">
                <a:solidFill>
                  <a:srgbClr val="2C292A"/>
                </a:solidFill>
                <a:latin typeface="WlctmlDkkpspLcwjxsKtxkbpUtopiaStd-Regular"/>
              </a:rPr>
              <a:t>would otherwise have been impossible to solve based on traditional approaches and rule-based systems.</a:t>
            </a:r>
            <a:br>
              <a:rPr lang="en-GB" sz="1800" b="0" i="0" u="none" strike="noStrike" baseline="0" dirty="0">
                <a:solidFill>
                  <a:srgbClr val="2C292A"/>
                </a:solidFill>
                <a:latin typeface="WlctmlDkkpspLcwjxsKtxkbpUtopiaStd-Regular"/>
              </a:rPr>
            </a:br>
            <a:r>
              <a:rPr lang="en-GB" sz="1800" b="0" i="0" u="none" strike="noStrike" baseline="0" dirty="0">
                <a:solidFill>
                  <a:srgbClr val="2C292A"/>
                </a:solidFill>
                <a:latin typeface="WlctmlDkkpspLcwjxsKtxkbpUtopiaStd-Regular"/>
              </a:rPr>
              <a:t>The following list depicts some of the real-world applications of Machine Learning.</a:t>
            </a:r>
            <a:endParaRPr lang="en-GB" dirty="0"/>
          </a:p>
        </p:txBody>
      </p:sp>
      <p:sp>
        <p:nvSpPr>
          <p:cNvPr id="3" name="Content Placeholder 2">
            <a:extLst>
              <a:ext uri="{FF2B5EF4-FFF2-40B4-BE49-F238E27FC236}">
                <a16:creationId xmlns:a16="http://schemas.microsoft.com/office/drawing/2014/main" id="{62448CB4-9AE6-0F2C-DC4C-B43E999690FE}"/>
              </a:ext>
            </a:extLst>
          </p:cNvPr>
          <p:cNvSpPr>
            <a:spLocks noGrp="1"/>
          </p:cNvSpPr>
          <p:nvPr>
            <p:ph idx="1"/>
          </p:nvPr>
        </p:nvSpPr>
        <p:spPr/>
        <p:txBody>
          <a:bodyPr>
            <a:normAutofit fontScale="85000" lnSpcReduction="20000"/>
          </a:bodyPr>
          <a:lstStyle/>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Product recommendations in online shopping platforms</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Sentiment and emotion analysis</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Anomaly detection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Fraud detection and prevention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Content recommendation (news, music, movies, and so 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Weather forecasting</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Stock market forecasting</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Market basket analysis</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Customer segmentation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Object and scene recognition in images and video</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Speech recognition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Churn analytics</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Click through predictions</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Failure/defect detection and prevention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E-mail spam filtering</a:t>
            </a:r>
            <a:endParaRPr lang="en-GB" dirty="0"/>
          </a:p>
        </p:txBody>
      </p:sp>
    </p:spTree>
    <p:extLst>
      <p:ext uri="{BB962C8B-B14F-4D97-AF65-F5344CB8AC3E}">
        <p14:creationId xmlns:p14="http://schemas.microsoft.com/office/powerpoint/2010/main" val="899695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C47DE6-AE89-B633-94F0-56D7D74728DF}"/>
              </a:ext>
            </a:extLst>
          </p:cNvPr>
          <p:cNvSpPr>
            <a:spLocks noGrp="1"/>
          </p:cNvSpPr>
          <p:nvPr>
            <p:ph type="title"/>
          </p:nvPr>
        </p:nvSpPr>
        <p:spPr>
          <a:xfrm>
            <a:off x="838200" y="675502"/>
            <a:ext cx="10515600" cy="90617"/>
          </a:xfrm>
        </p:spPr>
        <p:txBody>
          <a:bodyPr>
            <a:normAutofit fontScale="90000"/>
          </a:bodyPr>
          <a:lstStyle/>
          <a:p>
            <a:r>
              <a:rPr lang="en-GB" dirty="0"/>
              <a:t>Machine learning  </a:t>
            </a:r>
            <a:r>
              <a:rPr lang="ar-DZ" b="1" dirty="0"/>
              <a:t>تعلــــــــــــــــــــــــــــم</a:t>
            </a:r>
            <a:r>
              <a:rPr lang="ar-DZ" dirty="0"/>
              <a:t> </a:t>
            </a:r>
            <a:r>
              <a:rPr lang="ar-DZ" b="1" dirty="0"/>
              <a:t>الالــــــــــة</a:t>
            </a:r>
            <a:br>
              <a:rPr lang="ar-DZ" b="1" dirty="0"/>
            </a:br>
            <a:endParaRPr lang="en-GB" dirty="0"/>
          </a:p>
        </p:txBody>
      </p:sp>
      <p:sp>
        <p:nvSpPr>
          <p:cNvPr id="8" name="Content Placeholder 7">
            <a:extLst>
              <a:ext uri="{FF2B5EF4-FFF2-40B4-BE49-F238E27FC236}">
                <a16:creationId xmlns:a16="http://schemas.microsoft.com/office/drawing/2014/main" id="{510857BB-73B3-D0F9-046C-355FB17AB105}"/>
              </a:ext>
            </a:extLst>
          </p:cNvPr>
          <p:cNvSpPr>
            <a:spLocks noGrp="1"/>
          </p:cNvSpPr>
          <p:nvPr>
            <p:ph idx="1"/>
          </p:nvPr>
        </p:nvSpPr>
        <p:spPr>
          <a:xfrm>
            <a:off x="838200" y="889687"/>
            <a:ext cx="10515600" cy="5008606"/>
          </a:xfrm>
        </p:spPr>
        <p:txBody>
          <a:bodyPr>
            <a:normAutofit/>
          </a:bodyPr>
          <a:lstStyle/>
          <a:p>
            <a:pPr marL="0" indent="0" algn="ctr">
              <a:buNone/>
            </a:pPr>
            <a:r>
              <a:rPr lang="en-GB" sz="1800" b="1" i="0" u="none" strike="noStrike" baseline="0" dirty="0">
                <a:solidFill>
                  <a:srgbClr val="FF0000"/>
                </a:solidFill>
                <a:latin typeface="MyriadPro-SemiboldCond"/>
              </a:rPr>
              <a:t>Main Challenges of Machine Learning</a:t>
            </a:r>
          </a:p>
          <a:p>
            <a:pPr marL="0" indent="0">
              <a:buNone/>
            </a:pPr>
            <a:endParaRPr lang="en-GB" sz="1800" dirty="0">
              <a:latin typeface="MyriadPro-SemiboldCond"/>
            </a:endParaRPr>
          </a:p>
          <a:p>
            <a:pPr marL="0" indent="0" algn="l">
              <a:buNone/>
            </a:pPr>
            <a:r>
              <a:rPr lang="en-GB" sz="1800" dirty="0">
                <a:latin typeface="MinionPro-Regular"/>
              </a:rPr>
              <a:t>S</a:t>
            </a:r>
            <a:r>
              <a:rPr lang="en-GB" sz="1800" b="0" i="0" u="none" strike="noStrike" baseline="0" dirty="0">
                <a:latin typeface="MinionPro-Regular"/>
              </a:rPr>
              <a:t>ince your main task is to select a learning algorithm and train it on some data, the two things that can go wrong are “bad algorithm” and “bad data.”</a:t>
            </a:r>
          </a:p>
          <a:p>
            <a:pPr marL="0" indent="0" algn="l">
              <a:buNone/>
            </a:pPr>
            <a:endParaRPr lang="en-GB" sz="1800" b="0" i="0" u="none" strike="noStrike" baseline="0" dirty="0">
              <a:latin typeface="MinionPro-Regular"/>
            </a:endParaRPr>
          </a:p>
          <a:p>
            <a:pPr marL="342900" indent="-342900" algn="l">
              <a:buFont typeface="+mj-lt"/>
              <a:buAutoNum type="arabicPeriod"/>
            </a:pPr>
            <a:r>
              <a:rPr lang="en-GB" sz="1800" b="0" i="0" u="none" strike="noStrike" baseline="0" dirty="0">
                <a:latin typeface="MyriadPro-SemiboldCond"/>
              </a:rPr>
              <a:t>Insufficient Quantity of Training Data :                                  </a:t>
            </a:r>
            <a:r>
              <a:rPr lang="ar-DZ" sz="1800" b="0" i="0" u="none" strike="noStrike" baseline="0" dirty="0">
                <a:latin typeface="MyriadPro-SemiboldCond"/>
              </a:rPr>
              <a:t>كمية بيانات التدريب غير كافية</a:t>
            </a:r>
            <a:endParaRPr lang="en-GB" sz="1800" b="0" i="0" u="none" strike="noStrike" baseline="0" dirty="0">
              <a:latin typeface="MyriadPro-SemiboldCond"/>
            </a:endParaRPr>
          </a:p>
          <a:p>
            <a:pPr marL="342900" indent="-342900" algn="l">
              <a:buFont typeface="+mj-lt"/>
              <a:buAutoNum type="arabicPeriod"/>
            </a:pPr>
            <a:r>
              <a:rPr lang="en-GB" sz="1800" b="0" i="0" u="none" strike="noStrike" baseline="0" dirty="0">
                <a:latin typeface="MyriadPro-SemiboldCond"/>
              </a:rPr>
              <a:t>The Unreasonable Effectiveness of Data</a:t>
            </a:r>
            <a:r>
              <a:rPr lang="en-GB" sz="1800" dirty="0">
                <a:latin typeface="MyriadPro-SemiboldCond"/>
              </a:rPr>
              <a:t>:                                   </a:t>
            </a:r>
            <a:r>
              <a:rPr lang="ar-DZ" sz="1800" dirty="0">
                <a:latin typeface="MyriadPro-SemiboldCond"/>
              </a:rPr>
              <a:t>فعالية البيانات غير المعقولة</a:t>
            </a:r>
            <a:endParaRPr lang="en-GB" sz="1800" dirty="0">
              <a:latin typeface="MyriadPro-SemiboldCond"/>
            </a:endParaRPr>
          </a:p>
          <a:p>
            <a:pPr marL="342900" indent="-342900" algn="l">
              <a:buFont typeface="+mj-lt"/>
              <a:buAutoNum type="arabicPeriod"/>
            </a:pPr>
            <a:r>
              <a:rPr lang="en-GB" sz="1800" b="0" i="0" u="none" strike="noStrike" baseline="0" dirty="0">
                <a:latin typeface="MyriadPro-SemiboldCond"/>
              </a:rPr>
              <a:t>Nonrepresentative Training Data:                                                  </a:t>
            </a:r>
            <a:r>
              <a:rPr lang="ar-DZ" sz="1800" dirty="0">
                <a:latin typeface="MyriadPro-SemiboldCond"/>
              </a:rPr>
              <a:t>بيانات تدريب غير تمثيلية</a:t>
            </a:r>
            <a:r>
              <a:rPr lang="en-GB" sz="1800" dirty="0">
                <a:latin typeface="MyriadPro-SemiboldCond"/>
              </a:rPr>
              <a:t>        </a:t>
            </a:r>
          </a:p>
          <a:p>
            <a:pPr marL="342900" indent="-342900">
              <a:buFont typeface="+mj-lt"/>
              <a:buAutoNum type="arabicPeriod"/>
            </a:pPr>
            <a:r>
              <a:rPr lang="en-GB" sz="1800" b="0" i="0" u="none" strike="noStrike" baseline="0" dirty="0">
                <a:latin typeface="MyriadPro-SemiboldCond"/>
              </a:rPr>
              <a:t>Poor-Quality Data</a:t>
            </a:r>
            <a:r>
              <a:rPr lang="ar-DZ" sz="1800" dirty="0">
                <a:latin typeface="MyriadPro-SemiboldCond"/>
              </a:rPr>
              <a:t>.</a:t>
            </a:r>
            <a:r>
              <a:rPr lang="en-GB" sz="1800" dirty="0">
                <a:latin typeface="MyriadPro-SemiboldCond"/>
              </a:rPr>
              <a:t>                                                                                   </a:t>
            </a:r>
            <a:r>
              <a:rPr lang="ar-DZ" sz="1800" dirty="0">
                <a:latin typeface="MyriadPro-SemiboldCond"/>
              </a:rPr>
              <a:t>بيانات رديئة الجودة</a:t>
            </a:r>
            <a:endParaRPr lang="en-GB" sz="1800" dirty="0">
              <a:latin typeface="MyriadPro-SemiboldCond"/>
            </a:endParaRPr>
          </a:p>
          <a:p>
            <a:pPr marL="342900" indent="-342900">
              <a:buFont typeface="+mj-lt"/>
              <a:buAutoNum type="arabicPeriod"/>
            </a:pPr>
            <a:r>
              <a:rPr lang="en-GB" sz="1800" b="0" i="0" u="none" strike="noStrike" baseline="0" dirty="0">
                <a:latin typeface="MyriadPro-SemiboldCond"/>
              </a:rPr>
              <a:t>Irrelevant Features</a:t>
            </a:r>
            <a:r>
              <a:rPr lang="ar-DZ" sz="1800" dirty="0">
                <a:latin typeface="MyriadPro-SemiboldCond"/>
              </a:rPr>
              <a:t>.</a:t>
            </a:r>
            <a:r>
              <a:rPr lang="en-GB" sz="1800" dirty="0">
                <a:latin typeface="MyriadPro-SemiboldCond"/>
              </a:rPr>
              <a:t>                                                                               </a:t>
            </a:r>
            <a:r>
              <a:rPr lang="ar-DZ" sz="1800" dirty="0">
                <a:latin typeface="MyriadPro-SemiboldCond"/>
              </a:rPr>
              <a:t>ميزات غير ذات صلة</a:t>
            </a:r>
            <a:endParaRPr lang="en-GB" sz="1800" b="0" i="0" u="none" strike="noStrike" baseline="0" dirty="0">
              <a:latin typeface="MyriadPro-SemiboldCond"/>
            </a:endParaRPr>
          </a:p>
          <a:p>
            <a:pPr marL="342900" indent="-342900">
              <a:buFont typeface="+mj-lt"/>
              <a:buAutoNum type="arabicPeriod"/>
            </a:pPr>
            <a:r>
              <a:rPr lang="en-GB" sz="1800" b="0" i="0" u="none" strike="noStrike" baseline="0" dirty="0">
                <a:latin typeface="MyriadPro-SemiboldCond"/>
              </a:rPr>
              <a:t>Overfitting the Training Data                                               </a:t>
            </a:r>
            <a:r>
              <a:rPr lang="ar-DZ" sz="1800" dirty="0">
                <a:latin typeface="MyriadPro-SemiboldCond"/>
              </a:rPr>
              <a:t>الإفراط في ملاءمة بيانات التدريب</a:t>
            </a:r>
            <a:endParaRPr lang="en-GB" sz="1800" dirty="0">
              <a:latin typeface="MyriadPro-SemiboldCond"/>
            </a:endParaRPr>
          </a:p>
          <a:p>
            <a:pPr marL="342900" indent="-342900">
              <a:buFont typeface="+mj-lt"/>
              <a:buAutoNum type="arabicPeriod"/>
            </a:pPr>
            <a:r>
              <a:rPr lang="en-GB" sz="1800" b="0" i="0" u="none" strike="noStrike" baseline="0" dirty="0">
                <a:latin typeface="MyriadPro-SemiboldCond"/>
              </a:rPr>
              <a:t>Underfitting the Training Data                                                       </a:t>
            </a:r>
            <a:r>
              <a:rPr lang="ar-DZ" sz="1800" dirty="0">
                <a:latin typeface="MyriadPro-SemiboldCond"/>
              </a:rPr>
              <a:t>عدم ملاءمة بيانات التدريب</a:t>
            </a:r>
            <a:endParaRPr lang="en-GB" sz="1800" b="0" i="0" u="none" strike="noStrike" baseline="0" dirty="0">
              <a:latin typeface="MyriadPro-SemiboldCond"/>
            </a:endParaRPr>
          </a:p>
        </p:txBody>
      </p:sp>
    </p:spTree>
    <p:extLst>
      <p:ext uri="{BB962C8B-B14F-4D97-AF65-F5344CB8AC3E}">
        <p14:creationId xmlns:p14="http://schemas.microsoft.com/office/powerpoint/2010/main" val="3574398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BFB2C49-EF90-B50B-F7B8-7017627FA98D}"/>
              </a:ext>
            </a:extLst>
          </p:cNvPr>
          <p:cNvSpPr txBox="1"/>
          <p:nvPr/>
        </p:nvSpPr>
        <p:spPr>
          <a:xfrm>
            <a:off x="593124" y="1146771"/>
            <a:ext cx="10939849" cy="1477328"/>
          </a:xfrm>
          <a:prstGeom prst="rect">
            <a:avLst/>
          </a:prstGeom>
          <a:noFill/>
        </p:spPr>
        <p:txBody>
          <a:bodyPr wrap="square">
            <a:spAutoFit/>
          </a:bodyPr>
          <a:lstStyle/>
          <a:p>
            <a:r>
              <a:rPr lang="en-GB" dirty="0"/>
              <a:t>     To practice machine learning on your own data, you'll need a few essential tools and libraries. </a:t>
            </a:r>
          </a:p>
          <a:p>
            <a:endParaRPr lang="en-GB" dirty="0"/>
          </a:p>
          <a:p>
            <a:r>
              <a:rPr lang="en-GB" b="1" dirty="0"/>
              <a:t>1. Programming Language: Python</a:t>
            </a:r>
          </a:p>
          <a:p>
            <a:r>
              <a:rPr lang="en-GB" dirty="0"/>
              <a:t>      Python is the go-to language for most machine learning tasks. It has a rich ecosystem of libraries,   </a:t>
            </a:r>
          </a:p>
          <a:p>
            <a:r>
              <a:rPr lang="en-GB" dirty="0"/>
              <a:t>      frameworks, and community support.</a:t>
            </a:r>
          </a:p>
        </p:txBody>
      </p:sp>
      <p:sp>
        <p:nvSpPr>
          <p:cNvPr id="7" name="TextBox 6">
            <a:extLst>
              <a:ext uri="{FF2B5EF4-FFF2-40B4-BE49-F238E27FC236}">
                <a16:creationId xmlns:a16="http://schemas.microsoft.com/office/drawing/2014/main" id="{8CD84E60-D6DD-92E2-E378-849E70012E22}"/>
              </a:ext>
            </a:extLst>
          </p:cNvPr>
          <p:cNvSpPr txBox="1"/>
          <p:nvPr/>
        </p:nvSpPr>
        <p:spPr>
          <a:xfrm>
            <a:off x="593124" y="2938682"/>
            <a:ext cx="11088130" cy="2585323"/>
          </a:xfrm>
          <a:prstGeom prst="rect">
            <a:avLst/>
          </a:prstGeom>
          <a:noFill/>
        </p:spPr>
        <p:txBody>
          <a:bodyPr wrap="square">
            <a:spAutoFit/>
          </a:bodyPr>
          <a:lstStyle/>
          <a:p>
            <a:r>
              <a:rPr lang="en-GB" b="1" dirty="0"/>
              <a:t>2. Development Environment</a:t>
            </a:r>
          </a:p>
          <a:p>
            <a:r>
              <a:rPr lang="en-GB" b="1" dirty="0"/>
              <a:t>     IDE/Code Editor</a:t>
            </a:r>
            <a:r>
              <a:rPr lang="en-GB" dirty="0"/>
              <a:t>: You can use tools like:</a:t>
            </a:r>
          </a:p>
          <a:p>
            <a:pPr marL="742950" lvl="1" indent="-285750">
              <a:buFont typeface="Arial" panose="020B0604020202020204" pitchFamily="34" charset="0"/>
              <a:buChar char="•"/>
            </a:pPr>
            <a:r>
              <a:rPr lang="en-GB" b="1" dirty="0" err="1"/>
              <a:t>Jupyter</a:t>
            </a:r>
            <a:r>
              <a:rPr lang="en-GB" b="1" dirty="0"/>
              <a:t> Notebook</a:t>
            </a:r>
            <a:r>
              <a:rPr lang="en-GB" dirty="0"/>
              <a:t> (great for experimentation and visualization)</a:t>
            </a:r>
          </a:p>
          <a:p>
            <a:pPr marL="742950" lvl="1" indent="-285750">
              <a:buFont typeface="Arial" panose="020B0604020202020204" pitchFamily="34" charset="0"/>
              <a:buChar char="•"/>
            </a:pPr>
            <a:r>
              <a:rPr lang="en-GB" b="1" dirty="0" err="1"/>
              <a:t>VSCode</a:t>
            </a:r>
            <a:r>
              <a:rPr lang="en-GB" dirty="0"/>
              <a:t> or </a:t>
            </a:r>
            <a:r>
              <a:rPr lang="en-GB" b="1" dirty="0"/>
              <a:t>PyCharm</a:t>
            </a:r>
            <a:r>
              <a:rPr lang="en-GB" dirty="0"/>
              <a:t> (ideal for larger projects)</a:t>
            </a:r>
          </a:p>
          <a:p>
            <a:pPr marL="742950" lvl="1" indent="-285750">
              <a:buFont typeface="Arial" panose="020B0604020202020204" pitchFamily="34" charset="0"/>
              <a:buChar char="•"/>
            </a:pPr>
            <a:r>
              <a:rPr lang="en-GB" b="1" dirty="0"/>
              <a:t>Google </a:t>
            </a:r>
            <a:r>
              <a:rPr lang="en-GB" b="1" dirty="0" err="1"/>
              <a:t>Colab</a:t>
            </a:r>
            <a:r>
              <a:rPr lang="en-GB" dirty="0"/>
              <a:t> (cloud-based and free, no setup required)</a:t>
            </a:r>
          </a:p>
          <a:p>
            <a:pPr marL="742950" lvl="1" indent="-285750">
              <a:buFont typeface="Arial" panose="020B0604020202020204" pitchFamily="34" charset="0"/>
              <a:buChar char="•"/>
            </a:pPr>
            <a:endParaRPr lang="en-GB" dirty="0"/>
          </a:p>
          <a:p>
            <a:r>
              <a:rPr lang="en-GB" b="1" dirty="0"/>
              <a:t>     Python Environment Management</a:t>
            </a:r>
            <a:r>
              <a:rPr lang="en-GB" dirty="0"/>
              <a:t>:</a:t>
            </a:r>
          </a:p>
          <a:p>
            <a:pPr marL="742950" lvl="1" indent="-285750">
              <a:buFont typeface="Arial" panose="020B0604020202020204" pitchFamily="34" charset="0"/>
              <a:buChar char="•"/>
            </a:pPr>
            <a:r>
              <a:rPr lang="en-GB" b="1" dirty="0"/>
              <a:t>Anaconda</a:t>
            </a:r>
            <a:r>
              <a:rPr lang="en-GB" dirty="0"/>
              <a:t> (for managing Python environments and packages easily)</a:t>
            </a:r>
          </a:p>
          <a:p>
            <a:pPr marL="742950" lvl="1" indent="-285750">
              <a:buFont typeface="Arial" panose="020B0604020202020204" pitchFamily="34" charset="0"/>
              <a:buChar char="•"/>
            </a:pPr>
            <a:r>
              <a:rPr lang="en-GB" b="1" dirty="0" err="1"/>
              <a:t>Virtualenv</a:t>
            </a:r>
            <a:r>
              <a:rPr lang="en-GB" dirty="0"/>
              <a:t> or </a:t>
            </a:r>
            <a:r>
              <a:rPr lang="en-GB" b="1" dirty="0" err="1"/>
              <a:t>Conda</a:t>
            </a:r>
            <a:r>
              <a:rPr lang="en-GB" dirty="0"/>
              <a:t> (to create isolated environments)</a:t>
            </a:r>
          </a:p>
        </p:txBody>
      </p:sp>
      <p:sp>
        <p:nvSpPr>
          <p:cNvPr id="9" name="TextBox 8">
            <a:extLst>
              <a:ext uri="{FF2B5EF4-FFF2-40B4-BE49-F238E27FC236}">
                <a16:creationId xmlns:a16="http://schemas.microsoft.com/office/drawing/2014/main" id="{7C278D0A-E42B-1D78-028C-F30CB0B98C45}"/>
              </a:ext>
            </a:extLst>
          </p:cNvPr>
          <p:cNvSpPr txBox="1"/>
          <p:nvPr/>
        </p:nvSpPr>
        <p:spPr>
          <a:xfrm>
            <a:off x="1276866" y="288145"/>
            <a:ext cx="8962766" cy="461665"/>
          </a:xfrm>
          <a:prstGeom prst="rect">
            <a:avLst/>
          </a:prstGeom>
          <a:noFill/>
        </p:spPr>
        <p:txBody>
          <a:bodyPr wrap="square">
            <a:spAutoFit/>
          </a:bodyPr>
          <a:lstStyle/>
          <a:p>
            <a:r>
              <a:rPr lang="en-US" sz="2400" dirty="0">
                <a:solidFill>
                  <a:srgbClr val="FF0000"/>
                </a:solidFill>
                <a:effectLst/>
                <a:latin typeface="Calibri" panose="020F0502020204030204" pitchFamily="34" charset="0"/>
                <a:ea typeface="Arial" panose="020B0604020202020204" pitchFamily="34" charset="0"/>
              </a:rPr>
              <a:t>Necessary tools for practicing Machine Learning on your own data.</a:t>
            </a:r>
            <a:endParaRPr lang="en-GB" sz="2400" dirty="0">
              <a:solidFill>
                <a:srgbClr val="FF0000"/>
              </a:solidFill>
            </a:endParaRPr>
          </a:p>
        </p:txBody>
      </p:sp>
    </p:spTree>
    <p:extLst>
      <p:ext uri="{BB962C8B-B14F-4D97-AF65-F5344CB8AC3E}">
        <p14:creationId xmlns:p14="http://schemas.microsoft.com/office/powerpoint/2010/main" val="4047243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3D7112-B097-FE88-0979-784FD2BDCB8B}"/>
              </a:ext>
            </a:extLst>
          </p:cNvPr>
          <p:cNvSpPr txBox="1"/>
          <p:nvPr/>
        </p:nvSpPr>
        <p:spPr>
          <a:xfrm>
            <a:off x="543697" y="180868"/>
            <a:ext cx="10939849" cy="6186309"/>
          </a:xfrm>
          <a:prstGeom prst="rect">
            <a:avLst/>
          </a:prstGeom>
          <a:noFill/>
        </p:spPr>
        <p:txBody>
          <a:bodyPr wrap="square">
            <a:spAutoFit/>
          </a:bodyPr>
          <a:lstStyle/>
          <a:p>
            <a:r>
              <a:rPr lang="en-GB" b="1" dirty="0"/>
              <a:t>3. Libraries and Frameworks</a:t>
            </a:r>
          </a:p>
          <a:p>
            <a:r>
              <a:rPr lang="en-GB" dirty="0"/>
              <a:t>You’ll need the following libraries for preprocessing data, building models, and evaluating them:</a:t>
            </a:r>
          </a:p>
          <a:p>
            <a:endParaRPr lang="en-GB" dirty="0"/>
          </a:p>
          <a:p>
            <a:r>
              <a:rPr lang="en-GB" b="1" dirty="0"/>
              <a:t>a) Data Handling &amp; Processing</a:t>
            </a:r>
          </a:p>
          <a:p>
            <a:pPr>
              <a:buFont typeface="Arial" panose="020B0604020202020204" pitchFamily="34" charset="0"/>
              <a:buChar char="•"/>
            </a:pPr>
            <a:r>
              <a:rPr lang="en-GB" b="1" dirty="0"/>
              <a:t>Pandas</a:t>
            </a:r>
            <a:r>
              <a:rPr lang="en-GB" dirty="0"/>
              <a:t>: For handling structured data (like CSV, Excel files, databases)</a:t>
            </a:r>
          </a:p>
          <a:p>
            <a:pPr>
              <a:buFont typeface="Arial" panose="020B0604020202020204" pitchFamily="34" charset="0"/>
              <a:buChar char="•"/>
            </a:pPr>
            <a:r>
              <a:rPr lang="en-GB" b="1" dirty="0"/>
              <a:t>NumPy</a:t>
            </a:r>
            <a:r>
              <a:rPr lang="en-GB" dirty="0"/>
              <a:t>: For numerical operations and arrays</a:t>
            </a:r>
          </a:p>
          <a:p>
            <a:pPr>
              <a:buFont typeface="Arial" panose="020B0604020202020204" pitchFamily="34" charset="0"/>
              <a:buChar char="•"/>
            </a:pPr>
            <a:r>
              <a:rPr lang="en-GB" b="1" dirty="0"/>
              <a:t>Scikit-learn</a:t>
            </a:r>
            <a:r>
              <a:rPr lang="en-GB" dirty="0"/>
              <a:t>: A powerful library for standard machine learning tasks (classification, regression, clustering, etc.)</a:t>
            </a:r>
          </a:p>
          <a:p>
            <a:pPr>
              <a:buFont typeface="Arial" panose="020B0604020202020204" pitchFamily="34" charset="0"/>
              <a:buChar char="•"/>
            </a:pPr>
            <a:r>
              <a:rPr lang="en-GB" b="1" dirty="0"/>
              <a:t>Matplotlib/Seaborn</a:t>
            </a:r>
            <a:r>
              <a:rPr lang="en-GB" dirty="0"/>
              <a:t>: For data visualization and plotting</a:t>
            </a:r>
          </a:p>
          <a:p>
            <a:pPr>
              <a:buFont typeface="Arial" panose="020B0604020202020204" pitchFamily="34" charset="0"/>
              <a:buChar char="•"/>
            </a:pPr>
            <a:r>
              <a:rPr lang="en-GB" b="1" dirty="0"/>
              <a:t>OpenCV</a:t>
            </a:r>
            <a:r>
              <a:rPr lang="en-GB" dirty="0"/>
              <a:t>: For image processing tasks (if you're working with image data)</a:t>
            </a:r>
          </a:p>
          <a:p>
            <a:pPr>
              <a:buFont typeface="Arial" panose="020B0604020202020204" pitchFamily="34" charset="0"/>
              <a:buChar char="•"/>
            </a:pPr>
            <a:endParaRPr lang="en-GB" dirty="0"/>
          </a:p>
          <a:p>
            <a:r>
              <a:rPr lang="en-GB" b="1" dirty="0"/>
              <a:t>b) Deep Learning </a:t>
            </a:r>
          </a:p>
          <a:p>
            <a:pPr>
              <a:buFont typeface="Arial" panose="020B0604020202020204" pitchFamily="34" charset="0"/>
              <a:buChar char="•"/>
            </a:pPr>
            <a:r>
              <a:rPr lang="en-GB" b="1" dirty="0"/>
              <a:t>TensorFlow</a:t>
            </a:r>
            <a:r>
              <a:rPr lang="en-GB" dirty="0"/>
              <a:t> or </a:t>
            </a:r>
            <a:r>
              <a:rPr lang="en-GB" b="1" dirty="0" err="1"/>
              <a:t>Keras</a:t>
            </a:r>
            <a:r>
              <a:rPr lang="en-GB" dirty="0"/>
              <a:t>: For building neural networks and deep learning models.</a:t>
            </a:r>
          </a:p>
          <a:p>
            <a:pPr>
              <a:buFont typeface="Arial" panose="020B0604020202020204" pitchFamily="34" charset="0"/>
              <a:buChar char="•"/>
            </a:pPr>
            <a:r>
              <a:rPr lang="en-GB" b="1" dirty="0" err="1"/>
              <a:t>PyTorch</a:t>
            </a:r>
            <a:r>
              <a:rPr lang="en-GB" dirty="0"/>
              <a:t>: Another popular deep learning framework, known for dynamic computation graphs.</a:t>
            </a:r>
          </a:p>
          <a:p>
            <a:pPr>
              <a:buFont typeface="Arial" panose="020B0604020202020204" pitchFamily="34" charset="0"/>
              <a:buChar char="•"/>
            </a:pPr>
            <a:endParaRPr lang="en-GB" dirty="0"/>
          </a:p>
          <a:p>
            <a:r>
              <a:rPr lang="en-GB" b="1" dirty="0"/>
              <a:t>c) Model Evaluation &amp; Validation</a:t>
            </a:r>
          </a:p>
          <a:p>
            <a:pPr>
              <a:buFont typeface="Arial" panose="020B0604020202020204" pitchFamily="34" charset="0"/>
              <a:buChar char="•"/>
            </a:pPr>
            <a:r>
              <a:rPr lang="en-GB" b="1" dirty="0"/>
              <a:t>Scikit-learn</a:t>
            </a:r>
            <a:r>
              <a:rPr lang="en-GB" dirty="0"/>
              <a:t>: Also provides tools for model evaluation (cross-validation, accuracy, precision, recall, etc.)</a:t>
            </a:r>
          </a:p>
          <a:p>
            <a:pPr>
              <a:buFont typeface="Arial" panose="020B0604020202020204" pitchFamily="34" charset="0"/>
              <a:buChar char="•"/>
            </a:pPr>
            <a:r>
              <a:rPr lang="en-GB" b="1" dirty="0" err="1"/>
              <a:t>XGBoost</a:t>
            </a:r>
            <a:r>
              <a:rPr lang="en-GB" dirty="0"/>
              <a:t> or </a:t>
            </a:r>
            <a:r>
              <a:rPr lang="en-GB" b="1" dirty="0" err="1"/>
              <a:t>LightGBM</a:t>
            </a:r>
            <a:r>
              <a:rPr lang="en-GB" dirty="0"/>
              <a:t>: For gradient boosting models, which perform well in structured/tabular data tasks.</a:t>
            </a:r>
          </a:p>
          <a:p>
            <a:pPr>
              <a:buFont typeface="Arial" panose="020B0604020202020204" pitchFamily="34" charset="0"/>
              <a:buChar char="•"/>
            </a:pPr>
            <a:endParaRPr lang="en-GB" dirty="0"/>
          </a:p>
          <a:p>
            <a:r>
              <a:rPr lang="en-GB" b="1" dirty="0"/>
              <a:t>d) Data Augmentation &amp; Preprocessing (for specific data types)</a:t>
            </a:r>
          </a:p>
          <a:p>
            <a:pPr>
              <a:buFont typeface="Arial" panose="020B0604020202020204" pitchFamily="34" charset="0"/>
              <a:buChar char="•"/>
            </a:pPr>
            <a:r>
              <a:rPr lang="en-GB" b="1" dirty="0" err="1"/>
              <a:t>Augmentor</a:t>
            </a:r>
            <a:r>
              <a:rPr lang="en-GB" dirty="0"/>
              <a:t> or </a:t>
            </a:r>
            <a:r>
              <a:rPr lang="en-GB" b="1" dirty="0" err="1"/>
              <a:t>ImageDataGenerator</a:t>
            </a:r>
            <a:r>
              <a:rPr lang="en-GB" dirty="0"/>
              <a:t> (for image data augmentation)</a:t>
            </a:r>
          </a:p>
          <a:p>
            <a:pPr>
              <a:buFont typeface="Arial" panose="020B0604020202020204" pitchFamily="34" charset="0"/>
              <a:buChar char="•"/>
            </a:pPr>
            <a:r>
              <a:rPr lang="en-GB" b="1" dirty="0"/>
              <a:t>NLTK</a:t>
            </a:r>
            <a:r>
              <a:rPr lang="en-GB" dirty="0"/>
              <a:t> or </a:t>
            </a:r>
            <a:r>
              <a:rPr lang="en-GB" b="1" dirty="0" err="1"/>
              <a:t>SpaCy</a:t>
            </a:r>
            <a:r>
              <a:rPr lang="en-GB" dirty="0"/>
              <a:t> (for Natural Language Processing tasks)</a:t>
            </a:r>
          </a:p>
        </p:txBody>
      </p:sp>
    </p:spTree>
    <p:extLst>
      <p:ext uri="{BB962C8B-B14F-4D97-AF65-F5344CB8AC3E}">
        <p14:creationId xmlns:p14="http://schemas.microsoft.com/office/powerpoint/2010/main" val="262842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EC53933-E8F7-2126-E285-B57F50B82467}"/>
              </a:ext>
            </a:extLst>
          </p:cNvPr>
          <p:cNvSpPr txBox="1"/>
          <p:nvPr/>
        </p:nvSpPr>
        <p:spPr>
          <a:xfrm>
            <a:off x="3344562" y="388649"/>
            <a:ext cx="6096000" cy="584775"/>
          </a:xfrm>
          <a:prstGeom prst="rect">
            <a:avLst/>
          </a:prstGeom>
          <a:noFill/>
        </p:spPr>
        <p:txBody>
          <a:bodyPr wrap="square">
            <a:spAutoFit/>
          </a:bodyPr>
          <a:lstStyle/>
          <a:p>
            <a:endParaRPr lang="en-GB" sz="1400" b="0" i="0" u="none" strike="noStrike" baseline="0" dirty="0">
              <a:solidFill>
                <a:srgbClr val="000000"/>
              </a:solidFill>
              <a:latin typeface="Proxima Nova Rg"/>
            </a:endParaRPr>
          </a:p>
          <a:p>
            <a:r>
              <a:rPr lang="en-GB" sz="1800" b="1" i="0" u="none" strike="noStrike" baseline="0" dirty="0">
                <a:solidFill>
                  <a:srgbClr val="1D1F20"/>
                </a:solidFill>
                <a:latin typeface="Proxima Nova Rg"/>
              </a:rPr>
              <a:t>Machine Learning work</a:t>
            </a:r>
            <a:r>
              <a:rPr lang="en-GB" sz="1800" b="0" i="0" u="none" strike="noStrike" baseline="0" dirty="0">
                <a:solidFill>
                  <a:srgbClr val="000000"/>
                </a:solidFill>
                <a:latin typeface="Proxima Nova Rg"/>
              </a:rPr>
              <a:t>fl</a:t>
            </a:r>
            <a:r>
              <a:rPr lang="en-GB" sz="1800" b="1" i="0" u="none" strike="noStrike" baseline="0" dirty="0">
                <a:solidFill>
                  <a:srgbClr val="1D1F20"/>
                </a:solidFill>
                <a:latin typeface="Proxima Nova Rg"/>
              </a:rPr>
              <a:t>ow steps</a:t>
            </a:r>
            <a:endParaRPr lang="en-GB" dirty="0"/>
          </a:p>
        </p:txBody>
      </p:sp>
      <p:pic>
        <p:nvPicPr>
          <p:cNvPr id="9" name="Picture 8">
            <a:extLst>
              <a:ext uri="{FF2B5EF4-FFF2-40B4-BE49-F238E27FC236}">
                <a16:creationId xmlns:a16="http://schemas.microsoft.com/office/drawing/2014/main" id="{665BEC88-D234-5A63-0EDB-4B0FE11F84BF}"/>
              </a:ext>
            </a:extLst>
          </p:cNvPr>
          <p:cNvPicPr>
            <a:picLocks noChangeAspect="1"/>
          </p:cNvPicPr>
          <p:nvPr/>
        </p:nvPicPr>
        <p:blipFill>
          <a:blip r:embed="rId2"/>
          <a:stretch>
            <a:fillRect/>
          </a:stretch>
        </p:blipFill>
        <p:spPr>
          <a:xfrm>
            <a:off x="509587" y="1292773"/>
            <a:ext cx="9647667" cy="5074689"/>
          </a:xfrm>
          <a:prstGeom prst="rect">
            <a:avLst/>
          </a:prstGeom>
        </p:spPr>
      </p:pic>
      <p:sp>
        <p:nvSpPr>
          <p:cNvPr id="10" name="TextBox 9">
            <a:extLst>
              <a:ext uri="{FF2B5EF4-FFF2-40B4-BE49-F238E27FC236}">
                <a16:creationId xmlns:a16="http://schemas.microsoft.com/office/drawing/2014/main" id="{12842287-5783-A1EE-D4BD-CAF586BF9D35}"/>
              </a:ext>
            </a:extLst>
          </p:cNvPr>
          <p:cNvSpPr txBox="1"/>
          <p:nvPr/>
        </p:nvSpPr>
        <p:spPr>
          <a:xfrm>
            <a:off x="9226378" y="1136822"/>
            <a:ext cx="930876" cy="584775"/>
          </a:xfrm>
          <a:prstGeom prst="rect">
            <a:avLst/>
          </a:prstGeom>
          <a:solidFill>
            <a:schemeClr val="bg1"/>
          </a:solidFill>
        </p:spPr>
        <p:txBody>
          <a:bodyPr wrap="square" rtlCol="0">
            <a:spAutoFit/>
          </a:bodyPr>
          <a:lstStyle/>
          <a:p>
            <a:endParaRPr lang="en-GB" dirty="0"/>
          </a:p>
        </p:txBody>
      </p:sp>
    </p:spTree>
    <p:extLst>
      <p:ext uri="{BB962C8B-B14F-4D97-AF65-F5344CB8AC3E}">
        <p14:creationId xmlns:p14="http://schemas.microsoft.com/office/powerpoint/2010/main" val="307304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B4A446-1909-ACA8-0B1E-A00B8E4B9F4D}"/>
              </a:ext>
            </a:extLst>
          </p:cNvPr>
          <p:cNvSpPr>
            <a:spLocks noGrp="1"/>
          </p:cNvSpPr>
          <p:nvPr>
            <p:ph idx="1"/>
          </p:nvPr>
        </p:nvSpPr>
        <p:spPr>
          <a:xfrm>
            <a:off x="780535" y="1125408"/>
            <a:ext cx="10515600" cy="4351338"/>
          </a:xfrm>
        </p:spPr>
        <p:txBody>
          <a:bodyPr>
            <a:normAutofit fontScale="85000" lnSpcReduction="10000"/>
          </a:bodyPr>
          <a:lstStyle/>
          <a:p>
            <a:pPr marL="0" indent="0" algn="just">
              <a:buNone/>
            </a:pPr>
            <a:r>
              <a:rPr lang="en-GB" sz="1800" b="0" i="0" u="none" strike="noStrike" baseline="0" dirty="0">
                <a:solidFill>
                  <a:srgbClr val="1D1F20"/>
                </a:solidFill>
                <a:latin typeface="Proxima Nova Rg"/>
              </a:rPr>
              <a:t>Data collection and processing are essential parts of the ML process. They will determine how precise and e</a:t>
            </a:r>
            <a:r>
              <a:rPr lang="en-GB" sz="1800" b="0" i="0" u="none" strike="noStrike" baseline="0" dirty="0">
                <a:solidFill>
                  <a:srgbClr val="000000"/>
                </a:solidFill>
                <a:latin typeface="Proxima Nova Rg"/>
              </a:rPr>
              <a:t>ff</a:t>
            </a:r>
            <a:r>
              <a:rPr lang="en-GB" sz="1800" b="0" i="0" u="none" strike="noStrike" baseline="0" dirty="0">
                <a:solidFill>
                  <a:srgbClr val="1D1F20"/>
                </a:solidFill>
                <a:latin typeface="Proxima Nova Rg"/>
              </a:rPr>
              <a:t>ective the model will be. </a:t>
            </a:r>
            <a:endParaRPr lang="ar-DZ" sz="1800" b="0" i="0" u="none" strike="noStrike" baseline="0" dirty="0">
              <a:solidFill>
                <a:srgbClr val="1D1F20"/>
              </a:solidFill>
              <a:latin typeface="Proxima Nova Rg"/>
            </a:endParaRPr>
          </a:p>
          <a:p>
            <a:pPr marL="0" indent="0" algn="just">
              <a:buNone/>
            </a:pPr>
            <a:endParaRPr lang="en-GB" sz="1800" b="1" i="0" u="none" strike="noStrike" baseline="0" dirty="0">
              <a:solidFill>
                <a:srgbClr val="1D1F20"/>
              </a:solidFill>
              <a:latin typeface="Proxima Nova Rg"/>
            </a:endParaRPr>
          </a:p>
          <a:p>
            <a:pPr marL="0" indent="0" algn="just" rtl="0">
              <a:buNone/>
            </a:pPr>
            <a:r>
              <a:rPr lang="en-GB" b="1" i="0" dirty="0">
                <a:solidFill>
                  <a:srgbClr val="05192D"/>
                </a:solidFill>
                <a:effectLst/>
                <a:latin typeface="Studio-Feixen-Sans"/>
              </a:rPr>
              <a:t>Step 1: Data collection</a:t>
            </a:r>
          </a:p>
          <a:p>
            <a:pPr algn="just" rtl="0"/>
            <a:r>
              <a:rPr lang="en-GB" b="0" i="0" dirty="0">
                <a:solidFill>
                  <a:srgbClr val="05192D"/>
                </a:solidFill>
                <a:effectLst/>
                <a:latin typeface="Studio-Feixen-Sans"/>
              </a:rPr>
              <a:t>The first step in the machine learning process is data collection. Data is the lifeblood of machine learning - the quality and quantity of your data can directly impact your model's performance. Data can be collected from various sources such as databases, text files, images, audio files, or even scraped from the web.</a:t>
            </a:r>
          </a:p>
          <a:p>
            <a:pPr algn="just" rtl="0"/>
            <a:r>
              <a:rPr lang="en-GB" b="0" i="0" dirty="0">
                <a:solidFill>
                  <a:srgbClr val="05192D"/>
                </a:solidFill>
                <a:effectLst/>
                <a:latin typeface="Studio-Feixen-Sans"/>
              </a:rPr>
              <a:t>Once collected, the data needs to be prepared for machine learning. This process involves organizing the data in a suitable format, such as a CSV file or a database, and ensuring that the data is relevant to the problem you're trying to solve.</a:t>
            </a:r>
          </a:p>
          <a:p>
            <a:pPr algn="just" rtl="0"/>
            <a:endParaRPr lang="en-GB" dirty="0">
              <a:solidFill>
                <a:srgbClr val="05192D"/>
              </a:solidFill>
              <a:latin typeface="Studio-Feixen-Sans"/>
            </a:endParaRPr>
          </a:p>
          <a:p>
            <a:pPr algn="just" rtl="0"/>
            <a:r>
              <a:rPr lang="en-GB" b="0" i="0">
                <a:solidFill>
                  <a:srgbClr val="05192D"/>
                </a:solidFill>
                <a:effectLst/>
                <a:latin typeface="Studio-Feixen-Sans"/>
              </a:rPr>
              <a:t>CSV </a:t>
            </a:r>
            <a:r>
              <a:rPr lang="en-GB" b="0" i="0">
                <a:solidFill>
                  <a:srgbClr val="001D35"/>
                </a:solidFill>
                <a:effectLst/>
                <a:latin typeface="Google Sans"/>
              </a:rPr>
              <a:t>(</a:t>
            </a:r>
            <a:r>
              <a:rPr lang="en-GB" b="0" i="0" dirty="0">
                <a:solidFill>
                  <a:srgbClr val="001D35"/>
                </a:solidFill>
                <a:effectLst/>
                <a:latin typeface="Google Sans"/>
              </a:rPr>
              <a:t>Comma Separated Values)</a:t>
            </a:r>
            <a:endParaRPr lang="en-GB" b="0" i="0" dirty="0">
              <a:solidFill>
                <a:srgbClr val="05192D"/>
              </a:solidFill>
              <a:effectLst/>
              <a:latin typeface="Studio-Feixen-Sans"/>
            </a:endParaRPr>
          </a:p>
          <a:p>
            <a:pPr algn="just"/>
            <a:endParaRPr lang="en-GB" dirty="0"/>
          </a:p>
        </p:txBody>
      </p:sp>
      <p:sp>
        <p:nvSpPr>
          <p:cNvPr id="5" name="TextBox 4">
            <a:extLst>
              <a:ext uri="{FF2B5EF4-FFF2-40B4-BE49-F238E27FC236}">
                <a16:creationId xmlns:a16="http://schemas.microsoft.com/office/drawing/2014/main" id="{1B84B605-6A84-929C-0687-D222757B33D5}"/>
              </a:ext>
            </a:extLst>
          </p:cNvPr>
          <p:cNvSpPr txBox="1"/>
          <p:nvPr/>
        </p:nvSpPr>
        <p:spPr>
          <a:xfrm>
            <a:off x="667265" y="593180"/>
            <a:ext cx="6096000" cy="369332"/>
          </a:xfrm>
          <a:prstGeom prst="rect">
            <a:avLst/>
          </a:prstGeom>
          <a:noFill/>
        </p:spPr>
        <p:txBody>
          <a:bodyPr wrap="square">
            <a:spAutoFit/>
          </a:bodyPr>
          <a:lstStyle/>
          <a:p>
            <a:r>
              <a:rPr lang="en-GB" sz="1800" b="1" i="0" u="none" strike="noStrike" baseline="0" dirty="0">
                <a:solidFill>
                  <a:srgbClr val="1D1F20"/>
                </a:solidFill>
                <a:latin typeface="Proxima Nova Rg"/>
              </a:rPr>
              <a:t>1. Data Collection &amp; Preprocessing</a:t>
            </a:r>
            <a:endParaRPr lang="en-GB" dirty="0"/>
          </a:p>
        </p:txBody>
      </p:sp>
    </p:spTree>
    <p:extLst>
      <p:ext uri="{BB962C8B-B14F-4D97-AF65-F5344CB8AC3E}">
        <p14:creationId xmlns:p14="http://schemas.microsoft.com/office/powerpoint/2010/main" val="1039424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Empreinte Digitale, Toucher">
            <a:extLst>
              <a:ext uri="{FF2B5EF4-FFF2-40B4-BE49-F238E27FC236}">
                <a16:creationId xmlns:a16="http://schemas.microsoft.com/office/drawing/2014/main" id="{E6C9080E-4902-8135-9B41-66FAD9C564CB}"/>
              </a:ext>
            </a:extLst>
          </p:cNvPr>
          <p:cNvPicPr>
            <a:picLocks noChangeAspect="1" noChangeArrowheads="1"/>
          </p:cNvPicPr>
          <p:nvPr/>
        </p:nvPicPr>
        <p:blipFill>
          <a:blip r:embed="rId2" cstate="print"/>
          <a:srcRect/>
          <a:stretch>
            <a:fillRect/>
          </a:stretch>
        </p:blipFill>
        <p:spPr bwMode="auto">
          <a:xfrm>
            <a:off x="1304800" y="593345"/>
            <a:ext cx="1458065" cy="2123235"/>
          </a:xfrm>
          <a:prstGeom prst="rect">
            <a:avLst/>
          </a:prstGeom>
          <a:noFill/>
        </p:spPr>
      </p:pic>
      <p:pic>
        <p:nvPicPr>
          <p:cNvPr id="5" name="Picture 2" descr="Vieil Allemand, Écriture Manuscrite">
            <a:extLst>
              <a:ext uri="{FF2B5EF4-FFF2-40B4-BE49-F238E27FC236}">
                <a16:creationId xmlns:a16="http://schemas.microsoft.com/office/drawing/2014/main" id="{A31E75D8-ECC4-77E1-60AE-E5583B1A606B}"/>
              </a:ext>
            </a:extLst>
          </p:cNvPr>
          <p:cNvPicPr>
            <a:picLocks noChangeAspect="1" noChangeArrowheads="1"/>
          </p:cNvPicPr>
          <p:nvPr/>
        </p:nvPicPr>
        <p:blipFill>
          <a:blip r:embed="rId3"/>
          <a:srcRect/>
          <a:stretch>
            <a:fillRect/>
          </a:stretch>
        </p:blipFill>
        <p:spPr bwMode="auto">
          <a:xfrm>
            <a:off x="5882514" y="366424"/>
            <a:ext cx="3714776" cy="2736304"/>
          </a:xfrm>
          <a:prstGeom prst="rect">
            <a:avLst/>
          </a:prstGeom>
          <a:noFill/>
        </p:spPr>
      </p:pic>
      <p:pic>
        <p:nvPicPr>
          <p:cNvPr id="6" name="Picture 2" descr="Homme, Visage, La Reconnaissance Faciale">
            <a:extLst>
              <a:ext uri="{FF2B5EF4-FFF2-40B4-BE49-F238E27FC236}">
                <a16:creationId xmlns:a16="http://schemas.microsoft.com/office/drawing/2014/main" id="{8452AE49-69D6-D87E-CE4F-1A6A6A2F77D7}"/>
              </a:ext>
            </a:extLst>
          </p:cNvPr>
          <p:cNvPicPr>
            <a:picLocks noChangeAspect="1" noChangeArrowheads="1"/>
          </p:cNvPicPr>
          <p:nvPr/>
        </p:nvPicPr>
        <p:blipFill>
          <a:blip r:embed="rId4"/>
          <a:srcRect/>
          <a:stretch>
            <a:fillRect/>
          </a:stretch>
        </p:blipFill>
        <p:spPr bwMode="auto">
          <a:xfrm>
            <a:off x="967375" y="3681132"/>
            <a:ext cx="3334930" cy="2214602"/>
          </a:xfrm>
          <a:prstGeom prst="rect">
            <a:avLst/>
          </a:prstGeom>
          <a:noFill/>
        </p:spPr>
      </p:pic>
      <p:pic>
        <p:nvPicPr>
          <p:cNvPr id="7" name="Picture 10" descr="Podcast, Microphone, Vague, L'Audio">
            <a:extLst>
              <a:ext uri="{FF2B5EF4-FFF2-40B4-BE49-F238E27FC236}">
                <a16:creationId xmlns:a16="http://schemas.microsoft.com/office/drawing/2014/main" id="{D431DB92-F81B-DDBA-D8DF-E9026699F3CB}"/>
              </a:ext>
            </a:extLst>
          </p:cNvPr>
          <p:cNvPicPr>
            <a:picLocks noChangeAspect="1" noChangeArrowheads="1"/>
          </p:cNvPicPr>
          <p:nvPr/>
        </p:nvPicPr>
        <p:blipFill>
          <a:blip r:embed="rId5"/>
          <a:srcRect/>
          <a:stretch>
            <a:fillRect/>
          </a:stretch>
        </p:blipFill>
        <p:spPr bwMode="auto">
          <a:xfrm>
            <a:off x="7304579" y="3755273"/>
            <a:ext cx="2437117" cy="1785950"/>
          </a:xfrm>
          <a:prstGeom prst="rect">
            <a:avLst/>
          </a:prstGeom>
          <a:noFill/>
        </p:spPr>
      </p:pic>
      <p:sp>
        <p:nvSpPr>
          <p:cNvPr id="9" name="TextBox 8">
            <a:extLst>
              <a:ext uri="{FF2B5EF4-FFF2-40B4-BE49-F238E27FC236}">
                <a16:creationId xmlns:a16="http://schemas.microsoft.com/office/drawing/2014/main" id="{A56A83EC-4AE5-CCB2-C51D-C5CB3376FB31}"/>
              </a:ext>
            </a:extLst>
          </p:cNvPr>
          <p:cNvSpPr txBox="1"/>
          <p:nvPr/>
        </p:nvSpPr>
        <p:spPr>
          <a:xfrm>
            <a:off x="1379267" y="2644858"/>
            <a:ext cx="1627335" cy="369332"/>
          </a:xfrm>
          <a:prstGeom prst="rect">
            <a:avLst/>
          </a:prstGeom>
          <a:noFill/>
        </p:spPr>
        <p:txBody>
          <a:bodyPr wrap="square">
            <a:spAutoFit/>
          </a:bodyPr>
          <a:lstStyle/>
          <a:p>
            <a:r>
              <a:rPr lang="en-GB" dirty="0"/>
              <a:t>Fingerprints.</a:t>
            </a:r>
          </a:p>
        </p:txBody>
      </p:sp>
      <p:sp>
        <p:nvSpPr>
          <p:cNvPr id="11" name="TextBox 10">
            <a:extLst>
              <a:ext uri="{FF2B5EF4-FFF2-40B4-BE49-F238E27FC236}">
                <a16:creationId xmlns:a16="http://schemas.microsoft.com/office/drawing/2014/main" id="{7F38FDC3-6063-7D65-AEDD-D214D4777A32}"/>
              </a:ext>
            </a:extLst>
          </p:cNvPr>
          <p:cNvSpPr txBox="1"/>
          <p:nvPr/>
        </p:nvSpPr>
        <p:spPr>
          <a:xfrm>
            <a:off x="7076302" y="3246393"/>
            <a:ext cx="2067697" cy="369332"/>
          </a:xfrm>
          <a:prstGeom prst="rect">
            <a:avLst/>
          </a:prstGeom>
          <a:noFill/>
        </p:spPr>
        <p:txBody>
          <a:bodyPr wrap="square">
            <a:spAutoFit/>
          </a:bodyPr>
          <a:lstStyle/>
          <a:p>
            <a:r>
              <a:rPr lang="en-GB" dirty="0"/>
              <a:t>Handwriting,</a:t>
            </a:r>
          </a:p>
        </p:txBody>
      </p:sp>
    </p:spTree>
    <p:extLst>
      <p:ext uri="{BB962C8B-B14F-4D97-AF65-F5344CB8AC3E}">
        <p14:creationId xmlns:p14="http://schemas.microsoft.com/office/powerpoint/2010/main" val="163499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ode, Analyse, Qr Code, Pratique">
            <a:extLst>
              <a:ext uri="{FF2B5EF4-FFF2-40B4-BE49-F238E27FC236}">
                <a16:creationId xmlns:a16="http://schemas.microsoft.com/office/drawing/2014/main" id="{04B0759C-D250-BC18-22DC-820AFEAE0897}"/>
              </a:ext>
            </a:extLst>
          </p:cNvPr>
          <p:cNvPicPr>
            <a:picLocks noChangeAspect="1" noChangeArrowheads="1"/>
          </p:cNvPicPr>
          <p:nvPr/>
        </p:nvPicPr>
        <p:blipFill>
          <a:blip r:embed="rId2"/>
          <a:srcRect/>
          <a:stretch>
            <a:fillRect/>
          </a:stretch>
        </p:blipFill>
        <p:spPr bwMode="auto">
          <a:xfrm>
            <a:off x="1222507" y="648887"/>
            <a:ext cx="2844789" cy="2502526"/>
          </a:xfrm>
          <a:prstGeom prst="rect">
            <a:avLst/>
          </a:prstGeom>
          <a:noFill/>
        </p:spPr>
      </p:pic>
      <p:pic>
        <p:nvPicPr>
          <p:cNvPr id="5" name="Picture 12" descr="Code À Barres, Étiquette Code À Barres">
            <a:extLst>
              <a:ext uri="{FF2B5EF4-FFF2-40B4-BE49-F238E27FC236}">
                <a16:creationId xmlns:a16="http://schemas.microsoft.com/office/drawing/2014/main" id="{0D06CCF1-0B6F-A4CD-D0C1-223ED94EEA34}"/>
              </a:ext>
            </a:extLst>
          </p:cNvPr>
          <p:cNvPicPr>
            <a:picLocks noChangeAspect="1" noChangeArrowheads="1"/>
          </p:cNvPicPr>
          <p:nvPr/>
        </p:nvPicPr>
        <p:blipFill>
          <a:blip r:embed="rId3"/>
          <a:srcRect/>
          <a:stretch>
            <a:fillRect/>
          </a:stretch>
        </p:blipFill>
        <p:spPr bwMode="auto">
          <a:xfrm>
            <a:off x="6548349" y="506353"/>
            <a:ext cx="2703476" cy="2112091"/>
          </a:xfrm>
          <a:prstGeom prst="rect">
            <a:avLst/>
          </a:prstGeom>
          <a:noFill/>
        </p:spPr>
      </p:pic>
      <p:pic>
        <p:nvPicPr>
          <p:cNvPr id="6" name="Picture 4" descr="https://media.istockphoto.com/id/1165138015/fr/photo/comparaison-mri-cerveau-axial-t1-et-t2-pour-d%C3%A9tecter-une-vari%C3%A9t%C3%A9-de-conditions-du-cerveau.jpg?b=1&amp;s=170667a&amp;w=0&amp;k=20&amp;c=-_QtLLqQpr3bB3Aav_qCTwKRwLWTpni0VFzoPFDoZlA=">
            <a:extLst>
              <a:ext uri="{FF2B5EF4-FFF2-40B4-BE49-F238E27FC236}">
                <a16:creationId xmlns:a16="http://schemas.microsoft.com/office/drawing/2014/main" id="{A2496FFC-98F6-5C3C-A57F-7D2436B72FC6}"/>
              </a:ext>
            </a:extLst>
          </p:cNvPr>
          <p:cNvPicPr>
            <a:picLocks noChangeAspect="1" noChangeArrowheads="1"/>
          </p:cNvPicPr>
          <p:nvPr/>
        </p:nvPicPr>
        <p:blipFill>
          <a:blip r:embed="rId4"/>
          <a:srcRect/>
          <a:stretch>
            <a:fillRect/>
          </a:stretch>
        </p:blipFill>
        <p:spPr bwMode="auto">
          <a:xfrm>
            <a:off x="4283027" y="3820340"/>
            <a:ext cx="3200674" cy="2219306"/>
          </a:xfrm>
          <a:prstGeom prst="rect">
            <a:avLst/>
          </a:prstGeom>
          <a:noFill/>
        </p:spPr>
      </p:pic>
    </p:spTree>
    <p:extLst>
      <p:ext uri="{BB962C8B-B14F-4D97-AF65-F5344CB8AC3E}">
        <p14:creationId xmlns:p14="http://schemas.microsoft.com/office/powerpoint/2010/main" val="3594012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static.wixstatic.com/media/c9d501_28eb20eca441440496645e867ee2e34e~mv2.jpg/v1/fill/w_740,h_370,al_c,q_80,usm_0.66_1.00_0.01,enc_auto/c9d501_28eb20eca441440496645e867ee2e34e~mv2.jpg">
            <a:extLst>
              <a:ext uri="{FF2B5EF4-FFF2-40B4-BE49-F238E27FC236}">
                <a16:creationId xmlns:a16="http://schemas.microsoft.com/office/drawing/2014/main" id="{9E396A49-D469-8165-C115-EECD19B395DA}"/>
              </a:ext>
            </a:extLst>
          </p:cNvPr>
          <p:cNvPicPr>
            <a:picLocks noChangeAspect="1" noChangeArrowheads="1"/>
          </p:cNvPicPr>
          <p:nvPr/>
        </p:nvPicPr>
        <p:blipFill>
          <a:blip r:embed="rId2"/>
          <a:srcRect/>
          <a:stretch>
            <a:fillRect/>
          </a:stretch>
        </p:blipFill>
        <p:spPr bwMode="auto">
          <a:xfrm>
            <a:off x="1881158" y="928670"/>
            <a:ext cx="8215370" cy="4714908"/>
          </a:xfrm>
          <a:prstGeom prst="rect">
            <a:avLst/>
          </a:prstGeom>
          <a:noFill/>
        </p:spPr>
      </p:pic>
    </p:spTree>
    <p:extLst>
      <p:ext uri="{BB962C8B-B14F-4D97-AF65-F5344CB8AC3E}">
        <p14:creationId xmlns:p14="http://schemas.microsoft.com/office/powerpoint/2010/main" val="3307112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44ED515A-87EF-AC4B-B911-FF972313B9C2}"/>
              </a:ext>
            </a:extLst>
          </p:cNvPr>
          <p:cNvPicPr>
            <a:picLocks noChangeAspect="1" noChangeArrowheads="1"/>
          </p:cNvPicPr>
          <p:nvPr/>
        </p:nvPicPr>
        <p:blipFill>
          <a:blip r:embed="rId2"/>
          <a:srcRect/>
          <a:stretch>
            <a:fillRect/>
          </a:stretch>
        </p:blipFill>
        <p:spPr bwMode="auto">
          <a:xfrm>
            <a:off x="1689216" y="964389"/>
            <a:ext cx="8813568" cy="4929222"/>
          </a:xfrm>
          <a:prstGeom prst="rect">
            <a:avLst/>
          </a:prstGeom>
          <a:noFill/>
          <a:ln w="9525">
            <a:noFill/>
            <a:miter lim="800000"/>
            <a:headEnd/>
            <a:tailEnd/>
          </a:ln>
          <a:effectLst/>
        </p:spPr>
      </p:pic>
    </p:spTree>
    <p:extLst>
      <p:ext uri="{BB962C8B-B14F-4D97-AF65-F5344CB8AC3E}">
        <p14:creationId xmlns:p14="http://schemas.microsoft.com/office/powerpoint/2010/main" val="2946654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5B845D-7EF0-D845-B49D-90432CFC254B}"/>
              </a:ext>
            </a:extLst>
          </p:cNvPr>
          <p:cNvSpPr txBox="1"/>
          <p:nvPr/>
        </p:nvSpPr>
        <p:spPr>
          <a:xfrm>
            <a:off x="691978" y="803869"/>
            <a:ext cx="10181967" cy="2585323"/>
          </a:xfrm>
          <a:prstGeom prst="rect">
            <a:avLst/>
          </a:prstGeom>
          <a:noFill/>
        </p:spPr>
        <p:txBody>
          <a:bodyPr wrap="square">
            <a:spAutoFit/>
          </a:bodyPr>
          <a:lstStyle/>
          <a:p>
            <a:pPr algn="l" rtl="0"/>
            <a:r>
              <a:rPr lang="en-GB" b="1" i="0" dirty="0">
                <a:solidFill>
                  <a:srgbClr val="05192D"/>
                </a:solidFill>
                <a:effectLst/>
                <a:latin typeface="Studio-Feixen-Sans"/>
              </a:rPr>
              <a:t>Step 2: Data preprocessing</a:t>
            </a:r>
          </a:p>
          <a:p>
            <a:pPr algn="l" rtl="0"/>
            <a:r>
              <a:rPr lang="en-GB" b="0" i="0" dirty="0">
                <a:solidFill>
                  <a:srgbClr val="05192D"/>
                </a:solidFill>
                <a:effectLst/>
                <a:latin typeface="Studio-Feixen-Sans"/>
              </a:rPr>
              <a:t>Data preprocessing is a crucial step in the machine learning process. It involves cleaning the data (removing duplicates, correcting errors), handling missing data (either by removing it or filling it in), and normalizing the data (scaling the data to a standard format).</a:t>
            </a:r>
          </a:p>
          <a:p>
            <a:pPr algn="l" rtl="0"/>
            <a:endParaRPr lang="en-GB" b="0" i="0" dirty="0">
              <a:solidFill>
                <a:srgbClr val="05192D"/>
              </a:solidFill>
              <a:effectLst/>
              <a:latin typeface="Studio-Feixen-Sans"/>
            </a:endParaRPr>
          </a:p>
          <a:p>
            <a:pPr algn="l" rtl="0"/>
            <a:r>
              <a:rPr lang="en-GB" b="0" i="0" dirty="0">
                <a:solidFill>
                  <a:srgbClr val="05192D"/>
                </a:solidFill>
                <a:effectLst/>
                <a:latin typeface="Studio-Feixen-Sans"/>
              </a:rPr>
              <a:t>Preprocessing improves the quality of your data and ensures that your machine learning model can interpret it correctly. </a:t>
            </a:r>
          </a:p>
          <a:p>
            <a:pPr algn="l" rtl="0"/>
            <a:endParaRPr lang="en-GB" dirty="0">
              <a:solidFill>
                <a:srgbClr val="05192D"/>
              </a:solidFill>
              <a:latin typeface="Studio-Feixen-Sans"/>
            </a:endParaRPr>
          </a:p>
          <a:p>
            <a:pPr algn="l" rtl="0"/>
            <a:r>
              <a:rPr lang="en-GB" b="0" i="0" dirty="0">
                <a:solidFill>
                  <a:srgbClr val="05192D"/>
                </a:solidFill>
                <a:effectLst/>
                <a:latin typeface="Studio-Feixen-Sans"/>
              </a:rPr>
              <a:t>This step can significantly improve the accuracy of your model. </a:t>
            </a:r>
          </a:p>
        </p:txBody>
      </p:sp>
    </p:spTree>
    <p:extLst>
      <p:ext uri="{BB962C8B-B14F-4D97-AF65-F5344CB8AC3E}">
        <p14:creationId xmlns:p14="http://schemas.microsoft.com/office/powerpoint/2010/main" val="3123571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E01C10-F2A5-A810-8AF4-31B2F78845D5}"/>
              </a:ext>
            </a:extLst>
          </p:cNvPr>
          <p:cNvSpPr>
            <a:spLocks noGrp="1"/>
          </p:cNvSpPr>
          <p:nvPr>
            <p:ph idx="1"/>
          </p:nvPr>
        </p:nvSpPr>
        <p:spPr>
          <a:xfrm>
            <a:off x="838200" y="337750"/>
            <a:ext cx="10859530" cy="6145427"/>
          </a:xfrm>
        </p:spPr>
        <p:txBody>
          <a:bodyPr>
            <a:normAutofit lnSpcReduction="10000"/>
          </a:bodyPr>
          <a:lstStyle/>
          <a:p>
            <a:pPr marL="0" indent="0" algn="just">
              <a:buNone/>
            </a:pPr>
            <a:r>
              <a:rPr lang="en-GB" sz="1800" b="1" i="0" u="none" strike="noStrike" baseline="0" dirty="0">
                <a:solidFill>
                  <a:srgbClr val="1D1F20"/>
                </a:solidFill>
                <a:latin typeface="Proxima Nova Rg"/>
              </a:rPr>
              <a:t>Data preprocessing</a:t>
            </a:r>
            <a:endParaRPr lang="en-GB" sz="1800" b="0" i="0" u="none" strike="noStrike" baseline="0" dirty="0">
              <a:solidFill>
                <a:srgbClr val="000000"/>
              </a:solidFill>
              <a:latin typeface="Proxima Nova Rg"/>
            </a:endParaRPr>
          </a:p>
          <a:p>
            <a:pPr marL="0" indent="0" algn="just">
              <a:buNone/>
            </a:pPr>
            <a:r>
              <a:rPr lang="en-GB" sz="1800" b="0" i="0" u="none" strike="noStrike" baseline="0" dirty="0">
                <a:solidFill>
                  <a:srgbClr val="1D1F20"/>
                </a:solidFill>
                <a:latin typeface="Proxima Nova Rg"/>
              </a:rPr>
              <a:t>Data preprocessing follows data collection and involves preparing the data for training the model. It consists of numerous crucial processes:</a:t>
            </a:r>
            <a:endParaRPr lang="en-GB" sz="1800" b="0" i="0" u="none" strike="noStrike" baseline="0" dirty="0">
              <a:solidFill>
                <a:srgbClr val="000000"/>
              </a:solidFill>
              <a:latin typeface="Proxima Nova Rg"/>
            </a:endParaRPr>
          </a:p>
          <a:p>
            <a:pPr algn="just"/>
            <a:r>
              <a:rPr lang="en-GB" sz="1800" b="1" i="0" u="none" strike="noStrike" baseline="0" dirty="0">
                <a:solidFill>
                  <a:srgbClr val="1D1F20"/>
                </a:solidFill>
                <a:latin typeface="Proxima Nova Rg"/>
              </a:rPr>
              <a:t>Data cleaning </a:t>
            </a:r>
          </a:p>
          <a:p>
            <a:pPr algn="just"/>
            <a:r>
              <a:rPr lang="en-GB" sz="1800" b="1" i="0" u="none" strike="noStrike" baseline="0" dirty="0">
                <a:solidFill>
                  <a:srgbClr val="1D1F20"/>
                </a:solidFill>
                <a:latin typeface="Proxima Nova Rg"/>
              </a:rPr>
              <a:t>Data transformation: </a:t>
            </a:r>
            <a:r>
              <a:rPr lang="en-GB" sz="1800" b="0" i="0" u="none" strike="noStrike" baseline="0" dirty="0">
                <a:solidFill>
                  <a:srgbClr val="1D1F20"/>
                </a:solidFill>
                <a:latin typeface="Proxima Nova Rg"/>
              </a:rPr>
              <a:t>Data transformation ensures that the data obtained is in an easily handled format to </a:t>
            </a:r>
            <a:r>
              <a:rPr lang="en-GB" sz="1800" b="0" i="0" u="none" strike="noStrike" baseline="0" dirty="0" err="1">
                <a:solidFill>
                  <a:srgbClr val="1D1F20"/>
                </a:solidFill>
                <a:latin typeface="Proxima Nova Rg"/>
              </a:rPr>
              <a:t>analyze</a:t>
            </a:r>
            <a:r>
              <a:rPr lang="en-GB" sz="1800" b="0" i="0" u="none" strike="noStrike" baseline="0" dirty="0">
                <a:solidFill>
                  <a:srgbClr val="1D1F20"/>
                </a:solidFill>
                <a:latin typeface="Proxima Nova Rg"/>
              </a:rPr>
              <a:t>. It may include:</a:t>
            </a:r>
          </a:p>
          <a:p>
            <a:pPr marL="0" indent="0" algn="just">
              <a:buNone/>
            </a:pPr>
            <a:r>
              <a:rPr lang="en-GB" sz="1800" dirty="0">
                <a:solidFill>
                  <a:srgbClr val="1D1F20"/>
                </a:solidFill>
                <a:latin typeface="Proxima Nova Rg"/>
              </a:rPr>
              <a:t>    </a:t>
            </a:r>
            <a:r>
              <a:rPr lang="en-GB" sz="1800" b="1" dirty="0">
                <a:solidFill>
                  <a:srgbClr val="1D1F20"/>
                </a:solidFill>
                <a:latin typeface="Proxima Nova Rg"/>
              </a:rPr>
              <a:t>1</a:t>
            </a:r>
            <a:r>
              <a:rPr lang="en-GB" sz="1800" dirty="0">
                <a:solidFill>
                  <a:srgbClr val="1D1F20"/>
                </a:solidFill>
                <a:latin typeface="Proxima Nova Rg"/>
              </a:rPr>
              <a:t>. </a:t>
            </a:r>
            <a:r>
              <a:rPr lang="en-GB" sz="1800" b="1" i="0" u="none" strike="noStrike" baseline="0" dirty="0">
                <a:solidFill>
                  <a:srgbClr val="1D1F20"/>
                </a:solidFill>
                <a:latin typeface="Proxima Nova Rg"/>
              </a:rPr>
              <a:t>Normalization </a:t>
            </a:r>
          </a:p>
          <a:p>
            <a:pPr marL="0" indent="0" algn="just">
              <a:buNone/>
            </a:pPr>
            <a:r>
              <a:rPr lang="en-GB" sz="1800" b="1" i="0" u="none" strike="noStrike" baseline="0" dirty="0">
                <a:solidFill>
                  <a:srgbClr val="1D1F20"/>
                </a:solidFill>
                <a:latin typeface="Proxima Nova Rg"/>
              </a:rPr>
              <a:t>    2. Encoding categorical features </a:t>
            </a:r>
            <a:r>
              <a:rPr lang="en-GB" sz="1800" b="0" i="0" u="none" strike="noStrike" baseline="0" dirty="0">
                <a:solidFill>
                  <a:srgbClr val="1D1F20"/>
                </a:solidFill>
                <a:latin typeface="Proxima Nova Rg"/>
              </a:rPr>
              <a:t>is done by converting such features into a numerical form that  </a:t>
            </a:r>
          </a:p>
          <a:p>
            <a:pPr marL="0" indent="0" algn="just">
              <a:buNone/>
            </a:pPr>
            <a:r>
              <a:rPr lang="en-GB" sz="1800" dirty="0">
                <a:solidFill>
                  <a:srgbClr val="1D1F20"/>
                </a:solidFill>
                <a:latin typeface="Proxima Nova Rg"/>
              </a:rPr>
              <a:t>        </a:t>
            </a:r>
            <a:r>
              <a:rPr lang="en-GB" sz="1800" b="0" i="0" u="none" strike="noStrike" baseline="0" dirty="0">
                <a:solidFill>
                  <a:srgbClr val="1D1F20"/>
                </a:solidFill>
                <a:latin typeface="Proxima Nova Rg"/>
              </a:rPr>
              <a:t>machine learning algorithms can process.</a:t>
            </a:r>
          </a:p>
          <a:p>
            <a:pPr algn="just"/>
            <a:endParaRPr lang="en-GB" sz="1800" b="0" i="0" u="none" strike="noStrike" baseline="0" dirty="0">
              <a:solidFill>
                <a:srgbClr val="000000"/>
              </a:solidFill>
              <a:latin typeface="Proxima Nova Rg"/>
            </a:endParaRPr>
          </a:p>
          <a:p>
            <a:pPr algn="just"/>
            <a:r>
              <a:rPr lang="en-GB" sz="1800" b="1" i="0" u="none" strike="noStrike" baseline="0" dirty="0">
                <a:solidFill>
                  <a:srgbClr val="1D1F20"/>
                </a:solidFill>
                <a:latin typeface="Proxima Nova Rg"/>
              </a:rPr>
              <a:t>Data augmentation</a:t>
            </a:r>
            <a:r>
              <a:rPr lang="en-GB" sz="1800" dirty="0">
                <a:solidFill>
                  <a:srgbClr val="1D1F20"/>
                </a:solidFill>
                <a:latin typeface="Proxima Nova Rg"/>
              </a:rPr>
              <a:t>: </a:t>
            </a:r>
            <a:r>
              <a:rPr lang="en-GB" sz="1800" b="0" i="0" u="none" strike="noStrike" baseline="0" dirty="0">
                <a:solidFill>
                  <a:srgbClr val="1D1F20"/>
                </a:solidFill>
                <a:latin typeface="Proxima Nova Rg"/>
              </a:rPr>
              <a:t>Data augmentation techniques can be used to increase the size and diversity of a data set. This is especially useful when data is limited, such as in image or text classi</a:t>
            </a:r>
            <a:r>
              <a:rPr lang="en-GB" sz="1800" b="0" i="0" u="none" strike="noStrike" baseline="0" dirty="0">
                <a:solidFill>
                  <a:srgbClr val="000000"/>
                </a:solidFill>
                <a:latin typeface="Proxima Nova Rg"/>
              </a:rPr>
              <a:t>fi</a:t>
            </a:r>
            <a:r>
              <a:rPr lang="en-GB" sz="1800" b="0" i="0" u="none" strike="noStrike" baseline="0" dirty="0">
                <a:solidFill>
                  <a:srgbClr val="1D1F20"/>
                </a:solidFill>
                <a:latin typeface="Proxima Nova Rg"/>
              </a:rPr>
              <a:t>cation tasks. Generating additional data points from existing data can make the model more reliable and generalizable.</a:t>
            </a:r>
          </a:p>
          <a:p>
            <a:pPr marL="0" indent="0" algn="just">
              <a:buNone/>
            </a:pPr>
            <a:endParaRPr lang="en-GB" sz="1800" b="0" i="0" u="none" strike="noStrike" baseline="0" dirty="0">
              <a:solidFill>
                <a:srgbClr val="1D1F20"/>
              </a:solidFill>
              <a:latin typeface="Proxima Nova Rg"/>
            </a:endParaRPr>
          </a:p>
          <a:p>
            <a:pPr algn="just"/>
            <a:endParaRPr lang="en-GB" sz="1800" b="0" i="0" u="none" strike="noStrike" baseline="0" dirty="0">
              <a:solidFill>
                <a:srgbClr val="000000"/>
              </a:solidFill>
              <a:latin typeface="Proxima Nova Rg"/>
            </a:endParaRPr>
          </a:p>
          <a:p>
            <a:pPr algn="just"/>
            <a:r>
              <a:rPr lang="en-GB" sz="1800" b="0" i="0" u="none" strike="noStrike" baseline="0" dirty="0">
                <a:solidFill>
                  <a:srgbClr val="1D1F20"/>
                </a:solidFill>
                <a:latin typeface="Proxima Nova Rg"/>
              </a:rPr>
              <a:t>In summary, the data collection and processing phase is crucial for laying the groundwork for successful machine learning projects. By focusing on clear objectives, identifying quality data sources, and implementing robust processing techniques, you can signi</a:t>
            </a:r>
            <a:r>
              <a:rPr lang="en-GB" sz="1800" b="0" i="0" u="none" strike="noStrike" baseline="0" dirty="0">
                <a:solidFill>
                  <a:srgbClr val="000000"/>
                </a:solidFill>
                <a:latin typeface="Proxima Nova Rg"/>
              </a:rPr>
              <a:t>fi</a:t>
            </a:r>
            <a:r>
              <a:rPr lang="en-GB" sz="1800" b="0" i="0" u="none" strike="noStrike" baseline="0" dirty="0">
                <a:solidFill>
                  <a:srgbClr val="1D1F20"/>
                </a:solidFill>
                <a:latin typeface="Proxima Nova Rg"/>
              </a:rPr>
              <a:t>cantly enhance the performance and reliability of your ML models.</a:t>
            </a:r>
            <a:endParaRPr lang="en-GB" dirty="0"/>
          </a:p>
        </p:txBody>
      </p:sp>
    </p:spTree>
    <p:extLst>
      <p:ext uri="{BB962C8B-B14F-4D97-AF65-F5344CB8AC3E}">
        <p14:creationId xmlns:p14="http://schemas.microsoft.com/office/powerpoint/2010/main" val="1946310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0068FB-8F2F-8881-36B3-D35C28732CA9}"/>
              </a:ext>
            </a:extLst>
          </p:cNvPr>
          <p:cNvSpPr>
            <a:spLocks noGrp="1"/>
          </p:cNvSpPr>
          <p:nvPr>
            <p:ph idx="1"/>
          </p:nvPr>
        </p:nvSpPr>
        <p:spPr>
          <a:xfrm>
            <a:off x="838200" y="1104600"/>
            <a:ext cx="10515600" cy="4093475"/>
          </a:xfrm>
        </p:spPr>
        <p:txBody>
          <a:bodyPr>
            <a:normAutofit lnSpcReduction="10000"/>
          </a:bodyPr>
          <a:lstStyle/>
          <a:p>
            <a:pPr algn="just"/>
            <a:r>
              <a:rPr lang="en-GB" sz="1800" b="0" i="0" u="none" strike="noStrike" baseline="0" dirty="0">
                <a:solidFill>
                  <a:srgbClr val="1D1F20"/>
                </a:solidFill>
                <a:latin typeface="Proxima Nova Rg"/>
              </a:rPr>
              <a:t>Model training, testing, and evaluation are the next steps in the machine learning process, which focuses on developing an accurate model to solve a speci</a:t>
            </a:r>
            <a:r>
              <a:rPr lang="en-GB" sz="1800" b="0" i="0" u="none" strike="noStrike" baseline="0" dirty="0">
                <a:solidFill>
                  <a:srgbClr val="000000"/>
                </a:solidFill>
                <a:latin typeface="Proxima Nova Rg"/>
              </a:rPr>
              <a:t>fi</a:t>
            </a:r>
            <a:r>
              <a:rPr lang="en-GB" sz="1800" b="0" i="0" u="none" strike="noStrike" baseline="0" dirty="0">
                <a:solidFill>
                  <a:srgbClr val="1D1F20"/>
                </a:solidFill>
                <a:latin typeface="Proxima Nova Rg"/>
              </a:rPr>
              <a:t>c problem. This stage involves selecting a suitable algorithm, training the model on the prepared data, and thoroughly evaluating its performance.</a:t>
            </a:r>
          </a:p>
          <a:p>
            <a:pPr algn="just"/>
            <a:r>
              <a:rPr lang="en-GB" sz="1800" b="1" i="0" u="none" strike="noStrike" baseline="0" dirty="0">
                <a:solidFill>
                  <a:srgbClr val="1D1F20"/>
                </a:solidFill>
                <a:latin typeface="Proxima Nova Rg"/>
              </a:rPr>
              <a:t>Choosing a model</a:t>
            </a:r>
            <a:r>
              <a:rPr lang="en-GB" sz="1800" dirty="0">
                <a:solidFill>
                  <a:srgbClr val="1D1F20"/>
                </a:solidFill>
                <a:latin typeface="Proxima Nova Rg"/>
              </a:rPr>
              <a:t>: </a:t>
            </a:r>
            <a:r>
              <a:rPr lang="en-GB" sz="1800" b="0" i="0" u="none" strike="noStrike" baseline="0" dirty="0">
                <a:solidFill>
                  <a:srgbClr val="1D1F20"/>
                </a:solidFill>
                <a:latin typeface="Proxima Nova Rg"/>
              </a:rPr>
              <a:t>The </a:t>
            </a:r>
            <a:r>
              <a:rPr lang="en-GB" sz="1800" b="0" i="0" u="none" strike="noStrike" baseline="0" dirty="0">
                <a:solidFill>
                  <a:srgbClr val="000000"/>
                </a:solidFill>
                <a:latin typeface="Proxima Nova Rg"/>
              </a:rPr>
              <a:t>fi</a:t>
            </a:r>
            <a:r>
              <a:rPr lang="en-GB" sz="1800" b="0" i="0" u="none" strike="noStrike" baseline="0" dirty="0">
                <a:solidFill>
                  <a:srgbClr val="1D1F20"/>
                </a:solidFill>
                <a:latin typeface="Proxima Nova Rg"/>
              </a:rPr>
              <a:t>rst step is to understand the nature of your problem. </a:t>
            </a:r>
          </a:p>
          <a:p>
            <a:pPr marL="0" indent="0" algn="just">
              <a:buNone/>
            </a:pPr>
            <a:r>
              <a:rPr lang="en-GB" sz="1800" dirty="0">
                <a:solidFill>
                  <a:srgbClr val="1D1F20"/>
                </a:solidFill>
                <a:latin typeface="Proxima Nova Rg"/>
              </a:rPr>
              <a:t>    </a:t>
            </a:r>
            <a:r>
              <a:rPr lang="en-GB" sz="1800" b="0" i="0" u="none" strike="noStrike" baseline="0" dirty="0">
                <a:solidFill>
                  <a:srgbClr val="1D1F20"/>
                </a:solidFill>
                <a:latin typeface="Proxima Nova Rg"/>
              </a:rPr>
              <a:t>Is it about sorting things into categories (classi</a:t>
            </a:r>
            <a:r>
              <a:rPr lang="en-GB" sz="1800" b="0" i="0" u="none" strike="noStrike" baseline="0" dirty="0">
                <a:solidFill>
                  <a:srgbClr val="000000"/>
                </a:solidFill>
                <a:latin typeface="Proxima Nova Rg"/>
              </a:rPr>
              <a:t>fi</a:t>
            </a:r>
            <a:r>
              <a:rPr lang="en-GB" sz="1800" b="0" i="0" u="none" strike="noStrike" baseline="0" dirty="0">
                <a:solidFill>
                  <a:srgbClr val="1D1F20"/>
                </a:solidFill>
                <a:latin typeface="Proxima Nova Rg"/>
              </a:rPr>
              <a:t>cation), predicting numbers (regression), or grouping similar items (clustering)? </a:t>
            </a:r>
          </a:p>
          <a:p>
            <a:pPr marL="0" indent="0" algn="just">
              <a:buNone/>
            </a:pPr>
            <a:endParaRPr lang="en-GB" sz="1800" dirty="0">
              <a:solidFill>
                <a:srgbClr val="1D1F20"/>
              </a:solidFill>
              <a:latin typeface="Proxima Nova Rg"/>
            </a:endParaRPr>
          </a:p>
          <a:p>
            <a:pPr marL="0" indent="0" algn="just">
              <a:buNone/>
            </a:pPr>
            <a:r>
              <a:rPr lang="en-GB" sz="1800" b="0" i="0" u="none" strike="noStrike" baseline="0" dirty="0">
                <a:solidFill>
                  <a:srgbClr val="1D1F20"/>
                </a:solidFill>
                <a:latin typeface="Proxima Nova Rg"/>
              </a:rPr>
              <a:t>Determining the type of issue helps in choosing the right candidate models. Using your domain knowledge, you can identify proven e</a:t>
            </a:r>
            <a:r>
              <a:rPr lang="en-GB" sz="1800" b="0" i="0" u="none" strike="noStrike" baseline="0" dirty="0">
                <a:solidFill>
                  <a:srgbClr val="000000"/>
                </a:solidFill>
                <a:latin typeface="Proxima Nova Rg"/>
              </a:rPr>
              <a:t>ff</a:t>
            </a:r>
            <a:r>
              <a:rPr lang="en-GB" sz="1800" b="0" i="0" u="none" strike="noStrike" baseline="0" dirty="0">
                <a:solidFill>
                  <a:srgbClr val="1D1F20"/>
                </a:solidFill>
                <a:latin typeface="Proxima Nova Rg"/>
              </a:rPr>
              <a:t>ective models for similar tasks. The most </a:t>
            </a:r>
            <a:r>
              <a:rPr lang="en-GB" sz="1800" dirty="0">
                <a:solidFill>
                  <a:srgbClr val="1D1F20"/>
                </a:solidFill>
                <a:latin typeface="Proxima Nova Rg"/>
              </a:rPr>
              <a:t>common options include:</a:t>
            </a:r>
            <a:endParaRPr lang="en-GB" sz="1800" dirty="0"/>
          </a:p>
          <a:p>
            <a:pPr marL="0" indent="0" algn="just">
              <a:buNone/>
            </a:pPr>
            <a:r>
              <a:rPr lang="en-GB" sz="1800" b="1" i="0" u="none" strike="noStrike" baseline="0" dirty="0">
                <a:solidFill>
                  <a:srgbClr val="1D1F20"/>
                </a:solidFill>
                <a:latin typeface="Proxima Nova Rg"/>
              </a:rPr>
              <a:t>    - Linear models</a:t>
            </a:r>
            <a:r>
              <a:rPr lang="en-GB" sz="1800" b="0" i="0" u="none" strike="noStrike" baseline="0" dirty="0">
                <a:solidFill>
                  <a:srgbClr val="1D1F20"/>
                </a:solidFill>
                <a:latin typeface="Proxima Nova Rg"/>
              </a:rPr>
              <a:t>. </a:t>
            </a:r>
          </a:p>
          <a:p>
            <a:pPr marL="0" indent="0" algn="just">
              <a:buNone/>
            </a:pPr>
            <a:r>
              <a:rPr lang="en-GB" sz="1800" b="1" i="0" u="none" strike="noStrike" baseline="0" dirty="0">
                <a:solidFill>
                  <a:srgbClr val="1D1F20"/>
                </a:solidFill>
                <a:latin typeface="Proxima Nova Rg"/>
              </a:rPr>
              <a:t>    - Tree models</a:t>
            </a:r>
            <a:r>
              <a:rPr lang="en-GB" sz="1800" b="0" i="0" u="none" strike="noStrike" baseline="0" dirty="0">
                <a:solidFill>
                  <a:srgbClr val="1D1F20"/>
                </a:solidFill>
                <a:latin typeface="Proxima Nova Rg"/>
              </a:rPr>
              <a:t>.</a:t>
            </a:r>
          </a:p>
          <a:p>
            <a:pPr marL="0" indent="0" algn="just">
              <a:buNone/>
            </a:pPr>
            <a:r>
              <a:rPr lang="en-GB" sz="1800" b="1" i="0" u="none" strike="noStrike" baseline="0" dirty="0">
                <a:solidFill>
                  <a:srgbClr val="1D1F20"/>
                </a:solidFill>
                <a:latin typeface="Proxima Nova Rg"/>
              </a:rPr>
              <a:t>    - Neural networks</a:t>
            </a:r>
            <a:r>
              <a:rPr lang="en-GB" sz="1800" b="0" i="0" u="none" strike="noStrike" baseline="0" dirty="0">
                <a:solidFill>
                  <a:srgbClr val="1D1F20"/>
                </a:solidFill>
                <a:latin typeface="Proxima Nova Rg"/>
              </a:rPr>
              <a:t>.</a:t>
            </a:r>
          </a:p>
          <a:p>
            <a:pPr algn="just"/>
            <a:endParaRPr lang="en-GB" sz="1800" b="0" i="0" u="none" strike="noStrike" baseline="0" dirty="0">
              <a:solidFill>
                <a:srgbClr val="000000"/>
              </a:solidFill>
              <a:latin typeface="Proxima Nova Rg"/>
            </a:endParaRPr>
          </a:p>
        </p:txBody>
      </p:sp>
      <p:sp>
        <p:nvSpPr>
          <p:cNvPr id="5" name="TextBox 4">
            <a:extLst>
              <a:ext uri="{FF2B5EF4-FFF2-40B4-BE49-F238E27FC236}">
                <a16:creationId xmlns:a16="http://schemas.microsoft.com/office/drawing/2014/main" id="{9B154D21-B7C5-74C0-7C44-A5CF83299295}"/>
              </a:ext>
            </a:extLst>
          </p:cNvPr>
          <p:cNvSpPr txBox="1"/>
          <p:nvPr/>
        </p:nvSpPr>
        <p:spPr>
          <a:xfrm>
            <a:off x="601363" y="389279"/>
            <a:ext cx="6096000" cy="369332"/>
          </a:xfrm>
          <a:prstGeom prst="rect">
            <a:avLst/>
          </a:prstGeom>
          <a:noFill/>
        </p:spPr>
        <p:txBody>
          <a:bodyPr wrap="square">
            <a:spAutoFit/>
          </a:bodyPr>
          <a:lstStyle/>
          <a:p>
            <a:r>
              <a:rPr lang="en-GB" b="1" i="0" dirty="0">
                <a:solidFill>
                  <a:srgbClr val="05192D"/>
                </a:solidFill>
                <a:effectLst/>
                <a:latin typeface="Studio-Feixen-Sans"/>
              </a:rPr>
              <a:t>Step 3</a:t>
            </a:r>
            <a:r>
              <a:rPr lang="en-GB" sz="1800" b="1" i="0" u="none" strike="noStrike" baseline="0" dirty="0">
                <a:solidFill>
                  <a:srgbClr val="1D1F20"/>
                </a:solidFill>
                <a:latin typeface="Proxima Nova Rg"/>
              </a:rPr>
              <a:t>. Model Selection, Training &amp; Validation</a:t>
            </a:r>
            <a:endParaRPr lang="en-GB" dirty="0"/>
          </a:p>
        </p:txBody>
      </p:sp>
    </p:spTree>
    <p:extLst>
      <p:ext uri="{BB962C8B-B14F-4D97-AF65-F5344CB8AC3E}">
        <p14:creationId xmlns:p14="http://schemas.microsoft.com/office/powerpoint/2010/main" val="3239692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797F4C-CC1C-414F-48BE-714F3F7CA811}"/>
              </a:ext>
            </a:extLst>
          </p:cNvPr>
          <p:cNvSpPr txBox="1"/>
          <p:nvPr/>
        </p:nvSpPr>
        <p:spPr>
          <a:xfrm>
            <a:off x="1091513" y="382012"/>
            <a:ext cx="9621795" cy="3046988"/>
          </a:xfrm>
          <a:prstGeom prst="rect">
            <a:avLst/>
          </a:prstGeom>
          <a:noFill/>
        </p:spPr>
        <p:txBody>
          <a:bodyPr wrap="square">
            <a:spAutoFit/>
          </a:bodyPr>
          <a:lstStyle/>
          <a:p>
            <a:pPr algn="l" rtl="0"/>
            <a:r>
              <a:rPr lang="en-GB" sz="2400" b="1" i="0" dirty="0">
                <a:solidFill>
                  <a:srgbClr val="05192D"/>
                </a:solidFill>
                <a:effectLst/>
                <a:latin typeface="Studio-Feixen-Sans"/>
              </a:rPr>
              <a:t>Step 4: Training the model</a:t>
            </a:r>
          </a:p>
          <a:p>
            <a:pPr algn="l" rtl="0"/>
            <a:endParaRPr lang="en-GB" sz="2400" b="1" i="0" dirty="0">
              <a:solidFill>
                <a:srgbClr val="05192D"/>
              </a:solidFill>
              <a:effectLst/>
              <a:latin typeface="Studio-Feixen-Sans"/>
            </a:endParaRPr>
          </a:p>
          <a:p>
            <a:pPr algn="just" rtl="0"/>
            <a:r>
              <a:rPr lang="en-GB" sz="2400" b="0" i="0" dirty="0">
                <a:solidFill>
                  <a:srgbClr val="05192D"/>
                </a:solidFill>
                <a:effectLst/>
                <a:latin typeface="Studio-Feixen-Sans"/>
              </a:rPr>
              <a:t>After choosing a model, the next step is to train it using the prepared data. Training involves feeding the data into the model and allowing it to adjust its internal parameters to better predict the output.</a:t>
            </a:r>
          </a:p>
          <a:p>
            <a:pPr algn="l" rtl="0"/>
            <a:r>
              <a:rPr lang="en-GB" sz="2400" b="0" i="0" dirty="0">
                <a:solidFill>
                  <a:srgbClr val="05192D"/>
                </a:solidFill>
                <a:effectLst/>
                <a:latin typeface="Studio-Feixen-Sans"/>
              </a:rPr>
              <a:t>During training, it's important to avoid overfitting (where the model performs well on the training data but poorly on new data) and underfitting (where the model performs poorly on both the training data and new data).</a:t>
            </a:r>
          </a:p>
        </p:txBody>
      </p:sp>
      <p:sp>
        <p:nvSpPr>
          <p:cNvPr id="7" name="TextBox 6">
            <a:extLst>
              <a:ext uri="{FF2B5EF4-FFF2-40B4-BE49-F238E27FC236}">
                <a16:creationId xmlns:a16="http://schemas.microsoft.com/office/drawing/2014/main" id="{B2D54766-508E-311A-B49A-A50B7AD87C5D}"/>
              </a:ext>
            </a:extLst>
          </p:cNvPr>
          <p:cNvSpPr txBox="1"/>
          <p:nvPr/>
        </p:nvSpPr>
        <p:spPr>
          <a:xfrm>
            <a:off x="1091513" y="3807759"/>
            <a:ext cx="10008973" cy="1938992"/>
          </a:xfrm>
          <a:prstGeom prst="rect">
            <a:avLst/>
          </a:prstGeom>
          <a:noFill/>
        </p:spPr>
        <p:txBody>
          <a:bodyPr wrap="square">
            <a:spAutoFit/>
          </a:bodyPr>
          <a:lstStyle/>
          <a:p>
            <a:pPr algn="just" rtl="0"/>
            <a:r>
              <a:rPr lang="en-GB" sz="2400" b="1" i="0" dirty="0">
                <a:solidFill>
                  <a:srgbClr val="05192D"/>
                </a:solidFill>
                <a:effectLst/>
                <a:latin typeface="Studio-Feixen-Sans"/>
              </a:rPr>
              <a:t>Step 5: Evaluating the model</a:t>
            </a:r>
          </a:p>
          <a:p>
            <a:pPr algn="just"/>
            <a:r>
              <a:rPr lang="en-GB" sz="2400" b="0" i="0" dirty="0">
                <a:solidFill>
                  <a:srgbClr val="05192D"/>
                </a:solidFill>
                <a:effectLst/>
                <a:latin typeface="Studio-Feixen-Sans"/>
              </a:rPr>
              <a:t>Once a model is trained, evaluating its performance on unseen data is essential before deployment. Common metrics for evaluating a model's performance include accuracy (for classification problems), precision and recall (for binary classification problems), and mean squared error (for regression problems).</a:t>
            </a:r>
          </a:p>
        </p:txBody>
      </p:sp>
    </p:spTree>
    <p:extLst>
      <p:ext uri="{BB962C8B-B14F-4D97-AF65-F5344CB8AC3E}">
        <p14:creationId xmlns:p14="http://schemas.microsoft.com/office/powerpoint/2010/main" val="1164810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41C2F1-7975-A529-38D1-72D5D5203203}"/>
              </a:ext>
            </a:extLst>
          </p:cNvPr>
          <p:cNvSpPr txBox="1"/>
          <p:nvPr/>
        </p:nvSpPr>
        <p:spPr>
          <a:xfrm>
            <a:off x="679621" y="307535"/>
            <a:ext cx="10832757" cy="1938992"/>
          </a:xfrm>
          <a:prstGeom prst="rect">
            <a:avLst/>
          </a:prstGeom>
          <a:noFill/>
        </p:spPr>
        <p:txBody>
          <a:bodyPr wrap="square">
            <a:spAutoFit/>
          </a:bodyPr>
          <a:lstStyle/>
          <a:p>
            <a:pPr algn="l" rtl="0"/>
            <a:r>
              <a:rPr lang="en-GB" sz="2000" b="1" i="0" dirty="0">
                <a:solidFill>
                  <a:srgbClr val="05192D"/>
                </a:solidFill>
                <a:effectLst/>
                <a:latin typeface="Studio-Feixen-Sans"/>
              </a:rPr>
              <a:t>Step 6: Hyperparameter tuning and optimization</a:t>
            </a:r>
          </a:p>
          <a:p>
            <a:pPr algn="l" rtl="0"/>
            <a:endParaRPr lang="en-GB" sz="2000" b="1" i="0" dirty="0">
              <a:solidFill>
                <a:srgbClr val="05192D"/>
              </a:solidFill>
              <a:effectLst/>
              <a:latin typeface="Studio-Feixen-Sans"/>
            </a:endParaRPr>
          </a:p>
          <a:p>
            <a:pPr algn="l" rtl="0"/>
            <a:r>
              <a:rPr lang="en-GB" sz="2000" b="1" i="0" dirty="0">
                <a:solidFill>
                  <a:srgbClr val="273239"/>
                </a:solidFill>
                <a:effectLst/>
                <a:latin typeface="Nunito"/>
              </a:rPr>
              <a:t>Hyperparameter tuning</a:t>
            </a:r>
            <a:r>
              <a:rPr lang="en-GB" sz="2000" b="0" i="0" dirty="0">
                <a:solidFill>
                  <a:srgbClr val="273239"/>
                </a:solidFill>
                <a:effectLst/>
                <a:latin typeface="Nunito"/>
              </a:rPr>
              <a:t> is the process of selecting the optimal values for a machine learning model's hyperparameters. These are typically set before the actual training process begins and control aspects of the learning process itself. They influence the model's performance its complexity and how fast it learns.</a:t>
            </a:r>
            <a:endParaRPr lang="en-GB" sz="2000" b="1" i="0" dirty="0">
              <a:solidFill>
                <a:srgbClr val="05192D"/>
              </a:solidFill>
              <a:effectLst/>
              <a:latin typeface="Studio-Feixen-Sans"/>
            </a:endParaRPr>
          </a:p>
        </p:txBody>
      </p:sp>
      <p:sp>
        <p:nvSpPr>
          <p:cNvPr id="7" name="TextBox 6">
            <a:extLst>
              <a:ext uri="{FF2B5EF4-FFF2-40B4-BE49-F238E27FC236}">
                <a16:creationId xmlns:a16="http://schemas.microsoft.com/office/drawing/2014/main" id="{02BBC68E-FF4E-3E5C-C020-18714153CC52}"/>
              </a:ext>
            </a:extLst>
          </p:cNvPr>
          <p:cNvSpPr txBox="1"/>
          <p:nvPr/>
        </p:nvSpPr>
        <p:spPr>
          <a:xfrm>
            <a:off x="749643" y="3276763"/>
            <a:ext cx="10346725" cy="2246769"/>
          </a:xfrm>
          <a:prstGeom prst="rect">
            <a:avLst/>
          </a:prstGeom>
          <a:noFill/>
        </p:spPr>
        <p:txBody>
          <a:bodyPr wrap="square">
            <a:spAutoFit/>
          </a:bodyPr>
          <a:lstStyle/>
          <a:p>
            <a:pPr algn="l" rtl="0"/>
            <a:r>
              <a:rPr lang="en-GB" sz="2000" b="1" i="0" dirty="0">
                <a:solidFill>
                  <a:srgbClr val="05192D"/>
                </a:solidFill>
                <a:effectLst/>
                <a:latin typeface="Studio-Feixen-Sans"/>
              </a:rPr>
              <a:t>Step 7: Predictions and deployment</a:t>
            </a:r>
          </a:p>
          <a:p>
            <a:pPr algn="l" rtl="0"/>
            <a:r>
              <a:rPr lang="en-GB" sz="2000" b="0" i="0" dirty="0">
                <a:solidFill>
                  <a:srgbClr val="05192D"/>
                </a:solidFill>
                <a:effectLst/>
                <a:latin typeface="Studio-Feixen-Sans"/>
              </a:rPr>
              <a:t>Deploying a machine learning model involves integrating it into a production environment, where it can deliver real-time predictions or insights. MLOps (Machine Learning Operations) has emerged as a standard practice to streamline this process. It encompasses version control, monitoring, and automated testing to ensure models are reproducible, reliable, and robust. MLOps frameworks like </a:t>
            </a:r>
            <a:r>
              <a:rPr lang="en-GB" sz="2000" b="0" i="0" dirty="0" err="1">
                <a:solidFill>
                  <a:srgbClr val="05192D"/>
                </a:solidFill>
                <a:effectLst/>
                <a:latin typeface="Studio-Feixen-Sans"/>
              </a:rPr>
              <a:t>MLflow</a:t>
            </a:r>
            <a:r>
              <a:rPr lang="en-GB" sz="2000" b="0" i="0" dirty="0">
                <a:solidFill>
                  <a:srgbClr val="05192D"/>
                </a:solidFill>
                <a:effectLst/>
                <a:latin typeface="Studio-Feixen-Sans"/>
              </a:rPr>
              <a:t> or Kubeflow support these goals by providing seamless workflows for deployment, retraining, and model rollback if issues arise.</a:t>
            </a:r>
          </a:p>
        </p:txBody>
      </p:sp>
    </p:spTree>
    <p:extLst>
      <p:ext uri="{BB962C8B-B14F-4D97-AF65-F5344CB8AC3E}">
        <p14:creationId xmlns:p14="http://schemas.microsoft.com/office/powerpoint/2010/main" val="892675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A85F5A-474C-1376-B0E0-BF5A257FB8CA}"/>
              </a:ext>
            </a:extLst>
          </p:cNvPr>
          <p:cNvSpPr txBox="1"/>
          <p:nvPr/>
        </p:nvSpPr>
        <p:spPr>
          <a:xfrm>
            <a:off x="1070919" y="849688"/>
            <a:ext cx="9811265" cy="3970318"/>
          </a:xfrm>
          <a:prstGeom prst="rect">
            <a:avLst/>
          </a:prstGeom>
          <a:noFill/>
        </p:spPr>
        <p:txBody>
          <a:bodyPr wrap="square">
            <a:spAutoFit/>
          </a:bodyPr>
          <a:lstStyle/>
          <a:p>
            <a:r>
              <a:rPr lang="en-GB" b="1" dirty="0"/>
              <a:t>Example Workflow:</a:t>
            </a:r>
          </a:p>
          <a:p>
            <a:endParaRPr lang="en-GB" b="1" dirty="0"/>
          </a:p>
          <a:p>
            <a:endParaRPr lang="en-GB" b="1" dirty="0"/>
          </a:p>
          <a:p>
            <a:pPr>
              <a:buFont typeface="+mj-lt"/>
              <a:buAutoNum type="arabicPeriod"/>
            </a:pPr>
            <a:r>
              <a:rPr lang="en-GB" b="1" dirty="0"/>
              <a:t> Data Collection/Preprocessing</a:t>
            </a:r>
            <a:r>
              <a:rPr lang="en-GB" dirty="0"/>
              <a:t>: Use Pandas and NumPy for data cleaning and preparation.</a:t>
            </a:r>
          </a:p>
          <a:p>
            <a:pPr>
              <a:buFont typeface="+mj-lt"/>
              <a:buAutoNum type="arabicPeriod"/>
            </a:pPr>
            <a:endParaRPr lang="en-GB" dirty="0"/>
          </a:p>
          <a:p>
            <a:pPr>
              <a:buFont typeface="+mj-lt"/>
              <a:buAutoNum type="arabicPeriod"/>
            </a:pPr>
            <a:r>
              <a:rPr lang="en-GB" b="1" dirty="0"/>
              <a:t> Exploratory Data Analysis (EDA)</a:t>
            </a:r>
            <a:r>
              <a:rPr lang="en-GB" dirty="0"/>
              <a:t>: Visualize the data with Matplotlib/Seaborn.</a:t>
            </a:r>
          </a:p>
          <a:p>
            <a:pPr>
              <a:buFont typeface="+mj-lt"/>
              <a:buAutoNum type="arabicPeriod"/>
            </a:pPr>
            <a:endParaRPr lang="en-GB" dirty="0"/>
          </a:p>
          <a:p>
            <a:pPr>
              <a:buFont typeface="+mj-lt"/>
              <a:buAutoNum type="arabicPeriod"/>
            </a:pPr>
            <a:r>
              <a:rPr lang="en-GB" b="1" dirty="0"/>
              <a:t> Model Building</a:t>
            </a:r>
            <a:r>
              <a:rPr lang="en-GB" dirty="0"/>
              <a:t>: Use Scikit-learn, TensorFlow, or </a:t>
            </a:r>
            <a:r>
              <a:rPr lang="en-GB" dirty="0" err="1"/>
              <a:t>PyTorch</a:t>
            </a:r>
            <a:r>
              <a:rPr lang="en-GB" dirty="0"/>
              <a:t>.</a:t>
            </a:r>
          </a:p>
          <a:p>
            <a:pPr>
              <a:buFont typeface="+mj-lt"/>
              <a:buAutoNum type="arabicPeriod"/>
            </a:pPr>
            <a:endParaRPr lang="en-GB" dirty="0"/>
          </a:p>
          <a:p>
            <a:pPr>
              <a:buFont typeface="+mj-lt"/>
              <a:buAutoNum type="arabicPeriod"/>
            </a:pPr>
            <a:r>
              <a:rPr lang="en-GB" b="1" dirty="0"/>
              <a:t> Model Evaluation</a:t>
            </a:r>
            <a:r>
              <a:rPr lang="en-GB" dirty="0"/>
              <a:t>: Validate the model using Scikit-</a:t>
            </a:r>
            <a:r>
              <a:rPr lang="en-GB" dirty="0" err="1"/>
              <a:t>learn’s</a:t>
            </a:r>
            <a:r>
              <a:rPr lang="en-GB" dirty="0"/>
              <a:t> metrics.</a:t>
            </a:r>
          </a:p>
          <a:p>
            <a:pPr>
              <a:buFont typeface="+mj-lt"/>
              <a:buAutoNum type="arabicPeriod"/>
            </a:pPr>
            <a:endParaRPr lang="en-GB" dirty="0"/>
          </a:p>
          <a:p>
            <a:pPr>
              <a:buFont typeface="+mj-lt"/>
              <a:buAutoNum type="arabicPeriod"/>
            </a:pPr>
            <a:r>
              <a:rPr lang="en-GB" b="1" dirty="0"/>
              <a:t> Hyperparameter Tuning</a:t>
            </a:r>
            <a:r>
              <a:rPr lang="en-GB" dirty="0"/>
              <a:t>: Use grid search or randomized search for hyperparameter tuning.</a:t>
            </a:r>
          </a:p>
          <a:p>
            <a:pPr>
              <a:buFont typeface="+mj-lt"/>
              <a:buAutoNum type="arabicPeriod"/>
            </a:pPr>
            <a:endParaRPr lang="en-GB" dirty="0"/>
          </a:p>
          <a:p>
            <a:pPr>
              <a:buFont typeface="+mj-lt"/>
              <a:buAutoNum type="arabicPeriod"/>
            </a:pPr>
            <a:r>
              <a:rPr lang="en-GB" b="1" dirty="0"/>
              <a:t> Deployment</a:t>
            </a:r>
            <a:r>
              <a:rPr lang="en-GB" dirty="0"/>
              <a:t>: Use Flask/Docker for API-based deployment or cloud services for scaling.</a:t>
            </a:r>
          </a:p>
        </p:txBody>
      </p:sp>
    </p:spTree>
    <p:extLst>
      <p:ext uri="{BB962C8B-B14F-4D97-AF65-F5344CB8AC3E}">
        <p14:creationId xmlns:p14="http://schemas.microsoft.com/office/powerpoint/2010/main" val="2641279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197E69-8D9F-79FA-EA93-07E0CA5404AF}"/>
              </a:ext>
            </a:extLst>
          </p:cNvPr>
          <p:cNvSpPr txBox="1"/>
          <p:nvPr/>
        </p:nvSpPr>
        <p:spPr>
          <a:xfrm>
            <a:off x="626076" y="764741"/>
            <a:ext cx="11458832" cy="923330"/>
          </a:xfrm>
          <a:prstGeom prst="rect">
            <a:avLst/>
          </a:prstGeom>
          <a:noFill/>
        </p:spPr>
        <p:txBody>
          <a:bodyPr wrap="square">
            <a:spAutoFit/>
          </a:bodyPr>
          <a:lstStyle/>
          <a:p>
            <a:r>
              <a:rPr lang="en-GB" b="0" i="0" dirty="0">
                <a:solidFill>
                  <a:srgbClr val="242424"/>
                </a:solidFill>
                <a:effectLst/>
                <a:latin typeface="source-serif-pro"/>
              </a:rPr>
              <a:t>In machine learning, the </a:t>
            </a:r>
            <a:r>
              <a:rPr lang="en-GB" b="1" i="0" dirty="0">
                <a:solidFill>
                  <a:srgbClr val="242424"/>
                </a:solidFill>
                <a:effectLst/>
                <a:latin typeface="source-serif-pro"/>
              </a:rPr>
              <a:t>concept of “input”</a:t>
            </a:r>
            <a:r>
              <a:rPr lang="en-GB" b="0" i="0" dirty="0">
                <a:solidFill>
                  <a:srgbClr val="242424"/>
                </a:solidFill>
                <a:effectLst/>
                <a:latin typeface="source-serif-pro"/>
              </a:rPr>
              <a:t> refers to the data provided to the model to </a:t>
            </a:r>
            <a:r>
              <a:rPr lang="en-GB" b="0" i="0" dirty="0" err="1">
                <a:solidFill>
                  <a:srgbClr val="242424"/>
                </a:solidFill>
                <a:effectLst/>
                <a:latin typeface="source-serif-pro"/>
              </a:rPr>
              <a:t>analyze</a:t>
            </a:r>
            <a:r>
              <a:rPr lang="en-GB" b="0" i="0" dirty="0">
                <a:solidFill>
                  <a:srgbClr val="242424"/>
                </a:solidFill>
                <a:effectLst/>
                <a:latin typeface="source-serif-pro"/>
              </a:rPr>
              <a:t> and learn from. Inputs are the essential building blocks of machine learning models, as they represent the </a:t>
            </a:r>
            <a:r>
              <a:rPr lang="en-GB" b="1" i="0" dirty="0">
                <a:solidFill>
                  <a:srgbClr val="FF0000"/>
                </a:solidFill>
                <a:effectLst/>
                <a:latin typeface="source-serif-pro"/>
              </a:rPr>
              <a:t>features</a:t>
            </a:r>
            <a:r>
              <a:rPr lang="en-GB" b="0" i="0" dirty="0">
                <a:solidFill>
                  <a:srgbClr val="242424"/>
                </a:solidFill>
                <a:effectLst/>
                <a:latin typeface="source-serif-pro"/>
              </a:rPr>
              <a:t> or </a:t>
            </a:r>
            <a:r>
              <a:rPr lang="en-GB" b="1" i="0" dirty="0">
                <a:solidFill>
                  <a:srgbClr val="FF0000"/>
                </a:solidFill>
                <a:effectLst/>
                <a:latin typeface="source-serif-pro"/>
              </a:rPr>
              <a:t>attributes</a:t>
            </a:r>
            <a:r>
              <a:rPr lang="en-GB" b="0" i="0" dirty="0">
                <a:solidFill>
                  <a:srgbClr val="242424"/>
                </a:solidFill>
                <a:effectLst/>
                <a:latin typeface="source-serif-pro"/>
              </a:rPr>
              <a:t> of each data point that the model uses to make </a:t>
            </a:r>
            <a:r>
              <a:rPr lang="en-GB" b="1" i="0" dirty="0">
                <a:solidFill>
                  <a:srgbClr val="242424"/>
                </a:solidFill>
                <a:effectLst/>
                <a:latin typeface="source-serif-pro"/>
              </a:rPr>
              <a:t>predictions</a:t>
            </a:r>
            <a:r>
              <a:rPr lang="en-GB" b="0" i="0" dirty="0">
                <a:solidFill>
                  <a:srgbClr val="242424"/>
                </a:solidFill>
                <a:effectLst/>
                <a:latin typeface="source-serif-pro"/>
              </a:rPr>
              <a:t> or </a:t>
            </a:r>
            <a:r>
              <a:rPr lang="en-GB" b="1" i="0" dirty="0">
                <a:solidFill>
                  <a:srgbClr val="242424"/>
                </a:solidFill>
                <a:effectLst/>
                <a:latin typeface="source-serif-pro"/>
              </a:rPr>
              <a:t>classifications</a:t>
            </a:r>
            <a:r>
              <a:rPr lang="en-GB" b="0" i="0" dirty="0">
                <a:solidFill>
                  <a:srgbClr val="242424"/>
                </a:solidFill>
                <a:effectLst/>
                <a:latin typeface="source-serif-pro"/>
              </a:rPr>
              <a:t>.</a:t>
            </a:r>
            <a:endParaRPr lang="en-GB" dirty="0"/>
          </a:p>
        </p:txBody>
      </p:sp>
      <p:sp>
        <p:nvSpPr>
          <p:cNvPr id="7" name="TextBox 6">
            <a:extLst>
              <a:ext uri="{FF2B5EF4-FFF2-40B4-BE49-F238E27FC236}">
                <a16:creationId xmlns:a16="http://schemas.microsoft.com/office/drawing/2014/main" id="{822454B8-BC91-4F8A-BCC0-C195BCC71CF7}"/>
              </a:ext>
            </a:extLst>
          </p:cNvPr>
          <p:cNvSpPr txBox="1"/>
          <p:nvPr/>
        </p:nvSpPr>
        <p:spPr>
          <a:xfrm>
            <a:off x="2471351" y="206631"/>
            <a:ext cx="6096000" cy="369332"/>
          </a:xfrm>
          <a:prstGeom prst="rect">
            <a:avLst/>
          </a:prstGeom>
          <a:noFill/>
        </p:spPr>
        <p:txBody>
          <a:bodyPr wrap="square">
            <a:spAutoFit/>
          </a:bodyPr>
          <a:lstStyle/>
          <a:p>
            <a:pPr algn="l"/>
            <a:r>
              <a:rPr lang="en-GB" b="1" i="0" dirty="0">
                <a:solidFill>
                  <a:srgbClr val="242424"/>
                </a:solidFill>
                <a:effectLst/>
                <a:latin typeface="sohne"/>
              </a:rPr>
              <a:t>Understanding Input and Attributes in Machine Learning</a:t>
            </a:r>
          </a:p>
        </p:txBody>
      </p:sp>
      <p:sp>
        <p:nvSpPr>
          <p:cNvPr id="9" name="TextBox 8">
            <a:extLst>
              <a:ext uri="{FF2B5EF4-FFF2-40B4-BE49-F238E27FC236}">
                <a16:creationId xmlns:a16="http://schemas.microsoft.com/office/drawing/2014/main" id="{5E185D13-FB94-CC8C-98AE-9717599F4171}"/>
              </a:ext>
            </a:extLst>
          </p:cNvPr>
          <p:cNvSpPr txBox="1"/>
          <p:nvPr/>
        </p:nvSpPr>
        <p:spPr>
          <a:xfrm>
            <a:off x="626075" y="1876849"/>
            <a:ext cx="11211697" cy="646331"/>
          </a:xfrm>
          <a:prstGeom prst="rect">
            <a:avLst/>
          </a:prstGeom>
          <a:noFill/>
        </p:spPr>
        <p:txBody>
          <a:bodyPr wrap="square">
            <a:spAutoFit/>
          </a:bodyPr>
          <a:lstStyle/>
          <a:p>
            <a:r>
              <a:rPr lang="en-GB" b="1" i="0" dirty="0">
                <a:solidFill>
                  <a:srgbClr val="242424"/>
                </a:solidFill>
                <a:effectLst/>
                <a:latin typeface="source-serif-pro"/>
              </a:rPr>
              <a:t>Attributes or features</a:t>
            </a:r>
            <a:r>
              <a:rPr lang="en-GB" b="0" i="0" dirty="0">
                <a:solidFill>
                  <a:srgbClr val="242424"/>
                </a:solidFill>
                <a:effectLst/>
                <a:latin typeface="source-serif-pro"/>
              </a:rPr>
              <a:t> are the characteristics or properties of the data. In a dataset, each row represents an instance (or example), and each column represents a feature of that instance.</a:t>
            </a:r>
            <a:endParaRPr lang="en-GB" dirty="0"/>
          </a:p>
        </p:txBody>
      </p:sp>
      <p:sp>
        <p:nvSpPr>
          <p:cNvPr id="11" name="TextBox 10">
            <a:extLst>
              <a:ext uri="{FF2B5EF4-FFF2-40B4-BE49-F238E27FC236}">
                <a16:creationId xmlns:a16="http://schemas.microsoft.com/office/drawing/2014/main" id="{F1FCC1B7-F0D9-CD1F-D094-D1F554D81B9B}"/>
              </a:ext>
            </a:extLst>
          </p:cNvPr>
          <p:cNvSpPr txBox="1"/>
          <p:nvPr/>
        </p:nvSpPr>
        <p:spPr>
          <a:xfrm>
            <a:off x="626075" y="3092617"/>
            <a:ext cx="11145795" cy="2308324"/>
          </a:xfrm>
          <a:prstGeom prst="rect">
            <a:avLst/>
          </a:prstGeom>
          <a:noFill/>
        </p:spPr>
        <p:txBody>
          <a:bodyPr wrap="square">
            <a:spAutoFit/>
          </a:bodyPr>
          <a:lstStyle/>
          <a:p>
            <a:pPr algn="l" fontAlgn="base"/>
            <a:r>
              <a:rPr lang="en-GB" b="1" i="0" u="sng" dirty="0">
                <a:solidFill>
                  <a:srgbClr val="FF0000"/>
                </a:solidFill>
                <a:effectLst/>
                <a:latin typeface="Nunito"/>
              </a:rPr>
              <a:t>Characteristics of Features</a:t>
            </a:r>
          </a:p>
          <a:p>
            <a:pPr algn="l" fontAlgn="base"/>
            <a:endParaRPr lang="en-GB" b="1" i="0" dirty="0">
              <a:solidFill>
                <a:srgbClr val="273239"/>
              </a:solidFill>
              <a:effectLst/>
              <a:latin typeface="Nunito"/>
            </a:endParaRPr>
          </a:p>
          <a:p>
            <a:pPr algn="l" fontAlgn="base">
              <a:buFont typeface="+mj-lt"/>
              <a:buAutoNum type="arabicPeriod"/>
            </a:pPr>
            <a:r>
              <a:rPr lang="en-GB" b="1" i="0" dirty="0">
                <a:solidFill>
                  <a:srgbClr val="273239"/>
                </a:solidFill>
                <a:effectLst/>
                <a:latin typeface="Nunito"/>
              </a:rPr>
              <a:t>Measurable</a:t>
            </a:r>
            <a:r>
              <a:rPr lang="en-GB" b="0" i="0" dirty="0">
                <a:solidFill>
                  <a:srgbClr val="273239"/>
                </a:solidFill>
                <a:effectLst/>
                <a:latin typeface="Nunito"/>
              </a:rPr>
              <a:t>: Features are quantifiable properties that can be measured and recorded.</a:t>
            </a:r>
          </a:p>
          <a:p>
            <a:pPr algn="l" fontAlgn="base">
              <a:buFont typeface="+mj-lt"/>
              <a:buAutoNum type="arabicPeriod"/>
            </a:pPr>
            <a:endParaRPr lang="en-GB" b="0" i="0" dirty="0">
              <a:solidFill>
                <a:srgbClr val="273239"/>
              </a:solidFill>
              <a:effectLst/>
              <a:latin typeface="Nunito"/>
            </a:endParaRPr>
          </a:p>
          <a:p>
            <a:pPr algn="l" fontAlgn="base">
              <a:buFont typeface="+mj-lt"/>
              <a:buAutoNum type="arabicPeriod" startAt="2"/>
            </a:pPr>
            <a:r>
              <a:rPr lang="en-GB" b="1" i="0" dirty="0">
                <a:solidFill>
                  <a:srgbClr val="273239"/>
                </a:solidFill>
                <a:effectLst/>
                <a:latin typeface="Nunito"/>
              </a:rPr>
              <a:t>Independent</a:t>
            </a:r>
            <a:r>
              <a:rPr lang="en-GB" b="0" i="0" dirty="0">
                <a:solidFill>
                  <a:srgbClr val="273239"/>
                </a:solidFill>
                <a:effectLst/>
                <a:latin typeface="Nunito"/>
              </a:rPr>
              <a:t>: Each feature should ideally be independent of the others, providing unique information to the model.</a:t>
            </a:r>
          </a:p>
          <a:p>
            <a:pPr algn="l" fontAlgn="base">
              <a:buFont typeface="+mj-lt"/>
              <a:buAutoNum type="arabicPeriod" startAt="2"/>
            </a:pPr>
            <a:endParaRPr lang="en-GB" b="0" i="0" dirty="0">
              <a:solidFill>
                <a:srgbClr val="273239"/>
              </a:solidFill>
              <a:effectLst/>
              <a:latin typeface="Nunito"/>
            </a:endParaRPr>
          </a:p>
          <a:p>
            <a:pPr algn="l" fontAlgn="base">
              <a:buFont typeface="+mj-lt"/>
              <a:buAutoNum type="arabicPeriod" startAt="3"/>
            </a:pPr>
            <a:r>
              <a:rPr lang="en-GB" b="1" i="0" dirty="0">
                <a:solidFill>
                  <a:srgbClr val="273239"/>
                </a:solidFill>
                <a:effectLst/>
                <a:latin typeface="Nunito"/>
              </a:rPr>
              <a:t>Varied Types</a:t>
            </a:r>
            <a:r>
              <a:rPr lang="en-GB" b="0" i="0" dirty="0">
                <a:solidFill>
                  <a:srgbClr val="273239"/>
                </a:solidFill>
                <a:effectLst/>
                <a:latin typeface="Nunito"/>
              </a:rPr>
              <a:t>: Features can be numerical (e.g., age, height), categorical (e.g., gender, </a:t>
            </a:r>
            <a:r>
              <a:rPr lang="en-GB" b="0" i="0" dirty="0" err="1">
                <a:solidFill>
                  <a:srgbClr val="273239"/>
                </a:solidFill>
                <a:effectLst/>
                <a:latin typeface="Nunito"/>
              </a:rPr>
              <a:t>color</a:t>
            </a:r>
            <a:r>
              <a:rPr lang="en-GB" b="0" i="0" dirty="0">
                <a:solidFill>
                  <a:srgbClr val="273239"/>
                </a:solidFill>
                <a:effectLst/>
                <a:latin typeface="Nunito"/>
              </a:rPr>
              <a:t>), or even text-based (e.g., reviews, comments).</a:t>
            </a:r>
          </a:p>
        </p:txBody>
      </p:sp>
    </p:spTree>
    <p:extLst>
      <p:ext uri="{BB962C8B-B14F-4D97-AF65-F5344CB8AC3E}">
        <p14:creationId xmlns:p14="http://schemas.microsoft.com/office/powerpoint/2010/main" val="275774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2" name="Freeform: Shape 11">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093AF0C2-3148-DB4A-E627-B32A9F4CBFF2}"/>
              </a:ext>
            </a:extLst>
          </p:cNvPr>
          <p:cNvGraphicFramePr>
            <a:graphicFrameLocks noGrp="1"/>
          </p:cNvGraphicFramePr>
          <p:nvPr>
            <p:extLst>
              <p:ext uri="{D42A27DB-BD31-4B8C-83A1-F6EECF244321}">
                <p14:modId xmlns:p14="http://schemas.microsoft.com/office/powerpoint/2010/main" val="3008916065"/>
              </p:ext>
            </p:extLst>
          </p:nvPr>
        </p:nvGraphicFramePr>
        <p:xfrm>
          <a:off x="864881" y="878477"/>
          <a:ext cx="10462238" cy="5101050"/>
        </p:xfrm>
        <a:graphic>
          <a:graphicData uri="http://schemas.openxmlformats.org/drawingml/2006/table">
            <a:tbl>
              <a:tblPr>
                <a:solidFill>
                  <a:schemeClr val="bg1"/>
                </a:solidFill>
              </a:tblPr>
              <a:tblGrid>
                <a:gridCol w="3088918">
                  <a:extLst>
                    <a:ext uri="{9D8B030D-6E8A-4147-A177-3AD203B41FA5}">
                      <a16:colId xmlns:a16="http://schemas.microsoft.com/office/drawing/2014/main" val="3258121962"/>
                    </a:ext>
                  </a:extLst>
                </a:gridCol>
                <a:gridCol w="2362977">
                  <a:extLst>
                    <a:ext uri="{9D8B030D-6E8A-4147-A177-3AD203B41FA5}">
                      <a16:colId xmlns:a16="http://schemas.microsoft.com/office/drawing/2014/main" val="3689472097"/>
                    </a:ext>
                  </a:extLst>
                </a:gridCol>
                <a:gridCol w="2348009">
                  <a:extLst>
                    <a:ext uri="{9D8B030D-6E8A-4147-A177-3AD203B41FA5}">
                      <a16:colId xmlns:a16="http://schemas.microsoft.com/office/drawing/2014/main" val="2777041460"/>
                    </a:ext>
                  </a:extLst>
                </a:gridCol>
                <a:gridCol w="2662334">
                  <a:extLst>
                    <a:ext uri="{9D8B030D-6E8A-4147-A177-3AD203B41FA5}">
                      <a16:colId xmlns:a16="http://schemas.microsoft.com/office/drawing/2014/main" val="2968530997"/>
                    </a:ext>
                  </a:extLst>
                </a:gridCol>
              </a:tblGrid>
              <a:tr h="1020210">
                <a:tc gridSpan="3">
                  <a:txBody>
                    <a:bodyPr/>
                    <a:lstStyle/>
                    <a:p>
                      <a:pPr algn="l" fontAlgn="ctr"/>
                      <a:r>
                        <a:rPr lang="en-GB" sz="3300" b="0" cap="none" spc="0" dirty="0">
                          <a:solidFill>
                            <a:srgbClr val="FF0000"/>
                          </a:solidFill>
                          <a:effectLst/>
                          <a:latin typeface="Roboto"/>
                        </a:rPr>
                        <a:t>Features</a:t>
                      </a:r>
                    </a:p>
                  </a:txBody>
                  <a:tcPr marL="280198" marR="143691" marT="215537" marB="21553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hMerge="1">
                  <a:txBody>
                    <a:bodyPr/>
                    <a:lstStyle/>
                    <a:p>
                      <a:endParaRPr lang="en-GB"/>
                    </a:p>
                  </a:txBody>
                  <a:tcPr/>
                </a:tc>
                <a:tc hMerge="1">
                  <a:txBody>
                    <a:bodyPr/>
                    <a:lstStyle/>
                    <a:p>
                      <a:endParaRPr lang="en-GB"/>
                    </a:p>
                  </a:txBody>
                  <a:tcPr/>
                </a:tc>
                <a:tc>
                  <a:txBody>
                    <a:bodyPr/>
                    <a:lstStyle/>
                    <a:p>
                      <a:pPr algn="l" fontAlgn="ctr"/>
                      <a:r>
                        <a:rPr lang="en-GB" sz="3300" b="0" cap="none" spc="0" dirty="0">
                          <a:solidFill>
                            <a:srgbClr val="FF0000"/>
                          </a:solidFill>
                          <a:effectLst/>
                          <a:latin typeface="Roboto"/>
                        </a:rPr>
                        <a:t>Label</a:t>
                      </a:r>
                    </a:p>
                  </a:txBody>
                  <a:tcPr marL="280198" marR="143691" marT="215537" marB="21553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00711523"/>
                  </a:ext>
                </a:extLst>
              </a:tr>
              <a:tr h="1020210">
                <a:tc>
                  <a:txBody>
                    <a:bodyPr/>
                    <a:lstStyle/>
                    <a:p>
                      <a:pPr algn="l" fontAlgn="ctr"/>
                      <a:r>
                        <a:rPr lang="en-GB" sz="3300" b="0" cap="none" spc="0">
                          <a:solidFill>
                            <a:schemeClr val="tx1"/>
                          </a:solidFill>
                          <a:effectLst/>
                          <a:latin typeface="Roboto"/>
                        </a:rPr>
                        <a:t>Temperature</a:t>
                      </a:r>
                    </a:p>
                  </a:txBody>
                  <a:tcPr marL="280198" marR="143691" marT="215537" marB="21553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ctr"/>
                      <a:r>
                        <a:rPr lang="en-GB" sz="3300" b="0" cap="none" spc="0">
                          <a:solidFill>
                            <a:schemeClr val="tx1"/>
                          </a:solidFill>
                          <a:effectLst/>
                          <a:latin typeface="Roboto"/>
                        </a:rPr>
                        <a:t>Humidity</a:t>
                      </a:r>
                    </a:p>
                  </a:txBody>
                  <a:tcPr marL="280198" marR="143691" marT="215537" marB="2155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ctr"/>
                      <a:r>
                        <a:rPr lang="en-GB" sz="3300" b="0" cap="none" spc="0">
                          <a:solidFill>
                            <a:schemeClr val="tx1"/>
                          </a:solidFill>
                          <a:effectLst/>
                          <a:latin typeface="Roboto"/>
                        </a:rPr>
                        <a:t>Pressure</a:t>
                      </a:r>
                    </a:p>
                  </a:txBody>
                  <a:tcPr marL="280198" marR="143691" marT="215537" marB="2155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ctr"/>
                      <a:r>
                        <a:rPr lang="en-GB" sz="3300" b="0" cap="none" spc="0">
                          <a:solidFill>
                            <a:schemeClr val="tx1"/>
                          </a:solidFill>
                          <a:effectLst/>
                          <a:latin typeface="Roboto"/>
                        </a:rPr>
                        <a:t>Test score</a:t>
                      </a:r>
                    </a:p>
                  </a:txBody>
                  <a:tcPr marL="280198" marR="143691" marT="215537" marB="21553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4106433697"/>
                  </a:ext>
                </a:extLst>
              </a:tr>
              <a:tr h="1020210">
                <a:tc>
                  <a:txBody>
                    <a:bodyPr/>
                    <a:lstStyle/>
                    <a:p>
                      <a:pPr algn="l" fontAlgn="t"/>
                      <a:r>
                        <a:rPr lang="en-GB" sz="3300" cap="none" spc="0">
                          <a:solidFill>
                            <a:schemeClr val="tx1"/>
                          </a:solidFill>
                          <a:effectLst/>
                        </a:rPr>
                        <a:t>15</a:t>
                      </a:r>
                    </a:p>
                  </a:txBody>
                  <a:tcPr marL="280198" marR="143691" marT="215537" marB="21553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47</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998</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Good</a:t>
                      </a:r>
                    </a:p>
                  </a:txBody>
                  <a:tcPr marL="280198" marR="143691" marT="215537" marB="21553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268779323"/>
                  </a:ext>
                </a:extLst>
              </a:tr>
              <a:tr h="1020210">
                <a:tc>
                  <a:txBody>
                    <a:bodyPr/>
                    <a:lstStyle/>
                    <a:p>
                      <a:pPr algn="l" fontAlgn="t"/>
                      <a:r>
                        <a:rPr lang="en-GB" sz="3300" cap="none" spc="0">
                          <a:solidFill>
                            <a:schemeClr val="tx1"/>
                          </a:solidFill>
                          <a:effectLst/>
                        </a:rPr>
                        <a:t>19</a:t>
                      </a:r>
                    </a:p>
                  </a:txBody>
                  <a:tcPr marL="280198" marR="143691" marT="215537" marB="21553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34</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1020</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Excellent</a:t>
                      </a:r>
                    </a:p>
                  </a:txBody>
                  <a:tcPr marL="280198" marR="143691" marT="215537" marB="21553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141526543"/>
                  </a:ext>
                </a:extLst>
              </a:tr>
              <a:tr h="1020210">
                <a:tc>
                  <a:txBody>
                    <a:bodyPr/>
                    <a:lstStyle/>
                    <a:p>
                      <a:pPr algn="l" fontAlgn="t"/>
                      <a:r>
                        <a:rPr lang="en-GB" sz="3300" cap="none" spc="0">
                          <a:solidFill>
                            <a:schemeClr val="tx1"/>
                          </a:solidFill>
                          <a:effectLst/>
                        </a:rPr>
                        <a:t>18</a:t>
                      </a:r>
                    </a:p>
                  </a:txBody>
                  <a:tcPr marL="280198" marR="143691" marT="215537" marB="21553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92</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1012</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dirty="0">
                          <a:solidFill>
                            <a:schemeClr val="tx1"/>
                          </a:solidFill>
                          <a:effectLst/>
                        </a:rPr>
                        <a:t>Poor</a:t>
                      </a:r>
                    </a:p>
                  </a:txBody>
                  <a:tcPr marL="280198" marR="143691" marT="215537" marB="21553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174941706"/>
                  </a:ext>
                </a:extLst>
              </a:tr>
            </a:tbl>
          </a:graphicData>
        </a:graphic>
      </p:graphicFrame>
    </p:spTree>
    <p:extLst>
      <p:ext uri="{BB962C8B-B14F-4D97-AF65-F5344CB8AC3E}">
        <p14:creationId xmlns:p14="http://schemas.microsoft.com/office/powerpoint/2010/main" val="246089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69A3B2-50B0-E938-B920-E744678BEBE7}"/>
              </a:ext>
            </a:extLst>
          </p:cNvPr>
          <p:cNvPicPr>
            <a:picLocks noChangeAspect="1"/>
          </p:cNvPicPr>
          <p:nvPr/>
        </p:nvPicPr>
        <p:blipFill>
          <a:blip r:embed="rId2"/>
          <a:stretch>
            <a:fillRect/>
          </a:stretch>
        </p:blipFill>
        <p:spPr>
          <a:xfrm>
            <a:off x="1667276" y="1227438"/>
            <a:ext cx="8514692" cy="4232737"/>
          </a:xfrm>
          <a:prstGeom prst="rect">
            <a:avLst/>
          </a:prstGeom>
        </p:spPr>
      </p:pic>
    </p:spTree>
    <p:extLst>
      <p:ext uri="{BB962C8B-B14F-4D97-AF65-F5344CB8AC3E}">
        <p14:creationId xmlns:p14="http://schemas.microsoft.com/office/powerpoint/2010/main" val="3532433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82E2C13-B7B5-8EFD-EB77-6F6FB1E7F689}"/>
              </a:ext>
            </a:extLst>
          </p:cNvPr>
          <p:cNvSpPr txBox="1"/>
          <p:nvPr/>
        </p:nvSpPr>
        <p:spPr>
          <a:xfrm>
            <a:off x="1902941" y="264296"/>
            <a:ext cx="6096000" cy="369332"/>
          </a:xfrm>
          <a:prstGeom prst="rect">
            <a:avLst/>
          </a:prstGeom>
          <a:noFill/>
        </p:spPr>
        <p:txBody>
          <a:bodyPr wrap="square">
            <a:spAutoFit/>
          </a:bodyPr>
          <a:lstStyle/>
          <a:p>
            <a:pPr algn="l" fontAlgn="base"/>
            <a:r>
              <a:rPr lang="en-GB" b="1" i="0" dirty="0">
                <a:solidFill>
                  <a:srgbClr val="273239"/>
                </a:solidFill>
                <a:effectLst/>
                <a:latin typeface="Source Sans 3"/>
              </a:rPr>
              <a:t>What is Data Visualization and Why is It Important?</a:t>
            </a:r>
          </a:p>
        </p:txBody>
      </p:sp>
      <p:sp>
        <p:nvSpPr>
          <p:cNvPr id="11" name="TextBox 10">
            <a:extLst>
              <a:ext uri="{FF2B5EF4-FFF2-40B4-BE49-F238E27FC236}">
                <a16:creationId xmlns:a16="http://schemas.microsoft.com/office/drawing/2014/main" id="{9926904A-93CA-D074-C6CF-FEEB949FCFA8}"/>
              </a:ext>
            </a:extLst>
          </p:cNvPr>
          <p:cNvSpPr txBox="1"/>
          <p:nvPr/>
        </p:nvSpPr>
        <p:spPr>
          <a:xfrm>
            <a:off x="362464" y="3340097"/>
            <a:ext cx="11607113" cy="707886"/>
          </a:xfrm>
          <a:prstGeom prst="rect">
            <a:avLst/>
          </a:prstGeom>
          <a:noFill/>
        </p:spPr>
        <p:txBody>
          <a:bodyPr wrap="square">
            <a:spAutoFit/>
          </a:bodyPr>
          <a:lstStyle/>
          <a:p>
            <a:r>
              <a:rPr lang="en-GB" sz="2000" b="0" i="0" dirty="0">
                <a:solidFill>
                  <a:srgbClr val="273239"/>
                </a:solidFill>
                <a:effectLst/>
                <a:latin typeface="Verdana" panose="020B0604030504040204" pitchFamily="34" charset="0"/>
                <a:ea typeface="Verdana" panose="020B0604030504040204" pitchFamily="34" charset="0"/>
              </a:rPr>
              <a:t>Data visualization uses charts, graphs and maps to present information clearly and simply. It turns complex data into visuals that are easy to understand.</a:t>
            </a:r>
            <a:endParaRPr lang="en-GB" sz="2000" dirty="0">
              <a:latin typeface="Verdana" panose="020B0604030504040204" pitchFamily="34" charset="0"/>
              <a:ea typeface="Verdana" panose="020B0604030504040204" pitchFamily="34" charset="0"/>
            </a:endParaRPr>
          </a:p>
        </p:txBody>
      </p:sp>
      <p:sp>
        <p:nvSpPr>
          <p:cNvPr id="13" name="TextBox 12">
            <a:extLst>
              <a:ext uri="{FF2B5EF4-FFF2-40B4-BE49-F238E27FC236}">
                <a16:creationId xmlns:a16="http://schemas.microsoft.com/office/drawing/2014/main" id="{1D010649-B60B-ABE0-1217-9033E0D37857}"/>
              </a:ext>
            </a:extLst>
          </p:cNvPr>
          <p:cNvSpPr txBox="1"/>
          <p:nvPr/>
        </p:nvSpPr>
        <p:spPr>
          <a:xfrm>
            <a:off x="444841" y="1325143"/>
            <a:ext cx="11524736" cy="1323439"/>
          </a:xfrm>
          <a:prstGeom prst="rect">
            <a:avLst/>
          </a:prstGeom>
          <a:noFill/>
        </p:spPr>
        <p:txBody>
          <a:bodyPr wrap="square">
            <a:spAutoFit/>
          </a:bodyPr>
          <a:lstStyle/>
          <a:p>
            <a:r>
              <a:rPr lang="en-GB" sz="2000" b="0" i="0" dirty="0">
                <a:solidFill>
                  <a:srgbClr val="000000"/>
                </a:solidFill>
                <a:effectLst/>
                <a:latin typeface="Verdana" panose="020B0604030504040204" pitchFamily="34" charset="0"/>
              </a:rPr>
              <a:t>Data visualization is an important aspect of machine learning (ML) as it helps to </a:t>
            </a:r>
            <a:r>
              <a:rPr lang="en-GB" sz="2000" b="0" i="0" dirty="0" err="1">
                <a:solidFill>
                  <a:srgbClr val="000000"/>
                </a:solidFill>
                <a:effectLst/>
                <a:latin typeface="Verdana" panose="020B0604030504040204" pitchFamily="34" charset="0"/>
              </a:rPr>
              <a:t>analyze</a:t>
            </a:r>
            <a:r>
              <a:rPr lang="en-GB" sz="2000" b="0" i="0" dirty="0">
                <a:solidFill>
                  <a:srgbClr val="000000"/>
                </a:solidFill>
                <a:effectLst/>
                <a:latin typeface="Verdana" panose="020B0604030504040204" pitchFamily="34" charset="0"/>
              </a:rPr>
              <a:t> and communicate patterns, trends, and insights in the data. Data visualization involves creating graphical representations of the data, which can help to identify patterns and relationships that may not be apparent from the raw data.</a:t>
            </a:r>
            <a:endParaRPr lang="en-GB" sz="2000" dirty="0"/>
          </a:p>
        </p:txBody>
      </p:sp>
    </p:spTree>
    <p:extLst>
      <p:ext uri="{BB962C8B-B14F-4D97-AF65-F5344CB8AC3E}">
        <p14:creationId xmlns:p14="http://schemas.microsoft.com/office/powerpoint/2010/main" val="3619878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D483B8-75C0-A06C-9315-2D6838011DCB}"/>
              </a:ext>
            </a:extLst>
          </p:cNvPr>
          <p:cNvSpPr txBox="1"/>
          <p:nvPr/>
        </p:nvSpPr>
        <p:spPr>
          <a:xfrm>
            <a:off x="3048000" y="247820"/>
            <a:ext cx="6096000" cy="369332"/>
          </a:xfrm>
          <a:prstGeom prst="rect">
            <a:avLst/>
          </a:prstGeom>
          <a:noFill/>
        </p:spPr>
        <p:txBody>
          <a:bodyPr wrap="square">
            <a:spAutoFit/>
          </a:bodyPr>
          <a:lstStyle/>
          <a:p>
            <a:pPr algn="l" fontAlgn="base"/>
            <a:r>
              <a:rPr lang="en-GB" b="1" i="0" dirty="0">
                <a:solidFill>
                  <a:srgbClr val="273239"/>
                </a:solidFill>
                <a:effectLst/>
                <a:latin typeface="Source Sans 3"/>
              </a:rPr>
              <a:t>Types of Data Visualization Charts</a:t>
            </a:r>
          </a:p>
        </p:txBody>
      </p:sp>
      <p:sp>
        <p:nvSpPr>
          <p:cNvPr id="7" name="TextBox 6">
            <a:extLst>
              <a:ext uri="{FF2B5EF4-FFF2-40B4-BE49-F238E27FC236}">
                <a16:creationId xmlns:a16="http://schemas.microsoft.com/office/drawing/2014/main" id="{FB7C7A1D-B9D3-61DC-0EB0-728E3C43882E}"/>
              </a:ext>
            </a:extLst>
          </p:cNvPr>
          <p:cNvSpPr txBox="1"/>
          <p:nvPr/>
        </p:nvSpPr>
        <p:spPr>
          <a:xfrm>
            <a:off x="671384" y="731789"/>
            <a:ext cx="10849232" cy="923330"/>
          </a:xfrm>
          <a:prstGeom prst="rect">
            <a:avLst/>
          </a:prstGeom>
          <a:noFill/>
        </p:spPr>
        <p:txBody>
          <a:bodyPr wrap="square">
            <a:spAutoFit/>
          </a:bodyPr>
          <a:lstStyle/>
          <a:p>
            <a:pPr algn="l" fontAlgn="base"/>
            <a:r>
              <a:rPr lang="en-GB" b="1" i="0" dirty="0">
                <a:solidFill>
                  <a:srgbClr val="273239"/>
                </a:solidFill>
                <a:effectLst/>
                <a:latin typeface="Nunito"/>
              </a:rPr>
              <a:t>1. Bar Charts</a:t>
            </a:r>
          </a:p>
          <a:p>
            <a:pPr algn="l" rtl="0" fontAlgn="base"/>
            <a:r>
              <a:rPr lang="en-GB" b="0" i="0" dirty="0">
                <a:solidFill>
                  <a:srgbClr val="273239"/>
                </a:solidFill>
                <a:effectLst/>
                <a:latin typeface="Nunito"/>
              </a:rPr>
              <a:t>Bar charts are used to compare values across different categories using rectangular bars. X-axis shows categories while Y-axis represents values. Common types include horizontal, stacked and grouped bar charts.</a:t>
            </a:r>
          </a:p>
        </p:txBody>
      </p:sp>
      <p:pic>
        <p:nvPicPr>
          <p:cNvPr id="1026" name="Picture 2" descr="bar-chart">
            <a:extLst>
              <a:ext uri="{FF2B5EF4-FFF2-40B4-BE49-F238E27FC236}">
                <a16:creationId xmlns:a16="http://schemas.microsoft.com/office/drawing/2014/main" id="{B361E32C-EB42-A6F3-DBF9-29B2D62CC5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2497" y="1942070"/>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77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8A8226-C5F4-6CA7-CB58-834BF2126210}"/>
              </a:ext>
            </a:extLst>
          </p:cNvPr>
          <p:cNvSpPr txBox="1"/>
          <p:nvPr/>
        </p:nvSpPr>
        <p:spPr>
          <a:xfrm>
            <a:off x="453082" y="408971"/>
            <a:ext cx="11475308" cy="923330"/>
          </a:xfrm>
          <a:prstGeom prst="rect">
            <a:avLst/>
          </a:prstGeom>
          <a:noFill/>
        </p:spPr>
        <p:txBody>
          <a:bodyPr wrap="square">
            <a:spAutoFit/>
          </a:bodyPr>
          <a:lstStyle/>
          <a:p>
            <a:pPr algn="l" fontAlgn="base"/>
            <a:r>
              <a:rPr lang="en-GB" b="1" i="0" dirty="0">
                <a:solidFill>
                  <a:srgbClr val="273239"/>
                </a:solidFill>
                <a:effectLst/>
                <a:latin typeface="Nunito"/>
              </a:rPr>
              <a:t>2. Line Charts</a:t>
            </a:r>
          </a:p>
          <a:p>
            <a:pPr algn="l" rtl="0" fontAlgn="base"/>
            <a:r>
              <a:rPr lang="en-GB" b="0" i="0" dirty="0">
                <a:solidFill>
                  <a:srgbClr val="273239"/>
                </a:solidFill>
                <a:effectLst/>
                <a:latin typeface="Nunito"/>
              </a:rPr>
              <a:t>Line charts show how values change over time by connecting data points with lines. They help visualize trends like increases, decreases or stability.</a:t>
            </a:r>
          </a:p>
        </p:txBody>
      </p:sp>
      <p:pic>
        <p:nvPicPr>
          <p:cNvPr id="2054" name="Picture 6" descr="line-chart">
            <a:extLst>
              <a:ext uri="{FF2B5EF4-FFF2-40B4-BE49-F238E27FC236}">
                <a16:creationId xmlns:a16="http://schemas.microsoft.com/office/drawing/2014/main" id="{EE4F3522-582F-0788-578D-F46A2103A2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2097" y="1579605"/>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237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EBD1CB-B9EC-206B-41B9-98B703189337}"/>
              </a:ext>
            </a:extLst>
          </p:cNvPr>
          <p:cNvSpPr txBox="1"/>
          <p:nvPr/>
        </p:nvSpPr>
        <p:spPr>
          <a:xfrm>
            <a:off x="337752" y="285403"/>
            <a:ext cx="11615352" cy="923330"/>
          </a:xfrm>
          <a:prstGeom prst="rect">
            <a:avLst/>
          </a:prstGeom>
          <a:noFill/>
        </p:spPr>
        <p:txBody>
          <a:bodyPr wrap="square">
            <a:spAutoFit/>
          </a:bodyPr>
          <a:lstStyle/>
          <a:p>
            <a:pPr algn="l" fontAlgn="base"/>
            <a:r>
              <a:rPr lang="en-GB" b="1" i="0" dirty="0">
                <a:solidFill>
                  <a:srgbClr val="273239"/>
                </a:solidFill>
                <a:effectLst/>
                <a:latin typeface="Nunito"/>
              </a:rPr>
              <a:t>3. Pie Charts</a:t>
            </a:r>
          </a:p>
          <a:p>
            <a:pPr algn="l" rtl="0" fontAlgn="base"/>
            <a:r>
              <a:rPr lang="en-GB" b="0" i="0" dirty="0">
                <a:solidFill>
                  <a:srgbClr val="273239"/>
                </a:solidFill>
                <a:effectLst/>
                <a:latin typeface="Nunito"/>
              </a:rPr>
              <a:t>Pie charts are round charts divided into slices, where each slice shows a part of the whole. The size of each slice represents its percentage.</a:t>
            </a:r>
          </a:p>
        </p:txBody>
      </p:sp>
      <p:pic>
        <p:nvPicPr>
          <p:cNvPr id="3076" name="Picture 4" descr="pie-chart-python">
            <a:extLst>
              <a:ext uri="{FF2B5EF4-FFF2-40B4-BE49-F238E27FC236}">
                <a16:creationId xmlns:a16="http://schemas.microsoft.com/office/drawing/2014/main" id="{39499F8B-537E-6A7C-5074-81246ACB12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4304" y="1650931"/>
            <a:ext cx="5448300"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751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2D113F-6EA5-E72A-CC6A-76EB1960D310}"/>
              </a:ext>
            </a:extLst>
          </p:cNvPr>
          <p:cNvSpPr txBox="1"/>
          <p:nvPr/>
        </p:nvSpPr>
        <p:spPr>
          <a:xfrm>
            <a:off x="420130" y="252451"/>
            <a:ext cx="11656540" cy="923330"/>
          </a:xfrm>
          <a:prstGeom prst="rect">
            <a:avLst/>
          </a:prstGeom>
          <a:noFill/>
        </p:spPr>
        <p:txBody>
          <a:bodyPr wrap="square">
            <a:spAutoFit/>
          </a:bodyPr>
          <a:lstStyle/>
          <a:p>
            <a:pPr algn="l" fontAlgn="base"/>
            <a:r>
              <a:rPr lang="en-GB" b="1" i="0" dirty="0">
                <a:solidFill>
                  <a:srgbClr val="273239"/>
                </a:solidFill>
                <a:effectLst/>
                <a:latin typeface="Nunito"/>
              </a:rPr>
              <a:t>4. Scatter Chart (Plots)</a:t>
            </a:r>
          </a:p>
          <a:p>
            <a:pPr algn="l" rtl="0" fontAlgn="base"/>
            <a:r>
              <a:rPr lang="en-GB" b="0" i="0" dirty="0">
                <a:solidFill>
                  <a:srgbClr val="273239"/>
                </a:solidFill>
                <a:effectLst/>
                <a:latin typeface="Nunito"/>
              </a:rPr>
              <a:t>Scatter charts use dots to show relationship between two numerical variables. X-axis shows the independent variable and Y-axis shows the dependent variable.</a:t>
            </a:r>
          </a:p>
        </p:txBody>
      </p:sp>
      <p:pic>
        <p:nvPicPr>
          <p:cNvPr id="4098" name="Picture 2" descr="scatter-plot">
            <a:extLst>
              <a:ext uri="{FF2B5EF4-FFF2-40B4-BE49-F238E27FC236}">
                <a16:creationId xmlns:a16="http://schemas.microsoft.com/office/drawing/2014/main" id="{44EE7C4B-4DC5-6FE3-A4A2-D71242E766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143000"/>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729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1E4CED-99CF-611C-56CB-7D4335949F7C}"/>
              </a:ext>
            </a:extLst>
          </p:cNvPr>
          <p:cNvSpPr txBox="1"/>
          <p:nvPr/>
        </p:nvSpPr>
        <p:spPr>
          <a:xfrm>
            <a:off x="403654" y="179854"/>
            <a:ext cx="11623589" cy="923330"/>
          </a:xfrm>
          <a:prstGeom prst="rect">
            <a:avLst/>
          </a:prstGeom>
          <a:noFill/>
        </p:spPr>
        <p:txBody>
          <a:bodyPr wrap="square">
            <a:spAutoFit/>
          </a:bodyPr>
          <a:lstStyle/>
          <a:p>
            <a:pPr algn="l" fontAlgn="base"/>
            <a:r>
              <a:rPr lang="en-GB" b="1" i="0" dirty="0">
                <a:solidFill>
                  <a:srgbClr val="273239"/>
                </a:solidFill>
                <a:effectLst/>
                <a:latin typeface="Nunito"/>
              </a:rPr>
              <a:t>5. ﻿Histogram</a:t>
            </a:r>
          </a:p>
          <a:p>
            <a:pPr algn="l" rtl="0" fontAlgn="base"/>
            <a:r>
              <a:rPr lang="en-GB" b="0" i="0" dirty="0">
                <a:solidFill>
                  <a:srgbClr val="273239"/>
                </a:solidFill>
                <a:effectLst/>
                <a:latin typeface="Nunito"/>
              </a:rPr>
              <a:t>A histogram displays the distribution of numerical data by grouping values into intervals (bins) and showing their frequency as bars. It helps reveal the shape, spread and patterns in the data.</a:t>
            </a:r>
          </a:p>
        </p:txBody>
      </p:sp>
      <p:pic>
        <p:nvPicPr>
          <p:cNvPr id="5122" name="Picture 2" descr="ML Histograms Plot">
            <a:extLst>
              <a:ext uri="{FF2B5EF4-FFF2-40B4-BE49-F238E27FC236}">
                <a16:creationId xmlns:a16="http://schemas.microsoft.com/office/drawing/2014/main" id="{90A5F0EC-E705-AA2E-445F-0529716BE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9506" y="1632924"/>
            <a:ext cx="6943725" cy="4590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527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9E51CC-3195-4939-89C1-0E46ABD84049}"/>
              </a:ext>
            </a:extLst>
          </p:cNvPr>
          <p:cNvSpPr>
            <a:spLocks noGrp="1"/>
          </p:cNvSpPr>
          <p:nvPr>
            <p:ph idx="1"/>
          </p:nvPr>
        </p:nvSpPr>
        <p:spPr>
          <a:xfrm>
            <a:off x="829962" y="453081"/>
            <a:ext cx="10966622" cy="5246087"/>
          </a:xfrm>
        </p:spPr>
        <p:txBody>
          <a:bodyPr>
            <a:normAutofit fontScale="70000" lnSpcReduction="20000"/>
          </a:bodyPr>
          <a:lstStyle/>
          <a:p>
            <a:pPr algn="l"/>
            <a:r>
              <a:rPr lang="en-GB" sz="4000" b="0" i="0" u="none" strike="noStrike" baseline="0" dirty="0">
                <a:solidFill>
                  <a:srgbClr val="EC821B"/>
                </a:solidFill>
                <a:latin typeface="CMSSBX10"/>
              </a:rPr>
              <a:t>Terminology</a:t>
            </a:r>
          </a:p>
          <a:p>
            <a:pPr algn="l"/>
            <a:endParaRPr lang="en-GB" sz="4000" b="0" i="0" u="none" strike="noStrike" baseline="0" dirty="0">
              <a:solidFill>
                <a:srgbClr val="EC821B"/>
              </a:solidFill>
              <a:latin typeface="CMSSBX10"/>
            </a:endParaRPr>
          </a:p>
          <a:p>
            <a:pPr algn="l"/>
            <a:r>
              <a:rPr lang="en-GB" sz="2800" b="0" i="0" u="none" strike="noStrike" baseline="0" dirty="0">
                <a:solidFill>
                  <a:srgbClr val="FF0000"/>
                </a:solidFill>
                <a:latin typeface="CMSSBX10"/>
              </a:rPr>
              <a:t>Sample</a:t>
            </a:r>
            <a:r>
              <a:rPr lang="en-GB" sz="2800" b="0" i="0" u="none" strike="noStrike" baseline="0" dirty="0">
                <a:solidFill>
                  <a:srgbClr val="23373B"/>
                </a:solidFill>
                <a:latin typeface="CMSSBX10"/>
              </a:rPr>
              <a:t> (Observation or Data): </a:t>
            </a:r>
            <a:r>
              <a:rPr lang="en-GB" sz="2800" b="0" i="0" u="none" strike="noStrike" baseline="0" dirty="0">
                <a:solidFill>
                  <a:srgbClr val="23373B"/>
                </a:solidFill>
                <a:latin typeface="CMSS9"/>
              </a:rPr>
              <a:t>item to process (</a:t>
            </a:r>
            <a:r>
              <a:rPr lang="en-GB" sz="2800" b="0" i="0" u="none" strike="noStrike" baseline="0" dirty="0">
                <a:solidFill>
                  <a:srgbClr val="23373B"/>
                </a:solidFill>
                <a:latin typeface="CMSSI9"/>
              </a:rPr>
              <a:t>e.g.</a:t>
            </a:r>
            <a:r>
              <a:rPr lang="en-GB" sz="2800" b="0" i="0" u="none" strike="noStrike" baseline="0" dirty="0">
                <a:solidFill>
                  <a:srgbClr val="23373B"/>
                </a:solidFill>
                <a:latin typeface="CMSS9"/>
              </a:rPr>
              <a:t>, classify). </a:t>
            </a:r>
          </a:p>
          <a:p>
            <a:pPr marL="0" indent="0" algn="l">
              <a:buNone/>
            </a:pPr>
            <a:r>
              <a:rPr lang="en-GB" dirty="0">
                <a:solidFill>
                  <a:srgbClr val="23373B"/>
                </a:solidFill>
                <a:latin typeface="CMSS9"/>
              </a:rPr>
              <a:t>    </a:t>
            </a:r>
            <a:r>
              <a:rPr lang="en-GB" sz="2800" b="0" i="0" u="none" strike="noStrike" baseline="0" dirty="0">
                <a:solidFill>
                  <a:srgbClr val="23373B"/>
                </a:solidFill>
                <a:latin typeface="CMSSI9"/>
              </a:rPr>
              <a:t>Example: an</a:t>
            </a:r>
            <a:r>
              <a:rPr lang="ar-DZ" sz="2800" b="0" i="0" u="none" strike="noStrike" baseline="0" dirty="0">
                <a:solidFill>
                  <a:srgbClr val="23373B"/>
                </a:solidFill>
                <a:latin typeface="CMSSI9"/>
              </a:rPr>
              <a:t> </a:t>
            </a:r>
            <a:r>
              <a:rPr lang="en-GB" sz="2800" b="0" i="0" u="none" strike="noStrike" baseline="0" dirty="0">
                <a:solidFill>
                  <a:srgbClr val="23373B"/>
                </a:solidFill>
                <a:latin typeface="CMSSI9"/>
              </a:rPr>
              <a:t>individual, a document, a picture, a sound, a video. . .</a:t>
            </a:r>
          </a:p>
          <a:p>
            <a:pPr marL="0" indent="0" algn="l">
              <a:buNone/>
            </a:pPr>
            <a:endParaRPr lang="en-GB" sz="2800" b="0" i="0" u="none" strike="noStrike" baseline="0" dirty="0">
              <a:solidFill>
                <a:srgbClr val="23373B"/>
              </a:solidFill>
              <a:latin typeface="CMSSI9"/>
            </a:endParaRPr>
          </a:p>
          <a:p>
            <a:r>
              <a:rPr lang="en-GB" sz="2800" b="0" i="0" u="none" strike="noStrike" baseline="0" dirty="0">
                <a:solidFill>
                  <a:srgbClr val="FF0000"/>
                </a:solidFill>
                <a:latin typeface="CMSSBX10"/>
              </a:rPr>
              <a:t>Features</a:t>
            </a:r>
            <a:r>
              <a:rPr lang="en-GB" sz="2800" b="0" i="0" u="none" strike="noStrike" baseline="0" dirty="0">
                <a:solidFill>
                  <a:srgbClr val="23373B"/>
                </a:solidFill>
                <a:latin typeface="CMSSBX10"/>
              </a:rPr>
              <a:t> (Input)</a:t>
            </a:r>
            <a:r>
              <a:rPr lang="en-GB" sz="2800" b="0" i="0" u="none" strike="noStrike" baseline="0" dirty="0">
                <a:solidFill>
                  <a:srgbClr val="23373B"/>
                </a:solidFill>
                <a:latin typeface="CMSS9"/>
              </a:rPr>
              <a:t>: set of distinct traits that can be used to describe each</a:t>
            </a:r>
            <a:r>
              <a:rPr lang="ar-DZ" sz="2800" b="0" i="0" u="none" strike="noStrike" baseline="0" dirty="0">
                <a:solidFill>
                  <a:srgbClr val="23373B"/>
                </a:solidFill>
                <a:latin typeface="CMSS9"/>
              </a:rPr>
              <a:t> </a:t>
            </a:r>
            <a:r>
              <a:rPr lang="en-GB" sz="2800" b="0" i="0" u="none" strike="noStrike" baseline="0" dirty="0">
                <a:solidFill>
                  <a:srgbClr val="23373B"/>
                </a:solidFill>
                <a:latin typeface="CMSS9"/>
              </a:rPr>
              <a:t>sample in a quantitative manner. Represented as a multi-dimensional vector</a:t>
            </a:r>
            <a:r>
              <a:rPr lang="ar-DZ" sz="2800" b="0" i="0" u="none" strike="noStrike" baseline="0" dirty="0">
                <a:solidFill>
                  <a:srgbClr val="23373B"/>
                </a:solidFill>
                <a:latin typeface="CMSS9"/>
              </a:rPr>
              <a:t> </a:t>
            </a:r>
            <a:r>
              <a:rPr lang="en-GB" sz="2800" b="0" i="0" u="none" strike="noStrike" baseline="0" dirty="0">
                <a:solidFill>
                  <a:srgbClr val="23373B"/>
                </a:solidFill>
                <a:latin typeface="CMSS9"/>
              </a:rPr>
              <a:t>usually denoted by </a:t>
            </a:r>
            <a:r>
              <a:rPr lang="en-GB" sz="2800" b="0" i="0" u="none" strike="noStrike" baseline="0" dirty="0">
                <a:solidFill>
                  <a:srgbClr val="23373B"/>
                </a:solidFill>
                <a:latin typeface="CMMIB9"/>
              </a:rPr>
              <a:t>x</a:t>
            </a:r>
            <a:r>
              <a:rPr lang="en-GB" sz="2800" b="0" i="0" u="none" strike="noStrike" baseline="0" dirty="0">
                <a:solidFill>
                  <a:srgbClr val="23373B"/>
                </a:solidFill>
                <a:latin typeface="CMSS9"/>
              </a:rPr>
              <a:t>. </a:t>
            </a:r>
            <a:r>
              <a:rPr lang="en-GB" sz="2800" b="0" i="0" u="none" strike="noStrike" baseline="0" dirty="0">
                <a:solidFill>
                  <a:srgbClr val="23373B"/>
                </a:solidFill>
                <a:latin typeface="CMSSI9"/>
              </a:rPr>
              <a:t>Example: size, weight, citizenship, . . .</a:t>
            </a:r>
          </a:p>
          <a:p>
            <a:r>
              <a:rPr lang="en-GB" dirty="0">
                <a:solidFill>
                  <a:srgbClr val="FF0000"/>
                </a:solidFill>
                <a:latin typeface="CMSSBX10"/>
              </a:rPr>
              <a:t>Label</a:t>
            </a:r>
            <a:r>
              <a:rPr lang="en-GB" dirty="0">
                <a:solidFill>
                  <a:srgbClr val="23373B"/>
                </a:solidFill>
                <a:latin typeface="CMSSBX10"/>
              </a:rPr>
              <a:t> (Output): </a:t>
            </a:r>
            <a:r>
              <a:rPr lang="en-GB" dirty="0">
                <a:solidFill>
                  <a:srgbClr val="23373B"/>
                </a:solidFill>
                <a:latin typeface="CMSS9"/>
              </a:rPr>
              <a:t>The class or outcome assigned to a sample. </a:t>
            </a:r>
          </a:p>
          <a:p>
            <a:pPr algn="l"/>
            <a:endParaRPr lang="en-GB" sz="2800" b="0" i="0" u="none" strike="noStrike" baseline="0" dirty="0">
              <a:solidFill>
                <a:srgbClr val="23373B"/>
              </a:solidFill>
              <a:latin typeface="CMSSI9"/>
            </a:endParaRPr>
          </a:p>
          <a:p>
            <a:pPr algn="l"/>
            <a:r>
              <a:rPr lang="en-GB" sz="2800" b="0" i="0" u="none" strike="noStrike" baseline="0" dirty="0">
                <a:solidFill>
                  <a:srgbClr val="FF0000"/>
                </a:solidFill>
                <a:latin typeface="CMSSBX10"/>
              </a:rPr>
              <a:t>Training set</a:t>
            </a:r>
            <a:r>
              <a:rPr lang="en-GB" sz="2800" b="0" i="0" u="none" strike="noStrike" baseline="0" dirty="0">
                <a:solidFill>
                  <a:srgbClr val="23373B"/>
                </a:solidFill>
                <a:latin typeface="CMSSBX10"/>
              </a:rPr>
              <a:t>: </a:t>
            </a:r>
            <a:r>
              <a:rPr lang="en-GB" sz="2800" b="0" i="0" u="none" strike="noStrike" baseline="0" dirty="0">
                <a:solidFill>
                  <a:srgbClr val="23373B"/>
                </a:solidFill>
                <a:latin typeface="CMSS9"/>
              </a:rPr>
              <a:t>Set of data used to discover potentially predictive relationships.</a:t>
            </a:r>
          </a:p>
          <a:p>
            <a:pPr algn="l"/>
            <a:r>
              <a:rPr lang="en-GB" sz="2800" b="0" i="0" u="none" strike="noStrike" baseline="0" dirty="0">
                <a:solidFill>
                  <a:srgbClr val="FF0000"/>
                </a:solidFill>
                <a:latin typeface="CMSSBX10"/>
              </a:rPr>
              <a:t>Validation set</a:t>
            </a:r>
            <a:r>
              <a:rPr lang="en-GB" sz="2800" b="0" i="0" u="none" strike="noStrike" baseline="0" dirty="0">
                <a:solidFill>
                  <a:srgbClr val="23373B"/>
                </a:solidFill>
                <a:latin typeface="CMSSBX10"/>
              </a:rPr>
              <a:t>: </a:t>
            </a:r>
            <a:r>
              <a:rPr lang="en-GB" sz="2800" b="0" i="0" u="none" strike="noStrike" baseline="0" dirty="0">
                <a:solidFill>
                  <a:srgbClr val="23373B"/>
                </a:solidFill>
                <a:latin typeface="CMSS9"/>
              </a:rPr>
              <a:t>Set used to adjust the model hyperparameters.</a:t>
            </a:r>
          </a:p>
          <a:p>
            <a:pPr algn="l"/>
            <a:r>
              <a:rPr lang="en-GB" sz="2800" b="0" i="0" u="none" strike="noStrike" baseline="0" dirty="0">
                <a:solidFill>
                  <a:srgbClr val="FF0000"/>
                </a:solidFill>
                <a:latin typeface="CMSSBX10"/>
              </a:rPr>
              <a:t>Testing set</a:t>
            </a:r>
            <a:r>
              <a:rPr lang="en-GB" sz="2800" b="0" i="0" u="none" strike="noStrike" baseline="0" dirty="0">
                <a:solidFill>
                  <a:srgbClr val="23373B"/>
                </a:solidFill>
                <a:latin typeface="CMSSBX10"/>
              </a:rPr>
              <a:t>: </a:t>
            </a:r>
            <a:r>
              <a:rPr lang="en-GB" sz="2800" b="0" i="0" u="none" strike="noStrike" baseline="0" dirty="0">
                <a:solidFill>
                  <a:srgbClr val="23373B"/>
                </a:solidFill>
                <a:latin typeface="CMSS9"/>
              </a:rPr>
              <a:t>Set used to assess the performance of a model.</a:t>
            </a:r>
          </a:p>
          <a:p>
            <a:pPr algn="l"/>
            <a:endParaRPr lang="en-GB" sz="2800" b="0" i="0" u="none" strike="noStrike" baseline="0" dirty="0">
              <a:solidFill>
                <a:srgbClr val="23373B"/>
              </a:solidFill>
              <a:latin typeface="CMSS9"/>
            </a:endParaRPr>
          </a:p>
          <a:p>
            <a:pPr marL="0" indent="0" algn="l">
              <a:buNone/>
            </a:pPr>
            <a:r>
              <a:rPr lang="en-GB" sz="2800" b="0" i="0" u="none" strike="noStrike" baseline="0" dirty="0">
                <a:solidFill>
                  <a:srgbClr val="23373B"/>
                </a:solidFill>
                <a:latin typeface="CMSS9"/>
              </a:rPr>
              <a:t>prediction is often denoted by </a:t>
            </a:r>
            <a:r>
              <a:rPr lang="en-GB" sz="2800" b="0" i="0" u="none" strike="noStrike" baseline="0" dirty="0">
                <a:solidFill>
                  <a:srgbClr val="23373B"/>
                </a:solidFill>
                <a:latin typeface="CMMIB9"/>
              </a:rPr>
              <a:t>y </a:t>
            </a:r>
            <a:r>
              <a:rPr lang="en-GB" sz="2800" b="0" i="0" u="none" strike="noStrike" baseline="0" dirty="0">
                <a:solidFill>
                  <a:srgbClr val="23373B"/>
                </a:solidFill>
                <a:latin typeface="CMSS9"/>
              </a:rPr>
              <a:t>and the desired/targeted class by </a:t>
            </a:r>
            <a:r>
              <a:rPr lang="en-GB" sz="2800" b="0" i="0" u="none" strike="noStrike" baseline="0" dirty="0">
                <a:solidFill>
                  <a:srgbClr val="23373B"/>
                </a:solidFill>
                <a:latin typeface="CMMIB9"/>
              </a:rPr>
              <a:t>d </a:t>
            </a:r>
            <a:r>
              <a:rPr lang="en-GB" sz="2800" b="0" i="0" u="none" strike="noStrike" baseline="0" dirty="0">
                <a:solidFill>
                  <a:srgbClr val="23373B"/>
                </a:solidFill>
                <a:latin typeface="CMSS9"/>
              </a:rPr>
              <a:t>or </a:t>
            </a:r>
            <a:r>
              <a:rPr lang="en-GB" sz="2800" b="0" i="0" u="none" strike="noStrike" baseline="0" dirty="0">
                <a:solidFill>
                  <a:srgbClr val="23373B"/>
                </a:solidFill>
                <a:latin typeface="CMMIB9"/>
              </a:rPr>
              <a:t>t</a:t>
            </a:r>
            <a:r>
              <a:rPr lang="en-GB" sz="2800" b="0" i="0" u="none" strike="noStrike" baseline="0" dirty="0">
                <a:solidFill>
                  <a:srgbClr val="23373B"/>
                </a:solidFill>
                <a:latin typeface="CMSS9"/>
              </a:rPr>
              <a:t>.</a:t>
            </a:r>
            <a:r>
              <a:rPr lang="ar-DZ" sz="2800" b="0" i="0" u="none" strike="noStrike" baseline="0" dirty="0">
                <a:solidFill>
                  <a:srgbClr val="23373B"/>
                </a:solidFill>
                <a:latin typeface="CMSS9"/>
              </a:rPr>
              <a:t> </a:t>
            </a:r>
            <a:r>
              <a:rPr lang="en-GB" sz="2800" b="0" i="0" u="none" strike="noStrike" baseline="0" dirty="0">
                <a:solidFill>
                  <a:srgbClr val="23373B"/>
                </a:solidFill>
                <a:latin typeface="CMSSI9"/>
              </a:rPr>
              <a:t>Example: man/woman, wealth, education level,</a:t>
            </a:r>
            <a:endParaRPr lang="en-GB" dirty="0"/>
          </a:p>
        </p:txBody>
      </p:sp>
    </p:spTree>
    <p:extLst>
      <p:ext uri="{BB962C8B-B14F-4D97-AF65-F5344CB8AC3E}">
        <p14:creationId xmlns:p14="http://schemas.microsoft.com/office/powerpoint/2010/main" val="3353856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DD8B91-F480-AE63-629B-58398E045A8D}"/>
              </a:ext>
            </a:extLst>
          </p:cNvPr>
          <p:cNvSpPr>
            <a:spLocks noGrp="1"/>
          </p:cNvSpPr>
          <p:nvPr>
            <p:ph idx="1"/>
          </p:nvPr>
        </p:nvSpPr>
        <p:spPr>
          <a:xfrm>
            <a:off x="666236" y="2017612"/>
            <a:ext cx="10859528" cy="3847729"/>
          </a:xfrm>
        </p:spPr>
        <p:txBody>
          <a:bodyPr>
            <a:noAutofit/>
          </a:bodyPr>
          <a:lstStyle/>
          <a:p>
            <a:pPr marL="0" indent="0">
              <a:buNone/>
            </a:pPr>
            <a:r>
              <a:rPr lang="en-GB" sz="2000" b="0" i="0" u="none" strike="noStrike" baseline="0" dirty="0">
                <a:solidFill>
                  <a:srgbClr val="1D1F20"/>
                </a:solidFill>
                <a:latin typeface="Proxima Nova Rg"/>
              </a:rPr>
              <a:t>   There are several machine learning models, most commonly supervised and unsupervised learning. </a:t>
            </a:r>
            <a:endParaRPr lang="en-GB" sz="2000" dirty="0"/>
          </a:p>
          <a:p>
            <a:r>
              <a:rPr lang="en-GB" sz="2000" b="1" i="0" u="none" strike="noStrike" baseline="0" dirty="0">
                <a:solidFill>
                  <a:srgbClr val="1D1F20"/>
                </a:solidFill>
                <a:latin typeface="Proxima Nova Rg"/>
              </a:rPr>
              <a:t>Supervised learning </a:t>
            </a:r>
            <a:r>
              <a:rPr lang="en-GB" sz="2000" b="0" i="0" u="none" strike="noStrike" baseline="0" dirty="0">
                <a:solidFill>
                  <a:srgbClr val="1D1F20"/>
                </a:solidFill>
                <a:latin typeface="Proxima Nova Rg"/>
              </a:rPr>
              <a:t>is possible when training data contains input and output values. Each data set with input and target output is known as a training signal. Training is based on the discrepancy between the processed and captured results when input data is presented to the model. </a:t>
            </a:r>
          </a:p>
          <a:p>
            <a:endParaRPr lang="en-GB" sz="2000" b="0" i="0" u="none" strike="noStrike" baseline="0" dirty="0">
              <a:solidFill>
                <a:srgbClr val="1D1F20"/>
              </a:solidFill>
              <a:latin typeface="Proxima Nova Rg"/>
            </a:endParaRPr>
          </a:p>
          <a:p>
            <a:r>
              <a:rPr lang="en-GB" sz="2000" b="1" i="0" u="none" strike="noStrike" baseline="0" dirty="0">
                <a:solidFill>
                  <a:srgbClr val="1D1F20"/>
                </a:solidFill>
                <a:latin typeface="Proxima Nova Rg"/>
              </a:rPr>
              <a:t>Unsupervised learning </a:t>
            </a:r>
            <a:r>
              <a:rPr lang="en-GB" sz="2000" b="0" i="0" u="none" strike="noStrike" baseline="0" dirty="0">
                <a:solidFill>
                  <a:srgbClr val="1D1F20"/>
                </a:solidFill>
                <a:latin typeface="Proxima Nova Rg"/>
              </a:rPr>
              <a:t>is applied to discover patterns in the data. Additional data is used to </a:t>
            </a:r>
            <a:r>
              <a:rPr lang="en-GB" sz="2000" b="0" i="0" u="none" strike="noStrike" baseline="0" dirty="0">
                <a:solidFill>
                  <a:srgbClr val="000000"/>
                </a:solidFill>
                <a:latin typeface="Proxima Nova Rg"/>
              </a:rPr>
              <a:t>fi</a:t>
            </a:r>
            <a:r>
              <a:rPr lang="en-GB" sz="2000" b="0" i="0" u="none" strike="noStrike" baseline="0" dirty="0">
                <a:solidFill>
                  <a:srgbClr val="1D1F20"/>
                </a:solidFill>
                <a:latin typeface="Proxima Nova Rg"/>
              </a:rPr>
              <a:t>nd out matches for the patterns or clusters. It is also an iterative process that gets more re</a:t>
            </a:r>
            <a:r>
              <a:rPr lang="en-GB" sz="2000" b="0" i="0" u="none" strike="noStrike" baseline="0" dirty="0">
                <a:solidFill>
                  <a:srgbClr val="000000"/>
                </a:solidFill>
                <a:latin typeface="Proxima Nova Rg"/>
              </a:rPr>
              <a:t>fi</a:t>
            </a:r>
            <a:r>
              <a:rPr lang="en-GB" sz="2000" b="0" i="0" u="none" strike="noStrike" baseline="0" dirty="0">
                <a:solidFill>
                  <a:srgbClr val="1D1F20"/>
                </a:solidFill>
                <a:latin typeface="Proxima Nova Rg"/>
              </a:rPr>
              <a:t>ned with correlation against expected patterns or clusters. There is no initial reference dataset in this method. </a:t>
            </a:r>
            <a:endParaRPr lang="en-GB" sz="2000" dirty="0"/>
          </a:p>
        </p:txBody>
      </p:sp>
      <p:sp>
        <p:nvSpPr>
          <p:cNvPr id="5" name="TextBox 4">
            <a:extLst>
              <a:ext uri="{FF2B5EF4-FFF2-40B4-BE49-F238E27FC236}">
                <a16:creationId xmlns:a16="http://schemas.microsoft.com/office/drawing/2014/main" id="{D54DEB8F-7E4E-E381-CE66-FE7EE80B0D65}"/>
              </a:ext>
            </a:extLst>
          </p:cNvPr>
          <p:cNvSpPr txBox="1"/>
          <p:nvPr/>
        </p:nvSpPr>
        <p:spPr>
          <a:xfrm>
            <a:off x="666236" y="520585"/>
            <a:ext cx="10946027" cy="707886"/>
          </a:xfrm>
          <a:prstGeom prst="rect">
            <a:avLst/>
          </a:prstGeom>
          <a:noFill/>
        </p:spPr>
        <p:txBody>
          <a:bodyPr wrap="square">
            <a:spAutoFit/>
          </a:bodyPr>
          <a:lstStyle/>
          <a:p>
            <a:pPr marL="285750" indent="-285750">
              <a:buFont typeface="Arial" panose="020B0604020202020204" pitchFamily="34" charset="0"/>
              <a:buChar char="•"/>
            </a:pPr>
            <a:r>
              <a:rPr lang="en-GB" sz="2000" b="1" i="0" u="none" strike="noStrike" baseline="0" dirty="0">
                <a:solidFill>
                  <a:srgbClr val="1D1F20"/>
                </a:solidFill>
                <a:latin typeface="Proxima Nova Rg"/>
              </a:rPr>
              <a:t>Training the model : </a:t>
            </a:r>
            <a:r>
              <a:rPr lang="en-GB" sz="2000" b="0" i="0" u="none" strike="noStrike" baseline="0" dirty="0">
                <a:solidFill>
                  <a:srgbClr val="1D1F20"/>
                </a:solidFill>
                <a:latin typeface="Proxima Nova Rg"/>
              </a:rPr>
              <a:t>Once a model is selected, it is time to start training it. The </a:t>
            </a:r>
            <a:r>
              <a:rPr lang="en-GB" sz="2000" b="0" i="0" u="none" strike="noStrike" baseline="0" dirty="0">
                <a:solidFill>
                  <a:srgbClr val="000000"/>
                </a:solidFill>
                <a:latin typeface="Proxima Nova Rg"/>
              </a:rPr>
              <a:t>fi</a:t>
            </a:r>
            <a:r>
              <a:rPr lang="en-GB" sz="2000" b="0" i="0" u="none" strike="noStrike" baseline="0" dirty="0">
                <a:solidFill>
                  <a:srgbClr val="1D1F20"/>
                </a:solidFill>
                <a:latin typeface="Proxima Nova Rg"/>
              </a:rPr>
              <a:t>rst step involves preparing the appropriate algorithms for the task at hand.</a:t>
            </a:r>
          </a:p>
        </p:txBody>
      </p:sp>
    </p:spTree>
    <p:extLst>
      <p:ext uri="{BB962C8B-B14F-4D97-AF65-F5344CB8AC3E}">
        <p14:creationId xmlns:p14="http://schemas.microsoft.com/office/powerpoint/2010/main" val="16218446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DC2AD8-3F48-58CF-F5EE-271C17FD6ABB}"/>
              </a:ext>
            </a:extLst>
          </p:cNvPr>
          <p:cNvSpPr txBox="1"/>
          <p:nvPr/>
        </p:nvSpPr>
        <p:spPr>
          <a:xfrm>
            <a:off x="1103871" y="1176633"/>
            <a:ext cx="10330248" cy="1200329"/>
          </a:xfrm>
          <a:prstGeom prst="rect">
            <a:avLst/>
          </a:prstGeom>
          <a:noFill/>
        </p:spPr>
        <p:txBody>
          <a:bodyPr wrap="square">
            <a:spAutoFit/>
          </a:bodyPr>
          <a:lstStyle/>
          <a:p>
            <a:pPr algn="l"/>
            <a:r>
              <a:rPr lang="en-GB" sz="1800" b="1" i="0" u="none" strike="noStrike" baseline="0" dirty="0">
                <a:solidFill>
                  <a:srgbClr val="FF0000"/>
                </a:solidFill>
                <a:latin typeface="Calibri" panose="020F0502020204030204" pitchFamily="34" charset="0"/>
              </a:rPr>
              <a:t>Example</a:t>
            </a:r>
          </a:p>
          <a:p>
            <a:pPr algn="l"/>
            <a:endParaRPr lang="en-GB" sz="1800" b="0" i="0" u="none" strike="noStrike" baseline="0" dirty="0">
              <a:latin typeface="Calibri" panose="020F0502020204030204" pitchFamily="34" charset="0"/>
            </a:endParaRPr>
          </a:p>
          <a:p>
            <a:pPr algn="l"/>
            <a:r>
              <a:rPr lang="en-GB" sz="1800" b="0" i="0" u="none" strike="noStrike" baseline="0" dirty="0">
                <a:latin typeface="Calibri" panose="020F0502020204030204" pitchFamily="34" charset="0"/>
              </a:rPr>
              <a:t>Consider the following data regarding patients entering a clinic. The data consists of the gender</a:t>
            </a:r>
          </a:p>
          <a:p>
            <a:pPr algn="l"/>
            <a:r>
              <a:rPr lang="en-GB" sz="1800" b="0" i="0" u="none" strike="noStrike" baseline="0" dirty="0">
                <a:latin typeface="Calibri" panose="020F0502020204030204" pitchFamily="34" charset="0"/>
              </a:rPr>
              <a:t>and age of the patients and each patient is </a:t>
            </a:r>
            <a:r>
              <a:rPr lang="en-GB" sz="1800" b="0" i="0" u="none" strike="noStrike" baseline="0" dirty="0" err="1">
                <a:latin typeface="Calibri" panose="020F0502020204030204" pitchFamily="34" charset="0"/>
              </a:rPr>
              <a:t>labeled</a:t>
            </a:r>
            <a:r>
              <a:rPr lang="en-GB" sz="1800" b="0" i="0" u="none" strike="noStrike" baseline="0" dirty="0">
                <a:latin typeface="Calibri" panose="020F0502020204030204" pitchFamily="34" charset="0"/>
              </a:rPr>
              <a:t> as “healthy” or “sick”.</a:t>
            </a:r>
            <a:endParaRPr lang="en-GB" dirty="0"/>
          </a:p>
        </p:txBody>
      </p:sp>
      <p:pic>
        <p:nvPicPr>
          <p:cNvPr id="7" name="Picture 6">
            <a:extLst>
              <a:ext uri="{FF2B5EF4-FFF2-40B4-BE49-F238E27FC236}">
                <a16:creationId xmlns:a16="http://schemas.microsoft.com/office/drawing/2014/main" id="{96EF13D2-35CC-CB46-7289-B526396A1D86}"/>
              </a:ext>
            </a:extLst>
          </p:cNvPr>
          <p:cNvPicPr>
            <a:picLocks noChangeAspect="1"/>
          </p:cNvPicPr>
          <p:nvPr/>
        </p:nvPicPr>
        <p:blipFill>
          <a:blip r:embed="rId2"/>
          <a:stretch>
            <a:fillRect/>
          </a:stretch>
        </p:blipFill>
        <p:spPr>
          <a:xfrm>
            <a:off x="3470739" y="2788275"/>
            <a:ext cx="3423751" cy="2747285"/>
          </a:xfrm>
          <a:prstGeom prst="rect">
            <a:avLst/>
          </a:prstGeom>
        </p:spPr>
      </p:pic>
    </p:spTree>
    <p:extLst>
      <p:ext uri="{BB962C8B-B14F-4D97-AF65-F5344CB8AC3E}">
        <p14:creationId xmlns:p14="http://schemas.microsoft.com/office/powerpoint/2010/main" val="2863239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Supervised-learning">
            <a:extLst>
              <a:ext uri="{FF2B5EF4-FFF2-40B4-BE49-F238E27FC236}">
                <a16:creationId xmlns:a16="http://schemas.microsoft.com/office/drawing/2014/main" id="{7FEEB572-87D9-6401-F4D3-5C82445897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557213"/>
            <a:ext cx="9525000" cy="574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6775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Unsupervised-learning">
            <a:extLst>
              <a:ext uri="{FF2B5EF4-FFF2-40B4-BE49-F238E27FC236}">
                <a16:creationId xmlns:a16="http://schemas.microsoft.com/office/drawing/2014/main" id="{6D7D3DD1-D377-2FFC-51D6-B5A549DCC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657350"/>
            <a:ext cx="9525000"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440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3C5A60-E9EF-8278-1B7C-34E908E120AA}"/>
              </a:ext>
            </a:extLst>
          </p:cNvPr>
          <p:cNvSpPr txBox="1"/>
          <p:nvPr/>
        </p:nvSpPr>
        <p:spPr>
          <a:xfrm>
            <a:off x="910281" y="1002095"/>
            <a:ext cx="10371438" cy="1200329"/>
          </a:xfrm>
          <a:prstGeom prst="rect">
            <a:avLst/>
          </a:prstGeom>
          <a:noFill/>
        </p:spPr>
        <p:txBody>
          <a:bodyPr wrap="square">
            <a:spAutoFit/>
          </a:bodyPr>
          <a:lstStyle/>
          <a:p>
            <a:pPr algn="l"/>
            <a:r>
              <a:rPr lang="en-GB" sz="1800" b="1" i="0" u="none" strike="noStrike" baseline="0" dirty="0">
                <a:solidFill>
                  <a:srgbClr val="FF0000"/>
                </a:solidFill>
                <a:latin typeface="Calibri" panose="020F0502020204030204" pitchFamily="34" charset="0"/>
              </a:rPr>
              <a:t>Example</a:t>
            </a:r>
          </a:p>
          <a:p>
            <a:pPr algn="l"/>
            <a:endParaRPr lang="en-GB" sz="1800" b="0" i="0" u="none" strike="noStrike" baseline="0" dirty="0">
              <a:latin typeface="Calibri" panose="020F0502020204030204" pitchFamily="34" charset="0"/>
            </a:endParaRPr>
          </a:p>
          <a:p>
            <a:pPr algn="l"/>
            <a:r>
              <a:rPr lang="en-GB" sz="1800" b="0" i="0" u="none" strike="noStrike" baseline="0" dirty="0">
                <a:latin typeface="Calibri" panose="020F0502020204030204" pitchFamily="34" charset="0"/>
              </a:rPr>
              <a:t>Consider the following data regarding patients entering a clinic. The data consists of the gender</a:t>
            </a:r>
          </a:p>
          <a:p>
            <a:pPr algn="l"/>
            <a:r>
              <a:rPr lang="en-GB" sz="1800" b="0" i="0" u="none" strike="noStrike" baseline="0" dirty="0">
                <a:latin typeface="Calibri" panose="020F0502020204030204" pitchFamily="34" charset="0"/>
              </a:rPr>
              <a:t>and age of the patients.</a:t>
            </a:r>
            <a:endParaRPr lang="en-GB" dirty="0"/>
          </a:p>
        </p:txBody>
      </p:sp>
      <p:pic>
        <p:nvPicPr>
          <p:cNvPr id="7" name="Picture 6">
            <a:extLst>
              <a:ext uri="{FF2B5EF4-FFF2-40B4-BE49-F238E27FC236}">
                <a16:creationId xmlns:a16="http://schemas.microsoft.com/office/drawing/2014/main" id="{FE2D8DC3-87F6-8AA2-553F-08DDECB71437}"/>
              </a:ext>
            </a:extLst>
          </p:cNvPr>
          <p:cNvPicPr>
            <a:picLocks noChangeAspect="1"/>
          </p:cNvPicPr>
          <p:nvPr/>
        </p:nvPicPr>
        <p:blipFill>
          <a:blip r:embed="rId2"/>
          <a:stretch>
            <a:fillRect/>
          </a:stretch>
        </p:blipFill>
        <p:spPr>
          <a:xfrm>
            <a:off x="4139381" y="2794715"/>
            <a:ext cx="2484653" cy="2984612"/>
          </a:xfrm>
          <a:prstGeom prst="rect">
            <a:avLst/>
          </a:prstGeom>
        </p:spPr>
      </p:pic>
    </p:spTree>
    <p:extLst>
      <p:ext uri="{BB962C8B-B14F-4D97-AF65-F5344CB8AC3E}">
        <p14:creationId xmlns:p14="http://schemas.microsoft.com/office/powerpoint/2010/main" val="24584086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41891F-2608-7024-AE0F-A4735F35EC2A}"/>
              </a:ext>
            </a:extLst>
          </p:cNvPr>
          <p:cNvSpPr txBox="1"/>
          <p:nvPr/>
        </p:nvSpPr>
        <p:spPr>
          <a:xfrm>
            <a:off x="815545" y="745746"/>
            <a:ext cx="10354963" cy="2062103"/>
          </a:xfrm>
          <a:prstGeom prst="rect">
            <a:avLst/>
          </a:prstGeom>
          <a:noFill/>
        </p:spPr>
        <p:txBody>
          <a:bodyPr wrap="square">
            <a:spAutoFit/>
          </a:bodyPr>
          <a:lstStyle/>
          <a:p>
            <a:pPr algn="l"/>
            <a:r>
              <a:rPr lang="en-GB" sz="2800" b="0" i="0" u="none" strike="noStrike" baseline="0" dirty="0">
                <a:solidFill>
                  <a:srgbClr val="333333"/>
                </a:solidFill>
                <a:latin typeface="LiberationSerif"/>
              </a:rPr>
              <a:t>Some examples of supervised learning are</a:t>
            </a:r>
          </a:p>
          <a:p>
            <a:pPr algn="l"/>
            <a:endParaRPr lang="en-GB" sz="2800" b="0" i="0" u="none" strike="noStrike" baseline="0" dirty="0">
              <a:solidFill>
                <a:srgbClr val="333333"/>
              </a:solidFill>
              <a:latin typeface="LiberationSerif"/>
            </a:endParaRPr>
          </a:p>
          <a:p>
            <a:pPr algn="l"/>
            <a:r>
              <a:rPr lang="en-GB" sz="1800" b="0" i="0" u="none" strike="noStrike" baseline="0" dirty="0">
                <a:solidFill>
                  <a:srgbClr val="333333"/>
                </a:solidFill>
                <a:latin typeface="LiberationSerif"/>
              </a:rPr>
              <a:t>Predicting the results of a game</a:t>
            </a:r>
          </a:p>
          <a:p>
            <a:pPr algn="l"/>
            <a:r>
              <a:rPr lang="en-GB" sz="1800" b="0" i="0" u="none" strike="noStrike" baseline="0" dirty="0">
                <a:solidFill>
                  <a:srgbClr val="333333"/>
                </a:solidFill>
                <a:latin typeface="LiberationSerif"/>
              </a:rPr>
              <a:t>Predicting whether a tumour is malignant or benign</a:t>
            </a:r>
          </a:p>
          <a:p>
            <a:pPr algn="l"/>
            <a:r>
              <a:rPr lang="en-GB" sz="1800" b="0" i="0" u="none" strike="noStrike" baseline="0" dirty="0">
                <a:solidFill>
                  <a:srgbClr val="333333"/>
                </a:solidFill>
                <a:latin typeface="LiberationSerif"/>
              </a:rPr>
              <a:t>Predicting the price of domains like real estate, stocks, etc.</a:t>
            </a:r>
          </a:p>
          <a:p>
            <a:pPr algn="l"/>
            <a:r>
              <a:rPr lang="en-GB" sz="1800" b="0" i="0" u="none" strike="noStrike" baseline="0" dirty="0">
                <a:solidFill>
                  <a:srgbClr val="333333"/>
                </a:solidFill>
                <a:latin typeface="LiberationSerif"/>
              </a:rPr>
              <a:t>Classifying texts such as classifying a set of emails as spam or non-spam</a:t>
            </a:r>
            <a:endParaRPr lang="en-GB" dirty="0"/>
          </a:p>
        </p:txBody>
      </p:sp>
    </p:spTree>
    <p:extLst>
      <p:ext uri="{BB962C8B-B14F-4D97-AF65-F5344CB8AC3E}">
        <p14:creationId xmlns:p14="http://schemas.microsoft.com/office/powerpoint/2010/main" val="12441358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9EDF1C-30BB-E28C-5B97-FC0BE873C000}"/>
              </a:ext>
            </a:extLst>
          </p:cNvPr>
          <p:cNvSpPr txBox="1"/>
          <p:nvPr/>
        </p:nvSpPr>
        <p:spPr>
          <a:xfrm>
            <a:off x="543697" y="771435"/>
            <a:ext cx="10313773" cy="1477328"/>
          </a:xfrm>
          <a:prstGeom prst="rect">
            <a:avLst/>
          </a:prstGeom>
          <a:noFill/>
        </p:spPr>
        <p:txBody>
          <a:bodyPr wrap="square">
            <a:spAutoFit/>
          </a:bodyPr>
          <a:lstStyle/>
          <a:p>
            <a:pPr algn="l" rtl="0" fontAlgn="base"/>
            <a:r>
              <a:rPr lang="en-GB" b="0" i="0" dirty="0">
                <a:solidFill>
                  <a:srgbClr val="273239"/>
                </a:solidFill>
                <a:effectLst/>
                <a:latin typeface="Nunito" pitchFamily="2" charset="0"/>
              </a:rPr>
              <a:t>There are two main categories of supervised learning that are mentioned below:</a:t>
            </a:r>
          </a:p>
          <a:p>
            <a:pPr algn="l" rtl="0" fontAlgn="base"/>
            <a:endParaRPr lang="en-GB" b="0" i="0" dirty="0">
              <a:solidFill>
                <a:srgbClr val="273239"/>
              </a:solidFill>
              <a:effectLst/>
              <a:latin typeface="Nunito" pitchFamily="2" charset="0"/>
            </a:endParaRPr>
          </a:p>
          <a:p>
            <a:pPr algn="l" fontAlgn="base">
              <a:buFont typeface="Arial" panose="020B0604020202020204" pitchFamily="34" charset="0"/>
              <a:buChar char="•"/>
            </a:pPr>
            <a:r>
              <a:rPr lang="en-GB" b="0" i="0" u="sng" dirty="0">
                <a:solidFill>
                  <a:srgbClr val="357960"/>
                </a:solidFill>
                <a:effectLst/>
                <a:latin typeface="Nunito" pitchFamily="2" charset="0"/>
                <a:hlinkClick r:id="rId2"/>
              </a:rPr>
              <a:t>Classification</a:t>
            </a:r>
            <a:r>
              <a:rPr lang="en-GB" b="0" i="0" u="sng" dirty="0">
                <a:solidFill>
                  <a:srgbClr val="357960"/>
                </a:solidFill>
                <a:effectLst/>
                <a:latin typeface="Nunito" pitchFamily="2" charset="0"/>
              </a:rPr>
              <a:t> :</a:t>
            </a:r>
            <a:r>
              <a:rPr lang="en-GB" b="0" i="0" dirty="0">
                <a:solidFill>
                  <a:srgbClr val="273239"/>
                </a:solidFill>
                <a:effectLst/>
                <a:latin typeface="Nunito"/>
              </a:rPr>
              <a:t>Where the output is a categorical variable (e.g., spam vs. non-spam emails, yes vs. no).</a:t>
            </a:r>
          </a:p>
          <a:p>
            <a:pPr algn="l" fontAlgn="base">
              <a:buFont typeface="Arial" panose="020B0604020202020204" pitchFamily="34" charset="0"/>
              <a:buChar char="•"/>
            </a:pPr>
            <a:endParaRPr lang="en-GB" b="0" i="0" dirty="0">
              <a:solidFill>
                <a:srgbClr val="273239"/>
              </a:solidFill>
              <a:effectLst/>
              <a:latin typeface="Nunito" pitchFamily="2" charset="0"/>
            </a:endParaRPr>
          </a:p>
          <a:p>
            <a:pPr algn="l" fontAlgn="base">
              <a:buFont typeface="Arial" panose="020B0604020202020204" pitchFamily="34" charset="0"/>
              <a:buChar char="•"/>
            </a:pPr>
            <a:r>
              <a:rPr lang="en-GB" b="0" i="0" u="sng" dirty="0">
                <a:solidFill>
                  <a:srgbClr val="357960"/>
                </a:solidFill>
                <a:effectLst/>
                <a:latin typeface="Nunito" pitchFamily="2" charset="0"/>
                <a:hlinkClick r:id="rId3"/>
              </a:rPr>
              <a:t>Regression</a:t>
            </a:r>
            <a:r>
              <a:rPr lang="en-GB" b="0" i="0" dirty="0">
                <a:solidFill>
                  <a:srgbClr val="357960"/>
                </a:solidFill>
                <a:effectLst/>
                <a:latin typeface="Nunito" pitchFamily="2" charset="0"/>
              </a:rPr>
              <a:t> : </a:t>
            </a:r>
            <a:r>
              <a:rPr lang="en-GB" b="0" i="0" dirty="0">
                <a:solidFill>
                  <a:srgbClr val="273239"/>
                </a:solidFill>
                <a:effectLst/>
                <a:latin typeface="Nunito"/>
              </a:rPr>
              <a:t>Where the output is a continuous variable (e.g., predicting house prices, stock prices).</a:t>
            </a:r>
            <a:endParaRPr lang="en-GB" b="0" i="0" dirty="0">
              <a:solidFill>
                <a:srgbClr val="273239"/>
              </a:solidFill>
              <a:effectLst/>
              <a:latin typeface="Nunito" pitchFamily="2" charset="0"/>
            </a:endParaRPr>
          </a:p>
        </p:txBody>
      </p:sp>
      <p:pic>
        <p:nvPicPr>
          <p:cNvPr id="3" name="Picture 2">
            <a:extLst>
              <a:ext uri="{FF2B5EF4-FFF2-40B4-BE49-F238E27FC236}">
                <a16:creationId xmlns:a16="http://schemas.microsoft.com/office/drawing/2014/main" id="{602A817C-1887-2F5E-33B9-A3C166E38FB6}"/>
              </a:ext>
            </a:extLst>
          </p:cNvPr>
          <p:cNvPicPr>
            <a:picLocks noChangeAspect="1"/>
          </p:cNvPicPr>
          <p:nvPr/>
        </p:nvPicPr>
        <p:blipFill>
          <a:blip r:embed="rId4"/>
          <a:stretch>
            <a:fillRect/>
          </a:stretch>
        </p:blipFill>
        <p:spPr>
          <a:xfrm>
            <a:off x="2623983" y="3236642"/>
            <a:ext cx="5772765" cy="2349975"/>
          </a:xfrm>
          <a:prstGeom prst="rect">
            <a:avLst/>
          </a:prstGeom>
        </p:spPr>
      </p:pic>
    </p:spTree>
    <p:extLst>
      <p:ext uri="{BB962C8B-B14F-4D97-AF65-F5344CB8AC3E}">
        <p14:creationId xmlns:p14="http://schemas.microsoft.com/office/powerpoint/2010/main" val="31032522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DBD0F5-4383-71E4-39B6-9B6156359116}"/>
              </a:ext>
            </a:extLst>
          </p:cNvPr>
          <p:cNvSpPr txBox="1"/>
          <p:nvPr/>
        </p:nvSpPr>
        <p:spPr>
          <a:xfrm>
            <a:off x="428368" y="294666"/>
            <a:ext cx="11335264" cy="2862322"/>
          </a:xfrm>
          <a:prstGeom prst="rect">
            <a:avLst/>
          </a:prstGeom>
          <a:noFill/>
        </p:spPr>
        <p:txBody>
          <a:bodyPr wrap="square">
            <a:spAutoFit/>
          </a:bodyPr>
          <a:lstStyle/>
          <a:p>
            <a:r>
              <a:rPr lang="en-GB" sz="1800" b="1" i="1" u="none" strike="noStrike" baseline="0" dirty="0">
                <a:solidFill>
                  <a:srgbClr val="000000"/>
                </a:solidFill>
                <a:latin typeface="Times New Roman" panose="02020603050405020304" pitchFamily="18" charset="0"/>
              </a:rPr>
              <a:t>Regression: </a:t>
            </a:r>
            <a:r>
              <a:rPr lang="en-GB" sz="1800" b="0" i="0" u="none" strike="noStrike" baseline="0" dirty="0">
                <a:solidFill>
                  <a:srgbClr val="000000"/>
                </a:solidFill>
                <a:latin typeface="Times New Roman" panose="02020603050405020304" pitchFamily="18" charset="0"/>
              </a:rPr>
              <a:t>This is a type of problem where we need to predict the </a:t>
            </a:r>
            <a:r>
              <a:rPr lang="en-GB" sz="1800" b="0" i="1" u="none" strike="noStrike" baseline="0" dirty="0">
                <a:solidFill>
                  <a:srgbClr val="000000"/>
                </a:solidFill>
                <a:latin typeface="Times New Roman" panose="02020603050405020304" pitchFamily="18" charset="0"/>
              </a:rPr>
              <a:t>continuous-response </a:t>
            </a:r>
            <a:r>
              <a:rPr lang="en-GB" sz="1800" b="0" i="0" u="none" strike="noStrike" baseline="0" dirty="0">
                <a:solidFill>
                  <a:srgbClr val="000000"/>
                </a:solidFill>
                <a:latin typeface="Times New Roman" panose="02020603050405020304" pitchFamily="18" charset="0"/>
              </a:rPr>
              <a:t>value (ex : above we predict number which can vary from -infinity to +infinity)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Some examples are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what is the price of house in a specific city?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what is the value of the stock?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how many total runs can be on board in a cricket </a:t>
            </a:r>
            <a:r>
              <a:rPr lang="en-GB" sz="1800" b="0" i="0" u="none" strike="noStrike" baseline="0" dirty="0" err="1">
                <a:solidFill>
                  <a:srgbClr val="000000"/>
                </a:solidFill>
                <a:latin typeface="Times New Roman" panose="02020603050405020304" pitchFamily="18" charset="0"/>
              </a:rPr>
              <a:t>game?etc</a:t>
            </a:r>
            <a:r>
              <a:rPr lang="en-GB" sz="1800" b="0" i="0" u="none" strike="noStrike" baseline="0" dirty="0">
                <a:solidFill>
                  <a:srgbClr val="000000"/>
                </a:solidFill>
                <a:latin typeface="Times New Roman" panose="02020603050405020304" pitchFamily="18" charset="0"/>
              </a:rPr>
              <a:t>… There are tons of things we can predict if we wish. </a:t>
            </a:r>
          </a:p>
        </p:txBody>
      </p:sp>
    </p:spTree>
    <p:extLst>
      <p:ext uri="{BB962C8B-B14F-4D97-AF65-F5344CB8AC3E}">
        <p14:creationId xmlns:p14="http://schemas.microsoft.com/office/powerpoint/2010/main" val="34866350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B1BC0B-08DD-76FF-BE49-DB4043A4BA3E}"/>
              </a:ext>
            </a:extLst>
          </p:cNvPr>
          <p:cNvSpPr txBox="1"/>
          <p:nvPr/>
        </p:nvSpPr>
        <p:spPr>
          <a:xfrm>
            <a:off x="667265" y="677720"/>
            <a:ext cx="10198443" cy="5355312"/>
          </a:xfrm>
          <a:prstGeom prst="rect">
            <a:avLst/>
          </a:prstGeom>
          <a:noFill/>
        </p:spPr>
        <p:txBody>
          <a:bodyPr wrap="square">
            <a:spAutoFit/>
          </a:bodyPr>
          <a:lstStyle/>
          <a:p>
            <a:r>
              <a:rPr lang="en-GB" sz="1800" b="1" i="1" u="none" strike="noStrike" baseline="0" dirty="0">
                <a:solidFill>
                  <a:srgbClr val="000000"/>
                </a:solidFill>
                <a:latin typeface="Times New Roman" panose="02020603050405020304" pitchFamily="18" charset="0"/>
              </a:rPr>
              <a:t>Classification: </a:t>
            </a:r>
            <a:r>
              <a:rPr lang="en-GB" sz="1800" b="0" i="0" u="none" strike="noStrike" baseline="0" dirty="0">
                <a:solidFill>
                  <a:srgbClr val="000000"/>
                </a:solidFill>
                <a:latin typeface="Times New Roman" panose="02020603050405020304" pitchFamily="18" charset="0"/>
              </a:rPr>
              <a:t>This is a type of problem where we predict the </a:t>
            </a:r>
            <a:r>
              <a:rPr lang="en-GB" sz="1800" b="0" i="1" u="none" strike="noStrike" baseline="0" dirty="0">
                <a:solidFill>
                  <a:srgbClr val="000000"/>
                </a:solidFill>
                <a:latin typeface="Times New Roman" panose="02020603050405020304" pitchFamily="18" charset="0"/>
              </a:rPr>
              <a:t>categorical response </a:t>
            </a:r>
            <a:r>
              <a:rPr lang="en-GB" sz="1800" b="0" i="0" u="none" strike="noStrike" baseline="0" dirty="0">
                <a:solidFill>
                  <a:srgbClr val="000000"/>
                </a:solidFill>
                <a:latin typeface="Times New Roman" panose="02020603050405020304" pitchFamily="18" charset="0"/>
              </a:rPr>
              <a:t>value where the data can be separated into specific “</a:t>
            </a:r>
            <a:r>
              <a:rPr lang="en-GB" sz="1800" b="1" i="0" u="none" strike="noStrike" baseline="0" dirty="0">
                <a:solidFill>
                  <a:srgbClr val="000000"/>
                </a:solidFill>
                <a:latin typeface="Times New Roman" panose="02020603050405020304" pitchFamily="18" charset="0"/>
              </a:rPr>
              <a:t>classes</a:t>
            </a:r>
            <a:r>
              <a:rPr lang="en-GB" sz="1800" b="0" i="0" u="none" strike="noStrike" baseline="0" dirty="0">
                <a:solidFill>
                  <a:srgbClr val="000000"/>
                </a:solidFill>
                <a:latin typeface="Times New Roman" panose="02020603050405020304" pitchFamily="18" charset="0"/>
              </a:rPr>
              <a:t>” (ex: we predict one of the values in a set of values).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Some examples are :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this mail is spam or not?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will it rain today or not?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is this picture a cat or not?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Basically ‘Yes/No’ type questions called </a:t>
            </a:r>
            <a:r>
              <a:rPr lang="en-GB" sz="1800" b="1" i="0" u="none" strike="noStrike" baseline="0" dirty="0">
                <a:solidFill>
                  <a:srgbClr val="000000"/>
                </a:solidFill>
                <a:latin typeface="Times New Roman" panose="02020603050405020304" pitchFamily="18" charset="0"/>
              </a:rPr>
              <a:t>binary classification.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Other examples are : </a:t>
            </a: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this mail is spam or important or promotion?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is this picture a cat or a dog or a tiger?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This type is called </a:t>
            </a:r>
            <a:r>
              <a:rPr lang="en-GB" sz="1800" b="1" i="0" u="none" strike="noStrike" baseline="0" dirty="0">
                <a:solidFill>
                  <a:srgbClr val="000000"/>
                </a:solidFill>
                <a:latin typeface="Times New Roman" panose="02020603050405020304" pitchFamily="18" charset="0"/>
              </a:rPr>
              <a:t>multi-class classification. </a:t>
            </a:r>
            <a:endParaRPr lang="en-GB" dirty="0"/>
          </a:p>
        </p:txBody>
      </p:sp>
    </p:spTree>
    <p:extLst>
      <p:ext uri="{BB962C8B-B14F-4D97-AF65-F5344CB8AC3E}">
        <p14:creationId xmlns:p14="http://schemas.microsoft.com/office/powerpoint/2010/main" val="33825656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27C334-B1B6-23E3-B51F-36BD00F942C0}"/>
              </a:ext>
            </a:extLst>
          </p:cNvPr>
          <p:cNvPicPr>
            <a:picLocks noChangeAspect="1"/>
          </p:cNvPicPr>
          <p:nvPr/>
        </p:nvPicPr>
        <p:blipFill>
          <a:blip r:embed="rId2"/>
          <a:stretch>
            <a:fillRect/>
          </a:stretch>
        </p:blipFill>
        <p:spPr>
          <a:xfrm>
            <a:off x="1695584" y="608389"/>
            <a:ext cx="8445193" cy="3993108"/>
          </a:xfrm>
          <a:prstGeom prst="rect">
            <a:avLst/>
          </a:prstGeom>
        </p:spPr>
      </p:pic>
      <p:sp>
        <p:nvSpPr>
          <p:cNvPr id="7" name="TextBox 6">
            <a:extLst>
              <a:ext uri="{FF2B5EF4-FFF2-40B4-BE49-F238E27FC236}">
                <a16:creationId xmlns:a16="http://schemas.microsoft.com/office/drawing/2014/main" id="{72C0284A-9F85-158E-955C-2FDF27AAC6D0}"/>
              </a:ext>
            </a:extLst>
          </p:cNvPr>
          <p:cNvSpPr txBox="1"/>
          <p:nvPr/>
        </p:nvSpPr>
        <p:spPr>
          <a:xfrm>
            <a:off x="2726725" y="5199160"/>
            <a:ext cx="6096000" cy="369332"/>
          </a:xfrm>
          <a:prstGeom prst="rect">
            <a:avLst/>
          </a:prstGeom>
          <a:noFill/>
        </p:spPr>
        <p:txBody>
          <a:bodyPr wrap="square">
            <a:spAutoFit/>
          </a:bodyPr>
          <a:lstStyle/>
          <a:p>
            <a:r>
              <a:rPr lang="en-GB" sz="1800" b="0" i="1" u="none" strike="noStrike" baseline="0" dirty="0">
                <a:solidFill>
                  <a:srgbClr val="000000"/>
                </a:solidFill>
                <a:latin typeface="Times New Roman" panose="02020603050405020304" pitchFamily="18" charset="0"/>
              </a:rPr>
              <a:t>Classification separates the data,      Regression fits the data </a:t>
            </a:r>
            <a:endParaRPr lang="en-GB" dirty="0"/>
          </a:p>
        </p:txBody>
      </p:sp>
    </p:spTree>
    <p:extLst>
      <p:ext uri="{BB962C8B-B14F-4D97-AF65-F5344CB8AC3E}">
        <p14:creationId xmlns:p14="http://schemas.microsoft.com/office/powerpoint/2010/main" val="14317489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C9D0A0-74C9-DF91-D094-67F71E12F927}"/>
              </a:ext>
            </a:extLst>
          </p:cNvPr>
          <p:cNvPicPr>
            <a:picLocks noChangeAspect="1"/>
          </p:cNvPicPr>
          <p:nvPr/>
        </p:nvPicPr>
        <p:blipFill>
          <a:blip r:embed="rId2"/>
          <a:stretch>
            <a:fillRect/>
          </a:stretch>
        </p:blipFill>
        <p:spPr>
          <a:xfrm>
            <a:off x="643467" y="757084"/>
            <a:ext cx="10905066" cy="5427405"/>
          </a:xfrm>
          <a:prstGeom prst="rect">
            <a:avLst/>
          </a:prstGeom>
        </p:spPr>
      </p:pic>
    </p:spTree>
    <p:extLst>
      <p:ext uri="{BB962C8B-B14F-4D97-AF65-F5344CB8AC3E}">
        <p14:creationId xmlns:p14="http://schemas.microsoft.com/office/powerpoint/2010/main" val="22909933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CD6D2D-F720-E79B-F83E-5863A39733D5}"/>
              </a:ext>
            </a:extLst>
          </p:cNvPr>
          <p:cNvSpPr txBox="1"/>
          <p:nvPr/>
        </p:nvSpPr>
        <p:spPr>
          <a:xfrm>
            <a:off x="675503" y="5191717"/>
            <a:ext cx="10140778" cy="1477328"/>
          </a:xfrm>
          <a:prstGeom prst="rect">
            <a:avLst/>
          </a:prstGeom>
          <a:noFill/>
        </p:spPr>
        <p:txBody>
          <a:bodyPr wrap="square">
            <a:spAutoFit/>
          </a:bodyPr>
          <a:lstStyle/>
          <a:p>
            <a:pPr algn="l" rtl="0" fontAlgn="base"/>
            <a:r>
              <a:rPr lang="en-GB" b="1" i="0" dirty="0">
                <a:solidFill>
                  <a:srgbClr val="273239"/>
                </a:solidFill>
                <a:effectLst/>
                <a:latin typeface="Nunito"/>
              </a:rPr>
              <a:t>Figure A</a:t>
            </a:r>
            <a:r>
              <a:rPr lang="en-GB" b="0" i="0" dirty="0">
                <a:solidFill>
                  <a:srgbClr val="273239"/>
                </a:solidFill>
                <a:effectLst/>
                <a:latin typeface="Nunito"/>
              </a:rPr>
              <a:t>: It is a dataset of a shopping store that is useful in predicting whether a customer will purchase a particular product under consideration or not based on his/her gender, age and salary.</a:t>
            </a:r>
          </a:p>
          <a:p>
            <a:pPr algn="l" fontAlgn="base">
              <a:buFont typeface="Arial" panose="020B0604020202020204" pitchFamily="34" charset="0"/>
              <a:buChar char="•"/>
            </a:pPr>
            <a:r>
              <a:rPr lang="en-GB" b="1" i="0" dirty="0">
                <a:solidFill>
                  <a:srgbClr val="273239"/>
                </a:solidFill>
                <a:effectLst/>
                <a:latin typeface="Nunito"/>
              </a:rPr>
              <a:t>Input</a:t>
            </a:r>
            <a:r>
              <a:rPr lang="en-GB" b="0" i="0" dirty="0">
                <a:solidFill>
                  <a:srgbClr val="273239"/>
                </a:solidFill>
                <a:effectLst/>
                <a:latin typeface="Nunito"/>
              </a:rPr>
              <a:t>: Gender, Age, Salary</a:t>
            </a:r>
          </a:p>
          <a:p>
            <a:pPr algn="l" fontAlgn="base">
              <a:buFont typeface="Arial" panose="020B0604020202020204" pitchFamily="34" charset="0"/>
              <a:buChar char="•"/>
            </a:pPr>
            <a:r>
              <a:rPr lang="en-GB" b="1" i="0" dirty="0">
                <a:solidFill>
                  <a:srgbClr val="273239"/>
                </a:solidFill>
                <a:effectLst/>
                <a:latin typeface="Nunito"/>
              </a:rPr>
              <a:t>Output</a:t>
            </a:r>
            <a:r>
              <a:rPr lang="en-GB" b="0" i="0" dirty="0">
                <a:solidFill>
                  <a:srgbClr val="273239"/>
                </a:solidFill>
                <a:effectLst/>
                <a:latin typeface="Nunito"/>
              </a:rPr>
              <a:t>: Purchased i.e. 0 or 1; 1 means yes the customer will purchase and 0 means that the customer won't purchase it.</a:t>
            </a:r>
          </a:p>
        </p:txBody>
      </p:sp>
      <p:pic>
        <p:nvPicPr>
          <p:cNvPr id="7" name="Picture 6">
            <a:extLst>
              <a:ext uri="{FF2B5EF4-FFF2-40B4-BE49-F238E27FC236}">
                <a16:creationId xmlns:a16="http://schemas.microsoft.com/office/drawing/2014/main" id="{57A66D19-3CE4-AE13-B041-5F0585C98AD6}"/>
              </a:ext>
            </a:extLst>
          </p:cNvPr>
          <p:cNvPicPr>
            <a:picLocks noChangeAspect="1"/>
          </p:cNvPicPr>
          <p:nvPr/>
        </p:nvPicPr>
        <p:blipFill>
          <a:blip r:embed="rId2"/>
          <a:stretch>
            <a:fillRect/>
          </a:stretch>
        </p:blipFill>
        <p:spPr>
          <a:xfrm>
            <a:off x="2092411" y="154202"/>
            <a:ext cx="6575597" cy="4819650"/>
          </a:xfrm>
          <a:prstGeom prst="rect">
            <a:avLst/>
          </a:prstGeom>
        </p:spPr>
      </p:pic>
    </p:spTree>
    <p:extLst>
      <p:ext uri="{BB962C8B-B14F-4D97-AF65-F5344CB8AC3E}">
        <p14:creationId xmlns:p14="http://schemas.microsoft.com/office/powerpoint/2010/main" val="33774123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17D850-F228-023B-7933-4CE273913E54}"/>
              </a:ext>
            </a:extLst>
          </p:cNvPr>
          <p:cNvPicPr>
            <a:picLocks noChangeAspect="1"/>
          </p:cNvPicPr>
          <p:nvPr/>
        </p:nvPicPr>
        <p:blipFill>
          <a:blip r:embed="rId2"/>
          <a:stretch>
            <a:fillRect/>
          </a:stretch>
        </p:blipFill>
        <p:spPr>
          <a:xfrm>
            <a:off x="3048000" y="211867"/>
            <a:ext cx="6096000" cy="4819650"/>
          </a:xfrm>
          <a:prstGeom prst="rect">
            <a:avLst/>
          </a:prstGeom>
        </p:spPr>
      </p:pic>
      <p:sp>
        <p:nvSpPr>
          <p:cNvPr id="7" name="TextBox 6">
            <a:extLst>
              <a:ext uri="{FF2B5EF4-FFF2-40B4-BE49-F238E27FC236}">
                <a16:creationId xmlns:a16="http://schemas.microsoft.com/office/drawing/2014/main" id="{FA23129D-0ED1-8F88-E0D2-3062B6B8E171}"/>
              </a:ext>
            </a:extLst>
          </p:cNvPr>
          <p:cNvSpPr txBox="1"/>
          <p:nvPr/>
        </p:nvSpPr>
        <p:spPr>
          <a:xfrm>
            <a:off x="712573" y="5344980"/>
            <a:ext cx="10766854" cy="1200329"/>
          </a:xfrm>
          <a:prstGeom prst="rect">
            <a:avLst/>
          </a:prstGeom>
          <a:noFill/>
        </p:spPr>
        <p:txBody>
          <a:bodyPr wrap="square">
            <a:spAutoFit/>
          </a:bodyPr>
          <a:lstStyle/>
          <a:p>
            <a:pPr algn="l" rtl="0" fontAlgn="base"/>
            <a:r>
              <a:rPr lang="en-GB" b="1" i="0" dirty="0">
                <a:solidFill>
                  <a:srgbClr val="273239"/>
                </a:solidFill>
                <a:effectLst/>
                <a:latin typeface="Nunito"/>
              </a:rPr>
              <a:t>Figure B: </a:t>
            </a:r>
            <a:r>
              <a:rPr lang="en-GB" b="0" i="0" dirty="0">
                <a:solidFill>
                  <a:srgbClr val="273239"/>
                </a:solidFill>
                <a:effectLst/>
                <a:latin typeface="Nunito"/>
              </a:rPr>
              <a:t>It is a Meteorological dataset that serves the purpose of predicting wind speed based on different parameters.</a:t>
            </a:r>
          </a:p>
          <a:p>
            <a:pPr algn="l" fontAlgn="base">
              <a:buFont typeface="Arial" panose="020B0604020202020204" pitchFamily="34" charset="0"/>
              <a:buChar char="•"/>
            </a:pPr>
            <a:r>
              <a:rPr lang="en-GB" b="1" i="0" dirty="0">
                <a:solidFill>
                  <a:srgbClr val="273239"/>
                </a:solidFill>
                <a:effectLst/>
                <a:latin typeface="Nunito"/>
              </a:rPr>
              <a:t>Input</a:t>
            </a:r>
            <a:r>
              <a:rPr lang="en-GB" b="0" i="0" dirty="0">
                <a:solidFill>
                  <a:srgbClr val="273239"/>
                </a:solidFill>
                <a:effectLst/>
                <a:latin typeface="Nunito"/>
              </a:rPr>
              <a:t>: Temperature, Pressure, Relative Humidity, Wind Direction</a:t>
            </a:r>
          </a:p>
          <a:p>
            <a:pPr algn="l" fontAlgn="base">
              <a:buFont typeface="Arial" panose="020B0604020202020204" pitchFamily="34" charset="0"/>
              <a:buChar char="•"/>
            </a:pPr>
            <a:r>
              <a:rPr lang="en-GB" b="1" i="0" dirty="0">
                <a:solidFill>
                  <a:srgbClr val="273239"/>
                </a:solidFill>
                <a:effectLst/>
                <a:latin typeface="Nunito"/>
              </a:rPr>
              <a:t>Output</a:t>
            </a:r>
            <a:r>
              <a:rPr lang="en-GB" b="0" i="0" dirty="0">
                <a:solidFill>
                  <a:srgbClr val="273239"/>
                </a:solidFill>
                <a:effectLst/>
                <a:latin typeface="Nunito"/>
              </a:rPr>
              <a:t>: Wind Speed</a:t>
            </a:r>
          </a:p>
        </p:txBody>
      </p:sp>
    </p:spTree>
    <p:extLst>
      <p:ext uri="{BB962C8B-B14F-4D97-AF65-F5344CB8AC3E}">
        <p14:creationId xmlns:p14="http://schemas.microsoft.com/office/powerpoint/2010/main" val="7430984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194F5A-4A40-4BE9-F299-563DCDC5F0B3}"/>
              </a:ext>
            </a:extLst>
          </p:cNvPr>
          <p:cNvSpPr txBox="1"/>
          <p:nvPr/>
        </p:nvSpPr>
        <p:spPr>
          <a:xfrm>
            <a:off x="420128" y="360556"/>
            <a:ext cx="11228173" cy="5940088"/>
          </a:xfrm>
          <a:prstGeom prst="rect">
            <a:avLst/>
          </a:prstGeom>
          <a:noFill/>
        </p:spPr>
        <p:txBody>
          <a:bodyPr wrap="square">
            <a:spAutoFit/>
          </a:bodyPr>
          <a:lstStyle/>
          <a:p>
            <a:pPr algn="l" fontAlgn="base"/>
            <a:r>
              <a:rPr lang="en-GB" sz="2000" b="1" i="0" dirty="0">
                <a:solidFill>
                  <a:srgbClr val="FF0000"/>
                </a:solidFill>
                <a:effectLst/>
                <a:latin typeface="Nunito"/>
              </a:rPr>
              <a:t>Working of Supervised Machine Learning</a:t>
            </a:r>
          </a:p>
          <a:p>
            <a:pPr algn="l" fontAlgn="base"/>
            <a:endParaRPr lang="en-GB" sz="2000" b="1" i="0" dirty="0">
              <a:solidFill>
                <a:srgbClr val="273239"/>
              </a:solidFill>
              <a:effectLst/>
              <a:latin typeface="Nunito"/>
            </a:endParaRPr>
          </a:p>
          <a:p>
            <a:pPr algn="l" rtl="0" fontAlgn="base"/>
            <a:r>
              <a:rPr lang="en-GB" sz="2000" b="0" i="0" dirty="0">
                <a:solidFill>
                  <a:srgbClr val="273239"/>
                </a:solidFill>
                <a:effectLst/>
                <a:latin typeface="Nunito"/>
              </a:rPr>
              <a:t>The working of supervised machine learning follows these key steps:</a:t>
            </a:r>
          </a:p>
          <a:p>
            <a:pPr algn="l" fontAlgn="base"/>
            <a:r>
              <a:rPr lang="en-GB" sz="2000" b="1" i="0" dirty="0">
                <a:solidFill>
                  <a:srgbClr val="FF0000"/>
                </a:solidFill>
                <a:effectLst/>
                <a:latin typeface="Nunito"/>
              </a:rPr>
              <a:t>1. Collect </a:t>
            </a:r>
            <a:r>
              <a:rPr lang="en-GB" sz="2000" b="1" i="0" dirty="0" err="1">
                <a:solidFill>
                  <a:srgbClr val="FF0000"/>
                </a:solidFill>
                <a:effectLst/>
                <a:latin typeface="Nunito"/>
              </a:rPr>
              <a:t>Labeled</a:t>
            </a:r>
            <a:r>
              <a:rPr lang="en-GB" sz="2000" b="1" i="0" dirty="0">
                <a:solidFill>
                  <a:srgbClr val="FF0000"/>
                </a:solidFill>
                <a:effectLst/>
                <a:latin typeface="Nunito"/>
              </a:rPr>
              <a:t> Data</a:t>
            </a:r>
          </a:p>
          <a:p>
            <a:pPr algn="l" fontAlgn="base">
              <a:buFont typeface="Arial" panose="020B0604020202020204" pitchFamily="34" charset="0"/>
              <a:buChar char="•"/>
            </a:pPr>
            <a:r>
              <a:rPr lang="en-GB" sz="2000" b="0" i="0" dirty="0">
                <a:solidFill>
                  <a:srgbClr val="273239"/>
                </a:solidFill>
                <a:effectLst/>
                <a:latin typeface="Nunito"/>
              </a:rPr>
              <a:t>Gather a dataset where each input has a known correct output (label).</a:t>
            </a:r>
          </a:p>
          <a:p>
            <a:pPr algn="l" fontAlgn="base">
              <a:buFont typeface="Arial" panose="020B0604020202020204" pitchFamily="34" charset="0"/>
              <a:buChar char="•"/>
            </a:pPr>
            <a:r>
              <a:rPr lang="en-GB" sz="2000" b="1" i="0" dirty="0">
                <a:solidFill>
                  <a:srgbClr val="273239"/>
                </a:solidFill>
                <a:effectLst/>
                <a:latin typeface="Nunito"/>
              </a:rPr>
              <a:t>Example</a:t>
            </a:r>
            <a:r>
              <a:rPr lang="en-GB" sz="2000" b="0" i="0" dirty="0">
                <a:solidFill>
                  <a:srgbClr val="273239"/>
                </a:solidFill>
                <a:effectLst/>
                <a:latin typeface="Nunito"/>
              </a:rPr>
              <a:t>: Images of handwritten digits with their actual numbers as labels.</a:t>
            </a:r>
          </a:p>
          <a:p>
            <a:pPr algn="l" fontAlgn="base"/>
            <a:r>
              <a:rPr lang="en-GB" sz="2000" b="1" i="0" dirty="0">
                <a:solidFill>
                  <a:srgbClr val="FF0000"/>
                </a:solidFill>
                <a:effectLst/>
                <a:latin typeface="Nunito"/>
              </a:rPr>
              <a:t>2. Split the Dataset</a:t>
            </a:r>
          </a:p>
          <a:p>
            <a:pPr algn="l" fontAlgn="base">
              <a:buFont typeface="Arial" panose="020B0604020202020204" pitchFamily="34" charset="0"/>
              <a:buChar char="•"/>
            </a:pPr>
            <a:r>
              <a:rPr lang="en-GB" sz="2000" b="0" i="0" dirty="0">
                <a:solidFill>
                  <a:srgbClr val="273239"/>
                </a:solidFill>
                <a:effectLst/>
                <a:latin typeface="Nunito"/>
              </a:rPr>
              <a:t>Divide the data into training data (about 80%) and testing data (about 20%).</a:t>
            </a:r>
          </a:p>
          <a:p>
            <a:pPr algn="l" fontAlgn="base">
              <a:buFont typeface="Arial" panose="020B0604020202020204" pitchFamily="34" charset="0"/>
              <a:buChar char="•"/>
            </a:pPr>
            <a:r>
              <a:rPr lang="en-GB" sz="2000" b="0" i="0" dirty="0">
                <a:solidFill>
                  <a:srgbClr val="273239"/>
                </a:solidFill>
                <a:effectLst/>
                <a:latin typeface="Nunito"/>
              </a:rPr>
              <a:t>The model will learn from the training data and be evaluated on the testing data.</a:t>
            </a:r>
          </a:p>
          <a:p>
            <a:pPr algn="l" fontAlgn="base"/>
            <a:r>
              <a:rPr lang="en-GB" sz="2000" b="1" i="0" dirty="0">
                <a:solidFill>
                  <a:srgbClr val="FF0000"/>
                </a:solidFill>
                <a:effectLst/>
                <a:latin typeface="Nunito"/>
              </a:rPr>
              <a:t>3. Train the Model</a:t>
            </a:r>
          </a:p>
          <a:p>
            <a:pPr algn="l" fontAlgn="base">
              <a:buFont typeface="Arial" panose="020B0604020202020204" pitchFamily="34" charset="0"/>
              <a:buChar char="•"/>
            </a:pPr>
            <a:r>
              <a:rPr lang="en-GB" sz="2000" b="0" i="0" dirty="0">
                <a:solidFill>
                  <a:srgbClr val="273239"/>
                </a:solidFill>
                <a:effectLst/>
                <a:latin typeface="Nunito"/>
              </a:rPr>
              <a:t>Feed the training data (inputs and their labels) to a suitable supervised learning algorithm (like Decision Trees, SVM or Linear Regression).</a:t>
            </a:r>
          </a:p>
          <a:p>
            <a:pPr algn="l" fontAlgn="base">
              <a:buFont typeface="Arial" panose="020B0604020202020204" pitchFamily="34" charset="0"/>
              <a:buChar char="•"/>
            </a:pPr>
            <a:r>
              <a:rPr lang="en-GB" sz="2000" b="0" i="0" dirty="0">
                <a:solidFill>
                  <a:srgbClr val="273239"/>
                </a:solidFill>
                <a:effectLst/>
                <a:latin typeface="Nunito"/>
              </a:rPr>
              <a:t>The model tries to find patterns that map inputs to correct outputs.</a:t>
            </a:r>
          </a:p>
          <a:p>
            <a:pPr algn="l" fontAlgn="base"/>
            <a:r>
              <a:rPr lang="en-GB" sz="2000" b="1" i="0" dirty="0">
                <a:solidFill>
                  <a:srgbClr val="FF0000"/>
                </a:solidFill>
                <a:effectLst/>
                <a:latin typeface="Nunito"/>
              </a:rPr>
              <a:t>4. Validate and Test the Model</a:t>
            </a:r>
          </a:p>
          <a:p>
            <a:pPr algn="l" fontAlgn="base">
              <a:buFont typeface="Arial" panose="020B0604020202020204" pitchFamily="34" charset="0"/>
              <a:buChar char="•"/>
            </a:pPr>
            <a:r>
              <a:rPr lang="en-GB" sz="2000" b="0" i="0" dirty="0">
                <a:solidFill>
                  <a:srgbClr val="273239"/>
                </a:solidFill>
                <a:effectLst/>
                <a:latin typeface="Nunito"/>
              </a:rPr>
              <a:t>Evaluate the model using testing data it has never seen before.</a:t>
            </a:r>
          </a:p>
          <a:p>
            <a:pPr algn="l" fontAlgn="base">
              <a:buFont typeface="Arial" panose="020B0604020202020204" pitchFamily="34" charset="0"/>
              <a:buChar char="•"/>
            </a:pPr>
            <a:r>
              <a:rPr lang="en-GB" sz="2000" b="0" i="0" dirty="0">
                <a:solidFill>
                  <a:srgbClr val="273239"/>
                </a:solidFill>
                <a:effectLst/>
                <a:latin typeface="Nunito"/>
              </a:rPr>
              <a:t>The model predicts outputs and these predictions are compared with the actual labels to calculate accuracy or error.</a:t>
            </a:r>
          </a:p>
          <a:p>
            <a:pPr algn="l" fontAlgn="base"/>
            <a:r>
              <a:rPr lang="en-GB" sz="2000" b="1" i="0" dirty="0">
                <a:solidFill>
                  <a:srgbClr val="FF0000"/>
                </a:solidFill>
                <a:effectLst/>
                <a:latin typeface="Nunito"/>
              </a:rPr>
              <a:t>5. Deploy and Predict on New Data</a:t>
            </a:r>
          </a:p>
          <a:p>
            <a:pPr algn="l" fontAlgn="base">
              <a:buFont typeface="Arial" panose="020B0604020202020204" pitchFamily="34" charset="0"/>
              <a:buChar char="•"/>
            </a:pPr>
            <a:r>
              <a:rPr lang="en-GB" sz="2000" b="0" i="0" dirty="0">
                <a:solidFill>
                  <a:srgbClr val="273239"/>
                </a:solidFill>
                <a:effectLst/>
                <a:latin typeface="Nunito"/>
              </a:rPr>
              <a:t>Once the model performs well, it can be used to predict outputs for completely new, unseen data.</a:t>
            </a:r>
          </a:p>
        </p:txBody>
      </p:sp>
    </p:spTree>
    <p:extLst>
      <p:ext uri="{BB962C8B-B14F-4D97-AF65-F5344CB8AC3E}">
        <p14:creationId xmlns:p14="http://schemas.microsoft.com/office/powerpoint/2010/main" val="1531584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38B5F7E-8728-CA22-ABD9-221BBFC0C2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8529" y="1095632"/>
            <a:ext cx="5117757" cy="51177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E300AE0-7EA3-744B-0F0A-411B39102FAC}"/>
              </a:ext>
            </a:extLst>
          </p:cNvPr>
          <p:cNvSpPr txBox="1"/>
          <p:nvPr/>
        </p:nvSpPr>
        <p:spPr>
          <a:xfrm>
            <a:off x="3502109" y="381169"/>
            <a:ext cx="3830595" cy="369332"/>
          </a:xfrm>
          <a:prstGeom prst="rect">
            <a:avLst/>
          </a:prstGeom>
          <a:noFill/>
        </p:spPr>
        <p:txBody>
          <a:bodyPr wrap="square">
            <a:spAutoFit/>
          </a:bodyPr>
          <a:lstStyle/>
          <a:p>
            <a:r>
              <a:rPr lang="en-GB" b="0" i="0" dirty="0">
                <a:solidFill>
                  <a:srgbClr val="202214"/>
                </a:solidFill>
                <a:effectLst/>
                <a:latin typeface="Inter"/>
              </a:rPr>
              <a:t>Handwritten Digit Recognition (HDR)</a:t>
            </a:r>
            <a:endParaRPr lang="en-GB" dirty="0"/>
          </a:p>
        </p:txBody>
      </p:sp>
    </p:spTree>
    <p:extLst>
      <p:ext uri="{BB962C8B-B14F-4D97-AF65-F5344CB8AC3E}">
        <p14:creationId xmlns:p14="http://schemas.microsoft.com/office/powerpoint/2010/main" val="431626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5947A8-926B-435D-D65E-13C75843003F}"/>
              </a:ext>
            </a:extLst>
          </p:cNvPr>
          <p:cNvPicPr>
            <a:picLocks noChangeAspect="1"/>
          </p:cNvPicPr>
          <p:nvPr/>
        </p:nvPicPr>
        <p:blipFill>
          <a:blip r:embed="rId2"/>
          <a:stretch>
            <a:fillRect/>
          </a:stretch>
        </p:blipFill>
        <p:spPr>
          <a:xfrm>
            <a:off x="1527553" y="691997"/>
            <a:ext cx="7860485" cy="5089818"/>
          </a:xfrm>
          <a:prstGeom prst="rect">
            <a:avLst/>
          </a:prstGeom>
        </p:spPr>
      </p:pic>
    </p:spTree>
    <p:extLst>
      <p:ext uri="{BB962C8B-B14F-4D97-AF65-F5344CB8AC3E}">
        <p14:creationId xmlns:p14="http://schemas.microsoft.com/office/powerpoint/2010/main" val="28026210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7C8EF4-88B3-E5BD-DE8F-4D8CD74C3CAA}"/>
              </a:ext>
            </a:extLst>
          </p:cNvPr>
          <p:cNvSpPr txBox="1"/>
          <p:nvPr/>
        </p:nvSpPr>
        <p:spPr>
          <a:xfrm>
            <a:off x="1128583" y="462004"/>
            <a:ext cx="6096000" cy="369332"/>
          </a:xfrm>
          <a:prstGeom prst="rect">
            <a:avLst/>
          </a:prstGeom>
          <a:noFill/>
        </p:spPr>
        <p:txBody>
          <a:bodyPr wrap="square">
            <a:spAutoFit/>
          </a:bodyPr>
          <a:lstStyle/>
          <a:p>
            <a:pPr algn="l" fontAlgn="base"/>
            <a:r>
              <a:rPr lang="en-GB" b="0" i="0" dirty="0">
                <a:solidFill>
                  <a:srgbClr val="FF0000"/>
                </a:solidFill>
                <a:effectLst/>
                <a:latin typeface="Inter"/>
              </a:rPr>
              <a:t> Splitting data into training, validation and testing dataset</a:t>
            </a:r>
          </a:p>
        </p:txBody>
      </p:sp>
      <p:sp>
        <p:nvSpPr>
          <p:cNvPr id="8" name="TextBox 7">
            <a:extLst>
              <a:ext uri="{FF2B5EF4-FFF2-40B4-BE49-F238E27FC236}">
                <a16:creationId xmlns:a16="http://schemas.microsoft.com/office/drawing/2014/main" id="{54764AC4-45D7-0DE0-845D-F32C6C339F91}"/>
              </a:ext>
            </a:extLst>
          </p:cNvPr>
          <p:cNvSpPr txBox="1"/>
          <p:nvPr/>
        </p:nvSpPr>
        <p:spPr>
          <a:xfrm>
            <a:off x="1459684" y="985193"/>
            <a:ext cx="10503016" cy="1477328"/>
          </a:xfrm>
          <a:prstGeom prst="rect">
            <a:avLst/>
          </a:prstGeom>
          <a:noFill/>
        </p:spPr>
        <p:txBody>
          <a:bodyPr wrap="square">
            <a:spAutoFit/>
          </a:bodyPr>
          <a:lstStyle/>
          <a:p>
            <a:r>
              <a:rPr lang="en-GB" dirty="0"/>
              <a:t>- The training dataset (60%) is used to fit our models</a:t>
            </a:r>
          </a:p>
          <a:p>
            <a:r>
              <a:rPr lang="en-GB" dirty="0"/>
              <a:t>- The Validation dataset (20%) is used to evaluate our models</a:t>
            </a:r>
          </a:p>
          <a:p>
            <a:r>
              <a:rPr lang="en-GB" dirty="0"/>
              <a:t>- The Testing dataset (20%) is used to test our models</a:t>
            </a:r>
          </a:p>
          <a:p>
            <a:endParaRPr lang="en-GB" dirty="0"/>
          </a:p>
          <a:p>
            <a:r>
              <a:rPr lang="en-GB" dirty="0" err="1">
                <a:solidFill>
                  <a:srgbClr val="FF0000"/>
                </a:solidFill>
              </a:rPr>
              <a:t>train_test_split</a:t>
            </a:r>
            <a:r>
              <a:rPr lang="en-GB" dirty="0">
                <a:solidFill>
                  <a:srgbClr val="FF0000"/>
                </a:solidFill>
              </a:rPr>
              <a:t>() </a:t>
            </a:r>
            <a:r>
              <a:rPr lang="en-GB" dirty="0"/>
              <a:t>method returns us the training data, its labels and also the validation data and its labels.</a:t>
            </a:r>
          </a:p>
        </p:txBody>
      </p:sp>
      <p:sp>
        <p:nvSpPr>
          <p:cNvPr id="11" name="TextBox 10">
            <a:extLst>
              <a:ext uri="{FF2B5EF4-FFF2-40B4-BE49-F238E27FC236}">
                <a16:creationId xmlns:a16="http://schemas.microsoft.com/office/drawing/2014/main" id="{0513A871-2540-F1C8-7F0B-6148565E58FF}"/>
              </a:ext>
            </a:extLst>
          </p:cNvPr>
          <p:cNvSpPr txBox="1"/>
          <p:nvPr/>
        </p:nvSpPr>
        <p:spPr>
          <a:xfrm>
            <a:off x="568411" y="3048000"/>
            <a:ext cx="11178746" cy="2554545"/>
          </a:xfrm>
          <a:prstGeom prst="rect">
            <a:avLst/>
          </a:prstGeom>
          <a:noFill/>
        </p:spPr>
        <p:txBody>
          <a:bodyPr wrap="square" rtlCol="0">
            <a:spAutoFit/>
          </a:bodyPr>
          <a:lstStyle/>
          <a:p>
            <a:r>
              <a:rPr lang="en-GB" sz="2000" dirty="0"/>
              <a:t>For training a model, we initially split the model into 3 three sections which are :</a:t>
            </a:r>
          </a:p>
          <a:p>
            <a:r>
              <a:rPr lang="en-GB" sz="2000" dirty="0"/>
              <a:t>- </a:t>
            </a:r>
            <a:r>
              <a:rPr lang="en-GB" sz="2000" b="1" dirty="0">
                <a:solidFill>
                  <a:srgbClr val="FF0000"/>
                </a:solidFill>
              </a:rPr>
              <a:t>Training data </a:t>
            </a:r>
            <a:r>
              <a:rPr lang="en-GB" sz="2000" dirty="0"/>
              <a:t>– </a:t>
            </a:r>
            <a:r>
              <a:rPr lang="en-GB" sz="2000" b="1" dirty="0">
                <a:solidFill>
                  <a:srgbClr val="FF0000"/>
                </a:solidFill>
              </a:rPr>
              <a:t>Validation data </a:t>
            </a:r>
            <a:r>
              <a:rPr lang="en-GB" sz="2000" dirty="0"/>
              <a:t>– </a:t>
            </a:r>
            <a:r>
              <a:rPr lang="en-GB" sz="2000" b="1" dirty="0">
                <a:solidFill>
                  <a:srgbClr val="FF0000"/>
                </a:solidFill>
              </a:rPr>
              <a:t>Testing data</a:t>
            </a:r>
            <a:r>
              <a:rPr lang="en-GB" sz="2000" dirty="0"/>
              <a:t>.</a:t>
            </a:r>
          </a:p>
          <a:p>
            <a:endParaRPr lang="en-GB" sz="2000" dirty="0"/>
          </a:p>
          <a:p>
            <a:r>
              <a:rPr lang="en-GB" sz="2000" dirty="0"/>
              <a:t>You </a:t>
            </a:r>
            <a:r>
              <a:rPr lang="en-GB" sz="2000" b="1" u="sng" dirty="0"/>
              <a:t>train</a:t>
            </a:r>
            <a:r>
              <a:rPr lang="en-GB" sz="2000" dirty="0"/>
              <a:t> the classifier or algorithm using Training data set, </a:t>
            </a:r>
            <a:r>
              <a:rPr lang="en-GB" sz="2000" b="1" u="sng" dirty="0"/>
              <a:t>tune</a:t>
            </a:r>
            <a:r>
              <a:rPr lang="en-GB" sz="2000" dirty="0"/>
              <a:t> the parameters using validation data set </a:t>
            </a:r>
          </a:p>
          <a:p>
            <a:r>
              <a:rPr lang="en-GB" sz="2000" dirty="0"/>
              <a:t>and then </a:t>
            </a:r>
            <a:r>
              <a:rPr lang="en-GB" sz="2000" b="1" u="sng" dirty="0"/>
              <a:t>test</a:t>
            </a:r>
            <a:r>
              <a:rPr lang="en-GB" sz="2000" dirty="0"/>
              <a:t> the performance of your classifier on unseen test dataset.</a:t>
            </a:r>
          </a:p>
          <a:p>
            <a:endParaRPr lang="en-GB" sz="2000" dirty="0"/>
          </a:p>
          <a:p>
            <a:r>
              <a:rPr lang="en-GB" sz="2000" b="1" u="sng" dirty="0">
                <a:solidFill>
                  <a:srgbClr val="FF0000"/>
                </a:solidFill>
              </a:rPr>
              <a:t>Note</a:t>
            </a:r>
            <a:r>
              <a:rPr lang="en-GB" sz="2000" dirty="0"/>
              <a:t>: During training the classifier only the </a:t>
            </a:r>
            <a:r>
              <a:rPr lang="en-GB" sz="2000" b="1" dirty="0"/>
              <a:t>training</a:t>
            </a:r>
            <a:r>
              <a:rPr lang="en-GB" sz="2000" dirty="0"/>
              <a:t> and/or </a:t>
            </a:r>
            <a:r>
              <a:rPr lang="en-GB" sz="2000" b="1" dirty="0"/>
              <a:t>validation</a:t>
            </a:r>
            <a:r>
              <a:rPr lang="en-GB" sz="2000" dirty="0"/>
              <a:t> set is </a:t>
            </a:r>
            <a:r>
              <a:rPr lang="en-GB" sz="2000" b="1" dirty="0"/>
              <a:t>available</a:t>
            </a:r>
            <a:r>
              <a:rPr lang="en-GB" sz="2000" dirty="0"/>
              <a:t>.</a:t>
            </a:r>
          </a:p>
          <a:p>
            <a:r>
              <a:rPr lang="en-GB" sz="2000" dirty="0"/>
              <a:t>           The </a:t>
            </a:r>
            <a:r>
              <a:rPr lang="en-GB" sz="2000" b="1" dirty="0"/>
              <a:t>test set </a:t>
            </a:r>
            <a:r>
              <a:rPr lang="en-GB" sz="2000" dirty="0"/>
              <a:t>will only be </a:t>
            </a:r>
            <a:r>
              <a:rPr lang="en-GB" sz="2000" b="1" dirty="0"/>
              <a:t>available</a:t>
            </a:r>
            <a:r>
              <a:rPr lang="en-GB" sz="2000" dirty="0"/>
              <a:t> during </a:t>
            </a:r>
            <a:r>
              <a:rPr lang="en-GB" sz="2000" b="1" dirty="0"/>
              <a:t>testing</a:t>
            </a:r>
            <a:r>
              <a:rPr lang="en-GB" sz="2000" dirty="0"/>
              <a:t> the classifier. </a:t>
            </a:r>
          </a:p>
        </p:txBody>
      </p:sp>
    </p:spTree>
    <p:extLst>
      <p:ext uri="{BB962C8B-B14F-4D97-AF65-F5344CB8AC3E}">
        <p14:creationId xmlns:p14="http://schemas.microsoft.com/office/powerpoint/2010/main" val="7083143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012E0EA-B54E-22B1-8D86-F3964C4CA411}"/>
              </a:ext>
            </a:extLst>
          </p:cNvPr>
          <p:cNvSpPr>
            <a:spLocks noChangeArrowheads="1"/>
          </p:cNvSpPr>
          <p:nvPr/>
        </p:nvSpPr>
        <p:spPr bwMode="auto">
          <a:xfrm>
            <a:off x="675503" y="480538"/>
            <a:ext cx="4061254"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222222"/>
                </a:solidFill>
                <a:effectLst/>
                <a:latin typeface="Source Sans Pro"/>
              </a:rPr>
              <a:t>Application of </a:t>
            </a:r>
            <a:r>
              <a:rPr kumimoji="0" lang="en-US" altLang="en-US" sz="1800" b="1" i="0" u="none" strike="noStrike" cap="none" normalizeH="0" baseline="0" dirty="0" err="1">
                <a:ln>
                  <a:noFill/>
                </a:ln>
                <a:solidFill>
                  <a:srgbClr val="222222"/>
                </a:solidFill>
                <a:effectLst/>
                <a:latin typeface="SFMono-Regular"/>
              </a:rPr>
              <a:t>train_test_split</a:t>
            </a:r>
            <a:r>
              <a:rPr kumimoji="0" lang="en-US" altLang="en-US" sz="1800" b="1" i="0" u="none" strike="noStrike" cap="none" normalizeH="0" baseline="0" dirty="0">
                <a:ln>
                  <a:noFill/>
                </a:ln>
                <a:solidFill>
                  <a:srgbClr val="222222"/>
                </a:solidFill>
                <a:effectLst/>
                <a:latin typeface="SFMono-Regular"/>
              </a:rPr>
              <a:t>()</a:t>
            </a:r>
            <a:endParaRPr kumimoji="0" lang="en-US" altLang="en-US" sz="1200" b="1" i="0" u="none" strike="noStrike" cap="none" normalizeH="0" baseline="0" dirty="0">
              <a:ln>
                <a:noFill/>
              </a:ln>
              <a:solidFill>
                <a:srgbClr val="222222"/>
              </a:solidFill>
              <a:effectLst/>
              <a:latin typeface="Source Sans Pro"/>
            </a:endParaRPr>
          </a:p>
        </p:txBody>
      </p:sp>
      <p:sp>
        <p:nvSpPr>
          <p:cNvPr id="7" name="TextBox 6">
            <a:extLst>
              <a:ext uri="{FF2B5EF4-FFF2-40B4-BE49-F238E27FC236}">
                <a16:creationId xmlns:a16="http://schemas.microsoft.com/office/drawing/2014/main" id="{406DBA9E-BDC7-63BE-9DFB-0EB91B51F2D0}"/>
              </a:ext>
            </a:extLst>
          </p:cNvPr>
          <p:cNvSpPr txBox="1"/>
          <p:nvPr/>
        </p:nvSpPr>
        <p:spPr>
          <a:xfrm>
            <a:off x="856735" y="1151409"/>
            <a:ext cx="8606481" cy="369332"/>
          </a:xfrm>
          <a:prstGeom prst="rect">
            <a:avLst/>
          </a:prstGeom>
          <a:noFill/>
        </p:spPr>
        <p:txBody>
          <a:bodyPr wrap="square">
            <a:spAutoFit/>
          </a:bodyPr>
          <a:lstStyle/>
          <a:p>
            <a:r>
              <a:rPr lang="en-GB" dirty="0"/>
              <a:t>You need to import </a:t>
            </a:r>
            <a:r>
              <a:rPr lang="en-GB" dirty="0" err="1"/>
              <a:t>train_test_split</a:t>
            </a:r>
            <a:r>
              <a:rPr lang="en-GB" dirty="0"/>
              <a:t>() and NumPy before you can use them.</a:t>
            </a:r>
          </a:p>
        </p:txBody>
      </p:sp>
      <p:sp>
        <p:nvSpPr>
          <p:cNvPr id="9" name="TextBox 8">
            <a:extLst>
              <a:ext uri="{FF2B5EF4-FFF2-40B4-BE49-F238E27FC236}">
                <a16:creationId xmlns:a16="http://schemas.microsoft.com/office/drawing/2014/main" id="{AE77120D-BD18-F011-6075-F9820353F2DA}"/>
              </a:ext>
            </a:extLst>
          </p:cNvPr>
          <p:cNvSpPr txBox="1"/>
          <p:nvPr/>
        </p:nvSpPr>
        <p:spPr>
          <a:xfrm>
            <a:off x="856735" y="1637614"/>
            <a:ext cx="8007178" cy="369332"/>
          </a:xfrm>
          <a:prstGeom prst="rect">
            <a:avLst/>
          </a:prstGeom>
          <a:noFill/>
        </p:spPr>
        <p:txBody>
          <a:bodyPr wrap="square">
            <a:spAutoFit/>
          </a:bodyPr>
          <a:lstStyle/>
          <a:p>
            <a:r>
              <a:rPr lang="en-GB" dirty="0"/>
              <a:t>You can split both input and output datasets with a single function call:</a:t>
            </a:r>
          </a:p>
        </p:txBody>
      </p:sp>
      <p:pic>
        <p:nvPicPr>
          <p:cNvPr id="10" name="Picture 9">
            <a:extLst>
              <a:ext uri="{FF2B5EF4-FFF2-40B4-BE49-F238E27FC236}">
                <a16:creationId xmlns:a16="http://schemas.microsoft.com/office/drawing/2014/main" id="{451B388B-8524-63F0-F7E6-F27EDA56CCF8}"/>
              </a:ext>
            </a:extLst>
          </p:cNvPr>
          <p:cNvPicPr>
            <a:picLocks noChangeAspect="1"/>
          </p:cNvPicPr>
          <p:nvPr/>
        </p:nvPicPr>
        <p:blipFill>
          <a:blip r:embed="rId2"/>
          <a:stretch>
            <a:fillRect/>
          </a:stretch>
        </p:blipFill>
        <p:spPr>
          <a:xfrm>
            <a:off x="3050575" y="2822873"/>
            <a:ext cx="1714500" cy="2447925"/>
          </a:xfrm>
          <a:prstGeom prst="rect">
            <a:avLst/>
          </a:prstGeom>
        </p:spPr>
      </p:pic>
      <p:pic>
        <p:nvPicPr>
          <p:cNvPr id="12" name="Picture 11">
            <a:extLst>
              <a:ext uri="{FF2B5EF4-FFF2-40B4-BE49-F238E27FC236}">
                <a16:creationId xmlns:a16="http://schemas.microsoft.com/office/drawing/2014/main" id="{C9008B0D-A6A2-5EC6-85DE-722C6FD8C86D}"/>
              </a:ext>
            </a:extLst>
          </p:cNvPr>
          <p:cNvPicPr>
            <a:picLocks noChangeAspect="1"/>
          </p:cNvPicPr>
          <p:nvPr/>
        </p:nvPicPr>
        <p:blipFill>
          <a:blip r:embed="rId3"/>
          <a:stretch>
            <a:fillRect/>
          </a:stretch>
        </p:blipFill>
        <p:spPr>
          <a:xfrm>
            <a:off x="5635969" y="2475210"/>
            <a:ext cx="4248150" cy="3143250"/>
          </a:xfrm>
          <a:prstGeom prst="rect">
            <a:avLst/>
          </a:prstGeom>
        </p:spPr>
      </p:pic>
      <p:pic>
        <p:nvPicPr>
          <p:cNvPr id="13" name="Picture 12">
            <a:extLst>
              <a:ext uri="{FF2B5EF4-FFF2-40B4-BE49-F238E27FC236}">
                <a16:creationId xmlns:a16="http://schemas.microsoft.com/office/drawing/2014/main" id="{F7ECE5AE-42E3-71EF-EED7-F26D3C1D8BEF}"/>
              </a:ext>
            </a:extLst>
          </p:cNvPr>
          <p:cNvPicPr>
            <a:picLocks noChangeAspect="1"/>
          </p:cNvPicPr>
          <p:nvPr/>
        </p:nvPicPr>
        <p:blipFill>
          <a:blip r:embed="rId4"/>
          <a:stretch>
            <a:fillRect/>
          </a:stretch>
        </p:blipFill>
        <p:spPr>
          <a:xfrm>
            <a:off x="4920823" y="3885166"/>
            <a:ext cx="514350" cy="228600"/>
          </a:xfrm>
          <a:prstGeom prst="rect">
            <a:avLst/>
          </a:prstGeom>
        </p:spPr>
      </p:pic>
      <p:pic>
        <p:nvPicPr>
          <p:cNvPr id="15" name="Picture 14">
            <a:extLst>
              <a:ext uri="{FF2B5EF4-FFF2-40B4-BE49-F238E27FC236}">
                <a16:creationId xmlns:a16="http://schemas.microsoft.com/office/drawing/2014/main" id="{F9376155-A860-49DD-C017-245F1EBC945B}"/>
              </a:ext>
            </a:extLst>
          </p:cNvPr>
          <p:cNvPicPr>
            <a:picLocks noChangeAspect="1"/>
          </p:cNvPicPr>
          <p:nvPr/>
        </p:nvPicPr>
        <p:blipFill>
          <a:blip r:embed="rId5"/>
          <a:stretch>
            <a:fillRect/>
          </a:stretch>
        </p:blipFill>
        <p:spPr>
          <a:xfrm>
            <a:off x="726475" y="2708572"/>
            <a:ext cx="2324100" cy="2676525"/>
          </a:xfrm>
          <a:prstGeom prst="rect">
            <a:avLst/>
          </a:prstGeom>
        </p:spPr>
      </p:pic>
    </p:spTree>
    <p:extLst>
      <p:ext uri="{BB962C8B-B14F-4D97-AF65-F5344CB8AC3E}">
        <p14:creationId xmlns:p14="http://schemas.microsoft.com/office/powerpoint/2010/main" val="16013262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241441-C869-D5DC-2A47-FFB2845AA3E4}"/>
              </a:ext>
            </a:extLst>
          </p:cNvPr>
          <p:cNvSpPr txBox="1"/>
          <p:nvPr/>
        </p:nvSpPr>
        <p:spPr>
          <a:xfrm>
            <a:off x="1622854" y="356456"/>
            <a:ext cx="8130746" cy="369332"/>
          </a:xfrm>
          <a:prstGeom prst="rect">
            <a:avLst/>
          </a:prstGeom>
          <a:noFill/>
        </p:spPr>
        <p:txBody>
          <a:bodyPr wrap="square">
            <a:spAutoFit/>
          </a:bodyPr>
          <a:lstStyle/>
          <a:p>
            <a:pPr algn="l" fontAlgn="base"/>
            <a:r>
              <a:rPr lang="en-GB" b="1" i="0" dirty="0">
                <a:solidFill>
                  <a:srgbClr val="0A0A23"/>
                </a:solidFill>
                <a:effectLst/>
                <a:latin typeface="Lato"/>
              </a:rPr>
              <a:t>KNN Algorithm – K-Nearest </a:t>
            </a:r>
            <a:r>
              <a:rPr lang="en-GB" b="1" i="0" dirty="0" err="1">
                <a:solidFill>
                  <a:srgbClr val="0A0A23"/>
                </a:solidFill>
                <a:effectLst/>
                <a:latin typeface="Lato"/>
              </a:rPr>
              <a:t>Neighbors</a:t>
            </a:r>
            <a:r>
              <a:rPr lang="en-GB" b="1" i="0" dirty="0">
                <a:solidFill>
                  <a:srgbClr val="0A0A23"/>
                </a:solidFill>
                <a:effectLst/>
                <a:latin typeface="Lato"/>
              </a:rPr>
              <a:t> Classifiers and Model Example</a:t>
            </a:r>
          </a:p>
        </p:txBody>
      </p:sp>
      <p:sp>
        <p:nvSpPr>
          <p:cNvPr id="7" name="TextBox 6">
            <a:extLst>
              <a:ext uri="{FF2B5EF4-FFF2-40B4-BE49-F238E27FC236}">
                <a16:creationId xmlns:a16="http://schemas.microsoft.com/office/drawing/2014/main" id="{AE2BBBBA-675F-B6A3-8CE4-0CD01DFD5AFC}"/>
              </a:ext>
            </a:extLst>
          </p:cNvPr>
          <p:cNvSpPr txBox="1"/>
          <p:nvPr/>
        </p:nvSpPr>
        <p:spPr>
          <a:xfrm>
            <a:off x="955589" y="1873762"/>
            <a:ext cx="10149017" cy="646331"/>
          </a:xfrm>
          <a:prstGeom prst="rect">
            <a:avLst/>
          </a:prstGeom>
          <a:noFill/>
        </p:spPr>
        <p:txBody>
          <a:bodyPr wrap="square">
            <a:spAutoFit/>
          </a:bodyPr>
          <a:lstStyle/>
          <a:p>
            <a:r>
              <a:rPr lang="en-GB" b="0" i="0" dirty="0">
                <a:solidFill>
                  <a:srgbClr val="0A0A23"/>
                </a:solidFill>
                <a:effectLst/>
                <a:latin typeface="Lato"/>
              </a:rPr>
              <a:t>The K-Nearest </a:t>
            </a:r>
            <a:r>
              <a:rPr lang="en-GB" b="0" i="0" dirty="0" err="1">
                <a:solidFill>
                  <a:srgbClr val="0A0A23"/>
                </a:solidFill>
                <a:effectLst/>
                <a:latin typeface="Lato"/>
              </a:rPr>
              <a:t>Neighbors</a:t>
            </a:r>
            <a:r>
              <a:rPr lang="en-GB" b="0" i="0" dirty="0">
                <a:solidFill>
                  <a:srgbClr val="0A0A23"/>
                </a:solidFill>
                <a:effectLst/>
                <a:latin typeface="Lato"/>
              </a:rPr>
              <a:t> (K-NN) algorithm is a popular Machine Learning algorithm used mostly for solving classification problems.</a:t>
            </a:r>
            <a:endParaRPr lang="en-GB" dirty="0"/>
          </a:p>
        </p:txBody>
      </p:sp>
    </p:spTree>
    <p:extLst>
      <p:ext uri="{BB962C8B-B14F-4D97-AF65-F5344CB8AC3E}">
        <p14:creationId xmlns:p14="http://schemas.microsoft.com/office/powerpoint/2010/main" val="29830989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58AE39-C5F6-EF60-BC32-B50A36AAF880}"/>
              </a:ext>
            </a:extLst>
          </p:cNvPr>
          <p:cNvSpPr txBox="1"/>
          <p:nvPr/>
        </p:nvSpPr>
        <p:spPr>
          <a:xfrm>
            <a:off x="461319" y="644262"/>
            <a:ext cx="10725665" cy="369332"/>
          </a:xfrm>
          <a:prstGeom prst="rect">
            <a:avLst/>
          </a:prstGeom>
          <a:noFill/>
        </p:spPr>
        <p:txBody>
          <a:bodyPr wrap="square">
            <a:spAutoFit/>
          </a:bodyPr>
          <a:lstStyle/>
          <a:p>
            <a:pPr algn="l" fontAlgn="base"/>
            <a:r>
              <a:rPr lang="en-GB" b="1" i="0">
                <a:solidFill>
                  <a:srgbClr val="FF0000"/>
                </a:solidFill>
                <a:effectLst/>
                <a:latin typeface="inherit"/>
              </a:rPr>
              <a:t>What is the KNN algorithm?</a:t>
            </a:r>
            <a:endParaRPr lang="en-GB" b="1" i="0" dirty="0">
              <a:solidFill>
                <a:srgbClr val="FF0000"/>
              </a:solidFill>
              <a:effectLst/>
              <a:latin typeface="inherit"/>
            </a:endParaRPr>
          </a:p>
        </p:txBody>
      </p:sp>
      <p:sp>
        <p:nvSpPr>
          <p:cNvPr id="7" name="TextBox 6">
            <a:extLst>
              <a:ext uri="{FF2B5EF4-FFF2-40B4-BE49-F238E27FC236}">
                <a16:creationId xmlns:a16="http://schemas.microsoft.com/office/drawing/2014/main" id="{9A067F98-2DCC-3B81-6C14-CCEF4B46F0C5}"/>
              </a:ext>
            </a:extLst>
          </p:cNvPr>
          <p:cNvSpPr txBox="1"/>
          <p:nvPr/>
        </p:nvSpPr>
        <p:spPr>
          <a:xfrm>
            <a:off x="461318" y="1093557"/>
            <a:ext cx="10725665" cy="923330"/>
          </a:xfrm>
          <a:prstGeom prst="rect">
            <a:avLst/>
          </a:prstGeom>
          <a:noFill/>
        </p:spPr>
        <p:txBody>
          <a:bodyPr wrap="square">
            <a:spAutoFit/>
          </a:bodyPr>
          <a:lstStyle/>
          <a:p>
            <a:r>
              <a:rPr lang="en-GB" b="0" i="0">
                <a:solidFill>
                  <a:srgbClr val="273239"/>
                </a:solidFill>
                <a:effectLst/>
                <a:latin typeface="Nunito"/>
              </a:rPr>
              <a:t>K-Nearest Neighbors (KNN) is a supervised machine learning algorithm generally used for classification but can also be used for regression tasks. It works by finding the "k" closest data points (neighbors) to a given input and makes a predictions based on the majority class (for classification) or the average value (for regression). </a:t>
            </a:r>
            <a:endParaRPr lang="en-GB" dirty="0"/>
          </a:p>
        </p:txBody>
      </p:sp>
      <p:pic>
        <p:nvPicPr>
          <p:cNvPr id="8" name="Picture 7">
            <a:extLst>
              <a:ext uri="{FF2B5EF4-FFF2-40B4-BE49-F238E27FC236}">
                <a16:creationId xmlns:a16="http://schemas.microsoft.com/office/drawing/2014/main" id="{96F8353F-3CBA-3CB6-4258-7F4974A8E144}"/>
              </a:ext>
            </a:extLst>
          </p:cNvPr>
          <p:cNvPicPr>
            <a:picLocks noChangeAspect="1"/>
          </p:cNvPicPr>
          <p:nvPr/>
        </p:nvPicPr>
        <p:blipFill>
          <a:blip r:embed="rId2"/>
          <a:stretch>
            <a:fillRect/>
          </a:stretch>
        </p:blipFill>
        <p:spPr>
          <a:xfrm>
            <a:off x="1750540" y="2529016"/>
            <a:ext cx="7620000" cy="3810000"/>
          </a:xfrm>
          <a:prstGeom prst="rect">
            <a:avLst/>
          </a:prstGeom>
        </p:spPr>
      </p:pic>
    </p:spTree>
    <p:extLst>
      <p:ext uri="{BB962C8B-B14F-4D97-AF65-F5344CB8AC3E}">
        <p14:creationId xmlns:p14="http://schemas.microsoft.com/office/powerpoint/2010/main" val="39439697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0E2E3F-0537-AF10-0A5D-B74F23485F3D}"/>
              </a:ext>
            </a:extLst>
          </p:cNvPr>
          <p:cNvSpPr txBox="1"/>
          <p:nvPr/>
        </p:nvSpPr>
        <p:spPr>
          <a:xfrm>
            <a:off x="584886" y="334831"/>
            <a:ext cx="9580606" cy="369332"/>
          </a:xfrm>
          <a:prstGeom prst="rect">
            <a:avLst/>
          </a:prstGeom>
          <a:noFill/>
        </p:spPr>
        <p:txBody>
          <a:bodyPr wrap="square">
            <a:spAutoFit/>
          </a:bodyPr>
          <a:lstStyle/>
          <a:p>
            <a:pPr algn="l" rtl="0" fontAlgn="base"/>
            <a:r>
              <a:rPr lang="en-GB" b="0" i="0" dirty="0">
                <a:solidFill>
                  <a:srgbClr val="273239"/>
                </a:solidFill>
                <a:effectLst/>
                <a:latin typeface="Nunito"/>
              </a:rPr>
              <a:t>For example, consider the following table of data points containing two features:</a:t>
            </a:r>
          </a:p>
        </p:txBody>
      </p:sp>
      <p:pic>
        <p:nvPicPr>
          <p:cNvPr id="6" name="Picture 5">
            <a:extLst>
              <a:ext uri="{FF2B5EF4-FFF2-40B4-BE49-F238E27FC236}">
                <a16:creationId xmlns:a16="http://schemas.microsoft.com/office/drawing/2014/main" id="{CD2ECE19-74EB-EC71-2665-E7D947936D52}"/>
              </a:ext>
            </a:extLst>
          </p:cNvPr>
          <p:cNvPicPr>
            <a:picLocks noChangeAspect="1"/>
          </p:cNvPicPr>
          <p:nvPr/>
        </p:nvPicPr>
        <p:blipFill>
          <a:blip r:embed="rId2"/>
          <a:stretch>
            <a:fillRect/>
          </a:stretch>
        </p:blipFill>
        <p:spPr>
          <a:xfrm>
            <a:off x="1730631" y="1523999"/>
            <a:ext cx="8289110" cy="4139381"/>
          </a:xfrm>
          <a:prstGeom prst="rect">
            <a:avLst/>
          </a:prstGeom>
        </p:spPr>
      </p:pic>
    </p:spTree>
    <p:extLst>
      <p:ext uri="{BB962C8B-B14F-4D97-AF65-F5344CB8AC3E}">
        <p14:creationId xmlns:p14="http://schemas.microsoft.com/office/powerpoint/2010/main" val="1726162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686138-636F-94C8-5F81-591F0E17251E}"/>
              </a:ext>
            </a:extLst>
          </p:cNvPr>
          <p:cNvSpPr txBox="1"/>
          <p:nvPr/>
        </p:nvSpPr>
        <p:spPr>
          <a:xfrm>
            <a:off x="922638" y="450160"/>
            <a:ext cx="10750378" cy="923330"/>
          </a:xfrm>
          <a:prstGeom prst="rect">
            <a:avLst/>
          </a:prstGeom>
          <a:noFill/>
        </p:spPr>
        <p:txBody>
          <a:bodyPr wrap="square">
            <a:spAutoFit/>
          </a:bodyPr>
          <a:lstStyle/>
          <a:p>
            <a:pPr algn="l" fontAlgn="base"/>
            <a:r>
              <a:rPr lang="en-GB" b="1" i="0" dirty="0">
                <a:solidFill>
                  <a:srgbClr val="273239"/>
                </a:solidFill>
                <a:effectLst/>
                <a:latin typeface="Nunito"/>
              </a:rPr>
              <a:t>Distance Metrics Used in KNN Algorithm</a:t>
            </a:r>
          </a:p>
          <a:p>
            <a:pPr algn="l" rtl="0" fontAlgn="base"/>
            <a:r>
              <a:rPr lang="en-GB" b="0" i="0" dirty="0">
                <a:solidFill>
                  <a:srgbClr val="273239"/>
                </a:solidFill>
                <a:effectLst/>
                <a:latin typeface="Nunito"/>
              </a:rPr>
              <a:t>KNN uses distance metrics to identify nearest </a:t>
            </a:r>
            <a:r>
              <a:rPr lang="en-GB" b="0" i="0" dirty="0" err="1">
                <a:solidFill>
                  <a:srgbClr val="273239"/>
                </a:solidFill>
                <a:effectLst/>
                <a:latin typeface="Nunito"/>
              </a:rPr>
              <a:t>neighbor</a:t>
            </a:r>
            <a:r>
              <a:rPr lang="en-GB" b="0" i="0" dirty="0">
                <a:solidFill>
                  <a:srgbClr val="273239"/>
                </a:solidFill>
                <a:effectLst/>
                <a:latin typeface="Nunito"/>
              </a:rPr>
              <a:t>, these </a:t>
            </a:r>
            <a:r>
              <a:rPr lang="en-GB" b="0" i="0" dirty="0" err="1">
                <a:solidFill>
                  <a:srgbClr val="273239"/>
                </a:solidFill>
                <a:effectLst/>
                <a:latin typeface="Nunito"/>
              </a:rPr>
              <a:t>neighbors</a:t>
            </a:r>
            <a:r>
              <a:rPr lang="en-GB" b="0" i="0" dirty="0">
                <a:solidFill>
                  <a:srgbClr val="273239"/>
                </a:solidFill>
                <a:effectLst/>
                <a:latin typeface="Nunito"/>
              </a:rPr>
              <a:t> are used for classification and regression task. To identify nearest </a:t>
            </a:r>
            <a:r>
              <a:rPr lang="en-GB" b="0" i="0" dirty="0" err="1">
                <a:solidFill>
                  <a:srgbClr val="273239"/>
                </a:solidFill>
                <a:effectLst/>
                <a:latin typeface="Nunito"/>
              </a:rPr>
              <a:t>neighbor</a:t>
            </a:r>
            <a:r>
              <a:rPr lang="en-GB" b="0" i="0" dirty="0">
                <a:solidFill>
                  <a:srgbClr val="273239"/>
                </a:solidFill>
                <a:effectLst/>
                <a:latin typeface="Nunito"/>
              </a:rPr>
              <a:t> we use below distance metrics:</a:t>
            </a:r>
          </a:p>
        </p:txBody>
      </p:sp>
      <p:sp>
        <p:nvSpPr>
          <p:cNvPr id="7" name="TextBox 6">
            <a:extLst>
              <a:ext uri="{FF2B5EF4-FFF2-40B4-BE49-F238E27FC236}">
                <a16:creationId xmlns:a16="http://schemas.microsoft.com/office/drawing/2014/main" id="{11961DDE-5983-C771-DEAA-CB62EA60BD0E}"/>
              </a:ext>
            </a:extLst>
          </p:cNvPr>
          <p:cNvSpPr txBox="1"/>
          <p:nvPr/>
        </p:nvSpPr>
        <p:spPr>
          <a:xfrm>
            <a:off x="922638" y="1631776"/>
            <a:ext cx="6096000" cy="369332"/>
          </a:xfrm>
          <a:prstGeom prst="rect">
            <a:avLst/>
          </a:prstGeom>
          <a:noFill/>
        </p:spPr>
        <p:txBody>
          <a:bodyPr wrap="square">
            <a:spAutoFit/>
          </a:bodyPr>
          <a:lstStyle/>
          <a:p>
            <a:pPr algn="l" fontAlgn="base"/>
            <a:r>
              <a:rPr lang="en-GB" b="1" i="0" dirty="0">
                <a:solidFill>
                  <a:srgbClr val="273239"/>
                </a:solidFill>
                <a:effectLst/>
                <a:latin typeface="Nunito"/>
              </a:rPr>
              <a:t>1. Euclidean Distance</a:t>
            </a:r>
          </a:p>
        </p:txBody>
      </p:sp>
      <p:pic>
        <p:nvPicPr>
          <p:cNvPr id="11" name="Picture 10">
            <a:extLst>
              <a:ext uri="{FF2B5EF4-FFF2-40B4-BE49-F238E27FC236}">
                <a16:creationId xmlns:a16="http://schemas.microsoft.com/office/drawing/2014/main" id="{5A560F7A-F23C-5AAD-0C82-AEF3A29A1B35}"/>
              </a:ext>
            </a:extLst>
          </p:cNvPr>
          <p:cNvPicPr>
            <a:picLocks noChangeAspect="1"/>
          </p:cNvPicPr>
          <p:nvPr/>
        </p:nvPicPr>
        <p:blipFill>
          <a:blip r:embed="rId2"/>
          <a:stretch>
            <a:fillRect/>
          </a:stretch>
        </p:blipFill>
        <p:spPr>
          <a:xfrm>
            <a:off x="2665713" y="2080182"/>
            <a:ext cx="4438650" cy="638175"/>
          </a:xfrm>
          <a:prstGeom prst="rect">
            <a:avLst/>
          </a:prstGeom>
        </p:spPr>
      </p:pic>
      <p:sp>
        <p:nvSpPr>
          <p:cNvPr id="13" name="TextBox 12">
            <a:extLst>
              <a:ext uri="{FF2B5EF4-FFF2-40B4-BE49-F238E27FC236}">
                <a16:creationId xmlns:a16="http://schemas.microsoft.com/office/drawing/2014/main" id="{5130EAE0-16DD-08E2-E54B-25133A810764}"/>
              </a:ext>
            </a:extLst>
          </p:cNvPr>
          <p:cNvSpPr txBox="1"/>
          <p:nvPr/>
        </p:nvSpPr>
        <p:spPr>
          <a:xfrm>
            <a:off x="1008363" y="2941593"/>
            <a:ext cx="6096000" cy="369332"/>
          </a:xfrm>
          <a:prstGeom prst="rect">
            <a:avLst/>
          </a:prstGeom>
          <a:noFill/>
        </p:spPr>
        <p:txBody>
          <a:bodyPr wrap="square">
            <a:spAutoFit/>
          </a:bodyPr>
          <a:lstStyle/>
          <a:p>
            <a:pPr algn="l" fontAlgn="base"/>
            <a:r>
              <a:rPr lang="en-GB" b="1" i="0" dirty="0">
                <a:solidFill>
                  <a:srgbClr val="273239"/>
                </a:solidFill>
                <a:effectLst/>
                <a:latin typeface="Nunito"/>
              </a:rPr>
              <a:t>2. Manhattan Distance</a:t>
            </a:r>
          </a:p>
        </p:txBody>
      </p:sp>
      <p:pic>
        <p:nvPicPr>
          <p:cNvPr id="15" name="Picture 14">
            <a:extLst>
              <a:ext uri="{FF2B5EF4-FFF2-40B4-BE49-F238E27FC236}">
                <a16:creationId xmlns:a16="http://schemas.microsoft.com/office/drawing/2014/main" id="{72A4415D-9B9C-4C8E-1F98-EEA9978B8C18}"/>
              </a:ext>
            </a:extLst>
          </p:cNvPr>
          <p:cNvPicPr>
            <a:picLocks noChangeAspect="1"/>
          </p:cNvPicPr>
          <p:nvPr/>
        </p:nvPicPr>
        <p:blipFill>
          <a:blip r:embed="rId3"/>
          <a:stretch>
            <a:fillRect/>
          </a:stretch>
        </p:blipFill>
        <p:spPr>
          <a:xfrm>
            <a:off x="2618088" y="3493530"/>
            <a:ext cx="2876550" cy="495300"/>
          </a:xfrm>
          <a:prstGeom prst="rect">
            <a:avLst/>
          </a:prstGeom>
        </p:spPr>
      </p:pic>
      <p:sp>
        <p:nvSpPr>
          <p:cNvPr id="17" name="TextBox 16">
            <a:extLst>
              <a:ext uri="{FF2B5EF4-FFF2-40B4-BE49-F238E27FC236}">
                <a16:creationId xmlns:a16="http://schemas.microsoft.com/office/drawing/2014/main" id="{2AD649E1-DC3D-3F5A-4F39-11FEE61D1D48}"/>
              </a:ext>
            </a:extLst>
          </p:cNvPr>
          <p:cNvSpPr txBox="1"/>
          <p:nvPr/>
        </p:nvSpPr>
        <p:spPr>
          <a:xfrm>
            <a:off x="1008363" y="4066744"/>
            <a:ext cx="6096000" cy="369332"/>
          </a:xfrm>
          <a:prstGeom prst="rect">
            <a:avLst/>
          </a:prstGeom>
          <a:noFill/>
        </p:spPr>
        <p:txBody>
          <a:bodyPr wrap="square">
            <a:spAutoFit/>
          </a:bodyPr>
          <a:lstStyle/>
          <a:p>
            <a:pPr algn="l" fontAlgn="base"/>
            <a:r>
              <a:rPr lang="en-GB" b="1" i="0" dirty="0">
                <a:solidFill>
                  <a:srgbClr val="273239"/>
                </a:solidFill>
                <a:effectLst/>
                <a:latin typeface="Nunito"/>
              </a:rPr>
              <a:t>3. </a:t>
            </a:r>
            <a:r>
              <a:rPr lang="en-GB" b="1" i="0" dirty="0" err="1">
                <a:solidFill>
                  <a:srgbClr val="273239"/>
                </a:solidFill>
                <a:effectLst/>
                <a:latin typeface="Nunito"/>
              </a:rPr>
              <a:t>Minkowski</a:t>
            </a:r>
            <a:r>
              <a:rPr lang="en-GB" b="1" i="0" dirty="0">
                <a:solidFill>
                  <a:srgbClr val="273239"/>
                </a:solidFill>
                <a:effectLst/>
                <a:latin typeface="Nunito"/>
              </a:rPr>
              <a:t> Distance</a:t>
            </a:r>
          </a:p>
        </p:txBody>
      </p:sp>
      <p:pic>
        <p:nvPicPr>
          <p:cNvPr id="19" name="Picture 18">
            <a:extLst>
              <a:ext uri="{FF2B5EF4-FFF2-40B4-BE49-F238E27FC236}">
                <a16:creationId xmlns:a16="http://schemas.microsoft.com/office/drawing/2014/main" id="{9A8E374E-EFCD-0088-67D0-93BAB84063FC}"/>
              </a:ext>
            </a:extLst>
          </p:cNvPr>
          <p:cNvPicPr>
            <a:picLocks noChangeAspect="1"/>
          </p:cNvPicPr>
          <p:nvPr/>
        </p:nvPicPr>
        <p:blipFill>
          <a:blip r:embed="rId4"/>
          <a:stretch>
            <a:fillRect/>
          </a:stretch>
        </p:blipFill>
        <p:spPr>
          <a:xfrm>
            <a:off x="2618088" y="4678367"/>
            <a:ext cx="3333750" cy="542925"/>
          </a:xfrm>
          <a:prstGeom prst="rect">
            <a:avLst/>
          </a:prstGeom>
        </p:spPr>
      </p:pic>
    </p:spTree>
    <p:extLst>
      <p:ext uri="{BB962C8B-B14F-4D97-AF65-F5344CB8AC3E}">
        <p14:creationId xmlns:p14="http://schemas.microsoft.com/office/powerpoint/2010/main" val="42845219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BB77AE-87FD-6F53-3E22-6A86508F6CB1}"/>
              </a:ext>
            </a:extLst>
          </p:cNvPr>
          <p:cNvSpPr txBox="1"/>
          <p:nvPr/>
        </p:nvSpPr>
        <p:spPr>
          <a:xfrm>
            <a:off x="749643" y="253995"/>
            <a:ext cx="10989276" cy="923330"/>
          </a:xfrm>
          <a:prstGeom prst="rect">
            <a:avLst/>
          </a:prstGeom>
          <a:noFill/>
        </p:spPr>
        <p:txBody>
          <a:bodyPr wrap="square">
            <a:spAutoFit/>
          </a:bodyPr>
          <a:lstStyle/>
          <a:p>
            <a:pPr algn="l" fontAlgn="base"/>
            <a:r>
              <a:rPr lang="en-GB" b="1" i="0" dirty="0">
                <a:solidFill>
                  <a:srgbClr val="273239"/>
                </a:solidFill>
                <a:effectLst/>
                <a:latin typeface="Nunito"/>
              </a:rPr>
              <a:t>Working of KNN algorithm</a:t>
            </a:r>
          </a:p>
          <a:p>
            <a:pPr algn="l" rtl="0" fontAlgn="base"/>
            <a:r>
              <a:rPr lang="en-GB" b="0" i="0" dirty="0" err="1">
                <a:solidFill>
                  <a:srgbClr val="273239"/>
                </a:solidFill>
                <a:effectLst/>
                <a:latin typeface="Nunito"/>
              </a:rPr>
              <a:t>Thе</a:t>
            </a:r>
            <a:r>
              <a:rPr lang="en-GB" b="0" i="0" dirty="0">
                <a:solidFill>
                  <a:srgbClr val="273239"/>
                </a:solidFill>
                <a:effectLst/>
                <a:latin typeface="Nunito"/>
              </a:rPr>
              <a:t> K-Nearest </a:t>
            </a:r>
            <a:r>
              <a:rPr lang="en-GB" b="0" i="0" dirty="0" err="1">
                <a:solidFill>
                  <a:srgbClr val="273239"/>
                </a:solidFill>
                <a:effectLst/>
                <a:latin typeface="Nunito"/>
              </a:rPr>
              <a:t>Neighbors</a:t>
            </a:r>
            <a:r>
              <a:rPr lang="en-GB" b="0" i="0" dirty="0">
                <a:solidFill>
                  <a:srgbClr val="273239"/>
                </a:solidFill>
                <a:effectLst/>
                <a:latin typeface="Nunito"/>
              </a:rPr>
              <a:t> (KNN) algorithm operates on the principle of similarity where it predicts the label or value of a new data point by considering the labels or values of its K nearest </a:t>
            </a:r>
            <a:r>
              <a:rPr lang="en-GB" b="0" i="0" dirty="0" err="1">
                <a:solidFill>
                  <a:srgbClr val="273239"/>
                </a:solidFill>
                <a:effectLst/>
                <a:latin typeface="Nunito"/>
              </a:rPr>
              <a:t>neighbors</a:t>
            </a:r>
            <a:r>
              <a:rPr lang="en-GB" b="0" i="0" dirty="0">
                <a:solidFill>
                  <a:srgbClr val="273239"/>
                </a:solidFill>
                <a:effectLst/>
                <a:latin typeface="Nunito"/>
              </a:rPr>
              <a:t> in the training dataset.</a:t>
            </a:r>
          </a:p>
        </p:txBody>
      </p:sp>
      <p:pic>
        <p:nvPicPr>
          <p:cNvPr id="6" name="Picture 5">
            <a:extLst>
              <a:ext uri="{FF2B5EF4-FFF2-40B4-BE49-F238E27FC236}">
                <a16:creationId xmlns:a16="http://schemas.microsoft.com/office/drawing/2014/main" id="{8EF3035C-D886-7EEE-51DA-8E36E6BD63E9}"/>
              </a:ext>
            </a:extLst>
          </p:cNvPr>
          <p:cNvPicPr>
            <a:picLocks noChangeAspect="1"/>
          </p:cNvPicPr>
          <p:nvPr/>
        </p:nvPicPr>
        <p:blipFill>
          <a:blip r:embed="rId2"/>
          <a:stretch>
            <a:fillRect/>
          </a:stretch>
        </p:blipFill>
        <p:spPr>
          <a:xfrm>
            <a:off x="562675" y="1631478"/>
            <a:ext cx="11066649" cy="4349193"/>
          </a:xfrm>
          <a:prstGeom prst="rect">
            <a:avLst/>
          </a:prstGeom>
        </p:spPr>
      </p:pic>
    </p:spTree>
    <p:extLst>
      <p:ext uri="{BB962C8B-B14F-4D97-AF65-F5344CB8AC3E}">
        <p14:creationId xmlns:p14="http://schemas.microsoft.com/office/powerpoint/2010/main" val="36856606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0F73C6-10A6-9C66-CA30-6304CF740D49}"/>
              </a:ext>
            </a:extLst>
          </p:cNvPr>
          <p:cNvSpPr txBox="1"/>
          <p:nvPr/>
        </p:nvSpPr>
        <p:spPr>
          <a:xfrm>
            <a:off x="778477" y="2410760"/>
            <a:ext cx="10124302" cy="2585323"/>
          </a:xfrm>
          <a:prstGeom prst="rect">
            <a:avLst/>
          </a:prstGeom>
          <a:noFill/>
        </p:spPr>
        <p:txBody>
          <a:bodyPr wrap="square">
            <a:spAutoFit/>
          </a:bodyPr>
          <a:lstStyle/>
          <a:p>
            <a:pPr algn="l" fontAlgn="base"/>
            <a:r>
              <a:rPr lang="en-GB" b="1" i="0" dirty="0">
                <a:solidFill>
                  <a:srgbClr val="1B1B32"/>
                </a:solidFill>
                <a:effectLst/>
                <a:latin typeface="inherit"/>
              </a:rPr>
              <a:t>Step #1 -</a:t>
            </a:r>
            <a:r>
              <a:rPr lang="en-GB" b="0" i="0" dirty="0">
                <a:solidFill>
                  <a:srgbClr val="0A0A23"/>
                </a:solidFill>
                <a:effectLst/>
                <a:latin typeface="Lato"/>
              </a:rPr>
              <a:t> Assign a value to </a:t>
            </a:r>
            <a:r>
              <a:rPr lang="en-GB" b="1" i="0" dirty="0">
                <a:solidFill>
                  <a:srgbClr val="1B1B32"/>
                </a:solidFill>
                <a:effectLst/>
                <a:latin typeface="inherit"/>
              </a:rPr>
              <a:t>K</a:t>
            </a:r>
            <a:r>
              <a:rPr lang="en-GB" b="0" i="0" dirty="0">
                <a:solidFill>
                  <a:srgbClr val="0A0A23"/>
                </a:solidFill>
                <a:effectLst/>
                <a:latin typeface="Lato"/>
              </a:rPr>
              <a:t>.</a:t>
            </a:r>
          </a:p>
          <a:p>
            <a:pPr algn="l" fontAlgn="base"/>
            <a:endParaRPr lang="en-GB" b="0" i="0" dirty="0">
              <a:solidFill>
                <a:srgbClr val="0A0A23"/>
              </a:solidFill>
              <a:effectLst/>
              <a:latin typeface="Lato"/>
            </a:endParaRPr>
          </a:p>
          <a:p>
            <a:pPr algn="l" fontAlgn="base"/>
            <a:r>
              <a:rPr lang="en-GB" b="1" i="0" dirty="0">
                <a:solidFill>
                  <a:srgbClr val="1B1B32"/>
                </a:solidFill>
                <a:effectLst/>
                <a:latin typeface="inherit"/>
              </a:rPr>
              <a:t>Step #2 -</a:t>
            </a:r>
            <a:r>
              <a:rPr lang="en-GB" b="0" i="0" dirty="0">
                <a:solidFill>
                  <a:srgbClr val="0A0A23"/>
                </a:solidFill>
                <a:effectLst/>
                <a:latin typeface="Lato"/>
              </a:rPr>
              <a:t> Calculate the distance between the new data entry and all other existing data entries (you'll learn how to do this shortly). Arrange them in ascending order.</a:t>
            </a:r>
          </a:p>
          <a:p>
            <a:pPr algn="l" fontAlgn="base"/>
            <a:endParaRPr lang="en-GB" b="0" i="0" dirty="0">
              <a:solidFill>
                <a:srgbClr val="0A0A23"/>
              </a:solidFill>
              <a:effectLst/>
              <a:latin typeface="Lato"/>
            </a:endParaRPr>
          </a:p>
          <a:p>
            <a:pPr algn="l" fontAlgn="base"/>
            <a:r>
              <a:rPr lang="en-GB" b="1" i="0" dirty="0">
                <a:solidFill>
                  <a:srgbClr val="1B1B32"/>
                </a:solidFill>
                <a:effectLst/>
                <a:latin typeface="inherit"/>
              </a:rPr>
              <a:t>Step #3 -</a:t>
            </a:r>
            <a:r>
              <a:rPr lang="en-GB" b="0" i="0" dirty="0">
                <a:solidFill>
                  <a:srgbClr val="0A0A23"/>
                </a:solidFill>
                <a:effectLst/>
                <a:latin typeface="Lato"/>
              </a:rPr>
              <a:t> Find the </a:t>
            </a:r>
            <a:r>
              <a:rPr lang="en-GB" b="1" i="0" dirty="0">
                <a:solidFill>
                  <a:srgbClr val="1B1B32"/>
                </a:solidFill>
                <a:effectLst/>
                <a:latin typeface="inherit"/>
              </a:rPr>
              <a:t>K</a:t>
            </a:r>
            <a:r>
              <a:rPr lang="en-GB" b="0" i="0" dirty="0">
                <a:solidFill>
                  <a:srgbClr val="0A0A23"/>
                </a:solidFill>
                <a:effectLst/>
                <a:latin typeface="Lato"/>
              </a:rPr>
              <a:t> nearest </a:t>
            </a:r>
            <a:r>
              <a:rPr lang="en-GB" b="0" i="0" dirty="0" err="1">
                <a:solidFill>
                  <a:srgbClr val="0A0A23"/>
                </a:solidFill>
                <a:effectLst/>
                <a:latin typeface="Lato"/>
              </a:rPr>
              <a:t>neighbors</a:t>
            </a:r>
            <a:r>
              <a:rPr lang="en-GB" b="0" i="0" dirty="0">
                <a:solidFill>
                  <a:srgbClr val="0A0A23"/>
                </a:solidFill>
                <a:effectLst/>
                <a:latin typeface="Lato"/>
              </a:rPr>
              <a:t> to the new entry based on the calculated distances.</a:t>
            </a:r>
          </a:p>
          <a:p>
            <a:pPr algn="l" fontAlgn="base"/>
            <a:endParaRPr lang="en-GB" b="0" i="0" dirty="0">
              <a:solidFill>
                <a:srgbClr val="0A0A23"/>
              </a:solidFill>
              <a:effectLst/>
              <a:latin typeface="Lato"/>
            </a:endParaRPr>
          </a:p>
          <a:p>
            <a:pPr algn="l" fontAlgn="base"/>
            <a:r>
              <a:rPr lang="en-GB" b="1" i="0" dirty="0">
                <a:solidFill>
                  <a:srgbClr val="1B1B32"/>
                </a:solidFill>
                <a:effectLst/>
                <a:latin typeface="inherit"/>
              </a:rPr>
              <a:t>Step #4 -</a:t>
            </a:r>
            <a:r>
              <a:rPr lang="en-GB" b="0" i="0" dirty="0">
                <a:solidFill>
                  <a:srgbClr val="0A0A23"/>
                </a:solidFill>
                <a:effectLst/>
                <a:latin typeface="Lato"/>
              </a:rPr>
              <a:t> Assign the new data entry to the majority class in the nearest </a:t>
            </a:r>
            <a:r>
              <a:rPr lang="en-GB" b="0" i="0" dirty="0" err="1">
                <a:solidFill>
                  <a:srgbClr val="0A0A23"/>
                </a:solidFill>
                <a:effectLst/>
                <a:latin typeface="Lato"/>
              </a:rPr>
              <a:t>neighbors</a:t>
            </a:r>
            <a:r>
              <a:rPr lang="en-GB" b="0" i="0" dirty="0">
                <a:solidFill>
                  <a:srgbClr val="0A0A23"/>
                </a:solidFill>
                <a:effectLst/>
                <a:latin typeface="Lato"/>
              </a:rPr>
              <a:t>. This called the majority voting.</a:t>
            </a:r>
          </a:p>
        </p:txBody>
      </p:sp>
      <p:sp>
        <p:nvSpPr>
          <p:cNvPr id="7" name="TextBox 6">
            <a:extLst>
              <a:ext uri="{FF2B5EF4-FFF2-40B4-BE49-F238E27FC236}">
                <a16:creationId xmlns:a16="http://schemas.microsoft.com/office/drawing/2014/main" id="{E7F08467-44B2-FBE0-6C6D-184B6A5C460C}"/>
              </a:ext>
            </a:extLst>
          </p:cNvPr>
          <p:cNvSpPr txBox="1"/>
          <p:nvPr/>
        </p:nvSpPr>
        <p:spPr>
          <a:xfrm>
            <a:off x="1297460" y="1025090"/>
            <a:ext cx="9778313" cy="646331"/>
          </a:xfrm>
          <a:prstGeom prst="rect">
            <a:avLst/>
          </a:prstGeom>
          <a:noFill/>
        </p:spPr>
        <p:txBody>
          <a:bodyPr wrap="square">
            <a:spAutoFit/>
          </a:bodyPr>
          <a:lstStyle/>
          <a:p>
            <a:r>
              <a:rPr lang="en-GB" b="0" i="0" dirty="0">
                <a:solidFill>
                  <a:srgbClr val="0A0A23"/>
                </a:solidFill>
                <a:effectLst/>
                <a:latin typeface="Lato"/>
              </a:rPr>
              <a:t>Based on its closeness or similarities in a given range (</a:t>
            </a:r>
            <a:r>
              <a:rPr lang="en-GB" b="1" i="0" dirty="0">
                <a:solidFill>
                  <a:srgbClr val="1B1B32"/>
                </a:solidFill>
                <a:effectLst/>
                <a:latin typeface="Lato"/>
              </a:rPr>
              <a:t>K</a:t>
            </a:r>
            <a:r>
              <a:rPr lang="en-GB" b="0" i="0" dirty="0">
                <a:solidFill>
                  <a:srgbClr val="0A0A23"/>
                </a:solidFill>
                <a:effectLst/>
                <a:latin typeface="Lato"/>
              </a:rPr>
              <a:t>) of </a:t>
            </a:r>
            <a:r>
              <a:rPr lang="en-GB" b="0" i="0" dirty="0" err="1">
                <a:solidFill>
                  <a:srgbClr val="0A0A23"/>
                </a:solidFill>
                <a:effectLst/>
                <a:latin typeface="Lato"/>
              </a:rPr>
              <a:t>neighbors</a:t>
            </a:r>
            <a:r>
              <a:rPr lang="en-GB" b="0" i="0" dirty="0">
                <a:solidFill>
                  <a:srgbClr val="0A0A23"/>
                </a:solidFill>
                <a:effectLst/>
                <a:latin typeface="Lato"/>
              </a:rPr>
              <a:t>, the algorithm assigns the new data to a class or category in the data set (training data).</a:t>
            </a:r>
            <a:endParaRPr lang="en-GB" dirty="0"/>
          </a:p>
        </p:txBody>
      </p:sp>
    </p:spTree>
    <p:extLst>
      <p:ext uri="{BB962C8B-B14F-4D97-AF65-F5344CB8AC3E}">
        <p14:creationId xmlns:p14="http://schemas.microsoft.com/office/powerpoint/2010/main" val="22763428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Working steps of KNN algorithm | Download Scientific Diagram">
            <a:extLst>
              <a:ext uri="{FF2B5EF4-FFF2-40B4-BE49-F238E27FC236}">
                <a16:creationId xmlns:a16="http://schemas.microsoft.com/office/drawing/2014/main" id="{F974D065-6A3B-E900-4E12-1284F0DAA0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6725" y="2157413"/>
            <a:ext cx="3638550" cy="25431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orking steps of KNN algorithm | Download Scientific Diagram">
            <a:extLst>
              <a:ext uri="{FF2B5EF4-FFF2-40B4-BE49-F238E27FC236}">
                <a16:creationId xmlns:a16="http://schemas.microsoft.com/office/drawing/2014/main" id="{DA67E9B3-97B2-0423-D945-BFB65A473E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9805" y="800907"/>
            <a:ext cx="4873584" cy="5217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81882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CBD42EB-DE46-FFF2-3DCC-77149BB2F27F}"/>
              </a:ext>
            </a:extLst>
          </p:cNvPr>
          <p:cNvSpPr txBox="1"/>
          <p:nvPr/>
        </p:nvSpPr>
        <p:spPr>
          <a:xfrm>
            <a:off x="996779" y="481048"/>
            <a:ext cx="10536194" cy="1477328"/>
          </a:xfrm>
          <a:prstGeom prst="rect">
            <a:avLst/>
          </a:prstGeom>
          <a:noFill/>
        </p:spPr>
        <p:txBody>
          <a:bodyPr wrap="square">
            <a:spAutoFit/>
          </a:bodyPr>
          <a:lstStyle/>
          <a:p>
            <a:pPr algn="l" fontAlgn="base"/>
            <a:r>
              <a:rPr lang="en-GB" b="1" i="0" dirty="0">
                <a:solidFill>
                  <a:srgbClr val="FF0000"/>
                </a:solidFill>
                <a:effectLst/>
                <a:latin typeface="Nunito" panose="020F0502020204030204"/>
              </a:rPr>
              <a:t>Advantages of KNN</a:t>
            </a:r>
          </a:p>
          <a:p>
            <a:pPr algn="l" fontAlgn="base"/>
            <a:endParaRPr lang="en-GB" b="1" i="0" dirty="0">
              <a:solidFill>
                <a:srgbClr val="273239"/>
              </a:solidFill>
              <a:effectLst/>
              <a:latin typeface="Nunito" panose="020F0502020204030204"/>
            </a:endParaRPr>
          </a:p>
          <a:p>
            <a:pPr algn="l" fontAlgn="base">
              <a:buFont typeface="Arial" panose="020B0604020202020204" pitchFamily="34" charset="0"/>
              <a:buChar char="•"/>
            </a:pPr>
            <a:r>
              <a:rPr lang="en-GB" b="1" i="0" dirty="0">
                <a:solidFill>
                  <a:srgbClr val="273239"/>
                </a:solidFill>
                <a:effectLst/>
                <a:latin typeface="Nunito" panose="020F0502020204030204"/>
              </a:rPr>
              <a:t>Simple to use</a:t>
            </a:r>
            <a:r>
              <a:rPr lang="en-GB" b="0" i="0" dirty="0">
                <a:solidFill>
                  <a:srgbClr val="273239"/>
                </a:solidFill>
                <a:effectLst/>
                <a:latin typeface="Nunito" panose="020F0502020204030204"/>
              </a:rPr>
              <a:t>: Easy to understand and implement.</a:t>
            </a:r>
          </a:p>
          <a:p>
            <a:pPr algn="l" fontAlgn="base">
              <a:buFont typeface="Arial" panose="020B0604020202020204" pitchFamily="34" charset="0"/>
              <a:buChar char="•"/>
            </a:pPr>
            <a:r>
              <a:rPr lang="en-GB" b="1" i="0" dirty="0">
                <a:solidFill>
                  <a:srgbClr val="273239"/>
                </a:solidFill>
                <a:effectLst/>
                <a:latin typeface="Nunito" panose="020F0502020204030204"/>
              </a:rPr>
              <a:t>No training step</a:t>
            </a:r>
            <a:r>
              <a:rPr lang="en-GB" b="0" i="0" dirty="0">
                <a:solidFill>
                  <a:srgbClr val="273239"/>
                </a:solidFill>
                <a:effectLst/>
                <a:latin typeface="Nunito" panose="020F0502020204030204"/>
              </a:rPr>
              <a:t>: No need to train as it just stores the data and uses it during prediction.</a:t>
            </a:r>
          </a:p>
          <a:p>
            <a:pPr algn="l" fontAlgn="base">
              <a:buFont typeface="Arial" panose="020B0604020202020204" pitchFamily="34" charset="0"/>
              <a:buChar char="•"/>
            </a:pPr>
            <a:r>
              <a:rPr lang="en-GB" b="1" i="0" dirty="0">
                <a:solidFill>
                  <a:srgbClr val="273239"/>
                </a:solidFill>
                <a:effectLst/>
                <a:latin typeface="Nunito" panose="020F0502020204030204"/>
              </a:rPr>
              <a:t>Few parameters</a:t>
            </a:r>
            <a:r>
              <a:rPr lang="en-GB" b="0" i="0" dirty="0">
                <a:solidFill>
                  <a:srgbClr val="273239"/>
                </a:solidFill>
                <a:effectLst/>
                <a:latin typeface="Nunito" panose="020F0502020204030204"/>
              </a:rPr>
              <a:t>: Only needs to set the number of </a:t>
            </a:r>
            <a:r>
              <a:rPr lang="en-GB" b="0" i="0" dirty="0" err="1">
                <a:solidFill>
                  <a:srgbClr val="273239"/>
                </a:solidFill>
                <a:effectLst/>
                <a:latin typeface="Nunito" panose="020F0502020204030204"/>
              </a:rPr>
              <a:t>neighbors</a:t>
            </a:r>
            <a:r>
              <a:rPr lang="en-GB" b="0" i="0" dirty="0">
                <a:solidFill>
                  <a:srgbClr val="273239"/>
                </a:solidFill>
                <a:effectLst/>
                <a:latin typeface="Nunito" panose="020F0502020204030204"/>
              </a:rPr>
              <a:t> (k) and a distance method.</a:t>
            </a:r>
          </a:p>
        </p:txBody>
      </p:sp>
      <p:sp>
        <p:nvSpPr>
          <p:cNvPr id="7" name="TextBox 6">
            <a:extLst>
              <a:ext uri="{FF2B5EF4-FFF2-40B4-BE49-F238E27FC236}">
                <a16:creationId xmlns:a16="http://schemas.microsoft.com/office/drawing/2014/main" id="{17BF5F96-DB94-4AEF-4BB8-8A31176B4457}"/>
              </a:ext>
            </a:extLst>
          </p:cNvPr>
          <p:cNvSpPr txBox="1"/>
          <p:nvPr/>
        </p:nvSpPr>
        <p:spPr>
          <a:xfrm>
            <a:off x="996779" y="2228671"/>
            <a:ext cx="10198443" cy="1477328"/>
          </a:xfrm>
          <a:prstGeom prst="rect">
            <a:avLst/>
          </a:prstGeom>
          <a:noFill/>
        </p:spPr>
        <p:txBody>
          <a:bodyPr wrap="square">
            <a:spAutoFit/>
          </a:bodyPr>
          <a:lstStyle/>
          <a:p>
            <a:pPr algn="l" fontAlgn="base"/>
            <a:r>
              <a:rPr lang="en-GB" b="1" i="0" dirty="0">
                <a:solidFill>
                  <a:srgbClr val="FF0000"/>
                </a:solidFill>
                <a:effectLst/>
                <a:latin typeface="Nunito" panose="020F0502020204030204"/>
              </a:rPr>
              <a:t>Disadvantages of KNN</a:t>
            </a:r>
          </a:p>
          <a:p>
            <a:pPr algn="l" fontAlgn="base"/>
            <a:endParaRPr lang="en-GB" b="1" i="0" dirty="0">
              <a:solidFill>
                <a:srgbClr val="273239"/>
              </a:solidFill>
              <a:effectLst/>
              <a:latin typeface="Nunito" panose="020F0502020204030204"/>
            </a:endParaRPr>
          </a:p>
          <a:p>
            <a:pPr algn="l" fontAlgn="base">
              <a:buFont typeface="Arial" panose="020B0604020202020204" pitchFamily="34" charset="0"/>
              <a:buChar char="•"/>
            </a:pPr>
            <a:r>
              <a:rPr lang="en-GB" b="1" i="0" dirty="0">
                <a:solidFill>
                  <a:srgbClr val="273239"/>
                </a:solidFill>
                <a:effectLst/>
                <a:latin typeface="Nunito" panose="020F0502020204030204"/>
              </a:rPr>
              <a:t>Slow with large data</a:t>
            </a:r>
            <a:r>
              <a:rPr lang="en-GB" b="0" i="0" dirty="0">
                <a:solidFill>
                  <a:srgbClr val="273239"/>
                </a:solidFill>
                <a:effectLst/>
                <a:latin typeface="Nunito" panose="020F0502020204030204"/>
              </a:rPr>
              <a:t>: Needs to compare every point during prediction.</a:t>
            </a:r>
          </a:p>
          <a:p>
            <a:pPr algn="l" fontAlgn="base">
              <a:buFont typeface="Arial" panose="020B0604020202020204" pitchFamily="34" charset="0"/>
              <a:buChar char="•"/>
            </a:pPr>
            <a:r>
              <a:rPr lang="en-GB" b="1" i="0" dirty="0">
                <a:solidFill>
                  <a:srgbClr val="273239"/>
                </a:solidFill>
                <a:effectLst/>
                <a:latin typeface="Nunito" panose="020F0502020204030204"/>
              </a:rPr>
              <a:t>Struggles with many features</a:t>
            </a:r>
            <a:r>
              <a:rPr lang="en-GB" b="0" i="0" dirty="0">
                <a:solidFill>
                  <a:srgbClr val="273239"/>
                </a:solidFill>
                <a:effectLst/>
                <a:latin typeface="Nunito" panose="020F0502020204030204"/>
              </a:rPr>
              <a:t>: Accuracy drops when data has too many features.</a:t>
            </a:r>
          </a:p>
          <a:p>
            <a:pPr algn="l" fontAlgn="base">
              <a:buFont typeface="Arial" panose="020B0604020202020204" pitchFamily="34" charset="0"/>
              <a:buChar char="•"/>
            </a:pPr>
            <a:r>
              <a:rPr lang="en-GB" b="1" i="0" dirty="0">
                <a:solidFill>
                  <a:srgbClr val="273239"/>
                </a:solidFill>
                <a:effectLst/>
                <a:latin typeface="Nunito" panose="020F0502020204030204"/>
              </a:rPr>
              <a:t>Can Overfit</a:t>
            </a:r>
            <a:r>
              <a:rPr lang="en-GB" b="0" i="0" dirty="0">
                <a:solidFill>
                  <a:srgbClr val="273239"/>
                </a:solidFill>
                <a:effectLst/>
                <a:latin typeface="Nunito" panose="020F0502020204030204"/>
              </a:rPr>
              <a:t>: It can overfit especially when the data is high-dimensional or not clean.</a:t>
            </a:r>
          </a:p>
        </p:txBody>
      </p:sp>
    </p:spTree>
    <p:extLst>
      <p:ext uri="{BB962C8B-B14F-4D97-AF65-F5344CB8AC3E}">
        <p14:creationId xmlns:p14="http://schemas.microsoft.com/office/powerpoint/2010/main" val="11831652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5BA1905-5BEF-7336-E8B4-6C98811DBF12}"/>
              </a:ext>
            </a:extLst>
          </p:cNvPr>
          <p:cNvGraphicFramePr>
            <a:graphicFrameLocks noGrp="1"/>
          </p:cNvGraphicFramePr>
          <p:nvPr>
            <p:extLst>
              <p:ext uri="{D42A27DB-BD31-4B8C-83A1-F6EECF244321}">
                <p14:modId xmlns:p14="http://schemas.microsoft.com/office/powerpoint/2010/main" val="2377793780"/>
              </p:ext>
            </p:extLst>
          </p:nvPr>
        </p:nvGraphicFramePr>
        <p:xfrm>
          <a:off x="857765" y="1623855"/>
          <a:ext cx="8385089" cy="2926080"/>
        </p:xfrm>
        <a:graphic>
          <a:graphicData uri="http://schemas.openxmlformats.org/drawingml/2006/table">
            <a:tbl>
              <a:tblPr/>
              <a:tblGrid>
                <a:gridCol w="2572263">
                  <a:extLst>
                    <a:ext uri="{9D8B030D-6E8A-4147-A177-3AD203B41FA5}">
                      <a16:colId xmlns:a16="http://schemas.microsoft.com/office/drawing/2014/main" val="679897129"/>
                    </a:ext>
                  </a:extLst>
                </a:gridCol>
                <a:gridCol w="3097427">
                  <a:extLst>
                    <a:ext uri="{9D8B030D-6E8A-4147-A177-3AD203B41FA5}">
                      <a16:colId xmlns:a16="http://schemas.microsoft.com/office/drawing/2014/main" val="3324676706"/>
                    </a:ext>
                  </a:extLst>
                </a:gridCol>
                <a:gridCol w="2715399">
                  <a:extLst>
                    <a:ext uri="{9D8B030D-6E8A-4147-A177-3AD203B41FA5}">
                      <a16:colId xmlns:a16="http://schemas.microsoft.com/office/drawing/2014/main" val="1843852206"/>
                    </a:ext>
                  </a:extLst>
                </a:gridCol>
              </a:tblGrid>
              <a:tr h="0">
                <a:tc>
                  <a:txBody>
                    <a:bodyPr/>
                    <a:lstStyle/>
                    <a:p>
                      <a:pPr fontAlgn="base"/>
                      <a:r>
                        <a:rPr lang="en-GB">
                          <a:effectLst/>
                          <a:latin typeface="inherit"/>
                        </a:rPr>
                        <a:t>Brightness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Saturation</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Class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366723653"/>
                  </a:ext>
                </a:extLst>
              </a:tr>
              <a:tr h="0">
                <a:tc>
                  <a:txBody>
                    <a:bodyPr/>
                    <a:lstStyle/>
                    <a:p>
                      <a:pPr fontAlgn="base"/>
                      <a:r>
                        <a:rPr lang="en-GB" dirty="0">
                          <a:effectLst/>
                          <a:latin typeface="inherit"/>
                        </a:rPr>
                        <a:t>40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305533983"/>
                  </a:ext>
                </a:extLst>
              </a:tr>
              <a:tr h="0">
                <a:tc>
                  <a:txBody>
                    <a:bodyPr/>
                    <a:lstStyle/>
                    <a:p>
                      <a:pPr fontAlgn="base"/>
                      <a:r>
                        <a:rPr lang="en-GB">
                          <a:effectLst/>
                          <a:latin typeface="inherit"/>
                        </a:rPr>
                        <a:t>50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50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804287205"/>
                  </a:ext>
                </a:extLst>
              </a:tr>
              <a:tr h="0">
                <a:tc>
                  <a:txBody>
                    <a:bodyPr/>
                    <a:lstStyle/>
                    <a:p>
                      <a:pPr fontAlgn="base"/>
                      <a:r>
                        <a:rPr lang="en-GB" dirty="0">
                          <a:effectLst/>
                          <a:latin typeface="inherit"/>
                        </a:rPr>
                        <a:t>60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90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4240001433"/>
                  </a:ext>
                </a:extLst>
              </a:tr>
              <a:tr h="0">
                <a:tc>
                  <a:txBody>
                    <a:bodyPr/>
                    <a:lstStyle/>
                    <a:p>
                      <a:pPr fontAlgn="base"/>
                      <a:r>
                        <a:rPr lang="en-GB">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795514425"/>
                  </a:ext>
                </a:extLst>
              </a:tr>
              <a:tr h="0">
                <a:tc>
                  <a:txBody>
                    <a:bodyPr/>
                    <a:lstStyle/>
                    <a:p>
                      <a:pPr fontAlgn="base"/>
                      <a:r>
                        <a:rPr lang="en-GB">
                          <a:effectLst/>
                          <a:latin typeface="inherit"/>
                        </a:rPr>
                        <a:t>70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70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4104996691"/>
                  </a:ext>
                </a:extLst>
              </a:tr>
              <a:tr h="0">
                <a:tc>
                  <a:txBody>
                    <a:bodyPr/>
                    <a:lstStyle/>
                    <a:p>
                      <a:pPr fontAlgn="base"/>
                      <a:r>
                        <a:rPr lang="en-GB">
                          <a:effectLst/>
                          <a:latin typeface="inherit"/>
                        </a:rPr>
                        <a:t>60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096274694"/>
                  </a:ext>
                </a:extLst>
              </a:tr>
              <a:tr h="0">
                <a:tc>
                  <a:txBody>
                    <a:bodyPr/>
                    <a:lstStyle/>
                    <a:p>
                      <a:pPr fontAlgn="base"/>
                      <a:r>
                        <a:rPr lang="en-GB" dirty="0">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80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dirty="0">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4192949083"/>
                  </a:ext>
                </a:extLst>
              </a:tr>
            </a:tbl>
          </a:graphicData>
        </a:graphic>
      </p:graphicFrame>
      <p:sp>
        <p:nvSpPr>
          <p:cNvPr id="8" name="TextBox 7">
            <a:extLst>
              <a:ext uri="{FF2B5EF4-FFF2-40B4-BE49-F238E27FC236}">
                <a16:creationId xmlns:a16="http://schemas.microsoft.com/office/drawing/2014/main" id="{71AB1E33-EE64-0AB0-8863-B7E992F9ACB2}"/>
              </a:ext>
            </a:extLst>
          </p:cNvPr>
          <p:cNvSpPr txBox="1"/>
          <p:nvPr/>
        </p:nvSpPr>
        <p:spPr>
          <a:xfrm>
            <a:off x="1068861" y="468179"/>
            <a:ext cx="10093409" cy="923330"/>
          </a:xfrm>
          <a:prstGeom prst="rect">
            <a:avLst/>
          </a:prstGeom>
          <a:noFill/>
        </p:spPr>
        <p:txBody>
          <a:bodyPr wrap="square">
            <a:spAutoFit/>
          </a:bodyPr>
          <a:lstStyle/>
          <a:p>
            <a:pPr algn="l" fontAlgn="base"/>
            <a:r>
              <a:rPr lang="en-GB" b="1" i="0" dirty="0">
                <a:solidFill>
                  <a:srgbClr val="FF0000"/>
                </a:solidFill>
                <a:effectLst/>
                <a:latin typeface="Lato"/>
              </a:rPr>
              <a:t>Example:</a:t>
            </a:r>
            <a:r>
              <a:rPr lang="en-GB" b="0" i="0" dirty="0">
                <a:solidFill>
                  <a:srgbClr val="0A0A23"/>
                </a:solidFill>
                <a:effectLst/>
                <a:latin typeface="Lato"/>
              </a:rPr>
              <a:t> The table represents our data set. We have two columns — </a:t>
            </a:r>
            <a:r>
              <a:rPr lang="en-GB" b="1" i="0" dirty="0">
                <a:solidFill>
                  <a:srgbClr val="1B1B32"/>
                </a:solidFill>
                <a:effectLst/>
                <a:latin typeface="inherit"/>
              </a:rPr>
              <a:t>Brightness</a:t>
            </a:r>
            <a:r>
              <a:rPr lang="en-GB" b="0" i="0" dirty="0">
                <a:solidFill>
                  <a:srgbClr val="0A0A23"/>
                </a:solidFill>
                <a:effectLst/>
                <a:latin typeface="Lato"/>
              </a:rPr>
              <a:t> and </a:t>
            </a:r>
            <a:r>
              <a:rPr lang="en-GB" b="1" i="0" dirty="0">
                <a:solidFill>
                  <a:srgbClr val="1B1B32"/>
                </a:solidFill>
                <a:effectLst/>
                <a:latin typeface="inherit"/>
              </a:rPr>
              <a:t>Saturation</a:t>
            </a:r>
            <a:r>
              <a:rPr lang="en-GB" b="0" i="0" dirty="0">
                <a:solidFill>
                  <a:srgbClr val="0A0A23"/>
                </a:solidFill>
                <a:effectLst/>
                <a:latin typeface="Lato"/>
              </a:rPr>
              <a:t>. Each row in the table has a class of either </a:t>
            </a:r>
            <a:r>
              <a:rPr lang="en-GB" b="1" i="0" dirty="0">
                <a:solidFill>
                  <a:srgbClr val="1B1B32"/>
                </a:solidFill>
                <a:effectLst/>
                <a:latin typeface="inherit"/>
              </a:rPr>
              <a:t>Red</a:t>
            </a:r>
            <a:r>
              <a:rPr lang="en-GB" b="0" i="0" dirty="0">
                <a:solidFill>
                  <a:srgbClr val="0A0A23"/>
                </a:solidFill>
                <a:effectLst/>
                <a:latin typeface="Lato"/>
              </a:rPr>
              <a:t> or </a:t>
            </a:r>
            <a:r>
              <a:rPr lang="en-GB" b="1" i="0" dirty="0">
                <a:solidFill>
                  <a:srgbClr val="1B1B32"/>
                </a:solidFill>
                <a:effectLst/>
                <a:latin typeface="inherit"/>
              </a:rPr>
              <a:t>Blue</a:t>
            </a:r>
            <a:r>
              <a:rPr lang="en-GB" b="0" i="0" dirty="0">
                <a:solidFill>
                  <a:srgbClr val="0A0A23"/>
                </a:solidFill>
                <a:effectLst/>
                <a:latin typeface="Lato"/>
              </a:rPr>
              <a:t>.</a:t>
            </a:r>
          </a:p>
          <a:p>
            <a:pPr algn="l" fontAlgn="base"/>
            <a:r>
              <a:rPr lang="en-GB" b="0" i="0" dirty="0">
                <a:solidFill>
                  <a:srgbClr val="0A0A23"/>
                </a:solidFill>
                <a:effectLst/>
                <a:latin typeface="Lato"/>
              </a:rPr>
              <a:t>Before we introduce a new data entry, let's assume the value of </a:t>
            </a:r>
            <a:r>
              <a:rPr lang="en-GB" b="1" i="0" dirty="0">
                <a:solidFill>
                  <a:srgbClr val="1B1B32"/>
                </a:solidFill>
                <a:effectLst/>
                <a:latin typeface="inherit"/>
              </a:rPr>
              <a:t>K</a:t>
            </a:r>
            <a:r>
              <a:rPr lang="en-GB" b="0" i="0" dirty="0">
                <a:solidFill>
                  <a:srgbClr val="0A0A23"/>
                </a:solidFill>
                <a:effectLst/>
                <a:latin typeface="Lato"/>
              </a:rPr>
              <a:t> is 5.</a:t>
            </a:r>
          </a:p>
        </p:txBody>
      </p:sp>
      <p:graphicFrame>
        <p:nvGraphicFramePr>
          <p:cNvPr id="9" name="Table 8">
            <a:extLst>
              <a:ext uri="{FF2B5EF4-FFF2-40B4-BE49-F238E27FC236}">
                <a16:creationId xmlns:a16="http://schemas.microsoft.com/office/drawing/2014/main" id="{2E3A3601-0D6C-3A5A-1484-65E82EC21309}"/>
              </a:ext>
            </a:extLst>
          </p:cNvPr>
          <p:cNvGraphicFramePr>
            <a:graphicFrameLocks noGrp="1"/>
          </p:cNvGraphicFramePr>
          <p:nvPr>
            <p:extLst>
              <p:ext uri="{D42A27DB-BD31-4B8C-83A1-F6EECF244321}">
                <p14:modId xmlns:p14="http://schemas.microsoft.com/office/powerpoint/2010/main" val="314435996"/>
              </p:ext>
            </p:extLst>
          </p:nvPr>
        </p:nvGraphicFramePr>
        <p:xfrm>
          <a:off x="857765" y="5357242"/>
          <a:ext cx="8385089" cy="731520"/>
        </p:xfrm>
        <a:graphic>
          <a:graphicData uri="http://schemas.openxmlformats.org/drawingml/2006/table">
            <a:tbl>
              <a:tblPr/>
              <a:tblGrid>
                <a:gridCol w="2307731">
                  <a:extLst>
                    <a:ext uri="{9D8B030D-6E8A-4147-A177-3AD203B41FA5}">
                      <a16:colId xmlns:a16="http://schemas.microsoft.com/office/drawing/2014/main" val="2119939033"/>
                    </a:ext>
                  </a:extLst>
                </a:gridCol>
                <a:gridCol w="3129800">
                  <a:extLst>
                    <a:ext uri="{9D8B030D-6E8A-4147-A177-3AD203B41FA5}">
                      <a16:colId xmlns:a16="http://schemas.microsoft.com/office/drawing/2014/main" val="1690264719"/>
                    </a:ext>
                  </a:extLst>
                </a:gridCol>
                <a:gridCol w="2947558">
                  <a:extLst>
                    <a:ext uri="{9D8B030D-6E8A-4147-A177-3AD203B41FA5}">
                      <a16:colId xmlns:a16="http://schemas.microsoft.com/office/drawing/2014/main" val="1105743570"/>
                    </a:ext>
                  </a:extLst>
                </a:gridCol>
              </a:tblGrid>
              <a:tr h="0">
                <a:tc>
                  <a:txBody>
                    <a:bodyPr/>
                    <a:lstStyle/>
                    <a:p>
                      <a:pPr fontAlgn="base"/>
                      <a:r>
                        <a:rPr lang="en-GB" dirty="0">
                          <a:effectLst/>
                          <a:latin typeface="inherit"/>
                        </a:rPr>
                        <a:t>Brightness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dirty="0">
                          <a:effectLst/>
                          <a:latin typeface="inherit"/>
                        </a:rPr>
                        <a:t>Saturation</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Class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846635331"/>
                  </a:ext>
                </a:extLst>
              </a:tr>
              <a:tr h="0">
                <a:tc>
                  <a:txBody>
                    <a:bodyPr/>
                    <a:lstStyle/>
                    <a:p>
                      <a:pPr fontAlgn="base"/>
                      <a:r>
                        <a:rPr lang="en-GB">
                          <a:effectLst/>
                          <a:latin typeface="inherit"/>
                        </a:rPr>
                        <a:t>20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35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dirty="0">
                          <a:effectLst/>
                          <a:latin typeface="inherit"/>
                        </a:rPr>
                        <a:t>?</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4098830659"/>
                  </a:ext>
                </a:extLst>
              </a:tr>
            </a:tbl>
          </a:graphicData>
        </a:graphic>
      </p:graphicFrame>
      <p:sp>
        <p:nvSpPr>
          <p:cNvPr id="10" name="TextBox 9">
            <a:extLst>
              <a:ext uri="{FF2B5EF4-FFF2-40B4-BE49-F238E27FC236}">
                <a16:creationId xmlns:a16="http://schemas.microsoft.com/office/drawing/2014/main" id="{D950B2DD-28B7-D00E-74D5-71DB4BBDD0AE}"/>
              </a:ext>
            </a:extLst>
          </p:cNvPr>
          <p:cNvSpPr txBox="1"/>
          <p:nvPr/>
        </p:nvSpPr>
        <p:spPr>
          <a:xfrm>
            <a:off x="9893643" y="2718486"/>
            <a:ext cx="1260858" cy="369332"/>
          </a:xfrm>
          <a:prstGeom prst="rect">
            <a:avLst/>
          </a:prstGeom>
          <a:noFill/>
        </p:spPr>
        <p:txBody>
          <a:bodyPr wrap="none" rtlCol="0">
            <a:spAutoFit/>
          </a:bodyPr>
          <a:lstStyle/>
          <a:p>
            <a:r>
              <a:rPr lang="en-GB" dirty="0"/>
              <a:t>Training set</a:t>
            </a:r>
          </a:p>
        </p:txBody>
      </p:sp>
      <p:sp>
        <p:nvSpPr>
          <p:cNvPr id="11" name="TextBox 10">
            <a:extLst>
              <a:ext uri="{FF2B5EF4-FFF2-40B4-BE49-F238E27FC236}">
                <a16:creationId xmlns:a16="http://schemas.microsoft.com/office/drawing/2014/main" id="{F3A3D9C4-0F89-A2FB-6A52-77D2CA1160A4}"/>
              </a:ext>
            </a:extLst>
          </p:cNvPr>
          <p:cNvSpPr txBox="1"/>
          <p:nvPr/>
        </p:nvSpPr>
        <p:spPr>
          <a:xfrm>
            <a:off x="9893643" y="5538336"/>
            <a:ext cx="1173463" cy="369332"/>
          </a:xfrm>
          <a:prstGeom prst="rect">
            <a:avLst/>
          </a:prstGeom>
          <a:noFill/>
        </p:spPr>
        <p:txBody>
          <a:bodyPr wrap="none" rtlCol="0">
            <a:spAutoFit/>
          </a:bodyPr>
          <a:lstStyle/>
          <a:p>
            <a:r>
              <a:rPr lang="en-GB" dirty="0"/>
              <a:t>Testing set</a:t>
            </a:r>
          </a:p>
        </p:txBody>
      </p:sp>
    </p:spTree>
    <p:extLst>
      <p:ext uri="{BB962C8B-B14F-4D97-AF65-F5344CB8AC3E}">
        <p14:creationId xmlns:p14="http://schemas.microsoft.com/office/powerpoint/2010/main" val="7667290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a:extLst>
              <a:ext uri="{FF2B5EF4-FFF2-40B4-BE49-F238E27FC236}">
                <a16:creationId xmlns:a16="http://schemas.microsoft.com/office/drawing/2014/main" id="{41FB08C7-0C39-CF49-5838-C0051FD02B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2526" y="1259175"/>
            <a:ext cx="4798450" cy="40883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CA61D4A-8879-4ED4-34B7-2B003A6F9D13}"/>
              </a:ext>
            </a:extLst>
          </p:cNvPr>
          <p:cNvSpPr txBox="1"/>
          <p:nvPr/>
        </p:nvSpPr>
        <p:spPr>
          <a:xfrm>
            <a:off x="716692" y="282316"/>
            <a:ext cx="9910119" cy="369332"/>
          </a:xfrm>
          <a:prstGeom prst="rect">
            <a:avLst/>
          </a:prstGeom>
          <a:noFill/>
        </p:spPr>
        <p:txBody>
          <a:bodyPr wrap="square">
            <a:spAutoFit/>
          </a:bodyPr>
          <a:lstStyle/>
          <a:p>
            <a:r>
              <a:rPr lang="en-GB" b="0" i="0" dirty="0">
                <a:solidFill>
                  <a:srgbClr val="0A0A23"/>
                </a:solidFill>
                <a:effectLst/>
                <a:latin typeface="Lato"/>
              </a:rPr>
              <a:t>The graph represents a data set consisting of two classes: </a:t>
            </a:r>
            <a:r>
              <a:rPr lang="en-GB" b="1" i="0" dirty="0">
                <a:solidFill>
                  <a:srgbClr val="FF0000"/>
                </a:solidFill>
                <a:effectLst/>
                <a:latin typeface="Lato"/>
              </a:rPr>
              <a:t>red</a:t>
            </a:r>
            <a:r>
              <a:rPr lang="en-GB" b="0" i="0" dirty="0">
                <a:solidFill>
                  <a:srgbClr val="0A0A23"/>
                </a:solidFill>
                <a:effectLst/>
                <a:latin typeface="Lato"/>
              </a:rPr>
              <a:t> and </a:t>
            </a:r>
            <a:r>
              <a:rPr lang="en-GB" b="1" i="0" dirty="0">
                <a:solidFill>
                  <a:srgbClr val="0070C0"/>
                </a:solidFill>
                <a:effectLst/>
                <a:latin typeface="Lato"/>
              </a:rPr>
              <a:t>blue</a:t>
            </a:r>
            <a:r>
              <a:rPr lang="en-GB" b="0" i="0" dirty="0">
                <a:solidFill>
                  <a:srgbClr val="0A0A23"/>
                </a:solidFill>
                <a:effectLst/>
                <a:latin typeface="Lato"/>
              </a:rPr>
              <a:t>.</a:t>
            </a:r>
            <a:endParaRPr lang="en-GB" dirty="0"/>
          </a:p>
        </p:txBody>
      </p:sp>
    </p:spTree>
    <p:extLst>
      <p:ext uri="{BB962C8B-B14F-4D97-AF65-F5344CB8AC3E}">
        <p14:creationId xmlns:p14="http://schemas.microsoft.com/office/powerpoint/2010/main" val="21338327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Image">
            <a:extLst>
              <a:ext uri="{FF2B5EF4-FFF2-40B4-BE49-F238E27FC236}">
                <a16:creationId xmlns:a16="http://schemas.microsoft.com/office/drawing/2014/main" id="{5D27B197-2B38-7ABA-929C-C8AA7126BF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5349" y="1102905"/>
            <a:ext cx="5460200" cy="46521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BDD1949-85CC-4236-C4BD-16520226B078}"/>
              </a:ext>
            </a:extLst>
          </p:cNvPr>
          <p:cNvSpPr txBox="1"/>
          <p:nvPr/>
        </p:nvSpPr>
        <p:spPr>
          <a:xfrm>
            <a:off x="683741" y="351643"/>
            <a:ext cx="11063416" cy="369332"/>
          </a:xfrm>
          <a:prstGeom prst="rect">
            <a:avLst/>
          </a:prstGeom>
          <a:noFill/>
        </p:spPr>
        <p:txBody>
          <a:bodyPr wrap="square">
            <a:spAutoFit/>
          </a:bodyPr>
          <a:lstStyle/>
          <a:p>
            <a:r>
              <a:rPr lang="en-GB" b="0" i="0" dirty="0">
                <a:solidFill>
                  <a:srgbClr val="0A0A23"/>
                </a:solidFill>
                <a:effectLst/>
                <a:latin typeface="Lato"/>
              </a:rPr>
              <a:t>A new data entry has been introduced to the data set. This is represented by the </a:t>
            </a:r>
            <a:r>
              <a:rPr lang="en-GB" b="1" i="0" dirty="0">
                <a:solidFill>
                  <a:schemeClr val="accent6"/>
                </a:solidFill>
                <a:effectLst/>
                <a:latin typeface="Lato"/>
              </a:rPr>
              <a:t>green</a:t>
            </a:r>
            <a:r>
              <a:rPr lang="en-GB" b="0" i="0" dirty="0">
                <a:solidFill>
                  <a:srgbClr val="0A0A23"/>
                </a:solidFill>
                <a:effectLst/>
                <a:latin typeface="Lato"/>
              </a:rPr>
              <a:t> point in the graph.</a:t>
            </a:r>
            <a:endParaRPr lang="en-GB" dirty="0"/>
          </a:p>
        </p:txBody>
      </p:sp>
      <p:graphicFrame>
        <p:nvGraphicFramePr>
          <p:cNvPr id="5" name="Table 4">
            <a:extLst>
              <a:ext uri="{FF2B5EF4-FFF2-40B4-BE49-F238E27FC236}">
                <a16:creationId xmlns:a16="http://schemas.microsoft.com/office/drawing/2014/main" id="{3151AC4B-FACE-47B9-9014-D631DA29792C}"/>
              </a:ext>
            </a:extLst>
          </p:cNvPr>
          <p:cNvGraphicFramePr>
            <a:graphicFrameLocks noGrp="1"/>
          </p:cNvGraphicFramePr>
          <p:nvPr>
            <p:extLst>
              <p:ext uri="{D42A27DB-BD31-4B8C-83A1-F6EECF244321}">
                <p14:modId xmlns:p14="http://schemas.microsoft.com/office/powerpoint/2010/main" val="2661939520"/>
              </p:ext>
            </p:extLst>
          </p:nvPr>
        </p:nvGraphicFramePr>
        <p:xfrm>
          <a:off x="129498" y="2095512"/>
          <a:ext cx="4646140" cy="731520"/>
        </p:xfrm>
        <a:graphic>
          <a:graphicData uri="http://schemas.openxmlformats.org/drawingml/2006/table">
            <a:tbl>
              <a:tblPr/>
              <a:tblGrid>
                <a:gridCol w="1161535">
                  <a:extLst>
                    <a:ext uri="{9D8B030D-6E8A-4147-A177-3AD203B41FA5}">
                      <a16:colId xmlns:a16="http://schemas.microsoft.com/office/drawing/2014/main" val="2658670113"/>
                    </a:ext>
                  </a:extLst>
                </a:gridCol>
                <a:gridCol w="1161535">
                  <a:extLst>
                    <a:ext uri="{9D8B030D-6E8A-4147-A177-3AD203B41FA5}">
                      <a16:colId xmlns:a16="http://schemas.microsoft.com/office/drawing/2014/main" val="2644832320"/>
                    </a:ext>
                  </a:extLst>
                </a:gridCol>
                <a:gridCol w="1161535">
                  <a:extLst>
                    <a:ext uri="{9D8B030D-6E8A-4147-A177-3AD203B41FA5}">
                      <a16:colId xmlns:a16="http://schemas.microsoft.com/office/drawing/2014/main" val="2816586007"/>
                    </a:ext>
                  </a:extLst>
                </a:gridCol>
                <a:gridCol w="1161535">
                  <a:extLst>
                    <a:ext uri="{9D8B030D-6E8A-4147-A177-3AD203B41FA5}">
                      <a16:colId xmlns:a16="http://schemas.microsoft.com/office/drawing/2014/main" val="2175752678"/>
                    </a:ext>
                  </a:extLst>
                </a:gridCol>
              </a:tblGrid>
              <a:tr h="0">
                <a:tc>
                  <a:txBody>
                    <a:bodyPr/>
                    <a:lstStyle/>
                    <a:p>
                      <a:pPr fontAlgn="base"/>
                      <a:r>
                        <a:rPr lang="en-GB" dirty="0">
                          <a:effectLst/>
                          <a:latin typeface="inherit"/>
                        </a:rPr>
                        <a:t>Brightness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Saturation</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Class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endParaRPr lang="en-GB" dirty="0">
                        <a:effectLst/>
                        <a:latin typeface="inherit"/>
                      </a:endParaRP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385781336"/>
                  </a:ext>
                </a:extLst>
              </a:tr>
              <a:tr h="0">
                <a:tc>
                  <a:txBody>
                    <a:bodyPr/>
                    <a:lstStyle/>
                    <a:p>
                      <a:pPr fontAlgn="base"/>
                      <a:r>
                        <a:rPr lang="en-GB" dirty="0">
                          <a:effectLst/>
                          <a:latin typeface="inherit"/>
                        </a:rPr>
                        <a:t>20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dirty="0">
                          <a:effectLst/>
                          <a:latin typeface="inherit"/>
                        </a:rPr>
                        <a:t>35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dirty="0">
                          <a:effectLst/>
                          <a:latin typeface="inherit"/>
                        </a:rPr>
                        <a:t>?</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endParaRPr lang="en-GB" dirty="0">
                        <a:effectLst/>
                        <a:latin typeface="inherit"/>
                      </a:endParaRP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961242451"/>
                  </a:ext>
                </a:extLst>
              </a:tr>
            </a:tbl>
          </a:graphicData>
        </a:graphic>
      </p:graphicFrame>
    </p:spTree>
    <p:extLst>
      <p:ext uri="{BB962C8B-B14F-4D97-AF65-F5344CB8AC3E}">
        <p14:creationId xmlns:p14="http://schemas.microsoft.com/office/powerpoint/2010/main" val="5252597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26189C-2D1B-0E3B-E1E6-2ECDB9BEC19D}"/>
              </a:ext>
            </a:extLst>
          </p:cNvPr>
          <p:cNvSpPr txBox="1"/>
          <p:nvPr/>
        </p:nvSpPr>
        <p:spPr>
          <a:xfrm>
            <a:off x="877329" y="170073"/>
            <a:ext cx="10437341" cy="646331"/>
          </a:xfrm>
          <a:prstGeom prst="rect">
            <a:avLst/>
          </a:prstGeom>
          <a:noFill/>
        </p:spPr>
        <p:txBody>
          <a:bodyPr wrap="square">
            <a:spAutoFit/>
          </a:bodyPr>
          <a:lstStyle/>
          <a:p>
            <a:r>
              <a:rPr lang="en-GB" b="0" i="0" dirty="0">
                <a:solidFill>
                  <a:srgbClr val="0A0A23"/>
                </a:solidFill>
                <a:effectLst/>
                <a:latin typeface="Lato"/>
              </a:rPr>
              <a:t>We have a new entry but it doesn't have a class yet. To know its class, we have to calculate the distance from the new entry to other entries in the data set using the Euclidean distance formula.</a:t>
            </a:r>
            <a:endParaRPr lang="en-GB" dirty="0"/>
          </a:p>
        </p:txBody>
      </p:sp>
      <p:pic>
        <p:nvPicPr>
          <p:cNvPr id="6" name="Picture 5">
            <a:extLst>
              <a:ext uri="{FF2B5EF4-FFF2-40B4-BE49-F238E27FC236}">
                <a16:creationId xmlns:a16="http://schemas.microsoft.com/office/drawing/2014/main" id="{BF4194CF-696B-5BC6-9C61-0BC2322E0158}"/>
              </a:ext>
            </a:extLst>
          </p:cNvPr>
          <p:cNvPicPr>
            <a:picLocks noChangeAspect="1"/>
          </p:cNvPicPr>
          <p:nvPr/>
        </p:nvPicPr>
        <p:blipFill>
          <a:blip r:embed="rId2"/>
          <a:stretch>
            <a:fillRect/>
          </a:stretch>
        </p:blipFill>
        <p:spPr>
          <a:xfrm>
            <a:off x="3316502" y="782035"/>
            <a:ext cx="4438650" cy="638175"/>
          </a:xfrm>
          <a:prstGeom prst="rect">
            <a:avLst/>
          </a:prstGeom>
        </p:spPr>
      </p:pic>
      <p:sp>
        <p:nvSpPr>
          <p:cNvPr id="8" name="TextBox 7">
            <a:extLst>
              <a:ext uri="{FF2B5EF4-FFF2-40B4-BE49-F238E27FC236}">
                <a16:creationId xmlns:a16="http://schemas.microsoft.com/office/drawing/2014/main" id="{0548D8E0-E0E3-BC69-029B-EAF695BCDD99}"/>
              </a:ext>
            </a:extLst>
          </p:cNvPr>
          <p:cNvSpPr txBox="1"/>
          <p:nvPr/>
        </p:nvSpPr>
        <p:spPr>
          <a:xfrm>
            <a:off x="803188" y="1709006"/>
            <a:ext cx="6096000" cy="646331"/>
          </a:xfrm>
          <a:prstGeom prst="rect">
            <a:avLst/>
          </a:prstGeom>
          <a:noFill/>
        </p:spPr>
        <p:txBody>
          <a:bodyPr wrap="square">
            <a:spAutoFit/>
          </a:bodyPr>
          <a:lstStyle/>
          <a:p>
            <a:pPr algn="l" fontAlgn="base"/>
            <a:r>
              <a:rPr lang="en-GB" b="1" i="0" dirty="0">
                <a:solidFill>
                  <a:srgbClr val="1B1B32"/>
                </a:solidFill>
                <a:effectLst/>
                <a:latin typeface="-apple-system"/>
              </a:rPr>
              <a:t>Distance #1</a:t>
            </a:r>
          </a:p>
          <a:p>
            <a:pPr algn="l" fontAlgn="base"/>
            <a:r>
              <a:rPr lang="en-GB" b="0" i="0" dirty="0">
                <a:solidFill>
                  <a:srgbClr val="0A0A23"/>
                </a:solidFill>
                <a:effectLst/>
                <a:latin typeface="Lato"/>
              </a:rPr>
              <a:t>For the first row, d1:</a:t>
            </a:r>
          </a:p>
        </p:txBody>
      </p:sp>
      <p:sp>
        <p:nvSpPr>
          <p:cNvPr id="11" name="TextBox 10">
            <a:extLst>
              <a:ext uri="{FF2B5EF4-FFF2-40B4-BE49-F238E27FC236}">
                <a16:creationId xmlns:a16="http://schemas.microsoft.com/office/drawing/2014/main" id="{8876AEFD-9AB8-7C19-E996-796B279816B9}"/>
              </a:ext>
            </a:extLst>
          </p:cNvPr>
          <p:cNvSpPr txBox="1"/>
          <p:nvPr/>
        </p:nvSpPr>
        <p:spPr>
          <a:xfrm>
            <a:off x="803188" y="2559047"/>
            <a:ext cx="6096000" cy="1200329"/>
          </a:xfrm>
          <a:prstGeom prst="rect">
            <a:avLst/>
          </a:prstGeom>
          <a:noFill/>
        </p:spPr>
        <p:txBody>
          <a:bodyPr wrap="square">
            <a:spAutoFit/>
          </a:bodyPr>
          <a:lstStyle/>
          <a:p>
            <a:r>
              <a:rPr lang="en-GB" b="0" i="0" dirty="0">
                <a:solidFill>
                  <a:srgbClr val="0A0A23"/>
                </a:solidFill>
                <a:effectLst/>
                <a:latin typeface="Lato"/>
              </a:rPr>
              <a:t>d1 = √(20 - 40)² + (35 - 20)²</a:t>
            </a:r>
            <a:br>
              <a:rPr lang="en-GB" dirty="0"/>
            </a:br>
            <a:r>
              <a:rPr lang="en-GB" b="0" i="0" dirty="0">
                <a:solidFill>
                  <a:srgbClr val="0A0A23"/>
                </a:solidFill>
                <a:effectLst/>
                <a:latin typeface="Lato"/>
              </a:rPr>
              <a:t>= √400 + 225</a:t>
            </a:r>
            <a:br>
              <a:rPr lang="en-GB" dirty="0"/>
            </a:br>
            <a:r>
              <a:rPr lang="en-GB" b="0" i="0" dirty="0">
                <a:solidFill>
                  <a:srgbClr val="0A0A23"/>
                </a:solidFill>
                <a:effectLst/>
                <a:latin typeface="Lato"/>
              </a:rPr>
              <a:t>= √625</a:t>
            </a:r>
            <a:br>
              <a:rPr lang="en-GB" dirty="0"/>
            </a:br>
            <a:r>
              <a:rPr lang="en-GB" b="0" i="0" dirty="0">
                <a:solidFill>
                  <a:srgbClr val="0A0A23"/>
                </a:solidFill>
                <a:effectLst/>
                <a:latin typeface="Lato"/>
              </a:rPr>
              <a:t>= 25</a:t>
            </a:r>
            <a:endParaRPr lang="en-GB" dirty="0"/>
          </a:p>
        </p:txBody>
      </p:sp>
      <p:sp>
        <p:nvSpPr>
          <p:cNvPr id="13" name="TextBox 12">
            <a:extLst>
              <a:ext uri="{FF2B5EF4-FFF2-40B4-BE49-F238E27FC236}">
                <a16:creationId xmlns:a16="http://schemas.microsoft.com/office/drawing/2014/main" id="{4F41593C-CBFB-7A6B-B27C-99E329D58667}"/>
              </a:ext>
            </a:extLst>
          </p:cNvPr>
          <p:cNvSpPr txBox="1"/>
          <p:nvPr/>
        </p:nvSpPr>
        <p:spPr>
          <a:xfrm>
            <a:off x="803188" y="3963086"/>
            <a:ext cx="6096000" cy="646331"/>
          </a:xfrm>
          <a:prstGeom prst="rect">
            <a:avLst/>
          </a:prstGeom>
          <a:noFill/>
        </p:spPr>
        <p:txBody>
          <a:bodyPr wrap="square">
            <a:spAutoFit/>
          </a:bodyPr>
          <a:lstStyle/>
          <a:p>
            <a:pPr algn="l" fontAlgn="base"/>
            <a:r>
              <a:rPr lang="en-GB" b="1" i="0" dirty="0">
                <a:solidFill>
                  <a:srgbClr val="1B1B32"/>
                </a:solidFill>
                <a:effectLst/>
                <a:latin typeface="-apple-system"/>
              </a:rPr>
              <a:t>Distance #2</a:t>
            </a:r>
          </a:p>
          <a:p>
            <a:pPr algn="l" fontAlgn="base"/>
            <a:r>
              <a:rPr lang="en-GB" b="0" i="0" dirty="0">
                <a:solidFill>
                  <a:srgbClr val="0A0A23"/>
                </a:solidFill>
                <a:effectLst/>
                <a:latin typeface="Lato"/>
              </a:rPr>
              <a:t>For the second row, d2:</a:t>
            </a:r>
          </a:p>
        </p:txBody>
      </p:sp>
      <p:sp>
        <p:nvSpPr>
          <p:cNvPr id="15" name="TextBox 14">
            <a:extLst>
              <a:ext uri="{FF2B5EF4-FFF2-40B4-BE49-F238E27FC236}">
                <a16:creationId xmlns:a16="http://schemas.microsoft.com/office/drawing/2014/main" id="{4448D1A0-E16A-635A-613E-2624B7EF792C}"/>
              </a:ext>
            </a:extLst>
          </p:cNvPr>
          <p:cNvSpPr txBox="1"/>
          <p:nvPr/>
        </p:nvSpPr>
        <p:spPr>
          <a:xfrm>
            <a:off x="803188" y="4813127"/>
            <a:ext cx="6096000" cy="1200329"/>
          </a:xfrm>
          <a:prstGeom prst="rect">
            <a:avLst/>
          </a:prstGeom>
          <a:noFill/>
        </p:spPr>
        <p:txBody>
          <a:bodyPr wrap="square">
            <a:spAutoFit/>
          </a:bodyPr>
          <a:lstStyle/>
          <a:p>
            <a:r>
              <a:rPr lang="en-GB" b="0" i="0" dirty="0">
                <a:solidFill>
                  <a:srgbClr val="0A0A23"/>
                </a:solidFill>
                <a:effectLst/>
                <a:latin typeface="Lato"/>
              </a:rPr>
              <a:t>d2 = √(20 - 50)² + (35 - 50)²</a:t>
            </a:r>
            <a:br>
              <a:rPr lang="en-GB" dirty="0"/>
            </a:br>
            <a:r>
              <a:rPr lang="en-GB" b="0" i="0" dirty="0">
                <a:solidFill>
                  <a:srgbClr val="0A0A23"/>
                </a:solidFill>
                <a:effectLst/>
                <a:latin typeface="Lato"/>
              </a:rPr>
              <a:t>= √900 + 225</a:t>
            </a:r>
            <a:br>
              <a:rPr lang="en-GB" dirty="0"/>
            </a:br>
            <a:r>
              <a:rPr lang="en-GB" b="0" i="0" dirty="0">
                <a:solidFill>
                  <a:srgbClr val="0A0A23"/>
                </a:solidFill>
                <a:effectLst/>
                <a:latin typeface="Lato"/>
              </a:rPr>
              <a:t>= √1125</a:t>
            </a:r>
            <a:br>
              <a:rPr lang="en-GB" dirty="0"/>
            </a:br>
            <a:r>
              <a:rPr lang="en-GB" b="0" i="0" dirty="0">
                <a:solidFill>
                  <a:srgbClr val="0A0A23"/>
                </a:solidFill>
                <a:effectLst/>
                <a:latin typeface="Lato"/>
              </a:rPr>
              <a:t>= 33.54</a:t>
            </a:r>
            <a:endParaRPr lang="en-GB" dirty="0"/>
          </a:p>
        </p:txBody>
      </p:sp>
      <p:graphicFrame>
        <p:nvGraphicFramePr>
          <p:cNvPr id="16" name="Table 15">
            <a:extLst>
              <a:ext uri="{FF2B5EF4-FFF2-40B4-BE49-F238E27FC236}">
                <a16:creationId xmlns:a16="http://schemas.microsoft.com/office/drawing/2014/main" id="{53DFADAB-C6B2-5A0B-4D25-8D2FB4676624}"/>
              </a:ext>
            </a:extLst>
          </p:cNvPr>
          <p:cNvGraphicFramePr>
            <a:graphicFrameLocks noGrp="1"/>
          </p:cNvGraphicFramePr>
          <p:nvPr>
            <p:extLst>
              <p:ext uri="{D42A27DB-BD31-4B8C-83A1-F6EECF244321}">
                <p14:modId xmlns:p14="http://schemas.microsoft.com/office/powerpoint/2010/main" val="3944308143"/>
              </p:ext>
            </p:extLst>
          </p:nvPr>
        </p:nvGraphicFramePr>
        <p:xfrm>
          <a:off x="4819135" y="4667943"/>
          <a:ext cx="5364892" cy="731520"/>
        </p:xfrm>
        <a:graphic>
          <a:graphicData uri="http://schemas.openxmlformats.org/drawingml/2006/table">
            <a:tbl>
              <a:tblPr/>
              <a:tblGrid>
                <a:gridCol w="1341223">
                  <a:extLst>
                    <a:ext uri="{9D8B030D-6E8A-4147-A177-3AD203B41FA5}">
                      <a16:colId xmlns:a16="http://schemas.microsoft.com/office/drawing/2014/main" val="1494193315"/>
                    </a:ext>
                  </a:extLst>
                </a:gridCol>
                <a:gridCol w="1341223">
                  <a:extLst>
                    <a:ext uri="{9D8B030D-6E8A-4147-A177-3AD203B41FA5}">
                      <a16:colId xmlns:a16="http://schemas.microsoft.com/office/drawing/2014/main" val="3463408711"/>
                    </a:ext>
                  </a:extLst>
                </a:gridCol>
                <a:gridCol w="1341223">
                  <a:extLst>
                    <a:ext uri="{9D8B030D-6E8A-4147-A177-3AD203B41FA5}">
                      <a16:colId xmlns:a16="http://schemas.microsoft.com/office/drawing/2014/main" val="4144252468"/>
                    </a:ext>
                  </a:extLst>
                </a:gridCol>
                <a:gridCol w="1341223">
                  <a:extLst>
                    <a:ext uri="{9D8B030D-6E8A-4147-A177-3AD203B41FA5}">
                      <a16:colId xmlns:a16="http://schemas.microsoft.com/office/drawing/2014/main" val="1517041205"/>
                    </a:ext>
                  </a:extLst>
                </a:gridCol>
              </a:tblGrid>
              <a:tr h="0">
                <a:tc>
                  <a:txBody>
                    <a:bodyPr/>
                    <a:lstStyle/>
                    <a:p>
                      <a:pPr fontAlgn="base"/>
                      <a:r>
                        <a:rPr lang="en-GB">
                          <a:effectLst/>
                          <a:latin typeface="inherit"/>
                        </a:rPr>
                        <a:t>Brightness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Saturation</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Class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Distance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440550313"/>
                  </a:ext>
                </a:extLst>
              </a:tr>
              <a:tr h="0">
                <a:tc>
                  <a:txBody>
                    <a:bodyPr/>
                    <a:lstStyle/>
                    <a:p>
                      <a:pPr fontAlgn="base"/>
                      <a:r>
                        <a:rPr lang="en-GB">
                          <a:effectLst/>
                          <a:latin typeface="inherit"/>
                        </a:rPr>
                        <a:t>50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50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dirty="0">
                          <a:effectLst/>
                          <a:latin typeface="inherit"/>
                        </a:rPr>
                        <a:t>33.54</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678595988"/>
                  </a:ext>
                </a:extLst>
              </a:tr>
            </a:tbl>
          </a:graphicData>
        </a:graphic>
      </p:graphicFrame>
      <p:graphicFrame>
        <p:nvGraphicFramePr>
          <p:cNvPr id="17" name="Table 16">
            <a:extLst>
              <a:ext uri="{FF2B5EF4-FFF2-40B4-BE49-F238E27FC236}">
                <a16:creationId xmlns:a16="http://schemas.microsoft.com/office/drawing/2014/main" id="{AF72BC81-0B84-B01C-626A-FEF001ABC00B}"/>
              </a:ext>
            </a:extLst>
          </p:cNvPr>
          <p:cNvGraphicFramePr>
            <a:graphicFrameLocks noGrp="1"/>
          </p:cNvGraphicFramePr>
          <p:nvPr>
            <p:extLst>
              <p:ext uri="{D42A27DB-BD31-4B8C-83A1-F6EECF244321}">
                <p14:modId xmlns:p14="http://schemas.microsoft.com/office/powerpoint/2010/main" val="1569194620"/>
              </p:ext>
            </p:extLst>
          </p:nvPr>
        </p:nvGraphicFramePr>
        <p:xfrm>
          <a:off x="5140410" y="2502591"/>
          <a:ext cx="4646140" cy="731520"/>
        </p:xfrm>
        <a:graphic>
          <a:graphicData uri="http://schemas.openxmlformats.org/drawingml/2006/table">
            <a:tbl>
              <a:tblPr/>
              <a:tblGrid>
                <a:gridCol w="1161535">
                  <a:extLst>
                    <a:ext uri="{9D8B030D-6E8A-4147-A177-3AD203B41FA5}">
                      <a16:colId xmlns:a16="http://schemas.microsoft.com/office/drawing/2014/main" val="2658670113"/>
                    </a:ext>
                  </a:extLst>
                </a:gridCol>
                <a:gridCol w="1161535">
                  <a:extLst>
                    <a:ext uri="{9D8B030D-6E8A-4147-A177-3AD203B41FA5}">
                      <a16:colId xmlns:a16="http://schemas.microsoft.com/office/drawing/2014/main" val="2644832320"/>
                    </a:ext>
                  </a:extLst>
                </a:gridCol>
                <a:gridCol w="1161535">
                  <a:extLst>
                    <a:ext uri="{9D8B030D-6E8A-4147-A177-3AD203B41FA5}">
                      <a16:colId xmlns:a16="http://schemas.microsoft.com/office/drawing/2014/main" val="2816586007"/>
                    </a:ext>
                  </a:extLst>
                </a:gridCol>
                <a:gridCol w="1161535">
                  <a:extLst>
                    <a:ext uri="{9D8B030D-6E8A-4147-A177-3AD203B41FA5}">
                      <a16:colId xmlns:a16="http://schemas.microsoft.com/office/drawing/2014/main" val="2175752678"/>
                    </a:ext>
                  </a:extLst>
                </a:gridCol>
              </a:tblGrid>
              <a:tr h="0">
                <a:tc>
                  <a:txBody>
                    <a:bodyPr/>
                    <a:lstStyle/>
                    <a:p>
                      <a:pPr fontAlgn="base"/>
                      <a:r>
                        <a:rPr lang="en-GB" dirty="0">
                          <a:effectLst/>
                          <a:latin typeface="inherit"/>
                        </a:rPr>
                        <a:t>Brightness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Saturation</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Class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Distance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385781336"/>
                  </a:ext>
                </a:extLst>
              </a:tr>
              <a:tr h="0">
                <a:tc>
                  <a:txBody>
                    <a:bodyPr/>
                    <a:lstStyle/>
                    <a:p>
                      <a:pPr fontAlgn="base"/>
                      <a:r>
                        <a:rPr lang="en-GB">
                          <a:effectLst/>
                          <a:latin typeface="inherit"/>
                        </a:rPr>
                        <a:t>40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dirty="0">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961242451"/>
                  </a:ext>
                </a:extLst>
              </a:tr>
            </a:tbl>
          </a:graphicData>
        </a:graphic>
      </p:graphicFrame>
    </p:spTree>
    <p:extLst>
      <p:ext uri="{BB962C8B-B14F-4D97-AF65-F5344CB8AC3E}">
        <p14:creationId xmlns:p14="http://schemas.microsoft.com/office/powerpoint/2010/main" val="18844728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0D3061-580C-3C73-F3BD-E2BDEACB2C97}"/>
              </a:ext>
            </a:extLst>
          </p:cNvPr>
          <p:cNvSpPr txBox="1"/>
          <p:nvPr/>
        </p:nvSpPr>
        <p:spPr>
          <a:xfrm>
            <a:off x="1400432" y="471786"/>
            <a:ext cx="9366422" cy="369332"/>
          </a:xfrm>
          <a:prstGeom prst="rect">
            <a:avLst/>
          </a:prstGeom>
          <a:noFill/>
        </p:spPr>
        <p:txBody>
          <a:bodyPr wrap="square">
            <a:spAutoFit/>
          </a:bodyPr>
          <a:lstStyle/>
          <a:p>
            <a:r>
              <a:rPr lang="en-GB" b="0" i="0" dirty="0">
                <a:solidFill>
                  <a:srgbClr val="0A0A23"/>
                </a:solidFill>
                <a:effectLst/>
                <a:latin typeface="Lato"/>
              </a:rPr>
              <a:t>Here's what the table will look like after all the distances have been calculated:</a:t>
            </a:r>
            <a:endParaRPr lang="en-GB" dirty="0"/>
          </a:p>
        </p:txBody>
      </p:sp>
      <p:graphicFrame>
        <p:nvGraphicFramePr>
          <p:cNvPr id="6" name="Table 5">
            <a:extLst>
              <a:ext uri="{FF2B5EF4-FFF2-40B4-BE49-F238E27FC236}">
                <a16:creationId xmlns:a16="http://schemas.microsoft.com/office/drawing/2014/main" id="{16DADD05-B1A0-20E1-2DE6-1272D9B83707}"/>
              </a:ext>
            </a:extLst>
          </p:cNvPr>
          <p:cNvGraphicFramePr>
            <a:graphicFrameLocks noGrp="1"/>
          </p:cNvGraphicFramePr>
          <p:nvPr>
            <p:extLst>
              <p:ext uri="{D42A27DB-BD31-4B8C-83A1-F6EECF244321}">
                <p14:modId xmlns:p14="http://schemas.microsoft.com/office/powerpoint/2010/main" val="203395560"/>
              </p:ext>
            </p:extLst>
          </p:nvPr>
        </p:nvGraphicFramePr>
        <p:xfrm>
          <a:off x="2624946" y="1849996"/>
          <a:ext cx="6221628" cy="2926080"/>
        </p:xfrm>
        <a:graphic>
          <a:graphicData uri="http://schemas.openxmlformats.org/drawingml/2006/table">
            <a:tbl>
              <a:tblPr/>
              <a:tblGrid>
                <a:gridCol w="1555407">
                  <a:extLst>
                    <a:ext uri="{9D8B030D-6E8A-4147-A177-3AD203B41FA5}">
                      <a16:colId xmlns:a16="http://schemas.microsoft.com/office/drawing/2014/main" val="191731394"/>
                    </a:ext>
                  </a:extLst>
                </a:gridCol>
                <a:gridCol w="1555407">
                  <a:extLst>
                    <a:ext uri="{9D8B030D-6E8A-4147-A177-3AD203B41FA5}">
                      <a16:colId xmlns:a16="http://schemas.microsoft.com/office/drawing/2014/main" val="2489474878"/>
                    </a:ext>
                  </a:extLst>
                </a:gridCol>
                <a:gridCol w="1555407">
                  <a:extLst>
                    <a:ext uri="{9D8B030D-6E8A-4147-A177-3AD203B41FA5}">
                      <a16:colId xmlns:a16="http://schemas.microsoft.com/office/drawing/2014/main" val="425733728"/>
                    </a:ext>
                  </a:extLst>
                </a:gridCol>
                <a:gridCol w="1555407">
                  <a:extLst>
                    <a:ext uri="{9D8B030D-6E8A-4147-A177-3AD203B41FA5}">
                      <a16:colId xmlns:a16="http://schemas.microsoft.com/office/drawing/2014/main" val="2698139678"/>
                    </a:ext>
                  </a:extLst>
                </a:gridCol>
              </a:tblGrid>
              <a:tr h="0">
                <a:tc>
                  <a:txBody>
                    <a:bodyPr/>
                    <a:lstStyle/>
                    <a:p>
                      <a:pPr fontAlgn="base"/>
                      <a:r>
                        <a:rPr lang="en-GB">
                          <a:effectLst/>
                          <a:latin typeface="inherit"/>
                        </a:rPr>
                        <a:t>Brightness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Saturation</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Class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Distance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055128148"/>
                  </a:ext>
                </a:extLst>
              </a:tr>
              <a:tr h="0">
                <a:tc>
                  <a:txBody>
                    <a:bodyPr/>
                    <a:lstStyle/>
                    <a:p>
                      <a:pPr fontAlgn="base"/>
                      <a:r>
                        <a:rPr lang="en-GB">
                          <a:effectLst/>
                          <a:latin typeface="inherit"/>
                        </a:rPr>
                        <a:t>40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922175977"/>
                  </a:ext>
                </a:extLst>
              </a:tr>
              <a:tr h="0">
                <a:tc>
                  <a:txBody>
                    <a:bodyPr/>
                    <a:lstStyle/>
                    <a:p>
                      <a:pPr fontAlgn="base"/>
                      <a:r>
                        <a:rPr lang="en-GB">
                          <a:effectLst/>
                          <a:latin typeface="inherit"/>
                        </a:rPr>
                        <a:t>50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50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33.54</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268690907"/>
                  </a:ext>
                </a:extLst>
              </a:tr>
              <a:tr h="0">
                <a:tc>
                  <a:txBody>
                    <a:bodyPr/>
                    <a:lstStyle/>
                    <a:p>
                      <a:pPr fontAlgn="base"/>
                      <a:r>
                        <a:rPr lang="en-GB">
                          <a:effectLst/>
                          <a:latin typeface="inherit"/>
                        </a:rPr>
                        <a:t>60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90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68.01</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815763296"/>
                  </a:ext>
                </a:extLst>
              </a:tr>
              <a:tr h="0">
                <a:tc>
                  <a:txBody>
                    <a:bodyPr/>
                    <a:lstStyle/>
                    <a:p>
                      <a:pPr fontAlgn="base"/>
                      <a:r>
                        <a:rPr lang="en-GB">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878561750"/>
                  </a:ext>
                </a:extLst>
              </a:tr>
              <a:tr h="0">
                <a:tc>
                  <a:txBody>
                    <a:bodyPr/>
                    <a:lstStyle/>
                    <a:p>
                      <a:pPr fontAlgn="base"/>
                      <a:r>
                        <a:rPr lang="en-GB">
                          <a:effectLst/>
                          <a:latin typeface="inherit"/>
                        </a:rPr>
                        <a:t>70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70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61.03</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971419101"/>
                  </a:ext>
                </a:extLst>
              </a:tr>
              <a:tr h="0">
                <a:tc>
                  <a:txBody>
                    <a:bodyPr/>
                    <a:lstStyle/>
                    <a:p>
                      <a:pPr fontAlgn="base"/>
                      <a:r>
                        <a:rPr lang="en-GB">
                          <a:effectLst/>
                          <a:latin typeface="inherit"/>
                        </a:rPr>
                        <a:t>60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47.17</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589924096"/>
                  </a:ext>
                </a:extLst>
              </a:tr>
              <a:tr h="0">
                <a:tc>
                  <a:txBody>
                    <a:bodyPr/>
                    <a:lstStyle/>
                    <a:p>
                      <a:pPr fontAlgn="base"/>
                      <a:r>
                        <a:rPr lang="en-GB">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80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dirty="0">
                          <a:effectLst/>
                          <a:latin typeface="inherit"/>
                        </a:rPr>
                        <a:t>45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56580153"/>
                  </a:ext>
                </a:extLst>
              </a:tr>
            </a:tbl>
          </a:graphicData>
        </a:graphic>
      </p:graphicFrame>
    </p:spTree>
    <p:extLst>
      <p:ext uri="{BB962C8B-B14F-4D97-AF65-F5344CB8AC3E}">
        <p14:creationId xmlns:p14="http://schemas.microsoft.com/office/powerpoint/2010/main" val="30379690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79F171-B7DB-2D74-272E-D528FE8FEC23}"/>
              </a:ext>
            </a:extLst>
          </p:cNvPr>
          <p:cNvSpPr txBox="1"/>
          <p:nvPr/>
        </p:nvSpPr>
        <p:spPr>
          <a:xfrm>
            <a:off x="420130" y="98454"/>
            <a:ext cx="6096000" cy="369332"/>
          </a:xfrm>
          <a:prstGeom prst="rect">
            <a:avLst/>
          </a:prstGeom>
          <a:noFill/>
        </p:spPr>
        <p:txBody>
          <a:bodyPr wrap="square">
            <a:spAutoFit/>
          </a:bodyPr>
          <a:lstStyle/>
          <a:p>
            <a:r>
              <a:rPr lang="en-GB" b="0" i="0" dirty="0">
                <a:solidFill>
                  <a:srgbClr val="0A0A23"/>
                </a:solidFill>
                <a:effectLst/>
                <a:latin typeface="Lato"/>
              </a:rPr>
              <a:t>Let's rearrange the distances in ascending order:</a:t>
            </a:r>
            <a:endParaRPr lang="en-GB" dirty="0"/>
          </a:p>
        </p:txBody>
      </p:sp>
      <p:graphicFrame>
        <p:nvGraphicFramePr>
          <p:cNvPr id="6" name="Table 5">
            <a:extLst>
              <a:ext uri="{FF2B5EF4-FFF2-40B4-BE49-F238E27FC236}">
                <a16:creationId xmlns:a16="http://schemas.microsoft.com/office/drawing/2014/main" id="{A2F866A0-9088-62A0-427F-C8E7271DECBE}"/>
              </a:ext>
            </a:extLst>
          </p:cNvPr>
          <p:cNvGraphicFramePr>
            <a:graphicFrameLocks noGrp="1"/>
          </p:cNvGraphicFramePr>
          <p:nvPr>
            <p:extLst>
              <p:ext uri="{D42A27DB-BD31-4B8C-83A1-F6EECF244321}">
                <p14:modId xmlns:p14="http://schemas.microsoft.com/office/powerpoint/2010/main" val="1858272468"/>
              </p:ext>
            </p:extLst>
          </p:nvPr>
        </p:nvGraphicFramePr>
        <p:xfrm>
          <a:off x="1919417" y="577915"/>
          <a:ext cx="7253748" cy="2926080"/>
        </p:xfrm>
        <a:graphic>
          <a:graphicData uri="http://schemas.openxmlformats.org/drawingml/2006/table">
            <a:tbl>
              <a:tblPr/>
              <a:tblGrid>
                <a:gridCol w="1813437">
                  <a:extLst>
                    <a:ext uri="{9D8B030D-6E8A-4147-A177-3AD203B41FA5}">
                      <a16:colId xmlns:a16="http://schemas.microsoft.com/office/drawing/2014/main" val="2737215550"/>
                    </a:ext>
                  </a:extLst>
                </a:gridCol>
                <a:gridCol w="1813437">
                  <a:extLst>
                    <a:ext uri="{9D8B030D-6E8A-4147-A177-3AD203B41FA5}">
                      <a16:colId xmlns:a16="http://schemas.microsoft.com/office/drawing/2014/main" val="1992867406"/>
                    </a:ext>
                  </a:extLst>
                </a:gridCol>
                <a:gridCol w="1813437">
                  <a:extLst>
                    <a:ext uri="{9D8B030D-6E8A-4147-A177-3AD203B41FA5}">
                      <a16:colId xmlns:a16="http://schemas.microsoft.com/office/drawing/2014/main" val="1024442529"/>
                    </a:ext>
                  </a:extLst>
                </a:gridCol>
                <a:gridCol w="1813437">
                  <a:extLst>
                    <a:ext uri="{9D8B030D-6E8A-4147-A177-3AD203B41FA5}">
                      <a16:colId xmlns:a16="http://schemas.microsoft.com/office/drawing/2014/main" val="497330949"/>
                    </a:ext>
                  </a:extLst>
                </a:gridCol>
              </a:tblGrid>
              <a:tr h="0">
                <a:tc>
                  <a:txBody>
                    <a:bodyPr/>
                    <a:lstStyle/>
                    <a:p>
                      <a:pPr fontAlgn="base"/>
                      <a:r>
                        <a:rPr lang="en-GB">
                          <a:effectLst/>
                          <a:latin typeface="inherit"/>
                        </a:rPr>
                        <a:t>Brightness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Saturation</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Class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Distance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67607610"/>
                  </a:ext>
                </a:extLst>
              </a:tr>
              <a:tr h="0">
                <a:tc>
                  <a:txBody>
                    <a:bodyPr/>
                    <a:lstStyle/>
                    <a:p>
                      <a:pPr fontAlgn="base"/>
                      <a:r>
                        <a:rPr lang="en-GB">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4022604197"/>
                  </a:ext>
                </a:extLst>
              </a:tr>
              <a:tr h="0">
                <a:tc>
                  <a:txBody>
                    <a:bodyPr/>
                    <a:lstStyle/>
                    <a:p>
                      <a:pPr fontAlgn="base"/>
                      <a:r>
                        <a:rPr lang="en-GB">
                          <a:effectLst/>
                          <a:latin typeface="inherit"/>
                        </a:rPr>
                        <a:t>40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81073965"/>
                  </a:ext>
                </a:extLst>
              </a:tr>
              <a:tr h="0">
                <a:tc>
                  <a:txBody>
                    <a:bodyPr/>
                    <a:lstStyle/>
                    <a:p>
                      <a:pPr fontAlgn="base"/>
                      <a:r>
                        <a:rPr lang="en-GB">
                          <a:effectLst/>
                          <a:latin typeface="inherit"/>
                        </a:rPr>
                        <a:t>50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50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33.54</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837244256"/>
                  </a:ext>
                </a:extLst>
              </a:tr>
              <a:tr h="0">
                <a:tc>
                  <a:txBody>
                    <a:bodyPr/>
                    <a:lstStyle/>
                    <a:p>
                      <a:pPr fontAlgn="base"/>
                      <a:r>
                        <a:rPr lang="en-GB" dirty="0">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80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45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080734718"/>
                  </a:ext>
                </a:extLst>
              </a:tr>
              <a:tr h="0">
                <a:tc>
                  <a:txBody>
                    <a:bodyPr/>
                    <a:lstStyle/>
                    <a:p>
                      <a:pPr fontAlgn="base"/>
                      <a:r>
                        <a:rPr lang="en-GB">
                          <a:effectLst/>
                          <a:latin typeface="inherit"/>
                        </a:rPr>
                        <a:t>60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47.17</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095671889"/>
                  </a:ext>
                </a:extLst>
              </a:tr>
              <a:tr h="0">
                <a:tc>
                  <a:txBody>
                    <a:bodyPr/>
                    <a:lstStyle/>
                    <a:p>
                      <a:pPr fontAlgn="base"/>
                      <a:r>
                        <a:rPr lang="en-GB">
                          <a:effectLst/>
                          <a:latin typeface="inherit"/>
                        </a:rPr>
                        <a:t>70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70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61.03</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360709167"/>
                  </a:ext>
                </a:extLst>
              </a:tr>
              <a:tr h="0">
                <a:tc>
                  <a:txBody>
                    <a:bodyPr/>
                    <a:lstStyle/>
                    <a:p>
                      <a:pPr fontAlgn="base"/>
                      <a:r>
                        <a:rPr lang="en-GB">
                          <a:effectLst/>
                          <a:latin typeface="inherit"/>
                        </a:rPr>
                        <a:t>60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90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dirty="0">
                          <a:effectLst/>
                          <a:latin typeface="inherit"/>
                        </a:rPr>
                        <a:t>68.01</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426801000"/>
                  </a:ext>
                </a:extLst>
              </a:tr>
            </a:tbl>
          </a:graphicData>
        </a:graphic>
      </p:graphicFrame>
      <p:sp>
        <p:nvSpPr>
          <p:cNvPr id="8" name="TextBox 7">
            <a:extLst>
              <a:ext uri="{FF2B5EF4-FFF2-40B4-BE49-F238E27FC236}">
                <a16:creationId xmlns:a16="http://schemas.microsoft.com/office/drawing/2014/main" id="{030C4F07-9C38-0A65-E546-D870D2BA1DE9}"/>
              </a:ext>
            </a:extLst>
          </p:cNvPr>
          <p:cNvSpPr txBox="1"/>
          <p:nvPr/>
        </p:nvSpPr>
        <p:spPr>
          <a:xfrm>
            <a:off x="420130" y="3781338"/>
            <a:ext cx="9358184" cy="369332"/>
          </a:xfrm>
          <a:prstGeom prst="rect">
            <a:avLst/>
          </a:prstGeom>
          <a:noFill/>
        </p:spPr>
        <p:txBody>
          <a:bodyPr wrap="square">
            <a:spAutoFit/>
          </a:bodyPr>
          <a:lstStyle/>
          <a:p>
            <a:r>
              <a:rPr lang="en-GB" b="0" i="0" dirty="0">
                <a:solidFill>
                  <a:srgbClr val="0A0A23"/>
                </a:solidFill>
                <a:effectLst/>
                <a:latin typeface="Lato"/>
              </a:rPr>
              <a:t>Since we chose 5 as the value of </a:t>
            </a:r>
            <a:r>
              <a:rPr lang="en-GB" b="1" i="0" dirty="0">
                <a:solidFill>
                  <a:srgbClr val="1B1B32"/>
                </a:solidFill>
                <a:effectLst/>
                <a:latin typeface="Lato"/>
              </a:rPr>
              <a:t>K</a:t>
            </a:r>
            <a:r>
              <a:rPr lang="en-GB" b="0" i="0" dirty="0">
                <a:solidFill>
                  <a:srgbClr val="0A0A23"/>
                </a:solidFill>
                <a:effectLst/>
                <a:latin typeface="Lato"/>
              </a:rPr>
              <a:t>, we'll only consider the first five rows. That is:</a:t>
            </a:r>
            <a:endParaRPr lang="en-GB" dirty="0"/>
          </a:p>
        </p:txBody>
      </p:sp>
      <p:graphicFrame>
        <p:nvGraphicFramePr>
          <p:cNvPr id="9" name="Table 8">
            <a:extLst>
              <a:ext uri="{FF2B5EF4-FFF2-40B4-BE49-F238E27FC236}">
                <a16:creationId xmlns:a16="http://schemas.microsoft.com/office/drawing/2014/main" id="{65059991-BEC4-B6CC-EF2A-31E4FB97CF72}"/>
              </a:ext>
            </a:extLst>
          </p:cNvPr>
          <p:cNvGraphicFramePr>
            <a:graphicFrameLocks noGrp="1"/>
          </p:cNvGraphicFramePr>
          <p:nvPr>
            <p:extLst>
              <p:ext uri="{D42A27DB-BD31-4B8C-83A1-F6EECF244321}">
                <p14:modId xmlns:p14="http://schemas.microsoft.com/office/powerpoint/2010/main" val="3886466851"/>
              </p:ext>
            </p:extLst>
          </p:nvPr>
        </p:nvGraphicFramePr>
        <p:xfrm>
          <a:off x="550905" y="4360633"/>
          <a:ext cx="6592332" cy="2194560"/>
        </p:xfrm>
        <a:graphic>
          <a:graphicData uri="http://schemas.openxmlformats.org/drawingml/2006/table">
            <a:tbl>
              <a:tblPr/>
              <a:tblGrid>
                <a:gridCol w="1648083">
                  <a:extLst>
                    <a:ext uri="{9D8B030D-6E8A-4147-A177-3AD203B41FA5}">
                      <a16:colId xmlns:a16="http://schemas.microsoft.com/office/drawing/2014/main" val="1272829300"/>
                    </a:ext>
                  </a:extLst>
                </a:gridCol>
                <a:gridCol w="1648083">
                  <a:extLst>
                    <a:ext uri="{9D8B030D-6E8A-4147-A177-3AD203B41FA5}">
                      <a16:colId xmlns:a16="http://schemas.microsoft.com/office/drawing/2014/main" val="4055944419"/>
                    </a:ext>
                  </a:extLst>
                </a:gridCol>
                <a:gridCol w="1648083">
                  <a:extLst>
                    <a:ext uri="{9D8B030D-6E8A-4147-A177-3AD203B41FA5}">
                      <a16:colId xmlns:a16="http://schemas.microsoft.com/office/drawing/2014/main" val="3589151746"/>
                    </a:ext>
                  </a:extLst>
                </a:gridCol>
                <a:gridCol w="1648083">
                  <a:extLst>
                    <a:ext uri="{9D8B030D-6E8A-4147-A177-3AD203B41FA5}">
                      <a16:colId xmlns:a16="http://schemas.microsoft.com/office/drawing/2014/main" val="203981574"/>
                    </a:ext>
                  </a:extLst>
                </a:gridCol>
              </a:tblGrid>
              <a:tr h="0">
                <a:tc>
                  <a:txBody>
                    <a:bodyPr/>
                    <a:lstStyle/>
                    <a:p>
                      <a:pPr fontAlgn="base"/>
                      <a:r>
                        <a:rPr lang="en-GB">
                          <a:effectLst/>
                          <a:latin typeface="inherit"/>
                        </a:rPr>
                        <a:t>Brightness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Saturation</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Class</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Distance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216095873"/>
                  </a:ext>
                </a:extLst>
              </a:tr>
              <a:tr h="0">
                <a:tc>
                  <a:txBody>
                    <a:bodyPr/>
                    <a:lstStyle/>
                    <a:p>
                      <a:pPr fontAlgn="base"/>
                      <a:r>
                        <a:rPr lang="en-GB" dirty="0">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647107485"/>
                  </a:ext>
                </a:extLst>
              </a:tr>
              <a:tr h="0">
                <a:tc>
                  <a:txBody>
                    <a:bodyPr/>
                    <a:lstStyle/>
                    <a:p>
                      <a:pPr fontAlgn="base"/>
                      <a:r>
                        <a:rPr lang="en-GB">
                          <a:effectLst/>
                          <a:latin typeface="inherit"/>
                        </a:rPr>
                        <a:t>40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778388593"/>
                  </a:ext>
                </a:extLst>
              </a:tr>
              <a:tr h="0">
                <a:tc>
                  <a:txBody>
                    <a:bodyPr/>
                    <a:lstStyle/>
                    <a:p>
                      <a:pPr fontAlgn="base"/>
                      <a:r>
                        <a:rPr lang="en-GB">
                          <a:effectLst/>
                          <a:latin typeface="inherit"/>
                        </a:rPr>
                        <a:t>50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50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33.54</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214905247"/>
                  </a:ext>
                </a:extLst>
              </a:tr>
              <a:tr h="0">
                <a:tc>
                  <a:txBody>
                    <a:bodyPr/>
                    <a:lstStyle/>
                    <a:p>
                      <a:pPr fontAlgn="base"/>
                      <a:r>
                        <a:rPr lang="en-GB">
                          <a:effectLst/>
                          <a:latin typeface="inherit"/>
                        </a:rPr>
                        <a:t>25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80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Blue</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45</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706373868"/>
                  </a:ext>
                </a:extLst>
              </a:tr>
              <a:tr h="0">
                <a:tc>
                  <a:txBody>
                    <a:bodyPr/>
                    <a:lstStyle/>
                    <a:p>
                      <a:pPr fontAlgn="base"/>
                      <a:r>
                        <a:rPr lang="en-GB">
                          <a:effectLst/>
                          <a:latin typeface="inherit"/>
                        </a:rPr>
                        <a:t>60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10</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a:effectLst/>
                          <a:latin typeface="inherit"/>
                        </a:rPr>
                        <a:t>Red</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tc>
                  <a:txBody>
                    <a:bodyPr/>
                    <a:lstStyle/>
                    <a:p>
                      <a:pPr fontAlgn="base"/>
                      <a:r>
                        <a:rPr lang="en-GB" dirty="0">
                          <a:effectLst/>
                          <a:latin typeface="inherit"/>
                        </a:rPr>
                        <a:t>47.17</a:t>
                      </a:r>
                    </a:p>
                  </a:txBody>
                  <a:tcPr>
                    <a:lnL w="6096" cap="flat" cmpd="sng" algn="ctr">
                      <a:solidFill>
                        <a:srgbClr val="DFDFE2"/>
                      </a:solidFill>
                      <a:prstDash val="solid"/>
                      <a:round/>
                      <a:headEnd type="none" w="med" len="med"/>
                      <a:tailEnd type="none" w="med" len="med"/>
                    </a:lnL>
                    <a:lnR w="6096" cap="flat" cmpd="sng" algn="ctr">
                      <a:solidFill>
                        <a:srgbClr val="DFDFE2"/>
                      </a:solidFill>
                      <a:prstDash val="solid"/>
                      <a:round/>
                      <a:headEnd type="none" w="med" len="med"/>
                      <a:tailEnd type="none" w="med" len="med"/>
                    </a:lnR>
                    <a:lnT w="6096" cap="flat" cmpd="sng" algn="ctr">
                      <a:solidFill>
                        <a:srgbClr val="DFDFE2"/>
                      </a:solidFill>
                      <a:prstDash val="solid"/>
                      <a:round/>
                      <a:headEnd type="none" w="med" len="med"/>
                      <a:tailEnd type="none" w="med" len="med"/>
                    </a:lnT>
                    <a:lnB w="6096"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078835031"/>
                  </a:ext>
                </a:extLst>
              </a:tr>
            </a:tbl>
          </a:graphicData>
        </a:graphic>
      </p:graphicFrame>
      <p:sp>
        <p:nvSpPr>
          <p:cNvPr id="11" name="TextBox 10">
            <a:extLst>
              <a:ext uri="{FF2B5EF4-FFF2-40B4-BE49-F238E27FC236}">
                <a16:creationId xmlns:a16="http://schemas.microsoft.com/office/drawing/2014/main" id="{809126F1-53A4-7CD6-009E-FA08C8BCAD87}"/>
              </a:ext>
            </a:extLst>
          </p:cNvPr>
          <p:cNvSpPr txBox="1"/>
          <p:nvPr/>
        </p:nvSpPr>
        <p:spPr>
          <a:xfrm>
            <a:off x="8855675" y="4534583"/>
            <a:ext cx="3105665" cy="1754326"/>
          </a:xfrm>
          <a:prstGeom prst="rect">
            <a:avLst/>
          </a:prstGeom>
          <a:noFill/>
        </p:spPr>
        <p:txBody>
          <a:bodyPr wrap="square">
            <a:spAutoFit/>
          </a:bodyPr>
          <a:lstStyle/>
          <a:p>
            <a:r>
              <a:rPr lang="en-GB" b="0" i="0" dirty="0">
                <a:solidFill>
                  <a:srgbClr val="FF0000"/>
                </a:solidFill>
                <a:effectLst/>
                <a:latin typeface="Lato"/>
              </a:rPr>
              <a:t>As you can see, the majority class within the 5 nearest </a:t>
            </a:r>
            <a:r>
              <a:rPr lang="en-GB" b="0" i="0" dirty="0" err="1">
                <a:solidFill>
                  <a:srgbClr val="FF0000"/>
                </a:solidFill>
                <a:effectLst/>
                <a:latin typeface="Lato"/>
              </a:rPr>
              <a:t>neighbors</a:t>
            </a:r>
            <a:r>
              <a:rPr lang="en-GB" b="0" i="0" dirty="0">
                <a:solidFill>
                  <a:srgbClr val="FF0000"/>
                </a:solidFill>
                <a:effectLst/>
                <a:latin typeface="Lato"/>
              </a:rPr>
              <a:t> to the new entry is </a:t>
            </a:r>
            <a:r>
              <a:rPr lang="en-GB" b="1" i="0" dirty="0">
                <a:solidFill>
                  <a:srgbClr val="FF0000"/>
                </a:solidFill>
                <a:effectLst/>
                <a:latin typeface="Lato"/>
              </a:rPr>
              <a:t>Red</a:t>
            </a:r>
            <a:r>
              <a:rPr lang="en-GB" b="0" i="0" dirty="0">
                <a:solidFill>
                  <a:srgbClr val="FF0000"/>
                </a:solidFill>
                <a:effectLst/>
                <a:latin typeface="Lato"/>
              </a:rPr>
              <a:t>. Therefore, we'll classify the new entry as </a:t>
            </a:r>
            <a:r>
              <a:rPr lang="en-GB" b="1" i="0" dirty="0">
                <a:solidFill>
                  <a:srgbClr val="FF0000"/>
                </a:solidFill>
                <a:effectLst/>
                <a:latin typeface="Lato"/>
              </a:rPr>
              <a:t>Red</a:t>
            </a:r>
            <a:r>
              <a:rPr lang="en-GB" b="0" i="0" dirty="0">
                <a:solidFill>
                  <a:srgbClr val="FF0000"/>
                </a:solidFill>
                <a:effectLst/>
                <a:latin typeface="Lato"/>
              </a:rPr>
              <a:t>.</a:t>
            </a:r>
            <a:endParaRPr lang="en-GB" dirty="0">
              <a:solidFill>
                <a:srgbClr val="FF0000"/>
              </a:solidFill>
            </a:endParaRPr>
          </a:p>
        </p:txBody>
      </p:sp>
      <p:sp>
        <p:nvSpPr>
          <p:cNvPr id="12" name="AutoShape 2" descr="Image">
            <a:extLst>
              <a:ext uri="{FF2B5EF4-FFF2-40B4-BE49-F238E27FC236}">
                <a16:creationId xmlns:a16="http://schemas.microsoft.com/office/drawing/2014/main" id="{E33C9E3F-1471-0F98-8BC7-DE027A16F3A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9079907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C65E7E-5E95-35FB-4EDA-34299C6BA148}"/>
              </a:ext>
            </a:extLst>
          </p:cNvPr>
          <p:cNvPicPr>
            <a:picLocks noChangeAspect="1"/>
          </p:cNvPicPr>
          <p:nvPr/>
        </p:nvPicPr>
        <p:blipFill>
          <a:blip r:embed="rId2"/>
          <a:stretch>
            <a:fillRect/>
          </a:stretch>
        </p:blipFill>
        <p:spPr>
          <a:xfrm>
            <a:off x="2553730" y="625438"/>
            <a:ext cx="6145428" cy="5236015"/>
          </a:xfrm>
          <a:prstGeom prst="rect">
            <a:avLst/>
          </a:prstGeom>
        </p:spPr>
      </p:pic>
    </p:spTree>
    <p:extLst>
      <p:ext uri="{BB962C8B-B14F-4D97-AF65-F5344CB8AC3E}">
        <p14:creationId xmlns:p14="http://schemas.microsoft.com/office/powerpoint/2010/main" val="28279480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1B1A61-387C-DAE4-595D-9BDDA5F04EAC}"/>
              </a:ext>
            </a:extLst>
          </p:cNvPr>
          <p:cNvSpPr txBox="1"/>
          <p:nvPr/>
        </p:nvSpPr>
        <p:spPr>
          <a:xfrm>
            <a:off x="568412" y="174706"/>
            <a:ext cx="11541210" cy="2031325"/>
          </a:xfrm>
          <a:prstGeom prst="rect">
            <a:avLst/>
          </a:prstGeom>
          <a:noFill/>
        </p:spPr>
        <p:txBody>
          <a:bodyPr wrap="square">
            <a:spAutoFit/>
          </a:bodyPr>
          <a:lstStyle/>
          <a:p>
            <a:pPr algn="l" fontAlgn="base"/>
            <a:r>
              <a:rPr lang="en-GB" b="1" i="0" dirty="0">
                <a:solidFill>
                  <a:srgbClr val="1B1B32"/>
                </a:solidFill>
                <a:effectLst/>
                <a:latin typeface="-apple-system"/>
              </a:rPr>
              <a:t>How to Choose the Value of K in the K-NN Algorithm</a:t>
            </a:r>
          </a:p>
          <a:p>
            <a:pPr algn="l" fontAlgn="base"/>
            <a:endParaRPr lang="en-GB" b="1" i="0" dirty="0">
              <a:solidFill>
                <a:srgbClr val="1B1B32"/>
              </a:solidFill>
              <a:effectLst/>
              <a:latin typeface="-apple-system"/>
            </a:endParaRPr>
          </a:p>
          <a:p>
            <a:pPr algn="l" fontAlgn="base"/>
            <a:r>
              <a:rPr lang="en-GB" b="0" i="0" dirty="0">
                <a:solidFill>
                  <a:srgbClr val="0A0A23"/>
                </a:solidFill>
                <a:effectLst/>
                <a:latin typeface="Lato"/>
              </a:rPr>
              <a:t>There is no particular way of choosing the value </a:t>
            </a:r>
            <a:r>
              <a:rPr lang="en-GB" b="1" i="0" dirty="0">
                <a:solidFill>
                  <a:srgbClr val="1B1B32"/>
                </a:solidFill>
                <a:effectLst/>
                <a:latin typeface="inherit"/>
              </a:rPr>
              <a:t>K</a:t>
            </a:r>
            <a:r>
              <a:rPr lang="en-GB" b="0" i="0" dirty="0">
                <a:solidFill>
                  <a:srgbClr val="0A0A23"/>
                </a:solidFill>
                <a:effectLst/>
                <a:latin typeface="Lato"/>
              </a:rPr>
              <a:t>, but here are some common conventions to keep in mind:</a:t>
            </a:r>
          </a:p>
          <a:p>
            <a:pPr algn="l" fontAlgn="base"/>
            <a:endParaRPr lang="en-GB" b="0" i="0" dirty="0">
              <a:solidFill>
                <a:srgbClr val="0A0A23"/>
              </a:solidFill>
              <a:effectLst/>
              <a:latin typeface="Lato"/>
            </a:endParaRPr>
          </a:p>
          <a:p>
            <a:pPr algn="l" fontAlgn="base">
              <a:buFont typeface="Arial" panose="020B0604020202020204" pitchFamily="34" charset="0"/>
              <a:buChar char="•"/>
            </a:pPr>
            <a:r>
              <a:rPr lang="en-GB" b="0" i="0" dirty="0">
                <a:solidFill>
                  <a:srgbClr val="0A0A23"/>
                </a:solidFill>
                <a:effectLst/>
                <a:latin typeface="inherit"/>
              </a:rPr>
              <a:t>Choosing a very low value will most likely lead to inaccurate predictions.</a:t>
            </a:r>
          </a:p>
          <a:p>
            <a:pPr algn="l" fontAlgn="base">
              <a:buFont typeface="Arial" panose="020B0604020202020204" pitchFamily="34" charset="0"/>
              <a:buChar char="•"/>
            </a:pPr>
            <a:r>
              <a:rPr lang="en-GB" b="0" i="0" dirty="0">
                <a:solidFill>
                  <a:srgbClr val="0A0A23"/>
                </a:solidFill>
                <a:effectLst/>
                <a:latin typeface="inherit"/>
              </a:rPr>
              <a:t>The commonly used value of </a:t>
            </a:r>
            <a:r>
              <a:rPr lang="en-GB" b="1" i="0" dirty="0">
                <a:solidFill>
                  <a:srgbClr val="1B1B32"/>
                </a:solidFill>
                <a:effectLst/>
                <a:latin typeface="inherit"/>
              </a:rPr>
              <a:t>K</a:t>
            </a:r>
            <a:r>
              <a:rPr lang="en-GB" b="0" i="0" dirty="0">
                <a:solidFill>
                  <a:srgbClr val="0A0A23"/>
                </a:solidFill>
                <a:effectLst/>
                <a:latin typeface="inherit"/>
              </a:rPr>
              <a:t> is 5.</a:t>
            </a:r>
          </a:p>
          <a:p>
            <a:pPr algn="l" fontAlgn="base">
              <a:buFont typeface="Arial" panose="020B0604020202020204" pitchFamily="34" charset="0"/>
              <a:buChar char="•"/>
            </a:pPr>
            <a:r>
              <a:rPr lang="en-GB" b="0" i="0" dirty="0">
                <a:solidFill>
                  <a:srgbClr val="0A0A23"/>
                </a:solidFill>
                <a:effectLst/>
                <a:latin typeface="inherit"/>
              </a:rPr>
              <a:t>Always use an odd number as the value of </a:t>
            </a:r>
            <a:r>
              <a:rPr lang="en-GB" b="1" i="0" dirty="0">
                <a:solidFill>
                  <a:srgbClr val="1B1B32"/>
                </a:solidFill>
                <a:effectLst/>
                <a:latin typeface="inherit"/>
              </a:rPr>
              <a:t>K</a:t>
            </a:r>
            <a:r>
              <a:rPr lang="en-GB" b="0" i="0" dirty="0">
                <a:solidFill>
                  <a:srgbClr val="0A0A23"/>
                </a:solidFill>
                <a:effectLst/>
                <a:latin typeface="inherit"/>
              </a:rPr>
              <a:t>.</a:t>
            </a:r>
          </a:p>
        </p:txBody>
      </p:sp>
    </p:spTree>
    <p:extLst>
      <p:ext uri="{BB962C8B-B14F-4D97-AF65-F5344CB8AC3E}">
        <p14:creationId xmlns:p14="http://schemas.microsoft.com/office/powerpoint/2010/main" val="20692039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7.1.2: Petal and Sepal of Iris flowers As input data the network should...  | Download Scientific Diagram">
            <a:extLst>
              <a:ext uri="{FF2B5EF4-FFF2-40B4-BE49-F238E27FC236}">
                <a16:creationId xmlns:a16="http://schemas.microsoft.com/office/drawing/2014/main" id="{0413A262-4BC1-B4B8-27BB-D50BD75D9D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3773" y="1476374"/>
            <a:ext cx="6021602" cy="4488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17831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7AF38F9-6B79-3ED3-DEF2-168D10677EE6}"/>
              </a:ext>
            </a:extLst>
          </p:cNvPr>
          <p:cNvSpPr txBox="1"/>
          <p:nvPr/>
        </p:nvSpPr>
        <p:spPr>
          <a:xfrm>
            <a:off x="823784" y="1080867"/>
            <a:ext cx="9695935" cy="923330"/>
          </a:xfrm>
          <a:prstGeom prst="rect">
            <a:avLst/>
          </a:prstGeom>
          <a:noFill/>
        </p:spPr>
        <p:txBody>
          <a:bodyPr wrap="square">
            <a:spAutoFit/>
          </a:bodyPr>
          <a:lstStyle/>
          <a:p>
            <a:pPr algn="l"/>
            <a:r>
              <a:rPr lang="en-GB" sz="1800" b="0" i="0" u="none" strike="noStrike" baseline="0" dirty="0">
                <a:solidFill>
                  <a:srgbClr val="000000"/>
                </a:solidFill>
                <a:latin typeface="LinLibertineT"/>
              </a:rPr>
              <a:t>A key element is the interplay between the capacity of the model, that is its flexibility and ability to fit diverse data, and the amount and quality of the training data. When the capacity is insufficient, the model cannot fit the data, resulting in a high error during training. This is referred to as underfitting.</a:t>
            </a:r>
            <a:endParaRPr lang="en-GB" dirty="0"/>
          </a:p>
        </p:txBody>
      </p:sp>
      <p:sp>
        <p:nvSpPr>
          <p:cNvPr id="9" name="TextBox 8">
            <a:extLst>
              <a:ext uri="{FF2B5EF4-FFF2-40B4-BE49-F238E27FC236}">
                <a16:creationId xmlns:a16="http://schemas.microsoft.com/office/drawing/2014/main" id="{8BBDC0C5-20D6-46EC-B46D-145D49F9BF88}"/>
              </a:ext>
            </a:extLst>
          </p:cNvPr>
          <p:cNvSpPr txBox="1"/>
          <p:nvPr/>
        </p:nvSpPr>
        <p:spPr>
          <a:xfrm>
            <a:off x="889688" y="429053"/>
            <a:ext cx="2323070" cy="369332"/>
          </a:xfrm>
          <a:prstGeom prst="rect">
            <a:avLst/>
          </a:prstGeom>
          <a:noFill/>
        </p:spPr>
        <p:txBody>
          <a:bodyPr wrap="square">
            <a:spAutoFit/>
          </a:bodyPr>
          <a:lstStyle/>
          <a:p>
            <a:r>
              <a:rPr lang="en-GB" sz="1800" b="1" i="0" u="none" strike="noStrike" baseline="0" dirty="0">
                <a:latin typeface="LinBiolinumTI"/>
              </a:rPr>
              <a:t>Under and overfitting</a:t>
            </a:r>
            <a:endParaRPr lang="en-GB" b="1" dirty="0"/>
          </a:p>
        </p:txBody>
      </p:sp>
      <p:sp>
        <p:nvSpPr>
          <p:cNvPr id="11" name="TextBox 10">
            <a:extLst>
              <a:ext uri="{FF2B5EF4-FFF2-40B4-BE49-F238E27FC236}">
                <a16:creationId xmlns:a16="http://schemas.microsoft.com/office/drawing/2014/main" id="{62B733E4-1EAD-09EC-EECB-81B9D45DE2F3}"/>
              </a:ext>
            </a:extLst>
          </p:cNvPr>
          <p:cNvSpPr txBox="1"/>
          <p:nvPr/>
        </p:nvSpPr>
        <p:spPr>
          <a:xfrm>
            <a:off x="823784" y="2228671"/>
            <a:ext cx="10264346" cy="1200329"/>
          </a:xfrm>
          <a:prstGeom prst="rect">
            <a:avLst/>
          </a:prstGeom>
          <a:noFill/>
        </p:spPr>
        <p:txBody>
          <a:bodyPr wrap="square">
            <a:spAutoFit/>
          </a:bodyPr>
          <a:lstStyle/>
          <a:p>
            <a:pPr algn="l"/>
            <a:r>
              <a:rPr lang="en-GB" sz="1800" b="0" i="0" u="none" strike="noStrike" baseline="0" dirty="0">
                <a:solidFill>
                  <a:srgbClr val="000000"/>
                </a:solidFill>
                <a:latin typeface="LinLibertineT"/>
              </a:rPr>
              <a:t>On the contrary, when the amount of data is insufficient, as illustrated in Figure </a:t>
            </a:r>
            <a:r>
              <a:rPr lang="en-GB" sz="1800" b="0" i="0" u="none" strike="noStrike" baseline="0" dirty="0">
                <a:solidFill>
                  <a:srgbClr val="0033DA"/>
                </a:solidFill>
                <a:latin typeface="LinLibertineT"/>
              </a:rPr>
              <a:t>1.2</a:t>
            </a:r>
            <a:r>
              <a:rPr lang="en-GB" sz="1800" b="0" i="0" u="none" strike="noStrike" baseline="0" dirty="0">
                <a:solidFill>
                  <a:srgbClr val="000000"/>
                </a:solidFill>
                <a:latin typeface="LinLibertineT"/>
              </a:rPr>
              <a:t>, the model will often learn characteristics specific to the training examples, resulting in excellent performance during training, at the cost of a worse fit to the global structure of the data, and poor performance on new inputs. This phenomenon is referred to as overfitting.</a:t>
            </a:r>
            <a:endParaRPr lang="en-GB" dirty="0"/>
          </a:p>
        </p:txBody>
      </p:sp>
    </p:spTree>
    <p:extLst>
      <p:ext uri="{BB962C8B-B14F-4D97-AF65-F5344CB8AC3E}">
        <p14:creationId xmlns:p14="http://schemas.microsoft.com/office/powerpoint/2010/main" val="38732474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6284F6-419B-8F56-E244-D96D79E17F0D}"/>
              </a:ext>
            </a:extLst>
          </p:cNvPr>
          <p:cNvSpPr>
            <a:spLocks noGrp="1"/>
          </p:cNvSpPr>
          <p:nvPr>
            <p:ph idx="1"/>
          </p:nvPr>
        </p:nvSpPr>
        <p:spPr/>
        <p:txBody>
          <a:bodyPr/>
          <a:lstStyle/>
          <a:p>
            <a:endParaRPr lang="en-GB" sz="1800" b="0" i="0" u="none" strike="noStrike" baseline="0" dirty="0">
              <a:solidFill>
                <a:srgbClr val="000000"/>
              </a:solidFill>
              <a:latin typeface="Proxima Nova Rg"/>
            </a:endParaRPr>
          </a:p>
          <a:p>
            <a:r>
              <a:rPr lang="en-GB" sz="1800" b="0" i="0" u="none" strike="noStrike" baseline="0" dirty="0">
                <a:solidFill>
                  <a:srgbClr val="1D1F20"/>
                </a:solidFill>
                <a:latin typeface="Proxima Nova Rg"/>
              </a:rPr>
              <a:t>After training, the model is tested on an independent test data set to evaluate its performance objectively. </a:t>
            </a:r>
            <a:endParaRPr lang="en-GB" sz="1800" b="0" i="0" u="none" strike="noStrike" baseline="0" dirty="0">
              <a:solidFill>
                <a:srgbClr val="000000"/>
              </a:solidFill>
            </a:endParaRPr>
          </a:p>
          <a:p>
            <a:r>
              <a:rPr lang="en-GB" sz="1800" b="0" i="0" u="none" strike="noStrike" baseline="0" dirty="0">
                <a:solidFill>
                  <a:srgbClr val="000000"/>
                </a:solidFill>
              </a:rPr>
              <a:t>At this stage, it is necessary to input test data into the model that has actual target values so you can compare the model’s predictions with the exact values. Standard evaluation metrics include:</a:t>
            </a:r>
            <a:endParaRPr lang="en-GB" dirty="0"/>
          </a:p>
        </p:txBody>
      </p:sp>
      <p:sp>
        <p:nvSpPr>
          <p:cNvPr id="5" name="TextBox 4">
            <a:extLst>
              <a:ext uri="{FF2B5EF4-FFF2-40B4-BE49-F238E27FC236}">
                <a16:creationId xmlns:a16="http://schemas.microsoft.com/office/drawing/2014/main" id="{065E4AC8-91FF-806A-0E16-856620F076E6}"/>
              </a:ext>
            </a:extLst>
          </p:cNvPr>
          <p:cNvSpPr txBox="1"/>
          <p:nvPr/>
        </p:nvSpPr>
        <p:spPr>
          <a:xfrm>
            <a:off x="2660821" y="173050"/>
            <a:ext cx="6096000" cy="369332"/>
          </a:xfrm>
          <a:prstGeom prst="rect">
            <a:avLst/>
          </a:prstGeom>
          <a:noFill/>
        </p:spPr>
        <p:txBody>
          <a:bodyPr wrap="square">
            <a:spAutoFit/>
          </a:bodyPr>
          <a:lstStyle/>
          <a:p>
            <a:r>
              <a:rPr lang="en-GB" sz="1800" b="1" i="0" u="none" strike="noStrike" baseline="0" dirty="0">
                <a:solidFill>
                  <a:srgbClr val="1D1F20"/>
                </a:solidFill>
                <a:latin typeface="Proxima Nova Rg"/>
              </a:rPr>
              <a:t>Testing and evaluating model performance </a:t>
            </a:r>
            <a:endParaRPr lang="en-GB" dirty="0"/>
          </a:p>
        </p:txBody>
      </p:sp>
    </p:spTree>
    <p:extLst>
      <p:ext uri="{BB962C8B-B14F-4D97-AF65-F5344CB8AC3E}">
        <p14:creationId xmlns:p14="http://schemas.microsoft.com/office/powerpoint/2010/main" val="4981351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3BC8D0-B07A-599E-AB94-8F4D8F0AA78D}"/>
              </a:ext>
            </a:extLst>
          </p:cNvPr>
          <p:cNvSpPr>
            <a:spLocks noGrp="1"/>
          </p:cNvSpPr>
          <p:nvPr>
            <p:ph idx="1"/>
          </p:nvPr>
        </p:nvSpPr>
        <p:spPr/>
        <p:txBody>
          <a:bodyPr/>
          <a:lstStyle/>
          <a:p>
            <a:endParaRPr lang="en-GB" sz="1800" b="0" i="0" u="none" strike="noStrike" baseline="0" dirty="0">
              <a:solidFill>
                <a:srgbClr val="000000"/>
              </a:solidFill>
              <a:latin typeface="Proxima Nova Rg"/>
            </a:endParaRPr>
          </a:p>
          <a:p>
            <a:r>
              <a:rPr lang="en-GB" sz="1800" b="0" i="0" u="none" strike="noStrike" baseline="0" dirty="0">
                <a:solidFill>
                  <a:srgbClr val="1D1F20"/>
                </a:solidFill>
                <a:latin typeface="Proxima Nova Rg"/>
              </a:rPr>
              <a:t>Once a machine learning model is trained, the next step is deploying it within a business application, such as a mobile or desktop app. This involves integrating the model into existing software, ensuring it can process real-world data and make accurate predictions. Deployment isn't just about having a well-trained model—it must seamlessly integrate into the environment, scale e</a:t>
            </a:r>
            <a:r>
              <a:rPr lang="en-GB" sz="1800" b="0" i="0" u="none" strike="noStrike" baseline="0" dirty="0">
                <a:solidFill>
                  <a:srgbClr val="000000"/>
                </a:solidFill>
                <a:latin typeface="Proxima Nova Rg"/>
              </a:rPr>
              <a:t>ff</a:t>
            </a:r>
            <a:r>
              <a:rPr lang="en-GB" sz="1800" b="0" i="0" u="none" strike="noStrike" baseline="0" dirty="0">
                <a:solidFill>
                  <a:srgbClr val="1D1F20"/>
                </a:solidFill>
                <a:latin typeface="Proxima Nova Rg"/>
              </a:rPr>
              <a:t>ectively, and remain reliable over time. The ultimate goal is transitioning from an experimental model to a fully operational system that delivers consistent, real-world predictive power.</a:t>
            </a:r>
            <a:endParaRPr lang="en-GB" dirty="0"/>
          </a:p>
        </p:txBody>
      </p:sp>
      <p:sp>
        <p:nvSpPr>
          <p:cNvPr id="5" name="TextBox 4">
            <a:extLst>
              <a:ext uri="{FF2B5EF4-FFF2-40B4-BE49-F238E27FC236}">
                <a16:creationId xmlns:a16="http://schemas.microsoft.com/office/drawing/2014/main" id="{1E3C1CA2-093B-6359-79FE-FCC6AC5DF212}"/>
              </a:ext>
            </a:extLst>
          </p:cNvPr>
          <p:cNvSpPr txBox="1"/>
          <p:nvPr/>
        </p:nvSpPr>
        <p:spPr>
          <a:xfrm>
            <a:off x="1713471" y="403710"/>
            <a:ext cx="6096000" cy="369332"/>
          </a:xfrm>
          <a:prstGeom prst="rect">
            <a:avLst/>
          </a:prstGeom>
          <a:noFill/>
        </p:spPr>
        <p:txBody>
          <a:bodyPr wrap="square">
            <a:spAutoFit/>
          </a:bodyPr>
          <a:lstStyle/>
          <a:p>
            <a:r>
              <a:rPr lang="en-GB" sz="1800" b="1" i="0" u="none" strike="noStrike" baseline="0" dirty="0">
                <a:solidFill>
                  <a:srgbClr val="1D1F20"/>
                </a:solidFill>
                <a:latin typeface="Proxima Nova Rg"/>
              </a:rPr>
              <a:t>3. Model Deployment </a:t>
            </a:r>
            <a:endParaRPr lang="en-GB" dirty="0"/>
          </a:p>
        </p:txBody>
      </p:sp>
    </p:spTree>
    <p:extLst>
      <p:ext uri="{BB962C8B-B14F-4D97-AF65-F5344CB8AC3E}">
        <p14:creationId xmlns:p14="http://schemas.microsoft.com/office/powerpoint/2010/main" val="2926733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3717</TotalTime>
  <Words>4726</Words>
  <Application>Microsoft Office PowerPoint</Application>
  <PresentationFormat>Widescreen</PresentationFormat>
  <Paragraphs>522</Paragraphs>
  <Slides>71</Slides>
  <Notes>0</Notes>
  <HiddenSlides>0</HiddenSlides>
  <MMClips>0</MMClips>
  <ScaleCrop>false</ScaleCrop>
  <HeadingPairs>
    <vt:vector size="6" baseType="variant">
      <vt:variant>
        <vt:lpstr>Fonts Used</vt:lpstr>
      </vt:variant>
      <vt:variant>
        <vt:i4>36</vt:i4>
      </vt:variant>
      <vt:variant>
        <vt:lpstr>Theme</vt:lpstr>
      </vt:variant>
      <vt:variant>
        <vt:i4>1</vt:i4>
      </vt:variant>
      <vt:variant>
        <vt:lpstr>Slide Titles</vt:lpstr>
      </vt:variant>
      <vt:variant>
        <vt:i4>71</vt:i4>
      </vt:variant>
    </vt:vector>
  </HeadingPairs>
  <TitlesOfParts>
    <vt:vector size="108" baseType="lpstr">
      <vt:lpstr>-apple-system</vt:lpstr>
      <vt:lpstr>Aptos</vt:lpstr>
      <vt:lpstr>Aptos Display</vt:lpstr>
      <vt:lpstr>Arial</vt:lpstr>
      <vt:lpstr>Calibri</vt:lpstr>
      <vt:lpstr>Calibri-Light</vt:lpstr>
      <vt:lpstr>CMMIB9</vt:lpstr>
      <vt:lpstr>CMR12</vt:lpstr>
      <vt:lpstr>CMSS9</vt:lpstr>
      <vt:lpstr>CMSSBX10</vt:lpstr>
      <vt:lpstr>CMSSI9</vt:lpstr>
      <vt:lpstr>Frutiger LT Std 45 Light</vt:lpstr>
      <vt:lpstr>Google Sans</vt:lpstr>
      <vt:lpstr>GtfwryTfwtvnLbnkqcHtgwygSymbol</vt:lpstr>
      <vt:lpstr>inherit</vt:lpstr>
      <vt:lpstr>Inter</vt:lpstr>
      <vt:lpstr>JprljpVwhvqyTxtchxJmtxdyHelveticaNeue-MediumCon</vt:lpstr>
      <vt:lpstr>Lato</vt:lpstr>
      <vt:lpstr>LiberationSerif</vt:lpstr>
      <vt:lpstr>LinBiolinumTI</vt:lpstr>
      <vt:lpstr>LinLibertineT</vt:lpstr>
      <vt:lpstr>MinionPro-Regular</vt:lpstr>
      <vt:lpstr>MyriadPro-SemiboldCond</vt:lpstr>
      <vt:lpstr>Nunito</vt:lpstr>
      <vt:lpstr>Proxima Nova Rg</vt:lpstr>
      <vt:lpstr>Roboto</vt:lpstr>
      <vt:lpstr>SFMono-Regular</vt:lpstr>
      <vt:lpstr>sohne</vt:lpstr>
      <vt:lpstr>Source Sans 3</vt:lpstr>
      <vt:lpstr>Source Sans Pro</vt:lpstr>
      <vt:lpstr>source-serif-pro</vt:lpstr>
      <vt:lpstr>Studio-Feixen-Sans</vt:lpstr>
      <vt:lpstr>Times LT Std</vt:lpstr>
      <vt:lpstr>Times New Roman</vt:lpstr>
      <vt:lpstr>Verdana</vt:lpstr>
      <vt:lpstr>WlctmlDkkpspLcwjxsKtxkbpUtopiaStd-Regular</vt:lpstr>
      <vt:lpstr>Office Theme</vt:lpstr>
      <vt:lpstr>PowerPoint Presentation</vt:lpstr>
      <vt:lpstr>1.1.1 Artificial Intelligence                                     Refers to the simulation of human intelligence </vt:lpstr>
      <vt:lpstr>What is ML?</vt:lpstr>
      <vt:lpstr>Machine learning </vt:lpstr>
      <vt:lpstr>Machine learning  تعلــــــــــــــــــــــــــــم الالــــــــــة </vt:lpstr>
      <vt:lpstr>Machine learning  تعلــــــــــــــــــــــــــــم الالــــــــــة </vt:lpstr>
      <vt:lpstr>Machine learning  تعلــــــــــــــــــــــــــــم الالــــــــــة </vt:lpstr>
      <vt:lpstr>Real-World Applications of Machine Learning Machine Learning is widely being applied and used in the real world today to solve complex problems that would otherwise have been impossible to solve based on traditional approaches and rule-based systems. The following list depicts some of the real-world applications of Machine Learning.</vt:lpstr>
      <vt:lpstr>Machine learning  تعلــــــــــــــــــــــــــــم الالــــــــــة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eArtificial Intelligence Refers to the simulation of human intelligence </dc:title>
  <dc:creator>Omen HPInc</dc:creator>
  <cp:lastModifiedBy>Midou</cp:lastModifiedBy>
  <cp:revision>146</cp:revision>
  <dcterms:created xsi:type="dcterms:W3CDTF">2025-07-23T08:55:24Z</dcterms:created>
  <dcterms:modified xsi:type="dcterms:W3CDTF">2026-01-10T11:42:48Z</dcterms:modified>
</cp:coreProperties>
</file>