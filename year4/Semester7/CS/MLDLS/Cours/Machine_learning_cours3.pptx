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2" r:id="rId3"/>
    <p:sldId id="313" r:id="rId4"/>
    <p:sldId id="314" r:id="rId5"/>
    <p:sldId id="316" r:id="rId6"/>
    <p:sldId id="329" r:id="rId7"/>
    <p:sldId id="330" r:id="rId8"/>
    <p:sldId id="331" r:id="rId9"/>
    <p:sldId id="319" r:id="rId10"/>
    <p:sldId id="305" r:id="rId11"/>
    <p:sldId id="306" r:id="rId12"/>
    <p:sldId id="307" r:id="rId13"/>
    <p:sldId id="308" r:id="rId14"/>
    <p:sldId id="309" r:id="rId15"/>
    <p:sldId id="310" r:id="rId16"/>
    <p:sldId id="320" r:id="rId17"/>
    <p:sldId id="323" r:id="rId18"/>
    <p:sldId id="321" r:id="rId19"/>
    <p:sldId id="322" r:id="rId20"/>
    <p:sldId id="324" r:id="rId21"/>
    <p:sldId id="325" r:id="rId22"/>
    <p:sldId id="326" r:id="rId23"/>
    <p:sldId id="328" r:id="rId24"/>
    <p:sldId id="32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742A-A101-6657-38A3-CE53BCB65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2585B-1A1E-123D-9894-1EAB57602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E96FB-D89F-1AE7-1885-5CAAC954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A4FFF-62B7-2BBB-EDAB-8D754CDE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994FF-CE4B-AE9C-FDF9-EA96B21F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59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4592-4FCF-DE4A-3B20-5FD2C1BC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FD6C7-6B93-85C9-C047-594AEA8D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5BFFB-ECCE-7B99-806F-AF0291BC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E267A-68F4-E12F-D01D-6ECE7D7F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C37AB-614C-F349-6136-B5A60731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23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404B-394B-EB0A-00B2-F690423F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0760-2A1F-BD66-13AA-914E51764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333FA-E8AF-6A79-73D4-47E74F47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8FFE1-8D57-29B2-FEAB-8D43D3C8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647D7-077B-A23B-FAA3-ADB7096E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84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7C82-B896-BE3E-61CF-F7D77474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334E6-88C7-1E45-FD44-B2EA9BD52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51C79-141A-E485-3D31-2320403BD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ECD7E-6FE2-4A6D-73EA-69F7451A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309D3-A6C2-AAE6-AD39-F23240B9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B6645-00BC-8A98-FC83-EDE5C8AC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34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EE12-1822-F076-7DD0-B702BD0D8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A686F-ED66-A0D4-1A2A-072354C6E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6A0E2-43FB-0D4F-AC28-2C52578B3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90EFB-8BF1-50F9-4822-765720639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1A13A-90A8-86A9-0BE4-9CD8F4113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83532-F974-7C43-5239-30BC3BA0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02146-E33B-BF23-35CD-6CA75497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BCFAD-1A10-CB2D-4F49-ECEF13E2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4BCF-1329-1839-6352-60C88618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9BC3A-3D02-51EC-B8F1-80CB5025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95575-A40D-060F-5CE4-EB5AAA3B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029AC-C898-651F-B904-071ED295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3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A17FCF-85A3-56A6-1C6E-FEA57E75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FD6AD-FF83-040D-0C7B-C0AE1FD2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E1DCF-7181-2602-74AD-98D3B101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06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F1A1-7FF8-1ACE-7B6D-BE3FE475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5EEC2-73E9-1ECD-160D-0286E97BF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A7F0C-32E7-C27D-3692-CBB4911F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98B8F-74C8-9F6A-7C0A-34DD49C0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05507-2E1D-E586-5F21-4B0F5AED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BEB9D-D5CC-31D5-406F-1A9CB2C4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94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09DF-98FE-2C67-29DD-F781E34B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D064A-DD5B-0E25-E290-E3F19D797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9C5A7-16B1-7344-377B-3478F7E1D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63EBD-9042-9AB3-72B5-ACE6683D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1C70F-AF37-6CF0-BAF2-0FE2A020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C3E2D-3218-89C6-DA97-1F706834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5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82C8-DD89-00B8-C8D0-422973B1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6828E-2F7A-1A83-3E2B-8C7303260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6389E-E157-5B23-339A-E8A88011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2D040-F3DA-85E0-CA02-DAE8F6FD6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0752-3CA9-879B-2810-36E8A95D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79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2FD5A-FB18-69ED-0A8A-51D511E03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14203-BEE2-A14F-DE97-86302B665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9A6B8-3507-A422-1BAF-1037B898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8BC56-B751-7C34-1CC9-816F6097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3642D-C4FE-186C-20D4-C36F2782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73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C32B7-E828-F7BC-0F8F-A82A2BBB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F938-7798-C878-8D2B-F53590454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89328-94BA-BDF5-2112-65D4D1CEC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63B61-6203-441D-84D1-117238F43CDF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1F85-A1C1-F8FF-D62E-A3DEEF700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5DCC1-B1FD-C313-E4B8-559BC09C0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E7075-23B8-4DBD-8CAA-21AD9A7FC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55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C9D0A0-74C9-DF91-D094-67F71E12F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57084"/>
            <a:ext cx="10905066" cy="54274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9AF9EF-A72F-D6F1-28BA-15A5C7A60C5F}"/>
              </a:ext>
            </a:extLst>
          </p:cNvPr>
          <p:cNvSpPr txBox="1"/>
          <p:nvPr/>
        </p:nvSpPr>
        <p:spPr>
          <a:xfrm>
            <a:off x="3146855" y="304179"/>
            <a:ext cx="5071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Example of a classification and a regression dataset</a:t>
            </a:r>
          </a:p>
        </p:txBody>
      </p:sp>
    </p:spTree>
    <p:extLst>
      <p:ext uri="{BB962C8B-B14F-4D97-AF65-F5344CB8AC3E}">
        <p14:creationId xmlns:p14="http://schemas.microsoft.com/office/powerpoint/2010/main" val="229099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CD6D2D-F720-E79B-F83E-5863A39733D5}"/>
              </a:ext>
            </a:extLst>
          </p:cNvPr>
          <p:cNvSpPr txBox="1"/>
          <p:nvPr/>
        </p:nvSpPr>
        <p:spPr>
          <a:xfrm>
            <a:off x="675503" y="5191717"/>
            <a:ext cx="101407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Figure A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: It is a dataset of a shopping store that is useful in predicting whether a customer will purchase a particular product under consideration or not based on his/her gender, age and salary.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Input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: Gender, Age, Salary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Output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: Purchased i.e. 0 or 1; 1 means yes the customer will purchase and 0 means that the customer won't purchase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A66D19-3CE4-AE13-B041-5F0585C98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11" y="154202"/>
            <a:ext cx="6575597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12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17D850-F228-023B-7933-4CE27391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11867"/>
            <a:ext cx="6096000" cy="4819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23129D-0ED1-8F88-E0D2-3062B6B8E171}"/>
              </a:ext>
            </a:extLst>
          </p:cNvPr>
          <p:cNvSpPr txBox="1"/>
          <p:nvPr/>
        </p:nvSpPr>
        <p:spPr>
          <a:xfrm>
            <a:off x="712573" y="5344980"/>
            <a:ext cx="10766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Figure B: 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It is a Meteorological dataset that serves the purpose of predicting wind speed based on different parameters.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Input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: Temperature, Pressure, Relative Humidity, Wind Direction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Output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: Wind Speed</a:t>
            </a:r>
          </a:p>
        </p:txBody>
      </p:sp>
    </p:spTree>
    <p:extLst>
      <p:ext uri="{BB962C8B-B14F-4D97-AF65-F5344CB8AC3E}">
        <p14:creationId xmlns:p14="http://schemas.microsoft.com/office/powerpoint/2010/main" val="74309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194F5A-4A40-4BE9-F299-563DCDC5F0B3}"/>
              </a:ext>
            </a:extLst>
          </p:cNvPr>
          <p:cNvSpPr txBox="1"/>
          <p:nvPr/>
        </p:nvSpPr>
        <p:spPr>
          <a:xfrm>
            <a:off x="420128" y="360556"/>
            <a:ext cx="11228173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Working of Supervised Machine Learning</a:t>
            </a:r>
          </a:p>
          <a:p>
            <a:pPr algn="l" fontAlgn="base"/>
            <a:endParaRPr lang="en-GB" sz="2000" b="1" i="0" dirty="0">
              <a:solidFill>
                <a:srgbClr val="273239"/>
              </a:solidFill>
              <a:effectLst/>
              <a:latin typeface="Nunito"/>
            </a:endParaRPr>
          </a:p>
          <a:p>
            <a:pPr algn="l" rtl="0" fontAlgn="base"/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The working of supervised machine learning follows these key steps:</a:t>
            </a:r>
          </a:p>
          <a:p>
            <a:pPr algn="l" fontAlgn="base"/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1. Collect </a:t>
            </a:r>
            <a:r>
              <a:rPr lang="en-GB" sz="2000" b="1" i="0" dirty="0" err="1">
                <a:solidFill>
                  <a:srgbClr val="FF0000"/>
                </a:solidFill>
                <a:effectLst/>
                <a:latin typeface="Nunito"/>
              </a:rPr>
              <a:t>Labeled</a:t>
            </a:r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 Data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Gather a dataset where each input has a known correct output (label).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273239"/>
                </a:solidFill>
                <a:effectLst/>
                <a:latin typeface="Nunito"/>
              </a:rPr>
              <a:t>Example</a:t>
            </a: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: Images of handwritten digits with their actual numbers as labels.</a:t>
            </a:r>
          </a:p>
          <a:p>
            <a:pPr algn="l" fontAlgn="base"/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2. Split the Dataset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Divide the data into training data (about 80%) and testing data (about 20%).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The model will learn from the training data and be evaluated on the testing data.</a:t>
            </a:r>
          </a:p>
          <a:p>
            <a:pPr algn="l" fontAlgn="base"/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3. Train the Model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Feed the training data (inputs and their labels) to a suitable supervised learning algorithm (like Decision Trees, SVM or Linear Regression).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The model tries to find patterns that map inputs to correct outputs.</a:t>
            </a:r>
          </a:p>
          <a:p>
            <a:pPr algn="l" fontAlgn="base"/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4. Validate and Test the Model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Evaluate the model using testing data it has never seen before.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The model predicts outputs and these predictions are compared with the actual labels to calculate accuracy or error.</a:t>
            </a:r>
          </a:p>
          <a:p>
            <a:pPr algn="l" fontAlgn="base"/>
            <a:r>
              <a:rPr lang="en-GB" sz="2000" b="1" i="0" dirty="0">
                <a:solidFill>
                  <a:srgbClr val="FF0000"/>
                </a:solidFill>
                <a:effectLst/>
                <a:latin typeface="Nunito"/>
              </a:rPr>
              <a:t>5. Deploy and Predict on New Data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73239"/>
                </a:solidFill>
                <a:effectLst/>
                <a:latin typeface="Nunito"/>
              </a:rPr>
              <a:t>Once the model performs well, it can be used to predict outputs for completely new, unseen data.</a:t>
            </a:r>
          </a:p>
        </p:txBody>
      </p:sp>
    </p:spTree>
    <p:extLst>
      <p:ext uri="{BB962C8B-B14F-4D97-AF65-F5344CB8AC3E}">
        <p14:creationId xmlns:p14="http://schemas.microsoft.com/office/powerpoint/2010/main" val="153158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7C8EF4-88B3-E5BD-DE8F-4D8CD74C3CAA}"/>
              </a:ext>
            </a:extLst>
          </p:cNvPr>
          <p:cNvSpPr txBox="1"/>
          <p:nvPr/>
        </p:nvSpPr>
        <p:spPr>
          <a:xfrm>
            <a:off x="741406" y="453383"/>
            <a:ext cx="109316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0" i="0" dirty="0">
                <a:solidFill>
                  <a:srgbClr val="FF0000"/>
                </a:solidFill>
                <a:effectLst/>
                <a:latin typeface="Inter"/>
              </a:rPr>
              <a:t> Splitting data into training, validation and testing dataset: </a:t>
            </a:r>
            <a:r>
              <a:rPr lang="en-GB" sz="1800" dirty="0"/>
              <a:t>For training a model, we initially split the model into 2 two or 3 three sections which are :</a:t>
            </a:r>
            <a:endParaRPr lang="en-GB" b="0" i="0" dirty="0">
              <a:solidFill>
                <a:srgbClr val="FF0000"/>
              </a:solidFill>
              <a:effectLst/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64AC4-45D7-0DE0-845D-F32C6C339F91}"/>
              </a:ext>
            </a:extLst>
          </p:cNvPr>
          <p:cNvSpPr txBox="1"/>
          <p:nvPr/>
        </p:nvSpPr>
        <p:spPr>
          <a:xfrm>
            <a:off x="955703" y="1255455"/>
            <a:ext cx="105030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- </a:t>
            </a:r>
            <a:r>
              <a:rPr lang="en-GB" sz="1800" b="1" dirty="0">
                <a:solidFill>
                  <a:srgbClr val="FF0000"/>
                </a:solidFill>
              </a:rPr>
              <a:t>Training data </a:t>
            </a:r>
            <a:r>
              <a:rPr lang="en-GB" sz="1800" dirty="0"/>
              <a:t>–  </a:t>
            </a:r>
            <a:r>
              <a:rPr lang="en-GB" sz="1800" b="1" dirty="0">
                <a:solidFill>
                  <a:srgbClr val="FF0000"/>
                </a:solidFill>
              </a:rPr>
              <a:t>Testing data</a:t>
            </a:r>
            <a:r>
              <a:rPr lang="en-GB" sz="1800" dirty="0"/>
              <a:t>.</a:t>
            </a:r>
          </a:p>
          <a:p>
            <a:r>
              <a:rPr lang="en-GB" dirty="0"/>
              <a:t>- The </a:t>
            </a:r>
            <a:r>
              <a:rPr lang="en-GB" b="1" dirty="0">
                <a:solidFill>
                  <a:schemeClr val="accent6"/>
                </a:solidFill>
              </a:rPr>
              <a:t>training dataset </a:t>
            </a:r>
            <a:r>
              <a:rPr lang="en-GB" dirty="0"/>
              <a:t>(80%) is used to fit our models</a:t>
            </a:r>
          </a:p>
          <a:p>
            <a:r>
              <a:rPr lang="en-GB" dirty="0"/>
              <a:t>- The </a:t>
            </a:r>
            <a:r>
              <a:rPr lang="en-GB" b="1" dirty="0">
                <a:solidFill>
                  <a:schemeClr val="accent6"/>
                </a:solidFill>
              </a:rPr>
              <a:t>Testing dataset </a:t>
            </a:r>
            <a:r>
              <a:rPr lang="en-GB" dirty="0"/>
              <a:t>(20%) is used to test our models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3A871-2540-F1C8-7F0B-6148565E58FF}"/>
              </a:ext>
            </a:extLst>
          </p:cNvPr>
          <p:cNvSpPr txBox="1"/>
          <p:nvPr/>
        </p:nvSpPr>
        <p:spPr>
          <a:xfrm>
            <a:off x="885568" y="2213800"/>
            <a:ext cx="1117874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- </a:t>
            </a:r>
            <a:r>
              <a:rPr lang="en-GB" sz="2000" b="1" dirty="0">
                <a:solidFill>
                  <a:srgbClr val="FF0000"/>
                </a:solidFill>
              </a:rPr>
              <a:t>Training data </a:t>
            </a:r>
            <a:r>
              <a:rPr lang="en-GB" sz="2000" dirty="0"/>
              <a:t>– </a:t>
            </a:r>
            <a:r>
              <a:rPr lang="en-GB" sz="2000" b="1" dirty="0">
                <a:solidFill>
                  <a:srgbClr val="FF0000"/>
                </a:solidFill>
              </a:rPr>
              <a:t>Validation data </a:t>
            </a:r>
            <a:r>
              <a:rPr lang="en-GB" sz="2000" dirty="0"/>
              <a:t>– </a:t>
            </a:r>
            <a:r>
              <a:rPr lang="en-GB" sz="2000" b="1" dirty="0">
                <a:solidFill>
                  <a:srgbClr val="FF0000"/>
                </a:solidFill>
              </a:rPr>
              <a:t>Testing data</a:t>
            </a:r>
            <a:r>
              <a:rPr lang="en-GB" sz="2000" dirty="0"/>
              <a:t>.</a:t>
            </a:r>
          </a:p>
          <a:p>
            <a:r>
              <a:rPr lang="en-GB" sz="2000" dirty="0"/>
              <a:t>- The </a:t>
            </a:r>
            <a:r>
              <a:rPr lang="en-GB" sz="2000" b="1" dirty="0">
                <a:solidFill>
                  <a:schemeClr val="accent6"/>
                </a:solidFill>
              </a:rPr>
              <a:t>training dataset </a:t>
            </a:r>
            <a:r>
              <a:rPr lang="en-GB" sz="2000" dirty="0"/>
              <a:t>(60%) is used to fit our models</a:t>
            </a:r>
          </a:p>
          <a:p>
            <a:r>
              <a:rPr lang="en-GB" sz="2000" dirty="0"/>
              <a:t>- The </a:t>
            </a:r>
            <a:r>
              <a:rPr lang="en-GB" sz="2000" b="1" dirty="0">
                <a:solidFill>
                  <a:schemeClr val="accent6"/>
                </a:solidFill>
              </a:rPr>
              <a:t>Validation dataset </a:t>
            </a:r>
            <a:r>
              <a:rPr lang="en-GB" sz="2000" dirty="0"/>
              <a:t>(20%) is used to validate our models</a:t>
            </a:r>
          </a:p>
          <a:p>
            <a:r>
              <a:rPr lang="en-GB" sz="2000" dirty="0"/>
              <a:t>- The </a:t>
            </a:r>
            <a:r>
              <a:rPr lang="en-GB" sz="2000" b="1" dirty="0">
                <a:solidFill>
                  <a:schemeClr val="accent6"/>
                </a:solidFill>
              </a:rPr>
              <a:t>Testing dataset </a:t>
            </a:r>
            <a:r>
              <a:rPr lang="en-GB" sz="2000" dirty="0"/>
              <a:t>(20%) is used to test our models</a:t>
            </a:r>
          </a:p>
          <a:p>
            <a:endParaRPr lang="en-GB" sz="2000" dirty="0"/>
          </a:p>
          <a:p>
            <a:r>
              <a:rPr lang="en-GB" sz="2000" dirty="0"/>
              <a:t>You </a:t>
            </a:r>
            <a:r>
              <a:rPr lang="en-GB" sz="2000" b="1" u="sng" dirty="0"/>
              <a:t>train</a:t>
            </a:r>
            <a:r>
              <a:rPr lang="en-GB" sz="2000" dirty="0"/>
              <a:t> the classifier or algorithm using Training data set, </a:t>
            </a:r>
            <a:r>
              <a:rPr lang="en-GB" sz="2000" b="1" u="sng" dirty="0"/>
              <a:t>tune</a:t>
            </a:r>
            <a:r>
              <a:rPr lang="en-GB" sz="2000" dirty="0"/>
              <a:t> the parameters using validation data set </a:t>
            </a:r>
          </a:p>
          <a:p>
            <a:r>
              <a:rPr lang="en-GB" sz="2000" dirty="0"/>
              <a:t>and then </a:t>
            </a:r>
            <a:r>
              <a:rPr lang="en-GB" sz="2000" b="1" u="sng" dirty="0"/>
              <a:t>test</a:t>
            </a:r>
            <a:r>
              <a:rPr lang="en-GB" sz="2000" dirty="0"/>
              <a:t> the performance of your classifier on unseen test dataset.</a:t>
            </a:r>
          </a:p>
          <a:p>
            <a:endParaRPr lang="en-GB" sz="2000" dirty="0"/>
          </a:p>
          <a:p>
            <a:r>
              <a:rPr lang="en-GB" sz="2000" b="1" u="sng" dirty="0">
                <a:solidFill>
                  <a:srgbClr val="FF0000"/>
                </a:solidFill>
              </a:rPr>
              <a:t>Note</a:t>
            </a:r>
            <a:r>
              <a:rPr lang="en-GB" sz="2000" dirty="0"/>
              <a:t>: During training the classifier only the </a:t>
            </a:r>
            <a:r>
              <a:rPr lang="en-GB" sz="2000" b="1" dirty="0"/>
              <a:t>training</a:t>
            </a:r>
            <a:r>
              <a:rPr lang="en-GB" sz="2000" dirty="0"/>
              <a:t> and/or </a:t>
            </a:r>
            <a:r>
              <a:rPr lang="en-GB" sz="2000" b="1" dirty="0"/>
              <a:t>validation</a:t>
            </a:r>
            <a:r>
              <a:rPr lang="en-GB" sz="2000" dirty="0"/>
              <a:t> set is </a:t>
            </a:r>
            <a:r>
              <a:rPr lang="en-GB" sz="2000" b="1" dirty="0"/>
              <a:t>available</a:t>
            </a:r>
            <a:r>
              <a:rPr lang="en-GB" sz="2000" dirty="0"/>
              <a:t>.</a:t>
            </a:r>
          </a:p>
          <a:p>
            <a:r>
              <a:rPr lang="en-GB" sz="2000" dirty="0"/>
              <a:t>           The </a:t>
            </a:r>
            <a:r>
              <a:rPr lang="en-GB" sz="2000" b="1" dirty="0"/>
              <a:t>test set </a:t>
            </a:r>
            <a:r>
              <a:rPr lang="en-GB" sz="2000" dirty="0"/>
              <a:t>will only be </a:t>
            </a:r>
            <a:r>
              <a:rPr lang="en-GB" sz="2000" b="1" dirty="0"/>
              <a:t>available</a:t>
            </a:r>
            <a:r>
              <a:rPr lang="en-GB" sz="2000" dirty="0"/>
              <a:t> during </a:t>
            </a:r>
            <a:r>
              <a:rPr lang="en-GB" sz="2000" b="1" dirty="0"/>
              <a:t>testing</a:t>
            </a:r>
            <a:r>
              <a:rPr lang="en-GB" sz="2000" dirty="0"/>
              <a:t> the classifier.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89E73-7CD3-2929-2146-AA7C6B7B4A67}"/>
              </a:ext>
            </a:extLst>
          </p:cNvPr>
          <p:cNvSpPr txBox="1"/>
          <p:nvPr/>
        </p:nvSpPr>
        <p:spPr>
          <a:xfrm>
            <a:off x="378941" y="30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1800" b="1" i="0" dirty="0">
                <a:solidFill>
                  <a:srgbClr val="FF0000"/>
                </a:solidFill>
                <a:effectLst/>
                <a:latin typeface="Nunito"/>
              </a:rPr>
              <a:t>2. Split the Dataset</a:t>
            </a:r>
          </a:p>
        </p:txBody>
      </p:sp>
    </p:spTree>
    <p:extLst>
      <p:ext uri="{BB962C8B-B14F-4D97-AF65-F5344CB8AC3E}">
        <p14:creationId xmlns:p14="http://schemas.microsoft.com/office/powerpoint/2010/main" val="70831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12E0EA-B54E-22B1-8D86-F3964C4C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503" y="480538"/>
            <a:ext cx="406125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/>
              </a:rPr>
              <a:t>Application of 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SFMono-Regular"/>
              </a:rPr>
              <a:t>train_test_split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FMono-Regular"/>
              </a:rPr>
              <a:t>()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Source Sans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DBA9E-BDC7-63BE-9DFB-0EB91B51F2D0}"/>
              </a:ext>
            </a:extLst>
          </p:cNvPr>
          <p:cNvSpPr txBox="1"/>
          <p:nvPr/>
        </p:nvSpPr>
        <p:spPr>
          <a:xfrm>
            <a:off x="856735" y="1151409"/>
            <a:ext cx="8606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You need to import </a:t>
            </a:r>
            <a:r>
              <a:rPr lang="en-GB" dirty="0" err="1"/>
              <a:t>train_test_split</a:t>
            </a:r>
            <a:r>
              <a:rPr lang="en-GB" dirty="0"/>
              <a:t>() and NumPy before you can use them.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7120D-BD18-F011-6075-F9820353F2DA}"/>
              </a:ext>
            </a:extLst>
          </p:cNvPr>
          <p:cNvSpPr txBox="1"/>
          <p:nvPr/>
        </p:nvSpPr>
        <p:spPr>
          <a:xfrm>
            <a:off x="856735" y="1637614"/>
            <a:ext cx="800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You can split both input and output datasets with a single function call: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1B388B-8524-63F0-F7E6-F27EDA56C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575" y="2822873"/>
            <a:ext cx="1714500" cy="2447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008B0D-A6A2-5EC6-85DE-722C6FD8C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969" y="2475210"/>
            <a:ext cx="4248150" cy="3143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ECE5AE-42E3-71EF-EED7-F26D3C1D8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823" y="3885166"/>
            <a:ext cx="51435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376155-A860-49DD-C017-245F1EBC9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75" y="2708572"/>
            <a:ext cx="23241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2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4B2B2A-BD71-E84C-DC23-86ACDD8450DF}"/>
              </a:ext>
            </a:extLst>
          </p:cNvPr>
          <p:cNvSpPr txBox="1"/>
          <p:nvPr/>
        </p:nvSpPr>
        <p:spPr>
          <a:xfrm>
            <a:off x="1013254" y="590890"/>
            <a:ext cx="9860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Data splitting is a crucial process in machine learning, involving the partitioning of a dataset into different subsets, such as </a:t>
            </a:r>
            <a:r>
              <a:rPr lang="en-GB" b="1" i="0" dirty="0">
                <a:solidFill>
                  <a:srgbClr val="00B050"/>
                </a:solidFill>
                <a:effectLst/>
                <a:latin typeface="source-serif-pro"/>
              </a:rPr>
              <a:t>training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1" i="0" dirty="0">
                <a:solidFill>
                  <a:srgbClr val="00B050"/>
                </a:solidFill>
                <a:effectLst/>
                <a:latin typeface="source-serif-pro"/>
              </a:rPr>
              <a:t>validation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and </a:t>
            </a:r>
            <a:r>
              <a:rPr lang="en-GB" b="1" i="0" dirty="0">
                <a:solidFill>
                  <a:srgbClr val="00B050"/>
                </a:solidFill>
                <a:effectLst/>
                <a:latin typeface="source-serif-pro"/>
              </a:rPr>
              <a:t>test sets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30C67-8311-257C-4CB4-AA96685A606B}"/>
              </a:ext>
            </a:extLst>
          </p:cNvPr>
          <p:cNvSpPr txBox="1"/>
          <p:nvPr/>
        </p:nvSpPr>
        <p:spPr>
          <a:xfrm>
            <a:off x="502508" y="198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242424"/>
                </a:solidFill>
                <a:effectLst/>
                <a:latin typeface="sohne"/>
              </a:rPr>
              <a:t>Data Splitting in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24D2B-6411-730A-5D5A-FBBF894A644D}"/>
              </a:ext>
            </a:extLst>
          </p:cNvPr>
          <p:cNvSpPr txBox="1"/>
          <p:nvPr/>
        </p:nvSpPr>
        <p:spPr>
          <a:xfrm>
            <a:off x="502508" y="1321023"/>
            <a:ext cx="10363199" cy="92333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python:</a:t>
            </a:r>
          </a:p>
          <a:p>
            <a:r>
              <a:rPr lang="en-GB" dirty="0">
                <a:solidFill>
                  <a:srgbClr val="FF0000"/>
                </a:solidFill>
              </a:rPr>
              <a:t>train_test_split() </a:t>
            </a:r>
            <a:r>
              <a:rPr lang="en-GB" dirty="0"/>
              <a:t>method returns us the training data, its labels, validation data, its labels and also the testing data and its labels.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44140-A82D-9CB1-5CDB-B33D819653CD}"/>
              </a:ext>
            </a:extLst>
          </p:cNvPr>
          <p:cNvSpPr txBox="1"/>
          <p:nvPr/>
        </p:nvSpPr>
        <p:spPr>
          <a:xfrm>
            <a:off x="502509" y="2427780"/>
            <a:ext cx="10363198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AA0D91"/>
                </a:solidFill>
                <a:effectLst/>
                <a:latin typeface="source-code-pro"/>
              </a:rPr>
              <a:t>from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 sklearn.model_selection </a:t>
            </a:r>
            <a:r>
              <a:rPr lang="en-GB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 train_test_split</a:t>
            </a:r>
          </a:p>
          <a:p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code-pro"/>
              </a:rPr>
              <a:t>X_train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code-pro"/>
              </a:rPr>
              <a:t>X_temp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code-pro"/>
              </a:rPr>
              <a:t>y_train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code-pro"/>
              </a:rPr>
              <a:t>y_temp 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= </a:t>
            </a:r>
            <a:r>
              <a:rPr lang="en-GB" b="0" i="0" dirty="0">
                <a:solidFill>
                  <a:srgbClr val="FF0000"/>
                </a:solidFill>
                <a:effectLst/>
                <a:latin typeface="source-code-pro"/>
              </a:rPr>
              <a:t>train_test_split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(X, y, </a:t>
            </a:r>
            <a:r>
              <a:rPr lang="en-GB" b="0" i="1" dirty="0">
                <a:solidFill>
                  <a:srgbClr val="242424"/>
                </a:solidFill>
                <a:effectLst/>
                <a:latin typeface="source-code-pro"/>
              </a:rPr>
              <a:t>test_size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0.2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random_state=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42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)                   (1)</a:t>
            </a:r>
          </a:p>
          <a:p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0000"/>
                </a:highlight>
                <a:latin typeface="source-code-pro"/>
              </a:rPr>
              <a:t>X_val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00"/>
                </a:highlight>
                <a:latin typeface="source-code-pro"/>
              </a:rPr>
              <a:t>X_test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0000"/>
                </a:highlight>
                <a:latin typeface="source-code-pro"/>
              </a:rPr>
              <a:t>y_val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00"/>
                </a:highlight>
                <a:latin typeface="source-code-pro"/>
              </a:rPr>
              <a:t>y_test 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= </a:t>
            </a:r>
            <a:r>
              <a:rPr lang="en-GB" b="0" i="0" dirty="0">
                <a:solidFill>
                  <a:srgbClr val="FF0000"/>
                </a:solidFill>
                <a:effectLst/>
                <a:latin typeface="source-code-pro"/>
              </a:rPr>
              <a:t>train_test_split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code-pro"/>
              </a:rPr>
              <a:t>X_temp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code-pro"/>
              </a:rPr>
              <a:t>y_temp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test_size=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0.5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random_state=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42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)             (2)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672F8-1123-04D7-0467-93C98C88834A}"/>
              </a:ext>
            </a:extLst>
          </p:cNvPr>
          <p:cNvSpPr txBox="1"/>
          <p:nvPr/>
        </p:nvSpPr>
        <p:spPr>
          <a:xfrm>
            <a:off x="502508" y="4063080"/>
            <a:ext cx="10486768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0" i="0" u="sng" dirty="0">
                <a:solidFill>
                  <a:srgbClr val="242424"/>
                </a:solidFill>
                <a:effectLst/>
                <a:latin typeface="source-serif-pro"/>
              </a:rPr>
              <a:t>The function (1) 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divides the data into a training set (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X_train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y_train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) and a temporary set (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serif-pro"/>
              </a:rPr>
              <a:t>X_temp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serif-pro"/>
              </a:rPr>
              <a:t>y_temp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), allocating 20% (</a:t>
            </a:r>
            <a:r>
              <a:rPr lang="en-GB" b="0" i="1" dirty="0">
                <a:solidFill>
                  <a:srgbClr val="242424"/>
                </a:solidFill>
                <a:effectLst/>
                <a:latin typeface="source-code-pro"/>
              </a:rPr>
              <a:t>test_size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0.2 )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of the data to the temporary set.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918D0-8FED-1096-3756-D6516C077B53}"/>
              </a:ext>
            </a:extLst>
          </p:cNvPr>
          <p:cNvSpPr txBox="1"/>
          <p:nvPr/>
        </p:nvSpPr>
        <p:spPr>
          <a:xfrm>
            <a:off x="502508" y="4846077"/>
            <a:ext cx="10560910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The random_state=</a:t>
            </a:r>
            <a:r>
              <a:rPr lang="en-GB" b="0" i="0" dirty="0">
                <a:solidFill>
                  <a:srgbClr val="7030A0"/>
                </a:solidFill>
                <a:effectLst/>
                <a:latin typeface="source-serif-pro"/>
              </a:rPr>
              <a:t>42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parameter ensures reproducibility of the random splitting results</a:t>
            </a:r>
          </a:p>
          <a:p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(</a:t>
            </a:r>
            <a:r>
              <a:rPr lang="ar-DZ" b="0" i="0" dirty="0">
                <a:solidFill>
                  <a:srgbClr val="242424"/>
                </a:solidFill>
                <a:effectLst/>
                <a:latin typeface="source-serif-pro"/>
              </a:rPr>
              <a:t>نفس المعلومات في حالة اعادة التقسيم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).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48E8B-7E2C-77C7-41FF-22EF3CE23358}"/>
              </a:ext>
            </a:extLst>
          </p:cNvPr>
          <p:cNvSpPr txBox="1"/>
          <p:nvPr/>
        </p:nvSpPr>
        <p:spPr>
          <a:xfrm>
            <a:off x="502508" y="5753694"/>
            <a:ext cx="10725665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42424"/>
                </a:solidFill>
                <a:latin typeface="source-serif-pro"/>
              </a:rPr>
              <a:t>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ubsequently, the temporary set is further split into a validation set (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0000"/>
                </a:highlight>
                <a:latin typeface="source-serif-pro"/>
              </a:rPr>
              <a:t>X_val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0000"/>
                </a:highlight>
                <a:latin typeface="source-serif-pro"/>
              </a:rPr>
              <a:t>y_val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) and a test set (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00"/>
                </a:highlight>
                <a:latin typeface="source-serif-pro"/>
              </a:rPr>
              <a:t>X_test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00"/>
                </a:highlight>
                <a:latin typeface="source-serif-pro"/>
              </a:rPr>
              <a:t>y_test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), with each set containing 50% of the data, </a:t>
            </a:r>
            <a:r>
              <a:rPr lang="en-GB" dirty="0">
                <a:solidFill>
                  <a:srgbClr val="242424"/>
                </a:solidFill>
                <a:latin typeface="source-serif-pro"/>
              </a:rPr>
              <a:t>using the </a:t>
            </a:r>
            <a:r>
              <a:rPr lang="en-GB" u="sng" dirty="0">
                <a:solidFill>
                  <a:srgbClr val="242424"/>
                </a:solidFill>
                <a:latin typeface="source-serif-pro"/>
              </a:rPr>
              <a:t>function (2)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1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862702-5556-7099-0EF5-25C547A4536C}"/>
              </a:ext>
            </a:extLst>
          </p:cNvPr>
          <p:cNvSpPr txBox="1"/>
          <p:nvPr/>
        </p:nvSpPr>
        <p:spPr>
          <a:xfrm>
            <a:off x="502508" y="198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242424"/>
                </a:solidFill>
                <a:effectLst/>
                <a:latin typeface="sohne"/>
              </a:rPr>
              <a:t>Data Splitting in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C940A5-6D2F-15EE-04D6-41A5FFEA2009}"/>
              </a:ext>
            </a:extLst>
          </p:cNvPr>
          <p:cNvSpPr txBox="1"/>
          <p:nvPr/>
        </p:nvSpPr>
        <p:spPr>
          <a:xfrm>
            <a:off x="939113" y="915085"/>
            <a:ext cx="9176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If you choose to split the data into two groups : Training and testing set: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2E737-3F48-EBC6-C8D3-9147BB9EAE9C}"/>
              </a:ext>
            </a:extLst>
          </p:cNvPr>
          <p:cNvSpPr txBox="1"/>
          <p:nvPr/>
        </p:nvSpPr>
        <p:spPr>
          <a:xfrm>
            <a:off x="502508" y="1502259"/>
            <a:ext cx="10363199" cy="64633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python:</a:t>
            </a:r>
          </a:p>
          <a:p>
            <a:r>
              <a:rPr lang="en-GB" dirty="0">
                <a:solidFill>
                  <a:srgbClr val="FF0000"/>
                </a:solidFill>
              </a:rPr>
              <a:t>train_test_split() </a:t>
            </a:r>
            <a:r>
              <a:rPr lang="en-GB" dirty="0"/>
              <a:t>method returns us the training data, its labels and also the testing data and its labels.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D20E8-E795-729B-5459-6B50289EC937}"/>
              </a:ext>
            </a:extLst>
          </p:cNvPr>
          <p:cNvSpPr txBox="1"/>
          <p:nvPr/>
        </p:nvSpPr>
        <p:spPr>
          <a:xfrm>
            <a:off x="502509" y="2427780"/>
            <a:ext cx="10363198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AA0D91"/>
                </a:solidFill>
                <a:effectLst/>
                <a:latin typeface="source-code-pro"/>
              </a:rPr>
              <a:t>from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 sklearn.model_selection </a:t>
            </a:r>
            <a:r>
              <a:rPr lang="en-GB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 train_test_split</a:t>
            </a:r>
          </a:p>
          <a:p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code-pro"/>
              </a:rPr>
              <a:t>X_train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code-pro"/>
              </a:rPr>
              <a:t>X_test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code-pro"/>
              </a:rPr>
              <a:t>y_train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b="0" i="0" dirty="0">
                <a:solidFill>
                  <a:srgbClr val="242424"/>
                </a:solidFill>
                <a:effectLst/>
                <a:highlight>
                  <a:srgbClr val="00FFFF"/>
                </a:highlight>
                <a:latin typeface="source-code-pro"/>
              </a:rPr>
              <a:t>y_test 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= </a:t>
            </a:r>
            <a:r>
              <a:rPr lang="en-GB" b="0" i="0" dirty="0">
                <a:solidFill>
                  <a:srgbClr val="FF0000"/>
                </a:solidFill>
                <a:effectLst/>
                <a:latin typeface="source-code-pro"/>
              </a:rPr>
              <a:t>train_test_split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(X, y, </a:t>
            </a:r>
            <a:r>
              <a:rPr lang="en-GB" b="0" i="1" dirty="0">
                <a:solidFill>
                  <a:srgbClr val="242424"/>
                </a:solidFill>
                <a:effectLst/>
                <a:latin typeface="source-code-pro"/>
              </a:rPr>
              <a:t>test_size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0.2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, random_state=</a:t>
            </a:r>
            <a:r>
              <a:rPr lang="en-GB" b="0" i="0" dirty="0">
                <a:solidFill>
                  <a:srgbClr val="1C00CF"/>
                </a:solidFill>
                <a:effectLst/>
                <a:latin typeface="source-code-pro"/>
              </a:rPr>
              <a:t>42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)                   (1)</a:t>
            </a:r>
          </a:p>
          <a:p>
            <a:endParaRPr lang="en-GB" dirty="0"/>
          </a:p>
        </p:txBody>
      </p:sp>
      <p:pic>
        <p:nvPicPr>
          <p:cNvPr id="1026" name="Picture 2" descr="Example of hold-out validation.">
            <a:extLst>
              <a:ext uri="{FF2B5EF4-FFF2-40B4-BE49-F238E27FC236}">
                <a16:creationId xmlns:a16="http://schemas.microsoft.com/office/drawing/2014/main" id="{B16D4571-9237-5462-79C7-BE860396D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946" y="4117498"/>
            <a:ext cx="7158681" cy="247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9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241441-C869-D5DC-2A47-FFB2845AA3E4}"/>
              </a:ext>
            </a:extLst>
          </p:cNvPr>
          <p:cNvSpPr txBox="1"/>
          <p:nvPr/>
        </p:nvSpPr>
        <p:spPr>
          <a:xfrm>
            <a:off x="1285103" y="1616845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0A0A23"/>
                </a:solidFill>
                <a:effectLst/>
                <a:latin typeface="Lato"/>
              </a:rPr>
              <a:t>KNN Algorithm – K-Nearest </a:t>
            </a:r>
            <a:r>
              <a:rPr lang="en-GB" b="1" i="0" dirty="0" err="1">
                <a:solidFill>
                  <a:srgbClr val="0A0A23"/>
                </a:solidFill>
                <a:effectLst/>
                <a:latin typeface="Lato"/>
              </a:rPr>
              <a:t>Neighbors</a:t>
            </a:r>
            <a:r>
              <a:rPr lang="en-GB" b="1" i="0" dirty="0">
                <a:solidFill>
                  <a:srgbClr val="0A0A23"/>
                </a:solidFill>
                <a:effectLst/>
                <a:latin typeface="Lato"/>
              </a:rPr>
              <a:t> Classifiers and Model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BBBBA-675F-B6A3-8CE4-0CD01DFD5AFC}"/>
              </a:ext>
            </a:extLst>
          </p:cNvPr>
          <p:cNvSpPr txBox="1"/>
          <p:nvPr/>
        </p:nvSpPr>
        <p:spPr>
          <a:xfrm>
            <a:off x="1021491" y="2782669"/>
            <a:ext cx="10149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The K-Nearest </a:t>
            </a:r>
            <a:r>
              <a:rPr lang="en-GB" b="0" i="0" dirty="0" err="1">
                <a:solidFill>
                  <a:srgbClr val="0A0A23"/>
                </a:solidFill>
                <a:effectLst/>
                <a:latin typeface="Lato"/>
              </a:rPr>
              <a:t>Neighbors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 (K-NN) algorithm is a popular Machine Learning algorithm used mostly for solving classification problems.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CC1F3-FA5E-46BA-4094-B6729401EA7E}"/>
              </a:ext>
            </a:extLst>
          </p:cNvPr>
          <p:cNvSpPr txBox="1"/>
          <p:nvPr/>
        </p:nvSpPr>
        <p:spPr>
          <a:xfrm>
            <a:off x="667265" y="6356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FF0000"/>
                </a:solidFill>
                <a:latin typeface="Proxima Nova Rg"/>
              </a:rPr>
              <a:t>Supervised learning 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09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58AE39-C5F6-EF60-BC32-B50A36AAF880}"/>
              </a:ext>
            </a:extLst>
          </p:cNvPr>
          <p:cNvSpPr txBox="1"/>
          <p:nvPr/>
        </p:nvSpPr>
        <p:spPr>
          <a:xfrm>
            <a:off x="461319" y="644262"/>
            <a:ext cx="10725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>
                <a:solidFill>
                  <a:srgbClr val="FF0000"/>
                </a:solidFill>
                <a:effectLst/>
                <a:latin typeface="inherit"/>
              </a:rPr>
              <a:t>What is the KNN algorithm?</a:t>
            </a:r>
            <a:endParaRPr lang="en-GB" b="1" i="0" dirty="0">
              <a:solidFill>
                <a:srgbClr val="FF0000"/>
              </a:solidFill>
              <a:effectLst/>
              <a:latin typeface="inheri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67F98-2DCC-3B81-6C14-CCEF4B46F0C5}"/>
              </a:ext>
            </a:extLst>
          </p:cNvPr>
          <p:cNvSpPr txBox="1"/>
          <p:nvPr/>
        </p:nvSpPr>
        <p:spPr>
          <a:xfrm>
            <a:off x="461318" y="1093557"/>
            <a:ext cx="107256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>
                <a:solidFill>
                  <a:srgbClr val="273239"/>
                </a:solidFill>
                <a:effectLst/>
                <a:latin typeface="Nunito"/>
              </a:rPr>
              <a:t>K-Nearest Neighbors (KNN) is a supervised machine learning algorithm generally used for classification but can also be used for regression tasks. It works by finding the "k" closest data points (neighbors) to a given input and makes a predictions based on the majority class (for classification) or the average value (for regression). 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F8353F-3CBA-3CB6-4258-7F4974A8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40" y="2529016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6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0E2E3F-0537-AF10-0A5D-B74F23485F3D}"/>
              </a:ext>
            </a:extLst>
          </p:cNvPr>
          <p:cNvSpPr txBox="1"/>
          <p:nvPr/>
        </p:nvSpPr>
        <p:spPr>
          <a:xfrm>
            <a:off x="584886" y="334831"/>
            <a:ext cx="9580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For example, consider the following table of data points containing two features: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ECE19-74EB-EC71-2665-E7D947936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631" y="1523999"/>
            <a:ext cx="8289110" cy="41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6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686138-636F-94C8-5F81-591F0E17251E}"/>
              </a:ext>
            </a:extLst>
          </p:cNvPr>
          <p:cNvSpPr txBox="1"/>
          <p:nvPr/>
        </p:nvSpPr>
        <p:spPr>
          <a:xfrm>
            <a:off x="922638" y="450160"/>
            <a:ext cx="1075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Distance Metrics Used in KNN Algorithm</a:t>
            </a:r>
          </a:p>
          <a:p>
            <a:pPr algn="l" rtl="0" fontAlgn="base"/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KNN uses distance metrics to identify nearest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/>
              </a:rPr>
              <a:t>neighbor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, these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/>
              </a:rPr>
              <a:t>neighbors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 are used for classification and regression task. To identify nearest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/>
              </a:rPr>
              <a:t>neighbor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 we use below distance metrics: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61DDE-5983-C771-DEAA-CB62EA60BD0E}"/>
              </a:ext>
            </a:extLst>
          </p:cNvPr>
          <p:cNvSpPr txBox="1"/>
          <p:nvPr/>
        </p:nvSpPr>
        <p:spPr>
          <a:xfrm>
            <a:off x="922638" y="16317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1. Euclidean Distance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560F7A-F23C-5AAD-0C82-AEF3A29A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13" y="2080182"/>
            <a:ext cx="4438650" cy="6381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30EAE0-16DD-08E2-E54B-25133A810764}"/>
              </a:ext>
            </a:extLst>
          </p:cNvPr>
          <p:cNvSpPr txBox="1"/>
          <p:nvPr/>
        </p:nvSpPr>
        <p:spPr>
          <a:xfrm>
            <a:off x="1008363" y="29415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2. Manhattan Distance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A4415D-9B9C-4C8E-1F98-EEA9978B8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088" y="3493530"/>
            <a:ext cx="2876550" cy="495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D649E1-DC3D-3F5A-4F39-11FEE61D1D48}"/>
              </a:ext>
            </a:extLst>
          </p:cNvPr>
          <p:cNvSpPr txBox="1"/>
          <p:nvPr/>
        </p:nvSpPr>
        <p:spPr>
          <a:xfrm>
            <a:off x="1008363" y="4066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3. </a:t>
            </a:r>
            <a:r>
              <a:rPr lang="en-GB" b="1" i="0" dirty="0" err="1">
                <a:solidFill>
                  <a:srgbClr val="273239"/>
                </a:solidFill>
                <a:effectLst/>
                <a:latin typeface="Nunito"/>
              </a:rPr>
              <a:t>Minkowski</a:t>
            </a:r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 Distance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8E374E-EFCD-0088-67D0-93BAB8406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088" y="4678367"/>
            <a:ext cx="33337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2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BB77AE-87FD-6F53-3E22-6A86508F6CB1}"/>
              </a:ext>
            </a:extLst>
          </p:cNvPr>
          <p:cNvSpPr txBox="1"/>
          <p:nvPr/>
        </p:nvSpPr>
        <p:spPr>
          <a:xfrm>
            <a:off x="749643" y="253995"/>
            <a:ext cx="10989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Nunito"/>
              </a:rPr>
              <a:t>Working of KNN algorithm</a:t>
            </a:r>
          </a:p>
          <a:p>
            <a:pPr algn="l" rtl="0" fontAlgn="base"/>
            <a:r>
              <a:rPr lang="en-GB" b="0" i="0" dirty="0" err="1">
                <a:solidFill>
                  <a:srgbClr val="273239"/>
                </a:solidFill>
                <a:effectLst/>
                <a:latin typeface="Nunito"/>
              </a:rPr>
              <a:t>Thе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 K-Nearest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/>
              </a:rPr>
              <a:t>Neighbors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 (KNN) algorithm operates on the principle of similarity where it predicts the label or value of a new data point by considering the labels or values of its K nearest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/>
              </a:rPr>
              <a:t>neighbors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/>
              </a:rPr>
              <a:t> in the training dataset.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F3035C-D886-7EEE-51DA-8E36E6BD6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75" y="1631478"/>
            <a:ext cx="11066649" cy="434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60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0F73C6-10A6-9C66-CA30-6304CF740D49}"/>
              </a:ext>
            </a:extLst>
          </p:cNvPr>
          <p:cNvSpPr txBox="1"/>
          <p:nvPr/>
        </p:nvSpPr>
        <p:spPr>
          <a:xfrm>
            <a:off x="778477" y="2410760"/>
            <a:ext cx="101243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Step #1 -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Assign a value to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.</a:t>
            </a:r>
          </a:p>
          <a:p>
            <a:pPr algn="l" fontAlgn="base"/>
            <a:endParaRPr lang="en-GB" b="0" i="0" dirty="0">
              <a:solidFill>
                <a:srgbClr val="0A0A23"/>
              </a:solidFill>
              <a:effectLst/>
              <a:latin typeface="Lato"/>
            </a:endParaRPr>
          </a:p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Step #2 -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Calculate the distance between the new data entry and all other existing data entries (you'll learn how to do this shortly). Arrange them in ascending order.</a:t>
            </a:r>
          </a:p>
          <a:p>
            <a:pPr algn="l" fontAlgn="base"/>
            <a:endParaRPr lang="en-GB" b="0" i="0" dirty="0">
              <a:solidFill>
                <a:srgbClr val="0A0A23"/>
              </a:solidFill>
              <a:effectLst/>
              <a:latin typeface="Lato"/>
            </a:endParaRPr>
          </a:p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Step #3 -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Find the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nearest </a:t>
            </a:r>
            <a:r>
              <a:rPr lang="en-GB" b="0" i="0" dirty="0" err="1">
                <a:solidFill>
                  <a:srgbClr val="0A0A23"/>
                </a:solidFill>
                <a:effectLst/>
                <a:latin typeface="Lato"/>
              </a:rPr>
              <a:t>neighbors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 to the new entry based on the calculated distances.</a:t>
            </a:r>
          </a:p>
          <a:p>
            <a:pPr algn="l" fontAlgn="base"/>
            <a:endParaRPr lang="en-GB" b="0" i="0" dirty="0">
              <a:solidFill>
                <a:srgbClr val="0A0A23"/>
              </a:solidFill>
              <a:effectLst/>
              <a:latin typeface="Lato"/>
            </a:endParaRPr>
          </a:p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Step #4 -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Assign the new data entry to the majority class in the nearest </a:t>
            </a:r>
            <a:r>
              <a:rPr lang="en-GB" b="0" i="0" dirty="0" err="1">
                <a:solidFill>
                  <a:srgbClr val="0A0A23"/>
                </a:solidFill>
                <a:effectLst/>
                <a:latin typeface="Lato"/>
              </a:rPr>
              <a:t>neighbors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. This called the majority voting.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08467-44B2-FBE0-6C6D-184B6A5C460C}"/>
              </a:ext>
            </a:extLst>
          </p:cNvPr>
          <p:cNvSpPr txBox="1"/>
          <p:nvPr/>
        </p:nvSpPr>
        <p:spPr>
          <a:xfrm>
            <a:off x="683742" y="1025090"/>
            <a:ext cx="10392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Based on its closeness or similarities in a given range (</a:t>
            </a:r>
            <a:r>
              <a:rPr lang="en-GB" b="1" i="0" dirty="0">
                <a:solidFill>
                  <a:srgbClr val="1B1B32"/>
                </a:solidFill>
                <a:effectLst/>
                <a:latin typeface="Lato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) of neighbours, the algorithm assigns the new data to a class or category in the data set (training data).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342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king steps of KNN algorithm | Download Scientific Diagram">
            <a:extLst>
              <a:ext uri="{FF2B5EF4-FFF2-40B4-BE49-F238E27FC236}">
                <a16:creationId xmlns:a16="http://schemas.microsoft.com/office/drawing/2014/main" id="{F974D065-6A3B-E900-4E12-1284F0DAA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2157413"/>
            <a:ext cx="363855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orking steps of KNN algorithm | Download Scientific Diagram">
            <a:extLst>
              <a:ext uri="{FF2B5EF4-FFF2-40B4-BE49-F238E27FC236}">
                <a16:creationId xmlns:a16="http://schemas.microsoft.com/office/drawing/2014/main" id="{DA67E9B3-97B2-0423-D945-BFB65A473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805" y="800907"/>
            <a:ext cx="4873584" cy="521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188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BD42EB-DE46-FFF2-3DCC-77149BB2F27F}"/>
              </a:ext>
            </a:extLst>
          </p:cNvPr>
          <p:cNvSpPr txBox="1"/>
          <p:nvPr/>
        </p:nvSpPr>
        <p:spPr>
          <a:xfrm>
            <a:off x="996779" y="481048"/>
            <a:ext cx="105361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FF0000"/>
                </a:solidFill>
                <a:effectLst/>
                <a:latin typeface="Nunito" panose="020F0502020204030204"/>
              </a:rPr>
              <a:t>Advantages of KNN</a:t>
            </a:r>
          </a:p>
          <a:p>
            <a:pPr algn="l" fontAlgn="base"/>
            <a:endParaRPr lang="en-GB" b="1" i="0" dirty="0">
              <a:solidFill>
                <a:srgbClr val="273239"/>
              </a:solidFill>
              <a:effectLst/>
              <a:latin typeface="Nunito" panose="020F0502020204030204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anose="020F0502020204030204"/>
              </a:rPr>
              <a:t>Simple to use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: Easy to understand and implement.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anose="020F0502020204030204"/>
              </a:rPr>
              <a:t>No training step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: No need to train as it just stores the data and uses it during prediction.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anose="020F0502020204030204"/>
              </a:rPr>
              <a:t>Few parameters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: Only needs to set the number of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 panose="020F0502020204030204"/>
              </a:rPr>
              <a:t>neighbors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 (k) and a distance method.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F5F96-DB94-4AEF-4BB8-8A31176B4457}"/>
              </a:ext>
            </a:extLst>
          </p:cNvPr>
          <p:cNvSpPr txBox="1"/>
          <p:nvPr/>
        </p:nvSpPr>
        <p:spPr>
          <a:xfrm>
            <a:off x="996779" y="2228671"/>
            <a:ext cx="101984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FF0000"/>
                </a:solidFill>
                <a:effectLst/>
                <a:latin typeface="Nunito" panose="020F0502020204030204"/>
              </a:rPr>
              <a:t>Disadvantages of KNN</a:t>
            </a:r>
          </a:p>
          <a:p>
            <a:pPr algn="l" fontAlgn="base"/>
            <a:endParaRPr lang="en-GB" b="1" i="0" dirty="0">
              <a:solidFill>
                <a:srgbClr val="273239"/>
              </a:solidFill>
              <a:effectLst/>
              <a:latin typeface="Nunito" panose="020F0502020204030204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anose="020F0502020204030204"/>
              </a:rPr>
              <a:t>Slow with large data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: Needs to compare every point during prediction.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anose="020F0502020204030204"/>
              </a:rPr>
              <a:t>Struggles with many features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: Accuracy drops when data has too many features.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anose="020F0502020204030204"/>
              </a:rPr>
              <a:t>Can Overfit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anose="020F0502020204030204"/>
              </a:rPr>
              <a:t>: It can overfit especially when the data is high-dimensional or not clean.</a:t>
            </a:r>
          </a:p>
        </p:txBody>
      </p:sp>
    </p:spTree>
    <p:extLst>
      <p:ext uri="{BB962C8B-B14F-4D97-AF65-F5344CB8AC3E}">
        <p14:creationId xmlns:p14="http://schemas.microsoft.com/office/powerpoint/2010/main" val="1183165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BA1905-5BEF-7336-E8B4-6C98811DB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804046"/>
              </p:ext>
            </p:extLst>
          </p:nvPr>
        </p:nvGraphicFramePr>
        <p:xfrm>
          <a:off x="857765" y="1623855"/>
          <a:ext cx="8385089" cy="2926080"/>
        </p:xfrm>
        <a:graphic>
          <a:graphicData uri="http://schemas.openxmlformats.org/drawingml/2006/table">
            <a:tbl>
              <a:tblPr/>
              <a:tblGrid>
                <a:gridCol w="2572263">
                  <a:extLst>
                    <a:ext uri="{9D8B030D-6E8A-4147-A177-3AD203B41FA5}">
                      <a16:colId xmlns:a16="http://schemas.microsoft.com/office/drawing/2014/main" val="679897129"/>
                    </a:ext>
                  </a:extLst>
                </a:gridCol>
                <a:gridCol w="3097427">
                  <a:extLst>
                    <a:ext uri="{9D8B030D-6E8A-4147-A177-3AD203B41FA5}">
                      <a16:colId xmlns:a16="http://schemas.microsoft.com/office/drawing/2014/main" val="3324676706"/>
                    </a:ext>
                  </a:extLst>
                </a:gridCol>
                <a:gridCol w="2715399">
                  <a:extLst>
                    <a:ext uri="{9D8B030D-6E8A-4147-A177-3AD203B41FA5}">
                      <a16:colId xmlns:a16="http://schemas.microsoft.com/office/drawing/2014/main" val="1843852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b="1" dirty="0">
                          <a:solidFill>
                            <a:srgbClr val="00B050"/>
                          </a:solidFill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72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533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287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90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00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51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99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274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94908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AB1E33-EE64-0AB0-8863-B7E992F9ACB2}"/>
              </a:ext>
            </a:extLst>
          </p:cNvPr>
          <p:cNvSpPr txBox="1"/>
          <p:nvPr/>
        </p:nvSpPr>
        <p:spPr>
          <a:xfrm>
            <a:off x="1068861" y="468179"/>
            <a:ext cx="1009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FF0000"/>
                </a:solidFill>
                <a:effectLst/>
                <a:latin typeface="Lato"/>
              </a:rPr>
              <a:t>Example: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 The table represents our data set. We have two columns —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Brightness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and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Saturation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. Each row in the table has a class of either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Red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or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Blue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.</a:t>
            </a: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Before we introduce a new data entry, let's assume the value of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 is 5.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3A3601-0D6C-3A5A-1484-65E82EC21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5996"/>
              </p:ext>
            </p:extLst>
          </p:nvPr>
        </p:nvGraphicFramePr>
        <p:xfrm>
          <a:off x="857765" y="5357242"/>
          <a:ext cx="8385089" cy="731520"/>
        </p:xfrm>
        <a:graphic>
          <a:graphicData uri="http://schemas.openxmlformats.org/drawingml/2006/table">
            <a:tbl>
              <a:tblPr/>
              <a:tblGrid>
                <a:gridCol w="2307731">
                  <a:extLst>
                    <a:ext uri="{9D8B030D-6E8A-4147-A177-3AD203B41FA5}">
                      <a16:colId xmlns:a16="http://schemas.microsoft.com/office/drawing/2014/main" val="2119939033"/>
                    </a:ext>
                  </a:extLst>
                </a:gridCol>
                <a:gridCol w="3129800">
                  <a:extLst>
                    <a:ext uri="{9D8B030D-6E8A-4147-A177-3AD203B41FA5}">
                      <a16:colId xmlns:a16="http://schemas.microsoft.com/office/drawing/2014/main" val="1690264719"/>
                    </a:ext>
                  </a:extLst>
                </a:gridCol>
                <a:gridCol w="2947558">
                  <a:extLst>
                    <a:ext uri="{9D8B030D-6E8A-4147-A177-3AD203B41FA5}">
                      <a16:colId xmlns:a16="http://schemas.microsoft.com/office/drawing/2014/main" val="1105743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63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35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?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8306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950B2DD-28B7-D00E-74D5-71DB4BBDD0AE}"/>
              </a:ext>
            </a:extLst>
          </p:cNvPr>
          <p:cNvSpPr txBox="1"/>
          <p:nvPr/>
        </p:nvSpPr>
        <p:spPr>
          <a:xfrm>
            <a:off x="9893643" y="2718486"/>
            <a:ext cx="126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Training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3D9C4-0F89-A2FB-6A52-77D2CA1160A4}"/>
              </a:ext>
            </a:extLst>
          </p:cNvPr>
          <p:cNvSpPr txBox="1"/>
          <p:nvPr/>
        </p:nvSpPr>
        <p:spPr>
          <a:xfrm>
            <a:off x="9893643" y="5538336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Testing set</a:t>
            </a:r>
          </a:p>
        </p:txBody>
      </p:sp>
    </p:spTree>
    <p:extLst>
      <p:ext uri="{BB962C8B-B14F-4D97-AF65-F5344CB8AC3E}">
        <p14:creationId xmlns:p14="http://schemas.microsoft.com/office/powerpoint/2010/main" val="766729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41FB08C7-0C39-CF49-5838-C0051FD02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526" y="1259175"/>
            <a:ext cx="4798450" cy="408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A61D4A-8879-4ED4-34B7-2B003A6F9D13}"/>
              </a:ext>
            </a:extLst>
          </p:cNvPr>
          <p:cNvSpPr txBox="1"/>
          <p:nvPr/>
        </p:nvSpPr>
        <p:spPr>
          <a:xfrm>
            <a:off x="716692" y="282316"/>
            <a:ext cx="9910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The graph represents a data set consisting of two classes: </a:t>
            </a:r>
            <a:r>
              <a:rPr lang="en-GB" b="1" i="0" dirty="0">
                <a:solidFill>
                  <a:srgbClr val="FF0000"/>
                </a:solidFill>
                <a:effectLst/>
                <a:latin typeface="Lato"/>
              </a:rPr>
              <a:t>red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 and </a:t>
            </a:r>
            <a:r>
              <a:rPr lang="en-GB" b="1" i="0" dirty="0">
                <a:solidFill>
                  <a:srgbClr val="0070C0"/>
                </a:solidFill>
                <a:effectLst/>
                <a:latin typeface="Lato"/>
              </a:rPr>
              <a:t>blue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3832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age">
            <a:extLst>
              <a:ext uri="{FF2B5EF4-FFF2-40B4-BE49-F238E27FC236}">
                <a16:creationId xmlns:a16="http://schemas.microsoft.com/office/drawing/2014/main" id="{5D27B197-2B38-7ABA-929C-C8AA7126B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349" y="1102905"/>
            <a:ext cx="5460200" cy="465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DD1949-85CC-4236-C4BD-16520226B078}"/>
              </a:ext>
            </a:extLst>
          </p:cNvPr>
          <p:cNvSpPr txBox="1"/>
          <p:nvPr/>
        </p:nvSpPr>
        <p:spPr>
          <a:xfrm>
            <a:off x="683741" y="351643"/>
            <a:ext cx="1106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A new data entry has been introduced to the data set. This is represented by the </a:t>
            </a:r>
            <a:r>
              <a:rPr lang="en-GB" b="1" i="0" dirty="0">
                <a:solidFill>
                  <a:schemeClr val="accent6"/>
                </a:solidFill>
                <a:effectLst/>
                <a:latin typeface="Lato"/>
              </a:rPr>
              <a:t>green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 point in the graph.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5259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189C-2D1B-0E3B-E1E6-2ECDB9BEC19D}"/>
              </a:ext>
            </a:extLst>
          </p:cNvPr>
          <p:cNvSpPr txBox="1"/>
          <p:nvPr/>
        </p:nvSpPr>
        <p:spPr>
          <a:xfrm>
            <a:off x="877329" y="170073"/>
            <a:ext cx="10437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We have a new entry but it doesn't have a class yet. To know its class, we have to calculate the distance from the new entry to other entries in the data set using the Euclidean distance formula.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194CF-696B-5BC6-9C61-0BC2322E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502" y="782035"/>
            <a:ext cx="4438650" cy="63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48D8E0-E0E3-BC69-029B-EAF695BCDD99}"/>
              </a:ext>
            </a:extLst>
          </p:cNvPr>
          <p:cNvSpPr txBox="1"/>
          <p:nvPr/>
        </p:nvSpPr>
        <p:spPr>
          <a:xfrm>
            <a:off x="803188" y="17090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-apple-system"/>
              </a:rPr>
              <a:t>Distance #1</a:t>
            </a: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For the first row, d1: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6AEFD-9AB8-7C19-E996-796B279816B9}"/>
              </a:ext>
            </a:extLst>
          </p:cNvPr>
          <p:cNvSpPr txBox="1"/>
          <p:nvPr/>
        </p:nvSpPr>
        <p:spPr>
          <a:xfrm>
            <a:off x="803188" y="25590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d1 = √(20 - 40)² + (35 - 20)²</a:t>
            </a:r>
            <a:br>
              <a:rPr lang="en-GB" dirty="0"/>
            </a:b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= √400 + 225</a:t>
            </a:r>
            <a:br>
              <a:rPr lang="en-GB" dirty="0"/>
            </a:b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= √625</a:t>
            </a:r>
            <a:br>
              <a:rPr lang="en-GB" dirty="0"/>
            </a:b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= 25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1593C-CBFB-7A6B-B27C-99E329D58667}"/>
              </a:ext>
            </a:extLst>
          </p:cNvPr>
          <p:cNvSpPr txBox="1"/>
          <p:nvPr/>
        </p:nvSpPr>
        <p:spPr>
          <a:xfrm>
            <a:off x="803188" y="39630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-apple-system"/>
              </a:rPr>
              <a:t>Distance #2</a:t>
            </a: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For the second row, d2: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8D1A0-E16A-635A-613E-2624B7EF792C}"/>
              </a:ext>
            </a:extLst>
          </p:cNvPr>
          <p:cNvSpPr txBox="1"/>
          <p:nvPr/>
        </p:nvSpPr>
        <p:spPr>
          <a:xfrm>
            <a:off x="803188" y="481312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d2 = √(20 - 50)² + (35 - 50)²</a:t>
            </a:r>
            <a:br>
              <a:rPr lang="en-GB" dirty="0"/>
            </a:b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= √900 + 225</a:t>
            </a:r>
            <a:br>
              <a:rPr lang="en-GB" dirty="0"/>
            </a:b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= √1125</a:t>
            </a:r>
            <a:br>
              <a:rPr lang="en-GB" dirty="0"/>
            </a:b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= 33.54</a:t>
            </a:r>
            <a:endParaRPr lang="en-GB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3DFADAB-C6B2-5A0B-4D25-8D2FB4676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308143"/>
              </p:ext>
            </p:extLst>
          </p:nvPr>
        </p:nvGraphicFramePr>
        <p:xfrm>
          <a:off x="4819135" y="4667943"/>
          <a:ext cx="5364892" cy="731520"/>
        </p:xfrm>
        <a:graphic>
          <a:graphicData uri="http://schemas.openxmlformats.org/drawingml/2006/table">
            <a:tbl>
              <a:tblPr/>
              <a:tblGrid>
                <a:gridCol w="1341223">
                  <a:extLst>
                    <a:ext uri="{9D8B030D-6E8A-4147-A177-3AD203B41FA5}">
                      <a16:colId xmlns:a16="http://schemas.microsoft.com/office/drawing/2014/main" val="1494193315"/>
                    </a:ext>
                  </a:extLst>
                </a:gridCol>
                <a:gridCol w="1341223">
                  <a:extLst>
                    <a:ext uri="{9D8B030D-6E8A-4147-A177-3AD203B41FA5}">
                      <a16:colId xmlns:a16="http://schemas.microsoft.com/office/drawing/2014/main" val="3463408711"/>
                    </a:ext>
                  </a:extLst>
                </a:gridCol>
                <a:gridCol w="1341223">
                  <a:extLst>
                    <a:ext uri="{9D8B030D-6E8A-4147-A177-3AD203B41FA5}">
                      <a16:colId xmlns:a16="http://schemas.microsoft.com/office/drawing/2014/main" val="4144252468"/>
                    </a:ext>
                  </a:extLst>
                </a:gridCol>
                <a:gridCol w="1341223">
                  <a:extLst>
                    <a:ext uri="{9D8B030D-6E8A-4147-A177-3AD203B41FA5}">
                      <a16:colId xmlns:a16="http://schemas.microsoft.com/office/drawing/2014/main" val="1517041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550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59598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F72BC81-0B84-B01C-626A-FEF001ABC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194620"/>
              </p:ext>
            </p:extLst>
          </p:nvPr>
        </p:nvGraphicFramePr>
        <p:xfrm>
          <a:off x="5140410" y="2502591"/>
          <a:ext cx="4646140" cy="731520"/>
        </p:xfrm>
        <a:graphic>
          <a:graphicData uri="http://schemas.openxmlformats.org/drawingml/2006/table">
            <a:tbl>
              <a:tblPr/>
              <a:tblGrid>
                <a:gridCol w="1161535">
                  <a:extLst>
                    <a:ext uri="{9D8B030D-6E8A-4147-A177-3AD203B41FA5}">
                      <a16:colId xmlns:a16="http://schemas.microsoft.com/office/drawing/2014/main" val="2658670113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644832320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816586007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175752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781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242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472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0D3061-580C-3C73-F3BD-E2BDEACB2C97}"/>
              </a:ext>
            </a:extLst>
          </p:cNvPr>
          <p:cNvSpPr txBox="1"/>
          <p:nvPr/>
        </p:nvSpPr>
        <p:spPr>
          <a:xfrm>
            <a:off x="1400432" y="471786"/>
            <a:ext cx="9366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Here's what the table will look like after all the distances have been calculated: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ADD05-B1A0-20E1-2DE6-1272D9B83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95560"/>
              </p:ext>
            </p:extLst>
          </p:nvPr>
        </p:nvGraphicFramePr>
        <p:xfrm>
          <a:off x="2624946" y="1849996"/>
          <a:ext cx="6221628" cy="2926080"/>
        </p:xfrm>
        <a:graphic>
          <a:graphicData uri="http://schemas.openxmlformats.org/drawingml/2006/table">
            <a:tbl>
              <a:tblPr/>
              <a:tblGrid>
                <a:gridCol w="1555407">
                  <a:extLst>
                    <a:ext uri="{9D8B030D-6E8A-4147-A177-3AD203B41FA5}">
                      <a16:colId xmlns:a16="http://schemas.microsoft.com/office/drawing/2014/main" val="191731394"/>
                    </a:ext>
                  </a:extLst>
                </a:gridCol>
                <a:gridCol w="1555407">
                  <a:extLst>
                    <a:ext uri="{9D8B030D-6E8A-4147-A177-3AD203B41FA5}">
                      <a16:colId xmlns:a16="http://schemas.microsoft.com/office/drawing/2014/main" val="2489474878"/>
                    </a:ext>
                  </a:extLst>
                </a:gridCol>
                <a:gridCol w="1555407">
                  <a:extLst>
                    <a:ext uri="{9D8B030D-6E8A-4147-A177-3AD203B41FA5}">
                      <a16:colId xmlns:a16="http://schemas.microsoft.com/office/drawing/2014/main" val="425733728"/>
                    </a:ext>
                  </a:extLst>
                </a:gridCol>
                <a:gridCol w="1555407">
                  <a:extLst>
                    <a:ext uri="{9D8B030D-6E8A-4147-A177-3AD203B41FA5}">
                      <a16:colId xmlns:a16="http://schemas.microsoft.com/office/drawing/2014/main" val="2698139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128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7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690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90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68.01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76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561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61.03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41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47.17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9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45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80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969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79F171-B7DB-2D74-272E-D528FE8FEC23}"/>
              </a:ext>
            </a:extLst>
          </p:cNvPr>
          <p:cNvSpPr txBox="1"/>
          <p:nvPr/>
        </p:nvSpPr>
        <p:spPr>
          <a:xfrm>
            <a:off x="420130" y="98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Let's rearrange the distances in ascending order: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F866A0-9088-62A0-427F-C8E7271DE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272468"/>
              </p:ext>
            </p:extLst>
          </p:nvPr>
        </p:nvGraphicFramePr>
        <p:xfrm>
          <a:off x="1919417" y="577915"/>
          <a:ext cx="7253748" cy="2926080"/>
        </p:xfrm>
        <a:graphic>
          <a:graphicData uri="http://schemas.openxmlformats.org/drawingml/2006/table">
            <a:tbl>
              <a:tblPr/>
              <a:tblGrid>
                <a:gridCol w="1813437">
                  <a:extLst>
                    <a:ext uri="{9D8B030D-6E8A-4147-A177-3AD203B41FA5}">
                      <a16:colId xmlns:a16="http://schemas.microsoft.com/office/drawing/2014/main" val="2737215550"/>
                    </a:ext>
                  </a:extLst>
                </a:gridCol>
                <a:gridCol w="1813437">
                  <a:extLst>
                    <a:ext uri="{9D8B030D-6E8A-4147-A177-3AD203B41FA5}">
                      <a16:colId xmlns:a16="http://schemas.microsoft.com/office/drawing/2014/main" val="1992867406"/>
                    </a:ext>
                  </a:extLst>
                </a:gridCol>
                <a:gridCol w="1813437">
                  <a:extLst>
                    <a:ext uri="{9D8B030D-6E8A-4147-A177-3AD203B41FA5}">
                      <a16:colId xmlns:a16="http://schemas.microsoft.com/office/drawing/2014/main" val="1024442529"/>
                    </a:ext>
                  </a:extLst>
                </a:gridCol>
                <a:gridCol w="1813437">
                  <a:extLst>
                    <a:ext uri="{9D8B030D-6E8A-4147-A177-3AD203B41FA5}">
                      <a16:colId xmlns:a16="http://schemas.microsoft.com/office/drawing/2014/main" val="497330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07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73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244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734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47.17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67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61.03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70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90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68.01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8010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30C4F07-9C38-0A65-E546-D870D2BA1DE9}"/>
              </a:ext>
            </a:extLst>
          </p:cNvPr>
          <p:cNvSpPr txBox="1"/>
          <p:nvPr/>
        </p:nvSpPr>
        <p:spPr>
          <a:xfrm>
            <a:off x="420130" y="3781338"/>
            <a:ext cx="9358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Since we chose 5 as the value of </a:t>
            </a:r>
            <a:r>
              <a:rPr lang="en-GB" b="1" i="0" dirty="0">
                <a:solidFill>
                  <a:srgbClr val="1B1B32"/>
                </a:solidFill>
                <a:effectLst/>
                <a:latin typeface="Lato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, we'll only consider the first five rows. That is:</a:t>
            </a:r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059991-BEC4-B6CC-EF2A-31E4FB97C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66851"/>
              </p:ext>
            </p:extLst>
          </p:nvPr>
        </p:nvGraphicFramePr>
        <p:xfrm>
          <a:off x="550905" y="4360633"/>
          <a:ext cx="6592332" cy="2194560"/>
        </p:xfrm>
        <a:graphic>
          <a:graphicData uri="http://schemas.openxmlformats.org/drawingml/2006/table">
            <a:tbl>
              <a:tblPr/>
              <a:tblGrid>
                <a:gridCol w="1648083">
                  <a:extLst>
                    <a:ext uri="{9D8B030D-6E8A-4147-A177-3AD203B41FA5}">
                      <a16:colId xmlns:a16="http://schemas.microsoft.com/office/drawing/2014/main" val="1272829300"/>
                    </a:ext>
                  </a:extLst>
                </a:gridCol>
                <a:gridCol w="1648083">
                  <a:extLst>
                    <a:ext uri="{9D8B030D-6E8A-4147-A177-3AD203B41FA5}">
                      <a16:colId xmlns:a16="http://schemas.microsoft.com/office/drawing/2014/main" val="4055944419"/>
                    </a:ext>
                  </a:extLst>
                </a:gridCol>
                <a:gridCol w="1648083">
                  <a:extLst>
                    <a:ext uri="{9D8B030D-6E8A-4147-A177-3AD203B41FA5}">
                      <a16:colId xmlns:a16="http://schemas.microsoft.com/office/drawing/2014/main" val="3589151746"/>
                    </a:ext>
                  </a:extLst>
                </a:gridCol>
                <a:gridCol w="1648083">
                  <a:extLst>
                    <a:ext uri="{9D8B030D-6E8A-4147-A177-3AD203B41FA5}">
                      <a16:colId xmlns:a16="http://schemas.microsoft.com/office/drawing/2014/main" val="203981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095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10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388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905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45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37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  <a:latin typeface="inherit"/>
                        </a:rPr>
                        <a:t>47.17</a:t>
                      </a:r>
                    </a:p>
                  </a:txBody>
                  <a:tcPr>
                    <a:lnL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F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350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09126F1-53A4-7CD6-009E-FA08C8BCAD87}"/>
              </a:ext>
            </a:extLst>
          </p:cNvPr>
          <p:cNvSpPr txBox="1"/>
          <p:nvPr/>
        </p:nvSpPr>
        <p:spPr>
          <a:xfrm>
            <a:off x="8855675" y="4534583"/>
            <a:ext cx="31056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FF0000"/>
                </a:solidFill>
                <a:effectLst/>
                <a:latin typeface="Lato"/>
              </a:rPr>
              <a:t>As you can see, the majority class within the 5 nearest 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Lato"/>
              </a:rPr>
              <a:t>neighbors</a:t>
            </a:r>
            <a:r>
              <a:rPr lang="en-GB" b="0" i="0" dirty="0">
                <a:solidFill>
                  <a:srgbClr val="FF0000"/>
                </a:solidFill>
                <a:effectLst/>
                <a:latin typeface="Lato"/>
              </a:rPr>
              <a:t> to the new entry is </a:t>
            </a:r>
            <a:r>
              <a:rPr lang="en-GB" b="1" i="0" dirty="0">
                <a:solidFill>
                  <a:srgbClr val="FF0000"/>
                </a:solidFill>
                <a:effectLst/>
                <a:latin typeface="Lato"/>
              </a:rPr>
              <a:t>Red</a:t>
            </a:r>
            <a:r>
              <a:rPr lang="en-GB" b="0" i="0" dirty="0">
                <a:solidFill>
                  <a:srgbClr val="FF0000"/>
                </a:solidFill>
                <a:effectLst/>
                <a:latin typeface="Lato"/>
              </a:rPr>
              <a:t>. Therefore, we'll classify the new entry as </a:t>
            </a:r>
            <a:r>
              <a:rPr lang="en-GB" b="1" i="0" dirty="0">
                <a:solidFill>
                  <a:srgbClr val="FF0000"/>
                </a:solidFill>
                <a:effectLst/>
                <a:latin typeface="Lato"/>
              </a:rPr>
              <a:t>Red</a:t>
            </a:r>
            <a:r>
              <a:rPr lang="en-GB" b="0" i="0" dirty="0">
                <a:solidFill>
                  <a:srgbClr val="FF0000"/>
                </a:solidFill>
                <a:effectLst/>
                <a:latin typeface="Lato"/>
              </a:rPr>
              <a:t>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2" name="AutoShape 2" descr="Image">
            <a:extLst>
              <a:ext uri="{FF2B5EF4-FFF2-40B4-BE49-F238E27FC236}">
                <a16:creationId xmlns:a16="http://schemas.microsoft.com/office/drawing/2014/main" id="{E33C9E3F-1471-0F98-8BC7-DE027A16F3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990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C65E7E-5E95-35FB-4EDA-34299C6B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30" y="625438"/>
            <a:ext cx="6145428" cy="523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48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1B1A61-387C-DAE4-595D-9BDDA5F04EAC}"/>
              </a:ext>
            </a:extLst>
          </p:cNvPr>
          <p:cNvSpPr txBox="1"/>
          <p:nvPr/>
        </p:nvSpPr>
        <p:spPr>
          <a:xfrm>
            <a:off x="568412" y="174706"/>
            <a:ext cx="115412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1B1B32"/>
                </a:solidFill>
                <a:effectLst/>
                <a:latin typeface="-apple-system"/>
              </a:rPr>
              <a:t>How to Choose the Value of K in the K-NN Algorithm</a:t>
            </a:r>
          </a:p>
          <a:p>
            <a:pPr algn="l" fontAlgn="base"/>
            <a:endParaRPr lang="en-GB" b="1" i="0" dirty="0">
              <a:solidFill>
                <a:srgbClr val="1B1B32"/>
              </a:solidFill>
              <a:effectLst/>
              <a:latin typeface="-apple-system"/>
            </a:endParaRP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There is no particular way of choosing the value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Lato"/>
              </a:rPr>
              <a:t>, but here are some common conventions to keep in mind:</a:t>
            </a:r>
          </a:p>
          <a:p>
            <a:pPr algn="l" fontAlgn="base"/>
            <a:endParaRPr lang="en-GB" b="0" i="0" dirty="0">
              <a:solidFill>
                <a:srgbClr val="0A0A23"/>
              </a:solidFill>
              <a:effectLst/>
              <a:latin typeface="Lat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A0A23"/>
                </a:solidFill>
                <a:effectLst/>
                <a:latin typeface="inherit"/>
              </a:rPr>
              <a:t>Choosing a very low value will most likely lead to inaccurate predictions.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A0A23"/>
                </a:solidFill>
                <a:effectLst/>
                <a:latin typeface="inherit"/>
              </a:rPr>
              <a:t>The commonly used value of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inherit"/>
              </a:rPr>
              <a:t> is 5.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A0A23"/>
                </a:solidFill>
                <a:effectLst/>
                <a:latin typeface="inherit"/>
              </a:rPr>
              <a:t>Always use an odd number as the value of </a:t>
            </a:r>
            <a:r>
              <a:rPr lang="en-GB" b="1" i="0" dirty="0">
                <a:solidFill>
                  <a:srgbClr val="1B1B32"/>
                </a:solidFill>
                <a:effectLst/>
                <a:latin typeface="inherit"/>
              </a:rPr>
              <a:t>K</a:t>
            </a:r>
            <a:r>
              <a:rPr lang="en-GB" b="0" i="0" dirty="0">
                <a:solidFill>
                  <a:srgbClr val="0A0A23"/>
                </a:solidFill>
                <a:effectLst/>
                <a:latin typeface="inheri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9203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3810</TotalTime>
  <Words>1828</Words>
  <Application>Microsoft Office PowerPoint</Application>
  <PresentationFormat>Widescreen</PresentationFormat>
  <Paragraphs>248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-apple-system</vt:lpstr>
      <vt:lpstr>Aptos</vt:lpstr>
      <vt:lpstr>Aptos Display</vt:lpstr>
      <vt:lpstr>Arial</vt:lpstr>
      <vt:lpstr>inherit</vt:lpstr>
      <vt:lpstr>Inter</vt:lpstr>
      <vt:lpstr>Lato</vt:lpstr>
      <vt:lpstr>Nunito</vt:lpstr>
      <vt:lpstr>Proxima Nova Rg</vt:lpstr>
      <vt:lpstr>SFMono-Regular</vt:lpstr>
      <vt:lpstr>sohne</vt:lpstr>
      <vt:lpstr>Source Sans Pro</vt:lpstr>
      <vt:lpstr>source-code-pro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eArtificial Intelligence Refers to the simulation of human intelligence </dc:title>
  <dc:creator>Omen HPInc</dc:creator>
  <cp:lastModifiedBy>Omen HPInc</cp:lastModifiedBy>
  <cp:revision>160</cp:revision>
  <dcterms:created xsi:type="dcterms:W3CDTF">2025-07-23T08:55:24Z</dcterms:created>
  <dcterms:modified xsi:type="dcterms:W3CDTF">2025-10-24T10:27:17Z</dcterms:modified>
</cp:coreProperties>
</file>