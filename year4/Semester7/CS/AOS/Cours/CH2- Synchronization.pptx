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303" r:id="rId2"/>
    <p:sldId id="304" r:id="rId3"/>
    <p:sldId id="259" r:id="rId4"/>
    <p:sldId id="305" r:id="rId5"/>
    <p:sldId id="306" r:id="rId6"/>
    <p:sldId id="307" r:id="rId7"/>
    <p:sldId id="258" r:id="rId8"/>
    <p:sldId id="308" r:id="rId9"/>
    <p:sldId id="309" r:id="rId10"/>
    <p:sldId id="312" r:id="rId11"/>
    <p:sldId id="310" r:id="rId12"/>
    <p:sldId id="311"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76" r:id="rId28"/>
    <p:sldId id="377" r:id="rId29"/>
    <p:sldId id="378" r:id="rId30"/>
    <p:sldId id="379" r:id="rId31"/>
    <p:sldId id="380" r:id="rId32"/>
    <p:sldId id="327" r:id="rId33"/>
    <p:sldId id="328" r:id="rId34"/>
    <p:sldId id="329" r:id="rId35"/>
    <p:sldId id="330" r:id="rId36"/>
    <p:sldId id="331" r:id="rId37"/>
    <p:sldId id="332" r:id="rId38"/>
    <p:sldId id="333" r:id="rId39"/>
    <p:sldId id="334" r:id="rId40"/>
    <p:sldId id="335" r:id="rId41"/>
    <p:sldId id="337" r:id="rId42"/>
    <p:sldId id="336" r:id="rId43"/>
    <p:sldId id="338" r:id="rId44"/>
    <p:sldId id="339" r:id="rId45"/>
    <p:sldId id="340" r:id="rId46"/>
    <p:sldId id="341" r:id="rId47"/>
    <p:sldId id="342" r:id="rId48"/>
    <p:sldId id="343" r:id="rId49"/>
    <p:sldId id="346" r:id="rId50"/>
    <p:sldId id="347" r:id="rId51"/>
    <p:sldId id="348" r:id="rId52"/>
    <p:sldId id="349" r:id="rId53"/>
    <p:sldId id="350" r:id="rId54"/>
    <p:sldId id="351" r:id="rId55"/>
    <p:sldId id="352" r:id="rId56"/>
    <p:sldId id="353" r:id="rId57"/>
    <p:sldId id="369" r:id="rId58"/>
    <p:sldId id="354" r:id="rId59"/>
    <p:sldId id="370" r:id="rId60"/>
    <p:sldId id="355" r:id="rId61"/>
    <p:sldId id="356" r:id="rId62"/>
    <p:sldId id="357" r:id="rId63"/>
    <p:sldId id="358" r:id="rId64"/>
    <p:sldId id="359" r:id="rId65"/>
    <p:sldId id="360" r:id="rId66"/>
    <p:sldId id="361" r:id="rId67"/>
    <p:sldId id="362" r:id="rId68"/>
    <p:sldId id="363" r:id="rId69"/>
    <p:sldId id="365" r:id="rId70"/>
    <p:sldId id="381" r:id="rId71"/>
    <p:sldId id="382" r:id="rId72"/>
    <p:sldId id="371" r:id="rId73"/>
    <p:sldId id="383" r:id="rId74"/>
    <p:sldId id="384" r:id="rId75"/>
    <p:sldId id="364" r:id="rId76"/>
  </p:sldIdLst>
  <p:sldSz cx="12192000" cy="6858000"/>
  <p:notesSz cx="6858000" cy="9144000"/>
  <p:defaultTextStyle>
    <a:defPPr>
      <a:defRPr lang="fr-D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D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B483B-51C2-4231-B63D-9EA418D5D830}" type="datetimeFigureOut">
              <a:rPr lang="fr-DZ" smtClean="0"/>
              <a:t>08/11/2025</a:t>
            </a:fld>
            <a:endParaRPr lang="fr-D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D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D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DBB37-9629-48AE-8E0B-DDFBA6DF0549}" type="slidenum">
              <a:rPr lang="fr-DZ" smtClean="0"/>
              <a:t>‹#›</a:t>
            </a:fld>
            <a:endParaRPr lang="fr-DZ"/>
          </a:p>
        </p:txBody>
      </p:sp>
    </p:spTree>
    <p:extLst>
      <p:ext uri="{BB962C8B-B14F-4D97-AF65-F5344CB8AC3E}">
        <p14:creationId xmlns:p14="http://schemas.microsoft.com/office/powerpoint/2010/main" val="3567419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 Le problème concerne un répertoire de file d'attente d'impression avec des emplacements ; une variable d'index ; deux processus tentent d'y accéder simultanément.</a:t>
            </a:r>
          </a:p>
          <a:p>
            <a:r>
              <a:rPr lang="fr-CA" dirty="0"/>
              <a:t>• D'après la figure, à un instant donné, les emplacements 0 à 3 sont vides et les emplacements 4 à 7 sont occupés. Les processus A et B souhaitent simultanément mettre un fichier en file d'attente pour l'impression.</a:t>
            </a:r>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20</a:t>
            </a:fld>
            <a:endParaRPr lang="fr-DZ"/>
          </a:p>
        </p:txBody>
      </p:sp>
    </p:spTree>
    <p:extLst>
      <p:ext uri="{BB962C8B-B14F-4D97-AF65-F5344CB8AC3E}">
        <p14:creationId xmlns:p14="http://schemas.microsoft.com/office/powerpoint/2010/main" val="827978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 Le processus A reprend le contrôle. Il insère son produit dans l'emplacement « in », incrémente la variable « in » et valide l'opération.</a:t>
            </a:r>
          </a:p>
          <a:p>
            <a:r>
              <a:rPr lang="fr-CA" dirty="0"/>
              <a:t>• Résultat : La variable « in » a une valeur correcte, mais la tâche d'impression du processus B est perdue…</a:t>
            </a:r>
          </a:p>
          <a:p>
            <a:r>
              <a:rPr lang="fr-CA" dirty="0"/>
              <a:t>• Dans cette situation, la valeur de la variable partagée dépend de quel processus s'exécute en premier et met à jour la valeur, ce que l'on appelle une condition de concurrence.</a:t>
            </a:r>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23</a:t>
            </a:fld>
            <a:endParaRPr lang="fr-DZ"/>
          </a:p>
        </p:txBody>
      </p:sp>
    </p:spTree>
    <p:extLst>
      <p:ext uri="{BB962C8B-B14F-4D97-AF65-F5344CB8AC3E}">
        <p14:creationId xmlns:p14="http://schemas.microsoft.com/office/powerpoint/2010/main" val="1025381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Une condition de concurrence est une situation dans laquelle plusieurs processus lisent et écrivent sur un élément de données partagé, et le résultat final dépend du moment relatif de leur exécution.</a:t>
            </a:r>
          </a:p>
          <a:p>
            <a:r>
              <a:rPr lang="fr-CA" dirty="0"/>
              <a:t>• Généralement, les conditions de concurrence peuvent survenir chaque fois que des ressources et/ou des données sont partagées (par des processus qui s'ignorent mutuellement ou qui n'ont qu'une connaissance indirecte les uns des autres).</a:t>
            </a:r>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25</a:t>
            </a:fld>
            <a:endParaRPr lang="fr-DZ"/>
          </a:p>
        </p:txBody>
      </p:sp>
    </p:spTree>
    <p:extLst>
      <p:ext uri="{BB962C8B-B14F-4D97-AF65-F5344CB8AC3E}">
        <p14:creationId xmlns:p14="http://schemas.microsoft.com/office/powerpoint/2010/main" val="350508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 Considérons un système de n processus {p₀, p₁, …, pₙ₋₁}</a:t>
            </a:r>
          </a:p>
          <a:p>
            <a:r>
              <a:rPr lang="fr-CA" b="1" dirty="0"/>
              <a:t>☐ Chaque processus possède une section critique de code.</a:t>
            </a:r>
          </a:p>
          <a:p>
            <a:r>
              <a:rPr lang="fr-CA" b="1" dirty="0"/>
              <a:t>         ☑ Un processus peut modifier des variables communes, mettre à jour un tableau, écrire dans un fichier, etc.</a:t>
            </a:r>
          </a:p>
          <a:p>
            <a:r>
              <a:rPr lang="fr-CA" b="1" dirty="0"/>
              <a:t>         ☑ Lorsqu'un processus se trouve dans sa section critique, aucun autre processus ne peut s'y trouver simultanément.</a:t>
            </a:r>
            <a:br>
              <a:rPr lang="en-US" dirty="0"/>
            </a:br>
            <a:r>
              <a:rPr lang="en-US" dirty="0"/>
              <a:t> </a:t>
            </a:r>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26</a:t>
            </a:fld>
            <a:endParaRPr lang="fr-DZ"/>
          </a:p>
        </p:txBody>
      </p:sp>
    </p:spTree>
    <p:extLst>
      <p:ext uri="{BB962C8B-B14F-4D97-AF65-F5344CB8AC3E}">
        <p14:creationId xmlns:p14="http://schemas.microsoft.com/office/powerpoint/2010/main" val="1734479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 1. Progress (Progrès)</a:t>
            </a:r>
          </a:p>
          <a:p>
            <a:r>
              <a:rPr lang="fr-CA" dirty="0"/>
              <a:t>Si aucun processus n’est dans sa section critique et que certains souhaitent y entrer, alors le choix du prochain processus </a:t>
            </a:r>
            <a:r>
              <a:rPr lang="fr-CA" b="1" dirty="0"/>
              <a:t>ne peut pas être retardé indéfiniment</a:t>
            </a:r>
            <a:r>
              <a:rPr lang="fr-CA" dirty="0"/>
              <a:t>.</a:t>
            </a:r>
          </a:p>
          <a:p>
            <a:r>
              <a:rPr lang="fr-CA" dirty="0"/>
              <a:t>➡️ </a:t>
            </a:r>
            <a:r>
              <a:rPr lang="fr-CA" b="1" dirty="0"/>
              <a:t>Interprétation :</a:t>
            </a:r>
            <a:br>
              <a:rPr lang="fr-CA" dirty="0"/>
            </a:br>
            <a:r>
              <a:rPr lang="fr-CA" dirty="0"/>
              <a:t>Le système doit permettre à un des processus en attente d’entrer dans la section critique dans un délai raisonnable (pas de blocage infini).</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36</a:t>
            </a:fld>
            <a:endParaRPr lang="fr-DZ"/>
          </a:p>
        </p:txBody>
      </p:sp>
    </p:spTree>
    <p:extLst>
      <p:ext uri="{BB962C8B-B14F-4D97-AF65-F5344CB8AC3E}">
        <p14:creationId xmlns:p14="http://schemas.microsoft.com/office/powerpoint/2010/main" val="1883382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 2. </a:t>
            </a:r>
            <a:r>
              <a:rPr lang="fr-CA" b="1" dirty="0" err="1"/>
              <a:t>Bounded</a:t>
            </a:r>
            <a:r>
              <a:rPr lang="fr-CA" b="1" dirty="0"/>
              <a:t> </a:t>
            </a:r>
            <a:r>
              <a:rPr lang="fr-CA" b="1" dirty="0" err="1"/>
              <a:t>Waiting</a:t>
            </a:r>
            <a:r>
              <a:rPr lang="fr-CA" b="1" dirty="0"/>
              <a:t> (Attente bornée)</a:t>
            </a:r>
          </a:p>
          <a:p>
            <a:r>
              <a:rPr lang="fr-CA" dirty="0"/>
              <a:t>Il existe une </a:t>
            </a:r>
            <a:r>
              <a:rPr lang="fr-CA" b="1" dirty="0"/>
              <a:t>limite</a:t>
            </a:r>
            <a:r>
              <a:rPr lang="fr-CA" dirty="0"/>
              <a:t> au nombre de fois où d’autres processus peuvent entrer dans leur section critique </a:t>
            </a:r>
            <a:r>
              <a:rPr lang="fr-CA" b="1" dirty="0"/>
              <a:t>avant qu’un processus ayant fait une demande</a:t>
            </a:r>
            <a:r>
              <a:rPr lang="fr-CA" dirty="0"/>
              <a:t> puisse entrer à son tour.</a:t>
            </a:r>
          </a:p>
          <a:p>
            <a:r>
              <a:rPr lang="fr-CA" dirty="0"/>
              <a:t>➡️ </a:t>
            </a:r>
            <a:r>
              <a:rPr lang="fr-CA" b="1" dirty="0"/>
              <a:t>Objectif :</a:t>
            </a:r>
            <a:r>
              <a:rPr lang="fr-CA" dirty="0"/>
              <a:t> éviter la </a:t>
            </a:r>
            <a:r>
              <a:rPr lang="fr-CA" b="1" dirty="0"/>
              <a:t>famine (</a:t>
            </a:r>
            <a:r>
              <a:rPr lang="fr-CA" b="1" dirty="0" err="1"/>
              <a:t>starvation</a:t>
            </a:r>
            <a:r>
              <a:rPr lang="fr-CA" b="1" dirty="0"/>
              <a:t>)</a:t>
            </a:r>
            <a:r>
              <a:rPr lang="fr-CA" dirty="0"/>
              <a:t>.</a:t>
            </a:r>
            <a:br>
              <a:rPr lang="fr-CA" dirty="0"/>
            </a:br>
            <a:r>
              <a:rPr lang="fr-CA" dirty="0"/>
              <a:t>Chaque processus finit par avoir sa chance d’exécuter sa section critique.</a:t>
            </a:r>
          </a:p>
          <a:p>
            <a:pPr>
              <a:buFont typeface="Arial" panose="020B0604020202020204" pitchFamily="34" charset="0"/>
              <a:buChar char="•"/>
            </a:pPr>
            <a:r>
              <a:rPr lang="fr-CA" dirty="0"/>
              <a:t>Chaque processus s’exécute à </a:t>
            </a:r>
            <a:r>
              <a:rPr lang="fr-CA" b="1" dirty="0"/>
              <a:t>vitesse non nulle</a:t>
            </a:r>
            <a:r>
              <a:rPr lang="fr-CA" dirty="0"/>
              <a:t>.</a:t>
            </a:r>
          </a:p>
          <a:p>
            <a:pPr>
              <a:buFont typeface="Arial" panose="020B0604020202020204" pitchFamily="34" charset="0"/>
              <a:buChar char="•"/>
            </a:pPr>
            <a:r>
              <a:rPr lang="fr-CA" dirty="0"/>
              <a:t>Aucune hypothèse sur la </a:t>
            </a:r>
            <a:r>
              <a:rPr lang="fr-CA" b="1" dirty="0"/>
              <a:t>vitesse relative</a:t>
            </a:r>
            <a:r>
              <a:rPr lang="fr-CA" dirty="0"/>
              <a:t> entre les processus.</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37</a:t>
            </a:fld>
            <a:endParaRPr lang="fr-DZ"/>
          </a:p>
        </p:txBody>
      </p:sp>
    </p:spTree>
    <p:extLst>
      <p:ext uri="{BB962C8B-B14F-4D97-AF65-F5344CB8AC3E}">
        <p14:creationId xmlns:p14="http://schemas.microsoft.com/office/powerpoint/2010/main" val="3321197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3. Types de solutions à la section critique</a:t>
            </a:r>
          </a:p>
          <a:p>
            <a:r>
              <a:rPr lang="fr-CA" dirty="0"/>
              <a:t>Deux types existent :</a:t>
            </a:r>
          </a:p>
          <a:p>
            <a:pPr>
              <a:buFont typeface="+mj-lt"/>
              <a:buAutoNum type="arabicPeriod"/>
            </a:pPr>
            <a:r>
              <a:rPr lang="fr-CA" b="1" dirty="0"/>
              <a:t>Software Solution (Solution logicielle)</a:t>
            </a:r>
            <a:br>
              <a:rPr lang="fr-CA" dirty="0"/>
            </a:br>
            <a:r>
              <a:rPr lang="fr-CA" dirty="0"/>
              <a:t>→ Code exécuté avant d’entrer dans la section critique pour éviter les conflits (ex : algorithme de Peterson).</a:t>
            </a:r>
          </a:p>
          <a:p>
            <a:pPr>
              <a:buFont typeface="+mj-lt"/>
              <a:buAutoNum type="arabicPeriod"/>
            </a:pPr>
            <a:r>
              <a:rPr lang="fr-CA" b="1" dirty="0"/>
              <a:t>Hardware Solution (Solution matérielle)</a:t>
            </a:r>
            <a:br>
              <a:rPr lang="fr-CA" dirty="0"/>
            </a:br>
            <a:r>
              <a:rPr lang="fr-CA" dirty="0"/>
              <a:t>→ Utilisation de composants matériels (comme une instruction matérielle atomique) pour contrôler l’accès.</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39</a:t>
            </a:fld>
            <a:endParaRPr lang="fr-DZ"/>
          </a:p>
        </p:txBody>
      </p:sp>
    </p:spTree>
    <p:extLst>
      <p:ext uri="{BB962C8B-B14F-4D97-AF65-F5344CB8AC3E}">
        <p14:creationId xmlns:p14="http://schemas.microsoft.com/office/powerpoint/2010/main" val="2245047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Principe de fonctionnement</a:t>
            </a:r>
          </a:p>
          <a:p>
            <a:r>
              <a:rPr lang="fr-CA" dirty="0"/>
              <a:t>Lorsqu’un processus (ex. A) entre dans la région critique, un </a:t>
            </a:r>
            <a:r>
              <a:rPr lang="fr-CA" b="1" dirty="0"/>
              <a:t>drapeau (flag)</a:t>
            </a:r>
            <a:r>
              <a:rPr lang="fr-CA" dirty="0"/>
              <a:t> est activé pour signaler que </a:t>
            </a:r>
            <a:r>
              <a:rPr lang="fr-CA" b="1" dirty="0"/>
              <a:t>personne d’autre ne peut y entrer</a:t>
            </a:r>
            <a:r>
              <a:rPr lang="fr-CA" dirty="0"/>
              <a:t> jusqu’à sa sortie.</a:t>
            </a:r>
          </a:p>
          <a:p>
            <a:r>
              <a:rPr lang="fr-CA" dirty="0"/>
              <a:t>➡️ Le drapeau sert à </a:t>
            </a:r>
            <a:r>
              <a:rPr lang="fr-CA" b="1" dirty="0"/>
              <a:t>assurer l’exclusion mutuelle</a:t>
            </a:r>
            <a:r>
              <a:rPr lang="fr-CA" dirty="0"/>
              <a:t>.</a:t>
            </a:r>
            <a:br>
              <a:rPr lang="fr-CA" dirty="0"/>
            </a:br>
            <a:r>
              <a:rPr lang="fr-CA" dirty="0"/>
              <a:t>Exemple :</a:t>
            </a:r>
          </a:p>
          <a:p>
            <a:pPr>
              <a:buFont typeface="Arial" panose="020B0604020202020204" pitchFamily="34" charset="0"/>
              <a:buChar char="•"/>
            </a:pPr>
            <a:r>
              <a:rPr lang="fr-CA" dirty="0"/>
              <a:t>Processus A (bleu) entre → drapeau activé.</a:t>
            </a:r>
          </a:p>
          <a:p>
            <a:pPr>
              <a:buFont typeface="Arial" panose="020B0604020202020204" pitchFamily="34" charset="0"/>
              <a:buChar char="•"/>
            </a:pPr>
            <a:r>
              <a:rPr lang="fr-CA" dirty="0"/>
              <a:t>Processus B (rouge) attend tant que le drapeau est actif.</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40</a:t>
            </a:fld>
            <a:endParaRPr lang="fr-DZ"/>
          </a:p>
        </p:txBody>
      </p:sp>
    </p:spTree>
    <p:extLst>
      <p:ext uri="{BB962C8B-B14F-4D97-AF65-F5344CB8AC3E}">
        <p14:creationId xmlns:p14="http://schemas.microsoft.com/office/powerpoint/2010/main" val="1345546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CA" dirty="0">
                <a:solidFill>
                  <a:srgbClr val="3C4043"/>
                </a:solidFill>
                <a:effectLst/>
              </a:rPr>
              <a:t>Avantages : Simplicité : Exclusion mutuelle garantie, Aucun verrouillage matériel nécessaire, Bonnes performances </a:t>
            </a:r>
          </a:p>
          <a:p>
            <a:pPr rtl="0"/>
            <a:r>
              <a:rPr lang="fr-CA" dirty="0">
                <a:solidFill>
                  <a:srgbClr val="3C4043"/>
                </a:solidFill>
                <a:effectLst/>
              </a:rPr>
              <a:t>Inconvénients : Limité à deux processus, Problèmes sur les architectures modernes, Non optimal pour les systèmes à grande échelle</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58</a:t>
            </a:fld>
            <a:endParaRPr lang="fr-DZ"/>
          </a:p>
        </p:txBody>
      </p:sp>
    </p:spTree>
    <p:extLst>
      <p:ext uri="{BB962C8B-B14F-4D97-AF65-F5344CB8AC3E}">
        <p14:creationId xmlns:p14="http://schemas.microsoft.com/office/powerpoint/2010/main" val="3404243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Pour contrôler l'accès à un objet partagé, E.W. Dijkstra (1965) a proposé l'utilisation d'un nouveau type de variable appelé </a:t>
            </a:r>
            <a:r>
              <a:rPr lang="fr-CA" dirty="0" err="1"/>
              <a:t>sémaphore.Un</a:t>
            </a:r>
            <a:r>
              <a:rPr lang="fr-CA" dirty="0"/>
              <a:t> sémaphore est un compteur entier qui indique le nombre d'autorisations d'accès à un objet, une section critique, etc.</a:t>
            </a:r>
          </a:p>
          <a:p>
            <a:r>
              <a:rPr lang="fr-CA" dirty="0"/>
              <a:t>Chaque sémaphore possède au moins un nom, une valeur initiale et une file d'attente.</a:t>
            </a:r>
          </a:p>
          <a:p>
            <a:r>
              <a:rPr lang="fr-CA" dirty="0"/>
              <a:t>Les sémaphores sont manipulés par des opérations qui sont des généralisations des fonctions d'attente et de réveil :</a:t>
            </a:r>
          </a:p>
          <a:p>
            <a:r>
              <a:rPr lang="fr-CA" dirty="0"/>
              <a:t>P() (« </a:t>
            </a:r>
            <a:r>
              <a:rPr lang="fr-CA" dirty="0" err="1"/>
              <a:t>Proberen</a:t>
            </a:r>
            <a:r>
              <a:rPr lang="fr-CA" dirty="0"/>
              <a:t> » (tester)), également appelée down ou </a:t>
            </a:r>
            <a:r>
              <a:rPr lang="fr-CA" dirty="0" err="1"/>
              <a:t>wait</a:t>
            </a:r>
            <a:r>
              <a:rPr lang="fr-CA" dirty="0"/>
              <a:t>.</a:t>
            </a:r>
          </a:p>
          <a:p>
            <a:r>
              <a:rPr lang="fr-CA" dirty="0"/>
              <a:t>V() (« </a:t>
            </a:r>
            <a:r>
              <a:rPr lang="fr-CA" dirty="0" err="1"/>
              <a:t>Verhogen</a:t>
            </a:r>
            <a:r>
              <a:rPr lang="fr-CA" dirty="0"/>
              <a:t> » (incrémenter)), également appelée up ou signal.</a:t>
            </a:r>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59</a:t>
            </a:fld>
            <a:endParaRPr lang="fr-DZ"/>
          </a:p>
        </p:txBody>
      </p:sp>
    </p:spTree>
    <p:extLst>
      <p:ext uri="{BB962C8B-B14F-4D97-AF65-F5344CB8AC3E}">
        <p14:creationId xmlns:p14="http://schemas.microsoft.com/office/powerpoint/2010/main" val="3875076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Pour résoudre le problème de l'attente active dans les sémaphores, on peut modifier la définition des opérations d'attente et de signalisation.</a:t>
            </a:r>
          </a:p>
          <a:p>
            <a:r>
              <a:rPr lang="fr-CA" dirty="0"/>
              <a:t>Lorsqu'un processus exécute l'opération d'attente et constate que la valeur du sémaphore n'est pas positive, il doit attendre. </a:t>
            </a:r>
          </a:p>
          <a:p>
            <a:r>
              <a:rPr lang="fr-CA" dirty="0"/>
              <a:t>Cependant, au lieu de rester en attente active, le processus peut se bloquer dans la file d'attente associée à chaque </a:t>
            </a:r>
            <a:r>
              <a:rPr lang="fr-CA" dirty="0" err="1"/>
              <a:t>sémaphore.Dans</a:t>
            </a:r>
            <a:r>
              <a:rPr lang="fr-CA" dirty="0"/>
              <a:t> ce cas, l'état du processus est « en attente dans la file d'attente du sémaphore ».</a:t>
            </a:r>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61</a:t>
            </a:fld>
            <a:endParaRPr lang="fr-DZ"/>
          </a:p>
        </p:txBody>
      </p:sp>
    </p:spTree>
    <p:extLst>
      <p:ext uri="{BB962C8B-B14F-4D97-AF65-F5344CB8AC3E}">
        <p14:creationId xmlns:p14="http://schemas.microsoft.com/office/powerpoint/2010/main" val="2517988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La valeur d’un </a:t>
            </a:r>
            <a:r>
              <a:rPr lang="fr-CA" b="1" dirty="0"/>
              <a:t>sémaphore binaire</a:t>
            </a:r>
            <a:r>
              <a:rPr lang="fr-CA" dirty="0"/>
              <a:t> est limitée à </a:t>
            </a:r>
            <a:r>
              <a:rPr lang="fr-CA" b="1" dirty="0"/>
              <a:t>0 et 1</a:t>
            </a:r>
            <a:r>
              <a:rPr lang="fr-CA" dirty="0"/>
              <a:t>.</a:t>
            </a:r>
          </a:p>
          <a:p>
            <a:r>
              <a:rPr lang="fr-CA" dirty="0"/>
              <a:t>L’opération </a:t>
            </a:r>
            <a:r>
              <a:rPr lang="fr-CA" b="1" dirty="0" err="1"/>
              <a:t>wait</a:t>
            </a:r>
            <a:r>
              <a:rPr lang="fr-CA" b="1" dirty="0"/>
              <a:t> (attente)</a:t>
            </a:r>
            <a:r>
              <a:rPr lang="fr-CA" dirty="0"/>
              <a:t> ne fonctionne que lorsque le sémaphore vaut </a:t>
            </a:r>
            <a:r>
              <a:rPr lang="fr-CA" b="1" dirty="0"/>
              <a:t>1</a:t>
            </a:r>
            <a:r>
              <a:rPr lang="fr-CA" dirty="0"/>
              <a:t>, et l’opération </a:t>
            </a:r>
            <a:r>
              <a:rPr lang="fr-CA" b="1" dirty="0"/>
              <a:t>signal (libération)</a:t>
            </a:r>
            <a:r>
              <a:rPr lang="fr-CA" dirty="0"/>
              <a:t> réussit lorsque le sémaphore vaut </a:t>
            </a:r>
            <a:r>
              <a:rPr lang="fr-CA" b="1" dirty="0"/>
              <a:t>0</a:t>
            </a:r>
            <a:r>
              <a:rPr lang="fr-CA" dirty="0"/>
              <a:t>.</a:t>
            </a:r>
          </a:p>
          <a:p>
            <a:r>
              <a:rPr lang="fr-CA" dirty="0"/>
              <a:t>Il est parfois plus facile d’implémenter des </a:t>
            </a:r>
            <a:r>
              <a:rPr lang="fr-CA" b="1" dirty="0"/>
              <a:t>sémaphores binaires</a:t>
            </a:r>
            <a:r>
              <a:rPr lang="fr-CA" dirty="0"/>
              <a:t> que des </a:t>
            </a:r>
            <a:r>
              <a:rPr lang="fr-CA" b="1" dirty="0"/>
              <a:t>sémaphores comptants</a:t>
            </a:r>
            <a:r>
              <a:rPr lang="fr-CA" dirty="0"/>
              <a:t>.</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69</a:t>
            </a:fld>
            <a:endParaRPr lang="fr-DZ"/>
          </a:p>
        </p:txBody>
      </p:sp>
    </p:spTree>
    <p:extLst>
      <p:ext uri="{BB962C8B-B14F-4D97-AF65-F5344CB8AC3E}">
        <p14:creationId xmlns:p14="http://schemas.microsoft.com/office/powerpoint/2010/main" val="4021515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Avantages des sémaphores binaires :</a:t>
            </a:r>
          </a:p>
          <a:p>
            <a:pPr>
              <a:buFont typeface="+mj-lt"/>
              <a:buAutoNum type="arabicPeriod"/>
            </a:pPr>
            <a:r>
              <a:rPr lang="fr-CA" b="1" dirty="0"/>
              <a:t>Simplicité</a:t>
            </a:r>
            <a:r>
              <a:rPr lang="fr-CA" dirty="0"/>
              <a:t> :</a:t>
            </a:r>
          </a:p>
          <a:p>
            <a:pPr marL="742950" lvl="1" indent="-285750">
              <a:buFont typeface="+mj-lt"/>
              <a:buAutoNum type="arabicPeriod"/>
            </a:pPr>
            <a:r>
              <a:rPr lang="fr-CA" dirty="0"/>
              <a:t>Faciles à comprendre et à implémenter.</a:t>
            </a:r>
          </a:p>
          <a:p>
            <a:pPr marL="742950" lvl="1" indent="-285750">
              <a:buFont typeface="+mj-lt"/>
              <a:buAutoNum type="arabicPeriod"/>
            </a:pPr>
            <a:r>
              <a:rPr lang="fr-CA" dirty="0"/>
              <a:t>Ne gèrent que deux états : </a:t>
            </a:r>
            <a:r>
              <a:rPr lang="fr-CA" b="1" dirty="0"/>
              <a:t>0 (occupé)</a:t>
            </a:r>
            <a:r>
              <a:rPr lang="fr-CA" dirty="0"/>
              <a:t> ou </a:t>
            </a:r>
            <a:r>
              <a:rPr lang="fr-CA" b="1" dirty="0"/>
              <a:t>1 (libre)</a:t>
            </a:r>
            <a:r>
              <a:rPr lang="fr-CA" dirty="0"/>
              <a:t>.</a:t>
            </a:r>
          </a:p>
          <a:p>
            <a:pPr>
              <a:buFont typeface="+mj-lt"/>
              <a:buAutoNum type="arabicPeriod"/>
            </a:pPr>
            <a:r>
              <a:rPr lang="fr-CA" b="1" dirty="0"/>
              <a:t>Exclusion mutuelle efficace</a:t>
            </a:r>
            <a:r>
              <a:rPr lang="fr-CA" dirty="0"/>
              <a:t> :</a:t>
            </a:r>
          </a:p>
          <a:p>
            <a:pPr marL="742950" lvl="1" indent="-285750">
              <a:buFont typeface="+mj-lt"/>
              <a:buAutoNum type="arabicPeriod"/>
            </a:pPr>
            <a:r>
              <a:rPr lang="fr-CA" dirty="0"/>
              <a:t>Idéal pour protéger une </a:t>
            </a:r>
            <a:r>
              <a:rPr lang="fr-CA" b="1" dirty="0"/>
              <a:t>ressource partagée</a:t>
            </a:r>
            <a:r>
              <a:rPr lang="fr-CA" dirty="0"/>
              <a:t> contre l’accès concurrent.</a:t>
            </a:r>
          </a:p>
          <a:p>
            <a:pPr marL="742950" lvl="1" indent="-285750">
              <a:buFont typeface="+mj-lt"/>
              <a:buAutoNum type="arabicPeriod"/>
            </a:pPr>
            <a:r>
              <a:rPr lang="fr-CA" dirty="0"/>
              <a:t>Garantit qu’une seule tâche accède à la ressource à la fois.</a:t>
            </a:r>
          </a:p>
          <a:p>
            <a:pPr>
              <a:buFont typeface="+mj-lt"/>
              <a:buAutoNum type="arabicPeriod"/>
            </a:pPr>
            <a:r>
              <a:rPr lang="fr-CA" b="1" dirty="0"/>
              <a:t>Synchronisation entre tâches</a:t>
            </a:r>
            <a:r>
              <a:rPr lang="fr-CA" dirty="0"/>
              <a:t> :</a:t>
            </a:r>
          </a:p>
          <a:p>
            <a:pPr marL="742950" lvl="1" indent="-285750">
              <a:buFont typeface="+mj-lt"/>
              <a:buAutoNum type="arabicPeriod"/>
            </a:pPr>
            <a:r>
              <a:rPr lang="fr-CA" dirty="0"/>
              <a:t>Permet de </a:t>
            </a:r>
            <a:r>
              <a:rPr lang="fr-CA" b="1" dirty="0"/>
              <a:t>synchroniser l’exécution</a:t>
            </a:r>
            <a:r>
              <a:rPr lang="fr-CA" dirty="0"/>
              <a:t> de tâches (ex. une tâche attend qu’une autre signale qu’elle peut continuer).</a:t>
            </a:r>
          </a:p>
          <a:p>
            <a:pPr>
              <a:buFont typeface="+mj-lt"/>
              <a:buAutoNum type="arabicPeriod"/>
            </a:pPr>
            <a:r>
              <a:rPr lang="fr-CA" b="1" dirty="0"/>
              <a:t>Faible surcharge mémoire</a:t>
            </a:r>
            <a:r>
              <a:rPr lang="fr-CA" dirty="0"/>
              <a:t> :</a:t>
            </a:r>
          </a:p>
          <a:p>
            <a:pPr marL="742950" lvl="1" indent="-285750">
              <a:buFont typeface="+mj-lt"/>
              <a:buAutoNum type="arabicPeriod"/>
            </a:pPr>
            <a:r>
              <a:rPr lang="fr-CA" dirty="0"/>
              <a:t>N’utilise qu’un petit espace mémoire (un bit ou un entier).</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70</a:t>
            </a:fld>
            <a:endParaRPr lang="fr-DZ"/>
          </a:p>
        </p:txBody>
      </p:sp>
    </p:spTree>
    <p:extLst>
      <p:ext uri="{BB962C8B-B14F-4D97-AF65-F5344CB8AC3E}">
        <p14:creationId xmlns:p14="http://schemas.microsoft.com/office/powerpoint/2010/main" val="1948484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Inconvénients des sémaphores binaires :</a:t>
            </a:r>
          </a:p>
          <a:p>
            <a:pPr>
              <a:buFont typeface="+mj-lt"/>
              <a:buAutoNum type="arabicPeriod"/>
            </a:pPr>
            <a:r>
              <a:rPr lang="fr-CA" b="1" dirty="0"/>
              <a:t>Pas de comptage multiple</a:t>
            </a:r>
            <a:r>
              <a:rPr lang="fr-CA" dirty="0"/>
              <a:t> :</a:t>
            </a:r>
          </a:p>
          <a:p>
            <a:pPr marL="742950" lvl="1" indent="-285750">
              <a:buFont typeface="+mj-lt"/>
              <a:buAutoNum type="arabicPeriod"/>
            </a:pPr>
            <a:r>
              <a:rPr lang="fr-CA" dirty="0"/>
              <a:t>Contrairement aux sémaphores comptables, ils ne peuvent gérer qu’une seule unité de ressource.</a:t>
            </a:r>
          </a:p>
          <a:p>
            <a:pPr>
              <a:buFont typeface="+mj-lt"/>
              <a:buAutoNum type="arabicPeriod"/>
            </a:pPr>
            <a:r>
              <a:rPr lang="fr-CA" b="1" dirty="0"/>
              <a:t>Risque de famine ou inversion de priorité</a:t>
            </a:r>
            <a:r>
              <a:rPr lang="fr-CA" dirty="0"/>
              <a:t> :</a:t>
            </a:r>
          </a:p>
          <a:p>
            <a:pPr marL="742950" lvl="1" indent="-285750">
              <a:buFont typeface="+mj-lt"/>
              <a:buAutoNum type="arabicPeriod"/>
            </a:pPr>
            <a:r>
              <a:rPr lang="fr-CA" dirty="0"/>
              <a:t>Une tâche de faible priorité peut bloquer une tâche de haute priorité si elle détient le sémaphore.</a:t>
            </a:r>
          </a:p>
          <a:p>
            <a:pPr marL="742950" lvl="1" indent="-285750">
              <a:buFont typeface="+mj-lt"/>
              <a:buAutoNum type="arabicPeriod"/>
            </a:pPr>
            <a:r>
              <a:rPr lang="fr-CA" dirty="0"/>
              <a:t>Nécessite des mécanismes supplémentaires pour la </a:t>
            </a:r>
            <a:r>
              <a:rPr lang="fr-CA" b="1" dirty="0"/>
              <a:t>priorité inversée</a:t>
            </a:r>
            <a:r>
              <a:rPr lang="fr-CA" dirty="0"/>
              <a:t>.</a:t>
            </a:r>
          </a:p>
          <a:p>
            <a:pPr>
              <a:buFont typeface="+mj-lt"/>
              <a:buAutoNum type="arabicPeriod"/>
            </a:pPr>
            <a:r>
              <a:rPr lang="fr-CA" b="1" dirty="0"/>
              <a:t>Deadlock possible</a:t>
            </a:r>
            <a:r>
              <a:rPr lang="fr-CA" dirty="0"/>
              <a:t> :</a:t>
            </a:r>
          </a:p>
          <a:p>
            <a:pPr marL="742950" lvl="1" indent="-285750">
              <a:buFont typeface="+mj-lt"/>
              <a:buAutoNum type="arabicPeriod"/>
            </a:pPr>
            <a:r>
              <a:rPr lang="fr-CA" dirty="0"/>
              <a:t>Si les sémaphores sont mal utilisés (ex. une tâche ne libère jamais le sémaphore), </a:t>
            </a:r>
            <a:r>
              <a:rPr lang="fr-CA" b="1" dirty="0"/>
              <a:t>blocage complet du système</a:t>
            </a:r>
            <a:r>
              <a:rPr lang="fr-CA" dirty="0"/>
              <a:t> possible.</a:t>
            </a:r>
          </a:p>
          <a:p>
            <a:pPr>
              <a:buFont typeface="+mj-lt"/>
              <a:buAutoNum type="arabicPeriod"/>
            </a:pPr>
            <a:r>
              <a:rPr lang="fr-CA" b="1" dirty="0"/>
              <a:t>Pas d’information sur le nombre de ressources disponibles</a:t>
            </a:r>
            <a:r>
              <a:rPr lang="fr-CA" dirty="0"/>
              <a:t> :</a:t>
            </a:r>
          </a:p>
          <a:p>
            <a:pPr marL="742950" lvl="1" indent="-285750">
              <a:buFont typeface="+mj-lt"/>
              <a:buAutoNum type="arabicPeriod"/>
            </a:pPr>
            <a:r>
              <a:rPr lang="fr-CA" dirty="0"/>
              <a:t>Ne permet pas de savoir combien de tâches peuvent encore accéder à la ressource.</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71</a:t>
            </a:fld>
            <a:endParaRPr lang="fr-DZ"/>
          </a:p>
        </p:txBody>
      </p:sp>
    </p:spTree>
    <p:extLst>
      <p:ext uri="{BB962C8B-B14F-4D97-AF65-F5344CB8AC3E}">
        <p14:creationId xmlns:p14="http://schemas.microsoft.com/office/powerpoint/2010/main" val="2588293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Un </a:t>
            </a:r>
            <a:r>
              <a:rPr lang="fr-CA" b="1" dirty="0"/>
              <a:t>sémaphore S</a:t>
            </a:r>
            <a:r>
              <a:rPr lang="fr-CA" dirty="0"/>
              <a:t> est une variable entière dont la valeur est </a:t>
            </a:r>
            <a:r>
              <a:rPr lang="fr-CA" b="1" dirty="0"/>
              <a:t>supérieure à 1</a:t>
            </a:r>
            <a:r>
              <a:rPr lang="fr-CA" dirty="0"/>
              <a:t>.</a:t>
            </a:r>
          </a:p>
          <a:p>
            <a:r>
              <a:rPr lang="fr-CA" dirty="0"/>
              <a:t>Sa valeur représente le </a:t>
            </a:r>
            <a:r>
              <a:rPr lang="fr-CA" b="1" dirty="0"/>
              <a:t>nombre de ressources disponibles</a:t>
            </a:r>
            <a:r>
              <a:rPr lang="fr-CA" dirty="0"/>
              <a:t> qu’on veut gérer (par exemple des connexions, des imprimantes, etc.).</a:t>
            </a:r>
          </a:p>
          <a:p>
            <a:r>
              <a:rPr lang="fr-CA" dirty="0"/>
              <a:t>Le </a:t>
            </a:r>
            <a:r>
              <a:rPr lang="fr-CA" b="1" dirty="0"/>
              <a:t>compteur du sémaphore</a:t>
            </a:r>
            <a:r>
              <a:rPr lang="fr-CA" dirty="0"/>
              <a:t> indique combien de processus peuvent accéder à la ressource simultanément.</a:t>
            </a:r>
          </a:p>
          <a:p>
            <a:endParaRPr lang="fr-CA" dirty="0"/>
          </a:p>
          <a:p>
            <a:r>
              <a:rPr lang="fr-CA" b="1" dirty="0"/>
              <a:t>🔹 Fonctionnement</a:t>
            </a:r>
          </a:p>
          <a:p>
            <a:pPr>
              <a:buFont typeface="Arial" panose="020B0604020202020204" pitchFamily="34" charset="0"/>
              <a:buChar char="•"/>
            </a:pPr>
            <a:r>
              <a:rPr lang="fr-CA" dirty="0"/>
              <a:t>Si des </a:t>
            </a:r>
            <a:r>
              <a:rPr lang="fr-CA" b="1" dirty="0"/>
              <a:t>ressources sont ajoutées</a:t>
            </a:r>
            <a:r>
              <a:rPr lang="fr-CA" dirty="0"/>
              <a:t>, le </a:t>
            </a:r>
            <a:r>
              <a:rPr lang="fr-CA" b="1" dirty="0"/>
              <a:t>compteur est incrémenté</a:t>
            </a:r>
            <a:r>
              <a:rPr lang="fr-CA" dirty="0"/>
              <a:t> (augmente automatiquement).</a:t>
            </a:r>
          </a:p>
          <a:p>
            <a:pPr>
              <a:buFont typeface="Arial" panose="020B0604020202020204" pitchFamily="34" charset="0"/>
              <a:buChar char="•"/>
            </a:pPr>
            <a:r>
              <a:rPr lang="fr-CA" dirty="0"/>
              <a:t>Si des </a:t>
            </a:r>
            <a:r>
              <a:rPr lang="fr-CA" b="1" dirty="0"/>
              <a:t>ressources sont utilisées ou supprimées</a:t>
            </a:r>
            <a:r>
              <a:rPr lang="fr-CA" dirty="0"/>
              <a:t>, le </a:t>
            </a:r>
            <a:r>
              <a:rPr lang="fr-CA" b="1" dirty="0"/>
              <a:t>compteur est décrémenté</a:t>
            </a:r>
            <a:r>
              <a:rPr lang="fr-CA" dirty="0"/>
              <a:t> (diminue).</a:t>
            </a:r>
          </a:p>
          <a:p>
            <a:pPr>
              <a:buFont typeface="Arial" panose="020B0604020202020204" pitchFamily="34" charset="0"/>
              <a:buChar char="•"/>
            </a:pPr>
            <a:r>
              <a:rPr lang="fr-CA" dirty="0"/>
              <a:t>Le </a:t>
            </a:r>
            <a:r>
              <a:rPr lang="fr-CA" b="1" dirty="0"/>
              <a:t>nombre de processus autorisés</a:t>
            </a:r>
            <a:r>
              <a:rPr lang="fr-CA" dirty="0"/>
              <a:t> dans la section critique dépend du </a:t>
            </a:r>
            <a:r>
              <a:rPr lang="fr-CA" b="1" dirty="0"/>
              <a:t>compteur</a:t>
            </a:r>
            <a:r>
              <a:rPr lang="fr-CA" dirty="0"/>
              <a:t> du sémaphore.</a:t>
            </a:r>
          </a:p>
          <a:p>
            <a:pPr>
              <a:buFont typeface="Arial" panose="020B0604020202020204" pitchFamily="34" charset="0"/>
              <a:buChar char="•"/>
            </a:pPr>
            <a:r>
              <a:rPr lang="fr-CA" dirty="0"/>
              <a:t>Les opérations </a:t>
            </a:r>
            <a:r>
              <a:rPr lang="fr-CA" b="1" dirty="0" err="1"/>
              <a:t>wait</a:t>
            </a:r>
            <a:r>
              <a:rPr lang="fr-CA" b="1" dirty="0"/>
              <a:t>()</a:t>
            </a:r>
            <a:r>
              <a:rPr lang="fr-CA" dirty="0"/>
              <a:t> (ou </a:t>
            </a:r>
            <a:r>
              <a:rPr lang="fr-CA" b="1" dirty="0"/>
              <a:t>P()</a:t>
            </a:r>
            <a:r>
              <a:rPr lang="fr-CA" dirty="0"/>
              <a:t>) et </a:t>
            </a:r>
            <a:r>
              <a:rPr lang="fr-CA" b="1" dirty="0"/>
              <a:t>signal()</a:t>
            </a:r>
            <a:r>
              <a:rPr lang="fr-CA" dirty="0"/>
              <a:t> (ou </a:t>
            </a:r>
            <a:r>
              <a:rPr lang="fr-CA" b="1" dirty="0"/>
              <a:t>V()</a:t>
            </a:r>
            <a:r>
              <a:rPr lang="fr-CA" dirty="0"/>
              <a:t>) restent </a:t>
            </a:r>
            <a:r>
              <a:rPr lang="fr-CA" b="1" dirty="0"/>
              <a:t>atomiques</a:t>
            </a:r>
            <a:r>
              <a:rPr lang="fr-CA" dirty="0"/>
              <a:t>, c’est-à-dire </a:t>
            </a:r>
            <a:r>
              <a:rPr lang="fr-CA" b="1" dirty="0"/>
              <a:t>non interrompues</a:t>
            </a:r>
            <a:r>
              <a:rPr lang="fr-CA" dirty="0"/>
              <a:t>.</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72</a:t>
            </a:fld>
            <a:endParaRPr lang="fr-DZ"/>
          </a:p>
        </p:txBody>
      </p:sp>
    </p:spTree>
    <p:extLst>
      <p:ext uri="{BB962C8B-B14F-4D97-AF65-F5344CB8AC3E}">
        <p14:creationId xmlns:p14="http://schemas.microsoft.com/office/powerpoint/2010/main" val="2589316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b="1" dirty="0"/>
              <a:t>Avantages des </a:t>
            </a:r>
            <a:r>
              <a:rPr lang="fr-CA" b="1"/>
              <a:t>sémaphores comptables </a:t>
            </a:r>
            <a:r>
              <a:rPr lang="fr-CA" b="1" dirty="0"/>
              <a:t>:</a:t>
            </a:r>
          </a:p>
          <a:p>
            <a:pPr>
              <a:buFont typeface="+mj-lt"/>
              <a:buAutoNum type="arabicPeriod"/>
            </a:pPr>
            <a:r>
              <a:rPr lang="fr-CA" b="1" dirty="0"/>
              <a:t>Gestion de plusieurs ressources :</a:t>
            </a:r>
            <a:endParaRPr lang="fr-CA" dirty="0"/>
          </a:p>
          <a:p>
            <a:pPr marL="742950" lvl="1" indent="-285750">
              <a:buFont typeface="+mj-lt"/>
              <a:buAutoNum type="arabicPeriod"/>
            </a:pPr>
            <a:r>
              <a:rPr lang="fr-CA" dirty="0"/>
              <a:t>Permettent de suivre </a:t>
            </a:r>
            <a:r>
              <a:rPr lang="fr-CA" b="1" dirty="0"/>
              <a:t>plusieurs unités</a:t>
            </a:r>
            <a:r>
              <a:rPr lang="fr-CA" dirty="0"/>
              <a:t> d’une ressource, pas seulement une.</a:t>
            </a:r>
          </a:p>
          <a:p>
            <a:pPr marL="742950" lvl="1" indent="-285750">
              <a:buFont typeface="+mj-lt"/>
              <a:buAutoNum type="arabicPeriod"/>
            </a:pPr>
            <a:r>
              <a:rPr lang="fr-CA" dirty="0"/>
              <a:t>Utile lorsque plusieurs instances de la ressource sont disponibles.</a:t>
            </a:r>
          </a:p>
          <a:p>
            <a:pPr>
              <a:buFont typeface="+mj-lt"/>
              <a:buAutoNum type="arabicPeriod"/>
            </a:pPr>
            <a:r>
              <a:rPr lang="fr-CA" b="1" dirty="0"/>
              <a:t>Synchronisation flexible :</a:t>
            </a:r>
            <a:endParaRPr lang="fr-CA" dirty="0"/>
          </a:p>
          <a:p>
            <a:pPr marL="742950" lvl="1" indent="-285750">
              <a:buFont typeface="+mj-lt"/>
              <a:buAutoNum type="arabicPeriod"/>
            </a:pPr>
            <a:r>
              <a:rPr lang="fr-CA" dirty="0"/>
              <a:t>Permettent de </a:t>
            </a:r>
            <a:r>
              <a:rPr lang="fr-CA" b="1" dirty="0"/>
              <a:t>synchroniser plusieurs tâches</a:t>
            </a:r>
            <a:r>
              <a:rPr lang="fr-CA" dirty="0"/>
              <a:t> efficacement.</a:t>
            </a:r>
          </a:p>
          <a:p>
            <a:pPr marL="742950" lvl="1" indent="-285750">
              <a:buFont typeface="+mj-lt"/>
              <a:buAutoNum type="arabicPeriod"/>
            </a:pPr>
            <a:r>
              <a:rPr lang="fr-CA" dirty="0"/>
              <a:t>Plusieurs tâches peuvent s’exécuter simultanément, jusqu’au nombre de ressources disponibles.</a:t>
            </a:r>
          </a:p>
          <a:p>
            <a:pPr>
              <a:buFont typeface="+mj-lt"/>
              <a:buAutoNum type="arabicPeriod"/>
            </a:pPr>
            <a:r>
              <a:rPr lang="fr-CA" b="1" dirty="0"/>
              <a:t>Évite l’attente active (</a:t>
            </a:r>
            <a:r>
              <a:rPr lang="fr-CA" b="1" dirty="0" err="1"/>
              <a:t>busy</a:t>
            </a:r>
            <a:r>
              <a:rPr lang="fr-CA" b="1" dirty="0"/>
              <a:t> </a:t>
            </a:r>
            <a:r>
              <a:rPr lang="fr-CA" b="1" dirty="0" err="1"/>
              <a:t>waiting</a:t>
            </a:r>
            <a:r>
              <a:rPr lang="fr-CA" b="1" dirty="0"/>
              <a:t>) :</a:t>
            </a:r>
            <a:endParaRPr lang="fr-CA" dirty="0"/>
          </a:p>
          <a:p>
            <a:pPr marL="742950" lvl="1" indent="-285750">
              <a:buFont typeface="+mj-lt"/>
              <a:buAutoNum type="arabicPeriod"/>
            </a:pPr>
            <a:r>
              <a:rPr lang="fr-CA" dirty="0"/>
              <a:t>Les tâches en attente sont </a:t>
            </a:r>
            <a:r>
              <a:rPr lang="fr-CA" b="1" dirty="0"/>
              <a:t>bloquées</a:t>
            </a:r>
            <a:r>
              <a:rPr lang="fr-CA" dirty="0"/>
              <a:t> au lieu de tourner en boucle, ce qui économise le CPU.</a:t>
            </a:r>
          </a:p>
          <a:p>
            <a:pPr>
              <a:buFont typeface="+mj-lt"/>
              <a:buAutoNum type="arabicPeriod"/>
            </a:pPr>
            <a:r>
              <a:rPr lang="fr-CA" b="1" dirty="0"/>
              <a:t>Gestion dynamique des ressources :</a:t>
            </a:r>
            <a:endParaRPr lang="fr-CA" dirty="0"/>
          </a:p>
          <a:p>
            <a:pPr marL="742950" lvl="1" indent="-285750">
              <a:buFont typeface="+mj-lt"/>
              <a:buAutoNum type="arabicPeriod"/>
            </a:pPr>
            <a:r>
              <a:rPr lang="fr-CA" dirty="0"/>
              <a:t>Le compteur peut augmenter ou diminuer pour refléter la disponibilité des ressources.</a:t>
            </a:r>
          </a:p>
          <a:p>
            <a:endParaRPr lang="fr-DZ" dirty="0"/>
          </a:p>
        </p:txBody>
      </p:sp>
      <p:sp>
        <p:nvSpPr>
          <p:cNvPr id="4" name="Slide Number Placeholder 3"/>
          <p:cNvSpPr>
            <a:spLocks noGrp="1"/>
          </p:cNvSpPr>
          <p:nvPr>
            <p:ph type="sldNum" sz="quarter" idx="5"/>
          </p:nvPr>
        </p:nvSpPr>
        <p:spPr/>
        <p:txBody>
          <a:bodyPr/>
          <a:lstStyle/>
          <a:p>
            <a:fld id="{C3ED006C-05C9-4F5D-B300-764945D45E87}" type="slidenum">
              <a:rPr lang="fr-DZ" smtClean="0"/>
              <a:t>73</a:t>
            </a:fld>
            <a:endParaRPr lang="fr-DZ"/>
          </a:p>
        </p:txBody>
      </p:sp>
    </p:spTree>
    <p:extLst>
      <p:ext uri="{BB962C8B-B14F-4D97-AF65-F5344CB8AC3E}">
        <p14:creationId xmlns:p14="http://schemas.microsoft.com/office/powerpoint/2010/main" val="320359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4EB4-232C-49D6-C1B6-0C36F6277C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DZ"/>
          </a:p>
        </p:txBody>
      </p:sp>
      <p:sp>
        <p:nvSpPr>
          <p:cNvPr id="3" name="Subtitle 2">
            <a:extLst>
              <a:ext uri="{FF2B5EF4-FFF2-40B4-BE49-F238E27FC236}">
                <a16:creationId xmlns:a16="http://schemas.microsoft.com/office/drawing/2014/main" id="{F224D512-5A65-6F59-9AD9-5B2C58937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DZ"/>
          </a:p>
        </p:txBody>
      </p:sp>
      <p:sp>
        <p:nvSpPr>
          <p:cNvPr id="4" name="Date Placeholder 3">
            <a:extLst>
              <a:ext uri="{FF2B5EF4-FFF2-40B4-BE49-F238E27FC236}">
                <a16:creationId xmlns:a16="http://schemas.microsoft.com/office/drawing/2014/main" id="{B6324806-125A-47CF-F8E0-05E810D62C1B}"/>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5" name="Footer Placeholder 4">
            <a:extLst>
              <a:ext uri="{FF2B5EF4-FFF2-40B4-BE49-F238E27FC236}">
                <a16:creationId xmlns:a16="http://schemas.microsoft.com/office/drawing/2014/main" id="{102C41C0-5089-207F-9191-B64D2D3104D1}"/>
              </a:ext>
            </a:extLst>
          </p:cNvPr>
          <p:cNvSpPr>
            <a:spLocks noGrp="1"/>
          </p:cNvSpPr>
          <p:nvPr>
            <p:ph type="ftr" sz="quarter" idx="11"/>
          </p:nvPr>
        </p:nvSpPr>
        <p:spPr/>
        <p:txBody>
          <a:bodyPr/>
          <a:lstStyle/>
          <a:p>
            <a:endParaRPr lang="fr-DZ"/>
          </a:p>
        </p:txBody>
      </p:sp>
      <p:sp>
        <p:nvSpPr>
          <p:cNvPr id="6" name="Slide Number Placeholder 5">
            <a:extLst>
              <a:ext uri="{FF2B5EF4-FFF2-40B4-BE49-F238E27FC236}">
                <a16:creationId xmlns:a16="http://schemas.microsoft.com/office/drawing/2014/main" id="{36E0A3BC-B5AD-E68E-12BD-943BB53BCBE3}"/>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424659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D3090-0846-A13C-86DD-A8489BEFCC8B}"/>
              </a:ext>
            </a:extLst>
          </p:cNvPr>
          <p:cNvSpPr>
            <a:spLocks noGrp="1"/>
          </p:cNvSpPr>
          <p:nvPr>
            <p:ph type="title"/>
          </p:nvPr>
        </p:nvSpPr>
        <p:spPr/>
        <p:txBody>
          <a:bodyPr/>
          <a:lstStyle/>
          <a:p>
            <a:r>
              <a:rPr lang="en-US"/>
              <a:t>Click to edit Master title style</a:t>
            </a:r>
            <a:endParaRPr lang="fr-DZ"/>
          </a:p>
        </p:txBody>
      </p:sp>
      <p:sp>
        <p:nvSpPr>
          <p:cNvPr id="3" name="Content Placeholder 2">
            <a:extLst>
              <a:ext uri="{FF2B5EF4-FFF2-40B4-BE49-F238E27FC236}">
                <a16:creationId xmlns:a16="http://schemas.microsoft.com/office/drawing/2014/main" id="{B03245EE-3620-0BF6-261F-7027FBE796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4" name="Date Placeholder 3">
            <a:extLst>
              <a:ext uri="{FF2B5EF4-FFF2-40B4-BE49-F238E27FC236}">
                <a16:creationId xmlns:a16="http://schemas.microsoft.com/office/drawing/2014/main" id="{2EC01C84-0C1F-D6A1-6D74-4288381D6D14}"/>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5" name="Footer Placeholder 4">
            <a:extLst>
              <a:ext uri="{FF2B5EF4-FFF2-40B4-BE49-F238E27FC236}">
                <a16:creationId xmlns:a16="http://schemas.microsoft.com/office/drawing/2014/main" id="{4AE5A8C7-AD1F-EF6F-ED22-24A0B81F7713}"/>
              </a:ext>
            </a:extLst>
          </p:cNvPr>
          <p:cNvSpPr>
            <a:spLocks noGrp="1"/>
          </p:cNvSpPr>
          <p:nvPr>
            <p:ph type="ftr" sz="quarter" idx="11"/>
          </p:nvPr>
        </p:nvSpPr>
        <p:spPr/>
        <p:txBody>
          <a:bodyPr/>
          <a:lstStyle/>
          <a:p>
            <a:endParaRPr lang="fr-DZ"/>
          </a:p>
        </p:txBody>
      </p:sp>
      <p:sp>
        <p:nvSpPr>
          <p:cNvPr id="6" name="Slide Number Placeholder 5">
            <a:extLst>
              <a:ext uri="{FF2B5EF4-FFF2-40B4-BE49-F238E27FC236}">
                <a16:creationId xmlns:a16="http://schemas.microsoft.com/office/drawing/2014/main" id="{6B0183EA-1389-84C6-E50E-B8C9348F22B8}"/>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1456221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98CF2-2F2D-D7D3-E801-89270CE02C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DZ"/>
          </a:p>
        </p:txBody>
      </p:sp>
      <p:sp>
        <p:nvSpPr>
          <p:cNvPr id="3" name="Text Placeholder 2">
            <a:extLst>
              <a:ext uri="{FF2B5EF4-FFF2-40B4-BE49-F238E27FC236}">
                <a16:creationId xmlns:a16="http://schemas.microsoft.com/office/drawing/2014/main" id="{4A772430-7E52-A96C-2122-A83461283E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C8BDF3-B59C-5FC9-0489-C04E0C11955D}"/>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5" name="Footer Placeholder 4">
            <a:extLst>
              <a:ext uri="{FF2B5EF4-FFF2-40B4-BE49-F238E27FC236}">
                <a16:creationId xmlns:a16="http://schemas.microsoft.com/office/drawing/2014/main" id="{1028E914-2ABB-268D-67A6-11D12E93C302}"/>
              </a:ext>
            </a:extLst>
          </p:cNvPr>
          <p:cNvSpPr>
            <a:spLocks noGrp="1"/>
          </p:cNvSpPr>
          <p:nvPr>
            <p:ph type="ftr" sz="quarter" idx="11"/>
          </p:nvPr>
        </p:nvSpPr>
        <p:spPr/>
        <p:txBody>
          <a:bodyPr/>
          <a:lstStyle/>
          <a:p>
            <a:endParaRPr lang="fr-DZ"/>
          </a:p>
        </p:txBody>
      </p:sp>
      <p:sp>
        <p:nvSpPr>
          <p:cNvPr id="6" name="Slide Number Placeholder 5">
            <a:extLst>
              <a:ext uri="{FF2B5EF4-FFF2-40B4-BE49-F238E27FC236}">
                <a16:creationId xmlns:a16="http://schemas.microsoft.com/office/drawing/2014/main" id="{7479B328-5EF4-1CC3-7801-2FD62BC0971C}"/>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1371640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E2C32-A60B-D3B1-A7BD-DF4759351A12}"/>
              </a:ext>
            </a:extLst>
          </p:cNvPr>
          <p:cNvSpPr>
            <a:spLocks noGrp="1"/>
          </p:cNvSpPr>
          <p:nvPr>
            <p:ph type="title"/>
          </p:nvPr>
        </p:nvSpPr>
        <p:spPr/>
        <p:txBody>
          <a:bodyPr/>
          <a:lstStyle/>
          <a:p>
            <a:r>
              <a:rPr lang="en-US"/>
              <a:t>Click to edit Master title style</a:t>
            </a:r>
            <a:endParaRPr lang="fr-DZ"/>
          </a:p>
        </p:txBody>
      </p:sp>
      <p:sp>
        <p:nvSpPr>
          <p:cNvPr id="3" name="Content Placeholder 2">
            <a:extLst>
              <a:ext uri="{FF2B5EF4-FFF2-40B4-BE49-F238E27FC236}">
                <a16:creationId xmlns:a16="http://schemas.microsoft.com/office/drawing/2014/main" id="{C986DF41-018F-BC4C-353C-D0C9E37626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4" name="Content Placeholder 3">
            <a:extLst>
              <a:ext uri="{FF2B5EF4-FFF2-40B4-BE49-F238E27FC236}">
                <a16:creationId xmlns:a16="http://schemas.microsoft.com/office/drawing/2014/main" id="{C18C0E0D-A195-E26E-E466-9397BD2CB2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5" name="Date Placeholder 4">
            <a:extLst>
              <a:ext uri="{FF2B5EF4-FFF2-40B4-BE49-F238E27FC236}">
                <a16:creationId xmlns:a16="http://schemas.microsoft.com/office/drawing/2014/main" id="{BC12AE32-6924-ED2C-1AF2-9DEA93358D53}"/>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6" name="Footer Placeholder 5">
            <a:extLst>
              <a:ext uri="{FF2B5EF4-FFF2-40B4-BE49-F238E27FC236}">
                <a16:creationId xmlns:a16="http://schemas.microsoft.com/office/drawing/2014/main" id="{05E729DE-E5DB-4C45-551E-068D3805776C}"/>
              </a:ext>
            </a:extLst>
          </p:cNvPr>
          <p:cNvSpPr>
            <a:spLocks noGrp="1"/>
          </p:cNvSpPr>
          <p:nvPr>
            <p:ph type="ftr" sz="quarter" idx="11"/>
          </p:nvPr>
        </p:nvSpPr>
        <p:spPr/>
        <p:txBody>
          <a:bodyPr/>
          <a:lstStyle/>
          <a:p>
            <a:endParaRPr lang="fr-DZ"/>
          </a:p>
        </p:txBody>
      </p:sp>
      <p:sp>
        <p:nvSpPr>
          <p:cNvPr id="7" name="Slide Number Placeholder 6">
            <a:extLst>
              <a:ext uri="{FF2B5EF4-FFF2-40B4-BE49-F238E27FC236}">
                <a16:creationId xmlns:a16="http://schemas.microsoft.com/office/drawing/2014/main" id="{13937D77-32C5-F1E7-DF85-1786523182D7}"/>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2492540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A8A55-5ABE-67FA-6671-510FA58BE0DC}"/>
              </a:ext>
            </a:extLst>
          </p:cNvPr>
          <p:cNvSpPr>
            <a:spLocks noGrp="1"/>
          </p:cNvSpPr>
          <p:nvPr>
            <p:ph type="title"/>
          </p:nvPr>
        </p:nvSpPr>
        <p:spPr>
          <a:xfrm>
            <a:off x="839788" y="365125"/>
            <a:ext cx="10515600" cy="1325563"/>
          </a:xfrm>
        </p:spPr>
        <p:txBody>
          <a:bodyPr/>
          <a:lstStyle/>
          <a:p>
            <a:r>
              <a:rPr lang="en-US"/>
              <a:t>Click to edit Master title style</a:t>
            </a:r>
            <a:endParaRPr lang="fr-DZ"/>
          </a:p>
        </p:txBody>
      </p:sp>
      <p:sp>
        <p:nvSpPr>
          <p:cNvPr id="3" name="Text Placeholder 2">
            <a:extLst>
              <a:ext uri="{FF2B5EF4-FFF2-40B4-BE49-F238E27FC236}">
                <a16:creationId xmlns:a16="http://schemas.microsoft.com/office/drawing/2014/main" id="{3E6EC548-D733-7AE2-9BC2-324D54D0C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F064B-82BC-4ADE-D08F-E2E9A59C60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5" name="Text Placeholder 4">
            <a:extLst>
              <a:ext uri="{FF2B5EF4-FFF2-40B4-BE49-F238E27FC236}">
                <a16:creationId xmlns:a16="http://schemas.microsoft.com/office/drawing/2014/main" id="{90B510CD-CDC9-5B11-957D-F03C0DBFE8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FD26CF-4C1B-92F2-DB70-276475B97C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7" name="Date Placeholder 6">
            <a:extLst>
              <a:ext uri="{FF2B5EF4-FFF2-40B4-BE49-F238E27FC236}">
                <a16:creationId xmlns:a16="http://schemas.microsoft.com/office/drawing/2014/main" id="{D58BAC8B-ED60-ECD6-7C1C-C69CB9164DAC}"/>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8" name="Footer Placeholder 7">
            <a:extLst>
              <a:ext uri="{FF2B5EF4-FFF2-40B4-BE49-F238E27FC236}">
                <a16:creationId xmlns:a16="http://schemas.microsoft.com/office/drawing/2014/main" id="{D883D05D-398A-B215-F383-03136B7DE724}"/>
              </a:ext>
            </a:extLst>
          </p:cNvPr>
          <p:cNvSpPr>
            <a:spLocks noGrp="1"/>
          </p:cNvSpPr>
          <p:nvPr>
            <p:ph type="ftr" sz="quarter" idx="11"/>
          </p:nvPr>
        </p:nvSpPr>
        <p:spPr/>
        <p:txBody>
          <a:bodyPr/>
          <a:lstStyle/>
          <a:p>
            <a:endParaRPr lang="fr-DZ"/>
          </a:p>
        </p:txBody>
      </p:sp>
      <p:sp>
        <p:nvSpPr>
          <p:cNvPr id="9" name="Slide Number Placeholder 8">
            <a:extLst>
              <a:ext uri="{FF2B5EF4-FFF2-40B4-BE49-F238E27FC236}">
                <a16:creationId xmlns:a16="http://schemas.microsoft.com/office/drawing/2014/main" id="{F090D8CB-E703-9FE5-F361-7B22A4FAE038}"/>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181517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09255-EA45-4832-533A-6BBE24436884}"/>
              </a:ext>
            </a:extLst>
          </p:cNvPr>
          <p:cNvSpPr>
            <a:spLocks noGrp="1"/>
          </p:cNvSpPr>
          <p:nvPr>
            <p:ph type="title"/>
          </p:nvPr>
        </p:nvSpPr>
        <p:spPr/>
        <p:txBody>
          <a:bodyPr/>
          <a:lstStyle/>
          <a:p>
            <a:r>
              <a:rPr lang="en-US"/>
              <a:t>Click to edit Master title style</a:t>
            </a:r>
            <a:endParaRPr lang="fr-DZ"/>
          </a:p>
        </p:txBody>
      </p:sp>
      <p:sp>
        <p:nvSpPr>
          <p:cNvPr id="3" name="Date Placeholder 2">
            <a:extLst>
              <a:ext uri="{FF2B5EF4-FFF2-40B4-BE49-F238E27FC236}">
                <a16:creationId xmlns:a16="http://schemas.microsoft.com/office/drawing/2014/main" id="{B2C817B2-F861-7BA2-EBE3-19567965949F}"/>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4" name="Footer Placeholder 3">
            <a:extLst>
              <a:ext uri="{FF2B5EF4-FFF2-40B4-BE49-F238E27FC236}">
                <a16:creationId xmlns:a16="http://schemas.microsoft.com/office/drawing/2014/main" id="{966FD92A-C8BC-2CBC-EDF8-E54FADC0BDA5}"/>
              </a:ext>
            </a:extLst>
          </p:cNvPr>
          <p:cNvSpPr>
            <a:spLocks noGrp="1"/>
          </p:cNvSpPr>
          <p:nvPr>
            <p:ph type="ftr" sz="quarter" idx="11"/>
          </p:nvPr>
        </p:nvSpPr>
        <p:spPr/>
        <p:txBody>
          <a:bodyPr/>
          <a:lstStyle/>
          <a:p>
            <a:endParaRPr lang="fr-DZ"/>
          </a:p>
        </p:txBody>
      </p:sp>
      <p:sp>
        <p:nvSpPr>
          <p:cNvPr id="5" name="Slide Number Placeholder 4">
            <a:extLst>
              <a:ext uri="{FF2B5EF4-FFF2-40B4-BE49-F238E27FC236}">
                <a16:creationId xmlns:a16="http://schemas.microsoft.com/office/drawing/2014/main" id="{41CD9DC2-57DF-089E-D8F3-597AE18B0EC1}"/>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134092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2444D6-AF56-6789-470C-703C2F99495C}"/>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3" name="Footer Placeholder 2">
            <a:extLst>
              <a:ext uri="{FF2B5EF4-FFF2-40B4-BE49-F238E27FC236}">
                <a16:creationId xmlns:a16="http://schemas.microsoft.com/office/drawing/2014/main" id="{A917349A-6084-7BE1-BF9A-B3A9321B4417}"/>
              </a:ext>
            </a:extLst>
          </p:cNvPr>
          <p:cNvSpPr>
            <a:spLocks noGrp="1"/>
          </p:cNvSpPr>
          <p:nvPr>
            <p:ph type="ftr" sz="quarter" idx="11"/>
          </p:nvPr>
        </p:nvSpPr>
        <p:spPr/>
        <p:txBody>
          <a:bodyPr/>
          <a:lstStyle/>
          <a:p>
            <a:endParaRPr lang="fr-DZ"/>
          </a:p>
        </p:txBody>
      </p:sp>
      <p:sp>
        <p:nvSpPr>
          <p:cNvPr id="4" name="Slide Number Placeholder 3">
            <a:extLst>
              <a:ext uri="{FF2B5EF4-FFF2-40B4-BE49-F238E27FC236}">
                <a16:creationId xmlns:a16="http://schemas.microsoft.com/office/drawing/2014/main" id="{7A77B6C5-A5BD-2B53-5895-DDC19254B2CA}"/>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1255051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BC009-2CE9-C177-3B39-B91765CAFF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DZ"/>
          </a:p>
        </p:txBody>
      </p:sp>
      <p:sp>
        <p:nvSpPr>
          <p:cNvPr id="3" name="Content Placeholder 2">
            <a:extLst>
              <a:ext uri="{FF2B5EF4-FFF2-40B4-BE49-F238E27FC236}">
                <a16:creationId xmlns:a16="http://schemas.microsoft.com/office/drawing/2014/main" id="{A0612934-8B8F-3D76-EE86-C4A97F9401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4" name="Text Placeholder 3">
            <a:extLst>
              <a:ext uri="{FF2B5EF4-FFF2-40B4-BE49-F238E27FC236}">
                <a16:creationId xmlns:a16="http://schemas.microsoft.com/office/drawing/2014/main" id="{F7891231-EEFC-943C-0C2C-1E1CFEB74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CC5DEF-4AE6-5B9B-B985-2F0D84B432FE}"/>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6" name="Footer Placeholder 5">
            <a:extLst>
              <a:ext uri="{FF2B5EF4-FFF2-40B4-BE49-F238E27FC236}">
                <a16:creationId xmlns:a16="http://schemas.microsoft.com/office/drawing/2014/main" id="{25BFA803-8FA5-1B55-531F-B4E57A02DCF1}"/>
              </a:ext>
            </a:extLst>
          </p:cNvPr>
          <p:cNvSpPr>
            <a:spLocks noGrp="1"/>
          </p:cNvSpPr>
          <p:nvPr>
            <p:ph type="ftr" sz="quarter" idx="11"/>
          </p:nvPr>
        </p:nvSpPr>
        <p:spPr/>
        <p:txBody>
          <a:bodyPr/>
          <a:lstStyle/>
          <a:p>
            <a:endParaRPr lang="fr-DZ"/>
          </a:p>
        </p:txBody>
      </p:sp>
      <p:sp>
        <p:nvSpPr>
          <p:cNvPr id="7" name="Slide Number Placeholder 6">
            <a:extLst>
              <a:ext uri="{FF2B5EF4-FFF2-40B4-BE49-F238E27FC236}">
                <a16:creationId xmlns:a16="http://schemas.microsoft.com/office/drawing/2014/main" id="{57AE34A8-65D5-6A8A-D3F3-74D4746F40D1}"/>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2647893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F3A18-40F1-C787-70F4-E6C206BBE7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DZ"/>
          </a:p>
        </p:txBody>
      </p:sp>
      <p:sp>
        <p:nvSpPr>
          <p:cNvPr id="3" name="Picture Placeholder 2">
            <a:extLst>
              <a:ext uri="{FF2B5EF4-FFF2-40B4-BE49-F238E27FC236}">
                <a16:creationId xmlns:a16="http://schemas.microsoft.com/office/drawing/2014/main" id="{9435261A-80B1-9315-248D-4AA352F0F0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DZ"/>
          </a:p>
        </p:txBody>
      </p:sp>
      <p:sp>
        <p:nvSpPr>
          <p:cNvPr id="4" name="Text Placeholder 3">
            <a:extLst>
              <a:ext uri="{FF2B5EF4-FFF2-40B4-BE49-F238E27FC236}">
                <a16:creationId xmlns:a16="http://schemas.microsoft.com/office/drawing/2014/main" id="{A9D82524-23BD-930A-F2EA-C0267CC852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09EA83-FC31-9511-7093-6942D14B13B3}"/>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6" name="Footer Placeholder 5">
            <a:extLst>
              <a:ext uri="{FF2B5EF4-FFF2-40B4-BE49-F238E27FC236}">
                <a16:creationId xmlns:a16="http://schemas.microsoft.com/office/drawing/2014/main" id="{71C3B877-CF9C-45BE-7FB0-57C94C1F05A1}"/>
              </a:ext>
            </a:extLst>
          </p:cNvPr>
          <p:cNvSpPr>
            <a:spLocks noGrp="1"/>
          </p:cNvSpPr>
          <p:nvPr>
            <p:ph type="ftr" sz="quarter" idx="11"/>
          </p:nvPr>
        </p:nvSpPr>
        <p:spPr/>
        <p:txBody>
          <a:bodyPr/>
          <a:lstStyle/>
          <a:p>
            <a:endParaRPr lang="fr-DZ"/>
          </a:p>
        </p:txBody>
      </p:sp>
      <p:sp>
        <p:nvSpPr>
          <p:cNvPr id="7" name="Slide Number Placeholder 6">
            <a:extLst>
              <a:ext uri="{FF2B5EF4-FFF2-40B4-BE49-F238E27FC236}">
                <a16:creationId xmlns:a16="http://schemas.microsoft.com/office/drawing/2014/main" id="{D454C56E-59A8-B1B5-1D57-9636FD7F60EB}"/>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1404723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ACFF5-D2F2-52BB-2828-7BDC8CED78A8}"/>
              </a:ext>
            </a:extLst>
          </p:cNvPr>
          <p:cNvSpPr>
            <a:spLocks noGrp="1"/>
          </p:cNvSpPr>
          <p:nvPr>
            <p:ph type="title"/>
          </p:nvPr>
        </p:nvSpPr>
        <p:spPr/>
        <p:txBody>
          <a:bodyPr/>
          <a:lstStyle/>
          <a:p>
            <a:r>
              <a:rPr lang="en-US"/>
              <a:t>Click to edit Master title style</a:t>
            </a:r>
            <a:endParaRPr lang="fr-DZ"/>
          </a:p>
        </p:txBody>
      </p:sp>
      <p:sp>
        <p:nvSpPr>
          <p:cNvPr id="3" name="Vertical Text Placeholder 2">
            <a:extLst>
              <a:ext uri="{FF2B5EF4-FFF2-40B4-BE49-F238E27FC236}">
                <a16:creationId xmlns:a16="http://schemas.microsoft.com/office/drawing/2014/main" id="{2F0D50BD-BB09-5019-988C-73003D46CB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4" name="Date Placeholder 3">
            <a:extLst>
              <a:ext uri="{FF2B5EF4-FFF2-40B4-BE49-F238E27FC236}">
                <a16:creationId xmlns:a16="http://schemas.microsoft.com/office/drawing/2014/main" id="{317FBDD6-4A7E-0A03-FDD0-D7E292AB79D3}"/>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5" name="Footer Placeholder 4">
            <a:extLst>
              <a:ext uri="{FF2B5EF4-FFF2-40B4-BE49-F238E27FC236}">
                <a16:creationId xmlns:a16="http://schemas.microsoft.com/office/drawing/2014/main" id="{864B15B0-63D6-BED1-E35A-2BBC429AA295}"/>
              </a:ext>
            </a:extLst>
          </p:cNvPr>
          <p:cNvSpPr>
            <a:spLocks noGrp="1"/>
          </p:cNvSpPr>
          <p:nvPr>
            <p:ph type="ftr" sz="quarter" idx="11"/>
          </p:nvPr>
        </p:nvSpPr>
        <p:spPr/>
        <p:txBody>
          <a:bodyPr/>
          <a:lstStyle/>
          <a:p>
            <a:endParaRPr lang="fr-DZ"/>
          </a:p>
        </p:txBody>
      </p:sp>
      <p:sp>
        <p:nvSpPr>
          <p:cNvPr id="6" name="Slide Number Placeholder 5">
            <a:extLst>
              <a:ext uri="{FF2B5EF4-FFF2-40B4-BE49-F238E27FC236}">
                <a16:creationId xmlns:a16="http://schemas.microsoft.com/office/drawing/2014/main" id="{331DAA82-3338-E3C9-942C-7A717C0FFC20}"/>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320092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C4152F-9075-1756-CC6C-CCA0A2EE5D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DZ"/>
          </a:p>
        </p:txBody>
      </p:sp>
      <p:sp>
        <p:nvSpPr>
          <p:cNvPr id="3" name="Vertical Text Placeholder 2">
            <a:extLst>
              <a:ext uri="{FF2B5EF4-FFF2-40B4-BE49-F238E27FC236}">
                <a16:creationId xmlns:a16="http://schemas.microsoft.com/office/drawing/2014/main" id="{BE6427F1-3BF7-574D-8EA7-CE31798EC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4" name="Date Placeholder 3">
            <a:extLst>
              <a:ext uri="{FF2B5EF4-FFF2-40B4-BE49-F238E27FC236}">
                <a16:creationId xmlns:a16="http://schemas.microsoft.com/office/drawing/2014/main" id="{2AFCC6CE-DE6B-7D0B-C6DA-37CA66A11D9A}"/>
              </a:ext>
            </a:extLst>
          </p:cNvPr>
          <p:cNvSpPr>
            <a:spLocks noGrp="1"/>
          </p:cNvSpPr>
          <p:nvPr>
            <p:ph type="dt" sz="half" idx="10"/>
          </p:nvPr>
        </p:nvSpPr>
        <p:spPr/>
        <p:txBody>
          <a:bodyPr/>
          <a:lstStyle/>
          <a:p>
            <a:fld id="{40E73773-43B6-4C0D-B7E8-971DB6FBB7A4}" type="datetimeFigureOut">
              <a:rPr lang="fr-DZ" smtClean="0"/>
              <a:t>08/11/2025</a:t>
            </a:fld>
            <a:endParaRPr lang="fr-DZ"/>
          </a:p>
        </p:txBody>
      </p:sp>
      <p:sp>
        <p:nvSpPr>
          <p:cNvPr id="5" name="Footer Placeholder 4">
            <a:extLst>
              <a:ext uri="{FF2B5EF4-FFF2-40B4-BE49-F238E27FC236}">
                <a16:creationId xmlns:a16="http://schemas.microsoft.com/office/drawing/2014/main" id="{1F5475EA-67F2-0F8F-DECA-FD7E42CFBB82}"/>
              </a:ext>
            </a:extLst>
          </p:cNvPr>
          <p:cNvSpPr>
            <a:spLocks noGrp="1"/>
          </p:cNvSpPr>
          <p:nvPr>
            <p:ph type="ftr" sz="quarter" idx="11"/>
          </p:nvPr>
        </p:nvSpPr>
        <p:spPr/>
        <p:txBody>
          <a:bodyPr/>
          <a:lstStyle/>
          <a:p>
            <a:endParaRPr lang="fr-DZ"/>
          </a:p>
        </p:txBody>
      </p:sp>
      <p:sp>
        <p:nvSpPr>
          <p:cNvPr id="6" name="Slide Number Placeholder 5">
            <a:extLst>
              <a:ext uri="{FF2B5EF4-FFF2-40B4-BE49-F238E27FC236}">
                <a16:creationId xmlns:a16="http://schemas.microsoft.com/office/drawing/2014/main" id="{BEF9B093-380C-E716-54B9-B8B8231C243E}"/>
              </a:ext>
            </a:extLst>
          </p:cNvPr>
          <p:cNvSpPr>
            <a:spLocks noGrp="1"/>
          </p:cNvSpPr>
          <p:nvPr>
            <p:ph type="sldNum" sz="quarter" idx="12"/>
          </p:nvPr>
        </p:nvSpPr>
        <p:spPr/>
        <p:txBody>
          <a:bodyPr/>
          <a:lstStyle/>
          <a:p>
            <a:fld id="{EB6C7C62-F656-4CA4-8734-02741B95FC23}" type="slidenum">
              <a:rPr lang="fr-DZ" smtClean="0"/>
              <a:t>‹#›</a:t>
            </a:fld>
            <a:endParaRPr lang="fr-DZ"/>
          </a:p>
        </p:txBody>
      </p:sp>
    </p:spTree>
    <p:extLst>
      <p:ext uri="{BB962C8B-B14F-4D97-AF65-F5344CB8AC3E}">
        <p14:creationId xmlns:p14="http://schemas.microsoft.com/office/powerpoint/2010/main" val="636724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Image Layouts">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721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E36D7F-F10E-915D-3CA1-63049F6A63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DZ"/>
          </a:p>
        </p:txBody>
      </p:sp>
      <p:sp>
        <p:nvSpPr>
          <p:cNvPr id="3" name="Text Placeholder 2">
            <a:extLst>
              <a:ext uri="{FF2B5EF4-FFF2-40B4-BE49-F238E27FC236}">
                <a16:creationId xmlns:a16="http://schemas.microsoft.com/office/drawing/2014/main" id="{CD31C946-B49D-7D17-97A6-0AF6E80C9A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4" name="Date Placeholder 3">
            <a:extLst>
              <a:ext uri="{FF2B5EF4-FFF2-40B4-BE49-F238E27FC236}">
                <a16:creationId xmlns:a16="http://schemas.microsoft.com/office/drawing/2014/main" id="{C60AE5E4-D004-AB59-F04D-0B1823573A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E73773-43B6-4C0D-B7E8-971DB6FBB7A4}" type="datetimeFigureOut">
              <a:rPr lang="fr-DZ" smtClean="0"/>
              <a:t>08/11/2025</a:t>
            </a:fld>
            <a:endParaRPr lang="fr-DZ"/>
          </a:p>
        </p:txBody>
      </p:sp>
      <p:sp>
        <p:nvSpPr>
          <p:cNvPr id="5" name="Footer Placeholder 4">
            <a:extLst>
              <a:ext uri="{FF2B5EF4-FFF2-40B4-BE49-F238E27FC236}">
                <a16:creationId xmlns:a16="http://schemas.microsoft.com/office/drawing/2014/main" id="{02BF794C-8A0D-443D-B414-73574D956A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DZ"/>
          </a:p>
        </p:txBody>
      </p:sp>
      <p:sp>
        <p:nvSpPr>
          <p:cNvPr id="6" name="Slide Number Placeholder 5">
            <a:extLst>
              <a:ext uri="{FF2B5EF4-FFF2-40B4-BE49-F238E27FC236}">
                <a16:creationId xmlns:a16="http://schemas.microsoft.com/office/drawing/2014/main" id="{43E90AEF-978D-B5EC-6EEA-02224E6E85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6C7C62-F656-4CA4-8734-02741B95FC23}" type="slidenum">
              <a:rPr lang="fr-DZ" smtClean="0"/>
              <a:t>‹#›</a:t>
            </a:fld>
            <a:endParaRPr lang="fr-DZ"/>
          </a:p>
        </p:txBody>
      </p:sp>
    </p:spTree>
    <p:extLst>
      <p:ext uri="{BB962C8B-B14F-4D97-AF65-F5344CB8AC3E}">
        <p14:creationId xmlns:p14="http://schemas.microsoft.com/office/powerpoint/2010/main" val="1466013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D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10"/>
          <p:cNvSpPr txBox="1"/>
          <p:nvPr/>
        </p:nvSpPr>
        <p:spPr>
          <a:xfrm>
            <a:off x="351813" y="2392801"/>
            <a:ext cx="12192000" cy="1446550"/>
          </a:xfrm>
          <a:prstGeom prst="rect">
            <a:avLst/>
          </a:prstGeom>
          <a:noFill/>
        </p:spPr>
        <p:txBody>
          <a:bodyPr wrap="square" rtlCol="0">
            <a:spAutoFit/>
          </a:bodyPr>
          <a:lstStyle/>
          <a:p>
            <a:pPr algn="ctr" rtl="1"/>
            <a:r>
              <a:rPr lang="fr-FR" sz="88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Operating System</a:t>
            </a:r>
            <a:endParaRPr lang="ar-DZ" sz="88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2" name="TextBox 11"/>
          <p:cNvSpPr txBox="1"/>
          <p:nvPr/>
        </p:nvSpPr>
        <p:spPr>
          <a:xfrm>
            <a:off x="4507826" y="5455649"/>
            <a:ext cx="3879974" cy="710062"/>
          </a:xfrm>
          <a:prstGeom prst="rect">
            <a:avLst/>
          </a:prstGeom>
          <a:noFill/>
        </p:spPr>
        <p:txBody>
          <a:bodyPr wrap="square" rtlCol="0">
            <a:noAutofit/>
          </a:bodyPr>
          <a:lstStyle/>
          <a:p>
            <a:pPr algn="ctr" rtl="1"/>
            <a:r>
              <a:rPr lang="fr-CA" altLang="fr-DZ" sz="2500" b="1" dirty="0">
                <a:latin typeface="Times New Roman" panose="02020603050405020304" pitchFamily="18" charset="0"/>
                <a:cs typeface="Times New Roman" panose="02020603050405020304" pitchFamily="18" charset="0"/>
              </a:rPr>
              <a:t>Dr. Soumia BENKRAMA</a:t>
            </a:r>
            <a:br>
              <a:rPr lang="fr-CA" altLang="fr-DZ" sz="1500" b="1" dirty="0">
                <a:latin typeface="Times New Roman" panose="02020603050405020304" pitchFamily="18" charset="0"/>
                <a:cs typeface="Times New Roman" panose="02020603050405020304" pitchFamily="18" charset="0"/>
              </a:rPr>
            </a:br>
            <a:r>
              <a:rPr lang="fr-CA" altLang="fr-DZ" sz="1500" b="1" dirty="0">
                <a:latin typeface="Times New Roman" panose="02020603050405020304" pitchFamily="18" charset="0"/>
                <a:cs typeface="Times New Roman" panose="02020603050405020304" pitchFamily="18" charset="0"/>
              </a:rPr>
              <a:t>benkrama.soumia@univ-bechar.dz </a:t>
            </a:r>
            <a:br>
              <a:rPr lang="fr-CA" altLang="fr-DZ" sz="2800" dirty="0">
                <a:latin typeface="Times New Roman" panose="02020603050405020304" pitchFamily="18" charset="0"/>
                <a:cs typeface="Times New Roman" panose="02020603050405020304" pitchFamily="18" charset="0"/>
              </a:rPr>
            </a:br>
            <a:endParaRPr lang="en-US" sz="2800" dirty="0">
              <a:effectLst>
                <a:outerShdw blurRad="38100" dist="38100" dir="2700000" algn="tl">
                  <a:srgbClr val="000000">
                    <a:alpha val="43137"/>
                  </a:srgbClr>
                </a:outerShdw>
              </a:effectLst>
              <a:latin typeface="+mj-lt"/>
              <a:cs typeface="Estrangelo Edessa" panose="03080600000000000000" pitchFamily="66" charset="0"/>
            </a:endParaRPr>
          </a:p>
        </p:txBody>
      </p:sp>
      <p:sp>
        <p:nvSpPr>
          <p:cNvPr id="16" name="Rectangle 15"/>
          <p:cNvSpPr/>
          <p:nvPr/>
        </p:nvSpPr>
        <p:spPr>
          <a:xfrm>
            <a:off x="1541985" y="217367"/>
            <a:ext cx="9811657" cy="738664"/>
          </a:xfrm>
          <a:prstGeom prst="rect">
            <a:avLst/>
          </a:prstGeom>
        </p:spPr>
        <p:txBody>
          <a:bodyPr wrap="square">
            <a:spAutoFit/>
          </a:bodyPr>
          <a:lstStyle/>
          <a:p>
            <a:pPr algn="ctr"/>
            <a:r>
              <a:rPr lang="en-US" sz="1400" b="1" dirty="0">
                <a:latin typeface="Times New Roman" panose="02020603050405020304" pitchFamily="18" charset="0"/>
                <a:ea typeface="MS PGothic" panose="020B0600070205080204" charset="-128"/>
                <a:cs typeface="Times New Roman" panose="02020603050405020304" pitchFamily="18" charset="0"/>
              </a:rPr>
              <a:t>University of </a:t>
            </a:r>
            <a:r>
              <a:rPr lang="en-US" sz="1400" b="1" dirty="0" err="1">
                <a:latin typeface="Times New Roman" panose="02020603050405020304" pitchFamily="18" charset="0"/>
                <a:ea typeface="MS PGothic" panose="020B0600070205080204" charset="-128"/>
                <a:cs typeface="Times New Roman" panose="02020603050405020304" pitchFamily="18" charset="0"/>
              </a:rPr>
              <a:t>Tahri</a:t>
            </a:r>
            <a:r>
              <a:rPr lang="en-US" sz="1400" b="1" dirty="0">
                <a:latin typeface="Times New Roman" panose="02020603050405020304" pitchFamily="18" charset="0"/>
                <a:ea typeface="MS PGothic" panose="020B0600070205080204" charset="-128"/>
                <a:cs typeface="Times New Roman" panose="02020603050405020304" pitchFamily="18" charset="0"/>
              </a:rPr>
              <a:t> Mohamed </a:t>
            </a:r>
            <a:r>
              <a:rPr lang="en-US" sz="1400" b="1" dirty="0" err="1">
                <a:latin typeface="Times New Roman" panose="02020603050405020304" pitchFamily="18" charset="0"/>
                <a:ea typeface="MS PGothic" panose="020B0600070205080204" charset="-128"/>
                <a:cs typeface="Times New Roman" panose="02020603050405020304" pitchFamily="18" charset="0"/>
              </a:rPr>
              <a:t>Bechar</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Faculty of Exact Sciences</a:t>
            </a:r>
          </a:p>
          <a:p>
            <a:pPr algn="ct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Department of Computer Science</a:t>
            </a:r>
          </a:p>
        </p:txBody>
      </p:sp>
      <p:pic>
        <p:nvPicPr>
          <p:cNvPr id="9" name="Picture 2" descr="C:\Users\SAMIHA\Desktop\téléchargement.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68919" y="341928"/>
            <a:ext cx="1373800" cy="1484415"/>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50EA2A9E-7D0A-C11C-CB78-C04BAAABB6C8}"/>
              </a:ext>
            </a:extLst>
          </p:cNvPr>
          <p:cNvSpPr txBox="1"/>
          <p:nvPr/>
        </p:nvSpPr>
        <p:spPr>
          <a:xfrm>
            <a:off x="2256996" y="3741924"/>
            <a:ext cx="8441924" cy="584775"/>
          </a:xfrm>
          <a:prstGeom prst="rect">
            <a:avLst/>
          </a:prstGeom>
          <a:noFill/>
        </p:spPr>
        <p:txBody>
          <a:bodyPr wrap="square">
            <a:spAutoFit/>
          </a:bodyPr>
          <a:lstStyle/>
          <a:p>
            <a:pPr algn="ctr"/>
            <a:r>
              <a:rPr lang="fr-FR" sz="3200" b="1" dirty="0">
                <a:solidFill>
                  <a:srgbClr val="FF0000"/>
                </a:solidFill>
                <a:latin typeface="Times New Roman" panose="02020603050405020304" pitchFamily="18" charset="0"/>
                <a:cs typeface="Times New Roman" panose="02020603050405020304" pitchFamily="18" charset="0"/>
              </a:rPr>
              <a:t>Process </a:t>
            </a:r>
            <a:r>
              <a:rPr lang="fr-FR" sz="3200" b="1" dirty="0" err="1">
                <a:solidFill>
                  <a:srgbClr val="FF0000"/>
                </a:solidFill>
                <a:latin typeface="Times New Roman" panose="02020603050405020304" pitchFamily="18" charset="0"/>
                <a:cs typeface="Times New Roman" panose="02020603050405020304" pitchFamily="18" charset="0"/>
              </a:rPr>
              <a:t>Synchronization</a:t>
            </a:r>
            <a:endParaRPr lang="fr-DZ" sz="32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60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750" fill="hold"/>
                                        <p:tgtEl>
                                          <p:spTgt spid="41"/>
                                        </p:tgtEl>
                                        <p:attrNameLst>
                                          <p:attrName>ppt_w</p:attrName>
                                        </p:attrNameLst>
                                      </p:cBhvr>
                                      <p:tavLst>
                                        <p:tav tm="0">
                                          <p:val>
                                            <p:fltVal val="0"/>
                                          </p:val>
                                        </p:tav>
                                        <p:tav tm="100000">
                                          <p:val>
                                            <p:strVal val="#ppt_w"/>
                                          </p:val>
                                        </p:tav>
                                      </p:tavLst>
                                    </p:anim>
                                    <p:anim calcmode="lin" valueType="num">
                                      <p:cBhvr>
                                        <p:cTn id="8" dur="750" fill="hold"/>
                                        <p:tgtEl>
                                          <p:spTgt spid="41"/>
                                        </p:tgtEl>
                                        <p:attrNameLst>
                                          <p:attrName>ppt_h</p:attrName>
                                        </p:attrNameLst>
                                      </p:cBhvr>
                                      <p:tavLst>
                                        <p:tav tm="0">
                                          <p:val>
                                            <p:fltVal val="0"/>
                                          </p:val>
                                        </p:tav>
                                        <p:tav tm="100000">
                                          <p:val>
                                            <p:strVal val="#ppt_h"/>
                                          </p:val>
                                        </p:tav>
                                      </p:tavLst>
                                    </p:anim>
                                    <p:animEffect transition="in" filter="fade">
                                      <p:cBhvr>
                                        <p:cTn id="9" dur="750"/>
                                        <p:tgtEl>
                                          <p:spTgt spid="41"/>
                                        </p:tgtEl>
                                      </p:cBhvr>
                                    </p:animEffect>
                                  </p:childTnLst>
                                </p:cTn>
                              </p:par>
                            </p:childTnLst>
                          </p:cTn>
                        </p:par>
                        <p:par>
                          <p:cTn id="10" fill="hold">
                            <p:stCondLst>
                              <p:cond delay="750"/>
                            </p:stCondLst>
                            <p:childTnLst>
                              <p:par>
                                <p:cTn id="11" presetID="53" presetClass="entr" presetSubtype="16"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p:cTn id="13" dur="750" fill="hold"/>
                                        <p:tgtEl>
                                          <p:spTgt spid="42"/>
                                        </p:tgtEl>
                                        <p:attrNameLst>
                                          <p:attrName>ppt_w</p:attrName>
                                        </p:attrNameLst>
                                      </p:cBhvr>
                                      <p:tavLst>
                                        <p:tav tm="0">
                                          <p:val>
                                            <p:fltVal val="0"/>
                                          </p:val>
                                        </p:tav>
                                        <p:tav tm="100000">
                                          <p:val>
                                            <p:strVal val="#ppt_w"/>
                                          </p:val>
                                        </p:tav>
                                      </p:tavLst>
                                    </p:anim>
                                    <p:anim calcmode="lin" valueType="num">
                                      <p:cBhvr>
                                        <p:cTn id="14" dur="750" fill="hold"/>
                                        <p:tgtEl>
                                          <p:spTgt spid="42"/>
                                        </p:tgtEl>
                                        <p:attrNameLst>
                                          <p:attrName>ppt_h</p:attrName>
                                        </p:attrNameLst>
                                      </p:cBhvr>
                                      <p:tavLst>
                                        <p:tav tm="0">
                                          <p:val>
                                            <p:fltVal val="0"/>
                                          </p:val>
                                        </p:tav>
                                        <p:tav tm="100000">
                                          <p:val>
                                            <p:strVal val="#ppt_h"/>
                                          </p:val>
                                        </p:tav>
                                      </p:tavLst>
                                    </p:anim>
                                    <p:animEffect transition="in" filter="fade">
                                      <p:cBhvr>
                                        <p:cTn id="15" dur="7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57479E-466B-F907-9C54-B758A619AB2B}"/>
              </a:ext>
            </a:extLst>
          </p:cNvPr>
          <p:cNvSpPr txBox="1"/>
          <p:nvPr/>
        </p:nvSpPr>
        <p:spPr>
          <a:xfrm>
            <a:off x="1647276" y="466162"/>
            <a:ext cx="8441924" cy="707886"/>
          </a:xfrm>
          <a:prstGeom prst="rect">
            <a:avLst/>
          </a:prstGeom>
          <a:noFill/>
        </p:spPr>
        <p:txBody>
          <a:bodyPr wrap="square">
            <a:spAutoFit/>
          </a:bodyPr>
          <a:lstStyle/>
          <a:p>
            <a:pPr algn="ctr"/>
            <a:r>
              <a:rPr lang="fr-FR" sz="4000" b="1" dirty="0" err="1">
                <a:solidFill>
                  <a:srgbClr val="FF0000"/>
                </a:solidFill>
                <a:latin typeface="Times New Roman" panose="02020603050405020304" pitchFamily="18" charset="0"/>
                <a:cs typeface="Times New Roman" panose="02020603050405020304" pitchFamily="18" charset="0"/>
              </a:rPr>
              <a:t>Context</a:t>
            </a:r>
            <a:endParaRPr lang="fr-DZ" sz="40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AB696D-68C1-89EC-3A9F-ED4CBC4416E2}"/>
              </a:ext>
            </a:extLst>
          </p:cNvPr>
          <p:cNvPicPr>
            <a:picLocks noChangeAspect="1"/>
          </p:cNvPicPr>
          <p:nvPr/>
        </p:nvPicPr>
        <p:blipFill>
          <a:blip r:embed="rId2"/>
          <a:stretch>
            <a:fillRect/>
          </a:stretch>
        </p:blipFill>
        <p:spPr>
          <a:xfrm>
            <a:off x="3781425" y="1481137"/>
            <a:ext cx="4476750" cy="1228725"/>
          </a:xfrm>
          <a:prstGeom prst="rect">
            <a:avLst/>
          </a:prstGeom>
        </p:spPr>
      </p:pic>
      <p:pic>
        <p:nvPicPr>
          <p:cNvPr id="7" name="Picture 6">
            <a:extLst>
              <a:ext uri="{FF2B5EF4-FFF2-40B4-BE49-F238E27FC236}">
                <a16:creationId xmlns:a16="http://schemas.microsoft.com/office/drawing/2014/main" id="{17D48562-C552-1F0F-3134-8A7099F1D0EC}"/>
              </a:ext>
            </a:extLst>
          </p:cNvPr>
          <p:cNvPicPr>
            <a:picLocks noChangeAspect="1"/>
          </p:cNvPicPr>
          <p:nvPr/>
        </p:nvPicPr>
        <p:blipFill>
          <a:blip r:embed="rId3"/>
          <a:stretch>
            <a:fillRect/>
          </a:stretch>
        </p:blipFill>
        <p:spPr>
          <a:xfrm>
            <a:off x="4325188" y="2709862"/>
            <a:ext cx="3086100" cy="838200"/>
          </a:xfrm>
          <a:prstGeom prst="rect">
            <a:avLst/>
          </a:prstGeom>
        </p:spPr>
      </p:pic>
      <p:pic>
        <p:nvPicPr>
          <p:cNvPr id="9" name="Picture 8">
            <a:extLst>
              <a:ext uri="{FF2B5EF4-FFF2-40B4-BE49-F238E27FC236}">
                <a16:creationId xmlns:a16="http://schemas.microsoft.com/office/drawing/2014/main" id="{E52168D8-A09B-A72C-D08B-2D7F0C7566B2}"/>
              </a:ext>
            </a:extLst>
          </p:cNvPr>
          <p:cNvPicPr>
            <a:picLocks noChangeAspect="1"/>
          </p:cNvPicPr>
          <p:nvPr/>
        </p:nvPicPr>
        <p:blipFill>
          <a:blip r:embed="rId4"/>
          <a:stretch>
            <a:fillRect/>
          </a:stretch>
        </p:blipFill>
        <p:spPr>
          <a:xfrm>
            <a:off x="2982163" y="3548062"/>
            <a:ext cx="2686050" cy="1866900"/>
          </a:xfrm>
          <a:prstGeom prst="rect">
            <a:avLst/>
          </a:prstGeom>
        </p:spPr>
      </p:pic>
      <p:pic>
        <p:nvPicPr>
          <p:cNvPr id="11" name="Picture 10">
            <a:extLst>
              <a:ext uri="{FF2B5EF4-FFF2-40B4-BE49-F238E27FC236}">
                <a16:creationId xmlns:a16="http://schemas.microsoft.com/office/drawing/2014/main" id="{BD1441CF-76A4-4ECE-F240-D669BDD61A58}"/>
              </a:ext>
            </a:extLst>
          </p:cNvPr>
          <p:cNvPicPr>
            <a:picLocks noChangeAspect="1"/>
          </p:cNvPicPr>
          <p:nvPr/>
        </p:nvPicPr>
        <p:blipFill>
          <a:blip r:embed="rId5"/>
          <a:stretch>
            <a:fillRect/>
          </a:stretch>
        </p:blipFill>
        <p:spPr>
          <a:xfrm>
            <a:off x="5963488" y="3629025"/>
            <a:ext cx="2895600" cy="1866900"/>
          </a:xfrm>
          <a:prstGeom prst="rect">
            <a:avLst/>
          </a:prstGeom>
        </p:spPr>
      </p:pic>
    </p:spTree>
    <p:extLst>
      <p:ext uri="{BB962C8B-B14F-4D97-AF65-F5344CB8AC3E}">
        <p14:creationId xmlns:p14="http://schemas.microsoft.com/office/powerpoint/2010/main" val="366752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DC4C-DA64-6729-DA46-ED9B9C8F614B}"/>
              </a:ext>
            </a:extLst>
          </p:cNvPr>
          <p:cNvSpPr>
            <a:spLocks noGrp="1"/>
          </p:cNvSpPr>
          <p:nvPr>
            <p:ph type="title"/>
          </p:nvPr>
        </p:nvSpPr>
        <p:spPr/>
        <p:txBody>
          <a:bodyPr/>
          <a:lstStyle/>
          <a:p>
            <a:br>
              <a:rPr lang="fr-FR" b="1" i="0" dirty="0">
                <a:solidFill>
                  <a:srgbClr val="0F0F0F"/>
                </a:solidFill>
                <a:effectLst/>
                <a:latin typeface="Roboto" panose="02000000000000000000" pitchFamily="2" charset="0"/>
              </a:rPr>
            </a:br>
            <a:endParaRPr lang="fr-DZ" dirty="0"/>
          </a:p>
        </p:txBody>
      </p:sp>
      <p:pic>
        <p:nvPicPr>
          <p:cNvPr id="5" name="Picture 4">
            <a:extLst>
              <a:ext uri="{FF2B5EF4-FFF2-40B4-BE49-F238E27FC236}">
                <a16:creationId xmlns:a16="http://schemas.microsoft.com/office/drawing/2014/main" id="{2A93F7C8-72F6-E54D-7BD4-DC35BEBAA3A5}"/>
              </a:ext>
            </a:extLst>
          </p:cNvPr>
          <p:cNvPicPr>
            <a:picLocks noChangeAspect="1"/>
          </p:cNvPicPr>
          <p:nvPr/>
        </p:nvPicPr>
        <p:blipFill>
          <a:blip r:embed="rId2"/>
          <a:stretch>
            <a:fillRect/>
          </a:stretch>
        </p:blipFill>
        <p:spPr>
          <a:xfrm>
            <a:off x="1346531" y="1610519"/>
            <a:ext cx="7423984" cy="2720321"/>
          </a:xfrm>
          <a:prstGeom prst="rect">
            <a:avLst/>
          </a:prstGeom>
        </p:spPr>
      </p:pic>
      <p:sp>
        <p:nvSpPr>
          <p:cNvPr id="6" name="TextBox 5">
            <a:extLst>
              <a:ext uri="{FF2B5EF4-FFF2-40B4-BE49-F238E27FC236}">
                <a16:creationId xmlns:a16="http://schemas.microsoft.com/office/drawing/2014/main" id="{FDBE773F-BE88-06E1-CF1F-567E244E6F6B}"/>
              </a:ext>
            </a:extLst>
          </p:cNvPr>
          <p:cNvSpPr txBox="1"/>
          <p:nvPr/>
        </p:nvSpPr>
        <p:spPr>
          <a:xfrm>
            <a:off x="1647276" y="466162"/>
            <a:ext cx="8441924" cy="707886"/>
          </a:xfrm>
          <a:prstGeom prst="rect">
            <a:avLst/>
          </a:prstGeom>
          <a:noFill/>
        </p:spPr>
        <p:txBody>
          <a:bodyPr wrap="square">
            <a:spAutoFit/>
          </a:bodyPr>
          <a:lstStyle/>
          <a:p>
            <a:pPr algn="ctr"/>
            <a:r>
              <a:rPr lang="fr-FR" sz="4000" b="1" dirty="0">
                <a:solidFill>
                  <a:srgbClr val="FF0000"/>
                </a:solidFill>
                <a:latin typeface="Times New Roman" panose="02020603050405020304" pitchFamily="18" charset="0"/>
                <a:cs typeface="Times New Roman" panose="02020603050405020304" pitchFamily="18" charset="0"/>
              </a:rPr>
              <a:t>Content</a:t>
            </a:r>
            <a:endParaRPr lang="fr-DZ" sz="4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8401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D8CAA-DCFA-A02F-43D5-88DAEC4F3C36}"/>
              </a:ext>
            </a:extLst>
          </p:cNvPr>
          <p:cNvSpPr>
            <a:spLocks noGrp="1"/>
          </p:cNvSpPr>
          <p:nvPr>
            <p:ph type="title"/>
          </p:nvPr>
        </p:nvSpPr>
        <p:spPr>
          <a:xfrm>
            <a:off x="575915" y="-45229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Introduction</a:t>
            </a:r>
            <a:r>
              <a:rPr lang="fr-CA" dirty="0"/>
              <a:t> </a:t>
            </a:r>
            <a:endParaRPr lang="fr-DZ" dirty="0"/>
          </a:p>
        </p:txBody>
      </p:sp>
      <p:pic>
        <p:nvPicPr>
          <p:cNvPr id="5" name="Picture 4">
            <a:extLst>
              <a:ext uri="{FF2B5EF4-FFF2-40B4-BE49-F238E27FC236}">
                <a16:creationId xmlns:a16="http://schemas.microsoft.com/office/drawing/2014/main" id="{EE7E0D7F-EAA1-0C37-D807-B381E7E3FE5F}"/>
              </a:ext>
            </a:extLst>
          </p:cNvPr>
          <p:cNvPicPr>
            <a:picLocks noChangeAspect="1"/>
          </p:cNvPicPr>
          <p:nvPr/>
        </p:nvPicPr>
        <p:blipFill>
          <a:blip r:embed="rId2"/>
          <a:stretch>
            <a:fillRect/>
          </a:stretch>
        </p:blipFill>
        <p:spPr>
          <a:xfrm>
            <a:off x="1747490" y="718928"/>
            <a:ext cx="6583421" cy="3581767"/>
          </a:xfrm>
          <a:prstGeom prst="rect">
            <a:avLst/>
          </a:prstGeom>
        </p:spPr>
      </p:pic>
      <p:pic>
        <p:nvPicPr>
          <p:cNvPr id="7" name="Picture 6">
            <a:extLst>
              <a:ext uri="{FF2B5EF4-FFF2-40B4-BE49-F238E27FC236}">
                <a16:creationId xmlns:a16="http://schemas.microsoft.com/office/drawing/2014/main" id="{58A53027-B31F-1C1B-F2AE-257732FECEF9}"/>
              </a:ext>
            </a:extLst>
          </p:cNvPr>
          <p:cNvPicPr>
            <a:picLocks noChangeAspect="1"/>
          </p:cNvPicPr>
          <p:nvPr/>
        </p:nvPicPr>
        <p:blipFill>
          <a:blip r:embed="rId3"/>
          <a:stretch>
            <a:fillRect/>
          </a:stretch>
        </p:blipFill>
        <p:spPr>
          <a:xfrm>
            <a:off x="1878308" y="4300695"/>
            <a:ext cx="6321784" cy="2706259"/>
          </a:xfrm>
          <a:prstGeom prst="rect">
            <a:avLst/>
          </a:prstGeom>
        </p:spPr>
      </p:pic>
    </p:spTree>
    <p:extLst>
      <p:ext uri="{BB962C8B-B14F-4D97-AF65-F5344CB8AC3E}">
        <p14:creationId xmlns:p14="http://schemas.microsoft.com/office/powerpoint/2010/main" val="98020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EBFC2D-67E4-5092-38C3-A7A92A4A7E48}"/>
              </a:ext>
            </a:extLst>
          </p:cNvPr>
          <p:cNvSpPr>
            <a:spLocks noGrp="1"/>
          </p:cNvSpPr>
          <p:nvPr>
            <p:ph type="title"/>
          </p:nvPr>
        </p:nvSpPr>
        <p:spPr>
          <a:xfrm>
            <a:off x="838200" y="365125"/>
            <a:ext cx="10515600" cy="1325563"/>
          </a:xfrm>
        </p:spPr>
        <p:txBody>
          <a:bodyPr/>
          <a:lstStyle/>
          <a:p>
            <a:r>
              <a:rPr lang="fr-CA" b="1">
                <a:solidFill>
                  <a:srgbClr val="FF0000"/>
                </a:solidFill>
                <a:latin typeface="Times New Roman" panose="02020603050405020304" pitchFamily="18" charset="0"/>
                <a:cs typeface="Times New Roman" panose="02020603050405020304" pitchFamily="18" charset="0"/>
              </a:rPr>
              <a:t>Introduction</a:t>
            </a:r>
            <a:r>
              <a:rPr lang="fr-CA"/>
              <a:t> </a:t>
            </a:r>
            <a:endParaRPr lang="fr-DZ" dirty="0"/>
          </a:p>
        </p:txBody>
      </p:sp>
      <p:pic>
        <p:nvPicPr>
          <p:cNvPr id="10" name="Picture 9">
            <a:extLst>
              <a:ext uri="{FF2B5EF4-FFF2-40B4-BE49-F238E27FC236}">
                <a16:creationId xmlns:a16="http://schemas.microsoft.com/office/drawing/2014/main" id="{11D2BD96-8BD8-BF6A-BE21-58AFD3A248F1}"/>
              </a:ext>
            </a:extLst>
          </p:cNvPr>
          <p:cNvPicPr>
            <a:picLocks noChangeAspect="1"/>
          </p:cNvPicPr>
          <p:nvPr/>
        </p:nvPicPr>
        <p:blipFill>
          <a:blip r:embed="rId2"/>
          <a:stretch>
            <a:fillRect/>
          </a:stretch>
        </p:blipFill>
        <p:spPr>
          <a:xfrm>
            <a:off x="1160480" y="2053893"/>
            <a:ext cx="7981950" cy="2066925"/>
          </a:xfrm>
          <a:prstGeom prst="rect">
            <a:avLst/>
          </a:prstGeom>
        </p:spPr>
      </p:pic>
    </p:spTree>
    <p:extLst>
      <p:ext uri="{BB962C8B-B14F-4D97-AF65-F5344CB8AC3E}">
        <p14:creationId xmlns:p14="http://schemas.microsoft.com/office/powerpoint/2010/main" val="61824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DF5ED5-F409-5959-884D-7B39240E5516}"/>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Introduction</a:t>
            </a:r>
            <a:r>
              <a:rPr lang="fr-CA" dirty="0"/>
              <a:t> </a:t>
            </a:r>
            <a:endParaRPr lang="fr-DZ" dirty="0"/>
          </a:p>
        </p:txBody>
      </p:sp>
      <p:pic>
        <p:nvPicPr>
          <p:cNvPr id="12" name="Picture 11">
            <a:extLst>
              <a:ext uri="{FF2B5EF4-FFF2-40B4-BE49-F238E27FC236}">
                <a16:creationId xmlns:a16="http://schemas.microsoft.com/office/drawing/2014/main" id="{C296C98A-8458-CF70-09EB-15A796DD6FB3}"/>
              </a:ext>
            </a:extLst>
          </p:cNvPr>
          <p:cNvPicPr>
            <a:picLocks noChangeAspect="1"/>
          </p:cNvPicPr>
          <p:nvPr/>
        </p:nvPicPr>
        <p:blipFill>
          <a:blip r:embed="rId2"/>
          <a:stretch>
            <a:fillRect/>
          </a:stretch>
        </p:blipFill>
        <p:spPr>
          <a:xfrm>
            <a:off x="2072419" y="1690688"/>
            <a:ext cx="7343775" cy="3905250"/>
          </a:xfrm>
          <a:prstGeom prst="rect">
            <a:avLst/>
          </a:prstGeom>
        </p:spPr>
      </p:pic>
    </p:spTree>
    <p:extLst>
      <p:ext uri="{BB962C8B-B14F-4D97-AF65-F5344CB8AC3E}">
        <p14:creationId xmlns:p14="http://schemas.microsoft.com/office/powerpoint/2010/main" val="1069099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3CE44D-3763-415A-81BA-8D9F3EB21C79}"/>
              </a:ext>
            </a:extLst>
          </p:cNvPr>
          <p:cNvPicPr>
            <a:picLocks noChangeAspect="1"/>
          </p:cNvPicPr>
          <p:nvPr/>
        </p:nvPicPr>
        <p:blipFill>
          <a:blip r:embed="rId2"/>
          <a:stretch>
            <a:fillRect/>
          </a:stretch>
        </p:blipFill>
        <p:spPr>
          <a:xfrm>
            <a:off x="1928916" y="1690688"/>
            <a:ext cx="7972425" cy="4591050"/>
          </a:xfrm>
          <a:prstGeom prst="rect">
            <a:avLst/>
          </a:prstGeom>
        </p:spPr>
      </p:pic>
      <p:sp>
        <p:nvSpPr>
          <p:cNvPr id="6" name="Title 1">
            <a:extLst>
              <a:ext uri="{FF2B5EF4-FFF2-40B4-BE49-F238E27FC236}">
                <a16:creationId xmlns:a16="http://schemas.microsoft.com/office/drawing/2014/main" id="{17008FC7-E925-E262-001D-B724D6F3687E}"/>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Introduction</a:t>
            </a:r>
            <a:r>
              <a:rPr lang="fr-CA" dirty="0"/>
              <a:t> </a:t>
            </a:r>
            <a:endParaRPr lang="fr-DZ" dirty="0"/>
          </a:p>
        </p:txBody>
      </p:sp>
    </p:spTree>
    <p:extLst>
      <p:ext uri="{BB962C8B-B14F-4D97-AF65-F5344CB8AC3E}">
        <p14:creationId xmlns:p14="http://schemas.microsoft.com/office/powerpoint/2010/main" val="2116696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80EC0E-B01C-B733-ADED-D3F19248852C}"/>
              </a:ext>
            </a:extLst>
          </p:cNvPr>
          <p:cNvPicPr>
            <a:picLocks noChangeAspect="1"/>
          </p:cNvPicPr>
          <p:nvPr/>
        </p:nvPicPr>
        <p:blipFill>
          <a:blip r:embed="rId2"/>
          <a:stretch>
            <a:fillRect/>
          </a:stretch>
        </p:blipFill>
        <p:spPr>
          <a:xfrm>
            <a:off x="1157861" y="1519866"/>
            <a:ext cx="8337831" cy="5129558"/>
          </a:xfrm>
          <a:prstGeom prst="rect">
            <a:avLst/>
          </a:prstGeom>
        </p:spPr>
      </p:pic>
      <p:sp>
        <p:nvSpPr>
          <p:cNvPr id="6" name="Title 1">
            <a:extLst>
              <a:ext uri="{FF2B5EF4-FFF2-40B4-BE49-F238E27FC236}">
                <a16:creationId xmlns:a16="http://schemas.microsoft.com/office/drawing/2014/main" id="{B1E6629E-4D91-59EE-E2DF-F5218F8840E5}"/>
              </a:ext>
            </a:extLst>
          </p:cNvPr>
          <p:cNvSpPr>
            <a:spLocks noGrp="1"/>
          </p:cNvSpPr>
          <p:nvPr>
            <p:ph type="title"/>
          </p:nvPr>
        </p:nvSpPr>
        <p:spPr>
          <a:xfrm>
            <a:off x="838200" y="194303"/>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Introduction</a:t>
            </a:r>
            <a:r>
              <a:rPr lang="fr-CA" dirty="0"/>
              <a:t> </a:t>
            </a:r>
            <a:endParaRPr lang="fr-DZ" dirty="0"/>
          </a:p>
        </p:txBody>
      </p:sp>
    </p:spTree>
    <p:extLst>
      <p:ext uri="{BB962C8B-B14F-4D97-AF65-F5344CB8AC3E}">
        <p14:creationId xmlns:p14="http://schemas.microsoft.com/office/powerpoint/2010/main" val="3375818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5E85107-270F-5F7F-D39C-6FE39464B1CF}"/>
              </a:ext>
            </a:extLst>
          </p:cNvPr>
          <p:cNvPicPr>
            <a:picLocks noChangeAspect="1"/>
          </p:cNvPicPr>
          <p:nvPr/>
        </p:nvPicPr>
        <p:blipFill>
          <a:blip r:embed="rId2"/>
          <a:stretch>
            <a:fillRect/>
          </a:stretch>
        </p:blipFill>
        <p:spPr>
          <a:xfrm>
            <a:off x="1943205" y="1979840"/>
            <a:ext cx="7943850" cy="2114550"/>
          </a:xfrm>
          <a:prstGeom prst="rect">
            <a:avLst/>
          </a:prstGeom>
        </p:spPr>
      </p:pic>
      <p:sp>
        <p:nvSpPr>
          <p:cNvPr id="10" name="Title 1">
            <a:extLst>
              <a:ext uri="{FF2B5EF4-FFF2-40B4-BE49-F238E27FC236}">
                <a16:creationId xmlns:a16="http://schemas.microsoft.com/office/drawing/2014/main" id="{9C91A0D4-568E-3D15-B90B-8A31EE891B66}"/>
              </a:ext>
            </a:extLst>
          </p:cNvPr>
          <p:cNvSpPr>
            <a:spLocks noGrp="1"/>
          </p:cNvSpPr>
          <p:nvPr>
            <p:ph type="title"/>
          </p:nvPr>
        </p:nvSpPr>
        <p:spPr>
          <a:xfrm>
            <a:off x="838200" y="194303"/>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Introduction</a:t>
            </a:r>
            <a:r>
              <a:rPr lang="fr-CA" dirty="0"/>
              <a:t> </a:t>
            </a:r>
            <a:endParaRPr lang="fr-DZ" dirty="0"/>
          </a:p>
        </p:txBody>
      </p:sp>
    </p:spTree>
    <p:extLst>
      <p:ext uri="{BB962C8B-B14F-4D97-AF65-F5344CB8AC3E}">
        <p14:creationId xmlns:p14="http://schemas.microsoft.com/office/powerpoint/2010/main" val="1068194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8ED66-DF57-02D7-38A4-2D6B11F66338}"/>
              </a:ext>
            </a:extLst>
          </p:cNvPr>
          <p:cNvSpPr>
            <a:spLocks noGrp="1"/>
          </p:cNvSpPr>
          <p:nvPr>
            <p:ph type="title"/>
          </p:nvPr>
        </p:nvSpPr>
        <p:spPr>
          <a:xfrm>
            <a:off x="627185" y="-167438"/>
            <a:ext cx="10515600" cy="1325563"/>
          </a:xfrm>
        </p:spPr>
        <p:txBody>
          <a:bodyPr/>
          <a:lstStyle/>
          <a:p>
            <a:r>
              <a:rPr lang="fr-CA" b="1" dirty="0" err="1">
                <a:solidFill>
                  <a:srgbClr val="FF0000"/>
                </a:solidFill>
                <a:latin typeface="Times New Roman" panose="02020603050405020304" pitchFamily="18" charset="0"/>
                <a:cs typeface="Times New Roman" panose="02020603050405020304" pitchFamily="18" charset="0"/>
              </a:rPr>
              <a:t>Concurrency</a:t>
            </a:r>
            <a:r>
              <a:rPr lang="fr-CA" b="1" dirty="0">
                <a:solidFill>
                  <a:srgbClr val="FF0000"/>
                </a:solidFill>
                <a:latin typeface="Times New Roman" panose="02020603050405020304" pitchFamily="18" charset="0"/>
                <a:cs typeface="Times New Roman" panose="02020603050405020304" pitchFamily="18" charset="0"/>
              </a:rPr>
              <a:t>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E3E507D-7147-F1B2-4CF3-6135ED1C2E89}"/>
              </a:ext>
            </a:extLst>
          </p:cNvPr>
          <p:cNvPicPr>
            <a:picLocks noChangeAspect="1"/>
          </p:cNvPicPr>
          <p:nvPr/>
        </p:nvPicPr>
        <p:blipFill>
          <a:blip r:embed="rId2"/>
          <a:stretch>
            <a:fillRect/>
          </a:stretch>
        </p:blipFill>
        <p:spPr>
          <a:xfrm>
            <a:off x="1362494" y="1139825"/>
            <a:ext cx="8020050" cy="2886075"/>
          </a:xfrm>
          <a:prstGeom prst="rect">
            <a:avLst/>
          </a:prstGeom>
        </p:spPr>
      </p:pic>
      <p:pic>
        <p:nvPicPr>
          <p:cNvPr id="9" name="Picture 8">
            <a:extLst>
              <a:ext uri="{FF2B5EF4-FFF2-40B4-BE49-F238E27FC236}">
                <a16:creationId xmlns:a16="http://schemas.microsoft.com/office/drawing/2014/main" id="{ACE29E55-CB33-57FC-1A3D-CC8DCC6321E1}"/>
              </a:ext>
            </a:extLst>
          </p:cNvPr>
          <p:cNvPicPr>
            <a:picLocks noChangeAspect="1"/>
          </p:cNvPicPr>
          <p:nvPr/>
        </p:nvPicPr>
        <p:blipFill>
          <a:blip r:embed="rId3"/>
          <a:stretch>
            <a:fillRect/>
          </a:stretch>
        </p:blipFill>
        <p:spPr>
          <a:xfrm>
            <a:off x="3152775" y="4025900"/>
            <a:ext cx="5886450" cy="2466975"/>
          </a:xfrm>
          <a:prstGeom prst="rect">
            <a:avLst/>
          </a:prstGeom>
        </p:spPr>
      </p:pic>
    </p:spTree>
    <p:extLst>
      <p:ext uri="{BB962C8B-B14F-4D97-AF65-F5344CB8AC3E}">
        <p14:creationId xmlns:p14="http://schemas.microsoft.com/office/powerpoint/2010/main" val="1983254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8146AD-D661-C787-0549-8BEB6E7D6659}"/>
              </a:ext>
            </a:extLst>
          </p:cNvPr>
          <p:cNvPicPr>
            <a:picLocks noChangeAspect="1"/>
          </p:cNvPicPr>
          <p:nvPr/>
        </p:nvPicPr>
        <p:blipFill>
          <a:blip r:embed="rId2"/>
          <a:stretch>
            <a:fillRect/>
          </a:stretch>
        </p:blipFill>
        <p:spPr>
          <a:xfrm>
            <a:off x="1989730" y="1544044"/>
            <a:ext cx="7991475" cy="3990975"/>
          </a:xfrm>
          <a:prstGeom prst="rect">
            <a:avLst/>
          </a:prstGeom>
        </p:spPr>
      </p:pic>
      <p:sp>
        <p:nvSpPr>
          <p:cNvPr id="6" name="Title 1">
            <a:extLst>
              <a:ext uri="{FF2B5EF4-FFF2-40B4-BE49-F238E27FC236}">
                <a16:creationId xmlns:a16="http://schemas.microsoft.com/office/drawing/2014/main" id="{CAE1163F-91A0-8BBB-D29B-D56A1EB90F01}"/>
              </a:ext>
            </a:extLst>
          </p:cNvPr>
          <p:cNvSpPr>
            <a:spLocks noGrp="1"/>
          </p:cNvSpPr>
          <p:nvPr>
            <p:ph type="title"/>
          </p:nvPr>
        </p:nvSpPr>
        <p:spPr>
          <a:xfrm>
            <a:off x="627184" y="137684"/>
            <a:ext cx="10515600" cy="1325563"/>
          </a:xfrm>
        </p:spPr>
        <p:txBody>
          <a:bodyPr/>
          <a:lstStyle/>
          <a:p>
            <a:r>
              <a:rPr lang="fr-CA" b="1" dirty="0" err="1">
                <a:solidFill>
                  <a:srgbClr val="FF0000"/>
                </a:solidFill>
                <a:latin typeface="Times New Roman" panose="02020603050405020304" pitchFamily="18" charset="0"/>
                <a:cs typeface="Times New Roman" panose="02020603050405020304" pitchFamily="18" charset="0"/>
              </a:rPr>
              <a:t>Concurrency</a:t>
            </a:r>
            <a:r>
              <a:rPr lang="fr-CA" b="1" dirty="0">
                <a:solidFill>
                  <a:srgbClr val="FF0000"/>
                </a:solidFill>
                <a:latin typeface="Times New Roman" panose="02020603050405020304" pitchFamily="18" charset="0"/>
                <a:cs typeface="Times New Roman" panose="02020603050405020304" pitchFamily="18" charset="0"/>
              </a:rPr>
              <a:t>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3083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B76F1C7-E31A-FEB9-9E3C-7DC802FEC289}"/>
              </a:ext>
            </a:extLst>
          </p:cNvPr>
          <p:cNvSpPr>
            <a:spLocks noGrp="1"/>
          </p:cNvSpPr>
          <p:nvPr>
            <p:ph type="title"/>
          </p:nvPr>
        </p:nvSpPr>
        <p:spPr>
          <a:xfrm>
            <a:off x="627184" y="137684"/>
            <a:ext cx="10515600" cy="1325563"/>
          </a:xfrm>
        </p:spPr>
        <p:txBody>
          <a:bodyPr/>
          <a:lstStyle/>
          <a:p>
            <a:r>
              <a:rPr lang="fr-CA" b="1" dirty="0" err="1">
                <a:solidFill>
                  <a:srgbClr val="FF0000"/>
                </a:solidFill>
                <a:latin typeface="Times New Roman" panose="02020603050405020304" pitchFamily="18" charset="0"/>
                <a:cs typeface="Times New Roman" panose="02020603050405020304" pitchFamily="18" charset="0"/>
              </a:rPr>
              <a:t>Concurrency</a:t>
            </a:r>
            <a:r>
              <a:rPr lang="fr-CA" b="1" dirty="0">
                <a:solidFill>
                  <a:srgbClr val="FF0000"/>
                </a:solidFill>
                <a:latin typeface="Times New Roman" panose="02020603050405020304" pitchFamily="18" charset="0"/>
                <a:cs typeface="Times New Roman" panose="02020603050405020304" pitchFamily="18" charset="0"/>
              </a:rPr>
              <a:t>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F7CD0EB-4705-7222-F863-185325788B3A}"/>
              </a:ext>
            </a:extLst>
          </p:cNvPr>
          <p:cNvPicPr>
            <a:picLocks noChangeAspect="1"/>
          </p:cNvPicPr>
          <p:nvPr/>
        </p:nvPicPr>
        <p:blipFill>
          <a:blip r:embed="rId2"/>
          <a:stretch>
            <a:fillRect/>
          </a:stretch>
        </p:blipFill>
        <p:spPr>
          <a:xfrm>
            <a:off x="1436913" y="1463247"/>
            <a:ext cx="8562766" cy="4281383"/>
          </a:xfrm>
          <a:prstGeom prst="rect">
            <a:avLst/>
          </a:prstGeom>
        </p:spPr>
      </p:pic>
    </p:spTree>
    <p:extLst>
      <p:ext uri="{BB962C8B-B14F-4D97-AF65-F5344CB8AC3E}">
        <p14:creationId xmlns:p14="http://schemas.microsoft.com/office/powerpoint/2010/main" val="3124854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9E44-7A5B-59C6-B703-C4ABF266FA0B}"/>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The </a:t>
            </a:r>
            <a:r>
              <a:rPr lang="fr-CA" b="1" dirty="0" err="1">
                <a:solidFill>
                  <a:srgbClr val="FF0000"/>
                </a:solidFill>
                <a:latin typeface="Times New Roman" panose="02020603050405020304" pitchFamily="18" charset="0"/>
                <a:cs typeface="Times New Roman" panose="02020603050405020304" pitchFamily="18" charset="0"/>
              </a:rPr>
              <a:t>producer</a:t>
            </a:r>
            <a:r>
              <a:rPr lang="fr-CA" b="1" dirty="0">
                <a:solidFill>
                  <a:srgbClr val="FF0000"/>
                </a:solidFill>
                <a:latin typeface="Times New Roman" panose="02020603050405020304" pitchFamily="18" charset="0"/>
                <a:cs typeface="Times New Roman" panose="02020603050405020304" pitchFamily="18" charset="0"/>
              </a:rPr>
              <a:t>-consumer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BE80505-7999-39F6-0470-F3A5B23C8253}"/>
              </a:ext>
            </a:extLst>
          </p:cNvPr>
          <p:cNvPicPr>
            <a:picLocks noChangeAspect="1"/>
          </p:cNvPicPr>
          <p:nvPr/>
        </p:nvPicPr>
        <p:blipFill>
          <a:blip r:embed="rId2"/>
          <a:stretch>
            <a:fillRect/>
          </a:stretch>
        </p:blipFill>
        <p:spPr>
          <a:xfrm>
            <a:off x="1502176" y="2082103"/>
            <a:ext cx="7800975" cy="1447800"/>
          </a:xfrm>
          <a:prstGeom prst="rect">
            <a:avLst/>
          </a:prstGeom>
        </p:spPr>
      </p:pic>
    </p:spTree>
    <p:extLst>
      <p:ext uri="{BB962C8B-B14F-4D97-AF65-F5344CB8AC3E}">
        <p14:creationId xmlns:p14="http://schemas.microsoft.com/office/powerpoint/2010/main" val="3957228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04C66A-C713-28E7-CF51-59079060FC82}"/>
              </a:ext>
            </a:extLst>
          </p:cNvPr>
          <p:cNvPicPr>
            <a:picLocks noChangeAspect="1"/>
          </p:cNvPicPr>
          <p:nvPr/>
        </p:nvPicPr>
        <p:blipFill>
          <a:blip r:embed="rId2"/>
          <a:stretch>
            <a:fillRect/>
          </a:stretch>
        </p:blipFill>
        <p:spPr>
          <a:xfrm>
            <a:off x="1613812" y="1891654"/>
            <a:ext cx="7943850" cy="4162425"/>
          </a:xfrm>
          <a:prstGeom prst="rect">
            <a:avLst/>
          </a:prstGeom>
        </p:spPr>
      </p:pic>
      <p:sp>
        <p:nvSpPr>
          <p:cNvPr id="6" name="Title 1">
            <a:extLst>
              <a:ext uri="{FF2B5EF4-FFF2-40B4-BE49-F238E27FC236}">
                <a16:creationId xmlns:a16="http://schemas.microsoft.com/office/drawing/2014/main" id="{EB5936E9-F453-0167-2C56-DDFE35983F1B}"/>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The </a:t>
            </a:r>
            <a:r>
              <a:rPr lang="fr-CA" b="1" dirty="0" err="1">
                <a:solidFill>
                  <a:srgbClr val="FF0000"/>
                </a:solidFill>
                <a:latin typeface="Times New Roman" panose="02020603050405020304" pitchFamily="18" charset="0"/>
                <a:cs typeface="Times New Roman" panose="02020603050405020304" pitchFamily="18" charset="0"/>
              </a:rPr>
              <a:t>producer</a:t>
            </a:r>
            <a:r>
              <a:rPr lang="fr-CA" b="1" dirty="0">
                <a:solidFill>
                  <a:srgbClr val="FF0000"/>
                </a:solidFill>
                <a:latin typeface="Times New Roman" panose="02020603050405020304" pitchFamily="18" charset="0"/>
                <a:cs typeface="Times New Roman" panose="02020603050405020304" pitchFamily="18" charset="0"/>
              </a:rPr>
              <a:t>-consumer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945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88C1055-6F1D-BE6D-DF7B-0806949F2617}"/>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The </a:t>
            </a:r>
            <a:r>
              <a:rPr lang="fr-CA" b="1" dirty="0" err="1">
                <a:solidFill>
                  <a:srgbClr val="FF0000"/>
                </a:solidFill>
                <a:latin typeface="Times New Roman" panose="02020603050405020304" pitchFamily="18" charset="0"/>
                <a:cs typeface="Times New Roman" panose="02020603050405020304" pitchFamily="18" charset="0"/>
              </a:rPr>
              <a:t>producer</a:t>
            </a:r>
            <a:r>
              <a:rPr lang="fr-CA" b="1" dirty="0">
                <a:solidFill>
                  <a:srgbClr val="FF0000"/>
                </a:solidFill>
                <a:latin typeface="Times New Roman" panose="02020603050405020304" pitchFamily="18" charset="0"/>
                <a:cs typeface="Times New Roman" panose="02020603050405020304" pitchFamily="18" charset="0"/>
              </a:rPr>
              <a:t>-consumer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E4C73AB-6E20-5DBB-0E05-899CB97C90CE}"/>
              </a:ext>
            </a:extLst>
          </p:cNvPr>
          <p:cNvPicPr>
            <a:picLocks noChangeAspect="1"/>
          </p:cNvPicPr>
          <p:nvPr/>
        </p:nvPicPr>
        <p:blipFill>
          <a:blip r:embed="rId2"/>
          <a:stretch>
            <a:fillRect/>
          </a:stretch>
        </p:blipFill>
        <p:spPr>
          <a:xfrm>
            <a:off x="1647040" y="2214667"/>
            <a:ext cx="7953375" cy="2066925"/>
          </a:xfrm>
          <a:prstGeom prst="rect">
            <a:avLst/>
          </a:prstGeom>
        </p:spPr>
      </p:pic>
    </p:spTree>
    <p:extLst>
      <p:ext uri="{BB962C8B-B14F-4D97-AF65-F5344CB8AC3E}">
        <p14:creationId xmlns:p14="http://schemas.microsoft.com/office/powerpoint/2010/main" val="3624037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E8ED27-1B29-8059-8315-901309D3E944}"/>
              </a:ext>
            </a:extLst>
          </p:cNvPr>
          <p:cNvPicPr>
            <a:picLocks noChangeAspect="1"/>
          </p:cNvPicPr>
          <p:nvPr/>
        </p:nvPicPr>
        <p:blipFill>
          <a:blip r:embed="rId2"/>
          <a:stretch>
            <a:fillRect/>
          </a:stretch>
        </p:blipFill>
        <p:spPr>
          <a:xfrm>
            <a:off x="1239985" y="1690688"/>
            <a:ext cx="9344508" cy="4889831"/>
          </a:xfrm>
          <a:prstGeom prst="rect">
            <a:avLst/>
          </a:prstGeom>
        </p:spPr>
      </p:pic>
      <p:sp>
        <p:nvSpPr>
          <p:cNvPr id="6" name="Title 1">
            <a:extLst>
              <a:ext uri="{FF2B5EF4-FFF2-40B4-BE49-F238E27FC236}">
                <a16:creationId xmlns:a16="http://schemas.microsoft.com/office/drawing/2014/main" id="{F93001C1-8F34-428F-657A-79A0674E88DA}"/>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The </a:t>
            </a:r>
            <a:r>
              <a:rPr lang="fr-CA" b="1" dirty="0" err="1">
                <a:solidFill>
                  <a:srgbClr val="FF0000"/>
                </a:solidFill>
                <a:latin typeface="Times New Roman" panose="02020603050405020304" pitchFamily="18" charset="0"/>
                <a:cs typeface="Times New Roman" panose="02020603050405020304" pitchFamily="18" charset="0"/>
              </a:rPr>
              <a:t>producer</a:t>
            </a:r>
            <a:r>
              <a:rPr lang="fr-CA" b="1" dirty="0">
                <a:solidFill>
                  <a:srgbClr val="FF0000"/>
                </a:solidFill>
                <a:latin typeface="Times New Roman" panose="02020603050405020304" pitchFamily="18" charset="0"/>
                <a:cs typeface="Times New Roman" panose="02020603050405020304" pitchFamily="18" charset="0"/>
              </a:rPr>
              <a:t>-consumer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2799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1AE287-63C4-AE7D-FD84-F91C410C15D7}"/>
              </a:ext>
            </a:extLst>
          </p:cNvPr>
          <p:cNvPicPr>
            <a:picLocks noChangeAspect="1"/>
          </p:cNvPicPr>
          <p:nvPr/>
        </p:nvPicPr>
        <p:blipFill>
          <a:blip r:embed="rId2"/>
          <a:stretch>
            <a:fillRect/>
          </a:stretch>
        </p:blipFill>
        <p:spPr>
          <a:xfrm>
            <a:off x="1794050" y="1900500"/>
            <a:ext cx="8001000" cy="3981450"/>
          </a:xfrm>
          <a:prstGeom prst="rect">
            <a:avLst/>
          </a:prstGeom>
        </p:spPr>
      </p:pic>
      <p:sp>
        <p:nvSpPr>
          <p:cNvPr id="6" name="Title 1">
            <a:extLst>
              <a:ext uri="{FF2B5EF4-FFF2-40B4-BE49-F238E27FC236}">
                <a16:creationId xmlns:a16="http://schemas.microsoft.com/office/drawing/2014/main" id="{23B9D7BE-70DC-CD99-3C45-72F9EBCC70F2}"/>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The </a:t>
            </a:r>
            <a:r>
              <a:rPr lang="fr-CA" b="1" dirty="0" err="1">
                <a:solidFill>
                  <a:srgbClr val="FF0000"/>
                </a:solidFill>
                <a:latin typeface="Times New Roman" panose="02020603050405020304" pitchFamily="18" charset="0"/>
                <a:cs typeface="Times New Roman" panose="02020603050405020304" pitchFamily="18" charset="0"/>
              </a:rPr>
              <a:t>producer</a:t>
            </a:r>
            <a:r>
              <a:rPr lang="fr-CA" b="1" dirty="0">
                <a:solidFill>
                  <a:srgbClr val="FF0000"/>
                </a:solidFill>
                <a:latin typeface="Times New Roman" panose="02020603050405020304" pitchFamily="18" charset="0"/>
                <a:cs typeface="Times New Roman" panose="02020603050405020304" pitchFamily="18" charset="0"/>
              </a:rPr>
              <a:t>-consumer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7182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4DC4A2A-9F1E-836F-99FF-2A2F9523C03B}"/>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The </a:t>
            </a:r>
            <a:r>
              <a:rPr lang="fr-CA" b="1" dirty="0" err="1">
                <a:solidFill>
                  <a:srgbClr val="FF0000"/>
                </a:solidFill>
                <a:latin typeface="Times New Roman" panose="02020603050405020304" pitchFamily="18" charset="0"/>
                <a:cs typeface="Times New Roman" panose="02020603050405020304" pitchFamily="18" charset="0"/>
              </a:rPr>
              <a:t>producer</a:t>
            </a:r>
            <a:r>
              <a:rPr lang="fr-CA" b="1" dirty="0">
                <a:solidFill>
                  <a:srgbClr val="FF0000"/>
                </a:solidFill>
                <a:latin typeface="Times New Roman" panose="02020603050405020304" pitchFamily="18" charset="0"/>
                <a:cs typeface="Times New Roman" panose="02020603050405020304" pitchFamily="18" charset="0"/>
              </a:rPr>
              <a:t>-consumer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E7E9916-2E20-B936-0D84-53F4075EBD69}"/>
              </a:ext>
            </a:extLst>
          </p:cNvPr>
          <p:cNvPicPr>
            <a:picLocks noChangeAspect="1"/>
          </p:cNvPicPr>
          <p:nvPr/>
        </p:nvPicPr>
        <p:blipFill>
          <a:blip r:embed="rId2"/>
          <a:stretch>
            <a:fillRect/>
          </a:stretch>
        </p:blipFill>
        <p:spPr>
          <a:xfrm>
            <a:off x="2349639" y="1690688"/>
            <a:ext cx="7010400" cy="3924300"/>
          </a:xfrm>
          <a:prstGeom prst="rect">
            <a:avLst/>
          </a:prstGeom>
        </p:spPr>
      </p:pic>
    </p:spTree>
    <p:extLst>
      <p:ext uri="{BB962C8B-B14F-4D97-AF65-F5344CB8AC3E}">
        <p14:creationId xmlns:p14="http://schemas.microsoft.com/office/powerpoint/2010/main" val="236902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A12189-A730-70B0-AF76-1E760974060E}"/>
              </a:ext>
            </a:extLst>
          </p:cNvPr>
          <p:cNvPicPr>
            <a:picLocks noChangeAspect="1"/>
          </p:cNvPicPr>
          <p:nvPr/>
        </p:nvPicPr>
        <p:blipFill>
          <a:blip r:embed="rId2"/>
          <a:stretch>
            <a:fillRect/>
          </a:stretch>
        </p:blipFill>
        <p:spPr>
          <a:xfrm>
            <a:off x="1433669" y="2116382"/>
            <a:ext cx="6953250" cy="3609975"/>
          </a:xfrm>
          <a:prstGeom prst="rect">
            <a:avLst/>
          </a:prstGeom>
        </p:spPr>
      </p:pic>
      <p:sp>
        <p:nvSpPr>
          <p:cNvPr id="6" name="Title 1">
            <a:extLst>
              <a:ext uri="{FF2B5EF4-FFF2-40B4-BE49-F238E27FC236}">
                <a16:creationId xmlns:a16="http://schemas.microsoft.com/office/drawing/2014/main" id="{AB65937F-37E7-6F12-5053-EE269155D7B3}"/>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The </a:t>
            </a:r>
            <a:r>
              <a:rPr lang="fr-CA" b="1" dirty="0" err="1">
                <a:solidFill>
                  <a:srgbClr val="FF0000"/>
                </a:solidFill>
                <a:latin typeface="Times New Roman" panose="02020603050405020304" pitchFamily="18" charset="0"/>
                <a:cs typeface="Times New Roman" panose="02020603050405020304" pitchFamily="18" charset="0"/>
              </a:rPr>
              <a:t>producer</a:t>
            </a:r>
            <a:r>
              <a:rPr lang="fr-CA" b="1" dirty="0">
                <a:solidFill>
                  <a:srgbClr val="FF0000"/>
                </a:solidFill>
                <a:latin typeface="Times New Roman" panose="02020603050405020304" pitchFamily="18" charset="0"/>
                <a:cs typeface="Times New Roman" panose="02020603050405020304" pitchFamily="18" charset="0"/>
              </a:rPr>
              <a:t>-consumer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634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79E9F-68A5-3C97-5908-FB8300319B09}"/>
              </a:ext>
            </a:extLst>
          </p:cNvPr>
          <p:cNvSpPr>
            <a:spLocks noGrp="1"/>
          </p:cNvSpPr>
          <p:nvPr>
            <p:ph type="title"/>
          </p:nvPr>
        </p:nvSpPr>
        <p:spPr>
          <a:xfrm>
            <a:off x="838200" y="0"/>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0E4A75-CAD8-299F-46FC-FD755904EAC5}"/>
              </a:ext>
            </a:extLst>
          </p:cNvPr>
          <p:cNvPicPr>
            <a:picLocks noChangeAspect="1"/>
          </p:cNvPicPr>
          <p:nvPr/>
        </p:nvPicPr>
        <p:blipFill>
          <a:blip r:embed="rId3"/>
          <a:stretch>
            <a:fillRect/>
          </a:stretch>
        </p:blipFill>
        <p:spPr>
          <a:xfrm>
            <a:off x="1597267" y="1325563"/>
            <a:ext cx="8997465" cy="5000992"/>
          </a:xfrm>
          <a:prstGeom prst="rect">
            <a:avLst/>
          </a:prstGeom>
        </p:spPr>
      </p:pic>
    </p:spTree>
    <p:extLst>
      <p:ext uri="{BB962C8B-B14F-4D97-AF65-F5344CB8AC3E}">
        <p14:creationId xmlns:p14="http://schemas.microsoft.com/office/powerpoint/2010/main" val="2004888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F10AAC-6A87-DBAA-DA17-744DB5720A4D}"/>
              </a:ext>
            </a:extLst>
          </p:cNvPr>
          <p:cNvPicPr>
            <a:picLocks noChangeAspect="1"/>
          </p:cNvPicPr>
          <p:nvPr/>
        </p:nvPicPr>
        <p:blipFill>
          <a:blip r:embed="rId2"/>
          <a:stretch>
            <a:fillRect/>
          </a:stretch>
        </p:blipFill>
        <p:spPr>
          <a:xfrm>
            <a:off x="2147887" y="2054574"/>
            <a:ext cx="7896225" cy="3371850"/>
          </a:xfrm>
          <a:prstGeom prst="rect">
            <a:avLst/>
          </a:prstGeom>
        </p:spPr>
      </p:pic>
      <p:sp>
        <p:nvSpPr>
          <p:cNvPr id="6" name="Title 1">
            <a:extLst>
              <a:ext uri="{FF2B5EF4-FFF2-40B4-BE49-F238E27FC236}">
                <a16:creationId xmlns:a16="http://schemas.microsoft.com/office/drawing/2014/main" id="{18BBE568-5C3E-9690-4C06-00443F237E12}"/>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6926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3FB99A-9477-99B8-E408-D8656C0784D6}"/>
              </a:ext>
            </a:extLst>
          </p:cNvPr>
          <p:cNvPicPr>
            <a:picLocks noChangeAspect="1"/>
          </p:cNvPicPr>
          <p:nvPr/>
        </p:nvPicPr>
        <p:blipFill>
          <a:blip r:embed="rId2"/>
          <a:stretch>
            <a:fillRect/>
          </a:stretch>
        </p:blipFill>
        <p:spPr>
          <a:xfrm>
            <a:off x="1883438" y="2075194"/>
            <a:ext cx="7962900" cy="3390900"/>
          </a:xfrm>
          <a:prstGeom prst="rect">
            <a:avLst/>
          </a:prstGeom>
        </p:spPr>
      </p:pic>
      <p:sp>
        <p:nvSpPr>
          <p:cNvPr id="6" name="Title 1">
            <a:extLst>
              <a:ext uri="{FF2B5EF4-FFF2-40B4-BE49-F238E27FC236}">
                <a16:creationId xmlns:a16="http://schemas.microsoft.com/office/drawing/2014/main" id="{54596096-12AE-FBC9-32BE-8D5D999F8FFE}"/>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9345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1865FD-CE4D-2192-E6C8-3146FA542057}"/>
              </a:ext>
            </a:extLst>
          </p:cNvPr>
          <p:cNvPicPr>
            <a:picLocks noChangeAspect="1"/>
          </p:cNvPicPr>
          <p:nvPr/>
        </p:nvPicPr>
        <p:blipFill>
          <a:blip r:embed="rId3"/>
          <a:stretch>
            <a:fillRect/>
          </a:stretch>
        </p:blipFill>
        <p:spPr>
          <a:xfrm>
            <a:off x="1847483" y="1690688"/>
            <a:ext cx="7934325" cy="4667250"/>
          </a:xfrm>
          <a:prstGeom prst="rect">
            <a:avLst/>
          </a:prstGeom>
        </p:spPr>
      </p:pic>
      <p:sp>
        <p:nvSpPr>
          <p:cNvPr id="6" name="Title 1">
            <a:extLst>
              <a:ext uri="{FF2B5EF4-FFF2-40B4-BE49-F238E27FC236}">
                <a16:creationId xmlns:a16="http://schemas.microsoft.com/office/drawing/2014/main" id="{E0CF09FF-0CB5-030D-3FBB-BAC717BAC5DE}"/>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982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CE7C-803E-E73B-BFDF-3DCFFDBA8AC3}"/>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Description of race condition</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1095B57-D689-047C-1ABC-6EE11CCC4E2A}"/>
              </a:ext>
            </a:extLst>
          </p:cNvPr>
          <p:cNvPicPr>
            <a:picLocks noChangeAspect="1"/>
          </p:cNvPicPr>
          <p:nvPr/>
        </p:nvPicPr>
        <p:blipFill>
          <a:blip r:embed="rId2"/>
          <a:stretch>
            <a:fillRect/>
          </a:stretch>
        </p:blipFill>
        <p:spPr>
          <a:xfrm>
            <a:off x="2668099" y="2433637"/>
            <a:ext cx="4886325" cy="1990725"/>
          </a:xfrm>
          <a:prstGeom prst="rect">
            <a:avLst/>
          </a:prstGeom>
        </p:spPr>
      </p:pic>
      <p:pic>
        <p:nvPicPr>
          <p:cNvPr id="7" name="Picture 6">
            <a:extLst>
              <a:ext uri="{FF2B5EF4-FFF2-40B4-BE49-F238E27FC236}">
                <a16:creationId xmlns:a16="http://schemas.microsoft.com/office/drawing/2014/main" id="{63E63D82-AF8E-1EA2-4571-BBC8B0849F39}"/>
              </a:ext>
            </a:extLst>
          </p:cNvPr>
          <p:cNvPicPr>
            <a:picLocks noChangeAspect="1"/>
          </p:cNvPicPr>
          <p:nvPr/>
        </p:nvPicPr>
        <p:blipFill>
          <a:blip r:embed="rId3"/>
          <a:stretch>
            <a:fillRect/>
          </a:stretch>
        </p:blipFill>
        <p:spPr>
          <a:xfrm>
            <a:off x="2668100" y="2538412"/>
            <a:ext cx="5499588" cy="2364191"/>
          </a:xfrm>
          <a:prstGeom prst="rect">
            <a:avLst/>
          </a:prstGeom>
        </p:spPr>
      </p:pic>
    </p:spTree>
    <p:extLst>
      <p:ext uri="{BB962C8B-B14F-4D97-AF65-F5344CB8AC3E}">
        <p14:creationId xmlns:p14="http://schemas.microsoft.com/office/powerpoint/2010/main" val="21079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text&#10;&#10;AI-generated content may be incorrect.">
            <a:extLst>
              <a:ext uri="{FF2B5EF4-FFF2-40B4-BE49-F238E27FC236}">
                <a16:creationId xmlns:a16="http://schemas.microsoft.com/office/drawing/2014/main" id="{77DD91D7-1037-97A8-ED36-54B3ABDC94DD}"/>
              </a:ext>
            </a:extLst>
          </p:cNvPr>
          <p:cNvPicPr>
            <a:picLocks noChangeAspect="1"/>
          </p:cNvPicPr>
          <p:nvPr/>
        </p:nvPicPr>
        <p:blipFill>
          <a:blip r:embed="rId3"/>
          <a:stretch>
            <a:fillRect/>
          </a:stretch>
        </p:blipFill>
        <p:spPr>
          <a:xfrm>
            <a:off x="1280327" y="2014862"/>
            <a:ext cx="8838363" cy="2828275"/>
          </a:xfrm>
          <a:prstGeom prst="rect">
            <a:avLst/>
          </a:prstGeom>
        </p:spPr>
      </p:pic>
      <p:sp>
        <p:nvSpPr>
          <p:cNvPr id="6" name="Title 1">
            <a:extLst>
              <a:ext uri="{FF2B5EF4-FFF2-40B4-BE49-F238E27FC236}">
                <a16:creationId xmlns:a16="http://schemas.microsoft.com/office/drawing/2014/main" id="{B53F2A1C-1CF6-19A4-746B-14F4AE6A26D4}"/>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Description of race condition</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577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48634B-8509-669A-8C1B-B2BE9D843897}"/>
              </a:ext>
            </a:extLst>
          </p:cNvPr>
          <p:cNvPicPr>
            <a:picLocks noChangeAspect="1"/>
          </p:cNvPicPr>
          <p:nvPr/>
        </p:nvPicPr>
        <p:blipFill>
          <a:blip r:embed="rId3"/>
          <a:stretch>
            <a:fillRect/>
          </a:stretch>
        </p:blipFill>
        <p:spPr>
          <a:xfrm>
            <a:off x="1802004" y="1700736"/>
            <a:ext cx="7924800" cy="4238625"/>
          </a:xfrm>
          <a:prstGeom prst="rect">
            <a:avLst/>
          </a:prstGeom>
        </p:spPr>
      </p:pic>
      <p:sp>
        <p:nvSpPr>
          <p:cNvPr id="6" name="Title 1">
            <a:extLst>
              <a:ext uri="{FF2B5EF4-FFF2-40B4-BE49-F238E27FC236}">
                <a16:creationId xmlns:a16="http://schemas.microsoft.com/office/drawing/2014/main" id="{01872617-3F7B-4F80-E341-115A28E66BB7}"/>
              </a:ext>
            </a:extLst>
          </p:cNvPr>
          <p:cNvSpPr>
            <a:spLocks noGrp="1"/>
          </p:cNvSpPr>
          <p:nvPr>
            <p:ph type="title"/>
          </p:nvPr>
        </p:nvSpPr>
        <p:spPr>
          <a:xfrm>
            <a:off x="838200" y="165422"/>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Description of race condition</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431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A386D-1C8E-2612-A3BC-57F3EA2302B9}"/>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pic>
        <p:nvPicPr>
          <p:cNvPr id="5" name="Picture 4">
            <a:extLst>
              <a:ext uri="{FF2B5EF4-FFF2-40B4-BE49-F238E27FC236}">
                <a16:creationId xmlns:a16="http://schemas.microsoft.com/office/drawing/2014/main" id="{77B45FDB-8F82-1FEA-16CB-CB7DDC11056A}"/>
              </a:ext>
            </a:extLst>
          </p:cNvPr>
          <p:cNvPicPr>
            <a:picLocks noChangeAspect="1"/>
          </p:cNvPicPr>
          <p:nvPr/>
        </p:nvPicPr>
        <p:blipFill>
          <a:blip r:embed="rId2"/>
          <a:stretch>
            <a:fillRect/>
          </a:stretch>
        </p:blipFill>
        <p:spPr>
          <a:xfrm>
            <a:off x="2886075" y="2381250"/>
            <a:ext cx="6419850" cy="2095500"/>
          </a:xfrm>
          <a:prstGeom prst="rect">
            <a:avLst/>
          </a:prstGeom>
        </p:spPr>
      </p:pic>
    </p:spTree>
    <p:extLst>
      <p:ext uri="{BB962C8B-B14F-4D97-AF65-F5344CB8AC3E}">
        <p14:creationId xmlns:p14="http://schemas.microsoft.com/office/powerpoint/2010/main" val="3518789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81559-6FF7-1F79-55B2-DB6EFF5585FE}"/>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pic>
        <p:nvPicPr>
          <p:cNvPr id="5" name="Picture 4">
            <a:extLst>
              <a:ext uri="{FF2B5EF4-FFF2-40B4-BE49-F238E27FC236}">
                <a16:creationId xmlns:a16="http://schemas.microsoft.com/office/drawing/2014/main" id="{298CB635-2AB2-B0C3-4FDF-124C728C68E1}"/>
              </a:ext>
            </a:extLst>
          </p:cNvPr>
          <p:cNvPicPr>
            <a:picLocks noChangeAspect="1"/>
          </p:cNvPicPr>
          <p:nvPr/>
        </p:nvPicPr>
        <p:blipFill>
          <a:blip r:embed="rId2"/>
          <a:stretch>
            <a:fillRect/>
          </a:stretch>
        </p:blipFill>
        <p:spPr>
          <a:xfrm>
            <a:off x="2767012" y="2443162"/>
            <a:ext cx="6657975" cy="1971675"/>
          </a:xfrm>
          <a:prstGeom prst="rect">
            <a:avLst/>
          </a:prstGeom>
        </p:spPr>
      </p:pic>
    </p:spTree>
    <p:extLst>
      <p:ext uri="{BB962C8B-B14F-4D97-AF65-F5344CB8AC3E}">
        <p14:creationId xmlns:p14="http://schemas.microsoft.com/office/powerpoint/2010/main" val="3058353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E579-E66F-1788-1C5E-2A870C87A8D8}"/>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pic>
        <p:nvPicPr>
          <p:cNvPr id="5" name="Picture 4">
            <a:extLst>
              <a:ext uri="{FF2B5EF4-FFF2-40B4-BE49-F238E27FC236}">
                <a16:creationId xmlns:a16="http://schemas.microsoft.com/office/drawing/2014/main" id="{7CF51F9F-5F2F-5187-B464-2A99F46BA3A6}"/>
              </a:ext>
            </a:extLst>
          </p:cNvPr>
          <p:cNvPicPr>
            <a:picLocks noChangeAspect="1"/>
          </p:cNvPicPr>
          <p:nvPr/>
        </p:nvPicPr>
        <p:blipFill>
          <a:blip r:embed="rId2"/>
          <a:stretch>
            <a:fillRect/>
          </a:stretch>
        </p:blipFill>
        <p:spPr>
          <a:xfrm>
            <a:off x="2957512" y="2566987"/>
            <a:ext cx="6276975" cy="1724025"/>
          </a:xfrm>
          <a:prstGeom prst="rect">
            <a:avLst/>
          </a:prstGeom>
        </p:spPr>
      </p:pic>
    </p:spTree>
    <p:extLst>
      <p:ext uri="{BB962C8B-B14F-4D97-AF65-F5344CB8AC3E}">
        <p14:creationId xmlns:p14="http://schemas.microsoft.com/office/powerpoint/2010/main" val="4120806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EC8F-5999-A2F4-7060-338DB5727F9B}"/>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pic>
        <p:nvPicPr>
          <p:cNvPr id="5" name="Picture 4">
            <a:extLst>
              <a:ext uri="{FF2B5EF4-FFF2-40B4-BE49-F238E27FC236}">
                <a16:creationId xmlns:a16="http://schemas.microsoft.com/office/drawing/2014/main" id="{825AB767-E79A-7250-891E-A6EF4D6D9F16}"/>
              </a:ext>
            </a:extLst>
          </p:cNvPr>
          <p:cNvPicPr>
            <a:picLocks noChangeAspect="1"/>
          </p:cNvPicPr>
          <p:nvPr/>
        </p:nvPicPr>
        <p:blipFill>
          <a:blip r:embed="rId2"/>
          <a:stretch>
            <a:fillRect/>
          </a:stretch>
        </p:blipFill>
        <p:spPr>
          <a:xfrm>
            <a:off x="2919412" y="2538412"/>
            <a:ext cx="6353175" cy="1781175"/>
          </a:xfrm>
          <a:prstGeom prst="rect">
            <a:avLst/>
          </a:prstGeom>
        </p:spPr>
      </p:pic>
    </p:spTree>
    <p:extLst>
      <p:ext uri="{BB962C8B-B14F-4D97-AF65-F5344CB8AC3E}">
        <p14:creationId xmlns:p14="http://schemas.microsoft.com/office/powerpoint/2010/main" val="939467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F07A-4079-EF9E-01BF-3CEF694C1283}"/>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pic>
        <p:nvPicPr>
          <p:cNvPr id="5" name="Picture 4">
            <a:extLst>
              <a:ext uri="{FF2B5EF4-FFF2-40B4-BE49-F238E27FC236}">
                <a16:creationId xmlns:a16="http://schemas.microsoft.com/office/drawing/2014/main" id="{D456F75E-F248-E8DE-0E84-433BCDB8BC92}"/>
              </a:ext>
            </a:extLst>
          </p:cNvPr>
          <p:cNvPicPr>
            <a:picLocks noChangeAspect="1"/>
          </p:cNvPicPr>
          <p:nvPr/>
        </p:nvPicPr>
        <p:blipFill>
          <a:blip r:embed="rId2"/>
          <a:stretch>
            <a:fillRect/>
          </a:stretch>
        </p:blipFill>
        <p:spPr>
          <a:xfrm>
            <a:off x="2862262" y="2609850"/>
            <a:ext cx="6467475" cy="1638300"/>
          </a:xfrm>
          <a:prstGeom prst="rect">
            <a:avLst/>
          </a:prstGeom>
        </p:spPr>
      </p:pic>
    </p:spTree>
    <p:extLst>
      <p:ext uri="{BB962C8B-B14F-4D97-AF65-F5344CB8AC3E}">
        <p14:creationId xmlns:p14="http://schemas.microsoft.com/office/powerpoint/2010/main" val="1654437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BFCEE-D77B-440C-5F1B-4CC582D335B6}"/>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pic>
        <p:nvPicPr>
          <p:cNvPr id="5" name="Picture 4">
            <a:extLst>
              <a:ext uri="{FF2B5EF4-FFF2-40B4-BE49-F238E27FC236}">
                <a16:creationId xmlns:a16="http://schemas.microsoft.com/office/drawing/2014/main" id="{11572DB9-D800-FDC3-2C38-0C3797D37B73}"/>
              </a:ext>
            </a:extLst>
          </p:cNvPr>
          <p:cNvPicPr>
            <a:picLocks noChangeAspect="1"/>
          </p:cNvPicPr>
          <p:nvPr/>
        </p:nvPicPr>
        <p:blipFill>
          <a:blip r:embed="rId2"/>
          <a:stretch>
            <a:fillRect/>
          </a:stretch>
        </p:blipFill>
        <p:spPr>
          <a:xfrm>
            <a:off x="1834033" y="2443162"/>
            <a:ext cx="6896100" cy="1971675"/>
          </a:xfrm>
          <a:prstGeom prst="rect">
            <a:avLst/>
          </a:prstGeom>
        </p:spPr>
      </p:pic>
      <p:pic>
        <p:nvPicPr>
          <p:cNvPr id="7" name="Picture 6">
            <a:extLst>
              <a:ext uri="{FF2B5EF4-FFF2-40B4-BE49-F238E27FC236}">
                <a16:creationId xmlns:a16="http://schemas.microsoft.com/office/drawing/2014/main" id="{5681ABB9-75F2-0405-2A70-538F8092E1C6}"/>
              </a:ext>
            </a:extLst>
          </p:cNvPr>
          <p:cNvPicPr>
            <a:picLocks noChangeAspect="1"/>
          </p:cNvPicPr>
          <p:nvPr/>
        </p:nvPicPr>
        <p:blipFill>
          <a:blip r:embed="rId3"/>
          <a:stretch>
            <a:fillRect/>
          </a:stretch>
        </p:blipFill>
        <p:spPr>
          <a:xfrm>
            <a:off x="1983712" y="2425576"/>
            <a:ext cx="6858000" cy="2171700"/>
          </a:xfrm>
          <a:prstGeom prst="rect">
            <a:avLst/>
          </a:prstGeom>
        </p:spPr>
      </p:pic>
      <p:pic>
        <p:nvPicPr>
          <p:cNvPr id="9" name="Picture 8">
            <a:extLst>
              <a:ext uri="{FF2B5EF4-FFF2-40B4-BE49-F238E27FC236}">
                <a16:creationId xmlns:a16="http://schemas.microsoft.com/office/drawing/2014/main" id="{5F992FA4-6880-9D6B-55D6-8ABF27340D5F}"/>
              </a:ext>
            </a:extLst>
          </p:cNvPr>
          <p:cNvPicPr>
            <a:picLocks noChangeAspect="1"/>
          </p:cNvPicPr>
          <p:nvPr/>
        </p:nvPicPr>
        <p:blipFill>
          <a:blip r:embed="rId4"/>
          <a:stretch>
            <a:fillRect/>
          </a:stretch>
        </p:blipFill>
        <p:spPr>
          <a:xfrm>
            <a:off x="2028616" y="2658207"/>
            <a:ext cx="6962775" cy="1847850"/>
          </a:xfrm>
          <a:prstGeom prst="rect">
            <a:avLst/>
          </a:prstGeom>
        </p:spPr>
      </p:pic>
      <p:pic>
        <p:nvPicPr>
          <p:cNvPr id="11" name="Picture 10">
            <a:extLst>
              <a:ext uri="{FF2B5EF4-FFF2-40B4-BE49-F238E27FC236}">
                <a16:creationId xmlns:a16="http://schemas.microsoft.com/office/drawing/2014/main" id="{089B0B17-1F36-A052-F0EB-EED5C523C9FF}"/>
              </a:ext>
            </a:extLst>
          </p:cNvPr>
          <p:cNvPicPr>
            <a:picLocks noChangeAspect="1"/>
          </p:cNvPicPr>
          <p:nvPr/>
        </p:nvPicPr>
        <p:blipFill>
          <a:blip r:embed="rId5"/>
          <a:stretch>
            <a:fillRect/>
          </a:stretch>
        </p:blipFill>
        <p:spPr>
          <a:xfrm>
            <a:off x="2180493" y="2366962"/>
            <a:ext cx="7692170" cy="2085519"/>
          </a:xfrm>
          <a:prstGeom prst="rect">
            <a:avLst/>
          </a:prstGeom>
        </p:spPr>
      </p:pic>
      <p:pic>
        <p:nvPicPr>
          <p:cNvPr id="13" name="Picture 12">
            <a:extLst>
              <a:ext uri="{FF2B5EF4-FFF2-40B4-BE49-F238E27FC236}">
                <a16:creationId xmlns:a16="http://schemas.microsoft.com/office/drawing/2014/main" id="{3C8BD1A4-26A5-D01E-2A47-F79F59D3AD70}"/>
              </a:ext>
            </a:extLst>
          </p:cNvPr>
          <p:cNvPicPr>
            <a:picLocks noChangeAspect="1"/>
          </p:cNvPicPr>
          <p:nvPr/>
        </p:nvPicPr>
        <p:blipFill>
          <a:blip r:embed="rId6"/>
          <a:stretch>
            <a:fillRect/>
          </a:stretch>
        </p:blipFill>
        <p:spPr>
          <a:xfrm>
            <a:off x="2028567" y="2195512"/>
            <a:ext cx="7619526" cy="2517165"/>
          </a:xfrm>
          <a:prstGeom prst="rect">
            <a:avLst/>
          </a:prstGeom>
        </p:spPr>
      </p:pic>
    </p:spTree>
    <p:extLst>
      <p:ext uri="{BB962C8B-B14F-4D97-AF65-F5344CB8AC3E}">
        <p14:creationId xmlns:p14="http://schemas.microsoft.com/office/powerpoint/2010/main" val="335852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B8B9-6262-AF7C-475C-A8DE4F03664A}"/>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Critical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pic>
        <p:nvPicPr>
          <p:cNvPr id="5" name="Picture 4">
            <a:extLst>
              <a:ext uri="{FF2B5EF4-FFF2-40B4-BE49-F238E27FC236}">
                <a16:creationId xmlns:a16="http://schemas.microsoft.com/office/drawing/2014/main" id="{9D265515-2C2D-DE8C-9D0F-F2985B5E8254}"/>
              </a:ext>
            </a:extLst>
          </p:cNvPr>
          <p:cNvPicPr>
            <a:picLocks noChangeAspect="1"/>
          </p:cNvPicPr>
          <p:nvPr/>
        </p:nvPicPr>
        <p:blipFill>
          <a:blip r:embed="rId2"/>
          <a:stretch>
            <a:fillRect/>
          </a:stretch>
        </p:blipFill>
        <p:spPr>
          <a:xfrm>
            <a:off x="1603587" y="2002660"/>
            <a:ext cx="7972425" cy="4219575"/>
          </a:xfrm>
          <a:prstGeom prst="rect">
            <a:avLst/>
          </a:prstGeom>
        </p:spPr>
      </p:pic>
    </p:spTree>
    <p:extLst>
      <p:ext uri="{BB962C8B-B14F-4D97-AF65-F5344CB8AC3E}">
        <p14:creationId xmlns:p14="http://schemas.microsoft.com/office/powerpoint/2010/main" val="3284074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C3434-227F-0349-27E4-661147438BE4}"/>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Solutions to the </a:t>
            </a:r>
            <a:r>
              <a:rPr lang="fr-CA" b="1" dirty="0" err="1">
                <a:solidFill>
                  <a:srgbClr val="FF0000"/>
                </a:solidFill>
                <a:latin typeface="Times New Roman" panose="02020603050405020304" pitchFamily="18" charset="0"/>
                <a:cs typeface="Times New Roman" panose="02020603050405020304" pitchFamily="18" charset="0"/>
              </a:rPr>
              <a:t>critical</a:t>
            </a:r>
            <a:r>
              <a:rPr lang="fr-CA" b="1" dirty="0">
                <a:solidFill>
                  <a:srgbClr val="FF0000"/>
                </a:solidFill>
                <a:latin typeface="Times New Roman" panose="02020603050405020304" pitchFamily="18" charset="0"/>
                <a:cs typeface="Times New Roman" panose="02020603050405020304" pitchFamily="18" charset="0"/>
              </a:rPr>
              <a:t> section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C2B6A45-59F5-6A6F-8114-1E348DBD012A}"/>
              </a:ext>
            </a:extLst>
          </p:cNvPr>
          <p:cNvPicPr>
            <a:picLocks noChangeAspect="1"/>
          </p:cNvPicPr>
          <p:nvPr/>
        </p:nvPicPr>
        <p:blipFill>
          <a:blip r:embed="rId2"/>
          <a:stretch>
            <a:fillRect/>
          </a:stretch>
        </p:blipFill>
        <p:spPr>
          <a:xfrm>
            <a:off x="838200" y="1872901"/>
            <a:ext cx="9910568" cy="3964227"/>
          </a:xfrm>
          <a:prstGeom prst="rect">
            <a:avLst/>
          </a:prstGeom>
        </p:spPr>
      </p:pic>
    </p:spTree>
    <p:extLst>
      <p:ext uri="{BB962C8B-B14F-4D97-AF65-F5344CB8AC3E}">
        <p14:creationId xmlns:p14="http://schemas.microsoft.com/office/powerpoint/2010/main" val="12881633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DF94-D931-918E-360C-74BAFA871F1C}"/>
              </a:ext>
            </a:extLst>
          </p:cNvPr>
          <p:cNvSpPr>
            <a:spLocks noGrp="1"/>
          </p:cNvSpPr>
          <p:nvPr>
            <p:ph type="title"/>
          </p:nvPr>
        </p:nvSpPr>
        <p:spPr/>
        <p:txBody>
          <a:bodyPr/>
          <a:lstStyle/>
          <a:p>
            <a:r>
              <a:rPr lang="fr-CA" b="1" dirty="0" err="1">
                <a:solidFill>
                  <a:srgbClr val="FF0000"/>
                </a:solidFill>
                <a:latin typeface="Times New Roman" panose="02020603050405020304" pitchFamily="18" charset="0"/>
                <a:cs typeface="Times New Roman" panose="02020603050405020304" pitchFamily="18" charset="0"/>
              </a:rPr>
              <a:t>Mutual</a:t>
            </a:r>
            <a:r>
              <a:rPr lang="fr-CA" b="1" dirty="0">
                <a:solidFill>
                  <a:srgbClr val="FF0000"/>
                </a:solidFill>
                <a:latin typeface="Times New Roman" panose="02020603050405020304" pitchFamily="18" charset="0"/>
                <a:cs typeface="Times New Roman" panose="02020603050405020304" pitchFamily="18" charset="0"/>
              </a:rPr>
              <a:t> exclusion</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6680925-EE33-48C2-2AA2-352CEA7CBCBE}"/>
              </a:ext>
            </a:extLst>
          </p:cNvPr>
          <p:cNvPicPr>
            <a:picLocks noChangeAspect="1"/>
          </p:cNvPicPr>
          <p:nvPr/>
        </p:nvPicPr>
        <p:blipFill>
          <a:blip r:embed="rId2"/>
          <a:stretch>
            <a:fillRect/>
          </a:stretch>
        </p:blipFill>
        <p:spPr>
          <a:xfrm>
            <a:off x="939451" y="1823203"/>
            <a:ext cx="10045875" cy="4669671"/>
          </a:xfrm>
          <a:prstGeom prst="rect">
            <a:avLst/>
          </a:prstGeom>
        </p:spPr>
      </p:pic>
    </p:spTree>
    <p:extLst>
      <p:ext uri="{BB962C8B-B14F-4D97-AF65-F5344CB8AC3E}">
        <p14:creationId xmlns:p14="http://schemas.microsoft.com/office/powerpoint/2010/main" val="4248497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02CD3-C26A-A121-0251-96CE7EC840F7}"/>
              </a:ext>
            </a:extLst>
          </p:cNvPr>
          <p:cNvSpPr>
            <a:spLocks noGrp="1"/>
          </p:cNvSpPr>
          <p:nvPr>
            <p:ph type="title"/>
          </p:nvPr>
        </p:nvSpPr>
        <p:spPr/>
        <p:txBody>
          <a:bodyPr/>
          <a:lstStyle/>
          <a:p>
            <a:r>
              <a:rPr lang="fr-CA" b="1" dirty="0">
                <a:solidFill>
                  <a:srgbClr val="FF0000"/>
                </a:solidFill>
                <a:latin typeface="Times New Roman" panose="02020603050405020304" pitchFamily="18" charset="0"/>
                <a:cs typeface="Times New Roman" panose="02020603050405020304" pitchFamily="18" charset="0"/>
              </a:rPr>
              <a:t>Progress </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41FDDA1-130C-4B79-28B7-A45E71BB1F43}"/>
              </a:ext>
            </a:extLst>
          </p:cNvPr>
          <p:cNvPicPr>
            <a:picLocks noChangeAspect="1"/>
          </p:cNvPicPr>
          <p:nvPr/>
        </p:nvPicPr>
        <p:blipFill>
          <a:blip r:embed="rId3"/>
          <a:stretch>
            <a:fillRect/>
          </a:stretch>
        </p:blipFill>
        <p:spPr>
          <a:xfrm>
            <a:off x="1199745" y="2119540"/>
            <a:ext cx="9285258" cy="2618919"/>
          </a:xfrm>
          <a:prstGeom prst="rect">
            <a:avLst/>
          </a:prstGeom>
        </p:spPr>
      </p:pic>
    </p:spTree>
    <p:extLst>
      <p:ext uri="{BB962C8B-B14F-4D97-AF65-F5344CB8AC3E}">
        <p14:creationId xmlns:p14="http://schemas.microsoft.com/office/powerpoint/2010/main" val="2308220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CB698-14D6-96B9-D133-319A2F2AB6CB}"/>
              </a:ext>
            </a:extLst>
          </p:cNvPr>
          <p:cNvSpPr>
            <a:spLocks noGrp="1"/>
          </p:cNvSpPr>
          <p:nvPr>
            <p:ph type="title"/>
          </p:nvPr>
        </p:nvSpPr>
        <p:spPr/>
        <p:txBody>
          <a:bodyPr/>
          <a:lstStyle/>
          <a:p>
            <a:r>
              <a:rPr lang="fr-CA" b="1" dirty="0" err="1">
                <a:solidFill>
                  <a:srgbClr val="FF0000"/>
                </a:solidFill>
                <a:latin typeface="Times New Roman" panose="02020603050405020304" pitchFamily="18" charset="0"/>
                <a:cs typeface="Times New Roman" panose="02020603050405020304" pitchFamily="18" charset="0"/>
              </a:rPr>
              <a:t>Bonded</a:t>
            </a:r>
            <a:r>
              <a:rPr lang="fr-CA" b="1" dirty="0">
                <a:solidFill>
                  <a:srgbClr val="FF0000"/>
                </a:solidFill>
                <a:latin typeface="Times New Roman" panose="02020603050405020304" pitchFamily="18" charset="0"/>
                <a:cs typeface="Times New Roman" panose="02020603050405020304" pitchFamily="18" charset="0"/>
              </a:rPr>
              <a:t> </a:t>
            </a:r>
            <a:r>
              <a:rPr lang="fr-CA" b="1" dirty="0" err="1">
                <a:solidFill>
                  <a:srgbClr val="FF0000"/>
                </a:solidFill>
                <a:latin typeface="Times New Roman" panose="02020603050405020304" pitchFamily="18" charset="0"/>
                <a:cs typeface="Times New Roman" panose="02020603050405020304" pitchFamily="18" charset="0"/>
              </a:rPr>
              <a:t>waiting</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77468AC-A449-285F-A808-F12B996F2314}"/>
              </a:ext>
            </a:extLst>
          </p:cNvPr>
          <p:cNvPicPr>
            <a:picLocks noChangeAspect="1"/>
          </p:cNvPicPr>
          <p:nvPr/>
        </p:nvPicPr>
        <p:blipFill>
          <a:blip r:embed="rId3"/>
          <a:stretch>
            <a:fillRect/>
          </a:stretch>
        </p:blipFill>
        <p:spPr>
          <a:xfrm>
            <a:off x="1375170" y="1783267"/>
            <a:ext cx="9070353" cy="3863905"/>
          </a:xfrm>
          <a:prstGeom prst="rect">
            <a:avLst/>
          </a:prstGeom>
        </p:spPr>
      </p:pic>
    </p:spTree>
    <p:extLst>
      <p:ext uri="{BB962C8B-B14F-4D97-AF65-F5344CB8AC3E}">
        <p14:creationId xmlns:p14="http://schemas.microsoft.com/office/powerpoint/2010/main" val="1521697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B5DEB-3CE7-B3C7-A57E-D1488D5EB2D4}"/>
              </a:ext>
            </a:extLst>
          </p:cNvPr>
          <p:cNvSpPr>
            <a:spLocks noGrp="1"/>
          </p:cNvSpPr>
          <p:nvPr>
            <p:ph type="title"/>
          </p:nvPr>
        </p:nvSpPr>
        <p:spPr/>
        <p:txBody>
          <a:bodyPr/>
          <a:lstStyle/>
          <a:p>
            <a:endParaRPr lang="fr-DZ"/>
          </a:p>
        </p:txBody>
      </p:sp>
      <p:pic>
        <p:nvPicPr>
          <p:cNvPr id="5" name="Picture 4">
            <a:extLst>
              <a:ext uri="{FF2B5EF4-FFF2-40B4-BE49-F238E27FC236}">
                <a16:creationId xmlns:a16="http://schemas.microsoft.com/office/drawing/2014/main" id="{CABA4E28-2873-0B6C-3939-45D7C005E07F}"/>
              </a:ext>
            </a:extLst>
          </p:cNvPr>
          <p:cNvPicPr>
            <a:picLocks noChangeAspect="1"/>
          </p:cNvPicPr>
          <p:nvPr/>
        </p:nvPicPr>
        <p:blipFill>
          <a:blip r:embed="rId2"/>
          <a:stretch>
            <a:fillRect/>
          </a:stretch>
        </p:blipFill>
        <p:spPr>
          <a:xfrm>
            <a:off x="3709987" y="2190750"/>
            <a:ext cx="4772025" cy="2476500"/>
          </a:xfrm>
          <a:prstGeom prst="rect">
            <a:avLst/>
          </a:prstGeom>
        </p:spPr>
      </p:pic>
      <p:pic>
        <p:nvPicPr>
          <p:cNvPr id="7" name="Picture 6">
            <a:extLst>
              <a:ext uri="{FF2B5EF4-FFF2-40B4-BE49-F238E27FC236}">
                <a16:creationId xmlns:a16="http://schemas.microsoft.com/office/drawing/2014/main" id="{16FFC9FF-736A-7D94-0880-DCC67F41B5A4}"/>
              </a:ext>
            </a:extLst>
          </p:cNvPr>
          <p:cNvPicPr>
            <a:picLocks noChangeAspect="1"/>
          </p:cNvPicPr>
          <p:nvPr/>
        </p:nvPicPr>
        <p:blipFill>
          <a:blip r:embed="rId3"/>
          <a:stretch>
            <a:fillRect/>
          </a:stretch>
        </p:blipFill>
        <p:spPr>
          <a:xfrm>
            <a:off x="2265256" y="1688845"/>
            <a:ext cx="7420571" cy="3480309"/>
          </a:xfrm>
          <a:prstGeom prst="rect">
            <a:avLst/>
          </a:prstGeom>
        </p:spPr>
      </p:pic>
    </p:spTree>
    <p:extLst>
      <p:ext uri="{BB962C8B-B14F-4D97-AF65-F5344CB8AC3E}">
        <p14:creationId xmlns:p14="http://schemas.microsoft.com/office/powerpoint/2010/main" val="121141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48AD-8A83-BE60-129A-09CB5C1C6D51}"/>
              </a:ext>
            </a:extLst>
          </p:cNvPr>
          <p:cNvSpPr>
            <a:spLocks noGrp="1"/>
          </p:cNvSpPr>
          <p:nvPr>
            <p:ph type="title"/>
          </p:nvPr>
        </p:nvSpPr>
        <p:spPr>
          <a:xfrm>
            <a:off x="522890" y="-186669"/>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051C97A-5148-67C2-6A66-F0033D3E6C60}"/>
              </a:ext>
            </a:extLst>
          </p:cNvPr>
          <p:cNvPicPr>
            <a:picLocks noGrp="1" noChangeAspect="1"/>
          </p:cNvPicPr>
          <p:nvPr>
            <p:ph idx="1"/>
          </p:nvPr>
        </p:nvPicPr>
        <p:blipFill>
          <a:blip r:embed="rId3"/>
          <a:stretch>
            <a:fillRect/>
          </a:stretch>
        </p:blipFill>
        <p:spPr>
          <a:xfrm>
            <a:off x="1939159" y="1138894"/>
            <a:ext cx="8864446" cy="4980873"/>
          </a:xfrm>
        </p:spPr>
      </p:pic>
    </p:spTree>
    <p:extLst>
      <p:ext uri="{BB962C8B-B14F-4D97-AF65-F5344CB8AC3E}">
        <p14:creationId xmlns:p14="http://schemas.microsoft.com/office/powerpoint/2010/main" val="3471875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A0441E-FC84-D6AA-4627-98348A6739B7}"/>
              </a:ext>
            </a:extLst>
          </p:cNvPr>
          <p:cNvPicPr>
            <a:picLocks noChangeAspect="1"/>
          </p:cNvPicPr>
          <p:nvPr/>
        </p:nvPicPr>
        <p:blipFill>
          <a:blip r:embed="rId3"/>
          <a:stretch>
            <a:fillRect/>
          </a:stretch>
        </p:blipFill>
        <p:spPr>
          <a:xfrm>
            <a:off x="1787193" y="1690688"/>
            <a:ext cx="7934325" cy="3848100"/>
          </a:xfrm>
          <a:prstGeom prst="rect">
            <a:avLst/>
          </a:prstGeom>
        </p:spPr>
      </p:pic>
      <p:sp>
        <p:nvSpPr>
          <p:cNvPr id="8" name="Title 1">
            <a:extLst>
              <a:ext uri="{FF2B5EF4-FFF2-40B4-BE49-F238E27FC236}">
                <a16:creationId xmlns:a16="http://schemas.microsoft.com/office/drawing/2014/main" id="{BAFB6014-3820-EF29-3EA5-E4668B88C301}"/>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71417929-89AE-24B4-E9D9-2E1465E75E29}"/>
              </a:ext>
            </a:extLst>
          </p:cNvPr>
          <p:cNvPicPr>
            <a:picLocks noChangeAspect="1"/>
          </p:cNvPicPr>
          <p:nvPr/>
        </p:nvPicPr>
        <p:blipFill>
          <a:blip r:embed="rId4"/>
          <a:stretch>
            <a:fillRect/>
          </a:stretch>
        </p:blipFill>
        <p:spPr>
          <a:xfrm>
            <a:off x="1621133" y="1417446"/>
            <a:ext cx="8266444" cy="4894212"/>
          </a:xfrm>
          <a:prstGeom prst="rect">
            <a:avLst/>
          </a:prstGeom>
        </p:spPr>
      </p:pic>
    </p:spTree>
    <p:extLst>
      <p:ext uri="{BB962C8B-B14F-4D97-AF65-F5344CB8AC3E}">
        <p14:creationId xmlns:p14="http://schemas.microsoft.com/office/powerpoint/2010/main" val="76134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E408C6-3A9C-44AF-CC15-A99964B4F624}"/>
              </a:ext>
            </a:extLst>
          </p:cNvPr>
          <p:cNvSpPr>
            <a:spLocks noGrp="1"/>
          </p:cNvSpPr>
          <p:nvPr>
            <p:ph idx="1"/>
          </p:nvPr>
        </p:nvSpPr>
        <p:spPr/>
        <p:txBody>
          <a:bodyPr/>
          <a:lstStyle/>
          <a:p>
            <a:endParaRPr lang="fr-DZ" dirty="0"/>
          </a:p>
        </p:txBody>
      </p:sp>
      <p:pic>
        <p:nvPicPr>
          <p:cNvPr id="7" name="Picture 6">
            <a:extLst>
              <a:ext uri="{FF2B5EF4-FFF2-40B4-BE49-F238E27FC236}">
                <a16:creationId xmlns:a16="http://schemas.microsoft.com/office/drawing/2014/main" id="{A31AEC55-DF2A-6335-7CE1-A02C07B21372}"/>
              </a:ext>
            </a:extLst>
          </p:cNvPr>
          <p:cNvPicPr>
            <a:picLocks noChangeAspect="1"/>
          </p:cNvPicPr>
          <p:nvPr/>
        </p:nvPicPr>
        <p:blipFill>
          <a:blip r:embed="rId2"/>
          <a:stretch>
            <a:fillRect/>
          </a:stretch>
        </p:blipFill>
        <p:spPr>
          <a:xfrm>
            <a:off x="1787193" y="1443038"/>
            <a:ext cx="8067675" cy="4733925"/>
          </a:xfrm>
          <a:prstGeom prst="rect">
            <a:avLst/>
          </a:prstGeom>
        </p:spPr>
      </p:pic>
      <p:sp>
        <p:nvSpPr>
          <p:cNvPr id="4" name="Title 1">
            <a:extLst>
              <a:ext uri="{FF2B5EF4-FFF2-40B4-BE49-F238E27FC236}">
                <a16:creationId xmlns:a16="http://schemas.microsoft.com/office/drawing/2014/main" id="{F9E2F41C-87C0-1690-8161-8B7D029DCD2B}"/>
              </a:ext>
            </a:extLst>
          </p:cNvPr>
          <p:cNvSpPr>
            <a:spLocks noGrp="1"/>
          </p:cNvSpPr>
          <p:nvPr>
            <p:ph type="title"/>
          </p:nvPr>
        </p:nvSpPr>
        <p:spPr>
          <a:xfrm>
            <a:off x="838200" y="214400"/>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675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C9A25A-97F8-9261-3D4D-EE135804DC8C}"/>
              </a:ext>
            </a:extLst>
          </p:cNvPr>
          <p:cNvPicPr>
            <a:picLocks noChangeAspect="1"/>
          </p:cNvPicPr>
          <p:nvPr/>
        </p:nvPicPr>
        <p:blipFill>
          <a:blip r:embed="rId2"/>
          <a:stretch>
            <a:fillRect/>
          </a:stretch>
        </p:blipFill>
        <p:spPr>
          <a:xfrm>
            <a:off x="1694464" y="1353318"/>
            <a:ext cx="8803071" cy="5168572"/>
          </a:xfrm>
          <a:prstGeom prst="rect">
            <a:avLst/>
          </a:prstGeom>
        </p:spPr>
      </p:pic>
      <p:sp>
        <p:nvSpPr>
          <p:cNvPr id="6" name="Title 1">
            <a:extLst>
              <a:ext uri="{FF2B5EF4-FFF2-40B4-BE49-F238E27FC236}">
                <a16:creationId xmlns:a16="http://schemas.microsoft.com/office/drawing/2014/main" id="{7FC25B37-B22B-3120-41D3-7E567D7D2F60}"/>
              </a:ext>
            </a:extLst>
          </p:cNvPr>
          <p:cNvSpPr>
            <a:spLocks noGrp="1"/>
          </p:cNvSpPr>
          <p:nvPr>
            <p:ph type="title"/>
          </p:nvPr>
        </p:nvSpPr>
        <p:spPr>
          <a:xfrm>
            <a:off x="712076" y="336110"/>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73484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632A7A-66CE-B52F-69BF-347CEDB6BD4A}"/>
              </a:ext>
            </a:extLst>
          </p:cNvPr>
          <p:cNvPicPr>
            <a:picLocks noChangeAspect="1"/>
          </p:cNvPicPr>
          <p:nvPr/>
        </p:nvPicPr>
        <p:blipFill>
          <a:blip r:embed="rId2"/>
          <a:stretch>
            <a:fillRect/>
          </a:stretch>
        </p:blipFill>
        <p:spPr>
          <a:xfrm>
            <a:off x="1806871" y="1878257"/>
            <a:ext cx="7553325" cy="4086225"/>
          </a:xfrm>
          <a:prstGeom prst="rect">
            <a:avLst/>
          </a:prstGeom>
        </p:spPr>
      </p:pic>
      <p:sp>
        <p:nvSpPr>
          <p:cNvPr id="6" name="Title 1">
            <a:extLst>
              <a:ext uri="{FF2B5EF4-FFF2-40B4-BE49-F238E27FC236}">
                <a16:creationId xmlns:a16="http://schemas.microsoft.com/office/drawing/2014/main" id="{1CAE3F40-B476-1A4E-9133-800B80F3B901}"/>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46D508F-9F96-EFBF-D619-873589A4CF5A}"/>
              </a:ext>
            </a:extLst>
          </p:cNvPr>
          <p:cNvPicPr>
            <a:picLocks noChangeAspect="1"/>
          </p:cNvPicPr>
          <p:nvPr/>
        </p:nvPicPr>
        <p:blipFill>
          <a:blip r:embed="rId3"/>
          <a:stretch>
            <a:fillRect/>
          </a:stretch>
        </p:blipFill>
        <p:spPr>
          <a:xfrm>
            <a:off x="1806871" y="1878257"/>
            <a:ext cx="7115175" cy="3619500"/>
          </a:xfrm>
          <a:prstGeom prst="rect">
            <a:avLst/>
          </a:prstGeom>
        </p:spPr>
      </p:pic>
      <p:pic>
        <p:nvPicPr>
          <p:cNvPr id="10" name="Picture 9">
            <a:extLst>
              <a:ext uri="{FF2B5EF4-FFF2-40B4-BE49-F238E27FC236}">
                <a16:creationId xmlns:a16="http://schemas.microsoft.com/office/drawing/2014/main" id="{DF90833C-44CD-45FD-5482-9F538D69F330}"/>
              </a:ext>
            </a:extLst>
          </p:cNvPr>
          <p:cNvPicPr>
            <a:picLocks noChangeAspect="1"/>
          </p:cNvPicPr>
          <p:nvPr/>
        </p:nvPicPr>
        <p:blipFill>
          <a:blip r:embed="rId4"/>
          <a:stretch>
            <a:fillRect/>
          </a:stretch>
        </p:blipFill>
        <p:spPr>
          <a:xfrm>
            <a:off x="1806871" y="1878257"/>
            <a:ext cx="7181850" cy="3514725"/>
          </a:xfrm>
          <a:prstGeom prst="rect">
            <a:avLst/>
          </a:prstGeom>
        </p:spPr>
      </p:pic>
      <p:pic>
        <p:nvPicPr>
          <p:cNvPr id="12" name="Picture 11">
            <a:extLst>
              <a:ext uri="{FF2B5EF4-FFF2-40B4-BE49-F238E27FC236}">
                <a16:creationId xmlns:a16="http://schemas.microsoft.com/office/drawing/2014/main" id="{81E901AB-83BF-0E36-3432-2D677850E079}"/>
              </a:ext>
            </a:extLst>
          </p:cNvPr>
          <p:cNvPicPr>
            <a:picLocks noChangeAspect="1"/>
          </p:cNvPicPr>
          <p:nvPr/>
        </p:nvPicPr>
        <p:blipFill>
          <a:blip r:embed="rId5"/>
          <a:stretch>
            <a:fillRect/>
          </a:stretch>
        </p:blipFill>
        <p:spPr>
          <a:xfrm>
            <a:off x="1806871" y="1930644"/>
            <a:ext cx="7258050" cy="3514725"/>
          </a:xfrm>
          <a:prstGeom prst="rect">
            <a:avLst/>
          </a:prstGeom>
        </p:spPr>
      </p:pic>
    </p:spTree>
    <p:extLst>
      <p:ext uri="{BB962C8B-B14F-4D97-AF65-F5344CB8AC3E}">
        <p14:creationId xmlns:p14="http://schemas.microsoft.com/office/powerpoint/2010/main" val="58074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2D2A2-A83B-D74D-3C06-96C4E9A6C4A5}"/>
              </a:ext>
            </a:extLst>
          </p:cNvPr>
          <p:cNvSpPr>
            <a:spLocks noGrp="1"/>
          </p:cNvSpPr>
          <p:nvPr>
            <p:ph type="title"/>
          </p:nvPr>
        </p:nvSpPr>
        <p:spPr/>
        <p:txBody>
          <a:bodyPr/>
          <a:lstStyle/>
          <a:p>
            <a:endParaRPr lang="fr-DZ"/>
          </a:p>
        </p:txBody>
      </p:sp>
      <p:pic>
        <p:nvPicPr>
          <p:cNvPr id="5" name="Picture 4">
            <a:extLst>
              <a:ext uri="{FF2B5EF4-FFF2-40B4-BE49-F238E27FC236}">
                <a16:creationId xmlns:a16="http://schemas.microsoft.com/office/drawing/2014/main" id="{927791F8-4B92-B54B-CF45-C5099874FE27}"/>
              </a:ext>
            </a:extLst>
          </p:cNvPr>
          <p:cNvPicPr>
            <a:picLocks noChangeAspect="1"/>
          </p:cNvPicPr>
          <p:nvPr/>
        </p:nvPicPr>
        <p:blipFill>
          <a:blip r:embed="rId2"/>
          <a:stretch>
            <a:fillRect/>
          </a:stretch>
        </p:blipFill>
        <p:spPr>
          <a:xfrm>
            <a:off x="2492462" y="2033483"/>
            <a:ext cx="6905625" cy="3152775"/>
          </a:xfrm>
          <a:prstGeom prst="rect">
            <a:avLst/>
          </a:prstGeom>
        </p:spPr>
      </p:pic>
      <p:pic>
        <p:nvPicPr>
          <p:cNvPr id="7" name="Picture 6">
            <a:extLst>
              <a:ext uri="{FF2B5EF4-FFF2-40B4-BE49-F238E27FC236}">
                <a16:creationId xmlns:a16="http://schemas.microsoft.com/office/drawing/2014/main" id="{AC7B160B-015C-DC51-7D07-444D34D3CAE2}"/>
              </a:ext>
            </a:extLst>
          </p:cNvPr>
          <p:cNvPicPr>
            <a:picLocks noChangeAspect="1"/>
          </p:cNvPicPr>
          <p:nvPr/>
        </p:nvPicPr>
        <p:blipFill>
          <a:blip r:embed="rId3"/>
          <a:stretch>
            <a:fillRect/>
          </a:stretch>
        </p:blipFill>
        <p:spPr>
          <a:xfrm>
            <a:off x="2373924" y="2033483"/>
            <a:ext cx="7444151" cy="3020838"/>
          </a:xfrm>
          <a:prstGeom prst="rect">
            <a:avLst/>
          </a:prstGeom>
        </p:spPr>
      </p:pic>
      <p:pic>
        <p:nvPicPr>
          <p:cNvPr id="9" name="Picture 8">
            <a:extLst>
              <a:ext uri="{FF2B5EF4-FFF2-40B4-BE49-F238E27FC236}">
                <a16:creationId xmlns:a16="http://schemas.microsoft.com/office/drawing/2014/main" id="{123AB93E-C04E-7D9E-C5EB-083ECE4CFF42}"/>
              </a:ext>
            </a:extLst>
          </p:cNvPr>
          <p:cNvPicPr>
            <a:picLocks noChangeAspect="1"/>
          </p:cNvPicPr>
          <p:nvPr/>
        </p:nvPicPr>
        <p:blipFill>
          <a:blip r:embed="rId4"/>
          <a:stretch>
            <a:fillRect/>
          </a:stretch>
        </p:blipFill>
        <p:spPr>
          <a:xfrm>
            <a:off x="2188732" y="2433926"/>
            <a:ext cx="7513083" cy="2686364"/>
          </a:xfrm>
          <a:prstGeom prst="rect">
            <a:avLst/>
          </a:prstGeom>
        </p:spPr>
      </p:pic>
    </p:spTree>
    <p:extLst>
      <p:ext uri="{BB962C8B-B14F-4D97-AF65-F5344CB8AC3E}">
        <p14:creationId xmlns:p14="http://schemas.microsoft.com/office/powerpoint/2010/main" val="212740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D4D86B-8A0A-BBD1-882C-244EA120C8E7}"/>
              </a:ext>
            </a:extLst>
          </p:cNvPr>
          <p:cNvPicPr>
            <a:picLocks noChangeAspect="1"/>
          </p:cNvPicPr>
          <p:nvPr/>
        </p:nvPicPr>
        <p:blipFill>
          <a:blip r:embed="rId2"/>
          <a:stretch>
            <a:fillRect/>
          </a:stretch>
        </p:blipFill>
        <p:spPr>
          <a:xfrm>
            <a:off x="1516118" y="1531844"/>
            <a:ext cx="8920319" cy="5129723"/>
          </a:xfrm>
          <a:prstGeom prst="rect">
            <a:avLst/>
          </a:prstGeom>
        </p:spPr>
      </p:pic>
      <p:sp>
        <p:nvSpPr>
          <p:cNvPr id="6" name="Title 1">
            <a:extLst>
              <a:ext uri="{FF2B5EF4-FFF2-40B4-BE49-F238E27FC236}">
                <a16:creationId xmlns:a16="http://schemas.microsoft.com/office/drawing/2014/main" id="{66C90922-2956-3934-B141-47B41FD709BF}"/>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3019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04EC32-83BF-6A41-5D21-A1E5BAB77C1D}"/>
              </a:ext>
            </a:extLst>
          </p:cNvPr>
          <p:cNvPicPr>
            <a:picLocks noChangeAspect="1"/>
          </p:cNvPicPr>
          <p:nvPr/>
        </p:nvPicPr>
        <p:blipFill>
          <a:blip r:embed="rId2"/>
          <a:stretch>
            <a:fillRect/>
          </a:stretch>
        </p:blipFill>
        <p:spPr>
          <a:xfrm>
            <a:off x="1661993" y="1122203"/>
            <a:ext cx="8868013" cy="5146425"/>
          </a:xfrm>
          <a:prstGeom prst="rect">
            <a:avLst/>
          </a:prstGeom>
        </p:spPr>
      </p:pic>
      <p:sp>
        <p:nvSpPr>
          <p:cNvPr id="6" name="Title 1">
            <a:extLst>
              <a:ext uri="{FF2B5EF4-FFF2-40B4-BE49-F238E27FC236}">
                <a16:creationId xmlns:a16="http://schemas.microsoft.com/office/drawing/2014/main" id="{B8FA706C-BD0E-0162-48FB-0C755C9FDB78}"/>
              </a:ext>
            </a:extLst>
          </p:cNvPr>
          <p:cNvSpPr>
            <a:spLocks noGrp="1"/>
          </p:cNvSpPr>
          <p:nvPr>
            <p:ph type="title"/>
          </p:nvPr>
        </p:nvSpPr>
        <p:spPr>
          <a:xfrm>
            <a:off x="649013" y="-203360"/>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63107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2D2660-44B8-79F0-D002-B581205F1924}"/>
              </a:ext>
            </a:extLst>
          </p:cNvPr>
          <p:cNvPicPr>
            <a:picLocks noGrp="1" noChangeAspect="1"/>
          </p:cNvPicPr>
          <p:nvPr>
            <p:ph idx="1"/>
          </p:nvPr>
        </p:nvPicPr>
        <p:blipFill>
          <a:blip r:embed="rId2"/>
          <a:stretch>
            <a:fillRect/>
          </a:stretch>
        </p:blipFill>
        <p:spPr>
          <a:xfrm>
            <a:off x="2309234" y="1825625"/>
            <a:ext cx="7573531" cy="4351338"/>
          </a:xfrm>
        </p:spPr>
      </p:pic>
      <p:sp>
        <p:nvSpPr>
          <p:cNvPr id="6" name="Title 1">
            <a:extLst>
              <a:ext uri="{FF2B5EF4-FFF2-40B4-BE49-F238E27FC236}">
                <a16:creationId xmlns:a16="http://schemas.microsoft.com/office/drawing/2014/main" id="{4410D601-ADA3-3D95-A955-26DB62CFDF02}"/>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63563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25B697-3447-37AC-3F22-77366FCFC55E}"/>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E91F008-5F32-51AC-05E1-A7990C334EBD}"/>
              </a:ext>
            </a:extLst>
          </p:cNvPr>
          <p:cNvPicPr>
            <a:picLocks noChangeAspect="1"/>
          </p:cNvPicPr>
          <p:nvPr/>
        </p:nvPicPr>
        <p:blipFill>
          <a:blip r:embed="rId2"/>
          <a:stretch>
            <a:fillRect/>
          </a:stretch>
        </p:blipFill>
        <p:spPr>
          <a:xfrm>
            <a:off x="2016736" y="1499977"/>
            <a:ext cx="7877175" cy="4581525"/>
          </a:xfrm>
          <a:prstGeom prst="rect">
            <a:avLst/>
          </a:prstGeom>
        </p:spPr>
      </p:pic>
    </p:spTree>
    <p:extLst>
      <p:ext uri="{BB962C8B-B14F-4D97-AF65-F5344CB8AC3E}">
        <p14:creationId xmlns:p14="http://schemas.microsoft.com/office/powerpoint/2010/main" val="15673796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25B697-3447-37AC-3F22-77366FCFC55E}"/>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0A50BE4-CDE7-FC8B-B52B-102270A0D125}"/>
              </a:ext>
            </a:extLst>
          </p:cNvPr>
          <p:cNvPicPr>
            <a:picLocks noChangeAspect="1"/>
          </p:cNvPicPr>
          <p:nvPr/>
        </p:nvPicPr>
        <p:blipFill>
          <a:blip r:embed="rId2"/>
          <a:stretch>
            <a:fillRect/>
          </a:stretch>
        </p:blipFill>
        <p:spPr>
          <a:xfrm>
            <a:off x="1570893" y="1602031"/>
            <a:ext cx="7924800" cy="4638675"/>
          </a:xfrm>
          <a:prstGeom prst="rect">
            <a:avLst/>
          </a:prstGeom>
        </p:spPr>
      </p:pic>
    </p:spTree>
    <p:extLst>
      <p:ext uri="{BB962C8B-B14F-4D97-AF65-F5344CB8AC3E}">
        <p14:creationId xmlns:p14="http://schemas.microsoft.com/office/powerpoint/2010/main" val="11242353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25B697-3447-37AC-3F22-77366FCFC55E}"/>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792180E-B0F4-6E0C-45CD-366050D8BC74}"/>
              </a:ext>
            </a:extLst>
          </p:cNvPr>
          <p:cNvPicPr>
            <a:picLocks noChangeAspect="1"/>
          </p:cNvPicPr>
          <p:nvPr/>
        </p:nvPicPr>
        <p:blipFill>
          <a:blip r:embed="rId2"/>
          <a:stretch>
            <a:fillRect/>
          </a:stretch>
        </p:blipFill>
        <p:spPr>
          <a:xfrm>
            <a:off x="1581150" y="1911228"/>
            <a:ext cx="5372100" cy="3457575"/>
          </a:xfrm>
          <a:prstGeom prst="rect">
            <a:avLst/>
          </a:prstGeom>
        </p:spPr>
      </p:pic>
    </p:spTree>
    <p:extLst>
      <p:ext uri="{BB962C8B-B14F-4D97-AF65-F5344CB8AC3E}">
        <p14:creationId xmlns:p14="http://schemas.microsoft.com/office/powerpoint/2010/main" val="580940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25B697-3447-37AC-3F22-77366FCFC55E}"/>
              </a:ext>
            </a:extLst>
          </p:cNvPr>
          <p:cNvSpPr>
            <a:spLocks noGrp="1"/>
          </p:cNvSpPr>
          <p:nvPr>
            <p:ph type="title"/>
          </p:nvPr>
        </p:nvSpPr>
        <p:spPr>
          <a:xfrm>
            <a:off x="838200" y="36512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54E9475-307A-5D93-171A-9EB2E2FC33C1}"/>
              </a:ext>
            </a:extLst>
          </p:cNvPr>
          <p:cNvPicPr>
            <a:picLocks noChangeAspect="1"/>
          </p:cNvPicPr>
          <p:nvPr/>
        </p:nvPicPr>
        <p:blipFill>
          <a:blip r:embed="rId2"/>
          <a:stretch>
            <a:fillRect/>
          </a:stretch>
        </p:blipFill>
        <p:spPr>
          <a:xfrm>
            <a:off x="1750297" y="1690688"/>
            <a:ext cx="7505700" cy="4648200"/>
          </a:xfrm>
          <a:prstGeom prst="rect">
            <a:avLst/>
          </a:prstGeom>
        </p:spPr>
      </p:pic>
    </p:spTree>
    <p:extLst>
      <p:ext uri="{BB962C8B-B14F-4D97-AF65-F5344CB8AC3E}">
        <p14:creationId xmlns:p14="http://schemas.microsoft.com/office/powerpoint/2010/main" val="27084603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463DE-EF7A-0E79-A475-08812A7D1F26}"/>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7" name="TextBox 6">
            <a:extLst>
              <a:ext uri="{FF2B5EF4-FFF2-40B4-BE49-F238E27FC236}">
                <a16:creationId xmlns:a16="http://schemas.microsoft.com/office/drawing/2014/main" id="{F7411106-02ED-ED39-4140-4BD5BB77D096}"/>
              </a:ext>
            </a:extLst>
          </p:cNvPr>
          <p:cNvSpPr txBox="1"/>
          <p:nvPr/>
        </p:nvSpPr>
        <p:spPr>
          <a:xfrm>
            <a:off x="838200" y="1402915"/>
            <a:ext cx="9788046" cy="4462760"/>
          </a:xfrm>
          <a:prstGeom prst="rect">
            <a:avLst/>
          </a:prstGeom>
          <a:noFill/>
        </p:spPr>
        <p:txBody>
          <a:bodyPr wrap="square">
            <a:spAutoFit/>
          </a:bodyPr>
          <a:lstStyle/>
          <a:p>
            <a:r>
              <a:rPr lang="fr-CA" sz="2800" b="1" dirty="0" err="1">
                <a:solidFill>
                  <a:schemeClr val="accent6">
                    <a:lumMod val="75000"/>
                  </a:schemeClr>
                </a:solidFill>
                <a:latin typeface="Times New Roman" panose="02020603050405020304" pitchFamily="18" charset="0"/>
                <a:cs typeface="Times New Roman" panose="02020603050405020304" pitchFamily="18" charset="0"/>
              </a:rPr>
              <a:t>Peterson’s</a:t>
            </a:r>
            <a:r>
              <a:rPr lang="fr-CA" sz="2800" b="1" dirty="0">
                <a:solidFill>
                  <a:schemeClr val="accent6">
                    <a:lumMod val="75000"/>
                  </a:schemeClr>
                </a:solidFill>
                <a:latin typeface="Times New Roman" panose="02020603050405020304" pitchFamily="18" charset="0"/>
                <a:cs typeface="Times New Roman" panose="02020603050405020304" pitchFamily="18" charset="0"/>
              </a:rPr>
              <a:t> Solution (software solutions)</a:t>
            </a:r>
          </a:p>
          <a:p>
            <a:endParaRPr lang="fr-CA" sz="2800" b="1"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two processes share two variables:</a:t>
            </a:r>
          </a:p>
          <a:p>
            <a:pPr marL="801688"/>
            <a:r>
              <a:rPr lang="en-US" sz="2500" b="1" dirty="0">
                <a:latin typeface="Tw Cen MT" panose="020B0602020104020603" pitchFamily="34" charset="0"/>
                <a:cs typeface="Times New Roman" panose="02020603050405020304" pitchFamily="18" charset="0"/>
              </a:rPr>
              <a:t>int turn;</a:t>
            </a:r>
          </a:p>
          <a:p>
            <a:pPr marL="801688"/>
            <a:r>
              <a:rPr lang="en-US" sz="2500" b="1" dirty="0">
                <a:latin typeface="Tw Cen MT" panose="020B0602020104020603" pitchFamily="34" charset="0"/>
                <a:cs typeface="Times New Roman" panose="02020603050405020304" pitchFamily="18" charset="0"/>
              </a:rPr>
              <a:t>Boolean flag[2</a:t>
            </a:r>
            <a:r>
              <a:rPr lang="en-US" sz="2500" b="1" dirty="0">
                <a:latin typeface="Times New Roman" panose="02020603050405020304" pitchFamily="18" charset="0"/>
                <a:cs typeface="Times New Roman" panose="02020603050405020304" pitchFamily="18" charset="0"/>
              </a:rPr>
              <a:t>]</a:t>
            </a:r>
          </a:p>
          <a:p>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variable </a:t>
            </a:r>
            <a:r>
              <a:rPr lang="en-US" sz="2500" b="1" dirty="0">
                <a:latin typeface="Tw Cen MT" panose="020B0602020104020603" pitchFamily="34" charset="0"/>
                <a:ea typeface="ADLaM Display" panose="020F0502020204030204" pitchFamily="2" charset="0"/>
                <a:cs typeface="ADLaM Display" panose="020F0502020204030204" pitchFamily="2" charset="0"/>
              </a:rPr>
              <a:t>turn</a:t>
            </a:r>
            <a:r>
              <a:rPr lang="en-US" sz="2500" dirty="0">
                <a:latin typeface="Times New Roman" panose="02020603050405020304" pitchFamily="18" charset="0"/>
                <a:cs typeface="Times New Roman" panose="02020603050405020304" pitchFamily="18" charset="0"/>
              </a:rPr>
              <a:t> indicates whose turn it is to enter the critical section.</a:t>
            </a:r>
          </a:p>
          <a:p>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a:t>
            </a:r>
            <a:r>
              <a:rPr lang="en-US" sz="2500" b="1" dirty="0">
                <a:latin typeface="Tw Cen MT" panose="020B0602020104020603" pitchFamily="34" charset="0"/>
                <a:cs typeface="Times New Roman" panose="02020603050405020304" pitchFamily="18" charset="0"/>
              </a:rPr>
              <a:t>flag</a:t>
            </a:r>
            <a:r>
              <a:rPr lang="en-US" sz="2500" dirty="0">
                <a:latin typeface="Times New Roman" panose="02020603050405020304" pitchFamily="18" charset="0"/>
                <a:cs typeface="Times New Roman" panose="02020603050405020304" pitchFamily="18" charset="0"/>
              </a:rPr>
              <a:t> array is used to indicate if a process is ready to enter the critical section. </a:t>
            </a:r>
            <a:r>
              <a:rPr lang="en-US" sz="2500" b="1" dirty="0">
                <a:latin typeface="Tw Cen MT" panose="020B0602020104020603" pitchFamily="34" charset="0"/>
                <a:cs typeface="Times New Roman" panose="02020603050405020304" pitchFamily="18" charset="0"/>
              </a:rPr>
              <a:t>flag[</a:t>
            </a:r>
            <a:r>
              <a:rPr lang="en-US" sz="2500" b="1" dirty="0" err="1">
                <a:latin typeface="Tw Cen MT" panose="020B0602020104020603" pitchFamily="34" charset="0"/>
                <a:cs typeface="Times New Roman" panose="02020603050405020304" pitchFamily="18" charset="0"/>
              </a:rPr>
              <a:t>i</a:t>
            </a:r>
            <a:r>
              <a:rPr lang="en-US" sz="2500" b="1" dirty="0">
                <a:latin typeface="Tw Cen MT" panose="020B0602020104020603" pitchFamily="34" charset="0"/>
                <a:cs typeface="Times New Roman" panose="02020603050405020304" pitchFamily="18" charset="0"/>
              </a:rPr>
              <a:t>] = true </a:t>
            </a:r>
            <a:r>
              <a:rPr lang="en-US" sz="2500" dirty="0">
                <a:latin typeface="Times New Roman" panose="02020603050405020304" pitchFamily="18" charset="0"/>
                <a:cs typeface="Times New Roman" panose="02020603050405020304" pitchFamily="18" charset="0"/>
              </a:rPr>
              <a:t>implies that process </a:t>
            </a:r>
            <a:r>
              <a:rPr lang="en-US" sz="2500" b="1" i="1" dirty="0">
                <a:latin typeface="Times New Roman" panose="02020603050405020304" pitchFamily="18" charset="0"/>
                <a:cs typeface="Times New Roman" panose="02020603050405020304" pitchFamily="18" charset="0"/>
              </a:rPr>
              <a:t>Pi</a:t>
            </a:r>
            <a:r>
              <a:rPr lang="en-US" sz="2500" dirty="0">
                <a:latin typeface="Times New Roman" panose="02020603050405020304" pitchFamily="18" charset="0"/>
                <a:cs typeface="Times New Roman" panose="02020603050405020304" pitchFamily="18" charset="0"/>
              </a:rPr>
              <a:t> is ready!</a:t>
            </a:r>
            <a:endParaRPr lang="fr-CA" sz="2500" dirty="0">
              <a:latin typeface="Times New Roman" panose="02020603050405020304" pitchFamily="18" charset="0"/>
              <a:cs typeface="Times New Roman" panose="02020603050405020304" pitchFamily="18" charset="0"/>
            </a:endParaRPr>
          </a:p>
          <a:p>
            <a:endParaRPr lang="fr-DZ" sz="2800" dirty="0">
              <a:solidFill>
                <a:schemeClr val="accent6">
                  <a:lumMod val="75000"/>
                </a:schemeClr>
              </a:solidFill>
            </a:endParaRPr>
          </a:p>
        </p:txBody>
      </p:sp>
    </p:spTree>
    <p:extLst>
      <p:ext uri="{BB962C8B-B14F-4D97-AF65-F5344CB8AC3E}">
        <p14:creationId xmlns:p14="http://schemas.microsoft.com/office/powerpoint/2010/main" val="12095645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FDB39FE-840C-97BD-6D3B-B29E29B3505C}"/>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7" name="TextBox 6">
            <a:extLst>
              <a:ext uri="{FF2B5EF4-FFF2-40B4-BE49-F238E27FC236}">
                <a16:creationId xmlns:a16="http://schemas.microsoft.com/office/drawing/2014/main" id="{4AEF06E7-031E-FF0C-C738-79CE10B2C4A3}"/>
              </a:ext>
            </a:extLst>
          </p:cNvPr>
          <p:cNvSpPr txBox="1"/>
          <p:nvPr/>
        </p:nvSpPr>
        <p:spPr>
          <a:xfrm>
            <a:off x="771395" y="1390389"/>
            <a:ext cx="8823542" cy="523220"/>
          </a:xfrm>
          <a:prstGeom prst="rect">
            <a:avLst/>
          </a:prstGeom>
          <a:noFill/>
        </p:spPr>
        <p:txBody>
          <a:bodyPr wrap="square">
            <a:spAutoFit/>
          </a:bodyPr>
          <a:lstStyle/>
          <a:p>
            <a:r>
              <a:rPr lang="fr-CA" sz="2800" b="1" dirty="0" err="1">
                <a:solidFill>
                  <a:schemeClr val="accent6">
                    <a:lumMod val="75000"/>
                  </a:schemeClr>
                </a:solidFill>
                <a:latin typeface="Times New Roman" panose="02020603050405020304" pitchFamily="18" charset="0"/>
                <a:cs typeface="Times New Roman" panose="02020603050405020304" pitchFamily="18" charset="0"/>
              </a:rPr>
              <a:t>Peterson’s</a:t>
            </a:r>
            <a:r>
              <a:rPr lang="fr-CA" sz="2800" b="1" dirty="0">
                <a:solidFill>
                  <a:schemeClr val="accent6">
                    <a:lumMod val="75000"/>
                  </a:schemeClr>
                </a:solidFill>
                <a:latin typeface="Times New Roman" panose="02020603050405020304" pitchFamily="18" charset="0"/>
                <a:cs typeface="Times New Roman" panose="02020603050405020304" pitchFamily="18" charset="0"/>
              </a:rPr>
              <a:t> Solution (software solutions)</a:t>
            </a:r>
            <a:endParaRPr lang="fr-DZ" sz="2800" dirty="0">
              <a:solidFill>
                <a:schemeClr val="accent6">
                  <a:lumMod val="75000"/>
                </a:schemeClr>
              </a:solidFill>
            </a:endParaRPr>
          </a:p>
        </p:txBody>
      </p:sp>
      <p:sp>
        <p:nvSpPr>
          <p:cNvPr id="11" name="TextBox 10">
            <a:extLst>
              <a:ext uri="{FF2B5EF4-FFF2-40B4-BE49-F238E27FC236}">
                <a16:creationId xmlns:a16="http://schemas.microsoft.com/office/drawing/2014/main" id="{2FD96F26-8E97-DA44-B6C2-B34B5B7F8286}"/>
              </a:ext>
            </a:extLst>
          </p:cNvPr>
          <p:cNvSpPr txBox="1"/>
          <p:nvPr/>
        </p:nvSpPr>
        <p:spPr>
          <a:xfrm>
            <a:off x="678233" y="5842431"/>
            <a:ext cx="10095978" cy="769441"/>
          </a:xfrm>
          <a:prstGeom prst="rect">
            <a:avLst/>
          </a:prstGeom>
          <a:noFill/>
        </p:spPr>
        <p:txBody>
          <a:bodyPr wrap="square">
            <a:spAutoFit/>
          </a:bodyPr>
          <a:lstStyle/>
          <a:p>
            <a:pPr marL="342900" indent="-342900">
              <a:buFont typeface="Arial" panose="020B0604020202020204" pitchFamily="34" charset="0"/>
              <a:buChar char="•"/>
            </a:pPr>
            <a:r>
              <a:rPr lang="fr-DZ" sz="2200" dirty="0" err="1">
                <a:latin typeface="Times New Roman" panose="02020603050405020304" pitchFamily="18" charset="0"/>
                <a:cs typeface="Times New Roman" panose="02020603050405020304" pitchFamily="18" charset="0"/>
              </a:rPr>
              <a:t>Initially</a:t>
            </a:r>
            <a:r>
              <a:rPr lang="fr-DZ" sz="2200" dirty="0">
                <a:latin typeface="Times New Roman" panose="02020603050405020304" pitchFamily="18" charset="0"/>
                <a:cs typeface="Times New Roman" panose="02020603050405020304" pitchFamily="18" charset="0"/>
              </a:rPr>
              <a:t>, </a:t>
            </a:r>
            <a:r>
              <a:rPr lang="fr-DZ" sz="2200" dirty="0" err="1">
                <a:latin typeface="Times New Roman" panose="02020603050405020304" pitchFamily="18" charset="0"/>
                <a:cs typeface="Times New Roman" panose="02020603050405020304" pitchFamily="18" charset="0"/>
              </a:rPr>
              <a:t>both</a:t>
            </a:r>
            <a:r>
              <a:rPr lang="fr-DZ" sz="2200" dirty="0">
                <a:latin typeface="Times New Roman" panose="02020603050405020304" pitchFamily="18" charset="0"/>
                <a:cs typeface="Times New Roman" panose="02020603050405020304" pitchFamily="18" charset="0"/>
              </a:rPr>
              <a:t> </a:t>
            </a:r>
            <a:r>
              <a:rPr lang="fr-DZ" sz="2200" dirty="0" err="1">
                <a:latin typeface="Times New Roman" panose="02020603050405020304" pitchFamily="18" charset="0"/>
                <a:cs typeface="Times New Roman" panose="02020603050405020304" pitchFamily="18" charset="0"/>
              </a:rPr>
              <a:t>processes</a:t>
            </a:r>
            <a:r>
              <a:rPr lang="fr-DZ" sz="2200" dirty="0">
                <a:latin typeface="Times New Roman" panose="02020603050405020304" pitchFamily="18" charset="0"/>
                <a:cs typeface="Times New Roman" panose="02020603050405020304" pitchFamily="18" charset="0"/>
              </a:rPr>
              <a:t> are not in </a:t>
            </a:r>
            <a:r>
              <a:rPr lang="fr-DZ" sz="2200" dirty="0" err="1">
                <a:latin typeface="Times New Roman" panose="02020603050405020304" pitchFamily="18" charset="0"/>
                <a:cs typeface="Times New Roman" panose="02020603050405020304" pitchFamily="18" charset="0"/>
              </a:rPr>
              <a:t>their</a:t>
            </a:r>
            <a:r>
              <a:rPr lang="fr-DZ" sz="2200" dirty="0">
                <a:latin typeface="Times New Roman" panose="02020603050405020304" pitchFamily="18" charset="0"/>
                <a:cs typeface="Times New Roman" panose="02020603050405020304" pitchFamily="18" charset="0"/>
              </a:rPr>
              <a:t> </a:t>
            </a:r>
            <a:r>
              <a:rPr lang="fr-DZ" sz="2200" dirty="0" err="1">
                <a:latin typeface="Times New Roman" panose="02020603050405020304" pitchFamily="18" charset="0"/>
                <a:cs typeface="Times New Roman" panose="02020603050405020304" pitchFamily="18" charset="0"/>
              </a:rPr>
              <a:t>critical</a:t>
            </a:r>
            <a:r>
              <a:rPr lang="fr-DZ" sz="2200" dirty="0">
                <a:latin typeface="Times New Roman" panose="02020603050405020304" pitchFamily="18" charset="0"/>
                <a:cs typeface="Times New Roman" panose="02020603050405020304" pitchFamily="18" charset="0"/>
              </a:rPr>
              <a:t> </a:t>
            </a:r>
            <a:r>
              <a:rPr lang="fr-DZ" sz="2200" dirty="0" err="1">
                <a:latin typeface="Times New Roman" panose="02020603050405020304" pitchFamily="18" charset="0"/>
                <a:cs typeface="Times New Roman" panose="02020603050405020304" pitchFamily="18" charset="0"/>
              </a:rPr>
              <a:t>region</a:t>
            </a:r>
            <a:r>
              <a:rPr lang="fr-DZ" sz="2200" dirty="0">
                <a:latin typeface="Times New Roman" panose="02020603050405020304" pitchFamily="18" charset="0"/>
                <a:cs typeface="Times New Roman" panose="02020603050405020304" pitchFamily="18" charset="0"/>
              </a:rPr>
              <a:t>, and the </a:t>
            </a:r>
            <a:r>
              <a:rPr lang="fr-DZ" sz="2200" dirty="0" err="1">
                <a:latin typeface="Times New Roman" panose="02020603050405020304" pitchFamily="18" charset="0"/>
                <a:cs typeface="Times New Roman" panose="02020603050405020304" pitchFamily="18" charset="0"/>
              </a:rPr>
              <a:t>array</a:t>
            </a:r>
            <a:r>
              <a:rPr lang="fr-DZ" sz="2200" dirty="0">
                <a:latin typeface="Times New Roman" panose="02020603050405020304" pitchFamily="18" charset="0"/>
                <a:cs typeface="Times New Roman" panose="02020603050405020304" pitchFamily="18" charset="0"/>
              </a:rPr>
              <a:t> flag has all </a:t>
            </a:r>
            <a:r>
              <a:rPr lang="fr-DZ" sz="2200" dirty="0" err="1">
                <a:latin typeface="Times New Roman" panose="02020603050405020304" pitchFamily="18" charset="0"/>
                <a:cs typeface="Times New Roman" panose="02020603050405020304" pitchFamily="18" charset="0"/>
              </a:rPr>
              <a:t>its</a:t>
            </a:r>
            <a:r>
              <a:rPr lang="fr-DZ" sz="2200" dirty="0">
                <a:latin typeface="Times New Roman" panose="02020603050405020304" pitchFamily="18" charset="0"/>
                <a:cs typeface="Times New Roman" panose="02020603050405020304" pitchFamily="18" charset="0"/>
              </a:rPr>
              <a:t> </a:t>
            </a:r>
            <a:r>
              <a:rPr lang="fr-DZ" sz="2200" dirty="0" err="1">
                <a:latin typeface="Times New Roman" panose="02020603050405020304" pitchFamily="18" charset="0"/>
                <a:cs typeface="Times New Roman" panose="02020603050405020304" pitchFamily="18" charset="0"/>
              </a:rPr>
              <a:t>elements</a:t>
            </a:r>
            <a:r>
              <a:rPr lang="fr-DZ" sz="2200" dirty="0">
                <a:latin typeface="Times New Roman" panose="02020603050405020304" pitchFamily="18" charset="0"/>
                <a:cs typeface="Times New Roman" panose="02020603050405020304" pitchFamily="18" charset="0"/>
              </a:rPr>
              <a:t> set to false.</a:t>
            </a:r>
          </a:p>
        </p:txBody>
      </p:sp>
      <p:pic>
        <p:nvPicPr>
          <p:cNvPr id="13" name="Picture 12">
            <a:extLst>
              <a:ext uri="{FF2B5EF4-FFF2-40B4-BE49-F238E27FC236}">
                <a16:creationId xmlns:a16="http://schemas.microsoft.com/office/drawing/2014/main" id="{4A8A8E91-70F8-4DF8-3582-1F64C71B7581}"/>
              </a:ext>
            </a:extLst>
          </p:cNvPr>
          <p:cNvPicPr>
            <a:picLocks noChangeAspect="1"/>
          </p:cNvPicPr>
          <p:nvPr/>
        </p:nvPicPr>
        <p:blipFill>
          <a:blip r:embed="rId2"/>
          <a:stretch>
            <a:fillRect/>
          </a:stretch>
        </p:blipFill>
        <p:spPr>
          <a:xfrm>
            <a:off x="971811" y="1917845"/>
            <a:ext cx="10002816" cy="3549766"/>
          </a:xfrm>
          <a:prstGeom prst="rect">
            <a:avLst/>
          </a:prstGeom>
        </p:spPr>
      </p:pic>
    </p:spTree>
    <p:extLst>
      <p:ext uri="{BB962C8B-B14F-4D97-AF65-F5344CB8AC3E}">
        <p14:creationId xmlns:p14="http://schemas.microsoft.com/office/powerpoint/2010/main" val="10224669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2D919B6-75B0-936B-6B98-A0262901A23B}"/>
              </a:ext>
            </a:extLst>
          </p:cNvPr>
          <p:cNvSpPr txBox="1"/>
          <p:nvPr/>
        </p:nvSpPr>
        <p:spPr>
          <a:xfrm>
            <a:off x="838200" y="5696721"/>
            <a:ext cx="11199312" cy="430887"/>
          </a:xfrm>
          <a:prstGeom prst="rect">
            <a:avLst/>
          </a:prstGeom>
          <a:noFill/>
        </p:spPr>
        <p:txBody>
          <a:bodyPr wrap="square">
            <a:spAutoFit/>
          </a:bodyPr>
          <a:lstStyle/>
          <a:p>
            <a:r>
              <a:rPr lang="fr-DZ" sz="2200" b="1" dirty="0">
                <a:latin typeface="Times New Roman" panose="02020603050405020304" pitchFamily="18" charset="0"/>
                <a:cs typeface="Times New Roman" panose="02020603050405020304" pitchFamily="18" charset="0"/>
              </a:rPr>
              <a:t>1</a:t>
            </a:r>
            <a:r>
              <a:rPr lang="fr-DZ" sz="2200" b="1" i="1" dirty="0">
                <a:latin typeface="Times New Roman" panose="02020603050405020304" pitchFamily="18" charset="0"/>
                <a:cs typeface="Times New Roman" panose="02020603050405020304" pitchFamily="18" charset="0"/>
              </a:rPr>
              <a:t>. Pᵢ </a:t>
            </a:r>
            <a:r>
              <a:rPr lang="fr-DZ" sz="2200" dirty="0">
                <a:latin typeface="Times New Roman" panose="02020603050405020304" pitchFamily="18" charset="0"/>
                <a:cs typeface="Times New Roman" panose="02020603050405020304" pitchFamily="18" charset="0"/>
              </a:rPr>
              <a:t>arrives first, sets </a:t>
            </a:r>
            <a:r>
              <a:rPr lang="fr-DZ" sz="2200" dirty="0" err="1">
                <a:latin typeface="Times New Roman" panose="02020603050405020304" pitchFamily="18" charset="0"/>
                <a:cs typeface="Times New Roman" panose="02020603050405020304" pitchFamily="18" charset="0"/>
              </a:rPr>
              <a:t>its</a:t>
            </a:r>
            <a:r>
              <a:rPr lang="fr-DZ" sz="2200" dirty="0">
                <a:latin typeface="Times New Roman" panose="02020603050405020304" pitchFamily="18" charset="0"/>
                <a:cs typeface="Times New Roman" panose="02020603050405020304" pitchFamily="18" charset="0"/>
              </a:rPr>
              <a:t> flag, pushes the </a:t>
            </a:r>
            <a:r>
              <a:rPr lang="fr-DZ" sz="2200" dirty="0" err="1">
                <a:latin typeface="Times New Roman" panose="02020603050405020304" pitchFamily="18" charset="0"/>
                <a:cs typeface="Times New Roman" panose="02020603050405020304" pitchFamily="18" charset="0"/>
              </a:rPr>
              <a:t>turn</a:t>
            </a:r>
            <a:r>
              <a:rPr lang="fr-DZ" sz="2200" dirty="0">
                <a:latin typeface="Times New Roman" panose="02020603050405020304" pitchFamily="18" charset="0"/>
                <a:cs typeface="Times New Roman" panose="02020603050405020304" pitchFamily="18" charset="0"/>
              </a:rPr>
              <a:t> to the </a:t>
            </a:r>
            <a:r>
              <a:rPr lang="fr-DZ" sz="2200" dirty="0" err="1">
                <a:latin typeface="Times New Roman" panose="02020603050405020304" pitchFamily="18" charset="0"/>
                <a:cs typeface="Times New Roman" panose="02020603050405020304" pitchFamily="18" charset="0"/>
              </a:rPr>
              <a:t>other</a:t>
            </a:r>
            <a:r>
              <a:rPr lang="fr-DZ" sz="2200" dirty="0">
                <a:latin typeface="Times New Roman" panose="02020603050405020304" pitchFamily="18" charset="0"/>
                <a:cs typeface="Times New Roman" panose="02020603050405020304" pitchFamily="18" charset="0"/>
              </a:rPr>
              <a:t> flag and </a:t>
            </a:r>
            <a:r>
              <a:rPr lang="fr-DZ" sz="2200" dirty="0" err="1">
                <a:latin typeface="Times New Roman" panose="02020603050405020304" pitchFamily="18" charset="0"/>
                <a:cs typeface="Times New Roman" panose="02020603050405020304" pitchFamily="18" charset="0"/>
              </a:rPr>
              <a:t>may</a:t>
            </a:r>
            <a:r>
              <a:rPr lang="fr-DZ" sz="2200" dirty="0">
                <a:latin typeface="Times New Roman" panose="02020603050405020304" pitchFamily="18" charset="0"/>
                <a:cs typeface="Times New Roman" panose="02020603050405020304" pitchFamily="18" charset="0"/>
              </a:rPr>
              <a:t> enter</a:t>
            </a:r>
            <a:r>
              <a:rPr lang="fr-DZ" dirty="0"/>
              <a:t>.</a:t>
            </a:r>
          </a:p>
        </p:txBody>
      </p:sp>
      <p:sp>
        <p:nvSpPr>
          <p:cNvPr id="8" name="Title 1">
            <a:extLst>
              <a:ext uri="{FF2B5EF4-FFF2-40B4-BE49-F238E27FC236}">
                <a16:creationId xmlns:a16="http://schemas.microsoft.com/office/drawing/2014/main" id="{20CA9958-9E31-CCE2-3873-C23ABAA730E6}"/>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9" name="TextBox 8">
            <a:extLst>
              <a:ext uri="{FF2B5EF4-FFF2-40B4-BE49-F238E27FC236}">
                <a16:creationId xmlns:a16="http://schemas.microsoft.com/office/drawing/2014/main" id="{7E4E24BA-186D-ED25-22DB-0A08C7B34BC6}"/>
              </a:ext>
            </a:extLst>
          </p:cNvPr>
          <p:cNvSpPr txBox="1"/>
          <p:nvPr/>
        </p:nvSpPr>
        <p:spPr>
          <a:xfrm>
            <a:off x="771395" y="1390389"/>
            <a:ext cx="8823542" cy="523220"/>
          </a:xfrm>
          <a:prstGeom prst="rect">
            <a:avLst/>
          </a:prstGeom>
          <a:noFill/>
        </p:spPr>
        <p:txBody>
          <a:bodyPr wrap="square">
            <a:spAutoFit/>
          </a:bodyPr>
          <a:lstStyle/>
          <a:p>
            <a:r>
              <a:rPr lang="fr-CA" sz="2800" b="1" dirty="0" err="1">
                <a:solidFill>
                  <a:schemeClr val="accent6">
                    <a:lumMod val="75000"/>
                  </a:schemeClr>
                </a:solidFill>
                <a:latin typeface="Times New Roman" panose="02020603050405020304" pitchFamily="18" charset="0"/>
                <a:cs typeface="Times New Roman" panose="02020603050405020304" pitchFamily="18" charset="0"/>
              </a:rPr>
              <a:t>Peterson’s</a:t>
            </a:r>
            <a:r>
              <a:rPr lang="fr-CA" sz="2800" b="1" dirty="0">
                <a:solidFill>
                  <a:schemeClr val="accent6">
                    <a:lumMod val="75000"/>
                  </a:schemeClr>
                </a:solidFill>
                <a:latin typeface="Times New Roman" panose="02020603050405020304" pitchFamily="18" charset="0"/>
                <a:cs typeface="Times New Roman" panose="02020603050405020304" pitchFamily="18" charset="0"/>
              </a:rPr>
              <a:t> Solution (software solutions)</a:t>
            </a:r>
            <a:endParaRPr lang="fr-DZ" sz="2800" dirty="0">
              <a:solidFill>
                <a:schemeClr val="accent6">
                  <a:lumMod val="75000"/>
                </a:schemeClr>
              </a:solidFill>
            </a:endParaRPr>
          </a:p>
        </p:txBody>
      </p:sp>
      <p:pic>
        <p:nvPicPr>
          <p:cNvPr id="13" name="Picture 12">
            <a:extLst>
              <a:ext uri="{FF2B5EF4-FFF2-40B4-BE49-F238E27FC236}">
                <a16:creationId xmlns:a16="http://schemas.microsoft.com/office/drawing/2014/main" id="{15EB13F6-CBBB-DD25-4177-83AF800C0171}"/>
              </a:ext>
            </a:extLst>
          </p:cNvPr>
          <p:cNvPicPr>
            <a:picLocks noChangeAspect="1"/>
          </p:cNvPicPr>
          <p:nvPr/>
        </p:nvPicPr>
        <p:blipFill>
          <a:blip r:embed="rId2"/>
          <a:stretch>
            <a:fillRect/>
          </a:stretch>
        </p:blipFill>
        <p:spPr>
          <a:xfrm>
            <a:off x="1109502" y="2191260"/>
            <a:ext cx="9651399" cy="3505461"/>
          </a:xfrm>
          <a:prstGeom prst="rect">
            <a:avLst/>
          </a:prstGeom>
        </p:spPr>
      </p:pic>
    </p:spTree>
    <p:extLst>
      <p:ext uri="{BB962C8B-B14F-4D97-AF65-F5344CB8AC3E}">
        <p14:creationId xmlns:p14="http://schemas.microsoft.com/office/powerpoint/2010/main" val="28463016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6DF550-ED9C-563E-F995-BB18492F9E14}"/>
              </a:ext>
            </a:extLst>
          </p:cNvPr>
          <p:cNvSpPr txBox="1"/>
          <p:nvPr/>
        </p:nvSpPr>
        <p:spPr>
          <a:xfrm>
            <a:off x="971004" y="5378578"/>
            <a:ext cx="10515600" cy="1107996"/>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Then, </a:t>
            </a:r>
            <a:r>
              <a:rPr lang="en-US" sz="2200" b="1" i="1" dirty="0">
                <a:latin typeface="Times New Roman" panose="02020603050405020304" pitchFamily="18" charset="0"/>
                <a:cs typeface="Times New Roman" panose="02020603050405020304" pitchFamily="18" charset="0"/>
              </a:rPr>
              <a:t>Pⱼ</a:t>
            </a:r>
            <a:r>
              <a:rPr lang="en-US" sz="2200" dirty="0">
                <a:latin typeface="Times New Roman" panose="02020603050405020304" pitchFamily="18" charset="0"/>
                <a:cs typeface="Times New Roman" panose="02020603050405020304" pitchFamily="18" charset="0"/>
              </a:rPr>
              <a:t> also sets its flag &amp; pushes the turn, but must wait until </a:t>
            </a:r>
            <a:r>
              <a:rPr lang="en-US" sz="2200" b="1" i="1" dirty="0">
                <a:latin typeface="Times New Roman" panose="02020603050405020304" pitchFamily="18" charset="0"/>
                <a:cs typeface="Times New Roman" panose="02020603050405020304" pitchFamily="18" charset="0"/>
              </a:rPr>
              <a:t>Pᵢ</a:t>
            </a:r>
            <a:r>
              <a:rPr lang="en-US" sz="2200" dirty="0">
                <a:latin typeface="Times New Roman" panose="02020603050405020304" pitchFamily="18" charset="0"/>
                <a:cs typeface="Times New Roman" panose="02020603050405020304" pitchFamily="18" charset="0"/>
              </a:rPr>
              <a:t>’s flag is reset. Process </a:t>
            </a:r>
            <a:r>
              <a:rPr lang="en-US" sz="2200" b="1" i="1" dirty="0">
                <a:latin typeface="Times New Roman" panose="02020603050405020304" pitchFamily="18" charset="0"/>
                <a:cs typeface="Times New Roman" panose="02020603050405020304" pitchFamily="18" charset="0"/>
              </a:rPr>
              <a:t>Pⱼ</a:t>
            </a:r>
            <a:r>
              <a:rPr lang="en-US" sz="2200" dirty="0">
                <a:latin typeface="Times New Roman" panose="02020603050405020304" pitchFamily="18" charset="0"/>
                <a:cs typeface="Times New Roman" panose="02020603050405020304" pitchFamily="18" charset="0"/>
              </a:rPr>
              <a:t> will only be allowed to continue when flag[0] is set to false which can only come about from process </a:t>
            </a:r>
            <a:r>
              <a:rPr lang="en-US" sz="2200" b="1" i="1" dirty="0">
                <a:latin typeface="Times New Roman" panose="02020603050405020304" pitchFamily="18" charset="0"/>
                <a:cs typeface="Times New Roman" panose="02020603050405020304" pitchFamily="18" charset="0"/>
              </a:rPr>
              <a:t>Pᵢ</a:t>
            </a:r>
            <a:r>
              <a:rPr lang="en-US" sz="2200" dirty="0">
                <a:latin typeface="Times New Roman" panose="02020603050405020304" pitchFamily="18" charset="0"/>
                <a:cs typeface="Times New Roman" panose="02020603050405020304" pitchFamily="18" charset="0"/>
              </a:rPr>
              <a:t>.</a:t>
            </a:r>
            <a:endParaRPr lang="fr-DZ" sz="22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3A24B906-F749-1A4D-1460-821EDBE7ABE3}"/>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9" name="TextBox 8">
            <a:extLst>
              <a:ext uri="{FF2B5EF4-FFF2-40B4-BE49-F238E27FC236}">
                <a16:creationId xmlns:a16="http://schemas.microsoft.com/office/drawing/2014/main" id="{4C811475-0860-38A2-2022-A5A17FE87317}"/>
              </a:ext>
            </a:extLst>
          </p:cNvPr>
          <p:cNvSpPr txBox="1"/>
          <p:nvPr/>
        </p:nvSpPr>
        <p:spPr>
          <a:xfrm>
            <a:off x="771395" y="1390389"/>
            <a:ext cx="8823542" cy="523220"/>
          </a:xfrm>
          <a:prstGeom prst="rect">
            <a:avLst/>
          </a:prstGeom>
          <a:noFill/>
        </p:spPr>
        <p:txBody>
          <a:bodyPr wrap="square">
            <a:spAutoFit/>
          </a:bodyPr>
          <a:lstStyle/>
          <a:p>
            <a:r>
              <a:rPr lang="fr-CA" sz="2800" b="1" dirty="0" err="1">
                <a:solidFill>
                  <a:schemeClr val="accent6">
                    <a:lumMod val="75000"/>
                  </a:schemeClr>
                </a:solidFill>
                <a:latin typeface="Times New Roman" panose="02020603050405020304" pitchFamily="18" charset="0"/>
                <a:cs typeface="Times New Roman" panose="02020603050405020304" pitchFamily="18" charset="0"/>
              </a:rPr>
              <a:t>Peterson’s</a:t>
            </a:r>
            <a:r>
              <a:rPr lang="fr-CA" sz="2800" b="1" dirty="0">
                <a:solidFill>
                  <a:schemeClr val="accent6">
                    <a:lumMod val="75000"/>
                  </a:schemeClr>
                </a:solidFill>
                <a:latin typeface="Times New Roman" panose="02020603050405020304" pitchFamily="18" charset="0"/>
                <a:cs typeface="Times New Roman" panose="02020603050405020304" pitchFamily="18" charset="0"/>
              </a:rPr>
              <a:t> Solution (software solutions)</a:t>
            </a:r>
            <a:endParaRPr lang="fr-DZ" sz="2800" dirty="0">
              <a:solidFill>
                <a:schemeClr val="accent6">
                  <a:lumMod val="75000"/>
                </a:schemeClr>
              </a:solidFill>
            </a:endParaRPr>
          </a:p>
        </p:txBody>
      </p:sp>
      <p:pic>
        <p:nvPicPr>
          <p:cNvPr id="11" name="Picture 10">
            <a:extLst>
              <a:ext uri="{FF2B5EF4-FFF2-40B4-BE49-F238E27FC236}">
                <a16:creationId xmlns:a16="http://schemas.microsoft.com/office/drawing/2014/main" id="{2BE907E0-44B8-8B6E-D060-24350F12A44F}"/>
              </a:ext>
            </a:extLst>
          </p:cNvPr>
          <p:cNvPicPr>
            <a:picLocks noChangeAspect="1"/>
          </p:cNvPicPr>
          <p:nvPr/>
        </p:nvPicPr>
        <p:blipFill>
          <a:blip r:embed="rId2"/>
          <a:stretch>
            <a:fillRect/>
          </a:stretch>
        </p:blipFill>
        <p:spPr>
          <a:xfrm>
            <a:off x="1297116" y="2180627"/>
            <a:ext cx="9597768" cy="3154667"/>
          </a:xfrm>
          <a:prstGeom prst="rect">
            <a:avLst/>
          </a:prstGeom>
        </p:spPr>
      </p:pic>
    </p:spTree>
    <p:extLst>
      <p:ext uri="{BB962C8B-B14F-4D97-AF65-F5344CB8AC3E}">
        <p14:creationId xmlns:p14="http://schemas.microsoft.com/office/powerpoint/2010/main" val="36514441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CFF9735-9C63-6E63-2201-A7B131940DB0}"/>
              </a:ext>
            </a:extLst>
          </p:cNvPr>
          <p:cNvSpPr txBox="1"/>
          <p:nvPr/>
        </p:nvSpPr>
        <p:spPr>
          <a:xfrm>
            <a:off x="1265565" y="5357000"/>
            <a:ext cx="7835202" cy="43088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a:t>
            </a:r>
            <a:r>
              <a:rPr lang="en-US" sz="2200" b="1" i="1" dirty="0">
                <a:latin typeface="Times New Roman" panose="02020603050405020304" pitchFamily="18" charset="0"/>
                <a:cs typeface="Times New Roman" panose="02020603050405020304" pitchFamily="18" charset="0"/>
              </a:rPr>
              <a:t>Pᵢ</a:t>
            </a:r>
            <a:r>
              <a:rPr lang="en-US" sz="2200" dirty="0">
                <a:latin typeface="Times New Roman" panose="02020603050405020304" pitchFamily="18" charset="0"/>
                <a:cs typeface="Times New Roman" panose="02020603050405020304" pitchFamily="18" charset="0"/>
              </a:rPr>
              <a:t> exits the CR and resets its flag[</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a:t>
            </a:r>
            <a:r>
              <a:rPr lang="en-US" sz="2200" b="1" i="1" dirty="0">
                <a:latin typeface="Times New Roman" panose="02020603050405020304" pitchFamily="18" charset="0"/>
                <a:cs typeface="Times New Roman" panose="02020603050405020304" pitchFamily="18" charset="0"/>
              </a:rPr>
              <a:t>Pⱼ</a:t>
            </a:r>
            <a:r>
              <a:rPr lang="en-US" sz="2200" dirty="0">
                <a:latin typeface="Times New Roman" panose="02020603050405020304" pitchFamily="18" charset="0"/>
                <a:cs typeface="Times New Roman" panose="02020603050405020304" pitchFamily="18" charset="0"/>
              </a:rPr>
              <a:t> may now enter.</a:t>
            </a:r>
            <a:endParaRPr lang="fr-DZ" sz="22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E755F6A5-DC09-DC36-8E27-4CBF6D89BE01}"/>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9" name="TextBox 8">
            <a:extLst>
              <a:ext uri="{FF2B5EF4-FFF2-40B4-BE49-F238E27FC236}">
                <a16:creationId xmlns:a16="http://schemas.microsoft.com/office/drawing/2014/main" id="{FD64BE5C-DC6A-C6CA-0832-7DF684727F54}"/>
              </a:ext>
            </a:extLst>
          </p:cNvPr>
          <p:cNvSpPr txBox="1"/>
          <p:nvPr/>
        </p:nvSpPr>
        <p:spPr>
          <a:xfrm>
            <a:off x="771395" y="1390389"/>
            <a:ext cx="8823542" cy="523220"/>
          </a:xfrm>
          <a:prstGeom prst="rect">
            <a:avLst/>
          </a:prstGeom>
          <a:noFill/>
        </p:spPr>
        <p:txBody>
          <a:bodyPr wrap="square">
            <a:spAutoFit/>
          </a:bodyPr>
          <a:lstStyle/>
          <a:p>
            <a:r>
              <a:rPr lang="fr-CA" sz="2800" b="1" dirty="0" err="1">
                <a:solidFill>
                  <a:schemeClr val="accent6">
                    <a:lumMod val="75000"/>
                  </a:schemeClr>
                </a:solidFill>
                <a:latin typeface="Times New Roman" panose="02020603050405020304" pitchFamily="18" charset="0"/>
                <a:cs typeface="Times New Roman" panose="02020603050405020304" pitchFamily="18" charset="0"/>
              </a:rPr>
              <a:t>Peterson’s</a:t>
            </a:r>
            <a:r>
              <a:rPr lang="fr-CA" sz="2800" b="1" dirty="0">
                <a:solidFill>
                  <a:schemeClr val="accent6">
                    <a:lumMod val="75000"/>
                  </a:schemeClr>
                </a:solidFill>
                <a:latin typeface="Times New Roman" panose="02020603050405020304" pitchFamily="18" charset="0"/>
                <a:cs typeface="Times New Roman" panose="02020603050405020304" pitchFamily="18" charset="0"/>
              </a:rPr>
              <a:t> Solution (software solutions)</a:t>
            </a:r>
            <a:endParaRPr lang="fr-DZ" sz="2800" dirty="0">
              <a:solidFill>
                <a:schemeClr val="accent6">
                  <a:lumMod val="75000"/>
                </a:schemeClr>
              </a:solidFill>
            </a:endParaRPr>
          </a:p>
        </p:txBody>
      </p:sp>
      <p:pic>
        <p:nvPicPr>
          <p:cNvPr id="11" name="Picture 10">
            <a:extLst>
              <a:ext uri="{FF2B5EF4-FFF2-40B4-BE49-F238E27FC236}">
                <a16:creationId xmlns:a16="http://schemas.microsoft.com/office/drawing/2014/main" id="{43F2CBD9-73D4-726D-BF1D-B99CAB678562}"/>
              </a:ext>
            </a:extLst>
          </p:cNvPr>
          <p:cNvPicPr>
            <a:picLocks noChangeAspect="1"/>
          </p:cNvPicPr>
          <p:nvPr/>
        </p:nvPicPr>
        <p:blipFill>
          <a:blip r:embed="rId2"/>
          <a:stretch>
            <a:fillRect/>
          </a:stretch>
        </p:blipFill>
        <p:spPr>
          <a:xfrm>
            <a:off x="1265565" y="2194570"/>
            <a:ext cx="9677933" cy="3162430"/>
          </a:xfrm>
          <a:prstGeom prst="rect">
            <a:avLst/>
          </a:prstGeom>
        </p:spPr>
      </p:pic>
    </p:spTree>
    <p:extLst>
      <p:ext uri="{BB962C8B-B14F-4D97-AF65-F5344CB8AC3E}">
        <p14:creationId xmlns:p14="http://schemas.microsoft.com/office/powerpoint/2010/main" val="7406542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CFF9735-9C63-6E63-2201-A7B131940DB0}"/>
              </a:ext>
            </a:extLst>
          </p:cNvPr>
          <p:cNvSpPr txBox="1"/>
          <p:nvPr/>
        </p:nvSpPr>
        <p:spPr>
          <a:xfrm>
            <a:off x="1265565" y="5357000"/>
            <a:ext cx="7835202" cy="43088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a:t>
            </a:r>
            <a:r>
              <a:rPr lang="en-US" sz="2200" b="1" i="1" dirty="0">
                <a:latin typeface="Times New Roman" panose="02020603050405020304" pitchFamily="18" charset="0"/>
                <a:cs typeface="Times New Roman" panose="02020603050405020304" pitchFamily="18" charset="0"/>
              </a:rPr>
              <a:t>Pᵢ</a:t>
            </a:r>
            <a:r>
              <a:rPr lang="en-US" sz="2200" dirty="0">
                <a:latin typeface="Times New Roman" panose="02020603050405020304" pitchFamily="18" charset="0"/>
                <a:cs typeface="Times New Roman" panose="02020603050405020304" pitchFamily="18" charset="0"/>
              </a:rPr>
              <a:t> exits the CR and resets its flag[</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a:t>
            </a:r>
            <a:r>
              <a:rPr lang="en-US" sz="2200" b="1" i="1" dirty="0">
                <a:latin typeface="Times New Roman" panose="02020603050405020304" pitchFamily="18" charset="0"/>
                <a:cs typeface="Times New Roman" panose="02020603050405020304" pitchFamily="18" charset="0"/>
              </a:rPr>
              <a:t>Pⱼ</a:t>
            </a:r>
            <a:r>
              <a:rPr lang="en-US" sz="2200" dirty="0">
                <a:latin typeface="Times New Roman" panose="02020603050405020304" pitchFamily="18" charset="0"/>
                <a:cs typeface="Times New Roman" panose="02020603050405020304" pitchFamily="18" charset="0"/>
              </a:rPr>
              <a:t> may now enter.</a:t>
            </a:r>
            <a:endParaRPr lang="fr-DZ" sz="22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E755F6A5-DC09-DC36-8E27-4CBF6D89BE01}"/>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9" name="TextBox 8">
            <a:extLst>
              <a:ext uri="{FF2B5EF4-FFF2-40B4-BE49-F238E27FC236}">
                <a16:creationId xmlns:a16="http://schemas.microsoft.com/office/drawing/2014/main" id="{FD64BE5C-DC6A-C6CA-0832-7DF684727F54}"/>
              </a:ext>
            </a:extLst>
          </p:cNvPr>
          <p:cNvSpPr txBox="1"/>
          <p:nvPr/>
        </p:nvSpPr>
        <p:spPr>
          <a:xfrm>
            <a:off x="771395" y="1390389"/>
            <a:ext cx="8823542" cy="523220"/>
          </a:xfrm>
          <a:prstGeom prst="rect">
            <a:avLst/>
          </a:prstGeom>
          <a:noFill/>
        </p:spPr>
        <p:txBody>
          <a:bodyPr wrap="square">
            <a:spAutoFit/>
          </a:bodyPr>
          <a:lstStyle/>
          <a:p>
            <a:r>
              <a:rPr lang="fr-CA" sz="2800" b="1" dirty="0" err="1">
                <a:solidFill>
                  <a:schemeClr val="accent6">
                    <a:lumMod val="75000"/>
                  </a:schemeClr>
                </a:solidFill>
                <a:latin typeface="Times New Roman" panose="02020603050405020304" pitchFamily="18" charset="0"/>
                <a:cs typeface="Times New Roman" panose="02020603050405020304" pitchFamily="18" charset="0"/>
              </a:rPr>
              <a:t>Peterson’s</a:t>
            </a:r>
            <a:r>
              <a:rPr lang="fr-CA" sz="2800" b="1" dirty="0">
                <a:solidFill>
                  <a:schemeClr val="accent6">
                    <a:lumMod val="75000"/>
                  </a:schemeClr>
                </a:solidFill>
                <a:latin typeface="Times New Roman" panose="02020603050405020304" pitchFamily="18" charset="0"/>
                <a:cs typeface="Times New Roman" panose="02020603050405020304" pitchFamily="18" charset="0"/>
              </a:rPr>
              <a:t> Solution (software solutions)</a:t>
            </a:r>
            <a:endParaRPr lang="fr-DZ" sz="2800" dirty="0">
              <a:solidFill>
                <a:schemeClr val="accent6">
                  <a:lumMod val="75000"/>
                </a:schemeClr>
              </a:solidFill>
            </a:endParaRPr>
          </a:p>
        </p:txBody>
      </p:sp>
      <p:pic>
        <p:nvPicPr>
          <p:cNvPr id="6" name="Picture 5">
            <a:extLst>
              <a:ext uri="{FF2B5EF4-FFF2-40B4-BE49-F238E27FC236}">
                <a16:creationId xmlns:a16="http://schemas.microsoft.com/office/drawing/2014/main" id="{45F8D7AB-31F2-B3F9-FD26-2DA9CE0BFDFB}"/>
              </a:ext>
            </a:extLst>
          </p:cNvPr>
          <p:cNvPicPr>
            <a:picLocks noChangeAspect="1"/>
          </p:cNvPicPr>
          <p:nvPr/>
        </p:nvPicPr>
        <p:blipFill>
          <a:blip r:embed="rId2"/>
          <a:stretch>
            <a:fillRect/>
          </a:stretch>
        </p:blipFill>
        <p:spPr>
          <a:xfrm>
            <a:off x="1063022" y="2060401"/>
            <a:ext cx="9407824" cy="3150426"/>
          </a:xfrm>
          <a:prstGeom prst="rect">
            <a:avLst/>
          </a:prstGeom>
        </p:spPr>
      </p:pic>
    </p:spTree>
    <p:extLst>
      <p:ext uri="{BB962C8B-B14F-4D97-AF65-F5344CB8AC3E}">
        <p14:creationId xmlns:p14="http://schemas.microsoft.com/office/powerpoint/2010/main" val="27001789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6F11E1-9093-782C-23D2-3FBD16CE50F1}"/>
              </a:ext>
            </a:extLst>
          </p:cNvPr>
          <p:cNvSpPr txBox="1"/>
          <p:nvPr/>
        </p:nvSpPr>
        <p:spPr>
          <a:xfrm>
            <a:off x="838200" y="2255256"/>
            <a:ext cx="11063234" cy="3477875"/>
          </a:xfrm>
          <a:prstGeom prst="rect">
            <a:avLst/>
          </a:prstGeom>
          <a:noFill/>
        </p:spPr>
        <p:txBody>
          <a:bodyPr wrap="square">
            <a:spAutoFit/>
          </a:bodyPr>
          <a:lstStyle/>
          <a:p>
            <a:r>
              <a:rPr lang="en-US" sz="2200" b="1" dirty="0">
                <a:solidFill>
                  <a:srgbClr val="C00000"/>
                </a:solidFill>
                <a:latin typeface="Times New Roman" panose="02020603050405020304" pitchFamily="18" charset="0"/>
                <a:cs typeface="Times New Roman" panose="02020603050405020304" pitchFamily="18" charset="0"/>
              </a:rPr>
              <a:t>Advantages:</a:t>
            </a:r>
          </a:p>
          <a:p>
            <a:pPr marL="542925">
              <a:buFont typeface="+mj-lt"/>
              <a:buAutoNum type="arabicPeriod"/>
            </a:pPr>
            <a:r>
              <a:rPr lang="en-US" sz="2200" dirty="0">
                <a:latin typeface="Times New Roman" panose="02020603050405020304" pitchFamily="18" charset="0"/>
                <a:cs typeface="Times New Roman" panose="02020603050405020304" pitchFamily="18" charset="0"/>
              </a:rPr>
              <a:t>Simplicity:</a:t>
            </a:r>
          </a:p>
          <a:p>
            <a:pPr marL="542925">
              <a:buFont typeface="+mj-lt"/>
              <a:buAutoNum type="arabicPeriod"/>
            </a:pPr>
            <a:r>
              <a:rPr lang="en-US" sz="2200" dirty="0">
                <a:latin typeface="Times New Roman" panose="02020603050405020304" pitchFamily="18" charset="0"/>
                <a:cs typeface="Times New Roman" panose="02020603050405020304" pitchFamily="18" charset="0"/>
              </a:rPr>
              <a:t>Guaranteed Mutual Exclusion</a:t>
            </a:r>
          </a:p>
          <a:p>
            <a:pPr marL="542925">
              <a:buFont typeface="+mj-lt"/>
              <a:buAutoNum type="arabicPeriod"/>
            </a:pPr>
            <a:r>
              <a:rPr lang="en-US" sz="2200" dirty="0">
                <a:latin typeface="Times New Roman" panose="02020603050405020304" pitchFamily="18" charset="0"/>
                <a:cs typeface="Times New Roman" panose="02020603050405020304" pitchFamily="18" charset="0"/>
              </a:rPr>
              <a:t>No Hardware Locking Needed</a:t>
            </a:r>
          </a:p>
          <a:p>
            <a:pPr marL="542925">
              <a:buFont typeface="+mj-lt"/>
              <a:buAutoNum type="arabicPeriod"/>
            </a:pPr>
            <a:r>
              <a:rPr lang="en-US" sz="2200" dirty="0">
                <a:latin typeface="Times New Roman" panose="02020603050405020304" pitchFamily="18" charset="0"/>
                <a:cs typeface="Times New Roman" panose="02020603050405020304" pitchFamily="18" charset="0"/>
              </a:rPr>
              <a:t>Good Performance</a:t>
            </a:r>
          </a:p>
          <a:p>
            <a:endParaRPr lang="en-US" sz="2200" dirty="0">
              <a:latin typeface="Times New Roman" panose="02020603050405020304" pitchFamily="18" charset="0"/>
              <a:cs typeface="Times New Roman" panose="02020603050405020304" pitchFamily="18" charset="0"/>
            </a:endParaRPr>
          </a:p>
          <a:p>
            <a:r>
              <a:rPr lang="en-US" sz="2200" b="1" dirty="0">
                <a:solidFill>
                  <a:srgbClr val="C00000"/>
                </a:solidFill>
                <a:latin typeface="Times New Roman" panose="02020603050405020304" pitchFamily="18" charset="0"/>
                <a:cs typeface="Times New Roman" panose="02020603050405020304" pitchFamily="18" charset="0"/>
              </a:rPr>
              <a:t>Disadvantages:</a:t>
            </a:r>
          </a:p>
          <a:p>
            <a:pPr marL="542925">
              <a:buFont typeface="+mj-lt"/>
              <a:buAutoNum type="arabicPeriod"/>
            </a:pPr>
            <a:r>
              <a:rPr lang="en-US" sz="2200" dirty="0">
                <a:latin typeface="Times New Roman" panose="02020603050405020304" pitchFamily="18" charset="0"/>
                <a:cs typeface="Times New Roman" panose="02020603050405020304" pitchFamily="18" charset="0"/>
              </a:rPr>
              <a:t>Limited to Two Processes</a:t>
            </a:r>
          </a:p>
          <a:p>
            <a:pPr marL="542925">
              <a:buFont typeface="+mj-lt"/>
              <a:buAutoNum type="arabicPeriod"/>
            </a:pPr>
            <a:r>
              <a:rPr lang="en-US" sz="2200" dirty="0">
                <a:latin typeface="Times New Roman" panose="02020603050405020304" pitchFamily="18" charset="0"/>
                <a:cs typeface="Times New Roman" panose="02020603050405020304" pitchFamily="18" charset="0"/>
              </a:rPr>
              <a:t>Issues on Modern Architectures</a:t>
            </a:r>
          </a:p>
          <a:p>
            <a:pPr marL="542925">
              <a:buFont typeface="+mj-lt"/>
              <a:buAutoNum type="arabicPeriod"/>
            </a:pPr>
            <a:r>
              <a:rPr lang="en-US" sz="2200" dirty="0">
                <a:latin typeface="Times New Roman" panose="02020603050405020304" pitchFamily="18" charset="0"/>
                <a:cs typeface="Times New Roman" panose="02020603050405020304" pitchFamily="18" charset="0"/>
              </a:rPr>
              <a:t> Not Optimized for Large-Scale Systems</a:t>
            </a:r>
          </a:p>
        </p:txBody>
      </p:sp>
      <p:sp>
        <p:nvSpPr>
          <p:cNvPr id="6" name="Title 1">
            <a:extLst>
              <a:ext uri="{FF2B5EF4-FFF2-40B4-BE49-F238E27FC236}">
                <a16:creationId xmlns:a16="http://schemas.microsoft.com/office/drawing/2014/main" id="{045AC6C1-6113-98A8-8B95-FEA1324FFAE0}"/>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7" name="TextBox 6">
            <a:extLst>
              <a:ext uri="{FF2B5EF4-FFF2-40B4-BE49-F238E27FC236}">
                <a16:creationId xmlns:a16="http://schemas.microsoft.com/office/drawing/2014/main" id="{127B908F-30E1-A4A0-C2EF-076178444A0C}"/>
              </a:ext>
            </a:extLst>
          </p:cNvPr>
          <p:cNvSpPr txBox="1"/>
          <p:nvPr/>
        </p:nvSpPr>
        <p:spPr>
          <a:xfrm>
            <a:off x="771395" y="1390389"/>
            <a:ext cx="8823542" cy="523220"/>
          </a:xfrm>
          <a:prstGeom prst="rect">
            <a:avLst/>
          </a:prstGeom>
          <a:noFill/>
        </p:spPr>
        <p:txBody>
          <a:bodyPr wrap="square">
            <a:spAutoFit/>
          </a:bodyPr>
          <a:lstStyle/>
          <a:p>
            <a:r>
              <a:rPr lang="fr-CA" sz="2800" b="1" dirty="0" err="1">
                <a:solidFill>
                  <a:schemeClr val="accent6">
                    <a:lumMod val="75000"/>
                  </a:schemeClr>
                </a:solidFill>
                <a:latin typeface="Times New Roman" panose="02020603050405020304" pitchFamily="18" charset="0"/>
                <a:cs typeface="Times New Roman" panose="02020603050405020304" pitchFamily="18" charset="0"/>
              </a:rPr>
              <a:t>Peterson’s</a:t>
            </a:r>
            <a:r>
              <a:rPr lang="fr-CA" sz="2800" b="1" dirty="0">
                <a:solidFill>
                  <a:schemeClr val="accent6">
                    <a:lumMod val="75000"/>
                  </a:schemeClr>
                </a:solidFill>
                <a:latin typeface="Times New Roman" panose="02020603050405020304" pitchFamily="18" charset="0"/>
                <a:cs typeface="Times New Roman" panose="02020603050405020304" pitchFamily="18" charset="0"/>
              </a:rPr>
              <a:t> Solution (software solutions)</a:t>
            </a:r>
            <a:endParaRPr lang="fr-DZ" sz="2800" dirty="0">
              <a:solidFill>
                <a:schemeClr val="accent6">
                  <a:lumMod val="75000"/>
                </a:schemeClr>
              </a:solidFill>
            </a:endParaRPr>
          </a:p>
        </p:txBody>
      </p:sp>
    </p:spTree>
    <p:extLst>
      <p:ext uri="{BB962C8B-B14F-4D97-AF65-F5344CB8AC3E}">
        <p14:creationId xmlns:p14="http://schemas.microsoft.com/office/powerpoint/2010/main" val="3256595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087A1A-848B-8114-54AF-F392C982546F}"/>
              </a:ext>
            </a:extLst>
          </p:cNvPr>
          <p:cNvSpPr>
            <a:spLocks noGrp="1"/>
          </p:cNvSpPr>
          <p:nvPr>
            <p:ph idx="1"/>
          </p:nvPr>
        </p:nvSpPr>
        <p:spPr>
          <a:xfrm>
            <a:off x="199373" y="1863203"/>
            <a:ext cx="10515600" cy="4351338"/>
          </a:xfrm>
        </p:spPr>
        <p:txBody>
          <a:bodyPr/>
          <a:lstStyle/>
          <a:p>
            <a:r>
              <a:rPr lang="en-US" dirty="0">
                <a:latin typeface="Times New Roman" panose="02020603050405020304" pitchFamily="18" charset="0"/>
                <a:cs typeface="Times New Roman" panose="02020603050405020304" pitchFamily="18" charset="0"/>
              </a:rPr>
              <a:t>To control access to a shared object, E.W. Dijkstra (1965) proposed the use of a new type of variable called semaphores.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semaphore is an integer counter that designates the number of access permissions to an object, a critical section, etc.</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semaphore has, at least, </a:t>
            </a:r>
            <a:r>
              <a:rPr lang="en-US" b="1" dirty="0">
                <a:latin typeface="Times New Roman" panose="02020603050405020304" pitchFamily="18" charset="0"/>
                <a:cs typeface="Times New Roman" panose="02020603050405020304" pitchFamily="18" charset="0"/>
              </a:rPr>
              <a:t>a name</a:t>
            </a:r>
            <a:r>
              <a:rPr lang="en-US" dirty="0">
                <a:latin typeface="Times New Roman" panose="02020603050405020304" pitchFamily="18" charset="0"/>
                <a:cs typeface="Times New Roman" panose="02020603050405020304" pitchFamily="18" charset="0"/>
              </a:rPr>
              <a:t>, an </a:t>
            </a:r>
            <a:r>
              <a:rPr lang="en-US" b="1" dirty="0">
                <a:latin typeface="Times New Roman" panose="02020603050405020304" pitchFamily="18" charset="0"/>
                <a:cs typeface="Times New Roman" panose="02020603050405020304" pitchFamily="18" charset="0"/>
              </a:rPr>
              <a:t>initial value</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a waiting queue</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Semaphores are manipulated by operations that are generalizations of sleep and wakeup:</a:t>
            </a:r>
          </a:p>
          <a:p>
            <a:pPr marL="742950" lvl="1" indent="-285750">
              <a:buFont typeface="Arial" panose="020B0604020202020204" pitchFamily="34" charset="0"/>
              <a:buChar char="•"/>
            </a:pPr>
            <a:r>
              <a:rPr lang="en-US" b="1" dirty="0">
                <a:latin typeface="ADLaM Display" panose="02010000000000000000" pitchFamily="2" charset="0"/>
                <a:ea typeface="ADLaM Display" panose="02010000000000000000" pitchFamily="2" charset="0"/>
                <a:cs typeface="ADLaM Display" panose="02010000000000000000" pitchFamily="2" charset="0"/>
              </a:rPr>
              <a:t>P()</a:t>
            </a: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Proberen</a:t>
            </a:r>
            <a:r>
              <a:rPr lang="en-US" dirty="0">
                <a:latin typeface="Times New Roman" panose="02020603050405020304" pitchFamily="18" charset="0"/>
                <a:cs typeface="Times New Roman" panose="02020603050405020304" pitchFamily="18" charset="0"/>
              </a:rPr>
              <a:t>" (test)) also referred to as </a:t>
            </a:r>
            <a:r>
              <a:rPr lang="en-US" b="1" dirty="0">
                <a:latin typeface="ADLaM Display" panose="02010000000000000000" pitchFamily="2" charset="0"/>
                <a:ea typeface="ADLaM Display" panose="02010000000000000000" pitchFamily="2" charset="0"/>
                <a:cs typeface="ADLaM Display" panose="02010000000000000000" pitchFamily="2" charset="0"/>
              </a:rPr>
              <a:t>down</a:t>
            </a:r>
            <a:r>
              <a:rPr lang="en-US" dirty="0">
                <a:latin typeface="Times New Roman" panose="02020603050405020304" pitchFamily="18" charset="0"/>
                <a:cs typeface="Times New Roman" panose="02020603050405020304" pitchFamily="18" charset="0"/>
              </a:rPr>
              <a:t> or </a:t>
            </a:r>
            <a:r>
              <a:rPr lang="en-US" b="1" dirty="0">
                <a:latin typeface="ADLaM Display" panose="02010000000000000000" pitchFamily="2" charset="0"/>
                <a:ea typeface="ADLaM Display" panose="02010000000000000000" pitchFamily="2" charset="0"/>
                <a:cs typeface="ADLaM Display" panose="02010000000000000000" pitchFamily="2" charset="0"/>
              </a:rPr>
              <a:t>wait</a:t>
            </a:r>
            <a:r>
              <a:rPr lang="en-US" dirty="0">
                <a:latin typeface="ADLaM Display" panose="02010000000000000000" pitchFamily="2" charset="0"/>
                <a:ea typeface="ADLaM Display" panose="02010000000000000000" pitchFamily="2" charset="0"/>
                <a:cs typeface="ADLaM Display" panose="02010000000000000000" pitchFamily="2" charset="0"/>
              </a:rPr>
              <a:t>.</a:t>
            </a:r>
          </a:p>
          <a:p>
            <a:pPr marL="742950" lvl="1" indent="-285750">
              <a:buFont typeface="Arial" panose="020B0604020202020204" pitchFamily="34" charset="0"/>
              <a:buChar char="•"/>
            </a:pPr>
            <a:r>
              <a:rPr lang="en-US" b="1" dirty="0">
                <a:latin typeface="ADLaM Display" panose="02010000000000000000" pitchFamily="2" charset="0"/>
                <a:ea typeface="ADLaM Display" panose="02010000000000000000" pitchFamily="2" charset="0"/>
                <a:cs typeface="ADLaM Display" panose="02010000000000000000" pitchFamily="2" charset="0"/>
              </a:rPr>
              <a:t>V()</a:t>
            </a: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Verhogen</a:t>
            </a:r>
            <a:r>
              <a:rPr lang="en-US" dirty="0">
                <a:latin typeface="Times New Roman" panose="02020603050405020304" pitchFamily="18" charset="0"/>
                <a:cs typeface="Times New Roman" panose="02020603050405020304" pitchFamily="18" charset="0"/>
              </a:rPr>
              <a:t>" (increment)) also referred to as </a:t>
            </a:r>
            <a:r>
              <a:rPr lang="en-US" b="1" dirty="0">
                <a:latin typeface="ADLaM Display" panose="02010000000000000000" pitchFamily="2" charset="0"/>
                <a:ea typeface="ADLaM Display" panose="02010000000000000000" pitchFamily="2" charset="0"/>
                <a:cs typeface="ADLaM Display" panose="02010000000000000000" pitchFamily="2" charset="0"/>
              </a:rPr>
              <a:t>up</a:t>
            </a:r>
            <a:r>
              <a:rPr lang="en-US" dirty="0">
                <a:latin typeface="Times New Roman" panose="02020603050405020304" pitchFamily="18" charset="0"/>
                <a:cs typeface="Times New Roman" panose="02020603050405020304" pitchFamily="18" charset="0"/>
              </a:rPr>
              <a:t> or </a:t>
            </a:r>
            <a:r>
              <a:rPr lang="en-US" b="1" dirty="0">
                <a:latin typeface="ADLaM Display" panose="02010000000000000000" pitchFamily="2" charset="0"/>
                <a:ea typeface="ADLaM Display" panose="02010000000000000000" pitchFamily="2" charset="0"/>
                <a:cs typeface="ADLaM Display" panose="02010000000000000000" pitchFamily="2" charset="0"/>
              </a:rPr>
              <a:t>signal</a:t>
            </a:r>
            <a:r>
              <a:rPr lang="en-US" dirty="0">
                <a:latin typeface="Times New Roman" panose="02020603050405020304" pitchFamily="18" charset="0"/>
                <a:cs typeface="Times New Roman" panose="02020603050405020304" pitchFamily="18" charset="0"/>
              </a:rPr>
              <a:t>.</a:t>
            </a:r>
          </a:p>
          <a:p>
            <a:endParaRPr lang="fr-DZ" dirty="0"/>
          </a:p>
        </p:txBody>
      </p:sp>
      <p:sp>
        <p:nvSpPr>
          <p:cNvPr id="4" name="Title 1">
            <a:extLst>
              <a:ext uri="{FF2B5EF4-FFF2-40B4-BE49-F238E27FC236}">
                <a16:creationId xmlns:a16="http://schemas.microsoft.com/office/drawing/2014/main" id="{85BD9DE7-BA3F-B4EC-D3EC-C295D36A2CFB}"/>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6" name="TextBox 5">
            <a:extLst>
              <a:ext uri="{FF2B5EF4-FFF2-40B4-BE49-F238E27FC236}">
                <a16:creationId xmlns:a16="http://schemas.microsoft.com/office/drawing/2014/main" id="{5DF260B4-16A5-137A-9E11-4593D41DB5CA}"/>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4C7CCEA-3B41-AA52-A9B4-38A197E7CA12}"/>
              </a:ext>
            </a:extLst>
          </p:cNvPr>
          <p:cNvPicPr>
            <a:picLocks noChangeAspect="1"/>
          </p:cNvPicPr>
          <p:nvPr/>
        </p:nvPicPr>
        <p:blipFill>
          <a:blip r:embed="rId3"/>
          <a:stretch>
            <a:fillRect/>
          </a:stretch>
        </p:blipFill>
        <p:spPr>
          <a:xfrm>
            <a:off x="10506075" y="1502798"/>
            <a:ext cx="1685925" cy="2314575"/>
          </a:xfrm>
          <a:prstGeom prst="rect">
            <a:avLst/>
          </a:prstGeom>
        </p:spPr>
      </p:pic>
    </p:spTree>
    <p:extLst>
      <p:ext uri="{BB962C8B-B14F-4D97-AF65-F5344CB8AC3E}">
        <p14:creationId xmlns:p14="http://schemas.microsoft.com/office/powerpoint/2010/main" val="16173018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655EFC-AB1A-63E8-4FB1-2C17C1900408}"/>
              </a:ext>
            </a:extLst>
          </p:cNvPr>
          <p:cNvSpPr>
            <a:spLocks noGrp="1"/>
          </p:cNvSpPr>
          <p:nvPr>
            <p:ph idx="1"/>
          </p:nvPr>
        </p:nvSpPr>
        <p:spPr>
          <a:xfrm>
            <a:off x="700413" y="1089764"/>
            <a:ext cx="10911213" cy="5768236"/>
          </a:xfrm>
        </p:spPr>
        <p:txBody>
          <a:bodyPr>
            <a:normAutofit fontScale="77500" lnSpcReduction="20000"/>
          </a:bodyPr>
          <a:lstStyle/>
          <a:p>
            <a:pPr marL="0" indent="0">
              <a:buNone/>
            </a:pPr>
            <a:r>
              <a:rPr lang="en-US" sz="3900" b="1" dirty="0">
                <a:solidFill>
                  <a:srgbClr val="00B050"/>
                </a:solidFill>
                <a:latin typeface="Times New Roman" panose="02020603050405020304" pitchFamily="18" charset="0"/>
                <a:cs typeface="Times New Roman" panose="02020603050405020304" pitchFamily="18" charset="0"/>
              </a:rPr>
              <a:t>Semaphore</a:t>
            </a:r>
          </a:p>
          <a:p>
            <a:pPr marL="0" indent="0">
              <a:buNone/>
            </a:pPr>
            <a:endParaRPr lang="en-US" sz="3300" dirty="0">
              <a:solidFill>
                <a:srgbClr val="00B05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Semaphore </a:t>
            </a:r>
            <a:r>
              <a:rPr lang="en-US" sz="2900" b="1" dirty="0">
                <a:latin typeface="Times New Roman" panose="02020603050405020304" pitchFamily="18" charset="0"/>
                <a:cs typeface="Times New Roman" panose="02020603050405020304" pitchFamily="18" charset="0"/>
              </a:rPr>
              <a:t>S</a:t>
            </a:r>
            <a:r>
              <a:rPr lang="en-US" sz="2900" dirty="0">
                <a:latin typeface="Times New Roman" panose="02020603050405020304" pitchFamily="18" charset="0"/>
                <a:cs typeface="Times New Roman" panose="02020603050405020304" pitchFamily="18" charset="0"/>
              </a:rPr>
              <a:t> – integer variable</a:t>
            </a:r>
          </a:p>
          <a:p>
            <a:pPr>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Can only be accessed via two indivisible (atomic) operations:</a:t>
            </a:r>
          </a:p>
          <a:p>
            <a:pPr marL="457200" lvl="1" indent="0">
              <a:buNone/>
            </a:pPr>
            <a:r>
              <a:rPr lang="en-US" sz="2900" b="1" dirty="0">
                <a:latin typeface="Times New Roman" panose="02020603050405020304" pitchFamily="18" charset="0"/>
                <a:cs typeface="Times New Roman" panose="02020603050405020304" pitchFamily="18" charset="0"/>
              </a:rPr>
              <a:t>- </a:t>
            </a:r>
            <a:r>
              <a:rPr lang="en-US" sz="2900" b="1" dirty="0">
                <a:latin typeface="ADLaM Display" panose="02010000000000000000" pitchFamily="2" charset="0"/>
                <a:ea typeface="ADLaM Display" panose="02010000000000000000" pitchFamily="2" charset="0"/>
                <a:cs typeface="ADLaM Display" panose="02010000000000000000" pitchFamily="2" charset="0"/>
              </a:rPr>
              <a:t>wait()</a:t>
            </a:r>
            <a:r>
              <a:rPr lang="en-US" sz="2900" dirty="0">
                <a:latin typeface="ADLaM Display" panose="02010000000000000000" pitchFamily="2" charset="0"/>
                <a:ea typeface="ADLaM Display" panose="02010000000000000000" pitchFamily="2" charset="0"/>
                <a:cs typeface="ADLaM Display" panose="02010000000000000000" pitchFamily="2" charset="0"/>
              </a:rPr>
              <a:t> </a:t>
            </a:r>
            <a:r>
              <a:rPr lang="en-US" sz="2900" dirty="0">
                <a:latin typeface="Times New Roman" panose="02020603050405020304" pitchFamily="18" charset="0"/>
                <a:cs typeface="Times New Roman" panose="02020603050405020304" pitchFamily="18" charset="0"/>
              </a:rPr>
              <a:t>and </a:t>
            </a:r>
            <a:r>
              <a:rPr lang="en-US" sz="2900" b="1" dirty="0">
                <a:latin typeface="ADLaM Display" panose="02010000000000000000" pitchFamily="2" charset="0"/>
                <a:ea typeface="ADLaM Display" panose="02010000000000000000" pitchFamily="2" charset="0"/>
                <a:cs typeface="ADLaM Display" panose="02010000000000000000" pitchFamily="2" charset="0"/>
              </a:rPr>
              <a:t>signal()</a:t>
            </a:r>
            <a:endParaRPr lang="en-US" sz="2900" dirty="0">
              <a:latin typeface="ADLaM Display" panose="02010000000000000000" pitchFamily="2" charset="0"/>
              <a:ea typeface="ADLaM Display" panose="02010000000000000000" pitchFamily="2" charset="0"/>
              <a:cs typeface="ADLaM Display" panose="02010000000000000000" pitchFamily="2" charset="0"/>
            </a:endParaRPr>
          </a:p>
          <a:p>
            <a:pPr marL="742950" lvl="1" indent="-28575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Originally called </a:t>
            </a:r>
            <a:r>
              <a:rPr lang="en-US" sz="2900" b="1" dirty="0">
                <a:latin typeface="ADLaM Display" panose="02010000000000000000" pitchFamily="2" charset="0"/>
                <a:ea typeface="ADLaM Display" panose="02010000000000000000" pitchFamily="2" charset="0"/>
                <a:cs typeface="ADLaM Display" panose="02010000000000000000" pitchFamily="2" charset="0"/>
              </a:rPr>
              <a:t>P()</a:t>
            </a:r>
            <a:r>
              <a:rPr lang="en-US" sz="2900" dirty="0">
                <a:latin typeface="ADLaM Display" panose="02010000000000000000" pitchFamily="2" charset="0"/>
                <a:ea typeface="ADLaM Display" panose="02010000000000000000" pitchFamily="2" charset="0"/>
                <a:cs typeface="ADLaM Display" panose="02010000000000000000" pitchFamily="2" charset="0"/>
              </a:rPr>
              <a:t> </a:t>
            </a:r>
            <a:r>
              <a:rPr lang="en-US" sz="2900" dirty="0">
                <a:latin typeface="Times New Roman" panose="02020603050405020304" pitchFamily="18" charset="0"/>
                <a:cs typeface="Times New Roman" panose="02020603050405020304" pitchFamily="18" charset="0"/>
              </a:rPr>
              <a:t>and </a:t>
            </a:r>
            <a:r>
              <a:rPr lang="en-US" sz="2900" b="1" dirty="0">
                <a:latin typeface="ADLaM Display" panose="02010000000000000000" pitchFamily="2" charset="0"/>
                <a:ea typeface="ADLaM Display" panose="02010000000000000000" pitchFamily="2" charset="0"/>
                <a:cs typeface="ADLaM Display" panose="02010000000000000000" pitchFamily="2" charset="0"/>
              </a:rPr>
              <a:t>V()</a:t>
            </a:r>
            <a:endParaRPr lang="en-US" sz="2900" dirty="0">
              <a:latin typeface="ADLaM Display" panose="02010000000000000000" pitchFamily="2" charset="0"/>
              <a:ea typeface="ADLaM Display" panose="02010000000000000000" pitchFamily="2" charset="0"/>
              <a:cs typeface="ADLaM Display" panose="02010000000000000000" pitchFamily="2" charset="0"/>
            </a:endParaRPr>
          </a:p>
          <a:p>
            <a:r>
              <a:rPr lang="en-US" sz="2900" dirty="0">
                <a:latin typeface="Times New Roman" panose="02020603050405020304" pitchFamily="18" charset="0"/>
                <a:cs typeface="Times New Roman" panose="02020603050405020304" pitchFamily="18" charset="0"/>
              </a:rPr>
              <a:t>Definition of the </a:t>
            </a:r>
            <a:r>
              <a:rPr lang="en-US" sz="2900" dirty="0">
                <a:latin typeface="ADLaM Display" panose="02010000000000000000" pitchFamily="2" charset="0"/>
                <a:ea typeface="ADLaM Display" panose="02010000000000000000" pitchFamily="2" charset="0"/>
                <a:cs typeface="ADLaM Display" panose="02010000000000000000" pitchFamily="2" charset="0"/>
              </a:rPr>
              <a:t>wait() </a:t>
            </a:r>
            <a:r>
              <a:rPr lang="en-US" sz="2900" dirty="0">
                <a:latin typeface="Times New Roman" panose="02020603050405020304" pitchFamily="18" charset="0"/>
                <a:cs typeface="Times New Roman" panose="02020603050405020304" pitchFamily="18" charset="0"/>
              </a:rPr>
              <a:t>operation:</a:t>
            </a:r>
          </a:p>
          <a:p>
            <a:pPr marL="1165225" indent="0">
              <a:buNone/>
            </a:pPr>
            <a:r>
              <a:rPr lang="en-US" sz="2900" dirty="0">
                <a:latin typeface="ADLaM Display" panose="02010000000000000000" pitchFamily="2" charset="0"/>
                <a:ea typeface="ADLaM Display" panose="02010000000000000000" pitchFamily="2" charset="0"/>
                <a:cs typeface="ADLaM Display" panose="02010000000000000000" pitchFamily="2" charset="0"/>
              </a:rPr>
              <a:t>wait(S) {</a:t>
            </a:r>
          </a:p>
          <a:p>
            <a:pPr marL="1165225" indent="0">
              <a:buNone/>
            </a:pPr>
            <a:r>
              <a:rPr lang="en-US" sz="2900" dirty="0">
                <a:latin typeface="ADLaM Display" panose="02010000000000000000" pitchFamily="2" charset="0"/>
                <a:ea typeface="ADLaM Display" panose="02010000000000000000" pitchFamily="2" charset="0"/>
                <a:cs typeface="ADLaM Display" panose="02010000000000000000" pitchFamily="2" charset="0"/>
              </a:rPr>
              <a:t>  while (S &lt;= 0); // busy wait</a:t>
            </a:r>
          </a:p>
          <a:p>
            <a:pPr marL="1165225" indent="0">
              <a:buNone/>
            </a:pPr>
            <a:r>
              <a:rPr lang="en-US" sz="2900" dirty="0">
                <a:latin typeface="ADLaM Display" panose="02010000000000000000" pitchFamily="2" charset="0"/>
                <a:ea typeface="ADLaM Display" panose="02010000000000000000" pitchFamily="2" charset="0"/>
                <a:cs typeface="ADLaM Display" panose="02010000000000000000" pitchFamily="2" charset="0"/>
              </a:rPr>
              <a:t>  S--;</a:t>
            </a:r>
          </a:p>
          <a:p>
            <a:pPr marL="1165225" indent="0">
              <a:buNone/>
            </a:pPr>
            <a:r>
              <a:rPr lang="en-US" sz="2900" dirty="0">
                <a:latin typeface="ADLaM Display" panose="02010000000000000000" pitchFamily="2" charset="0"/>
                <a:ea typeface="ADLaM Display" panose="02010000000000000000" pitchFamily="2" charset="0"/>
                <a:cs typeface="ADLaM Display" panose="02010000000000000000" pitchFamily="2" charset="0"/>
              </a:rPr>
              <a:t>}</a:t>
            </a:r>
          </a:p>
          <a:p>
            <a:pPr marL="1165225" indent="0">
              <a:buNone/>
            </a:pPr>
            <a:endParaRPr lang="en-US" sz="2900" dirty="0">
              <a:latin typeface="ADLaM Display" panose="02010000000000000000" pitchFamily="2" charset="0"/>
              <a:ea typeface="ADLaM Display" panose="02010000000000000000" pitchFamily="2" charset="0"/>
              <a:cs typeface="ADLaM Display" panose="02010000000000000000" pitchFamily="2" charset="0"/>
            </a:endParaRPr>
          </a:p>
          <a:p>
            <a:r>
              <a:rPr lang="en-US" sz="2900" dirty="0">
                <a:latin typeface="Times New Roman" panose="02020603050405020304" pitchFamily="18" charset="0"/>
                <a:cs typeface="Times New Roman" panose="02020603050405020304" pitchFamily="18" charset="0"/>
              </a:rPr>
              <a:t>Definition of the signal() operation:</a:t>
            </a:r>
          </a:p>
          <a:p>
            <a:pPr marL="1165225" indent="0">
              <a:buNone/>
            </a:pPr>
            <a:r>
              <a:rPr lang="fr-FR" sz="2900" dirty="0">
                <a:latin typeface="ADLaM Display" panose="02010000000000000000" pitchFamily="2" charset="0"/>
                <a:ea typeface="ADLaM Display" panose="02010000000000000000" pitchFamily="2" charset="0"/>
                <a:cs typeface="ADLaM Display" panose="02010000000000000000" pitchFamily="2" charset="0"/>
              </a:rPr>
              <a:t>signal(S) {</a:t>
            </a:r>
          </a:p>
          <a:p>
            <a:pPr marL="1165225" indent="0">
              <a:buNone/>
            </a:pPr>
            <a:r>
              <a:rPr lang="fr-FR" sz="2900" dirty="0">
                <a:latin typeface="ADLaM Display" panose="02010000000000000000" pitchFamily="2" charset="0"/>
                <a:ea typeface="ADLaM Display" panose="02010000000000000000" pitchFamily="2" charset="0"/>
                <a:cs typeface="ADLaM Display" panose="02010000000000000000" pitchFamily="2" charset="0"/>
              </a:rPr>
              <a:t>  S++;</a:t>
            </a:r>
          </a:p>
          <a:p>
            <a:pPr marL="1165225" indent="0">
              <a:buNone/>
            </a:pPr>
            <a:r>
              <a:rPr lang="fr-FR" sz="2900" dirty="0">
                <a:latin typeface="ADLaM Display" panose="02010000000000000000" pitchFamily="2" charset="0"/>
                <a:ea typeface="ADLaM Display" panose="02010000000000000000" pitchFamily="2" charset="0"/>
                <a:cs typeface="ADLaM Display" panose="02010000000000000000" pitchFamily="2" charset="0"/>
              </a:rPr>
              <a:t>}</a:t>
            </a:r>
          </a:p>
          <a:p>
            <a:endParaRPr lang="fr-DZ" dirty="0"/>
          </a:p>
        </p:txBody>
      </p:sp>
      <p:sp>
        <p:nvSpPr>
          <p:cNvPr id="4" name="Title 1">
            <a:extLst>
              <a:ext uri="{FF2B5EF4-FFF2-40B4-BE49-F238E27FC236}">
                <a16:creationId xmlns:a16="http://schemas.microsoft.com/office/drawing/2014/main" id="{25E0C4C0-6E73-6CAE-A2FB-F4A769DDC5DE}"/>
              </a:ext>
            </a:extLst>
          </p:cNvPr>
          <p:cNvSpPr>
            <a:spLocks noGrp="1"/>
          </p:cNvSpPr>
          <p:nvPr>
            <p:ph type="title"/>
          </p:nvPr>
        </p:nvSpPr>
        <p:spPr>
          <a:xfrm>
            <a:off x="898219" y="-235799"/>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1661929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011E99BA-A3CA-08A1-2313-A157C25BE7FC}"/>
              </a:ext>
            </a:extLst>
          </p:cNvPr>
          <p:cNvSpPr>
            <a:spLocks noChangeArrowheads="1"/>
          </p:cNvSpPr>
          <p:nvPr/>
        </p:nvSpPr>
        <p:spPr bwMode="auto">
          <a:xfrm rot="10800000" flipV="1">
            <a:off x="1107830" y="1921770"/>
            <a:ext cx="997634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overcome</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2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problem</a:t>
            </a:r>
            <a:r>
              <a:rPr kumimoji="0" lang="fr-DZ" altLang="fr-DZ" sz="2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a:t>
            </a:r>
            <a:r>
              <a:rPr kumimoji="0" lang="fr-DZ" altLang="fr-DZ" sz="2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busy</a:t>
            </a:r>
            <a:r>
              <a:rPr kumimoji="0" lang="fr-DZ" altLang="fr-DZ" sz="2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waiting</a:t>
            </a:r>
            <a:r>
              <a:rPr kumimoji="0" lang="fr-DZ" altLang="fr-DZ" sz="2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fr-DZ" altLang="fr-DZ" sz="2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semaphore</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we</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modify</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defining</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wait</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signal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operation</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fr-CA"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When</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process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executes</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wait</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operation</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find</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value of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semaphore</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positive,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it</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must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wait</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However</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rather</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than</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engaging</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busy</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waiting</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process can block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itself</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waiting</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queue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associated</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with</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each</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semaphore</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fr-CA"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this</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case the state of the process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27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waiting</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a:t>
            </a:r>
            <a:r>
              <a:rPr kumimoji="0" lang="fr-DZ" altLang="fr-DZ" sz="27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semaphore</a:t>
            </a:r>
            <a:r>
              <a:rPr kumimoji="0" lang="fr-DZ" altLang="fr-DZ" sz="2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queue</a:t>
            </a:r>
            <a:r>
              <a:rPr kumimoji="0" lang="fr-DZ" altLang="fr-DZ"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3B0D12D2-DF2E-77A1-24F8-88884727BEE4}"/>
              </a:ext>
            </a:extLst>
          </p:cNvPr>
          <p:cNvSpPr txBox="1"/>
          <p:nvPr/>
        </p:nvSpPr>
        <p:spPr>
          <a:xfrm>
            <a:off x="683854" y="1167028"/>
            <a:ext cx="6094324" cy="553998"/>
          </a:xfrm>
          <a:prstGeom prst="rect">
            <a:avLst/>
          </a:prstGeom>
          <a:noFill/>
        </p:spPr>
        <p:txBody>
          <a:bodyPr wrap="square">
            <a:spAutoFit/>
          </a:bodyPr>
          <a:lstStyle/>
          <a:p>
            <a:pPr marL="0" indent="0">
              <a:buNone/>
            </a:pPr>
            <a:r>
              <a:rPr lang="en-US" sz="3000" b="1" dirty="0">
                <a:solidFill>
                  <a:srgbClr val="00B050"/>
                </a:solidFill>
                <a:latin typeface="Times New Roman" panose="02020603050405020304" pitchFamily="18" charset="0"/>
                <a:cs typeface="Times New Roman" panose="02020603050405020304" pitchFamily="18" charset="0"/>
              </a:rPr>
              <a:t>Semaphore</a:t>
            </a:r>
          </a:p>
        </p:txBody>
      </p:sp>
      <p:sp>
        <p:nvSpPr>
          <p:cNvPr id="11" name="Title 1">
            <a:extLst>
              <a:ext uri="{FF2B5EF4-FFF2-40B4-BE49-F238E27FC236}">
                <a16:creationId xmlns:a16="http://schemas.microsoft.com/office/drawing/2014/main" id="{6BA163F0-0DFC-17A1-9649-90F3662C3B14}"/>
              </a:ext>
            </a:extLst>
          </p:cNvPr>
          <p:cNvSpPr>
            <a:spLocks noGrp="1"/>
          </p:cNvSpPr>
          <p:nvPr>
            <p:ph type="title"/>
          </p:nvPr>
        </p:nvSpPr>
        <p:spPr>
          <a:xfrm>
            <a:off x="683854" y="26131"/>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12451958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846A8C-3CD8-A9E2-6460-97B696A6F546}"/>
              </a:ext>
            </a:extLst>
          </p:cNvPr>
          <p:cNvPicPr>
            <a:picLocks noChangeAspect="1"/>
          </p:cNvPicPr>
          <p:nvPr/>
        </p:nvPicPr>
        <p:blipFill>
          <a:blip r:embed="rId2"/>
          <a:stretch>
            <a:fillRect/>
          </a:stretch>
        </p:blipFill>
        <p:spPr>
          <a:xfrm>
            <a:off x="2245749" y="1957387"/>
            <a:ext cx="7129834" cy="3559158"/>
          </a:xfrm>
          <a:prstGeom prst="rect">
            <a:avLst/>
          </a:prstGeom>
        </p:spPr>
      </p:pic>
      <p:sp>
        <p:nvSpPr>
          <p:cNvPr id="6" name="TextBox 5">
            <a:extLst>
              <a:ext uri="{FF2B5EF4-FFF2-40B4-BE49-F238E27FC236}">
                <a16:creationId xmlns:a16="http://schemas.microsoft.com/office/drawing/2014/main" id="{E951068A-3514-B30C-D6BF-217ADAE1C53E}"/>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55960DDB-1836-F7B5-2E40-491239EFD68F}"/>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10278514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DED8E1-582A-84FE-F954-A9E84368D3DC}"/>
              </a:ext>
            </a:extLst>
          </p:cNvPr>
          <p:cNvPicPr>
            <a:picLocks noChangeAspect="1"/>
          </p:cNvPicPr>
          <p:nvPr/>
        </p:nvPicPr>
        <p:blipFill>
          <a:blip r:embed="rId2"/>
          <a:stretch>
            <a:fillRect/>
          </a:stretch>
        </p:blipFill>
        <p:spPr>
          <a:xfrm>
            <a:off x="1943763" y="1690688"/>
            <a:ext cx="7550882" cy="4209265"/>
          </a:xfrm>
          <a:prstGeom prst="rect">
            <a:avLst/>
          </a:prstGeom>
        </p:spPr>
      </p:pic>
      <p:sp>
        <p:nvSpPr>
          <p:cNvPr id="6" name="TextBox 5">
            <a:extLst>
              <a:ext uri="{FF2B5EF4-FFF2-40B4-BE49-F238E27FC236}">
                <a16:creationId xmlns:a16="http://schemas.microsoft.com/office/drawing/2014/main" id="{18761C85-0583-BAD3-CD13-E9BBBDEC9F13}"/>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4802CDF4-AA54-2E33-0326-B0C94371FCEC}"/>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42733567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13FC76-3728-1285-0DBE-B829780960C5}"/>
              </a:ext>
            </a:extLst>
          </p:cNvPr>
          <p:cNvPicPr>
            <a:picLocks noChangeAspect="1"/>
          </p:cNvPicPr>
          <p:nvPr/>
        </p:nvPicPr>
        <p:blipFill>
          <a:blip r:embed="rId2"/>
          <a:stretch>
            <a:fillRect/>
          </a:stretch>
        </p:blipFill>
        <p:spPr>
          <a:xfrm>
            <a:off x="2329726" y="1430895"/>
            <a:ext cx="7532547" cy="4851672"/>
          </a:xfrm>
          <a:prstGeom prst="rect">
            <a:avLst/>
          </a:prstGeom>
        </p:spPr>
      </p:pic>
      <p:sp>
        <p:nvSpPr>
          <p:cNvPr id="6" name="TextBox 5">
            <a:extLst>
              <a:ext uri="{FF2B5EF4-FFF2-40B4-BE49-F238E27FC236}">
                <a16:creationId xmlns:a16="http://schemas.microsoft.com/office/drawing/2014/main" id="{C7B3C05B-7C63-EE6D-A0A8-56BF6EA85B8D}"/>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83ADECF5-2EC1-0E0B-C29F-68E0E4910DE8}"/>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41292338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5E620F-8DDF-1D93-2448-D8994931E8CE}"/>
              </a:ext>
            </a:extLst>
          </p:cNvPr>
          <p:cNvPicPr>
            <a:picLocks noChangeAspect="1"/>
          </p:cNvPicPr>
          <p:nvPr/>
        </p:nvPicPr>
        <p:blipFill>
          <a:blip r:embed="rId2"/>
          <a:stretch>
            <a:fillRect/>
          </a:stretch>
        </p:blipFill>
        <p:spPr>
          <a:xfrm>
            <a:off x="2020604" y="1899609"/>
            <a:ext cx="7432906" cy="3868145"/>
          </a:xfrm>
          <a:prstGeom prst="rect">
            <a:avLst/>
          </a:prstGeom>
        </p:spPr>
      </p:pic>
      <p:sp>
        <p:nvSpPr>
          <p:cNvPr id="6" name="TextBox 5">
            <a:extLst>
              <a:ext uri="{FF2B5EF4-FFF2-40B4-BE49-F238E27FC236}">
                <a16:creationId xmlns:a16="http://schemas.microsoft.com/office/drawing/2014/main" id="{F1F9025E-4320-E130-3595-EEB43FE50E62}"/>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77D3B6BC-D16D-A08C-FCCD-C4A54AACBED9}"/>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15427227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546FAB-5010-1FFF-D462-7EABEE43C199}"/>
              </a:ext>
            </a:extLst>
          </p:cNvPr>
          <p:cNvPicPr>
            <a:picLocks noChangeAspect="1"/>
          </p:cNvPicPr>
          <p:nvPr/>
        </p:nvPicPr>
        <p:blipFill>
          <a:blip r:embed="rId2"/>
          <a:stretch>
            <a:fillRect/>
          </a:stretch>
        </p:blipFill>
        <p:spPr>
          <a:xfrm>
            <a:off x="2156701" y="1837749"/>
            <a:ext cx="7581826" cy="3960150"/>
          </a:xfrm>
          <a:prstGeom prst="rect">
            <a:avLst/>
          </a:prstGeom>
        </p:spPr>
      </p:pic>
      <p:sp>
        <p:nvSpPr>
          <p:cNvPr id="6" name="TextBox 5">
            <a:extLst>
              <a:ext uri="{FF2B5EF4-FFF2-40B4-BE49-F238E27FC236}">
                <a16:creationId xmlns:a16="http://schemas.microsoft.com/office/drawing/2014/main" id="{7879E9F9-2FE8-DF21-C793-A41D051FE639}"/>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0AA9A4DB-E415-7E99-5EC7-354FA5F779DD}"/>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24424477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B07032-05BC-6696-737E-503E5AE9C14B}"/>
              </a:ext>
            </a:extLst>
          </p:cNvPr>
          <p:cNvPicPr>
            <a:picLocks noChangeAspect="1"/>
          </p:cNvPicPr>
          <p:nvPr/>
        </p:nvPicPr>
        <p:blipFill>
          <a:blip r:embed="rId2"/>
          <a:stretch>
            <a:fillRect/>
          </a:stretch>
        </p:blipFill>
        <p:spPr>
          <a:xfrm>
            <a:off x="1818753" y="1868940"/>
            <a:ext cx="7682802" cy="4157614"/>
          </a:xfrm>
          <a:prstGeom prst="rect">
            <a:avLst/>
          </a:prstGeom>
        </p:spPr>
      </p:pic>
      <p:sp>
        <p:nvSpPr>
          <p:cNvPr id="6" name="TextBox 5">
            <a:extLst>
              <a:ext uri="{FF2B5EF4-FFF2-40B4-BE49-F238E27FC236}">
                <a16:creationId xmlns:a16="http://schemas.microsoft.com/office/drawing/2014/main" id="{350E4C3B-430F-1BCE-AD38-AAAAF63ABB9C}"/>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961004F-908A-060D-8478-5D2A1FAEEA20}"/>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24586871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7DBD48-5EA4-A4D7-1900-BED427B47CB8}"/>
              </a:ext>
            </a:extLst>
          </p:cNvPr>
          <p:cNvPicPr>
            <a:picLocks noChangeAspect="1"/>
          </p:cNvPicPr>
          <p:nvPr/>
        </p:nvPicPr>
        <p:blipFill>
          <a:blip r:embed="rId2"/>
          <a:stretch>
            <a:fillRect/>
          </a:stretch>
        </p:blipFill>
        <p:spPr>
          <a:xfrm>
            <a:off x="1497040" y="1984288"/>
            <a:ext cx="9431955" cy="3652838"/>
          </a:xfrm>
          <a:prstGeom prst="rect">
            <a:avLst/>
          </a:prstGeom>
        </p:spPr>
      </p:pic>
      <p:sp>
        <p:nvSpPr>
          <p:cNvPr id="6" name="TextBox 5">
            <a:extLst>
              <a:ext uri="{FF2B5EF4-FFF2-40B4-BE49-F238E27FC236}">
                <a16:creationId xmlns:a16="http://schemas.microsoft.com/office/drawing/2014/main" id="{A5F86568-481D-470A-EA3C-ECEBB85C3C34}"/>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DF9F8646-0868-4464-5928-71620989D2F3}"/>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29762238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1D13CD-1FCA-173A-295A-628B11D5A246}"/>
              </a:ext>
            </a:extLst>
          </p:cNvPr>
          <p:cNvSpPr>
            <a:spLocks noGrp="1"/>
          </p:cNvSpPr>
          <p:nvPr>
            <p:ph idx="1"/>
          </p:nvPr>
        </p:nvSpPr>
        <p:spPr>
          <a:xfrm>
            <a:off x="647281" y="1780677"/>
            <a:ext cx="10515600" cy="4351338"/>
          </a:xfrm>
        </p:spPr>
        <p:txBody>
          <a:bodyPr/>
          <a:lstStyle/>
          <a:p>
            <a:r>
              <a:rPr lang="fr-FR" b="1" dirty="0">
                <a:latin typeface="Times New Roman" panose="02020603050405020304" pitchFamily="18" charset="0"/>
                <a:cs typeface="Times New Roman" panose="02020603050405020304" pitchFamily="18" charset="0"/>
              </a:rPr>
              <a:t>The </a:t>
            </a:r>
            <a:r>
              <a:rPr lang="fr-FR" b="1" dirty="0" err="1">
                <a:latin typeface="Times New Roman" panose="02020603050405020304" pitchFamily="18" charset="0"/>
                <a:cs typeface="Times New Roman" panose="02020603050405020304" pitchFamily="18" charset="0"/>
              </a:rPr>
              <a:t>binary</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semaphores</a:t>
            </a:r>
            <a:r>
              <a:rPr lang="fr-FR" b="1" dirty="0">
                <a:latin typeface="Times New Roman" panose="02020603050405020304" pitchFamily="18" charset="0"/>
                <a:cs typeface="Times New Roman" panose="02020603050405020304" pitchFamily="18" charset="0"/>
              </a:rPr>
              <a:t> </a:t>
            </a:r>
          </a:p>
          <a:p>
            <a:endParaRPr lang="fr-FR" dirty="0"/>
          </a:p>
          <a:p>
            <a:endParaRPr lang="fr-FR" dirty="0"/>
          </a:p>
          <a:p>
            <a:endParaRPr lang="fr-FR" dirty="0"/>
          </a:p>
          <a:p>
            <a:pPr marL="0" indent="0">
              <a:buNone/>
            </a:pPr>
            <a:endParaRPr lang="fr-FR" dirty="0"/>
          </a:p>
        </p:txBody>
      </p:sp>
      <p:sp>
        <p:nvSpPr>
          <p:cNvPr id="4" name="Title 1">
            <a:extLst>
              <a:ext uri="{FF2B5EF4-FFF2-40B4-BE49-F238E27FC236}">
                <a16:creationId xmlns:a16="http://schemas.microsoft.com/office/drawing/2014/main" id="{6F45C52C-CDD3-598B-B3AC-EE344117C735}"/>
              </a:ext>
            </a:extLst>
          </p:cNvPr>
          <p:cNvSpPr>
            <a:spLocks noGrp="1"/>
          </p:cNvSpPr>
          <p:nvPr>
            <p:ph type="title"/>
          </p:nvPr>
        </p:nvSpPr>
        <p:spPr>
          <a:xfrm>
            <a:off x="838200" y="-8437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5" name="TextBox 4">
            <a:extLst>
              <a:ext uri="{FF2B5EF4-FFF2-40B4-BE49-F238E27FC236}">
                <a16:creationId xmlns:a16="http://schemas.microsoft.com/office/drawing/2014/main" id="{EE905B81-D65B-D464-EE2C-6900DC20F70C}"/>
              </a:ext>
            </a:extLst>
          </p:cNvPr>
          <p:cNvSpPr txBox="1"/>
          <p:nvPr/>
        </p:nvSpPr>
        <p:spPr>
          <a:xfrm>
            <a:off x="717620" y="937001"/>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B689D20-D562-5C4B-D467-B3D79087C1A3}"/>
              </a:ext>
            </a:extLst>
          </p:cNvPr>
          <p:cNvPicPr>
            <a:picLocks noChangeAspect="1"/>
          </p:cNvPicPr>
          <p:nvPr/>
        </p:nvPicPr>
        <p:blipFill>
          <a:blip r:embed="rId3"/>
          <a:stretch>
            <a:fillRect/>
          </a:stretch>
        </p:blipFill>
        <p:spPr>
          <a:xfrm>
            <a:off x="1447381" y="2343150"/>
            <a:ext cx="9715500" cy="2171700"/>
          </a:xfrm>
          <a:prstGeom prst="rect">
            <a:avLst/>
          </a:prstGeom>
        </p:spPr>
      </p:pic>
    </p:spTree>
    <p:extLst>
      <p:ext uri="{BB962C8B-B14F-4D97-AF65-F5344CB8AC3E}">
        <p14:creationId xmlns:p14="http://schemas.microsoft.com/office/powerpoint/2010/main" val="3521700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E8399-816C-8E6B-ACDE-D8D9BA0656D2}"/>
              </a:ext>
            </a:extLst>
          </p:cNvPr>
          <p:cNvSpPr>
            <a:spLocks noGrp="1"/>
          </p:cNvSpPr>
          <p:nvPr>
            <p:ph type="title"/>
          </p:nvPr>
        </p:nvSpPr>
        <p:spPr/>
        <p:txBody>
          <a:bodyPr/>
          <a:lstStyle/>
          <a:p>
            <a:r>
              <a:rPr lang="en-US" b="1" dirty="0">
                <a:solidFill>
                  <a:schemeClr val="tx2">
                    <a:lumMod val="50000"/>
                    <a:lumOff val="50000"/>
                  </a:schemeClr>
                </a:solidFill>
              </a:rPr>
              <a:t>Advantages of Binary Semaphores</a:t>
            </a:r>
            <a:br>
              <a:rPr lang="en-US" b="1" dirty="0"/>
            </a:br>
            <a:endParaRPr lang="fr-DZ" dirty="0"/>
          </a:p>
        </p:txBody>
      </p:sp>
      <p:sp>
        <p:nvSpPr>
          <p:cNvPr id="5" name="Content Placeholder 4">
            <a:extLst>
              <a:ext uri="{FF2B5EF4-FFF2-40B4-BE49-F238E27FC236}">
                <a16:creationId xmlns:a16="http://schemas.microsoft.com/office/drawing/2014/main" id="{64C9171D-51AB-F3C5-19FD-79B1A044E008}"/>
              </a:ext>
            </a:extLst>
          </p:cNvPr>
          <p:cNvSpPr>
            <a:spLocks noGrp="1"/>
          </p:cNvSpPr>
          <p:nvPr>
            <p:ph idx="1"/>
          </p:nvPr>
        </p:nvSpPr>
        <p:spPr/>
        <p:txBody>
          <a:bodyPr>
            <a:normAutofit fontScale="92500" lnSpcReduction="10000"/>
          </a:bodyPr>
          <a:lstStyle/>
          <a:p>
            <a:pPr>
              <a:buFont typeface="+mj-lt"/>
              <a:buAutoNum type="arabicPeriod"/>
            </a:pPr>
            <a:r>
              <a:rPr lang="en-US" sz="2700" b="1" dirty="0"/>
              <a:t>Simplicity:</a:t>
            </a:r>
            <a:endParaRPr lang="en-US" sz="2700" dirty="0"/>
          </a:p>
          <a:p>
            <a:pPr marL="742950" lvl="1" indent="-285750">
              <a:buFont typeface="+mj-lt"/>
              <a:buAutoNum type="arabicPeriod"/>
            </a:pPr>
            <a:r>
              <a:rPr lang="en-US" sz="2700" dirty="0"/>
              <a:t>Easy to understand and implement.</a:t>
            </a:r>
          </a:p>
          <a:p>
            <a:pPr marL="742950" lvl="1" indent="-285750">
              <a:buFont typeface="+mj-lt"/>
              <a:buAutoNum type="arabicPeriod"/>
            </a:pPr>
            <a:r>
              <a:rPr lang="en-US" sz="2700" dirty="0"/>
              <a:t>Only two states: </a:t>
            </a:r>
            <a:r>
              <a:rPr lang="en-US" sz="2700" b="1" dirty="0"/>
              <a:t>0 (locked)</a:t>
            </a:r>
            <a:r>
              <a:rPr lang="en-US" sz="2700" dirty="0"/>
              <a:t> or </a:t>
            </a:r>
            <a:r>
              <a:rPr lang="en-US" sz="2700" b="1" dirty="0"/>
              <a:t>1 (unlocked)</a:t>
            </a:r>
            <a:r>
              <a:rPr lang="en-US" sz="2700" dirty="0"/>
              <a:t>.</a:t>
            </a:r>
          </a:p>
          <a:p>
            <a:pPr>
              <a:buFont typeface="+mj-lt"/>
              <a:buAutoNum type="arabicPeriod"/>
            </a:pPr>
            <a:r>
              <a:rPr lang="en-US" sz="2700" b="1" dirty="0"/>
              <a:t>Effective Mutual Exclusion:</a:t>
            </a:r>
            <a:endParaRPr lang="en-US" sz="2700" dirty="0"/>
          </a:p>
          <a:p>
            <a:pPr marL="742950" lvl="1" indent="-285750">
              <a:buFont typeface="+mj-lt"/>
              <a:buAutoNum type="arabicPeriod"/>
            </a:pPr>
            <a:r>
              <a:rPr lang="en-US" sz="2700" dirty="0"/>
              <a:t>Ideal for protecting a </a:t>
            </a:r>
            <a:r>
              <a:rPr lang="en-US" sz="2700" b="1" dirty="0"/>
              <a:t>shared resource</a:t>
            </a:r>
            <a:r>
              <a:rPr lang="en-US" sz="2700" dirty="0"/>
              <a:t> from concurrent access.</a:t>
            </a:r>
          </a:p>
          <a:p>
            <a:pPr marL="742950" lvl="1" indent="-285750">
              <a:buFont typeface="+mj-lt"/>
              <a:buAutoNum type="arabicPeriod"/>
            </a:pPr>
            <a:r>
              <a:rPr lang="en-US" sz="2700" dirty="0"/>
              <a:t>Ensures that only one task can access the resource at a time.</a:t>
            </a:r>
          </a:p>
          <a:p>
            <a:pPr>
              <a:buFont typeface="+mj-lt"/>
              <a:buAutoNum type="arabicPeriod"/>
            </a:pPr>
            <a:r>
              <a:rPr lang="en-US" sz="2700" b="1" dirty="0"/>
              <a:t>Task Synchronization:</a:t>
            </a:r>
            <a:endParaRPr lang="en-US" sz="2700" dirty="0"/>
          </a:p>
          <a:p>
            <a:pPr marL="742950" lvl="1" indent="-285750">
              <a:buFont typeface="+mj-lt"/>
              <a:buAutoNum type="arabicPeriod"/>
            </a:pPr>
            <a:r>
              <a:rPr lang="en-US" sz="2700" dirty="0"/>
              <a:t>Can </a:t>
            </a:r>
            <a:r>
              <a:rPr lang="en-US" sz="2700" b="1" dirty="0"/>
              <a:t>synchronize task execution</a:t>
            </a:r>
            <a:r>
              <a:rPr lang="en-US" sz="2700" dirty="0"/>
              <a:t>, e.g., one task waits until another signals that it can proceed.</a:t>
            </a:r>
          </a:p>
          <a:p>
            <a:pPr>
              <a:buFont typeface="+mj-lt"/>
              <a:buAutoNum type="arabicPeriod"/>
            </a:pPr>
            <a:r>
              <a:rPr lang="en-US" sz="2700" b="1" dirty="0"/>
              <a:t>Low Memory Overhead:</a:t>
            </a:r>
            <a:endParaRPr lang="en-US" sz="2700" dirty="0"/>
          </a:p>
          <a:p>
            <a:pPr marL="742950" lvl="1" indent="-285750">
              <a:buFont typeface="+mj-lt"/>
              <a:buAutoNum type="arabicPeriod"/>
            </a:pPr>
            <a:r>
              <a:rPr lang="en-US" sz="2700" dirty="0"/>
              <a:t>Requires very little memory (a single bit or integer).</a:t>
            </a:r>
          </a:p>
          <a:p>
            <a:endParaRPr lang="fr-DZ" dirty="0"/>
          </a:p>
        </p:txBody>
      </p:sp>
    </p:spTree>
    <p:extLst>
      <p:ext uri="{BB962C8B-B14F-4D97-AF65-F5344CB8AC3E}">
        <p14:creationId xmlns:p14="http://schemas.microsoft.com/office/powerpoint/2010/main" val="23266018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C397-3E1A-A698-A750-A92FF3F895E8}"/>
              </a:ext>
            </a:extLst>
          </p:cNvPr>
          <p:cNvSpPr>
            <a:spLocks noGrp="1"/>
          </p:cNvSpPr>
          <p:nvPr>
            <p:ph type="title"/>
          </p:nvPr>
        </p:nvSpPr>
        <p:spPr/>
        <p:txBody>
          <a:bodyPr/>
          <a:lstStyle/>
          <a:p>
            <a:r>
              <a:rPr lang="en-US" b="1" dirty="0">
                <a:solidFill>
                  <a:schemeClr val="tx2">
                    <a:lumMod val="50000"/>
                    <a:lumOff val="50000"/>
                  </a:schemeClr>
                </a:solidFill>
              </a:rPr>
              <a:t>Disadvantages of Binary Semaphores</a:t>
            </a:r>
            <a:br>
              <a:rPr lang="en-US" b="1" dirty="0"/>
            </a:br>
            <a:endParaRPr lang="fr-DZ" dirty="0"/>
          </a:p>
        </p:txBody>
      </p:sp>
      <p:sp>
        <p:nvSpPr>
          <p:cNvPr id="5" name="Content Placeholder 4">
            <a:extLst>
              <a:ext uri="{FF2B5EF4-FFF2-40B4-BE49-F238E27FC236}">
                <a16:creationId xmlns:a16="http://schemas.microsoft.com/office/drawing/2014/main" id="{868CCF2A-4318-ED67-C0DC-2D2AD6EE6D68}"/>
              </a:ext>
            </a:extLst>
          </p:cNvPr>
          <p:cNvSpPr>
            <a:spLocks noGrp="1"/>
          </p:cNvSpPr>
          <p:nvPr>
            <p:ph idx="1"/>
          </p:nvPr>
        </p:nvSpPr>
        <p:spPr>
          <a:xfrm>
            <a:off x="838200" y="1473933"/>
            <a:ext cx="10515600" cy="4351338"/>
          </a:xfrm>
        </p:spPr>
        <p:txBody>
          <a:bodyPr>
            <a:normAutofit lnSpcReduction="10000"/>
          </a:bodyPr>
          <a:lstStyle/>
          <a:p>
            <a:pPr>
              <a:buFont typeface="+mj-lt"/>
              <a:buAutoNum type="arabicPeriod"/>
            </a:pPr>
            <a:r>
              <a:rPr lang="en-US" b="1" dirty="0"/>
              <a:t>Cannot Count Multiple Resources:</a:t>
            </a:r>
            <a:endParaRPr lang="en-US" dirty="0"/>
          </a:p>
          <a:p>
            <a:pPr marL="742950" lvl="1" indent="-285750">
              <a:buFont typeface="+mj-lt"/>
              <a:buAutoNum type="arabicPeriod"/>
            </a:pPr>
            <a:r>
              <a:rPr lang="en-US" dirty="0"/>
              <a:t>Unlike counting semaphores, they manage only </a:t>
            </a:r>
            <a:r>
              <a:rPr lang="en-US" b="1" dirty="0"/>
              <a:t>one unit of the resource</a:t>
            </a:r>
            <a:r>
              <a:rPr lang="en-US" dirty="0"/>
              <a:t>.</a:t>
            </a:r>
          </a:p>
          <a:p>
            <a:pPr>
              <a:buFont typeface="+mj-lt"/>
              <a:buAutoNum type="arabicPeriod"/>
            </a:pPr>
            <a:r>
              <a:rPr lang="en-US" b="1" dirty="0"/>
              <a:t>Risk of Starvation or Priority Inversion:</a:t>
            </a:r>
            <a:endParaRPr lang="en-US" dirty="0"/>
          </a:p>
          <a:p>
            <a:pPr marL="742950" lvl="1" indent="-285750">
              <a:buFont typeface="+mj-lt"/>
              <a:buAutoNum type="arabicPeriod"/>
            </a:pPr>
            <a:r>
              <a:rPr lang="en-US" dirty="0"/>
              <a:t>A low-priority task holding the semaphore may block a high-priority task.</a:t>
            </a:r>
          </a:p>
          <a:p>
            <a:pPr marL="742950" lvl="1" indent="-285750">
              <a:buFont typeface="+mj-lt"/>
              <a:buAutoNum type="arabicPeriod"/>
            </a:pPr>
            <a:r>
              <a:rPr lang="en-US" dirty="0"/>
              <a:t>Additional mechanisms are needed to handle </a:t>
            </a:r>
            <a:r>
              <a:rPr lang="en-US" b="1" dirty="0"/>
              <a:t>priority inversion</a:t>
            </a:r>
            <a:r>
              <a:rPr lang="en-US" dirty="0"/>
              <a:t>.</a:t>
            </a:r>
          </a:p>
          <a:p>
            <a:pPr>
              <a:buFont typeface="+mj-lt"/>
              <a:buAutoNum type="arabicPeriod"/>
            </a:pPr>
            <a:r>
              <a:rPr lang="en-US" b="1" dirty="0"/>
              <a:t>Possible Deadlocks:</a:t>
            </a:r>
            <a:endParaRPr lang="en-US" dirty="0"/>
          </a:p>
          <a:p>
            <a:pPr marL="742950" lvl="1" indent="-285750">
              <a:buFont typeface="+mj-lt"/>
              <a:buAutoNum type="arabicPeriod"/>
            </a:pPr>
            <a:r>
              <a:rPr lang="en-US" dirty="0"/>
              <a:t>If used incorrectly (e.g., a task never releases the semaphore), it can </a:t>
            </a:r>
            <a:r>
              <a:rPr lang="en-US" b="1" dirty="0"/>
              <a:t>block the system entirely</a:t>
            </a:r>
            <a:r>
              <a:rPr lang="en-US" dirty="0"/>
              <a:t>.</a:t>
            </a:r>
          </a:p>
          <a:p>
            <a:pPr>
              <a:buFont typeface="+mj-lt"/>
              <a:buAutoNum type="arabicPeriod"/>
            </a:pPr>
            <a:r>
              <a:rPr lang="en-US" b="1" dirty="0"/>
              <a:t>No Information About Available Resources:</a:t>
            </a:r>
            <a:endParaRPr lang="en-US" dirty="0"/>
          </a:p>
          <a:p>
            <a:pPr marL="742950" lvl="1" indent="-285750">
              <a:buFont typeface="+mj-lt"/>
              <a:buAutoNum type="arabicPeriod"/>
            </a:pPr>
            <a:r>
              <a:rPr lang="en-US" dirty="0"/>
              <a:t>Cannot indicate how many tasks can still access the resource.</a:t>
            </a:r>
          </a:p>
          <a:p>
            <a:endParaRPr lang="fr-DZ" dirty="0"/>
          </a:p>
        </p:txBody>
      </p:sp>
    </p:spTree>
    <p:extLst>
      <p:ext uri="{BB962C8B-B14F-4D97-AF65-F5344CB8AC3E}">
        <p14:creationId xmlns:p14="http://schemas.microsoft.com/office/powerpoint/2010/main" val="23514489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F6FC4-371A-4D14-4A7B-F845987A9399}"/>
              </a:ext>
            </a:extLst>
          </p:cNvPr>
          <p:cNvSpPr>
            <a:spLocks noGrp="1"/>
          </p:cNvSpPr>
          <p:nvPr>
            <p:ph idx="1"/>
          </p:nvPr>
        </p:nvSpPr>
        <p:spPr>
          <a:xfrm>
            <a:off x="838200" y="1684948"/>
            <a:ext cx="10515600" cy="4351338"/>
          </a:xfrm>
        </p:spPr>
        <p:txBody>
          <a:bodyPr/>
          <a:lstStyle/>
          <a:p>
            <a:r>
              <a:rPr lang="fr-FR" b="1" dirty="0">
                <a:latin typeface="Times New Roman" panose="02020603050405020304" pitchFamily="18" charset="0"/>
                <a:cs typeface="Times New Roman" panose="02020603050405020304" pitchFamily="18" charset="0"/>
              </a:rPr>
              <a:t>The </a:t>
            </a:r>
            <a:r>
              <a:rPr lang="fr-FR" b="1" dirty="0" err="1">
                <a:latin typeface="Times New Roman" panose="02020603050405020304" pitchFamily="18" charset="0"/>
                <a:cs typeface="Times New Roman" panose="02020603050405020304" pitchFamily="18" charset="0"/>
              </a:rPr>
              <a:t>counting</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semaphores</a:t>
            </a:r>
            <a:r>
              <a:rPr lang="fr-FR" b="1" dirty="0">
                <a:latin typeface="Times New Roman" panose="02020603050405020304" pitchFamily="18" charset="0"/>
                <a:cs typeface="Times New Roman" panose="02020603050405020304" pitchFamily="18" charset="0"/>
              </a:rPr>
              <a:t> </a:t>
            </a:r>
            <a:endParaRPr lang="fr-DZ" b="1" dirty="0">
              <a:latin typeface="Times New Roman" panose="02020603050405020304" pitchFamily="18" charset="0"/>
              <a:cs typeface="Times New Roman" panose="02020603050405020304" pitchFamily="18" charset="0"/>
            </a:endParaRPr>
          </a:p>
          <a:p>
            <a:endParaRPr lang="fr-DZ" dirty="0"/>
          </a:p>
        </p:txBody>
      </p:sp>
      <p:pic>
        <p:nvPicPr>
          <p:cNvPr id="9" name="Picture 8">
            <a:extLst>
              <a:ext uri="{FF2B5EF4-FFF2-40B4-BE49-F238E27FC236}">
                <a16:creationId xmlns:a16="http://schemas.microsoft.com/office/drawing/2014/main" id="{95851D67-E478-BF2B-D305-5B913A7D6E3E}"/>
              </a:ext>
            </a:extLst>
          </p:cNvPr>
          <p:cNvPicPr>
            <a:picLocks noChangeAspect="1"/>
          </p:cNvPicPr>
          <p:nvPr/>
        </p:nvPicPr>
        <p:blipFill>
          <a:blip r:embed="rId3"/>
          <a:stretch>
            <a:fillRect/>
          </a:stretch>
        </p:blipFill>
        <p:spPr>
          <a:xfrm>
            <a:off x="1143628" y="2271713"/>
            <a:ext cx="9563100" cy="3905250"/>
          </a:xfrm>
          <a:prstGeom prst="rect">
            <a:avLst/>
          </a:prstGeom>
        </p:spPr>
      </p:pic>
      <p:sp>
        <p:nvSpPr>
          <p:cNvPr id="4" name="Title 1">
            <a:extLst>
              <a:ext uri="{FF2B5EF4-FFF2-40B4-BE49-F238E27FC236}">
                <a16:creationId xmlns:a16="http://schemas.microsoft.com/office/drawing/2014/main" id="{D23C439E-B340-7E9D-238B-DF963F3A61C7}"/>
              </a:ext>
            </a:extLst>
          </p:cNvPr>
          <p:cNvSpPr>
            <a:spLocks noGrp="1"/>
          </p:cNvSpPr>
          <p:nvPr>
            <p:ph type="title"/>
          </p:nvPr>
        </p:nvSpPr>
        <p:spPr>
          <a:xfrm>
            <a:off x="838200" y="-8437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
        <p:nvSpPr>
          <p:cNvPr id="5" name="TextBox 4">
            <a:extLst>
              <a:ext uri="{FF2B5EF4-FFF2-40B4-BE49-F238E27FC236}">
                <a16:creationId xmlns:a16="http://schemas.microsoft.com/office/drawing/2014/main" id="{CCE46FE4-062C-C59A-F9FE-D1CEDB99A1F3}"/>
              </a:ext>
            </a:extLst>
          </p:cNvPr>
          <p:cNvSpPr txBox="1"/>
          <p:nvPr/>
        </p:nvSpPr>
        <p:spPr>
          <a:xfrm>
            <a:off x="717620" y="937001"/>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64694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835A5-BA25-023C-B267-E8CF0BDC5CB4}"/>
              </a:ext>
            </a:extLst>
          </p:cNvPr>
          <p:cNvSpPr>
            <a:spLocks noGrp="1"/>
          </p:cNvSpPr>
          <p:nvPr>
            <p:ph type="title"/>
          </p:nvPr>
        </p:nvSpPr>
        <p:spPr>
          <a:xfrm>
            <a:off x="336755" y="372216"/>
            <a:ext cx="10515600" cy="1325563"/>
          </a:xfrm>
        </p:spPr>
        <p:txBody>
          <a:bodyPr/>
          <a:lstStyle/>
          <a:p>
            <a:r>
              <a:rPr lang="en-US" b="1" dirty="0">
                <a:solidFill>
                  <a:schemeClr val="tx2">
                    <a:lumMod val="50000"/>
                    <a:lumOff val="50000"/>
                  </a:schemeClr>
                </a:solidFill>
              </a:rPr>
              <a:t>Advantages of Counting Semaphores</a:t>
            </a:r>
            <a:br>
              <a:rPr lang="en-US" b="1" dirty="0">
                <a:solidFill>
                  <a:schemeClr val="tx2">
                    <a:lumMod val="50000"/>
                    <a:lumOff val="50000"/>
                  </a:schemeClr>
                </a:solidFill>
              </a:rPr>
            </a:br>
            <a:endParaRPr lang="fr-DZ" dirty="0">
              <a:solidFill>
                <a:schemeClr val="tx2">
                  <a:lumMod val="50000"/>
                  <a:lumOff val="50000"/>
                </a:schemeClr>
              </a:solidFill>
            </a:endParaRPr>
          </a:p>
        </p:txBody>
      </p:sp>
      <p:sp>
        <p:nvSpPr>
          <p:cNvPr id="3" name="Content Placeholder 2">
            <a:extLst>
              <a:ext uri="{FF2B5EF4-FFF2-40B4-BE49-F238E27FC236}">
                <a16:creationId xmlns:a16="http://schemas.microsoft.com/office/drawing/2014/main" id="{77CCBC48-1150-4798-2EBD-8A5A8501EFA2}"/>
              </a:ext>
            </a:extLst>
          </p:cNvPr>
          <p:cNvSpPr>
            <a:spLocks noGrp="1"/>
          </p:cNvSpPr>
          <p:nvPr>
            <p:ph idx="1"/>
          </p:nvPr>
        </p:nvSpPr>
        <p:spPr>
          <a:xfrm>
            <a:off x="720213" y="1471664"/>
            <a:ext cx="10515600" cy="4351338"/>
          </a:xfrm>
        </p:spPr>
        <p:txBody>
          <a:bodyPr>
            <a:normAutofit fontScale="92500" lnSpcReduction="10000"/>
          </a:bodyPr>
          <a:lstStyle/>
          <a:p>
            <a:pPr>
              <a:buFont typeface="+mj-lt"/>
              <a:buAutoNum type="arabicPeriod"/>
            </a:pPr>
            <a:r>
              <a:rPr lang="en-US" b="1" dirty="0"/>
              <a:t>Manage Multiple Resources:</a:t>
            </a:r>
            <a:endParaRPr lang="en-US" dirty="0"/>
          </a:p>
          <a:p>
            <a:pPr marL="742950" lvl="1" indent="-285750">
              <a:buFont typeface="+mj-lt"/>
              <a:buAutoNum type="arabicPeriod"/>
            </a:pPr>
            <a:r>
              <a:rPr lang="en-US" dirty="0"/>
              <a:t>Can track </a:t>
            </a:r>
            <a:r>
              <a:rPr lang="en-US" b="1" dirty="0"/>
              <a:t>several units</a:t>
            </a:r>
            <a:r>
              <a:rPr lang="en-US" dirty="0"/>
              <a:t> of a resource, not just one.</a:t>
            </a:r>
          </a:p>
          <a:p>
            <a:pPr marL="742950" lvl="1" indent="-285750">
              <a:buFont typeface="+mj-lt"/>
              <a:buAutoNum type="arabicPeriod"/>
            </a:pPr>
            <a:r>
              <a:rPr lang="en-US" dirty="0"/>
              <a:t>Useful when multiple instances of a resource are available.</a:t>
            </a:r>
          </a:p>
          <a:p>
            <a:pPr>
              <a:buFont typeface="+mj-lt"/>
              <a:buAutoNum type="arabicPeriod"/>
            </a:pPr>
            <a:r>
              <a:rPr lang="en-US" b="1" dirty="0"/>
              <a:t>Flexible Synchronization:</a:t>
            </a:r>
            <a:endParaRPr lang="en-US" dirty="0"/>
          </a:p>
          <a:p>
            <a:pPr marL="742950" lvl="1" indent="-285750">
              <a:buFont typeface="+mj-lt"/>
              <a:buAutoNum type="arabicPeriod"/>
            </a:pPr>
            <a:r>
              <a:rPr lang="en-US" dirty="0"/>
              <a:t>Can synchronize multiple tasks efficiently.</a:t>
            </a:r>
          </a:p>
          <a:p>
            <a:pPr marL="742950" lvl="1" indent="-285750">
              <a:buFont typeface="+mj-lt"/>
              <a:buAutoNum type="arabicPeriod"/>
            </a:pPr>
            <a:r>
              <a:rPr lang="en-US" dirty="0"/>
              <a:t>Allows several tasks to proceed concurrently, up to the available resource count.</a:t>
            </a:r>
          </a:p>
          <a:p>
            <a:pPr>
              <a:buFont typeface="+mj-lt"/>
              <a:buAutoNum type="arabicPeriod"/>
            </a:pPr>
            <a:r>
              <a:rPr lang="en-US" b="1" dirty="0"/>
              <a:t>Avoids Busy Waiting:</a:t>
            </a:r>
            <a:endParaRPr lang="en-US" dirty="0"/>
          </a:p>
          <a:p>
            <a:pPr marL="742950" lvl="1" indent="-285750">
              <a:buFont typeface="+mj-lt"/>
              <a:buAutoNum type="arabicPeriod"/>
            </a:pPr>
            <a:r>
              <a:rPr lang="en-US" dirty="0"/>
              <a:t>Tasks waiting for resources are </a:t>
            </a:r>
            <a:r>
              <a:rPr lang="en-US" b="1" dirty="0"/>
              <a:t>blocked instead of looping</a:t>
            </a:r>
            <a:r>
              <a:rPr lang="en-US" dirty="0"/>
              <a:t>, improving CPU efficiency.</a:t>
            </a:r>
          </a:p>
          <a:p>
            <a:pPr>
              <a:buFont typeface="+mj-lt"/>
              <a:buAutoNum type="arabicPeriod"/>
            </a:pPr>
            <a:r>
              <a:rPr lang="en-US" b="1" dirty="0"/>
              <a:t>Dynamic Resource Management:</a:t>
            </a:r>
            <a:endParaRPr lang="en-US" dirty="0"/>
          </a:p>
          <a:p>
            <a:pPr marL="742950" lvl="1" indent="-285750">
              <a:buFont typeface="+mj-lt"/>
              <a:buAutoNum type="arabicPeriod"/>
            </a:pPr>
            <a:r>
              <a:rPr lang="en-US" dirty="0"/>
              <a:t>Can increase or decrease the count dynamically to reflect resource availability.</a:t>
            </a:r>
          </a:p>
          <a:p>
            <a:endParaRPr lang="fr-DZ" dirty="0"/>
          </a:p>
        </p:txBody>
      </p:sp>
    </p:spTree>
    <p:extLst>
      <p:ext uri="{BB962C8B-B14F-4D97-AF65-F5344CB8AC3E}">
        <p14:creationId xmlns:p14="http://schemas.microsoft.com/office/powerpoint/2010/main" val="16330826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511D-5A28-5776-F4B1-09AD629E1EB0}"/>
              </a:ext>
            </a:extLst>
          </p:cNvPr>
          <p:cNvSpPr>
            <a:spLocks noGrp="1"/>
          </p:cNvSpPr>
          <p:nvPr>
            <p:ph type="title"/>
          </p:nvPr>
        </p:nvSpPr>
        <p:spPr>
          <a:xfrm>
            <a:off x="202792" y="181674"/>
            <a:ext cx="10515600" cy="1325563"/>
          </a:xfrm>
        </p:spPr>
        <p:txBody>
          <a:bodyPr/>
          <a:lstStyle/>
          <a:p>
            <a:r>
              <a:rPr lang="en-US" b="1" dirty="0">
                <a:solidFill>
                  <a:schemeClr val="tx2">
                    <a:lumMod val="50000"/>
                    <a:lumOff val="50000"/>
                  </a:schemeClr>
                </a:solidFill>
              </a:rPr>
              <a:t>Disadvantages of Counting Semaphores</a:t>
            </a:r>
            <a:endParaRPr lang="fr-DZ" dirty="0">
              <a:solidFill>
                <a:schemeClr val="tx2">
                  <a:lumMod val="50000"/>
                  <a:lumOff val="50000"/>
                </a:schemeClr>
              </a:solidFill>
            </a:endParaRPr>
          </a:p>
        </p:txBody>
      </p:sp>
      <p:sp>
        <p:nvSpPr>
          <p:cNvPr id="4" name="Rectangle 1">
            <a:extLst>
              <a:ext uri="{FF2B5EF4-FFF2-40B4-BE49-F238E27FC236}">
                <a16:creationId xmlns:a16="http://schemas.microsoft.com/office/drawing/2014/main" id="{C006E69C-C771-A4FD-9A2E-0B451F391A27}"/>
              </a:ext>
            </a:extLst>
          </p:cNvPr>
          <p:cNvSpPr>
            <a:spLocks noGrp="1" noChangeArrowheads="1"/>
          </p:cNvSpPr>
          <p:nvPr>
            <p:ph idx="1"/>
          </p:nvPr>
        </p:nvSpPr>
        <p:spPr bwMode="auto">
          <a:xfrm>
            <a:off x="468262" y="1400239"/>
            <a:ext cx="10990006" cy="4057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US" sz="2200" b="1" dirty="0"/>
              <a:t>Complexity:</a:t>
            </a:r>
            <a:endParaRPr lang="en-US" sz="2200" dirty="0"/>
          </a:p>
          <a:p>
            <a:pPr marL="742950" lvl="1" indent="-285750">
              <a:buFont typeface="+mj-lt"/>
              <a:buAutoNum type="arabicPeriod"/>
            </a:pPr>
            <a:r>
              <a:rPr lang="en-US" sz="2200" dirty="0"/>
              <a:t>More complicated to implement and manage than binary semaphores.</a:t>
            </a:r>
          </a:p>
          <a:p>
            <a:pPr>
              <a:buFont typeface="+mj-lt"/>
              <a:buAutoNum type="arabicPeriod"/>
            </a:pPr>
            <a:r>
              <a:rPr lang="en-US" sz="2200" b="1" dirty="0"/>
              <a:t>Risk of Deadlocks:</a:t>
            </a:r>
            <a:endParaRPr lang="en-US" sz="2200" dirty="0"/>
          </a:p>
          <a:p>
            <a:pPr marL="742950" lvl="1" indent="-285750">
              <a:buFont typeface="+mj-lt"/>
              <a:buAutoNum type="arabicPeriod"/>
            </a:pPr>
            <a:r>
              <a:rPr lang="en-US" sz="2200" dirty="0"/>
              <a:t>If tasks acquire semaphores in an inconsistent order, </a:t>
            </a:r>
            <a:r>
              <a:rPr lang="en-US" sz="2200" b="1" dirty="0"/>
              <a:t>deadlocks</a:t>
            </a:r>
            <a:r>
              <a:rPr lang="en-US" sz="2200" dirty="0"/>
              <a:t> can occur.</a:t>
            </a:r>
          </a:p>
          <a:p>
            <a:pPr>
              <a:buFont typeface="+mj-lt"/>
              <a:buAutoNum type="arabicPeriod"/>
            </a:pPr>
            <a:r>
              <a:rPr lang="en-US" sz="2200" b="1" dirty="0"/>
              <a:t>Priority Inversion:</a:t>
            </a:r>
            <a:endParaRPr lang="en-US" sz="2200" dirty="0"/>
          </a:p>
          <a:p>
            <a:pPr marL="742950" lvl="1" indent="-285750">
              <a:buFont typeface="+mj-lt"/>
              <a:buAutoNum type="arabicPeriod"/>
            </a:pPr>
            <a:r>
              <a:rPr lang="en-US" sz="2200" dirty="0"/>
              <a:t>High-priority tasks can be blocked by low-priority tasks holding resources, requiring additional handling.</a:t>
            </a:r>
          </a:p>
          <a:p>
            <a:pPr>
              <a:buFont typeface="+mj-lt"/>
              <a:buAutoNum type="arabicPeriod"/>
            </a:pPr>
            <a:r>
              <a:rPr lang="en-US" sz="2200" b="1" dirty="0"/>
              <a:t>Overhead:</a:t>
            </a:r>
            <a:endParaRPr lang="en-US" sz="2200" dirty="0"/>
          </a:p>
          <a:p>
            <a:pPr marL="742950" lvl="1" indent="-285750">
              <a:buFont typeface="+mj-lt"/>
              <a:buAutoNum type="arabicPeriod"/>
            </a:pPr>
            <a:r>
              <a:rPr lang="en-US" sz="2200" dirty="0"/>
              <a:t>Slightly higher memory and computational overhead compared to binary semaphores.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A4A77FF-1CF9-184C-A2BE-4FC3B78E2CD0}"/>
              </a:ext>
            </a:extLst>
          </p:cNvPr>
          <p:cNvSpPr txBox="1"/>
          <p:nvPr/>
        </p:nvSpPr>
        <p:spPr>
          <a:xfrm>
            <a:off x="468262" y="5457760"/>
            <a:ext cx="11255476" cy="1107996"/>
          </a:xfrm>
          <a:prstGeom prst="rect">
            <a:avLst/>
          </a:prstGeom>
          <a:noFill/>
        </p:spPr>
        <p:txBody>
          <a:bodyPr wrap="square">
            <a:spAutoFit/>
          </a:bodyPr>
          <a:lstStyle/>
          <a:p>
            <a:r>
              <a:rPr lang="en-US" sz="2200" dirty="0">
                <a:solidFill>
                  <a:srgbClr val="C00000"/>
                </a:solidFill>
              </a:rPr>
              <a:t>Counting semaphores are ideal for managing </a:t>
            </a:r>
            <a:r>
              <a:rPr lang="en-US" sz="2200" b="1" dirty="0">
                <a:solidFill>
                  <a:srgbClr val="C00000"/>
                </a:solidFill>
              </a:rPr>
              <a:t>multiple instances of a resource</a:t>
            </a:r>
            <a:r>
              <a:rPr lang="en-US" sz="2200" dirty="0">
                <a:solidFill>
                  <a:srgbClr val="C00000"/>
                </a:solidFill>
              </a:rPr>
              <a:t> and </a:t>
            </a:r>
            <a:r>
              <a:rPr lang="en-US" sz="2200" b="1" dirty="0">
                <a:solidFill>
                  <a:srgbClr val="C00000"/>
                </a:solidFill>
              </a:rPr>
              <a:t>allowing concurrent access</a:t>
            </a:r>
            <a:r>
              <a:rPr lang="en-US" sz="2200" dirty="0">
                <a:solidFill>
                  <a:srgbClr val="C00000"/>
                </a:solidFill>
              </a:rPr>
              <a:t>, but they require careful design to avoid </a:t>
            </a:r>
            <a:r>
              <a:rPr lang="en-US" sz="2200" b="1" dirty="0">
                <a:solidFill>
                  <a:srgbClr val="C00000"/>
                </a:solidFill>
              </a:rPr>
              <a:t>deadlocks</a:t>
            </a:r>
            <a:r>
              <a:rPr lang="en-US" sz="2200" dirty="0">
                <a:solidFill>
                  <a:srgbClr val="C00000"/>
                </a:solidFill>
              </a:rPr>
              <a:t> and </a:t>
            </a:r>
            <a:r>
              <a:rPr lang="en-US" sz="2200" b="1" dirty="0">
                <a:solidFill>
                  <a:srgbClr val="C00000"/>
                </a:solidFill>
              </a:rPr>
              <a:t>priority issues</a:t>
            </a:r>
            <a:r>
              <a:rPr lang="en-US" sz="2200" dirty="0">
                <a:solidFill>
                  <a:srgbClr val="C00000"/>
                </a:solidFill>
              </a:rPr>
              <a:t>.</a:t>
            </a:r>
            <a:endParaRPr lang="fr-DZ" sz="2200" dirty="0">
              <a:solidFill>
                <a:srgbClr val="C00000"/>
              </a:solidFill>
            </a:endParaRPr>
          </a:p>
        </p:txBody>
      </p:sp>
    </p:spTree>
    <p:extLst>
      <p:ext uri="{BB962C8B-B14F-4D97-AF65-F5344CB8AC3E}">
        <p14:creationId xmlns:p14="http://schemas.microsoft.com/office/powerpoint/2010/main" val="28225137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D6524F-69C9-F614-1B02-1450D75797C6}"/>
              </a:ext>
            </a:extLst>
          </p:cNvPr>
          <p:cNvSpPr txBox="1"/>
          <p:nvPr/>
        </p:nvSpPr>
        <p:spPr>
          <a:xfrm>
            <a:off x="747384" y="2053308"/>
            <a:ext cx="10296395" cy="1569660"/>
          </a:xfrm>
          <a:prstGeom prst="rect">
            <a:avLst/>
          </a:prstGeom>
          <a:noFill/>
        </p:spPr>
        <p:txBody>
          <a:bodyPr wrap="square">
            <a:spAutoFit/>
          </a:bodyPr>
          <a:lstStyle/>
          <a:p>
            <a:r>
              <a:rPr lang="fr-DZ" sz="2400" dirty="0">
                <a:latin typeface="Times New Roman" panose="02020603050405020304" pitchFamily="18" charset="0"/>
                <a:cs typeface="Times New Roman" panose="02020603050405020304" pitchFamily="18" charset="0"/>
              </a:rPr>
              <a:t>•</a:t>
            </a:r>
            <a:r>
              <a:rPr lang="fr-DZ" sz="2400" b="1" dirty="0">
                <a:solidFill>
                  <a:schemeClr val="tx2">
                    <a:lumMod val="75000"/>
                    <a:lumOff val="25000"/>
                  </a:schemeClr>
                </a:solidFill>
                <a:latin typeface="Times New Roman" panose="02020603050405020304" pitchFamily="18" charset="0"/>
                <a:cs typeface="Times New Roman" panose="02020603050405020304" pitchFamily="18" charset="0"/>
              </a:rPr>
              <a:t> Deadlock</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two</a:t>
            </a:r>
            <a:r>
              <a:rPr lang="fr-DZ" sz="2400" dirty="0">
                <a:latin typeface="Times New Roman" panose="02020603050405020304" pitchFamily="18" charset="0"/>
                <a:cs typeface="Times New Roman" panose="02020603050405020304" pitchFamily="18" charset="0"/>
              </a:rPr>
              <a:t> or more </a:t>
            </a:r>
            <a:r>
              <a:rPr lang="fr-DZ" sz="2400" dirty="0" err="1">
                <a:latin typeface="Times New Roman" panose="02020603050405020304" pitchFamily="18" charset="0"/>
                <a:cs typeface="Times New Roman" panose="02020603050405020304" pitchFamily="18" charset="0"/>
              </a:rPr>
              <a:t>processes</a:t>
            </a:r>
            <a:r>
              <a:rPr lang="fr-DZ" sz="2400" dirty="0">
                <a:latin typeface="Times New Roman" panose="02020603050405020304" pitchFamily="18" charset="0"/>
                <a:cs typeface="Times New Roman" panose="02020603050405020304" pitchFamily="18" charset="0"/>
              </a:rPr>
              <a:t> are </a:t>
            </a:r>
            <a:r>
              <a:rPr lang="fr-DZ" sz="2400" dirty="0" err="1">
                <a:latin typeface="Times New Roman" panose="02020603050405020304" pitchFamily="18" charset="0"/>
                <a:cs typeface="Times New Roman" panose="02020603050405020304" pitchFamily="18" charset="0"/>
              </a:rPr>
              <a:t>waiting</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indefinitely</a:t>
            </a:r>
            <a:r>
              <a:rPr lang="fr-DZ" sz="2400" dirty="0">
                <a:latin typeface="Times New Roman" panose="02020603050405020304" pitchFamily="18" charset="0"/>
                <a:cs typeface="Times New Roman" panose="02020603050405020304" pitchFamily="18" charset="0"/>
              </a:rPr>
              <a:t> for an </a:t>
            </a:r>
            <a:r>
              <a:rPr lang="fr-DZ" sz="2400" dirty="0" err="1">
                <a:latin typeface="Times New Roman" panose="02020603050405020304" pitchFamily="18" charset="0"/>
                <a:cs typeface="Times New Roman" panose="02020603050405020304" pitchFamily="18" charset="0"/>
              </a:rPr>
              <a:t>event</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that</a:t>
            </a:r>
            <a:r>
              <a:rPr lang="fr-DZ" sz="2400" dirty="0">
                <a:latin typeface="Times New Roman" panose="02020603050405020304" pitchFamily="18" charset="0"/>
                <a:cs typeface="Times New Roman" panose="02020603050405020304" pitchFamily="18" charset="0"/>
              </a:rPr>
              <a:t> can </a:t>
            </a:r>
            <a:r>
              <a:rPr lang="fr-DZ" sz="2400" dirty="0" err="1">
                <a:latin typeface="Times New Roman" panose="02020603050405020304" pitchFamily="18" charset="0"/>
                <a:cs typeface="Times New Roman" panose="02020603050405020304" pitchFamily="18" charset="0"/>
              </a:rPr>
              <a:t>be</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caused</a:t>
            </a:r>
            <a:r>
              <a:rPr lang="fr-DZ" sz="2400" dirty="0">
                <a:latin typeface="Times New Roman" panose="02020603050405020304" pitchFamily="18" charset="0"/>
                <a:cs typeface="Times New Roman" panose="02020603050405020304" pitchFamily="18" charset="0"/>
              </a:rPr>
              <a:t> by </a:t>
            </a:r>
            <a:r>
              <a:rPr lang="fr-DZ" sz="2400" dirty="0" err="1">
                <a:latin typeface="Times New Roman" panose="02020603050405020304" pitchFamily="18" charset="0"/>
                <a:cs typeface="Times New Roman" panose="02020603050405020304" pitchFamily="18" charset="0"/>
              </a:rPr>
              <a:t>only</a:t>
            </a:r>
            <a:r>
              <a:rPr lang="fr-DZ" sz="2400" dirty="0">
                <a:latin typeface="Times New Roman" panose="02020603050405020304" pitchFamily="18" charset="0"/>
                <a:cs typeface="Times New Roman" panose="02020603050405020304" pitchFamily="18" charset="0"/>
              </a:rPr>
              <a:t> one of the </a:t>
            </a:r>
            <a:r>
              <a:rPr lang="fr-DZ" sz="2400" dirty="0" err="1">
                <a:latin typeface="Times New Roman" panose="02020603050405020304" pitchFamily="18" charset="0"/>
                <a:cs typeface="Times New Roman" panose="02020603050405020304" pitchFamily="18" charset="0"/>
              </a:rPr>
              <a:t>waiting</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processes</a:t>
            </a:r>
            <a:r>
              <a:rPr lang="fr-DZ" sz="2400" dirty="0">
                <a:latin typeface="Times New Roman" panose="02020603050405020304" pitchFamily="18" charset="0"/>
                <a:cs typeface="Times New Roman" panose="02020603050405020304" pitchFamily="18" charset="0"/>
              </a:rPr>
              <a:t>. </a:t>
            </a:r>
            <a:endParaRPr lang="fr-CA" sz="2400" dirty="0">
              <a:latin typeface="Times New Roman" panose="02020603050405020304" pitchFamily="18" charset="0"/>
              <a:cs typeface="Times New Roman" panose="02020603050405020304" pitchFamily="18" charset="0"/>
            </a:endParaRPr>
          </a:p>
          <a:p>
            <a:endParaRPr lang="fr-CA" sz="2400" dirty="0">
              <a:latin typeface="Times New Roman" panose="02020603050405020304" pitchFamily="18" charset="0"/>
              <a:cs typeface="Times New Roman" panose="02020603050405020304" pitchFamily="18" charset="0"/>
            </a:endParaRPr>
          </a:p>
          <a:p>
            <a:r>
              <a:rPr lang="fr-DZ" sz="2400" dirty="0">
                <a:latin typeface="Times New Roman" panose="02020603050405020304" pitchFamily="18" charset="0"/>
                <a:cs typeface="Times New Roman" panose="02020603050405020304" pitchFamily="18" charset="0"/>
              </a:rPr>
              <a:t>• Let </a:t>
            </a:r>
            <a:r>
              <a:rPr lang="fr-DZ" sz="2400" b="1" dirty="0">
                <a:latin typeface="ADLaM Display" panose="02010000000000000000" pitchFamily="2" charset="0"/>
                <a:ea typeface="ADLaM Display" panose="02010000000000000000" pitchFamily="2" charset="0"/>
                <a:cs typeface="ADLaM Display" panose="02010000000000000000" pitchFamily="2" charset="0"/>
              </a:rPr>
              <a:t>S</a:t>
            </a:r>
            <a:r>
              <a:rPr lang="fr-CA" sz="2400" b="1" dirty="0">
                <a:latin typeface="Times New Roman" panose="02020603050405020304" pitchFamily="18" charset="0"/>
                <a:cs typeface="Times New Roman" panose="02020603050405020304" pitchFamily="18" charset="0"/>
              </a:rPr>
              <a:t> </a:t>
            </a:r>
            <a:r>
              <a:rPr lang="fr-DZ" sz="2400" dirty="0">
                <a:latin typeface="Times New Roman" panose="02020603050405020304" pitchFamily="18" charset="0"/>
                <a:cs typeface="Times New Roman" panose="02020603050405020304" pitchFamily="18" charset="0"/>
              </a:rPr>
              <a:t>and</a:t>
            </a:r>
            <a:r>
              <a:rPr lang="fr-CA" sz="2400" dirty="0">
                <a:latin typeface="Times New Roman" panose="02020603050405020304" pitchFamily="18" charset="0"/>
                <a:cs typeface="Times New Roman" panose="02020603050405020304" pitchFamily="18" charset="0"/>
              </a:rPr>
              <a:t> </a:t>
            </a:r>
            <a:r>
              <a:rPr lang="fr-DZ" sz="2400" b="1" dirty="0">
                <a:latin typeface="ADLaM Display" panose="02010000000000000000" pitchFamily="2" charset="0"/>
                <a:ea typeface="ADLaM Display" panose="02010000000000000000" pitchFamily="2" charset="0"/>
                <a:cs typeface="ADLaM Display" panose="02010000000000000000" pitchFamily="2" charset="0"/>
              </a:rPr>
              <a:t>Q</a:t>
            </a:r>
            <a:r>
              <a:rPr lang="fr-CA" sz="2400" b="1" dirty="0">
                <a:latin typeface="ADLaM Display" panose="02010000000000000000" pitchFamily="2" charset="0"/>
                <a:ea typeface="ADLaM Display" panose="02010000000000000000" pitchFamily="2" charset="0"/>
                <a:cs typeface="ADLaM Display" panose="02010000000000000000" pitchFamily="2" charset="0"/>
              </a:rPr>
              <a:t> </a:t>
            </a:r>
            <a:r>
              <a:rPr lang="fr-DZ" sz="2400" dirty="0" err="1">
                <a:latin typeface="Times New Roman" panose="02020603050405020304" pitchFamily="18" charset="0"/>
                <a:cs typeface="Times New Roman" panose="02020603050405020304" pitchFamily="18" charset="0"/>
              </a:rPr>
              <a:t>be</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two</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semaphores</a:t>
            </a:r>
            <a:r>
              <a:rPr lang="fr-DZ" sz="2400" dirty="0">
                <a:latin typeface="Times New Roman" panose="02020603050405020304" pitchFamily="18" charset="0"/>
                <a:cs typeface="Times New Roman" panose="02020603050405020304" pitchFamily="18" charset="0"/>
              </a:rPr>
              <a:t> </a:t>
            </a:r>
            <a:r>
              <a:rPr lang="fr-DZ" sz="2400" dirty="0" err="1">
                <a:latin typeface="Times New Roman" panose="02020603050405020304" pitchFamily="18" charset="0"/>
                <a:cs typeface="Times New Roman" panose="02020603050405020304" pitchFamily="18" charset="0"/>
              </a:rPr>
              <a:t>initialized</a:t>
            </a:r>
            <a:r>
              <a:rPr lang="fr-DZ" sz="2400" dirty="0">
                <a:latin typeface="Times New Roman" panose="02020603050405020304" pitchFamily="18" charset="0"/>
                <a:cs typeface="Times New Roman" panose="02020603050405020304" pitchFamily="18" charset="0"/>
              </a:rPr>
              <a:t> to</a:t>
            </a:r>
            <a:r>
              <a:rPr lang="fr-CA" sz="2400" dirty="0">
                <a:latin typeface="Times New Roman" panose="02020603050405020304" pitchFamily="18" charset="0"/>
                <a:cs typeface="Times New Roman" panose="02020603050405020304" pitchFamily="18" charset="0"/>
              </a:rPr>
              <a:t> 1</a:t>
            </a:r>
            <a:endParaRPr lang="fr-DZ"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72E8DD3-0F3D-3A08-BD40-AE5242FD8530}"/>
              </a:ext>
            </a:extLst>
          </p:cNvPr>
          <p:cNvPicPr>
            <a:picLocks noChangeAspect="1"/>
          </p:cNvPicPr>
          <p:nvPr/>
        </p:nvPicPr>
        <p:blipFill>
          <a:blip r:embed="rId2"/>
          <a:stretch>
            <a:fillRect/>
          </a:stretch>
        </p:blipFill>
        <p:spPr>
          <a:xfrm>
            <a:off x="3280968" y="3754476"/>
            <a:ext cx="5229225" cy="2400300"/>
          </a:xfrm>
          <a:prstGeom prst="rect">
            <a:avLst/>
          </a:prstGeom>
        </p:spPr>
      </p:pic>
      <p:sp>
        <p:nvSpPr>
          <p:cNvPr id="8" name="TextBox 7">
            <a:extLst>
              <a:ext uri="{FF2B5EF4-FFF2-40B4-BE49-F238E27FC236}">
                <a16:creationId xmlns:a16="http://schemas.microsoft.com/office/drawing/2014/main" id="{DB8446EE-B93F-AE53-E98F-32143D9D2E04}"/>
              </a:ext>
            </a:extLst>
          </p:cNvPr>
          <p:cNvSpPr txBox="1"/>
          <p:nvPr/>
        </p:nvSpPr>
        <p:spPr>
          <a:xfrm>
            <a:off x="838200" y="1241188"/>
            <a:ext cx="6093912"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Semaphore</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8C1D2C9D-36F9-6E9A-E50D-B14A36E7F922}"/>
              </a:ext>
            </a:extLst>
          </p:cNvPr>
          <p:cNvSpPr>
            <a:spLocks noGrp="1"/>
          </p:cNvSpPr>
          <p:nvPr>
            <p:ph type="title"/>
          </p:nvPr>
        </p:nvSpPr>
        <p:spPr>
          <a:xfrm>
            <a:off x="838200" y="177235"/>
            <a:ext cx="10515600" cy="1325563"/>
          </a:xfrm>
        </p:spPr>
        <p:txBody>
          <a:bodyPr/>
          <a:lstStyle/>
          <a:p>
            <a:r>
              <a:rPr lang="fr-CA" b="1" dirty="0">
                <a:solidFill>
                  <a:srgbClr val="FF0000"/>
                </a:solidFill>
                <a:latin typeface="Times New Roman" panose="02020603050405020304" pitchFamily="18" charset="0"/>
                <a:cs typeface="Times New Roman" panose="02020603050405020304" pitchFamily="18" charset="0"/>
              </a:rPr>
              <a:t>Solution to the CS </a:t>
            </a:r>
            <a:r>
              <a:rPr lang="fr-CA" b="1" dirty="0" err="1">
                <a:solidFill>
                  <a:srgbClr val="FF0000"/>
                </a:solidFill>
                <a:latin typeface="Times New Roman" panose="02020603050405020304" pitchFamily="18" charset="0"/>
                <a:cs typeface="Times New Roman" panose="02020603050405020304" pitchFamily="18" charset="0"/>
              </a:rPr>
              <a:t>problem</a:t>
            </a:r>
            <a:endParaRPr lang="fr-DZ" dirty="0"/>
          </a:p>
        </p:txBody>
      </p:sp>
    </p:spTree>
    <p:extLst>
      <p:ext uri="{BB962C8B-B14F-4D97-AF65-F5344CB8AC3E}">
        <p14:creationId xmlns:p14="http://schemas.microsoft.com/office/powerpoint/2010/main" val="297871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2525</Words>
  <Application>Microsoft Office PowerPoint</Application>
  <PresentationFormat>Widescreen</PresentationFormat>
  <Paragraphs>291</Paragraphs>
  <Slides>75</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75</vt:i4>
      </vt:variant>
    </vt:vector>
  </HeadingPairs>
  <TitlesOfParts>
    <vt:vector size="83" baseType="lpstr">
      <vt:lpstr>ADLaM Display</vt:lpstr>
      <vt:lpstr>Aptos</vt:lpstr>
      <vt:lpstr>Aptos Display</vt:lpstr>
      <vt:lpstr>Arial</vt:lpstr>
      <vt:lpstr>Roboto</vt:lpstr>
      <vt:lpstr>Times New Roman</vt:lpstr>
      <vt:lpstr>Tw Cen MT</vt:lpstr>
      <vt:lpstr>Office Theme</vt:lpstr>
      <vt:lpstr>PowerPoint Presentation</vt:lpstr>
      <vt:lpstr>PowerPoint Presentation</vt:lpstr>
      <vt:lpstr> </vt:lpstr>
      <vt:lpstr>Introduction </vt:lpstr>
      <vt:lpstr>Introduction </vt:lpstr>
      <vt:lpstr>Introduction </vt:lpstr>
      <vt:lpstr>Introduction </vt:lpstr>
      <vt:lpstr>Introduction </vt:lpstr>
      <vt:lpstr>Introduction </vt:lpstr>
      <vt:lpstr>Concurrency problem</vt:lpstr>
      <vt:lpstr>Concurrency problem</vt:lpstr>
      <vt:lpstr>Concurrency problem</vt:lpstr>
      <vt:lpstr>The producer-consumer problem</vt:lpstr>
      <vt:lpstr>The producer-consumer problem</vt:lpstr>
      <vt:lpstr>The producer-consumer problem</vt:lpstr>
      <vt:lpstr>The producer-consumer problem</vt:lpstr>
      <vt:lpstr>The producer-consumer problem</vt:lpstr>
      <vt:lpstr>The producer-consumer problem</vt:lpstr>
      <vt:lpstr>The producer-consumer problem</vt:lpstr>
      <vt:lpstr>Critical section problem</vt:lpstr>
      <vt:lpstr>Critical section problem</vt:lpstr>
      <vt:lpstr>Critical section problem</vt:lpstr>
      <vt:lpstr>Critical section problem</vt:lpstr>
      <vt:lpstr>Description of race condition</vt:lpstr>
      <vt:lpstr>Description of race condition</vt:lpstr>
      <vt:lpstr>Description of race condition</vt:lpstr>
      <vt:lpstr>Critical section problem</vt:lpstr>
      <vt:lpstr>Critical section problem</vt:lpstr>
      <vt:lpstr>Critical section problem</vt:lpstr>
      <vt:lpstr>Critical section problem</vt:lpstr>
      <vt:lpstr>Critical section problem</vt:lpstr>
      <vt:lpstr>Critical section problem</vt:lpstr>
      <vt:lpstr>Critical section problem</vt:lpstr>
      <vt:lpstr>Solutions to the critical section problem</vt:lpstr>
      <vt:lpstr>Mutual exclusion</vt:lpstr>
      <vt:lpstr>Progress </vt:lpstr>
      <vt:lpstr>Bonded waiting</vt:lpstr>
      <vt:lpstr>PowerPoint Presentation</vt:lpstr>
      <vt:lpstr>Solution to the CS problem</vt:lpstr>
      <vt:lpstr>Solution to the CS problem</vt:lpstr>
      <vt:lpstr>Solution to the CS problem</vt:lpstr>
      <vt:lpstr>Solution to the CS problem</vt:lpstr>
      <vt:lpstr>Solution to the CS problem</vt:lpstr>
      <vt:lpstr>PowerPoint Presentation</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Solution to the CS problem</vt:lpstr>
      <vt:lpstr>Advantages of Binary Semaphores </vt:lpstr>
      <vt:lpstr>Disadvantages of Binary Semaphores </vt:lpstr>
      <vt:lpstr>Solution to the CS problem</vt:lpstr>
      <vt:lpstr>Advantages of Counting Semaphores </vt:lpstr>
      <vt:lpstr>Disadvantages of Counting Semaphores</vt:lpstr>
      <vt:lpstr>Solution to the CS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Soumia BENKRAMA</dc:creator>
  <cp:lastModifiedBy>Soumia BENKRAMA</cp:lastModifiedBy>
  <cp:revision>1</cp:revision>
  <dcterms:created xsi:type="dcterms:W3CDTF">2025-11-08T21:46:38Z</dcterms:created>
  <dcterms:modified xsi:type="dcterms:W3CDTF">2025-11-08T21:47:32Z</dcterms:modified>
</cp:coreProperties>
</file>