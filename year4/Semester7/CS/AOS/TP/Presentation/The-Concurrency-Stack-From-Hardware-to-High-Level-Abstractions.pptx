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1" r:id="rId5"/>
    <p:sldId id="263" r:id="rId6"/>
    <p:sldId id="265" r:id="rId7"/>
  </p:sldIdLst>
  <p:sldSz cx="14630400" cy="8229600"/>
  <p:notesSz cx="8229600" cy="146304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Open Sans" panose="020B0604020202020204" charset="0"/>
      <p:regular r:id="rId17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6862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01297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Concurrency Stack: From Hardware to High-Level Abstractions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97657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modern concurrent programming requires knowledge of the fundamental synchronization mechanisms, from low-level atomic hardware instructions up to the operating system and language-level abstractions.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785413-1BDB-48EB-917E-560AAF776FBC}"/>
              </a:ext>
            </a:extLst>
          </p:cNvPr>
          <p:cNvSpPr/>
          <p:nvPr/>
        </p:nvSpPr>
        <p:spPr>
          <a:xfrm>
            <a:off x="12691068" y="7345345"/>
            <a:ext cx="1939332" cy="8842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9486" y="863203"/>
            <a:ext cx="9453205" cy="57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Chapter 1: Hardware Foundation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49486" y="1721525"/>
            <a:ext cx="13331428" cy="3479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0"/>
              </a:lnSpc>
              <a:buNone/>
            </a:pPr>
            <a:r>
              <a:rPr lang="en-US" sz="10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Compare-and-Swap (CAS)</a:t>
            </a:r>
            <a:endParaRPr lang="en-US" sz="10950" dirty="0"/>
          </a:p>
        </p:txBody>
      </p:sp>
      <p:sp>
        <p:nvSpPr>
          <p:cNvPr id="4" name="Text 2"/>
          <p:cNvSpPr/>
          <p:nvPr/>
        </p:nvSpPr>
        <p:spPr>
          <a:xfrm>
            <a:off x="649486" y="5479375"/>
            <a:ext cx="13331428" cy="2969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atomic instruction that forms the basis for most modern lock-free synchronization.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9486" y="5985034"/>
            <a:ext cx="13331428" cy="1381363"/>
          </a:xfrm>
          <a:prstGeom prst="roundRect">
            <a:avLst>
              <a:gd name="adj" fmla="val 564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7106" y="5992654"/>
            <a:ext cx="4438650" cy="1366123"/>
          </a:xfrm>
          <a:prstGeom prst="roundRect">
            <a:avLst>
              <a:gd name="adj" fmla="val 5706"/>
            </a:avLst>
          </a:prstGeom>
          <a:solidFill>
            <a:srgbClr val="D6F5EE"/>
          </a:solidFill>
          <a:ln/>
        </p:spPr>
      </p:sp>
      <p:sp>
        <p:nvSpPr>
          <p:cNvPr id="7" name="Text 5"/>
          <p:cNvSpPr/>
          <p:nvPr/>
        </p:nvSpPr>
        <p:spPr>
          <a:xfrm>
            <a:off x="842605" y="6178153"/>
            <a:ext cx="2975967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Compare (Expected)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2605" y="6579394"/>
            <a:ext cx="4067651" cy="59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Checks if the current memory value matches the expected old value.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95756" y="5992654"/>
            <a:ext cx="4438769" cy="1366123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10" name="Shape 8"/>
          <p:cNvSpPr/>
          <p:nvPr/>
        </p:nvSpPr>
        <p:spPr>
          <a:xfrm>
            <a:off x="5095756" y="5992654"/>
            <a:ext cx="22860" cy="1366123"/>
          </a:xfrm>
          <a:prstGeom prst="roundRect">
            <a:avLst>
              <a:gd name="adj" fmla="val 340972"/>
            </a:avLst>
          </a:prstGeom>
          <a:solidFill>
            <a:srgbClr val="BCDBD4"/>
          </a:solidFill>
          <a:ln/>
        </p:spPr>
      </p:sp>
      <p:sp>
        <p:nvSpPr>
          <p:cNvPr id="11" name="Text 9"/>
          <p:cNvSpPr/>
          <p:nvPr/>
        </p:nvSpPr>
        <p:spPr>
          <a:xfrm>
            <a:off x="5281255" y="6178153"/>
            <a:ext cx="256389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Swap (New Value)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81255" y="6579394"/>
            <a:ext cx="4067770" cy="59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they match, the memory is updated with the new value.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534525" y="5992654"/>
            <a:ext cx="4438650" cy="1366123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14" name="Shape 12"/>
          <p:cNvSpPr/>
          <p:nvPr/>
        </p:nvSpPr>
        <p:spPr>
          <a:xfrm>
            <a:off x="9534525" y="5992654"/>
            <a:ext cx="22860" cy="1366123"/>
          </a:xfrm>
          <a:prstGeom prst="roundRect">
            <a:avLst>
              <a:gd name="adj" fmla="val 340972"/>
            </a:avLst>
          </a:prstGeom>
          <a:solidFill>
            <a:srgbClr val="BCDBD4"/>
          </a:solidFill>
          <a:ln/>
        </p:spPr>
      </p:sp>
      <p:sp>
        <p:nvSpPr>
          <p:cNvPr id="15" name="Text 13"/>
          <p:cNvSpPr/>
          <p:nvPr/>
        </p:nvSpPr>
        <p:spPr>
          <a:xfrm>
            <a:off x="9720024" y="6178153"/>
            <a:ext cx="231981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Atomic Step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720024" y="6579394"/>
            <a:ext cx="4067651" cy="59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Both actions occur in a single, uninterruptible hardware operation.</a:t>
            </a:r>
            <a:endParaRPr lang="en-US" sz="14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D0DBFB-139E-440A-BFC7-A6A8955BAB11}"/>
              </a:ext>
            </a:extLst>
          </p:cNvPr>
          <p:cNvSpPr/>
          <p:nvPr/>
        </p:nvSpPr>
        <p:spPr>
          <a:xfrm>
            <a:off x="12691068" y="7477721"/>
            <a:ext cx="1939332" cy="7518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071" y="599361"/>
            <a:ext cx="13114258" cy="1353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Chapter 2: Language-Level Abstractions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8071" y="2039660"/>
            <a:ext cx="10853380" cy="541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Atomic Variables (</a:t>
            </a:r>
            <a:r>
              <a:rPr lang="en-US" sz="3400" b="1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std::atomic</a:t>
            </a:r>
            <a:r>
              <a:rPr lang="en-US" sz="3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, </a:t>
            </a:r>
            <a:r>
              <a:rPr lang="en-US" sz="3400" b="1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AtomicInteger</a:t>
            </a:r>
            <a:r>
              <a:rPr lang="en-US" sz="3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58071" y="2905839"/>
            <a:ext cx="13114258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Atomic variables wrap basic types, ensuring that reads and writes are always completed atomically, thus preventing partially updated values from being observed by other threads.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8071" y="4167188"/>
            <a:ext cx="4226957" cy="3463052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58071" y="4136708"/>
            <a:ext cx="4226957" cy="121920"/>
          </a:xfrm>
          <a:prstGeom prst="roundRect">
            <a:avLst>
              <a:gd name="adj" fmla="val 74616"/>
            </a:avLst>
          </a:prstGeom>
          <a:solidFill>
            <a:srgbClr val="26A688"/>
          </a:solidFill>
          <a:ln/>
        </p:spPr>
      </p:sp>
      <p:sp>
        <p:nvSpPr>
          <p:cNvPr id="7" name="Shape 5"/>
          <p:cNvSpPr/>
          <p:nvPr/>
        </p:nvSpPr>
        <p:spPr>
          <a:xfrm>
            <a:off x="2546687" y="3842385"/>
            <a:ext cx="649724" cy="649724"/>
          </a:xfrm>
          <a:prstGeom prst="roundRect">
            <a:avLst>
              <a:gd name="adj" fmla="val 140737"/>
            </a:avLst>
          </a:prstGeom>
          <a:solidFill>
            <a:srgbClr val="26A68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1593" y="4037171"/>
            <a:ext cx="259913" cy="25991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126" y="4708684"/>
            <a:ext cx="3248978" cy="406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Thread Safety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1005126" y="5244703"/>
            <a:ext cx="3732848" cy="138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Guarantees that simple operations (increment, decrement, read/write) are performed as single, atomic units.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201603" y="4167188"/>
            <a:ext cx="4227076" cy="3463052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5201603" y="4136708"/>
            <a:ext cx="4227076" cy="121920"/>
          </a:xfrm>
          <a:prstGeom prst="roundRect">
            <a:avLst>
              <a:gd name="adj" fmla="val 74616"/>
            </a:avLst>
          </a:prstGeom>
          <a:solidFill>
            <a:srgbClr val="26A688"/>
          </a:solidFill>
          <a:ln/>
        </p:spPr>
      </p:sp>
      <p:sp>
        <p:nvSpPr>
          <p:cNvPr id="13" name="Shape 10"/>
          <p:cNvSpPr/>
          <p:nvPr/>
        </p:nvSpPr>
        <p:spPr>
          <a:xfrm>
            <a:off x="6990219" y="3842385"/>
            <a:ext cx="649724" cy="649724"/>
          </a:xfrm>
          <a:prstGeom prst="roundRect">
            <a:avLst>
              <a:gd name="adj" fmla="val 140737"/>
            </a:avLst>
          </a:prstGeom>
          <a:solidFill>
            <a:srgbClr val="26A68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85124" y="4037171"/>
            <a:ext cx="259913" cy="25991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8657" y="4708684"/>
            <a:ext cx="3732967" cy="81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Performance Boost</a:t>
            </a:r>
            <a:endParaRPr lang="en-US" sz="2550" dirty="0"/>
          </a:p>
        </p:txBody>
      </p:sp>
      <p:sp>
        <p:nvSpPr>
          <p:cNvPr id="16" name="Text 12"/>
          <p:cNvSpPr/>
          <p:nvPr/>
        </p:nvSpPr>
        <p:spPr>
          <a:xfrm>
            <a:off x="5448657" y="5650825"/>
            <a:ext cx="3732967" cy="138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Often much faster than using traditional locks (mutexes) for simple counters or flags, as they minimize kernel overhead.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9645253" y="4167188"/>
            <a:ext cx="4227076" cy="3463052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9645253" y="4136708"/>
            <a:ext cx="4227076" cy="121920"/>
          </a:xfrm>
          <a:prstGeom prst="roundRect">
            <a:avLst>
              <a:gd name="adj" fmla="val 74616"/>
            </a:avLst>
          </a:prstGeom>
          <a:solidFill>
            <a:srgbClr val="26A688"/>
          </a:solidFill>
          <a:ln/>
        </p:spPr>
      </p:sp>
      <p:sp>
        <p:nvSpPr>
          <p:cNvPr id="19" name="Shape 15"/>
          <p:cNvSpPr/>
          <p:nvPr/>
        </p:nvSpPr>
        <p:spPr>
          <a:xfrm>
            <a:off x="11433870" y="3842385"/>
            <a:ext cx="649724" cy="649724"/>
          </a:xfrm>
          <a:prstGeom prst="roundRect">
            <a:avLst>
              <a:gd name="adj" fmla="val 140737"/>
            </a:avLst>
          </a:prstGeom>
          <a:solidFill>
            <a:srgbClr val="26A688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28775" y="4037171"/>
            <a:ext cx="259913" cy="25991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892308" y="4708684"/>
            <a:ext cx="3732967" cy="81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Hardware Utilization</a:t>
            </a:r>
            <a:endParaRPr lang="en-US" sz="2550" dirty="0"/>
          </a:p>
        </p:txBody>
      </p:sp>
      <p:sp>
        <p:nvSpPr>
          <p:cNvPr id="22" name="Text 17"/>
          <p:cNvSpPr/>
          <p:nvPr/>
        </p:nvSpPr>
        <p:spPr>
          <a:xfrm>
            <a:off x="9892308" y="5650825"/>
            <a:ext cx="3732967" cy="1732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language primitives are implemented internally using the fastest available hardware instructions, like CAS or Load-Linked/Store-Conditional (LL/SC).</a:t>
            </a:r>
            <a:endParaRPr lang="en-US" sz="17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A40366-C5BD-45CC-9CB9-41E0EFD67BBD}"/>
              </a:ext>
            </a:extLst>
          </p:cNvPr>
          <p:cNvSpPr/>
          <p:nvPr/>
        </p:nvSpPr>
        <p:spPr>
          <a:xfrm>
            <a:off x="12691068" y="7345345"/>
            <a:ext cx="1939332" cy="8842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4473" y="427792"/>
            <a:ext cx="11089243" cy="486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Chapter 3: OS and Language Synchronization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44473" y="975955"/>
            <a:ext cx="4707731" cy="388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High-Level Abstractions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4473" y="1598057"/>
            <a:ext cx="13541454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mechanisms are built upon atomic primitives to provide robust, easier-to-manage solutions for complex concurrency patterns, including resource management and coordinated thread waiting.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73" y="2270879"/>
            <a:ext cx="4384119" cy="43841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4473" y="6810494"/>
            <a:ext cx="3671530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Mutex (Mutual Exclusion)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4473" y="7195423"/>
            <a:ext cx="4384119" cy="746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classic "gatekeeper." Only one thread can acquire the lock and enter the critical section at a time. It ensures data integrity by preventing simultaneous access.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021" y="2270879"/>
            <a:ext cx="4384238" cy="43842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23021" y="6810613"/>
            <a:ext cx="3273385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Semaphore (Counting)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123021" y="7195542"/>
            <a:ext cx="4384238" cy="746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counter-based signaling mechanism. It limits the number of threads that can access a resource concurrently, perfect for managing fixed-size resource pools.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689" y="2270879"/>
            <a:ext cx="4384238" cy="438423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701689" y="6810613"/>
            <a:ext cx="4093964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Monitor (Language Feature)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9701689" y="7195542"/>
            <a:ext cx="4384238" cy="7468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high-level language construct (like Java's </a:t>
            </a:r>
            <a:r>
              <a:rPr lang="en-US" sz="120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synchronized</a:t>
            </a: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methods) that combines a mutex and condition variables, simplifying complex thread coordination.</a:t>
            </a:r>
            <a:endParaRPr lang="en-US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0A269E-7769-49E9-B3FD-048EFE8D6C5A}"/>
              </a:ext>
            </a:extLst>
          </p:cNvPr>
          <p:cNvSpPr/>
          <p:nvPr/>
        </p:nvSpPr>
        <p:spPr>
          <a:xfrm>
            <a:off x="12691068" y="7731681"/>
            <a:ext cx="1939332" cy="4979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7349" y="859631"/>
            <a:ext cx="12880300" cy="622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Semaphore: Controlling Resource Access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97349" y="1880830"/>
            <a:ext cx="13235702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Semaphores are indispensable when multiple copies of a resource are available, allowing controlled, concurrent access without exceeding capacity.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996196" y="3240643"/>
            <a:ext cx="6219230" cy="199192"/>
          </a:xfrm>
          <a:prstGeom prst="roundRect">
            <a:avLst>
              <a:gd name="adj" fmla="val 4201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7349" y="3041452"/>
            <a:ext cx="597694" cy="597694"/>
          </a:xfrm>
          <a:prstGeom prst="roundRect">
            <a:avLst>
              <a:gd name="adj" fmla="val 7649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773" y="3190875"/>
            <a:ext cx="298847" cy="2988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541" y="3838337"/>
            <a:ext cx="2648783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Initialize Counter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896541" y="4269224"/>
            <a:ext cx="6119813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the semaphore count to the maximum number of available resources (e.g., 5 database connections).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7713583" y="2941796"/>
            <a:ext cx="6219349" cy="199192"/>
          </a:xfrm>
          <a:prstGeom prst="roundRect">
            <a:avLst>
              <a:gd name="adj" fmla="val 4201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14736" y="2742605"/>
            <a:ext cx="597694" cy="597694"/>
          </a:xfrm>
          <a:prstGeom prst="roundRect">
            <a:avLst>
              <a:gd name="adj" fmla="val 7649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64160" y="2892028"/>
            <a:ext cx="298847" cy="2988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13928" y="3539490"/>
            <a:ext cx="2490787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Acquire (Wait)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7613928" y="3970377"/>
            <a:ext cx="6119932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thread calls </a:t>
            </a: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acquire()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(or </a:t>
            </a: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wait()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). The counter decreases. If the counter is zero, the thread blocks.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996196" y="5803344"/>
            <a:ext cx="6219230" cy="199192"/>
          </a:xfrm>
          <a:prstGeom prst="roundRect">
            <a:avLst>
              <a:gd name="adj" fmla="val 4201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7349" y="5604153"/>
            <a:ext cx="597694" cy="597694"/>
          </a:xfrm>
          <a:prstGeom prst="roundRect">
            <a:avLst>
              <a:gd name="adj" fmla="val 7649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6773" y="5753576"/>
            <a:ext cx="298847" cy="2988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541" y="6401038"/>
            <a:ext cx="3735705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Execute Critical Section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896541" y="6831925"/>
            <a:ext cx="6119813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thread uses the protected resource safely.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7713583" y="5504498"/>
            <a:ext cx="6219349" cy="199192"/>
          </a:xfrm>
          <a:prstGeom prst="roundRect">
            <a:avLst>
              <a:gd name="adj" fmla="val 42016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14736" y="5305306"/>
            <a:ext cx="597694" cy="597694"/>
          </a:xfrm>
          <a:prstGeom prst="roundRect">
            <a:avLst>
              <a:gd name="adj" fmla="val 76494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64160" y="5454729"/>
            <a:ext cx="298847" cy="2988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13928" y="6102191"/>
            <a:ext cx="2490787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Release (Signal)</a:t>
            </a:r>
            <a:endParaRPr lang="en-US" sz="1950" dirty="0"/>
          </a:p>
        </p:txBody>
      </p:sp>
      <p:sp>
        <p:nvSpPr>
          <p:cNvPr id="23" name="Text 17"/>
          <p:cNvSpPr/>
          <p:nvPr/>
        </p:nvSpPr>
        <p:spPr>
          <a:xfrm>
            <a:off x="7613928" y="6533078"/>
            <a:ext cx="6119932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thread calls </a:t>
            </a: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release()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(or </a:t>
            </a:r>
            <a:r>
              <a:rPr lang="en-US" sz="15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signal()</a:t>
            </a:r>
            <a:r>
              <a:rPr lang="en-US" sz="15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). The counter increases, potentially unblocking a waiting thread.</a:t>
            </a:r>
            <a:endParaRPr lang="en-US" sz="15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88D8ED-E6DF-4746-A6D9-EC5886ED44FF}"/>
              </a:ext>
            </a:extLst>
          </p:cNvPr>
          <p:cNvSpPr/>
          <p:nvPr/>
        </p:nvSpPr>
        <p:spPr>
          <a:xfrm>
            <a:off x="12691068" y="7345345"/>
            <a:ext cx="1939332" cy="8842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0192" y="586740"/>
            <a:ext cx="8884682" cy="51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Summary: Choosing the Right Tool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580192" y="1436251"/>
            <a:ext cx="13470017" cy="530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Selecting the appropriate synchronization primitive is key to building performant and correct concurrent applications. Efficiency generally decreases as we move up the stack, but complexity management improves.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80192" y="6673215"/>
            <a:ext cx="13470017" cy="969526"/>
          </a:xfrm>
          <a:prstGeom prst="roundRect">
            <a:avLst>
              <a:gd name="adj" fmla="val 7181"/>
            </a:avLst>
          </a:prstGeom>
          <a:solidFill>
            <a:srgbClr val="C1F1E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27" y="6925866"/>
            <a:ext cx="207169" cy="16573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18830" y="6880384"/>
            <a:ext cx="12765643" cy="530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Always start with high-level locks (Mutexes) unless performance analysis proves lock contention is a bottleneck, in which case, explore lock-free structures built with Atomic Variables.</a:t>
            </a:r>
            <a:endParaRPr lang="en-US" sz="13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359A37-ACF9-4B81-85FE-1FE339848EE0}"/>
              </a:ext>
            </a:extLst>
          </p:cNvPr>
          <p:cNvSpPr/>
          <p:nvPr/>
        </p:nvSpPr>
        <p:spPr>
          <a:xfrm>
            <a:off x="12691068" y="7699296"/>
            <a:ext cx="1939332" cy="530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E59795C-CC97-4BE5-981A-0110D3481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334" y="1966555"/>
            <a:ext cx="14064633" cy="46501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527</Words>
  <Application>Microsoft Office PowerPoint</Application>
  <PresentationFormat>Custom</PresentationFormat>
  <Paragraphs>48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Unbounded Bold</vt:lpstr>
      <vt:lpstr>Calibri</vt:lpstr>
      <vt:lpstr>Open Sans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Midou</cp:lastModifiedBy>
  <cp:revision>3</cp:revision>
  <dcterms:created xsi:type="dcterms:W3CDTF">2025-10-29T07:33:13Z</dcterms:created>
  <dcterms:modified xsi:type="dcterms:W3CDTF">2025-10-29T08:16:36Z</dcterms:modified>
</cp:coreProperties>
</file>