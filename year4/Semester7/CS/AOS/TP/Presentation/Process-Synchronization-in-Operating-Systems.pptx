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4" r:id="rId8"/>
    <p:sldId id="265" r:id="rId9"/>
    <p:sldId id="266" r:id="rId10"/>
    <p:sldId id="262" r:id="rId11"/>
    <p:sldId id="263" r:id="rId12"/>
  </p:sldIdLst>
  <p:sldSz cx="14630400" cy="8229600"/>
  <p:notesSz cx="8229600" cy="14630400"/>
  <p:embeddedFontLst>
    <p:embeddedFont>
      <p:font typeface="Calibri" panose="020F0502020204030204" pitchFamily="34" charset="0"/>
      <p:regular r:id="rId14"/>
      <p:bold r:id="rId15"/>
      <p:italic r:id="rId16"/>
      <p:boldItalic r:id="rId17"/>
    </p:embeddedFont>
    <p:embeddedFont>
      <p:font typeface="Open Sans" panose="020B0604020202020204" charset="0"/>
      <p:regular r:id="rId18"/>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2031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700099"/>
            <a:ext cx="7556421" cy="2126337"/>
          </a:xfrm>
          <a:prstGeom prst="rect">
            <a:avLst/>
          </a:prstGeom>
          <a:noFill/>
          <a:ln/>
        </p:spPr>
        <p:txBody>
          <a:bodyPr wrap="squar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Process Synchronization in Operating Systems</a:t>
            </a:r>
            <a:endParaRPr lang="en-US" sz="4450" dirty="0"/>
          </a:p>
        </p:txBody>
      </p:sp>
      <p:sp>
        <p:nvSpPr>
          <p:cNvPr id="4" name="Text 1"/>
          <p:cNvSpPr/>
          <p:nvPr/>
        </p:nvSpPr>
        <p:spPr>
          <a:xfrm>
            <a:off x="793790" y="516659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Abdelmalek moahmmed riad, 4eme ing coputer security, 21/10/2025</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238613"/>
            <a:ext cx="13042822" cy="708779"/>
          </a:xfrm>
          <a:prstGeom prst="rect">
            <a:avLst/>
          </a:prstGeom>
          <a:noFill/>
          <a:ln/>
        </p:spPr>
        <p:txBody>
          <a:bodyPr wrap="none" lIns="0" tIns="0" rIns="0" bIns="0" rtlCol="0" anchor="t"/>
          <a:lstStyle/>
          <a:p>
            <a:pPr marL="0" indent="0" algn="ctr">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Introduction</a:t>
            </a:r>
            <a:endParaRPr lang="en-US" sz="4450" dirty="0"/>
          </a:p>
        </p:txBody>
      </p:sp>
      <p:sp>
        <p:nvSpPr>
          <p:cNvPr id="3" name="Shape 1"/>
          <p:cNvSpPr/>
          <p:nvPr/>
        </p:nvSpPr>
        <p:spPr>
          <a:xfrm>
            <a:off x="793790" y="3401020"/>
            <a:ext cx="6407944" cy="2589967"/>
          </a:xfrm>
          <a:prstGeom prst="roundRect">
            <a:avLst>
              <a:gd name="adj" fmla="val 5649"/>
            </a:avLst>
          </a:prstGeom>
          <a:solidFill>
            <a:srgbClr val="FFFFFF"/>
          </a:solidFill>
          <a:ln w="30480">
            <a:solidFill>
              <a:srgbClr val="BCDBD4"/>
            </a:solidFill>
            <a:prstDash val="solid"/>
          </a:ln>
        </p:spPr>
      </p:sp>
      <p:sp>
        <p:nvSpPr>
          <p:cNvPr id="4" name="Shape 2"/>
          <p:cNvSpPr/>
          <p:nvPr/>
        </p:nvSpPr>
        <p:spPr>
          <a:xfrm>
            <a:off x="763310" y="3401020"/>
            <a:ext cx="121920" cy="2589967"/>
          </a:xfrm>
          <a:prstGeom prst="roundRect">
            <a:avLst>
              <a:gd name="adj" fmla="val 78139"/>
            </a:avLst>
          </a:prstGeom>
          <a:solidFill>
            <a:srgbClr val="26A688"/>
          </a:solidFill>
          <a:ln/>
        </p:spPr>
      </p:sp>
      <p:sp>
        <p:nvSpPr>
          <p:cNvPr id="5" name="Text 3"/>
          <p:cNvSpPr/>
          <p:nvPr/>
        </p:nvSpPr>
        <p:spPr>
          <a:xfrm>
            <a:off x="1142524" y="3658314"/>
            <a:ext cx="5801916" cy="850583"/>
          </a:xfrm>
          <a:prstGeom prst="rect">
            <a:avLst/>
          </a:prstGeom>
          <a:noFill/>
          <a:ln/>
        </p:spPr>
        <p:txBody>
          <a:bodyPr wrap="square" lIns="0" tIns="0" rIns="0" bIns="0" rtlCol="0" anchor="t"/>
          <a:lstStyle/>
          <a:p>
            <a:pPr marL="0" indent="0" algn="l">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What is process synchronization?</a:t>
            </a:r>
            <a:endParaRPr lang="en-US" sz="2650" dirty="0"/>
          </a:p>
        </p:txBody>
      </p:sp>
      <p:sp>
        <p:nvSpPr>
          <p:cNvPr id="6" name="Text 4"/>
          <p:cNvSpPr/>
          <p:nvPr/>
        </p:nvSpPr>
        <p:spPr>
          <a:xfrm>
            <a:off x="1142524" y="4644985"/>
            <a:ext cx="5801916"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The coordination of processes to ensure that they execute correctly and share resources efficiently, especially when accessing shared data.</a:t>
            </a:r>
            <a:endParaRPr lang="en-US" sz="1750" dirty="0"/>
          </a:p>
        </p:txBody>
      </p:sp>
      <p:sp>
        <p:nvSpPr>
          <p:cNvPr id="7" name="Shape 5"/>
          <p:cNvSpPr/>
          <p:nvPr/>
        </p:nvSpPr>
        <p:spPr>
          <a:xfrm>
            <a:off x="7428548" y="3401020"/>
            <a:ext cx="6408063" cy="2589967"/>
          </a:xfrm>
          <a:prstGeom prst="roundRect">
            <a:avLst>
              <a:gd name="adj" fmla="val 5649"/>
            </a:avLst>
          </a:prstGeom>
          <a:solidFill>
            <a:srgbClr val="FFFFFF"/>
          </a:solidFill>
          <a:ln w="30480">
            <a:solidFill>
              <a:srgbClr val="BCDBD4"/>
            </a:solidFill>
            <a:prstDash val="solid"/>
          </a:ln>
        </p:spPr>
      </p:sp>
      <p:sp>
        <p:nvSpPr>
          <p:cNvPr id="8" name="Shape 6"/>
          <p:cNvSpPr/>
          <p:nvPr/>
        </p:nvSpPr>
        <p:spPr>
          <a:xfrm>
            <a:off x="7398067" y="3401020"/>
            <a:ext cx="121920" cy="2589967"/>
          </a:xfrm>
          <a:prstGeom prst="roundRect">
            <a:avLst>
              <a:gd name="adj" fmla="val 78139"/>
            </a:avLst>
          </a:prstGeom>
          <a:solidFill>
            <a:srgbClr val="26A688"/>
          </a:solidFill>
          <a:ln/>
        </p:spPr>
      </p:sp>
      <p:sp>
        <p:nvSpPr>
          <p:cNvPr id="9" name="Text 7"/>
          <p:cNvSpPr/>
          <p:nvPr/>
        </p:nvSpPr>
        <p:spPr>
          <a:xfrm>
            <a:off x="7777282" y="3658314"/>
            <a:ext cx="5802035" cy="850583"/>
          </a:xfrm>
          <a:prstGeom prst="rect">
            <a:avLst/>
          </a:prstGeom>
          <a:noFill/>
          <a:ln/>
        </p:spPr>
        <p:txBody>
          <a:bodyPr wrap="square" lIns="0" tIns="0" rIns="0" bIns="0" rtlCol="0" anchor="t"/>
          <a:lstStyle/>
          <a:p>
            <a:pPr marL="0" indent="0" algn="l">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Short overview of what will be covered</a:t>
            </a:r>
            <a:endParaRPr lang="en-US" sz="2650" dirty="0"/>
          </a:p>
        </p:txBody>
      </p:sp>
      <p:sp>
        <p:nvSpPr>
          <p:cNvPr id="10" name="Text 8"/>
          <p:cNvSpPr/>
          <p:nvPr/>
        </p:nvSpPr>
        <p:spPr>
          <a:xfrm>
            <a:off x="7777282" y="4644985"/>
            <a:ext cx="5802035"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We will explore basic notions, the synchronization problem, critical sections, and common solutions like Peterson's, locks, and semaphores.</a:t>
            </a:r>
            <a:endParaRPr lang="en-US" sz="17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241160"/>
            <a:ext cx="14630399" cy="651142"/>
          </a:xfrm>
          <a:prstGeom prst="rect">
            <a:avLst/>
          </a:prstGeom>
          <a:noFill/>
          <a:ln/>
        </p:spPr>
        <p:txBody>
          <a:bodyPr wrap="none" lIns="0" tIns="0" rIns="0" bIns="0" rtlCol="0" anchor="t"/>
          <a:lstStyle/>
          <a:p>
            <a:pPr marL="0" indent="0" algn="ctr">
              <a:lnSpc>
                <a:spcPts val="3450"/>
              </a:lnSpc>
              <a:buNone/>
            </a:pPr>
            <a:r>
              <a:rPr lang="en-US" sz="2750" b="1" dirty="0">
                <a:solidFill>
                  <a:srgbClr val="333F70"/>
                </a:solidFill>
                <a:latin typeface="Unbounded Bold" pitchFamily="34" charset="0"/>
                <a:ea typeface="Unbounded Bold" pitchFamily="34" charset="-122"/>
                <a:cs typeface="Unbounded Bold" pitchFamily="34" charset="-120"/>
              </a:rPr>
              <a:t>Reminder of Basic Notions</a:t>
            </a:r>
            <a:endParaRPr lang="en-US" sz="2750" dirty="0"/>
          </a:p>
        </p:txBody>
      </p:sp>
      <p:sp>
        <p:nvSpPr>
          <p:cNvPr id="3" name="Text 1"/>
          <p:cNvSpPr/>
          <p:nvPr/>
        </p:nvSpPr>
        <p:spPr>
          <a:xfrm>
            <a:off x="-261258" y="1669752"/>
            <a:ext cx="14630399" cy="651141"/>
          </a:xfrm>
          <a:prstGeom prst="rect">
            <a:avLst/>
          </a:prstGeom>
          <a:noFill/>
          <a:ln/>
        </p:spPr>
        <p:txBody>
          <a:bodyPr wrap="none" lIns="0" tIns="0" rIns="0" bIns="0" rtlCol="0" anchor="t"/>
          <a:lstStyle/>
          <a:p>
            <a:pPr marL="0" indent="0" algn="ctr">
              <a:lnSpc>
                <a:spcPts val="1700"/>
              </a:lnSpc>
              <a:buNone/>
            </a:pPr>
            <a:r>
              <a:rPr lang="en-US" sz="2400" b="1" dirty="0">
                <a:solidFill>
                  <a:srgbClr val="333F70"/>
                </a:solidFill>
                <a:latin typeface="Unbounded Bold" pitchFamily="34" charset="0"/>
                <a:ea typeface="Unbounded Bold" pitchFamily="34" charset="-122"/>
                <a:cs typeface="Unbounded Bold" pitchFamily="34" charset="-120"/>
              </a:rPr>
              <a:t>Cooperating Process</a:t>
            </a:r>
            <a:endParaRPr lang="en-US" sz="2400" dirty="0"/>
          </a:p>
        </p:txBody>
      </p:sp>
      <p:sp>
        <p:nvSpPr>
          <p:cNvPr id="4" name="Text 2"/>
          <p:cNvSpPr/>
          <p:nvPr/>
        </p:nvSpPr>
        <p:spPr>
          <a:xfrm>
            <a:off x="2933873" y="6551745"/>
            <a:ext cx="9526328" cy="1426648"/>
          </a:xfrm>
          <a:prstGeom prst="rect">
            <a:avLst/>
          </a:prstGeom>
          <a:noFill/>
          <a:ln/>
        </p:spPr>
        <p:txBody>
          <a:bodyPr wrap="none" lIns="0" tIns="0" rIns="0" bIns="0" rtlCol="0" anchor="t"/>
          <a:lstStyle/>
          <a:p>
            <a:pPr marL="0" indent="0" algn="ctr">
              <a:lnSpc>
                <a:spcPts val="1750"/>
              </a:lnSpc>
              <a:buNone/>
            </a:pPr>
            <a:r>
              <a:rPr lang="en-US" sz="3200" dirty="0">
                <a:solidFill>
                  <a:srgbClr val="333F70"/>
                </a:solidFill>
                <a:latin typeface="Open Sans" pitchFamily="34" charset="0"/>
                <a:ea typeface="Open Sans" pitchFamily="34" charset="-122"/>
                <a:cs typeface="Open Sans" pitchFamily="34" charset="-120"/>
              </a:rPr>
              <a:t>A process that can affect or be affected </a:t>
            </a:r>
          </a:p>
          <a:p>
            <a:pPr marL="0" indent="0" algn="ctr">
              <a:lnSpc>
                <a:spcPts val="1750"/>
              </a:lnSpc>
              <a:buNone/>
            </a:pPr>
            <a:endParaRPr lang="en-US" sz="3200" dirty="0">
              <a:solidFill>
                <a:srgbClr val="333F70"/>
              </a:solidFill>
              <a:latin typeface="Open Sans" pitchFamily="34" charset="0"/>
              <a:ea typeface="Open Sans" pitchFamily="34" charset="-122"/>
              <a:cs typeface="Open Sans" pitchFamily="34" charset="-120"/>
            </a:endParaRPr>
          </a:p>
          <a:p>
            <a:pPr marL="0" indent="0" algn="ctr">
              <a:lnSpc>
                <a:spcPts val="1750"/>
              </a:lnSpc>
              <a:buNone/>
            </a:pPr>
            <a:r>
              <a:rPr lang="en-US" sz="3200" dirty="0">
                <a:solidFill>
                  <a:srgbClr val="333F70"/>
                </a:solidFill>
                <a:latin typeface="Open Sans" pitchFamily="34" charset="0"/>
                <a:ea typeface="Open Sans" pitchFamily="34" charset="-122"/>
                <a:cs typeface="Open Sans" pitchFamily="34" charset="-120"/>
              </a:rPr>
              <a:t>by other processes executing in the system.</a:t>
            </a:r>
            <a:endParaRPr lang="en-US" sz="3200" dirty="0"/>
          </a:p>
        </p:txBody>
      </p:sp>
      <p:pic>
        <p:nvPicPr>
          <p:cNvPr id="14" name="Picture 13">
            <a:extLst>
              <a:ext uri="{FF2B5EF4-FFF2-40B4-BE49-F238E27FC236}">
                <a16:creationId xmlns:a16="http://schemas.microsoft.com/office/drawing/2014/main" id="{025E77FE-B5BA-47DB-B26A-D2A32C8EC4E4}"/>
              </a:ext>
            </a:extLst>
          </p:cNvPr>
          <p:cNvPicPr>
            <a:picLocks noChangeAspect="1"/>
          </p:cNvPicPr>
          <p:nvPr/>
        </p:nvPicPr>
        <p:blipFill>
          <a:blip r:embed="rId3"/>
          <a:stretch>
            <a:fillRect/>
          </a:stretch>
        </p:blipFill>
        <p:spPr>
          <a:xfrm>
            <a:off x="1094115" y="2501763"/>
            <a:ext cx="11919651" cy="35878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075" y="624721"/>
            <a:ext cx="11327606" cy="708065"/>
          </a:xfrm>
          <a:prstGeom prst="rect">
            <a:avLst/>
          </a:prstGeom>
          <a:noFill/>
          <a:ln/>
        </p:spPr>
        <p:txBody>
          <a:bodyPr wrap="non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The Problem of Synchronization</a:t>
            </a:r>
            <a:endParaRPr lang="en-US" sz="4450" dirty="0"/>
          </a:p>
        </p:txBody>
      </p:sp>
      <p:sp>
        <p:nvSpPr>
          <p:cNvPr id="3" name="Text 1"/>
          <p:cNvSpPr/>
          <p:nvPr/>
        </p:nvSpPr>
        <p:spPr>
          <a:xfrm>
            <a:off x="793075" y="1785938"/>
            <a:ext cx="13044249" cy="362426"/>
          </a:xfrm>
          <a:prstGeom prst="rect">
            <a:avLst/>
          </a:prstGeom>
          <a:noFill/>
          <a:ln/>
        </p:spPr>
        <p:txBody>
          <a:bodyPr wrap="none" lIns="0" tIns="0" rIns="0" bIns="0" rtlCol="0" anchor="t"/>
          <a:lstStyle/>
          <a:p>
            <a:pPr marL="0" indent="0" algn="ctr">
              <a:lnSpc>
                <a:spcPts val="2850"/>
              </a:lnSpc>
              <a:buNone/>
            </a:pPr>
            <a:r>
              <a:rPr lang="en-US" sz="1750" dirty="0">
                <a:solidFill>
                  <a:srgbClr val="333F70"/>
                </a:solidFill>
                <a:latin typeface="Open Sans" pitchFamily="34" charset="0"/>
                <a:ea typeface="Open Sans" pitchFamily="34" charset="-122"/>
                <a:cs typeface="Open Sans" pitchFamily="34" charset="-120"/>
              </a:rPr>
              <a:t>When multiple processes access shared data, problems arise if the execution order is not controlled.</a:t>
            </a:r>
            <a:endParaRPr lang="en-US" sz="1750" dirty="0"/>
          </a:p>
        </p:txBody>
      </p:sp>
      <p:sp>
        <p:nvSpPr>
          <p:cNvPr id="4" name="Shape 2"/>
          <p:cNvSpPr/>
          <p:nvPr/>
        </p:nvSpPr>
        <p:spPr>
          <a:xfrm>
            <a:off x="793075" y="2743200"/>
            <a:ext cx="6408777" cy="2754749"/>
          </a:xfrm>
          <a:prstGeom prst="roundRect">
            <a:avLst>
              <a:gd name="adj" fmla="val 5311"/>
            </a:avLst>
          </a:prstGeom>
          <a:solidFill>
            <a:srgbClr val="FFFFFF"/>
          </a:solidFill>
          <a:ln/>
        </p:spPr>
      </p:sp>
      <p:sp>
        <p:nvSpPr>
          <p:cNvPr id="5" name="Shape 3"/>
          <p:cNvSpPr/>
          <p:nvPr/>
        </p:nvSpPr>
        <p:spPr>
          <a:xfrm>
            <a:off x="793075" y="2712720"/>
            <a:ext cx="6408777" cy="121920"/>
          </a:xfrm>
          <a:prstGeom prst="roundRect">
            <a:avLst>
              <a:gd name="adj" fmla="val 78068"/>
            </a:avLst>
          </a:prstGeom>
          <a:solidFill>
            <a:srgbClr val="26A688"/>
          </a:solidFill>
          <a:ln/>
        </p:spPr>
      </p:sp>
      <p:sp>
        <p:nvSpPr>
          <p:cNvPr id="6" name="Shape 4"/>
          <p:cNvSpPr/>
          <p:nvPr/>
        </p:nvSpPr>
        <p:spPr>
          <a:xfrm>
            <a:off x="3657481" y="2403277"/>
            <a:ext cx="679847" cy="679847"/>
          </a:xfrm>
          <a:prstGeom prst="roundRect">
            <a:avLst>
              <a:gd name="adj" fmla="val 134501"/>
            </a:avLst>
          </a:prstGeom>
          <a:solidFill>
            <a:srgbClr val="26A688"/>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61435" y="2607112"/>
            <a:ext cx="271939" cy="271939"/>
          </a:xfrm>
          <a:prstGeom prst="rect">
            <a:avLst/>
          </a:prstGeom>
        </p:spPr>
      </p:pic>
      <p:sp>
        <p:nvSpPr>
          <p:cNvPr id="8" name="Text 5"/>
          <p:cNvSpPr/>
          <p:nvPr/>
        </p:nvSpPr>
        <p:spPr>
          <a:xfrm>
            <a:off x="1070227" y="3309699"/>
            <a:ext cx="5894665" cy="1061918"/>
          </a:xfrm>
          <a:prstGeom prst="rect">
            <a:avLst/>
          </a:prstGeom>
          <a:noFill/>
          <a:ln/>
        </p:spPr>
        <p:txBody>
          <a:bodyPr wrap="square" lIns="0" tIns="0" rIns="0" bIns="0" rtlCol="0" anchor="t"/>
          <a:lstStyle/>
          <a:p>
            <a:pPr marL="0" indent="0" algn="ctr">
              <a:lnSpc>
                <a:spcPts val="2750"/>
              </a:lnSpc>
              <a:buNone/>
            </a:pPr>
            <a:r>
              <a:rPr lang="en-US" sz="2200" b="1" u="sng" dirty="0">
                <a:solidFill>
                  <a:srgbClr val="333F70"/>
                </a:solidFill>
                <a:latin typeface="Unbounded Bold" pitchFamily="34" charset="0"/>
                <a:ea typeface="Unbounded Bold" pitchFamily="34" charset="-122"/>
                <a:cs typeface="Unbounded Bold" pitchFamily="34" charset="-120"/>
              </a:rPr>
              <a:t>data inconsistency</a:t>
            </a:r>
            <a:endParaRPr lang="en-US" sz="2200" u="sng" dirty="0"/>
          </a:p>
        </p:txBody>
      </p:sp>
      <p:sp>
        <p:nvSpPr>
          <p:cNvPr id="10" name="Shape 7"/>
          <p:cNvSpPr/>
          <p:nvPr/>
        </p:nvSpPr>
        <p:spPr>
          <a:xfrm>
            <a:off x="7428428" y="2743200"/>
            <a:ext cx="6408896" cy="2754749"/>
          </a:xfrm>
          <a:prstGeom prst="roundRect">
            <a:avLst>
              <a:gd name="adj" fmla="val 5311"/>
            </a:avLst>
          </a:prstGeom>
          <a:solidFill>
            <a:srgbClr val="FFFFFF"/>
          </a:solidFill>
          <a:ln/>
        </p:spPr>
      </p:sp>
      <p:sp>
        <p:nvSpPr>
          <p:cNvPr id="11" name="Shape 8"/>
          <p:cNvSpPr/>
          <p:nvPr/>
        </p:nvSpPr>
        <p:spPr>
          <a:xfrm>
            <a:off x="7428428" y="2712720"/>
            <a:ext cx="6408896" cy="121920"/>
          </a:xfrm>
          <a:prstGeom prst="roundRect">
            <a:avLst>
              <a:gd name="adj" fmla="val 78068"/>
            </a:avLst>
          </a:prstGeom>
          <a:solidFill>
            <a:srgbClr val="26A688"/>
          </a:solidFill>
          <a:ln/>
        </p:spPr>
      </p:sp>
      <p:sp>
        <p:nvSpPr>
          <p:cNvPr id="12" name="Shape 9"/>
          <p:cNvSpPr/>
          <p:nvPr/>
        </p:nvSpPr>
        <p:spPr>
          <a:xfrm>
            <a:off x="10292953" y="2403277"/>
            <a:ext cx="679847" cy="679847"/>
          </a:xfrm>
          <a:prstGeom prst="roundRect">
            <a:avLst>
              <a:gd name="adj" fmla="val 134501"/>
            </a:avLst>
          </a:prstGeom>
          <a:solidFill>
            <a:srgbClr val="26A688"/>
          </a:solidFill>
          <a:ln/>
        </p:spPr>
      </p:sp>
      <p:pic>
        <p:nvPicPr>
          <p:cNvPr id="13" name="Image 1"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10496907" y="2607112"/>
            <a:ext cx="271939" cy="271939"/>
          </a:xfrm>
          <a:prstGeom prst="rect">
            <a:avLst/>
          </a:prstGeom>
        </p:spPr>
      </p:pic>
      <p:sp>
        <p:nvSpPr>
          <p:cNvPr id="14" name="Text 10"/>
          <p:cNvSpPr/>
          <p:nvPr/>
        </p:nvSpPr>
        <p:spPr>
          <a:xfrm>
            <a:off x="7685484" y="3309699"/>
            <a:ext cx="5894784" cy="707946"/>
          </a:xfrm>
          <a:prstGeom prst="rect">
            <a:avLst/>
          </a:prstGeom>
          <a:noFill/>
          <a:ln/>
        </p:spPr>
        <p:txBody>
          <a:bodyPr wrap="square" lIns="0" tIns="0" rIns="0" bIns="0" rtlCol="0" anchor="t"/>
          <a:lstStyle/>
          <a:p>
            <a:pPr marL="0" indent="0" algn="ctr">
              <a:lnSpc>
                <a:spcPts val="2750"/>
              </a:lnSpc>
              <a:buNone/>
            </a:pPr>
            <a:r>
              <a:rPr lang="en-US" sz="2200" b="1" u="sng" dirty="0">
                <a:solidFill>
                  <a:srgbClr val="333F70"/>
                </a:solidFill>
                <a:latin typeface="Unbounded Bold" pitchFamily="34" charset="0"/>
                <a:ea typeface="Unbounded Bold" pitchFamily="34" charset="-122"/>
                <a:cs typeface="Unbounded Bold" pitchFamily="34" charset="-120"/>
              </a:rPr>
              <a:t>race conditions</a:t>
            </a:r>
            <a:endParaRPr lang="en-US" sz="2200" u="sng" dirty="0"/>
          </a:p>
        </p:txBody>
      </p:sp>
      <p:pic>
        <p:nvPicPr>
          <p:cNvPr id="20" name="Picture 19">
            <a:extLst>
              <a:ext uri="{FF2B5EF4-FFF2-40B4-BE49-F238E27FC236}">
                <a16:creationId xmlns:a16="http://schemas.microsoft.com/office/drawing/2014/main" id="{2BC2F32F-D3E3-44F1-8820-97EA77C1BCF0}"/>
              </a:ext>
            </a:extLst>
          </p:cNvPr>
          <p:cNvPicPr>
            <a:picLocks noChangeAspect="1"/>
          </p:cNvPicPr>
          <p:nvPr/>
        </p:nvPicPr>
        <p:blipFill>
          <a:blip r:embed="rId6"/>
          <a:stretch>
            <a:fillRect/>
          </a:stretch>
        </p:blipFill>
        <p:spPr>
          <a:xfrm>
            <a:off x="659776" y="4063199"/>
            <a:ext cx="6090108" cy="312137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26" name="Picture 25">
            <a:extLst>
              <a:ext uri="{FF2B5EF4-FFF2-40B4-BE49-F238E27FC236}">
                <a16:creationId xmlns:a16="http://schemas.microsoft.com/office/drawing/2014/main" id="{F28AC767-4F9D-45E4-915B-141FD798F01E}"/>
              </a:ext>
            </a:extLst>
          </p:cNvPr>
          <p:cNvPicPr>
            <a:picLocks noChangeAspect="1"/>
          </p:cNvPicPr>
          <p:nvPr/>
        </p:nvPicPr>
        <p:blipFill>
          <a:blip r:embed="rId7"/>
          <a:stretch>
            <a:fillRect/>
          </a:stretch>
        </p:blipFill>
        <p:spPr>
          <a:xfrm>
            <a:off x="7202922" y="4253472"/>
            <a:ext cx="7192429" cy="274082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0074" y="465892"/>
            <a:ext cx="7457718" cy="526852"/>
          </a:xfrm>
          <a:prstGeom prst="rect">
            <a:avLst/>
          </a:prstGeom>
          <a:noFill/>
          <a:ln/>
        </p:spPr>
        <p:txBody>
          <a:bodyPr wrap="none" lIns="0" tIns="0" rIns="0" bIns="0" rtlCol="0" anchor="t"/>
          <a:lstStyle/>
          <a:p>
            <a:pPr marL="0" indent="0" algn="l">
              <a:lnSpc>
                <a:spcPts val="4100"/>
              </a:lnSpc>
              <a:buNone/>
            </a:pPr>
            <a:r>
              <a:rPr lang="en-US" sz="3300" b="1" dirty="0">
                <a:solidFill>
                  <a:srgbClr val="333F70"/>
                </a:solidFill>
                <a:latin typeface="Unbounded Bold" pitchFamily="34" charset="0"/>
                <a:ea typeface="Unbounded Bold" pitchFamily="34" charset="-122"/>
                <a:cs typeface="Unbounded Bold" pitchFamily="34" charset="-120"/>
              </a:rPr>
              <a:t>Definition of Critical Section</a:t>
            </a:r>
            <a:endParaRPr lang="en-US" sz="3300" dirty="0"/>
          </a:p>
        </p:txBody>
      </p:sp>
      <p:sp>
        <p:nvSpPr>
          <p:cNvPr id="3" name="Text 1"/>
          <p:cNvSpPr/>
          <p:nvPr/>
        </p:nvSpPr>
        <p:spPr>
          <a:xfrm>
            <a:off x="590074" y="1199302"/>
            <a:ext cx="13450253" cy="897612"/>
          </a:xfrm>
          <a:prstGeom prst="rect">
            <a:avLst/>
          </a:prstGeom>
          <a:noFill/>
          <a:ln/>
        </p:spPr>
        <p:txBody>
          <a:bodyPr wrap="square" lIns="0" tIns="0" rIns="0" bIns="0" rtlCol="0" anchor="t"/>
          <a:lstStyle/>
          <a:p>
            <a:pPr marL="0" indent="0" algn="ctr">
              <a:lnSpc>
                <a:spcPts val="2100"/>
              </a:lnSpc>
              <a:buNone/>
            </a:pPr>
            <a:r>
              <a:rPr lang="en-US" sz="2000" b="1" dirty="0">
                <a:solidFill>
                  <a:srgbClr val="333F70"/>
                </a:solidFill>
                <a:latin typeface="Open Sans" pitchFamily="34" charset="0"/>
                <a:ea typeface="Open Sans" pitchFamily="34" charset="-122"/>
                <a:cs typeface="Open Sans" pitchFamily="34" charset="-120"/>
              </a:rPr>
              <a:t>Critical Section (CS) :</a:t>
            </a:r>
          </a:p>
          <a:p>
            <a:pPr marL="0" indent="0" algn="ctr">
              <a:lnSpc>
                <a:spcPts val="2100"/>
              </a:lnSpc>
              <a:buNone/>
            </a:pPr>
            <a:br>
              <a:rPr lang="en-US" sz="2000" b="1" dirty="0">
                <a:solidFill>
                  <a:srgbClr val="333F70"/>
                </a:solidFill>
                <a:latin typeface="Open Sans" pitchFamily="34" charset="0"/>
                <a:ea typeface="Open Sans" pitchFamily="34" charset="-122"/>
                <a:cs typeface="Open Sans" pitchFamily="34" charset="-120"/>
              </a:rPr>
            </a:br>
            <a:r>
              <a:rPr lang="en-US" sz="1600" dirty="0">
                <a:solidFill>
                  <a:srgbClr val="333F70"/>
                </a:solidFill>
                <a:latin typeface="Open Sans" pitchFamily="34" charset="0"/>
                <a:ea typeface="Open Sans" pitchFamily="34" charset="-122"/>
                <a:cs typeface="Open Sans" pitchFamily="34" charset="-120"/>
              </a:rPr>
              <a:t>is a segment of code where two or more processes may be changing shared variables (attributes) , code (functions and procedures) </a:t>
            </a:r>
            <a:endParaRPr lang="en-US" sz="1600" dirty="0"/>
          </a:p>
        </p:txBody>
      </p:sp>
      <p:sp>
        <p:nvSpPr>
          <p:cNvPr id="4" name="Text 2"/>
          <p:cNvSpPr/>
          <p:nvPr/>
        </p:nvSpPr>
        <p:spPr>
          <a:xfrm>
            <a:off x="1484373" y="2740011"/>
            <a:ext cx="4750594" cy="316111"/>
          </a:xfrm>
          <a:prstGeom prst="rect">
            <a:avLst/>
          </a:prstGeom>
          <a:noFill/>
          <a:ln/>
        </p:spPr>
        <p:txBody>
          <a:bodyPr wrap="none" lIns="0" tIns="0" rIns="0" bIns="0" rtlCol="0" anchor="t"/>
          <a:lstStyle/>
          <a:p>
            <a:pPr marL="0" indent="0" algn="l">
              <a:lnSpc>
                <a:spcPts val="2450"/>
              </a:lnSpc>
              <a:buNone/>
            </a:pPr>
            <a:r>
              <a:rPr lang="en-US" sz="2800" b="1" dirty="0">
                <a:solidFill>
                  <a:srgbClr val="333F70"/>
                </a:solidFill>
                <a:latin typeface="Unbounded Bold" pitchFamily="34" charset="0"/>
                <a:ea typeface="Unbounded Bold" pitchFamily="34" charset="-122"/>
                <a:cs typeface="Unbounded Bold" pitchFamily="34" charset="-120"/>
              </a:rPr>
              <a:t>Structure of a Process</a:t>
            </a:r>
            <a:endParaRPr lang="en-US" sz="2800" dirty="0"/>
          </a:p>
        </p:txBody>
      </p:sp>
      <p:sp>
        <p:nvSpPr>
          <p:cNvPr id="5" name="Text 3"/>
          <p:cNvSpPr/>
          <p:nvPr/>
        </p:nvSpPr>
        <p:spPr>
          <a:xfrm>
            <a:off x="2037032" y="3615136"/>
            <a:ext cx="6519505" cy="269677"/>
          </a:xfrm>
          <a:prstGeom prst="rect">
            <a:avLst/>
          </a:prstGeom>
          <a:noFill/>
          <a:ln/>
        </p:spPr>
        <p:txBody>
          <a:bodyPr wrap="none" lIns="0" tIns="0" rIns="0" bIns="0" rtlCol="0" anchor="t"/>
          <a:lstStyle/>
          <a:p>
            <a:pPr marL="342900" indent="-342900" algn="ctr">
              <a:lnSpc>
                <a:spcPts val="2100"/>
              </a:lnSpc>
              <a:buSzPct val="100000"/>
              <a:buChar char="•"/>
            </a:pPr>
            <a:r>
              <a:rPr lang="en-US" sz="2800" dirty="0">
                <a:solidFill>
                  <a:srgbClr val="333F70"/>
                </a:solidFill>
                <a:latin typeface="Open Sans" pitchFamily="34" charset="0"/>
                <a:ea typeface="Open Sans" pitchFamily="34" charset="-122"/>
                <a:cs typeface="Open Sans" pitchFamily="34" charset="-120"/>
              </a:rPr>
              <a:t>entry section</a:t>
            </a:r>
            <a:endParaRPr lang="en-US" sz="2800" dirty="0"/>
          </a:p>
        </p:txBody>
      </p:sp>
      <p:sp>
        <p:nvSpPr>
          <p:cNvPr id="6" name="Text 4"/>
          <p:cNvSpPr/>
          <p:nvPr/>
        </p:nvSpPr>
        <p:spPr>
          <a:xfrm>
            <a:off x="2121695" y="4430895"/>
            <a:ext cx="6519505" cy="269677"/>
          </a:xfrm>
          <a:prstGeom prst="rect">
            <a:avLst/>
          </a:prstGeom>
          <a:noFill/>
          <a:ln/>
        </p:spPr>
        <p:txBody>
          <a:bodyPr wrap="none" lIns="0" tIns="0" rIns="0" bIns="0" rtlCol="0" anchor="t"/>
          <a:lstStyle/>
          <a:p>
            <a:pPr marL="342900" indent="-342900" algn="ctr">
              <a:lnSpc>
                <a:spcPts val="2100"/>
              </a:lnSpc>
              <a:buSzPct val="100000"/>
              <a:buChar char="•"/>
            </a:pPr>
            <a:r>
              <a:rPr lang="en-US" sz="2800" b="1" u="sng" dirty="0">
                <a:solidFill>
                  <a:srgbClr val="333F70"/>
                </a:solidFill>
                <a:latin typeface="Open Sans" pitchFamily="34" charset="0"/>
                <a:ea typeface="Open Sans" pitchFamily="34" charset="-122"/>
                <a:cs typeface="Open Sans" pitchFamily="34" charset="-120"/>
              </a:rPr>
              <a:t>critical section</a:t>
            </a:r>
            <a:endParaRPr lang="en-US" sz="2800" b="1" u="sng" dirty="0"/>
          </a:p>
        </p:txBody>
      </p:sp>
      <p:sp>
        <p:nvSpPr>
          <p:cNvPr id="7" name="Text 5"/>
          <p:cNvSpPr/>
          <p:nvPr/>
        </p:nvSpPr>
        <p:spPr>
          <a:xfrm>
            <a:off x="1866214" y="5296720"/>
            <a:ext cx="6519505" cy="269677"/>
          </a:xfrm>
          <a:prstGeom prst="rect">
            <a:avLst/>
          </a:prstGeom>
          <a:noFill/>
          <a:ln/>
        </p:spPr>
        <p:txBody>
          <a:bodyPr wrap="none" lIns="0" tIns="0" rIns="0" bIns="0" rtlCol="0" anchor="t"/>
          <a:lstStyle/>
          <a:p>
            <a:pPr marL="342900" indent="-342900" algn="ctr">
              <a:lnSpc>
                <a:spcPts val="2100"/>
              </a:lnSpc>
              <a:buSzPct val="100000"/>
              <a:buChar char="•"/>
            </a:pPr>
            <a:r>
              <a:rPr lang="en-US" sz="2800" dirty="0">
                <a:solidFill>
                  <a:srgbClr val="333F70"/>
                </a:solidFill>
                <a:latin typeface="Open Sans" pitchFamily="34" charset="0"/>
                <a:ea typeface="Open Sans" pitchFamily="34" charset="-122"/>
                <a:cs typeface="Open Sans" pitchFamily="34" charset="-120"/>
              </a:rPr>
              <a:t>exit section</a:t>
            </a:r>
            <a:endParaRPr lang="en-US" sz="2800" dirty="0"/>
          </a:p>
        </p:txBody>
      </p:sp>
      <p:sp>
        <p:nvSpPr>
          <p:cNvPr id="8" name="Text 6"/>
          <p:cNvSpPr/>
          <p:nvPr/>
        </p:nvSpPr>
        <p:spPr>
          <a:xfrm>
            <a:off x="2428918" y="6089974"/>
            <a:ext cx="6519505" cy="269677"/>
          </a:xfrm>
          <a:prstGeom prst="rect">
            <a:avLst/>
          </a:prstGeom>
          <a:noFill/>
          <a:ln/>
        </p:spPr>
        <p:txBody>
          <a:bodyPr wrap="none" lIns="0" tIns="0" rIns="0" bIns="0" rtlCol="0" anchor="t"/>
          <a:lstStyle/>
          <a:p>
            <a:pPr marL="342900" indent="-342900" algn="ctr">
              <a:lnSpc>
                <a:spcPts val="2100"/>
              </a:lnSpc>
              <a:buSzPct val="100000"/>
              <a:buChar char="•"/>
            </a:pPr>
            <a:r>
              <a:rPr lang="en-US" sz="2800" dirty="0">
                <a:solidFill>
                  <a:srgbClr val="333F70"/>
                </a:solidFill>
                <a:latin typeface="Open Sans" pitchFamily="34" charset="0"/>
                <a:ea typeface="Open Sans" pitchFamily="34" charset="-122"/>
                <a:cs typeface="Open Sans" pitchFamily="34" charset="-120"/>
              </a:rPr>
              <a:t>remainder section</a:t>
            </a:r>
            <a:endParaRPr lang="en-US" sz="2800" dirty="0"/>
          </a:p>
        </p:txBody>
      </p:sp>
      <p:sp>
        <p:nvSpPr>
          <p:cNvPr id="9" name="Text 7"/>
          <p:cNvSpPr/>
          <p:nvPr/>
        </p:nvSpPr>
        <p:spPr>
          <a:xfrm>
            <a:off x="7947084" y="2227540"/>
            <a:ext cx="5594706" cy="316111"/>
          </a:xfrm>
          <a:prstGeom prst="rect">
            <a:avLst/>
          </a:prstGeom>
          <a:noFill/>
          <a:ln/>
        </p:spPr>
        <p:txBody>
          <a:bodyPr wrap="none" lIns="0" tIns="0" rIns="0" bIns="0" rtlCol="0" anchor="t"/>
          <a:lstStyle/>
          <a:p>
            <a:pPr marL="0" indent="0" algn="l">
              <a:lnSpc>
                <a:spcPts val="2450"/>
              </a:lnSpc>
              <a:buNone/>
            </a:pPr>
            <a:r>
              <a:rPr lang="en-US" sz="1950" b="1" dirty="0">
                <a:solidFill>
                  <a:srgbClr val="333F70"/>
                </a:solidFill>
                <a:latin typeface="Unbounded Bold" pitchFamily="34" charset="0"/>
                <a:ea typeface="Unbounded Bold" pitchFamily="34" charset="-122"/>
                <a:cs typeface="Unbounded Bold" pitchFamily="34" charset="-120"/>
              </a:rPr>
              <a:t>Requirements for a </a:t>
            </a:r>
            <a:r>
              <a:rPr lang="en-US" sz="2000" b="1" dirty="0">
                <a:solidFill>
                  <a:srgbClr val="333F70"/>
                </a:solidFill>
                <a:latin typeface="Unbounded Bold" pitchFamily="34" charset="0"/>
                <a:ea typeface="Unbounded Bold" pitchFamily="34" charset="-122"/>
                <a:cs typeface="Unbounded Bold" pitchFamily="34" charset="-120"/>
              </a:rPr>
              <a:t>Critical Section</a:t>
            </a:r>
            <a:endParaRPr lang="en-US" sz="1950" dirty="0"/>
          </a:p>
        </p:txBody>
      </p:sp>
      <p:sp>
        <p:nvSpPr>
          <p:cNvPr id="10" name="Shape 8"/>
          <p:cNvSpPr/>
          <p:nvPr/>
        </p:nvSpPr>
        <p:spPr>
          <a:xfrm>
            <a:off x="7528441" y="2733318"/>
            <a:ext cx="379333" cy="379333"/>
          </a:xfrm>
          <a:prstGeom prst="roundRect">
            <a:avLst>
              <a:gd name="adj" fmla="val 18669"/>
            </a:avLst>
          </a:prstGeom>
          <a:solidFill>
            <a:srgbClr val="D6F5EE"/>
          </a:solidFill>
          <a:ln w="7620">
            <a:solidFill>
              <a:srgbClr val="BCDBD4"/>
            </a:solidFill>
            <a:prstDash val="solid"/>
          </a:ln>
        </p:spPr>
      </p:sp>
      <p:sp>
        <p:nvSpPr>
          <p:cNvPr id="11" name="Text 9"/>
          <p:cNvSpPr/>
          <p:nvPr/>
        </p:nvSpPr>
        <p:spPr>
          <a:xfrm>
            <a:off x="8076367" y="2791182"/>
            <a:ext cx="2244447" cy="263366"/>
          </a:xfrm>
          <a:prstGeom prst="rect">
            <a:avLst/>
          </a:prstGeom>
          <a:noFill/>
          <a:ln/>
        </p:spPr>
        <p:txBody>
          <a:bodyPr wrap="none" lIns="0" tIns="0" rIns="0" bIns="0" rtlCol="0" anchor="t"/>
          <a:lstStyle/>
          <a:p>
            <a:pPr marL="0" indent="0" algn="l">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Mutual exclusion</a:t>
            </a:r>
            <a:endParaRPr lang="en-US" sz="1650" dirty="0"/>
          </a:p>
        </p:txBody>
      </p:sp>
      <p:sp>
        <p:nvSpPr>
          <p:cNvPr id="12" name="Text 10"/>
          <p:cNvSpPr/>
          <p:nvPr/>
        </p:nvSpPr>
        <p:spPr>
          <a:xfrm>
            <a:off x="8076367" y="3223141"/>
            <a:ext cx="5971580" cy="539353"/>
          </a:xfrm>
          <a:prstGeom prst="rect">
            <a:avLst/>
          </a:prstGeom>
          <a:noFill/>
          <a:ln/>
        </p:spPr>
        <p:txBody>
          <a:bodyPr wrap="square" lIns="0" tIns="0" rIns="0" bIns="0" rtlCol="0" anchor="t"/>
          <a:lstStyle/>
          <a:p>
            <a:pPr marL="0" indent="0" algn="l">
              <a:lnSpc>
                <a:spcPts val="2100"/>
              </a:lnSpc>
              <a:buNone/>
            </a:pPr>
            <a:r>
              <a:rPr lang="en-US" sz="1300" dirty="0">
                <a:solidFill>
                  <a:srgbClr val="333F70"/>
                </a:solidFill>
                <a:latin typeface="Open Sans" pitchFamily="34" charset="0"/>
                <a:ea typeface="Open Sans" pitchFamily="34" charset="-122"/>
                <a:cs typeface="Open Sans" pitchFamily="34" charset="-120"/>
              </a:rPr>
              <a:t>If one process is executing in its critical section, then no other processes can be executing in their critical sections.</a:t>
            </a:r>
            <a:endParaRPr lang="en-US" sz="1300" dirty="0"/>
          </a:p>
        </p:txBody>
      </p:sp>
      <p:sp>
        <p:nvSpPr>
          <p:cNvPr id="13" name="Shape 11"/>
          <p:cNvSpPr/>
          <p:nvPr/>
        </p:nvSpPr>
        <p:spPr>
          <a:xfrm>
            <a:off x="7528441" y="4099679"/>
            <a:ext cx="379333" cy="379333"/>
          </a:xfrm>
          <a:prstGeom prst="roundRect">
            <a:avLst>
              <a:gd name="adj" fmla="val 18669"/>
            </a:avLst>
          </a:prstGeom>
          <a:solidFill>
            <a:srgbClr val="D6F5EE"/>
          </a:solidFill>
          <a:ln w="7620">
            <a:solidFill>
              <a:srgbClr val="BCDBD4"/>
            </a:solidFill>
            <a:prstDash val="solid"/>
          </a:ln>
        </p:spPr>
      </p:sp>
      <p:sp>
        <p:nvSpPr>
          <p:cNvPr id="14" name="Text 12"/>
          <p:cNvSpPr/>
          <p:nvPr/>
        </p:nvSpPr>
        <p:spPr>
          <a:xfrm>
            <a:off x="8076367" y="4157543"/>
            <a:ext cx="2107525" cy="263366"/>
          </a:xfrm>
          <a:prstGeom prst="rect">
            <a:avLst/>
          </a:prstGeom>
          <a:noFill/>
          <a:ln/>
        </p:spPr>
        <p:txBody>
          <a:bodyPr wrap="none" lIns="0" tIns="0" rIns="0" bIns="0" rtlCol="0" anchor="t"/>
          <a:lstStyle/>
          <a:p>
            <a:pPr marL="0" indent="0" algn="l">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Progress</a:t>
            </a:r>
            <a:endParaRPr lang="en-US" sz="1650" dirty="0"/>
          </a:p>
        </p:txBody>
      </p:sp>
      <p:sp>
        <p:nvSpPr>
          <p:cNvPr id="15" name="Text 13"/>
          <p:cNvSpPr/>
          <p:nvPr/>
        </p:nvSpPr>
        <p:spPr>
          <a:xfrm>
            <a:off x="8076367" y="4589502"/>
            <a:ext cx="5971580" cy="1348383"/>
          </a:xfrm>
          <a:prstGeom prst="rect">
            <a:avLst/>
          </a:prstGeom>
          <a:noFill/>
          <a:ln/>
        </p:spPr>
        <p:txBody>
          <a:bodyPr wrap="square" lIns="0" tIns="0" rIns="0" bIns="0" rtlCol="0" anchor="t"/>
          <a:lstStyle/>
          <a:p>
            <a:pPr marL="0" indent="0" algn="l">
              <a:lnSpc>
                <a:spcPts val="2100"/>
              </a:lnSpc>
              <a:buNone/>
            </a:pPr>
            <a:r>
              <a:rPr lang="en-US" sz="1300" dirty="0">
                <a:solidFill>
                  <a:srgbClr val="333F70"/>
                </a:solidFill>
                <a:latin typeface="Open Sans" pitchFamily="34" charset="0"/>
                <a:ea typeface="Open Sans" pitchFamily="34" charset="-122"/>
                <a:cs typeface="Open Sans" pitchFamily="34" charset="-120"/>
              </a:rPr>
              <a:t>If no process is executing in its critical section and some processes wish to enter their critical sections, then only those processes that are not executing in their remainder sections can participate in deciding which will enter its critical section next.</a:t>
            </a:r>
            <a:endParaRPr lang="en-US" sz="1300" dirty="0"/>
          </a:p>
        </p:txBody>
      </p:sp>
      <p:sp>
        <p:nvSpPr>
          <p:cNvPr id="16" name="Shape 14"/>
          <p:cNvSpPr/>
          <p:nvPr/>
        </p:nvSpPr>
        <p:spPr>
          <a:xfrm>
            <a:off x="7528441" y="6275070"/>
            <a:ext cx="379333" cy="379333"/>
          </a:xfrm>
          <a:prstGeom prst="roundRect">
            <a:avLst>
              <a:gd name="adj" fmla="val 18669"/>
            </a:avLst>
          </a:prstGeom>
          <a:solidFill>
            <a:srgbClr val="D6F5EE"/>
          </a:solidFill>
          <a:ln w="7620">
            <a:solidFill>
              <a:srgbClr val="BCDBD4"/>
            </a:solidFill>
            <a:prstDash val="solid"/>
          </a:ln>
        </p:spPr>
      </p:sp>
      <p:sp>
        <p:nvSpPr>
          <p:cNvPr id="17" name="Text 15"/>
          <p:cNvSpPr/>
          <p:nvPr/>
        </p:nvSpPr>
        <p:spPr>
          <a:xfrm>
            <a:off x="8076367" y="6332934"/>
            <a:ext cx="2224683" cy="263366"/>
          </a:xfrm>
          <a:prstGeom prst="rect">
            <a:avLst/>
          </a:prstGeom>
          <a:noFill/>
          <a:ln/>
        </p:spPr>
        <p:txBody>
          <a:bodyPr wrap="none" lIns="0" tIns="0" rIns="0" bIns="0" rtlCol="0" anchor="t"/>
          <a:lstStyle/>
          <a:p>
            <a:pPr marL="0" indent="0" algn="l">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bounded waiting</a:t>
            </a:r>
            <a:endParaRPr lang="en-US" sz="1650" dirty="0"/>
          </a:p>
        </p:txBody>
      </p:sp>
      <p:sp>
        <p:nvSpPr>
          <p:cNvPr id="18" name="Text 16"/>
          <p:cNvSpPr/>
          <p:nvPr/>
        </p:nvSpPr>
        <p:spPr>
          <a:xfrm>
            <a:off x="8076367" y="6764893"/>
            <a:ext cx="5971580" cy="809030"/>
          </a:xfrm>
          <a:prstGeom prst="rect">
            <a:avLst/>
          </a:prstGeom>
          <a:noFill/>
          <a:ln/>
        </p:spPr>
        <p:txBody>
          <a:bodyPr wrap="square" lIns="0" tIns="0" rIns="0" bIns="0" rtlCol="0" anchor="t"/>
          <a:lstStyle/>
          <a:p>
            <a:pPr marL="0" indent="0" algn="l">
              <a:lnSpc>
                <a:spcPts val="2100"/>
              </a:lnSpc>
              <a:buNone/>
            </a:pPr>
            <a:r>
              <a:rPr lang="en-US" sz="1300" dirty="0">
                <a:solidFill>
                  <a:srgbClr val="333F70"/>
                </a:solidFill>
                <a:latin typeface="Open Sans" pitchFamily="34" charset="0"/>
                <a:ea typeface="Open Sans" pitchFamily="34" charset="-122"/>
                <a:cs typeface="Open Sans" pitchFamily="34" charset="-120"/>
              </a:rPr>
              <a:t>A bound must exist on the number of times that other processes are allowed to enter their critical sections after a process has made a request to enter its critical section and before that request is granted.</a:t>
            </a:r>
            <a:endParaRPr lang="en-US" sz="1300" dirty="0"/>
          </a:p>
        </p:txBody>
      </p:sp>
      <p:pic>
        <p:nvPicPr>
          <p:cNvPr id="20" name="Picture 19">
            <a:extLst>
              <a:ext uri="{FF2B5EF4-FFF2-40B4-BE49-F238E27FC236}">
                <a16:creationId xmlns:a16="http://schemas.microsoft.com/office/drawing/2014/main" id="{640E90F0-E766-4488-8F3C-65207ACC4E52}"/>
              </a:ext>
            </a:extLst>
          </p:cNvPr>
          <p:cNvPicPr>
            <a:picLocks noChangeAspect="1"/>
          </p:cNvPicPr>
          <p:nvPr/>
        </p:nvPicPr>
        <p:blipFill>
          <a:blip r:embed="rId3"/>
          <a:stretch>
            <a:fillRect/>
          </a:stretch>
        </p:blipFill>
        <p:spPr>
          <a:xfrm>
            <a:off x="485038" y="3542766"/>
            <a:ext cx="3374632" cy="292185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Rectangle: Rounded Corners 21">
            <a:extLst>
              <a:ext uri="{FF2B5EF4-FFF2-40B4-BE49-F238E27FC236}">
                <a16:creationId xmlns:a16="http://schemas.microsoft.com/office/drawing/2014/main" id="{A11CC2B1-1C4D-4D47-934C-3B4AEA687C9B}"/>
              </a:ext>
            </a:extLst>
          </p:cNvPr>
          <p:cNvSpPr/>
          <p:nvPr/>
        </p:nvSpPr>
        <p:spPr>
          <a:xfrm>
            <a:off x="132203" y="2390660"/>
            <a:ext cx="7227645" cy="4946574"/>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24" name="Rectangle: Rounded Corners 23">
            <a:extLst>
              <a:ext uri="{FF2B5EF4-FFF2-40B4-BE49-F238E27FC236}">
                <a16:creationId xmlns:a16="http://schemas.microsoft.com/office/drawing/2014/main" id="{DF452917-9BD1-4960-97D3-60A896386200}"/>
              </a:ext>
            </a:extLst>
          </p:cNvPr>
          <p:cNvSpPr/>
          <p:nvPr/>
        </p:nvSpPr>
        <p:spPr>
          <a:xfrm>
            <a:off x="7447402" y="2096914"/>
            <a:ext cx="7006727" cy="5490522"/>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par>
                                <p:cTn id="38" presetID="10" presetClass="entr" presetSubtype="0"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cTn>
                              </p:par>
                              <p:par>
                                <p:cTn id="47" presetID="10" presetClass="entr" presetSubtype="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1" grpId="0" animBg="1"/>
      <p:bldP spid="12" grpId="0" animBg="1"/>
      <p:bldP spid="14" grpId="0" animBg="1"/>
      <p:bldP spid="15" grpId="0" animBg="1"/>
      <p:bldP spid="17" grpId="0" animBg="1"/>
      <p:bldP spid="18" grpId="0" animBg="1"/>
      <p:bldP spid="22"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8533" y="971074"/>
            <a:ext cx="7679174" cy="579001"/>
          </a:xfrm>
          <a:prstGeom prst="rect">
            <a:avLst/>
          </a:prstGeom>
          <a:noFill/>
          <a:ln/>
        </p:spPr>
        <p:txBody>
          <a:bodyPr wrap="none" lIns="0" tIns="0" rIns="0" bIns="0" rtlCol="0" anchor="t"/>
          <a:lstStyle/>
          <a:p>
            <a:pPr marL="0" indent="0" algn="l">
              <a:lnSpc>
                <a:spcPts val="4550"/>
              </a:lnSpc>
              <a:buNone/>
            </a:pPr>
            <a:r>
              <a:rPr lang="en-US" sz="3600" b="1" dirty="0">
                <a:solidFill>
                  <a:srgbClr val="333F70"/>
                </a:solidFill>
                <a:latin typeface="Unbounded Bold" pitchFamily="34" charset="0"/>
                <a:ea typeface="Unbounded Bold" pitchFamily="34" charset="-122"/>
                <a:cs typeface="Unbounded Bold" pitchFamily="34" charset="-120"/>
              </a:rPr>
              <a:t>Synchronization Solutions</a:t>
            </a:r>
            <a:endParaRPr lang="en-US" sz="3600" dirty="0"/>
          </a:p>
        </p:txBody>
      </p:sp>
      <p:sp>
        <p:nvSpPr>
          <p:cNvPr id="4" name="Shape 1"/>
          <p:cNvSpPr/>
          <p:nvPr/>
        </p:nvSpPr>
        <p:spPr>
          <a:xfrm>
            <a:off x="648533" y="1827967"/>
            <a:ext cx="3830836" cy="3067169"/>
          </a:xfrm>
          <a:prstGeom prst="roundRect">
            <a:avLst>
              <a:gd name="adj" fmla="val 2538"/>
            </a:avLst>
          </a:prstGeom>
          <a:solidFill>
            <a:srgbClr val="D6F5EE"/>
          </a:solidFill>
          <a:ln w="7620">
            <a:solidFill>
              <a:srgbClr val="26A688"/>
            </a:solidFill>
            <a:prstDash val="solid"/>
          </a:ln>
        </p:spPr>
      </p:sp>
      <p:sp>
        <p:nvSpPr>
          <p:cNvPr id="5" name="Shape 2"/>
          <p:cNvSpPr/>
          <p:nvPr/>
        </p:nvSpPr>
        <p:spPr>
          <a:xfrm>
            <a:off x="841415" y="2020848"/>
            <a:ext cx="555903" cy="555903"/>
          </a:xfrm>
          <a:prstGeom prst="roundRect">
            <a:avLst>
              <a:gd name="adj" fmla="val 16447268"/>
            </a:avLst>
          </a:prstGeom>
          <a:solidFill>
            <a:srgbClr val="26A688"/>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4291" y="2173605"/>
            <a:ext cx="250150" cy="250150"/>
          </a:xfrm>
          <a:prstGeom prst="rect">
            <a:avLst/>
          </a:prstGeom>
        </p:spPr>
      </p:pic>
      <p:sp>
        <p:nvSpPr>
          <p:cNvPr id="7" name="Text 3"/>
          <p:cNvSpPr/>
          <p:nvPr/>
        </p:nvSpPr>
        <p:spPr>
          <a:xfrm>
            <a:off x="841415" y="2762012"/>
            <a:ext cx="3435072" cy="347424"/>
          </a:xfrm>
          <a:prstGeom prst="rect">
            <a:avLst/>
          </a:prstGeom>
          <a:noFill/>
          <a:ln/>
        </p:spPr>
        <p:txBody>
          <a:bodyPr wrap="none" lIns="0" tIns="0" rIns="0" bIns="0" rtlCol="0" anchor="t"/>
          <a:lstStyle/>
          <a:p>
            <a:pPr marL="0" indent="0" algn="l">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.Peterson's solution</a:t>
            </a:r>
            <a:endParaRPr lang="en-US" sz="2150" dirty="0"/>
          </a:p>
        </p:txBody>
      </p:sp>
      <p:sp>
        <p:nvSpPr>
          <p:cNvPr id="8" name="Text 4"/>
          <p:cNvSpPr/>
          <p:nvPr/>
        </p:nvSpPr>
        <p:spPr>
          <a:xfrm>
            <a:off x="841415" y="3220522"/>
            <a:ext cx="3445073" cy="1185386"/>
          </a:xfrm>
          <a:prstGeom prst="rect">
            <a:avLst/>
          </a:prstGeom>
          <a:noFill/>
          <a:ln/>
        </p:spPr>
        <p:txBody>
          <a:bodyPr wrap="square" lIns="0" tIns="0" rIns="0" bIns="0" rtlCol="0" anchor="t"/>
          <a:lstStyle/>
          <a:p>
            <a:pPr marL="0" indent="0" algn="l">
              <a:lnSpc>
                <a:spcPts val="2300"/>
              </a:lnSpc>
              <a:buNone/>
            </a:pPr>
            <a:r>
              <a:rPr lang="en-US" sz="1450" dirty="0">
                <a:solidFill>
                  <a:srgbClr val="333F70"/>
                </a:solidFill>
                <a:latin typeface="Open Sans" pitchFamily="34" charset="0"/>
                <a:ea typeface="Open Sans" pitchFamily="34" charset="-122"/>
                <a:cs typeface="Open Sans" pitchFamily="34" charset="-120"/>
              </a:rPr>
              <a:t>A software-based solution for two processes that ensures mutual exclusion, progress, and bounded waiting may not work for modern pc.</a:t>
            </a:r>
            <a:endParaRPr lang="en-US" sz="1450" dirty="0"/>
          </a:p>
        </p:txBody>
      </p:sp>
      <p:sp>
        <p:nvSpPr>
          <p:cNvPr id="9" name="Shape 5"/>
          <p:cNvSpPr/>
          <p:nvPr/>
        </p:nvSpPr>
        <p:spPr>
          <a:xfrm>
            <a:off x="4664631" y="1827967"/>
            <a:ext cx="3830836" cy="3067169"/>
          </a:xfrm>
          <a:prstGeom prst="roundRect">
            <a:avLst>
              <a:gd name="adj" fmla="val 2538"/>
            </a:avLst>
          </a:prstGeom>
          <a:solidFill>
            <a:srgbClr val="D6F5EE"/>
          </a:solidFill>
          <a:ln w="7620">
            <a:solidFill>
              <a:srgbClr val="B4EEE0"/>
            </a:solidFill>
            <a:prstDash val="solid"/>
          </a:ln>
        </p:spPr>
      </p:sp>
      <p:sp>
        <p:nvSpPr>
          <p:cNvPr id="10" name="Shape 6"/>
          <p:cNvSpPr/>
          <p:nvPr/>
        </p:nvSpPr>
        <p:spPr>
          <a:xfrm>
            <a:off x="4857512" y="2020848"/>
            <a:ext cx="555903" cy="555903"/>
          </a:xfrm>
          <a:prstGeom prst="roundRect">
            <a:avLst>
              <a:gd name="adj" fmla="val 16447268"/>
            </a:avLst>
          </a:prstGeom>
          <a:solidFill>
            <a:srgbClr val="B4EEE0"/>
          </a:solidFill>
          <a:ln/>
        </p:spPr>
      </p:sp>
      <p:pic>
        <p:nvPicPr>
          <p:cNvPr id="11"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5010388" y="2173605"/>
            <a:ext cx="250150" cy="250150"/>
          </a:xfrm>
          <a:prstGeom prst="rect">
            <a:avLst/>
          </a:prstGeom>
        </p:spPr>
      </p:pic>
      <p:sp>
        <p:nvSpPr>
          <p:cNvPr id="12" name="Text 7"/>
          <p:cNvSpPr/>
          <p:nvPr/>
        </p:nvSpPr>
        <p:spPr>
          <a:xfrm>
            <a:off x="4857512" y="2762012"/>
            <a:ext cx="2779633" cy="347424"/>
          </a:xfrm>
          <a:prstGeom prst="rect">
            <a:avLst/>
          </a:prstGeom>
          <a:noFill/>
          <a:ln/>
        </p:spPr>
        <p:txBody>
          <a:bodyPr wrap="none" lIns="0" tIns="0" rIns="0" bIns="0" rtlCol="0" anchor="t"/>
          <a:lstStyle/>
          <a:p>
            <a:pPr marL="0" indent="0" algn="l">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.lock</a:t>
            </a:r>
            <a:endParaRPr lang="en-US" sz="2150" dirty="0"/>
          </a:p>
        </p:txBody>
      </p:sp>
      <p:sp>
        <p:nvSpPr>
          <p:cNvPr id="13" name="Text 8"/>
          <p:cNvSpPr/>
          <p:nvPr/>
        </p:nvSpPr>
        <p:spPr>
          <a:xfrm>
            <a:off x="4857512" y="3220522"/>
            <a:ext cx="3445073" cy="1481733"/>
          </a:xfrm>
          <a:prstGeom prst="rect">
            <a:avLst/>
          </a:prstGeom>
          <a:noFill/>
          <a:ln/>
        </p:spPr>
        <p:txBody>
          <a:bodyPr wrap="square" lIns="0" tIns="0" rIns="0" bIns="0" rtlCol="0" anchor="t"/>
          <a:lstStyle/>
          <a:p>
            <a:pPr marL="0" indent="0" algn="l">
              <a:lnSpc>
                <a:spcPts val="2300"/>
              </a:lnSpc>
              <a:buNone/>
            </a:pPr>
            <a:r>
              <a:rPr lang="en-US" sz="1450" dirty="0">
                <a:solidFill>
                  <a:srgbClr val="333F70"/>
                </a:solidFill>
                <a:latin typeface="Open Sans" pitchFamily="34" charset="0"/>
                <a:ea typeface="Open Sans" pitchFamily="34" charset="-122"/>
                <a:cs typeface="Open Sans" pitchFamily="34" charset="-120"/>
              </a:rPr>
              <a:t>A simple hardware or software mechanism that protects a critical section. A process must acquire the lock before entering the CS and release it upon exiting.</a:t>
            </a:r>
            <a:endParaRPr lang="en-US" sz="1450" dirty="0"/>
          </a:p>
        </p:txBody>
      </p:sp>
      <p:sp>
        <p:nvSpPr>
          <p:cNvPr id="14" name="Shape 9"/>
          <p:cNvSpPr/>
          <p:nvPr/>
        </p:nvSpPr>
        <p:spPr>
          <a:xfrm>
            <a:off x="648533" y="5080397"/>
            <a:ext cx="7846933" cy="2178129"/>
          </a:xfrm>
          <a:prstGeom prst="roundRect">
            <a:avLst>
              <a:gd name="adj" fmla="val 3573"/>
            </a:avLst>
          </a:prstGeom>
          <a:solidFill>
            <a:srgbClr val="D6F5EE"/>
          </a:solidFill>
          <a:ln w="7620">
            <a:solidFill>
              <a:srgbClr val="26A688"/>
            </a:solidFill>
            <a:prstDash val="solid"/>
          </a:ln>
        </p:spPr>
      </p:sp>
      <p:sp>
        <p:nvSpPr>
          <p:cNvPr id="15" name="Shape 10"/>
          <p:cNvSpPr/>
          <p:nvPr/>
        </p:nvSpPr>
        <p:spPr>
          <a:xfrm>
            <a:off x="841415" y="5273278"/>
            <a:ext cx="555903" cy="555903"/>
          </a:xfrm>
          <a:prstGeom prst="roundRect">
            <a:avLst>
              <a:gd name="adj" fmla="val 16447268"/>
            </a:avLst>
          </a:prstGeom>
          <a:solidFill>
            <a:srgbClr val="26A688"/>
          </a:solidFill>
          <a:ln/>
        </p:spPr>
      </p:sp>
      <p:pic>
        <p:nvPicPr>
          <p:cNvPr id="16"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994291" y="5426035"/>
            <a:ext cx="250150" cy="250150"/>
          </a:xfrm>
          <a:prstGeom prst="rect">
            <a:avLst/>
          </a:prstGeom>
        </p:spPr>
      </p:pic>
      <p:sp>
        <p:nvSpPr>
          <p:cNvPr id="17" name="Text 11"/>
          <p:cNvSpPr/>
          <p:nvPr/>
        </p:nvSpPr>
        <p:spPr>
          <a:xfrm>
            <a:off x="841415" y="6014442"/>
            <a:ext cx="2779633" cy="347424"/>
          </a:xfrm>
          <a:prstGeom prst="rect">
            <a:avLst/>
          </a:prstGeom>
          <a:noFill/>
          <a:ln/>
        </p:spPr>
        <p:txBody>
          <a:bodyPr wrap="none" lIns="0" tIns="0" rIns="0" bIns="0" rtlCol="0" anchor="t"/>
          <a:lstStyle/>
          <a:p>
            <a:pPr marL="0" indent="0" algn="l">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.semaphores</a:t>
            </a:r>
            <a:endParaRPr lang="en-US" sz="2150" dirty="0"/>
          </a:p>
        </p:txBody>
      </p:sp>
      <p:sp>
        <p:nvSpPr>
          <p:cNvPr id="18" name="Text 12"/>
          <p:cNvSpPr/>
          <p:nvPr/>
        </p:nvSpPr>
        <p:spPr>
          <a:xfrm>
            <a:off x="841415" y="6472952"/>
            <a:ext cx="7461171" cy="592693"/>
          </a:xfrm>
          <a:prstGeom prst="rect">
            <a:avLst/>
          </a:prstGeom>
          <a:noFill/>
          <a:ln/>
        </p:spPr>
        <p:txBody>
          <a:bodyPr wrap="square" lIns="0" tIns="0" rIns="0" bIns="0" rtlCol="0" anchor="t"/>
          <a:lstStyle/>
          <a:p>
            <a:pPr marL="0" indent="0" algn="l">
              <a:lnSpc>
                <a:spcPts val="2300"/>
              </a:lnSpc>
              <a:buNone/>
            </a:pPr>
            <a:r>
              <a:rPr lang="en-US" sz="1450" dirty="0">
                <a:solidFill>
                  <a:srgbClr val="333F70"/>
                </a:solidFill>
                <a:latin typeface="Open Sans" pitchFamily="34" charset="0"/>
                <a:ea typeface="Open Sans" pitchFamily="34" charset="-122"/>
                <a:cs typeface="Open Sans" pitchFamily="34" charset="-120"/>
              </a:rPr>
              <a:t>A synchronization tool that does not require busy waiting. It is an integer variable accessed only through two standard atomic operations: wait() and signal().</a:t>
            </a:r>
            <a:endParaRPr lang="en-US" sz="14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8188593-18A5-4416-AF18-C4B383D8B287}"/>
              </a:ext>
            </a:extLst>
          </p:cNvPr>
          <p:cNvSpPr/>
          <p:nvPr/>
        </p:nvSpPr>
        <p:spPr>
          <a:xfrm>
            <a:off x="3475613" y="287973"/>
            <a:ext cx="7679174" cy="579001"/>
          </a:xfrm>
          <a:prstGeom prst="rect">
            <a:avLst/>
          </a:prstGeom>
          <a:noFill/>
          <a:ln/>
        </p:spPr>
        <p:txBody>
          <a:bodyPr wrap="none" lIns="0" tIns="0" rIns="0" bIns="0" rtlCol="0" anchor="t"/>
          <a:lstStyle/>
          <a:p>
            <a:pPr marL="0" indent="0" algn="ctr">
              <a:lnSpc>
                <a:spcPts val="4550"/>
              </a:lnSpc>
              <a:buNone/>
            </a:pPr>
            <a:r>
              <a:rPr lang="en-US" sz="3600" b="1" dirty="0">
                <a:solidFill>
                  <a:srgbClr val="333F70"/>
                </a:solidFill>
                <a:latin typeface="Unbounded Bold" pitchFamily="34" charset="0"/>
                <a:ea typeface="Unbounded Bold" pitchFamily="34" charset="-122"/>
                <a:cs typeface="Unbounded Bold" pitchFamily="34" charset="-120"/>
              </a:rPr>
              <a:t>Synchronization Solutions</a:t>
            </a:r>
            <a:endParaRPr lang="en-US" sz="3600" dirty="0"/>
          </a:p>
        </p:txBody>
      </p:sp>
      <p:sp>
        <p:nvSpPr>
          <p:cNvPr id="3" name="Text 3">
            <a:extLst>
              <a:ext uri="{FF2B5EF4-FFF2-40B4-BE49-F238E27FC236}">
                <a16:creationId xmlns:a16="http://schemas.microsoft.com/office/drawing/2014/main" id="{10211E3F-7543-4B6D-9789-40BC4874240D}"/>
              </a:ext>
            </a:extLst>
          </p:cNvPr>
          <p:cNvSpPr/>
          <p:nvPr/>
        </p:nvSpPr>
        <p:spPr>
          <a:xfrm>
            <a:off x="5761057" y="1333869"/>
            <a:ext cx="3435072" cy="347424"/>
          </a:xfrm>
          <a:prstGeom prst="rect">
            <a:avLst/>
          </a:prstGeom>
          <a:noFill/>
          <a:ln/>
        </p:spPr>
        <p:txBody>
          <a:bodyPr wrap="none" lIns="0" tIns="0" rIns="0" bIns="0" rtlCol="0" anchor="t"/>
          <a:lstStyle/>
          <a:p>
            <a:pPr marL="0" indent="0" algn="ctr">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Peterson's solution</a:t>
            </a:r>
            <a:endParaRPr lang="en-US" sz="2150" dirty="0"/>
          </a:p>
        </p:txBody>
      </p:sp>
      <p:pic>
        <p:nvPicPr>
          <p:cNvPr id="11" name="Picture 10">
            <a:extLst>
              <a:ext uri="{FF2B5EF4-FFF2-40B4-BE49-F238E27FC236}">
                <a16:creationId xmlns:a16="http://schemas.microsoft.com/office/drawing/2014/main" id="{DACAB4A4-B099-470D-905B-7E55A8B7D37C}"/>
              </a:ext>
            </a:extLst>
          </p:cNvPr>
          <p:cNvPicPr>
            <a:picLocks noChangeAspect="1"/>
          </p:cNvPicPr>
          <p:nvPr/>
        </p:nvPicPr>
        <p:blipFill>
          <a:blip r:embed="rId2"/>
          <a:stretch>
            <a:fillRect/>
          </a:stretch>
        </p:blipFill>
        <p:spPr>
          <a:xfrm>
            <a:off x="2658004" y="1876383"/>
            <a:ext cx="9641178" cy="1495556"/>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0E09E92D-90AB-4B06-9477-822B33D0A09E}"/>
              </a:ext>
            </a:extLst>
          </p:cNvPr>
          <p:cNvPicPr>
            <a:picLocks noChangeAspect="1"/>
          </p:cNvPicPr>
          <p:nvPr/>
        </p:nvPicPr>
        <p:blipFill>
          <a:blip r:embed="rId3"/>
          <a:stretch>
            <a:fillRect/>
          </a:stretch>
        </p:blipFill>
        <p:spPr>
          <a:xfrm>
            <a:off x="2658004" y="3371941"/>
            <a:ext cx="4712677" cy="4162802"/>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2C350DDE-E7EF-46F6-9ADA-8BF8464C4924}"/>
              </a:ext>
            </a:extLst>
          </p:cNvPr>
          <p:cNvPicPr>
            <a:picLocks noChangeAspect="1"/>
          </p:cNvPicPr>
          <p:nvPr/>
        </p:nvPicPr>
        <p:blipFill>
          <a:blip r:embed="rId4"/>
          <a:stretch>
            <a:fillRect/>
          </a:stretch>
        </p:blipFill>
        <p:spPr>
          <a:xfrm>
            <a:off x="7370681" y="3371940"/>
            <a:ext cx="4928502" cy="41628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23318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8188593-18A5-4416-AF18-C4B383D8B287}"/>
              </a:ext>
            </a:extLst>
          </p:cNvPr>
          <p:cNvSpPr/>
          <p:nvPr/>
        </p:nvSpPr>
        <p:spPr>
          <a:xfrm>
            <a:off x="3475613" y="133630"/>
            <a:ext cx="7679174" cy="579001"/>
          </a:xfrm>
          <a:prstGeom prst="rect">
            <a:avLst/>
          </a:prstGeom>
          <a:noFill/>
          <a:ln/>
        </p:spPr>
        <p:txBody>
          <a:bodyPr wrap="none" lIns="0" tIns="0" rIns="0" bIns="0" rtlCol="0" anchor="t"/>
          <a:lstStyle/>
          <a:p>
            <a:pPr marL="0" indent="0" algn="ctr">
              <a:lnSpc>
                <a:spcPts val="4550"/>
              </a:lnSpc>
              <a:buNone/>
            </a:pPr>
            <a:r>
              <a:rPr lang="en-US" sz="3600" b="1" dirty="0">
                <a:solidFill>
                  <a:srgbClr val="333F70"/>
                </a:solidFill>
                <a:latin typeface="Unbounded Bold" pitchFamily="34" charset="0"/>
                <a:ea typeface="Unbounded Bold" pitchFamily="34" charset="-122"/>
                <a:cs typeface="Unbounded Bold" pitchFamily="34" charset="-120"/>
              </a:rPr>
              <a:t>Synchronization Solutions</a:t>
            </a:r>
            <a:endParaRPr lang="en-US" sz="3600" dirty="0"/>
          </a:p>
        </p:txBody>
      </p:sp>
      <p:sp>
        <p:nvSpPr>
          <p:cNvPr id="3" name="Text 3">
            <a:extLst>
              <a:ext uri="{FF2B5EF4-FFF2-40B4-BE49-F238E27FC236}">
                <a16:creationId xmlns:a16="http://schemas.microsoft.com/office/drawing/2014/main" id="{10211E3F-7543-4B6D-9789-40BC4874240D}"/>
              </a:ext>
            </a:extLst>
          </p:cNvPr>
          <p:cNvSpPr/>
          <p:nvPr/>
        </p:nvSpPr>
        <p:spPr>
          <a:xfrm>
            <a:off x="5597664" y="1355247"/>
            <a:ext cx="3435072" cy="347424"/>
          </a:xfrm>
          <a:prstGeom prst="rect">
            <a:avLst/>
          </a:prstGeom>
          <a:noFill/>
          <a:ln/>
        </p:spPr>
        <p:txBody>
          <a:bodyPr wrap="none" lIns="0" tIns="0" rIns="0" bIns="0" rtlCol="0" anchor="t"/>
          <a:lstStyle/>
          <a:p>
            <a:pPr marL="0" indent="0" algn="ctr">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Lock solution</a:t>
            </a:r>
            <a:endParaRPr lang="en-US" sz="2150" dirty="0"/>
          </a:p>
        </p:txBody>
      </p:sp>
      <p:pic>
        <p:nvPicPr>
          <p:cNvPr id="7" name="Picture 6">
            <a:extLst>
              <a:ext uri="{FF2B5EF4-FFF2-40B4-BE49-F238E27FC236}">
                <a16:creationId xmlns:a16="http://schemas.microsoft.com/office/drawing/2014/main" id="{B120FA71-2C56-4326-9146-D836DC3D1431}"/>
              </a:ext>
            </a:extLst>
          </p:cNvPr>
          <p:cNvPicPr>
            <a:picLocks noChangeAspect="1"/>
          </p:cNvPicPr>
          <p:nvPr/>
        </p:nvPicPr>
        <p:blipFill>
          <a:blip r:embed="rId2"/>
          <a:stretch>
            <a:fillRect/>
          </a:stretch>
        </p:blipFill>
        <p:spPr>
          <a:xfrm>
            <a:off x="2810630" y="2031450"/>
            <a:ext cx="9317729" cy="548551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832350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8188593-18A5-4416-AF18-C4B383D8B287}"/>
              </a:ext>
            </a:extLst>
          </p:cNvPr>
          <p:cNvSpPr/>
          <p:nvPr/>
        </p:nvSpPr>
        <p:spPr>
          <a:xfrm>
            <a:off x="3475613" y="159059"/>
            <a:ext cx="7679174" cy="579001"/>
          </a:xfrm>
          <a:prstGeom prst="rect">
            <a:avLst/>
          </a:prstGeom>
          <a:noFill/>
          <a:ln/>
        </p:spPr>
        <p:txBody>
          <a:bodyPr wrap="none" lIns="0" tIns="0" rIns="0" bIns="0" rtlCol="0" anchor="t"/>
          <a:lstStyle/>
          <a:p>
            <a:pPr marL="0" indent="0" algn="ctr">
              <a:lnSpc>
                <a:spcPts val="4550"/>
              </a:lnSpc>
              <a:buNone/>
            </a:pPr>
            <a:r>
              <a:rPr lang="en-US" sz="3600" b="1" dirty="0">
                <a:solidFill>
                  <a:srgbClr val="333F70"/>
                </a:solidFill>
                <a:latin typeface="Unbounded Bold" pitchFamily="34" charset="0"/>
                <a:ea typeface="Unbounded Bold" pitchFamily="34" charset="-122"/>
                <a:cs typeface="Unbounded Bold" pitchFamily="34" charset="-120"/>
              </a:rPr>
              <a:t>Synchronization Solutions</a:t>
            </a:r>
            <a:endParaRPr lang="en-US" sz="3600" dirty="0"/>
          </a:p>
        </p:txBody>
      </p:sp>
      <p:sp>
        <p:nvSpPr>
          <p:cNvPr id="3" name="Text 3">
            <a:extLst>
              <a:ext uri="{FF2B5EF4-FFF2-40B4-BE49-F238E27FC236}">
                <a16:creationId xmlns:a16="http://schemas.microsoft.com/office/drawing/2014/main" id="{10211E3F-7543-4B6D-9789-40BC4874240D}"/>
              </a:ext>
            </a:extLst>
          </p:cNvPr>
          <p:cNvSpPr/>
          <p:nvPr/>
        </p:nvSpPr>
        <p:spPr>
          <a:xfrm>
            <a:off x="5597664" y="1355247"/>
            <a:ext cx="3435072" cy="347424"/>
          </a:xfrm>
          <a:prstGeom prst="rect">
            <a:avLst/>
          </a:prstGeom>
          <a:noFill/>
          <a:ln/>
        </p:spPr>
        <p:txBody>
          <a:bodyPr wrap="none" lIns="0" tIns="0" rIns="0" bIns="0" rtlCol="0" anchor="t"/>
          <a:lstStyle/>
          <a:p>
            <a:pPr marL="0" indent="0" algn="ctr">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Semaphores</a:t>
            </a:r>
            <a:endParaRPr lang="en-US" sz="2150" dirty="0"/>
          </a:p>
        </p:txBody>
      </p:sp>
      <p:pic>
        <p:nvPicPr>
          <p:cNvPr id="5" name="Picture 4">
            <a:extLst>
              <a:ext uri="{FF2B5EF4-FFF2-40B4-BE49-F238E27FC236}">
                <a16:creationId xmlns:a16="http://schemas.microsoft.com/office/drawing/2014/main" id="{7063D4AB-4887-4C25-85C1-FBFB6418E9E1}"/>
              </a:ext>
            </a:extLst>
          </p:cNvPr>
          <p:cNvPicPr>
            <a:picLocks noChangeAspect="1"/>
          </p:cNvPicPr>
          <p:nvPr/>
        </p:nvPicPr>
        <p:blipFill>
          <a:blip r:embed="rId2"/>
          <a:stretch>
            <a:fillRect/>
          </a:stretch>
        </p:blipFill>
        <p:spPr>
          <a:xfrm>
            <a:off x="2375798" y="1990428"/>
            <a:ext cx="9878804" cy="424874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629955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8" name="Shape 3">
            <a:extLst>
              <a:ext uri="{FF2B5EF4-FFF2-40B4-BE49-F238E27FC236}">
                <a16:creationId xmlns:a16="http://schemas.microsoft.com/office/drawing/2014/main" id="{E7ACBC3A-70ED-495E-B40E-057EE3F18FFC}"/>
              </a:ext>
            </a:extLst>
          </p:cNvPr>
          <p:cNvSpPr/>
          <p:nvPr/>
        </p:nvSpPr>
        <p:spPr>
          <a:xfrm>
            <a:off x="813136" y="4543692"/>
            <a:ext cx="13027581" cy="650319"/>
          </a:xfrm>
          <a:prstGeom prst="rect">
            <a:avLst/>
          </a:prstGeom>
          <a:solidFill>
            <a:srgbClr val="FFFFFF">
              <a:alpha val="4000"/>
            </a:srgbClr>
          </a:solidFill>
          <a:ln/>
        </p:spPr>
      </p:sp>
      <p:sp>
        <p:nvSpPr>
          <p:cNvPr id="29" name="Shape 9">
            <a:extLst>
              <a:ext uri="{FF2B5EF4-FFF2-40B4-BE49-F238E27FC236}">
                <a16:creationId xmlns:a16="http://schemas.microsoft.com/office/drawing/2014/main" id="{98941B71-DD76-4080-ABD8-6283CB57966B}"/>
              </a:ext>
            </a:extLst>
          </p:cNvPr>
          <p:cNvSpPr/>
          <p:nvPr/>
        </p:nvSpPr>
        <p:spPr>
          <a:xfrm>
            <a:off x="813132" y="4550921"/>
            <a:ext cx="13027581" cy="650319"/>
          </a:xfrm>
          <a:prstGeom prst="rect">
            <a:avLst/>
          </a:prstGeom>
          <a:solidFill>
            <a:srgbClr val="000000">
              <a:alpha val="4000"/>
            </a:srgbClr>
          </a:solidFill>
          <a:ln/>
        </p:spPr>
      </p:sp>
      <p:sp>
        <p:nvSpPr>
          <p:cNvPr id="2" name="Text 0"/>
          <p:cNvSpPr/>
          <p:nvPr/>
        </p:nvSpPr>
        <p:spPr>
          <a:xfrm>
            <a:off x="793790" y="2241471"/>
            <a:ext cx="8700849" cy="708779"/>
          </a:xfrm>
          <a:prstGeom prst="rect">
            <a:avLst/>
          </a:prstGeom>
          <a:noFill/>
          <a:ln/>
        </p:spPr>
        <p:txBody>
          <a:bodyPr wrap="non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Comparison &amp; Summary</a:t>
            </a:r>
            <a:endParaRPr lang="en-US" sz="4450" dirty="0"/>
          </a:p>
        </p:txBody>
      </p:sp>
      <p:sp>
        <p:nvSpPr>
          <p:cNvPr id="3" name="Text 1"/>
          <p:cNvSpPr/>
          <p:nvPr/>
        </p:nvSpPr>
        <p:spPr>
          <a:xfrm>
            <a:off x="793790" y="340387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A quick comparison of the three primary synchronization solutions discussed:</a:t>
            </a:r>
            <a:endParaRPr lang="en-US" sz="1750" dirty="0"/>
          </a:p>
        </p:txBody>
      </p:sp>
      <p:sp>
        <p:nvSpPr>
          <p:cNvPr id="4" name="Shape 2"/>
          <p:cNvSpPr/>
          <p:nvPr/>
        </p:nvSpPr>
        <p:spPr>
          <a:xfrm>
            <a:off x="793790" y="5207634"/>
            <a:ext cx="13042821" cy="1966198"/>
          </a:xfrm>
          <a:prstGeom prst="roundRect">
            <a:avLst>
              <a:gd name="adj" fmla="val 4845"/>
            </a:avLst>
          </a:prstGeom>
          <a:noFill/>
          <a:ln w="7620">
            <a:solidFill>
              <a:srgbClr val="000000">
                <a:alpha val="8000"/>
              </a:srgbClr>
            </a:solidFill>
            <a:prstDash val="solid"/>
          </a:ln>
        </p:spPr>
      </p:sp>
      <p:sp>
        <p:nvSpPr>
          <p:cNvPr id="5" name="Shape 3"/>
          <p:cNvSpPr/>
          <p:nvPr/>
        </p:nvSpPr>
        <p:spPr>
          <a:xfrm>
            <a:off x="801410" y="5215254"/>
            <a:ext cx="13027581" cy="650319"/>
          </a:xfrm>
          <a:prstGeom prst="rect">
            <a:avLst/>
          </a:prstGeom>
          <a:solidFill>
            <a:srgbClr val="FFFFFF">
              <a:alpha val="4000"/>
            </a:srgbClr>
          </a:solidFill>
          <a:ln/>
        </p:spPr>
      </p:sp>
      <p:sp>
        <p:nvSpPr>
          <p:cNvPr id="6" name="Text 4"/>
          <p:cNvSpPr/>
          <p:nvPr/>
        </p:nvSpPr>
        <p:spPr>
          <a:xfrm>
            <a:off x="1028581" y="5358963"/>
            <a:ext cx="214800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Peterson</a:t>
            </a:r>
            <a:endParaRPr lang="en-US" sz="1750" dirty="0"/>
          </a:p>
        </p:txBody>
      </p:sp>
      <p:sp>
        <p:nvSpPr>
          <p:cNvPr id="7" name="Text 5"/>
          <p:cNvSpPr/>
          <p:nvPr/>
        </p:nvSpPr>
        <p:spPr>
          <a:xfrm>
            <a:off x="3637836" y="5358963"/>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Simple, 2 processes</a:t>
            </a:r>
            <a:endParaRPr lang="en-US" sz="1750" dirty="0"/>
          </a:p>
        </p:txBody>
      </p:sp>
      <p:sp>
        <p:nvSpPr>
          <p:cNvPr id="8" name="Text 6"/>
          <p:cNvSpPr/>
          <p:nvPr/>
        </p:nvSpPr>
        <p:spPr>
          <a:xfrm>
            <a:off x="6243280" y="5358963"/>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2 only</a:t>
            </a:r>
            <a:endParaRPr lang="en-US" sz="1750" dirty="0"/>
          </a:p>
        </p:txBody>
      </p:sp>
      <p:sp>
        <p:nvSpPr>
          <p:cNvPr id="9" name="Text 7"/>
          <p:cNvSpPr/>
          <p:nvPr/>
        </p:nvSpPr>
        <p:spPr>
          <a:xfrm>
            <a:off x="8848725" y="5358963"/>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Software only</a:t>
            </a:r>
            <a:endParaRPr lang="en-US" sz="1750" dirty="0"/>
          </a:p>
        </p:txBody>
      </p:sp>
      <p:sp>
        <p:nvSpPr>
          <p:cNvPr id="10" name="Text 8"/>
          <p:cNvSpPr/>
          <p:nvPr/>
        </p:nvSpPr>
        <p:spPr>
          <a:xfrm>
            <a:off x="11454170" y="5358963"/>
            <a:ext cx="214800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Learning</a:t>
            </a:r>
            <a:endParaRPr lang="en-US" sz="1750" dirty="0"/>
          </a:p>
        </p:txBody>
      </p:sp>
      <p:sp>
        <p:nvSpPr>
          <p:cNvPr id="11" name="Shape 9"/>
          <p:cNvSpPr/>
          <p:nvPr/>
        </p:nvSpPr>
        <p:spPr>
          <a:xfrm>
            <a:off x="801410" y="5865574"/>
            <a:ext cx="13027581" cy="650319"/>
          </a:xfrm>
          <a:prstGeom prst="rect">
            <a:avLst/>
          </a:prstGeom>
          <a:solidFill>
            <a:srgbClr val="000000">
              <a:alpha val="4000"/>
            </a:srgbClr>
          </a:solidFill>
          <a:ln/>
        </p:spPr>
      </p:sp>
      <p:sp>
        <p:nvSpPr>
          <p:cNvPr id="12" name="Text 10"/>
          <p:cNvSpPr/>
          <p:nvPr/>
        </p:nvSpPr>
        <p:spPr>
          <a:xfrm>
            <a:off x="1028581" y="6009282"/>
            <a:ext cx="214800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Lock</a:t>
            </a:r>
            <a:endParaRPr lang="en-US" sz="1750" dirty="0"/>
          </a:p>
        </p:txBody>
      </p:sp>
      <p:sp>
        <p:nvSpPr>
          <p:cNvPr id="13" name="Text 11"/>
          <p:cNvSpPr/>
          <p:nvPr/>
        </p:nvSpPr>
        <p:spPr>
          <a:xfrm>
            <a:off x="3637836" y="6009282"/>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Simple</a:t>
            </a:r>
            <a:endParaRPr lang="en-US" sz="1750" dirty="0"/>
          </a:p>
        </p:txBody>
      </p:sp>
      <p:sp>
        <p:nvSpPr>
          <p:cNvPr id="14" name="Text 12"/>
          <p:cNvSpPr/>
          <p:nvPr/>
        </p:nvSpPr>
        <p:spPr>
          <a:xfrm>
            <a:off x="6243280" y="6009282"/>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Many</a:t>
            </a:r>
            <a:endParaRPr lang="en-US" sz="1750" dirty="0"/>
          </a:p>
        </p:txBody>
      </p:sp>
      <p:sp>
        <p:nvSpPr>
          <p:cNvPr id="15" name="Text 13"/>
          <p:cNvSpPr/>
          <p:nvPr/>
        </p:nvSpPr>
        <p:spPr>
          <a:xfrm>
            <a:off x="8848725" y="6009282"/>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Hardware support</a:t>
            </a:r>
            <a:endParaRPr lang="en-US" sz="1750" dirty="0"/>
          </a:p>
        </p:txBody>
      </p:sp>
      <p:sp>
        <p:nvSpPr>
          <p:cNvPr id="16" name="Text 14"/>
          <p:cNvSpPr/>
          <p:nvPr/>
        </p:nvSpPr>
        <p:spPr>
          <a:xfrm>
            <a:off x="11454170" y="6009282"/>
            <a:ext cx="214800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Small systems</a:t>
            </a:r>
            <a:endParaRPr lang="en-US" sz="1750" dirty="0"/>
          </a:p>
        </p:txBody>
      </p:sp>
      <p:sp>
        <p:nvSpPr>
          <p:cNvPr id="17" name="Shape 15"/>
          <p:cNvSpPr/>
          <p:nvPr/>
        </p:nvSpPr>
        <p:spPr>
          <a:xfrm>
            <a:off x="801410" y="6515893"/>
            <a:ext cx="13027581" cy="650319"/>
          </a:xfrm>
          <a:prstGeom prst="rect">
            <a:avLst/>
          </a:prstGeom>
          <a:solidFill>
            <a:srgbClr val="FFFFFF">
              <a:alpha val="4000"/>
            </a:srgbClr>
          </a:solidFill>
          <a:ln/>
        </p:spPr>
      </p:sp>
      <p:sp>
        <p:nvSpPr>
          <p:cNvPr id="18" name="Text 16"/>
          <p:cNvSpPr/>
          <p:nvPr/>
        </p:nvSpPr>
        <p:spPr>
          <a:xfrm>
            <a:off x="1028581" y="6659601"/>
            <a:ext cx="214800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Semaphore</a:t>
            </a:r>
            <a:endParaRPr lang="en-US" sz="1750" dirty="0"/>
          </a:p>
        </p:txBody>
      </p:sp>
      <p:sp>
        <p:nvSpPr>
          <p:cNvPr id="19" name="Text 17"/>
          <p:cNvSpPr/>
          <p:nvPr/>
        </p:nvSpPr>
        <p:spPr>
          <a:xfrm>
            <a:off x="3637836" y="6659601"/>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Powerful</a:t>
            </a:r>
            <a:endParaRPr lang="en-US" sz="1750" dirty="0"/>
          </a:p>
        </p:txBody>
      </p:sp>
      <p:sp>
        <p:nvSpPr>
          <p:cNvPr id="20" name="Text 18"/>
          <p:cNvSpPr/>
          <p:nvPr/>
        </p:nvSpPr>
        <p:spPr>
          <a:xfrm>
            <a:off x="6243280" y="6659601"/>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Many</a:t>
            </a:r>
            <a:endParaRPr lang="en-US" sz="1750" dirty="0"/>
          </a:p>
        </p:txBody>
      </p:sp>
      <p:sp>
        <p:nvSpPr>
          <p:cNvPr id="21" name="Text 19"/>
          <p:cNvSpPr/>
          <p:nvPr/>
        </p:nvSpPr>
        <p:spPr>
          <a:xfrm>
            <a:off x="8848725" y="6659601"/>
            <a:ext cx="214419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OS-level</a:t>
            </a:r>
            <a:endParaRPr lang="en-US" sz="1750" dirty="0"/>
          </a:p>
        </p:txBody>
      </p:sp>
      <p:sp>
        <p:nvSpPr>
          <p:cNvPr id="22" name="Text 20"/>
          <p:cNvSpPr/>
          <p:nvPr/>
        </p:nvSpPr>
        <p:spPr>
          <a:xfrm>
            <a:off x="11454170" y="6659601"/>
            <a:ext cx="2148007"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Real-world use</a:t>
            </a:r>
            <a:endParaRPr lang="en-US" sz="1750" dirty="0"/>
          </a:p>
        </p:txBody>
      </p:sp>
      <p:sp>
        <p:nvSpPr>
          <p:cNvPr id="23" name="Text 1">
            <a:extLst>
              <a:ext uri="{FF2B5EF4-FFF2-40B4-BE49-F238E27FC236}">
                <a16:creationId xmlns:a16="http://schemas.microsoft.com/office/drawing/2014/main" id="{A55C33E4-CD22-4118-B0CC-A46C69E8FB98}"/>
              </a:ext>
            </a:extLst>
          </p:cNvPr>
          <p:cNvSpPr/>
          <p:nvPr/>
        </p:nvSpPr>
        <p:spPr>
          <a:xfrm>
            <a:off x="3669294" y="4701023"/>
            <a:ext cx="1435269" cy="362903"/>
          </a:xfrm>
          <a:prstGeom prst="rect">
            <a:avLst/>
          </a:prstGeom>
          <a:noFill/>
          <a:ln/>
        </p:spPr>
        <p:txBody>
          <a:bodyPr wrap="none" lIns="0" tIns="0" rIns="0" bIns="0" rtlCol="0" anchor="t"/>
          <a:lstStyle/>
          <a:p>
            <a:pPr>
              <a:lnSpc>
                <a:spcPts val="2850"/>
              </a:lnSpc>
            </a:pPr>
            <a:r>
              <a:rPr lang="en-US" sz="1750" dirty="0">
                <a:solidFill>
                  <a:srgbClr val="333F70"/>
                </a:solidFill>
                <a:latin typeface="Open Sans" pitchFamily="34" charset="0"/>
                <a:ea typeface="Open Sans" pitchFamily="34" charset="-122"/>
                <a:cs typeface="Open Sans" pitchFamily="34" charset="-120"/>
              </a:rPr>
              <a:t>Ease of use</a:t>
            </a:r>
            <a:endParaRPr lang="en-US" sz="1750" dirty="0"/>
          </a:p>
          <a:p>
            <a:pPr marL="0" indent="0" algn="l">
              <a:lnSpc>
                <a:spcPts val="2850"/>
              </a:lnSpc>
              <a:buNone/>
            </a:pPr>
            <a:endParaRPr lang="en-US" sz="1750" dirty="0"/>
          </a:p>
        </p:txBody>
      </p:sp>
      <p:sp>
        <p:nvSpPr>
          <p:cNvPr id="24" name="Text 1">
            <a:extLst>
              <a:ext uri="{FF2B5EF4-FFF2-40B4-BE49-F238E27FC236}">
                <a16:creationId xmlns:a16="http://schemas.microsoft.com/office/drawing/2014/main" id="{0B9D71A3-DADD-4D33-944F-8CF2D89B1677}"/>
              </a:ext>
            </a:extLst>
          </p:cNvPr>
          <p:cNvSpPr/>
          <p:nvPr/>
        </p:nvSpPr>
        <p:spPr>
          <a:xfrm>
            <a:off x="6250098" y="4701092"/>
            <a:ext cx="1435269"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Processes supported</a:t>
            </a:r>
            <a:endParaRPr lang="en-US" sz="1750" dirty="0"/>
          </a:p>
        </p:txBody>
      </p:sp>
      <p:sp>
        <p:nvSpPr>
          <p:cNvPr id="25" name="Text 1">
            <a:extLst>
              <a:ext uri="{FF2B5EF4-FFF2-40B4-BE49-F238E27FC236}">
                <a16:creationId xmlns:a16="http://schemas.microsoft.com/office/drawing/2014/main" id="{68CA3C22-F07E-4ED3-821B-00938FAE382E}"/>
              </a:ext>
            </a:extLst>
          </p:cNvPr>
          <p:cNvSpPr/>
          <p:nvPr/>
        </p:nvSpPr>
        <p:spPr>
          <a:xfrm>
            <a:off x="8855710" y="4701092"/>
            <a:ext cx="1435269" cy="362903"/>
          </a:xfrm>
          <a:prstGeom prst="rect">
            <a:avLst/>
          </a:prstGeom>
          <a:noFill/>
          <a:ln/>
        </p:spPr>
        <p:txBody>
          <a:bodyPr wrap="none" lIns="0" tIns="0" rIns="0" bIns="0" rtlCol="0" anchor="t"/>
          <a:lstStyle/>
          <a:p>
            <a:pPr marL="0" indent="0" algn="l">
              <a:lnSpc>
                <a:spcPts val="2850"/>
              </a:lnSpc>
              <a:buNone/>
            </a:pPr>
            <a:r>
              <a:rPr lang="en-US" sz="1400" dirty="0">
                <a:solidFill>
                  <a:srgbClr val="333F70"/>
                </a:solidFill>
                <a:latin typeface="Open Sans" pitchFamily="34" charset="0"/>
                <a:ea typeface="Open Sans" pitchFamily="34" charset="-122"/>
                <a:cs typeface="Open Sans" pitchFamily="34" charset="-120"/>
              </a:rPr>
              <a:t>Hardware dependency</a:t>
            </a:r>
            <a:endParaRPr lang="en-US" sz="1400" dirty="0"/>
          </a:p>
        </p:txBody>
      </p:sp>
      <p:sp>
        <p:nvSpPr>
          <p:cNvPr id="26" name="Text 1">
            <a:extLst>
              <a:ext uri="{FF2B5EF4-FFF2-40B4-BE49-F238E27FC236}">
                <a16:creationId xmlns:a16="http://schemas.microsoft.com/office/drawing/2014/main" id="{80FE0C4A-FDCD-4DB2-AB39-86F902EBB30A}"/>
              </a:ext>
            </a:extLst>
          </p:cNvPr>
          <p:cNvSpPr/>
          <p:nvPr/>
        </p:nvSpPr>
        <p:spPr>
          <a:xfrm>
            <a:off x="11488612" y="4702696"/>
            <a:ext cx="1435269"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Example use</a:t>
            </a:r>
          </a:p>
          <a:p>
            <a:pPr marL="0" indent="0" algn="l">
              <a:lnSpc>
                <a:spcPts val="2850"/>
              </a:lnSpc>
              <a:buNone/>
            </a:pPr>
            <a:endParaRPr lang="en-US" sz="1750" dirty="0"/>
          </a:p>
        </p:txBody>
      </p:sp>
      <p:sp>
        <p:nvSpPr>
          <p:cNvPr id="27" name="Text 1">
            <a:extLst>
              <a:ext uri="{FF2B5EF4-FFF2-40B4-BE49-F238E27FC236}">
                <a16:creationId xmlns:a16="http://schemas.microsoft.com/office/drawing/2014/main" id="{00D6E2E4-7E8E-45E8-9BD2-C25F1880CDC3}"/>
              </a:ext>
            </a:extLst>
          </p:cNvPr>
          <p:cNvSpPr/>
          <p:nvPr/>
        </p:nvSpPr>
        <p:spPr>
          <a:xfrm>
            <a:off x="1083501" y="4708712"/>
            <a:ext cx="1435269" cy="362903"/>
          </a:xfrm>
          <a:prstGeom prst="rect">
            <a:avLst/>
          </a:prstGeom>
          <a:noFill/>
          <a:ln/>
        </p:spPr>
        <p:txBody>
          <a:bodyPr wrap="non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solution</a:t>
            </a:r>
            <a:endParaRPr lang="en-US" sz="17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08146"/>
          </a:xfrm>
          <a:prstGeom prst="rect">
            <a:avLst/>
          </a:prstGeom>
        </p:spPr>
      </p:pic>
      <p:sp>
        <p:nvSpPr>
          <p:cNvPr id="3" name="Text 0"/>
          <p:cNvSpPr/>
          <p:nvPr/>
        </p:nvSpPr>
        <p:spPr>
          <a:xfrm>
            <a:off x="646271" y="3213616"/>
            <a:ext cx="4616410" cy="576977"/>
          </a:xfrm>
          <a:prstGeom prst="rect">
            <a:avLst/>
          </a:prstGeom>
          <a:noFill/>
          <a:ln/>
        </p:spPr>
        <p:txBody>
          <a:bodyPr wrap="none" lIns="0" tIns="0" rIns="0" bIns="0" rtlCol="0" anchor="t"/>
          <a:lstStyle/>
          <a:p>
            <a:pPr marL="0" indent="0" algn="l">
              <a:lnSpc>
                <a:spcPts val="4500"/>
              </a:lnSpc>
              <a:buNone/>
            </a:pPr>
            <a:r>
              <a:rPr lang="en-US" sz="3600" b="1" dirty="0">
                <a:solidFill>
                  <a:srgbClr val="333F70"/>
                </a:solidFill>
                <a:latin typeface="Unbounded Bold" pitchFamily="34" charset="0"/>
                <a:ea typeface="Unbounded Bold" pitchFamily="34" charset="-122"/>
                <a:cs typeface="Unbounded Bold" pitchFamily="34" charset="-120"/>
              </a:rPr>
              <a:t>Conclusion</a:t>
            </a:r>
            <a:endParaRPr lang="en-US" sz="3600" dirty="0"/>
          </a:p>
        </p:txBody>
      </p:sp>
      <p:sp>
        <p:nvSpPr>
          <p:cNvPr id="4" name="Text 1"/>
          <p:cNvSpPr/>
          <p:nvPr/>
        </p:nvSpPr>
        <p:spPr>
          <a:xfrm>
            <a:off x="646271" y="4067532"/>
            <a:ext cx="13337858" cy="2388870"/>
          </a:xfrm>
          <a:prstGeom prst="rect">
            <a:avLst/>
          </a:prstGeom>
          <a:noFill/>
          <a:ln/>
        </p:spPr>
        <p:txBody>
          <a:bodyPr wrap="square" lIns="0" tIns="0" rIns="0" bIns="0" rtlCol="0" anchor="t"/>
          <a:lstStyle/>
          <a:p>
            <a:pPr marL="0" indent="0" algn="l">
              <a:lnSpc>
                <a:spcPts val="6250"/>
              </a:lnSpc>
              <a:buNone/>
            </a:pPr>
            <a:r>
              <a:rPr lang="en-US" sz="5000" b="1" dirty="0">
                <a:solidFill>
                  <a:srgbClr val="26A688"/>
                </a:solidFill>
                <a:latin typeface="Unbounded Bold" pitchFamily="34" charset="0"/>
                <a:ea typeface="Unbounded Bold" pitchFamily="34" charset="-122"/>
                <a:cs typeface="Unbounded Bold" pitchFamily="34" charset="-120"/>
              </a:rPr>
              <a:t>Effective process synchronization</a:t>
            </a:r>
            <a:r>
              <a:rPr lang="en-US" sz="5000" b="1" dirty="0">
                <a:solidFill>
                  <a:srgbClr val="333F70"/>
                </a:solidFill>
                <a:latin typeface="Unbounded Bold" pitchFamily="34" charset="0"/>
                <a:ea typeface="Unbounded Bold" pitchFamily="34" charset="-122"/>
                <a:cs typeface="Unbounded Bold" pitchFamily="34" charset="-120"/>
              </a:rPr>
              <a:t> is fundamental to reliable operating systems.</a:t>
            </a:r>
            <a:endParaRPr lang="en-US" sz="5000" dirty="0"/>
          </a:p>
        </p:txBody>
      </p:sp>
      <p:sp>
        <p:nvSpPr>
          <p:cNvPr id="5" name="Text 2"/>
          <p:cNvSpPr/>
          <p:nvPr/>
        </p:nvSpPr>
        <p:spPr>
          <a:xfrm>
            <a:off x="646271" y="6733342"/>
            <a:ext cx="13337858" cy="590788"/>
          </a:xfrm>
          <a:prstGeom prst="rect">
            <a:avLst/>
          </a:prstGeom>
          <a:noFill/>
          <a:ln/>
        </p:spPr>
        <p:txBody>
          <a:bodyPr wrap="square" lIns="0" tIns="0" rIns="0" bIns="0" rtlCol="0" anchor="t"/>
          <a:lstStyle/>
          <a:p>
            <a:pPr marL="0" indent="0" algn="l">
              <a:lnSpc>
                <a:spcPts val="2300"/>
              </a:lnSpc>
              <a:buNone/>
            </a:pPr>
            <a:r>
              <a:rPr lang="en-US" sz="1450" dirty="0">
                <a:solidFill>
                  <a:srgbClr val="333F70"/>
                </a:solidFill>
                <a:latin typeface="Open Sans" pitchFamily="34" charset="0"/>
                <a:ea typeface="Open Sans" pitchFamily="34" charset="-122"/>
                <a:cs typeface="Open Sans" pitchFamily="34" charset="-120"/>
              </a:rPr>
              <a:t>By understanding and correctly implementing mechanisms like Peterson's solution, locks, and semaphores, we can prevent race conditions and ensure data </a:t>
            </a:r>
            <a:r>
              <a:rPr lang="en-US" sz="1450" dirty="0" err="1">
                <a:solidFill>
                  <a:srgbClr val="333F70"/>
                </a:solidFill>
                <a:latin typeface="Open Sans" pitchFamily="34" charset="0"/>
                <a:ea typeface="Open Sans" pitchFamily="34" charset="-122"/>
                <a:cs typeface="Open Sans" pitchFamily="34" charset="-120"/>
              </a:rPr>
              <a:t>consistancy</a:t>
            </a:r>
            <a:r>
              <a:rPr lang="en-US" sz="1450" dirty="0">
                <a:solidFill>
                  <a:srgbClr val="333F70"/>
                </a:solidFill>
                <a:latin typeface="Open Sans" pitchFamily="34" charset="0"/>
                <a:ea typeface="Open Sans" pitchFamily="34" charset="-122"/>
                <a:cs typeface="Open Sans" pitchFamily="34" charset="-120"/>
              </a:rPr>
              <a:t> in concurrent environments.</a:t>
            </a:r>
            <a:endParaRPr lang="en-US" sz="14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825</TotalTime>
  <Words>474</Words>
  <Application>Microsoft Office PowerPoint</Application>
  <PresentationFormat>Custom</PresentationFormat>
  <Paragraphs>77</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Open Sans</vt:lpstr>
      <vt:lpstr>Calibri</vt:lpstr>
      <vt:lpstr>Arial</vt:lpstr>
      <vt:lpstr>Unbounded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Midou</cp:lastModifiedBy>
  <cp:revision>3</cp:revision>
  <dcterms:created xsi:type="dcterms:W3CDTF">2025-10-21T18:26:21Z</dcterms:created>
  <dcterms:modified xsi:type="dcterms:W3CDTF">2025-10-22T08:18:58Z</dcterms:modified>
</cp:coreProperties>
</file>