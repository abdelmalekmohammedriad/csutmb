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4020202020204" charset="0"/>
      <p:regular r:id="rId1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-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985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9195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 Modèle en Spirale (Spiral Model)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49673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modèle de processus de développement logiciel axé sur la gestion des risques et l'approche itérative.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52118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Proposé par Barry Boehm en 1986, il combine les forces du Waterfall et des modèles itératifs.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506590-9329-4A77-9F86-C9ABDC717CF8}"/>
              </a:ext>
            </a:extLst>
          </p:cNvPr>
          <p:cNvSpPr/>
          <p:nvPr/>
        </p:nvSpPr>
        <p:spPr>
          <a:xfrm>
            <a:off x="12701117" y="7184571"/>
            <a:ext cx="1929283" cy="1045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1951"/>
            <a:ext cx="54847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Pourquoi "Spirale" ?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2197418" y="2790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Planification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81005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Définition des objectifs, contraintes et alternatives.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4585" y="3774519"/>
            <a:ext cx="318968" cy="318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2381845"/>
            <a:ext cx="3654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Analyse des Risques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7628" y="2872264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Identification, analyse et mitigation des menaces.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8797" y="3347442"/>
            <a:ext cx="318968" cy="3189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4016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Ingénierie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507230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Développement, codage et tests du produit.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041" y="4465439"/>
            <a:ext cx="318968" cy="3189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597628" y="56518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Évaluation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597628" y="6142315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client et planification de la prochaine itération.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18797" y="5583436"/>
            <a:ext cx="318968" cy="3189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72145" y="5207675"/>
            <a:ext cx="406050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 Cœur du Modèle</a:t>
            </a:r>
            <a:endParaRPr lang="en-US" sz="2650" dirty="0"/>
          </a:p>
        </p:txBody>
      </p:sp>
      <p:sp>
        <p:nvSpPr>
          <p:cNvPr id="20" name="Text 10"/>
          <p:cNvSpPr/>
          <p:nvPr/>
        </p:nvSpPr>
        <p:spPr>
          <a:xfrm>
            <a:off x="793790" y="5769054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cycle (spirale) répète ces quatre quadrants.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204585" y="511659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25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CC4CF5-9F2B-4519-A330-4FD93898F837}"/>
              </a:ext>
            </a:extLst>
          </p:cNvPr>
          <p:cNvSpPr/>
          <p:nvPr/>
        </p:nvSpPr>
        <p:spPr>
          <a:xfrm>
            <a:off x="12701117" y="7184571"/>
            <a:ext cx="1929283" cy="1045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639604"/>
            <a:ext cx="7658100" cy="106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 Principe Clé : Progression et Risques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4560570" y="2019300"/>
            <a:ext cx="22860" cy="5570696"/>
          </a:xfrm>
          <a:prstGeom prst="roundRect">
            <a:avLst>
              <a:gd name="adj" fmla="val 390020"/>
            </a:avLst>
          </a:prstGeom>
          <a:solidFill>
            <a:srgbClr val="BCDBD4"/>
          </a:solidFill>
          <a:ln/>
        </p:spPr>
      </p:sp>
      <p:sp>
        <p:nvSpPr>
          <p:cNvPr id="5" name="Shape 2"/>
          <p:cNvSpPr/>
          <p:nvPr/>
        </p:nvSpPr>
        <p:spPr>
          <a:xfrm>
            <a:off x="4170402" y="2246590"/>
            <a:ext cx="424458" cy="22860"/>
          </a:xfrm>
          <a:prstGeom prst="roundRect">
            <a:avLst>
              <a:gd name="adj" fmla="val 390020"/>
            </a:avLst>
          </a:prstGeom>
          <a:solidFill>
            <a:srgbClr val="BCDBD4"/>
          </a:solidFill>
          <a:ln/>
        </p:spPr>
      </p:sp>
      <p:sp>
        <p:nvSpPr>
          <p:cNvPr id="6" name="Shape 3"/>
          <p:cNvSpPr/>
          <p:nvPr/>
        </p:nvSpPr>
        <p:spPr>
          <a:xfrm>
            <a:off x="4492407" y="2178427"/>
            <a:ext cx="159187" cy="159187"/>
          </a:xfrm>
          <a:prstGeom prst="roundRect">
            <a:avLst>
              <a:gd name="adj" fmla="val 287209"/>
            </a:avLst>
          </a:prstGeom>
          <a:solidFill>
            <a:srgbClr val="26A688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2092166"/>
            <a:ext cx="2980015" cy="66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Développement Itératif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42950" y="2882860"/>
            <a:ext cx="2980015" cy="135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boucle ajoute des détails et des fonctionnalités, produisant une version affinée.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549140" y="3520083"/>
            <a:ext cx="424458" cy="22860"/>
          </a:xfrm>
          <a:prstGeom prst="roundRect">
            <a:avLst>
              <a:gd name="adj" fmla="val 390020"/>
            </a:avLst>
          </a:prstGeom>
          <a:solidFill>
            <a:srgbClr val="BCDBD4"/>
          </a:solidFill>
          <a:ln/>
        </p:spPr>
      </p:sp>
      <p:sp>
        <p:nvSpPr>
          <p:cNvPr id="10" name="Shape 7"/>
          <p:cNvSpPr/>
          <p:nvPr/>
        </p:nvSpPr>
        <p:spPr>
          <a:xfrm>
            <a:off x="4492407" y="3451920"/>
            <a:ext cx="159187" cy="159187"/>
          </a:xfrm>
          <a:prstGeom prst="roundRect">
            <a:avLst>
              <a:gd name="adj" fmla="val 287209"/>
            </a:avLst>
          </a:prstGeom>
          <a:solidFill>
            <a:srgbClr val="26A688"/>
          </a:solidFill>
          <a:ln/>
        </p:spPr>
      </p:sp>
      <p:sp>
        <p:nvSpPr>
          <p:cNvPr id="11" name="Text 8"/>
          <p:cNvSpPr/>
          <p:nvPr/>
        </p:nvSpPr>
        <p:spPr>
          <a:xfrm>
            <a:off x="5421035" y="3365659"/>
            <a:ext cx="2980015" cy="66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Gestion des Risques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5421035" y="4156353"/>
            <a:ext cx="2980015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L'identification et la mitigation des risques sont intégrées à chaque phase.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170402" y="4892873"/>
            <a:ext cx="424458" cy="22860"/>
          </a:xfrm>
          <a:prstGeom prst="roundRect">
            <a:avLst>
              <a:gd name="adj" fmla="val 390020"/>
            </a:avLst>
          </a:prstGeom>
          <a:solidFill>
            <a:srgbClr val="BCDBD4"/>
          </a:solidFill>
          <a:ln/>
        </p:spPr>
      </p:sp>
      <p:sp>
        <p:nvSpPr>
          <p:cNvPr id="14" name="Shape 11"/>
          <p:cNvSpPr/>
          <p:nvPr/>
        </p:nvSpPr>
        <p:spPr>
          <a:xfrm>
            <a:off x="4492407" y="4824710"/>
            <a:ext cx="159187" cy="159187"/>
          </a:xfrm>
          <a:prstGeom prst="roundRect">
            <a:avLst>
              <a:gd name="adj" fmla="val 287209"/>
            </a:avLst>
          </a:prstGeom>
          <a:solidFill>
            <a:srgbClr val="26A688"/>
          </a:solidFill>
          <a:ln/>
        </p:spPr>
      </p:sp>
      <p:sp>
        <p:nvSpPr>
          <p:cNvPr id="15" name="Text 12"/>
          <p:cNvSpPr/>
          <p:nvPr/>
        </p:nvSpPr>
        <p:spPr>
          <a:xfrm>
            <a:off x="742950" y="4738449"/>
            <a:ext cx="2980015" cy="66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Rayon de la Spirale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742950" y="5529143"/>
            <a:ext cx="2980015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Représente le progrès cumulé du projet (fonctionnalités).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4549140" y="6046232"/>
            <a:ext cx="424458" cy="22860"/>
          </a:xfrm>
          <a:prstGeom prst="roundRect">
            <a:avLst>
              <a:gd name="adj" fmla="val 390020"/>
            </a:avLst>
          </a:prstGeom>
          <a:solidFill>
            <a:srgbClr val="BCDBD4"/>
          </a:solidFill>
          <a:ln/>
        </p:spPr>
      </p:sp>
      <p:sp>
        <p:nvSpPr>
          <p:cNvPr id="18" name="Shape 15"/>
          <p:cNvSpPr/>
          <p:nvPr/>
        </p:nvSpPr>
        <p:spPr>
          <a:xfrm>
            <a:off x="4492407" y="5978069"/>
            <a:ext cx="159187" cy="159187"/>
          </a:xfrm>
          <a:prstGeom prst="roundRect">
            <a:avLst>
              <a:gd name="adj" fmla="val 287209"/>
            </a:avLst>
          </a:prstGeom>
          <a:solidFill>
            <a:srgbClr val="26A688"/>
          </a:solidFill>
          <a:ln/>
        </p:spPr>
      </p:sp>
      <p:sp>
        <p:nvSpPr>
          <p:cNvPr id="19" name="Text 16"/>
          <p:cNvSpPr/>
          <p:nvPr/>
        </p:nvSpPr>
        <p:spPr>
          <a:xfrm>
            <a:off x="5421035" y="5891808"/>
            <a:ext cx="2980015" cy="66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Angle de la Spirale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5421035" y="6682502"/>
            <a:ext cx="2980015" cy="679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Représente le coût encouru jusqu'à présent (ressources).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2531"/>
            <a:ext cx="896778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Focus sur l'Analyse des Risques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133951" y="2478286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C'est la partie la plus critique et unique du Modèle en Spirale.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223135"/>
            <a:ext cx="30480" cy="873204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351490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3351490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608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Identification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409920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Quels sont les problèmes potentiels (techniques, financiers, d'échéance) 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351490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6482" y="3351490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1" name="Text 9"/>
          <p:cNvSpPr/>
          <p:nvPr/>
        </p:nvSpPr>
        <p:spPr>
          <a:xfrm>
            <a:off x="5565696" y="3608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5696" y="409920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Évaluation de la probabilité et de l'impact de chaque risque identifié.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351490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9653" y="3351490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5" name="Text 13"/>
          <p:cNvSpPr/>
          <p:nvPr/>
        </p:nvSpPr>
        <p:spPr>
          <a:xfrm>
            <a:off x="9988868" y="3608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Mitigation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88868" y="409920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Développement de prototypes, simulations, ou plans d'urgence pour réduire les menaces.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700355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1F1E5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052066"/>
            <a:ext cx="283488" cy="22681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30906" y="5983843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Exemple : Pour mitiger le risque d'intégration technique, on développe un </a:t>
            </a: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petit prototype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test avant l'implémentation complète.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2D08FB-6D5A-4ADE-8F0C-2C54442AE853}"/>
              </a:ext>
            </a:extLst>
          </p:cNvPr>
          <p:cNvSpPr/>
          <p:nvPr/>
        </p:nvSpPr>
        <p:spPr>
          <a:xfrm>
            <a:off x="12701117" y="7184571"/>
            <a:ext cx="1929283" cy="1045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4698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Progression Typique des Risques et des Coûts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822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À chaque itération, l'incertitude diminue et la satisfaction client augmente, malgré une augmentation du coût cumulé.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00331"/>
            <a:ext cx="13042821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60795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581" y="375165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Spiral 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836" y="375165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$20,000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43280" y="375165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Élevé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848725" y="375165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20%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454170" y="375165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60%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25827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581" y="440197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Spiral 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637836" y="440197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$35,000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43280" y="440197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A5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Moyen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848725" y="4401979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50%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1454170" y="440197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75%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90859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581" y="505229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Spiral 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836" y="505229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$45,000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43280" y="505229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8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Faible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8848725" y="505229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80%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1454170" y="505229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90%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801410" y="555890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28581" y="570261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Spiral 4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3637836" y="570261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$50,000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6243280" y="570261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8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Très Faible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8848725" y="570261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1454170" y="570261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93790" y="64719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Résultat :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30-40% moins d'échecs dans les environnements à haut risque.</a:t>
            </a:r>
            <a:endParaRPr lang="en-US" sz="17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588729-A40A-4285-96BE-38F5A4AF66BE}"/>
              </a:ext>
            </a:extLst>
          </p:cNvPr>
          <p:cNvSpPr/>
          <p:nvPr/>
        </p:nvSpPr>
        <p:spPr>
          <a:xfrm>
            <a:off x="12701117" y="7184571"/>
            <a:ext cx="1929283" cy="1045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847" y="386358"/>
            <a:ext cx="6025277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Quand Utiliser le Modèle en Spirale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1847" y="1018699"/>
            <a:ext cx="13646706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 modèle excelle pour les projets où l'inconnu et la complexité sont les facteurs dominants.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1847" y="1541978"/>
            <a:ext cx="1756529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Critères Clés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1847" y="1901904"/>
            <a:ext cx="665202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grand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et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complexe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1847" y="2175867"/>
            <a:ext cx="665202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Exigences initiales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floues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évolutives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1847" y="2449830"/>
            <a:ext cx="665202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Présence de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risques élevés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(technologiques ou fonctionnels).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1847" y="2723793"/>
            <a:ext cx="665202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Nécessité de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utilisateur précoce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1847" y="2997756"/>
            <a:ext cx="665202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prototypage est essentiel.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378" y="1576982"/>
            <a:ext cx="6652022" cy="665202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4151" y="8369498"/>
            <a:ext cx="2615208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Domaines d'Application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4151" y="8729424"/>
            <a:ext cx="665202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Systèmes de défense et aérospatiaux.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4151" y="9003387"/>
            <a:ext cx="665202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Grands logiciels d'entreprise (ERP, CRM).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4151" y="9277350"/>
            <a:ext cx="665202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Projets nécessitant des technologies expérimentales.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017" y="405408"/>
            <a:ext cx="9374029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Comparaison des Modèles : Spiral vs. Traditionnels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6017" y="1068824"/>
            <a:ext cx="135983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Modèle en Spirale offre une robustesse unique en gestion des risques.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17" y="1470422"/>
            <a:ext cx="13598366" cy="71725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9324" y="8642985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0E3E33"/>
          </a:solidFill>
          <a:ln/>
        </p:spPr>
      </p:sp>
      <p:sp>
        <p:nvSpPr>
          <p:cNvPr id="6" name="Text 3"/>
          <p:cNvSpPr/>
          <p:nvPr/>
        </p:nvSpPr>
        <p:spPr>
          <a:xfrm>
            <a:off x="4327684" y="8642985"/>
            <a:ext cx="619482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Waterfall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045643" y="8642985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165E4D"/>
          </a:solidFill>
          <a:ln/>
        </p:spPr>
      </p:sp>
      <p:sp>
        <p:nvSpPr>
          <p:cNvPr id="8" name="Text 5"/>
          <p:cNvSpPr/>
          <p:nvPr/>
        </p:nvSpPr>
        <p:spPr>
          <a:xfrm>
            <a:off x="7254002" y="8642985"/>
            <a:ext cx="330518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Agile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83115" y="8642985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1D7E67"/>
          </a:solidFill>
          <a:ln/>
        </p:spPr>
      </p:sp>
      <p:sp>
        <p:nvSpPr>
          <p:cNvPr id="10" name="Text 7"/>
          <p:cNvSpPr/>
          <p:nvPr/>
        </p:nvSpPr>
        <p:spPr>
          <a:xfrm>
            <a:off x="9891474" y="8642985"/>
            <a:ext cx="387668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Spiral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6017" y="9251275"/>
            <a:ext cx="135983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Constat :</a:t>
            </a: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 Spiral combine l'itération Agile avec une structure de documentation et de risque plus forte que Waterfall.</a:t>
            </a:r>
            <a:endParaRPr lang="en-US" sz="11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A3D75-6A1E-4C7C-967B-C70DE5759033}"/>
              </a:ext>
            </a:extLst>
          </p:cNvPr>
          <p:cNvSpPr/>
          <p:nvPr/>
        </p:nvSpPr>
        <p:spPr>
          <a:xfrm>
            <a:off x="12580537" y="7053942"/>
            <a:ext cx="1929283" cy="1045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4649"/>
            <a:ext cx="124747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Anatomie d'une Itération : Rôles et Livrables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025253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192248"/>
          </a:solidFill>
          <a:ln w="7620">
            <a:solidFill>
              <a:srgbClr val="323B6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7621" y="2195274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2932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Planification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42292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Livrable: Exigences pour l'itération.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392191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Participants: Analystes, Clients.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25253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B4EEE0"/>
          </a:solidFill>
          <a:ln w="7620">
            <a:solidFill>
              <a:srgbClr val="9AD4C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2498" y="2195274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55362" y="2932509"/>
            <a:ext cx="29303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Analyse Risques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655362" y="342292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Livrable: Stratégies de mitigation des risques.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655362" y="392191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Participants: Développeurs, Managers.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738449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192248"/>
          </a:solidFill>
          <a:ln w="7620">
            <a:solidFill>
              <a:srgbClr val="323B6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7621" y="4908471"/>
            <a:ext cx="340162" cy="3401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0604" y="56457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Ingénierie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1020604" y="613612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Livrable: Prototype ou version fonctionnelle.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020604" y="6635115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Participants: Développeurs, Testeurs.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738449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B4EEE0"/>
          </a:solidFill>
          <a:ln w="7620">
            <a:solidFill>
              <a:srgbClr val="9AD4C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2498" y="4908471"/>
            <a:ext cx="340162" cy="3401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55362" y="56457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Évaluation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655362" y="613612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Livrable: Exigences mises à jour.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655362" y="6635115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Participants: Clients, Équipe QA.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CDE1BA-2E20-48DA-BE7C-EF3A522BE249}"/>
              </a:ext>
            </a:extLst>
          </p:cNvPr>
          <p:cNvSpPr/>
          <p:nvPr/>
        </p:nvSpPr>
        <p:spPr>
          <a:xfrm>
            <a:off x="12701117" y="7184571"/>
            <a:ext cx="1929283" cy="1045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0356"/>
            <a:ext cx="934283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Avantages et Inconvénients Clés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74307"/>
            <a:ext cx="4698444" cy="440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✅</a:t>
            </a: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Avantages Majeurs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2781300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769989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Risques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Extrêmement robuste, détection précoce des problèmes.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960733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3949422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Client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Implication très élevée et continue.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140166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0906" y="5128855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Flexibilité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S'adapte facilement aux changements d'exigences.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6319599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0906" y="6308288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Livraison Progressive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Prototypes et versions sont livrés rapidement.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7599521" y="2074307"/>
            <a:ext cx="5407343" cy="440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❌</a:t>
            </a: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Désavantages et Défis</a:t>
            </a:r>
            <a:endParaRPr lang="en-US" sz="2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2781300"/>
            <a:ext cx="340162" cy="340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336637" y="2769989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Complexité de Gestion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Nécessite une planification et un suivi rigoureux.</a:t>
            </a:r>
            <a:endParaRPr lang="en-US" sz="17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3960733"/>
            <a:ext cx="340162" cy="34016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336637" y="3949422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Coût Élevé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Les itérations et les évaluations de risques fréquentes sont coûteuses.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5140166"/>
            <a:ext cx="340162" cy="34016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336637" y="5128855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Expertise Requise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Demande des analystes de risques expérimentés.</a:t>
            </a:r>
            <a:endParaRPr lang="en-US" sz="17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6319599"/>
            <a:ext cx="340162" cy="34016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8336637" y="6308288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Projets Mineurs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Surdimensionné et inapproprié pour les petits projets.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959D3-E4D0-48FB-A242-998528DEE778}"/>
              </a:ext>
            </a:extLst>
          </p:cNvPr>
          <p:cNvSpPr/>
          <p:nvPr/>
        </p:nvSpPr>
        <p:spPr>
          <a:xfrm>
            <a:off x="12701117" y="7184571"/>
            <a:ext cx="1929283" cy="1045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875" y="559356"/>
            <a:ext cx="10769560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Scénario d'Application : Système Bancaire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1875" y="1474589"/>
            <a:ext cx="13206651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 la Spirale déploie progressivement les fonctionnalités d'un système critique.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1875" y="2028706"/>
            <a:ext cx="1650802" cy="1171932"/>
          </a:xfrm>
          <a:prstGeom prst="roundRect">
            <a:avLst>
              <a:gd name="adj" fmla="val 729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4222" y="2471618"/>
            <a:ext cx="285988" cy="2859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6035" y="2232065"/>
            <a:ext cx="487251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Spiral 4 : Déploiement Complet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566035" y="2672001"/>
            <a:ext cx="7752755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Tests système finaux, sécurité renforcée, déploiement global. </a:t>
            </a:r>
            <a:r>
              <a:rPr lang="en-US" sz="16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Risque: Très faible.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64356" y="3191113"/>
            <a:ext cx="11352490" cy="11430"/>
          </a:xfrm>
          <a:prstGeom prst="roundRect">
            <a:avLst>
              <a:gd name="adj" fmla="val 747462"/>
            </a:avLst>
          </a:prstGeom>
          <a:solidFill>
            <a:srgbClr val="BCDBD4"/>
          </a:solidFill>
          <a:ln/>
        </p:spPr>
      </p:sp>
      <p:sp>
        <p:nvSpPr>
          <p:cNvPr id="9" name="Shape 6"/>
          <p:cNvSpPr/>
          <p:nvPr/>
        </p:nvSpPr>
        <p:spPr>
          <a:xfrm>
            <a:off x="711875" y="3302318"/>
            <a:ext cx="3301603" cy="1171932"/>
          </a:xfrm>
          <a:prstGeom prst="roundRect">
            <a:avLst>
              <a:gd name="adj" fmla="val 729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19682" y="3745230"/>
            <a:ext cx="285988" cy="2859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16837" y="3505676"/>
            <a:ext cx="474416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Spiral 3 : Sécurité et Rapports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16837" y="3945612"/>
            <a:ext cx="9073277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Ajout des fonctions de sécurité avancées et des modules de reporting. Validation réglementaire.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115157" y="4464725"/>
            <a:ext cx="9701689" cy="11430"/>
          </a:xfrm>
          <a:prstGeom prst="roundRect">
            <a:avLst>
              <a:gd name="adj" fmla="val 747462"/>
            </a:avLst>
          </a:prstGeom>
          <a:solidFill>
            <a:srgbClr val="BCDBD4"/>
          </a:solidFill>
          <a:ln/>
        </p:spPr>
      </p:sp>
      <p:sp>
        <p:nvSpPr>
          <p:cNvPr id="14" name="Shape 10"/>
          <p:cNvSpPr/>
          <p:nvPr/>
        </p:nvSpPr>
        <p:spPr>
          <a:xfrm>
            <a:off x="711875" y="4575929"/>
            <a:ext cx="4952405" cy="1497211"/>
          </a:xfrm>
          <a:prstGeom prst="roundRect">
            <a:avLst>
              <a:gd name="adj" fmla="val 570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5023" y="5181481"/>
            <a:ext cx="285988" cy="2859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67638" y="4779288"/>
            <a:ext cx="5500926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Spiral 2 : Comptes et Transactions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5867638" y="5219224"/>
            <a:ext cx="7847528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Implémentation des modules de base (transaction, gestion de compte). Validation de l'architecture.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765959" y="6063615"/>
            <a:ext cx="8050887" cy="11430"/>
          </a:xfrm>
          <a:prstGeom prst="roundRect">
            <a:avLst>
              <a:gd name="adj" fmla="val 747462"/>
            </a:avLst>
          </a:prstGeom>
          <a:solidFill>
            <a:srgbClr val="BCDBD4"/>
          </a:solidFill>
          <a:ln/>
        </p:spPr>
      </p:sp>
      <p:sp>
        <p:nvSpPr>
          <p:cNvPr id="19" name="Shape 14"/>
          <p:cNvSpPr/>
          <p:nvPr/>
        </p:nvSpPr>
        <p:spPr>
          <a:xfrm>
            <a:off x="711875" y="6174819"/>
            <a:ext cx="6603325" cy="1497211"/>
          </a:xfrm>
          <a:prstGeom prst="roundRect">
            <a:avLst>
              <a:gd name="adj" fmla="val 570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0484" y="6780371"/>
            <a:ext cx="285988" cy="2859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18559" y="6378178"/>
            <a:ext cx="429672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Spiral 1 : Prototype de Base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518559" y="6818114"/>
            <a:ext cx="6196608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Recueil des exigences initiales et développement du module de connexion. Risque: Élevé.</a:t>
            </a:r>
            <a:endParaRPr lang="en-US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E30A15-987D-4C20-A515-5E66E9B34CDE}"/>
              </a:ext>
            </a:extLst>
          </p:cNvPr>
          <p:cNvSpPr/>
          <p:nvPr/>
        </p:nvSpPr>
        <p:spPr>
          <a:xfrm>
            <a:off x="12701117" y="7184571"/>
            <a:ext cx="1929283" cy="1045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715</Words>
  <Application>Microsoft Office PowerPoint</Application>
  <PresentationFormat>Custom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Unbounded Bold</vt:lpstr>
      <vt:lpstr>Calibri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Midou</cp:lastModifiedBy>
  <cp:revision>3</cp:revision>
  <dcterms:created xsi:type="dcterms:W3CDTF">2025-10-28T19:15:30Z</dcterms:created>
  <dcterms:modified xsi:type="dcterms:W3CDTF">2025-10-28T19:35:44Z</dcterms:modified>
</cp:coreProperties>
</file>