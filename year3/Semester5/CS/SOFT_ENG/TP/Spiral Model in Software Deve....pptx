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62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957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815584"/>
            <a:ext cx="13048488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6099048"/>
            <a:ext cx="457200" cy="6400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62456" y="6099048"/>
            <a:ext cx="5266944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Author: ABDELMALEK MOHAMMEDRIAD</a:t>
            </a:r>
            <a:endParaRPr lang="en-US" sz="2230" dirty="0"/>
          </a:p>
        </p:txBody>
      </p:sp>
      <p:sp>
        <p:nvSpPr>
          <p:cNvPr id="8" name="Text 2"/>
          <p:cNvSpPr/>
          <p:nvPr/>
        </p:nvSpPr>
        <p:spPr>
          <a:xfrm>
            <a:off x="795528" y="3602736"/>
            <a:ext cx="130484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Spiral Model in Software Development</a:t>
            </a:r>
            <a:endParaRPr lang="en-US" sz="6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1179576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CONTENTS</a:t>
            </a:r>
            <a:endParaRPr lang="en-US" sz="6160" dirty="0"/>
          </a:p>
        </p:txBody>
      </p:sp>
      <p:sp>
        <p:nvSpPr>
          <p:cNvPr id="5" name="Text 1"/>
          <p:cNvSpPr/>
          <p:nvPr/>
        </p:nvSpPr>
        <p:spPr>
          <a:xfrm>
            <a:off x="1024128" y="2642616"/>
            <a:ext cx="264261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1. Definition</a:t>
            </a:r>
            <a:endParaRPr lang="en-US" sz="2230" dirty="0"/>
          </a:p>
        </p:txBody>
      </p:sp>
      <p:sp>
        <p:nvSpPr>
          <p:cNvPr id="6" name="Text 2"/>
          <p:cNvSpPr/>
          <p:nvPr/>
        </p:nvSpPr>
        <p:spPr>
          <a:xfrm>
            <a:off x="1024128" y="4032504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5. Phases in Spiral Model</a:t>
            </a:r>
            <a:endParaRPr lang="en-US" sz="2230" dirty="0"/>
          </a:p>
        </p:txBody>
      </p:sp>
      <p:sp>
        <p:nvSpPr>
          <p:cNvPr id="7" name="Text 3"/>
          <p:cNvSpPr/>
          <p:nvPr/>
        </p:nvSpPr>
        <p:spPr>
          <a:xfrm>
            <a:off x="4343400" y="2642616"/>
            <a:ext cx="264261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2. Main Idea</a:t>
            </a:r>
            <a:endParaRPr lang="en-US" sz="2230" dirty="0"/>
          </a:p>
        </p:txBody>
      </p:sp>
      <p:sp>
        <p:nvSpPr>
          <p:cNvPr id="8" name="Text 4"/>
          <p:cNvSpPr/>
          <p:nvPr/>
        </p:nvSpPr>
        <p:spPr>
          <a:xfrm>
            <a:off x="1024128" y="5769864"/>
            <a:ext cx="26426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9. Detailed Phase Table — Spiral Cycle Breakdown</a:t>
            </a:r>
            <a:endParaRPr lang="en-US" sz="2230" dirty="0"/>
          </a:p>
        </p:txBody>
      </p:sp>
      <p:sp>
        <p:nvSpPr>
          <p:cNvPr id="9" name="Text 5"/>
          <p:cNvSpPr/>
          <p:nvPr/>
        </p:nvSpPr>
        <p:spPr>
          <a:xfrm>
            <a:off x="4343400" y="4032504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6. When to Use the Spiral Model</a:t>
            </a:r>
            <a:endParaRPr lang="en-US" sz="2230" dirty="0"/>
          </a:p>
        </p:txBody>
      </p:sp>
      <p:sp>
        <p:nvSpPr>
          <p:cNvPr id="10" name="Text 6"/>
          <p:cNvSpPr/>
          <p:nvPr/>
        </p:nvSpPr>
        <p:spPr>
          <a:xfrm>
            <a:off x="7662672" y="2642616"/>
            <a:ext cx="264261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3. Structure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7662672" y="4032504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7. Example Scenario</a:t>
            </a:r>
            <a:endParaRPr lang="en-US" sz="2230" dirty="0"/>
          </a:p>
        </p:txBody>
      </p:sp>
      <p:sp>
        <p:nvSpPr>
          <p:cNvPr id="12" name="Text 8"/>
          <p:cNvSpPr/>
          <p:nvPr/>
        </p:nvSpPr>
        <p:spPr>
          <a:xfrm>
            <a:off x="10972800" y="2642616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4. Diagram Explanation</a:t>
            </a:r>
            <a:endParaRPr lang="en-US" sz="2230" dirty="0"/>
          </a:p>
        </p:txBody>
      </p:sp>
      <p:sp>
        <p:nvSpPr>
          <p:cNvPr id="13" name="Text 9"/>
          <p:cNvSpPr/>
          <p:nvPr/>
        </p:nvSpPr>
        <p:spPr>
          <a:xfrm>
            <a:off x="10972800" y="4032504"/>
            <a:ext cx="26426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8. Comparative Statistics — Spiral vs Other Models</a:t>
            </a:r>
            <a:endParaRPr lang="en-US" sz="22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957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977640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1. Definition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5528" y="4946904"/>
            <a:ext cx="1304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Spiral Model is a risk-driven software development process model that combines elements of both Waterfall and Iterative models. It was proposed by Barry Boehm in 1986.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795528" y="5760720"/>
            <a:ext cx="1304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It’s called spiral because the development process passes through repeated loops (spirals) — each representing a phase of the software with planning, risk analysis, development, and evaluation.</a:t>
            </a:r>
            <a:endParaRPr lang="en-US" sz="1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2944368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2. Main Idea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5528" y="3904488"/>
            <a:ext cx="80741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Unlike traditional linear models (like Waterfall), the Spiral Model iterates through several versions of the software — each cycle adds more detail and functionality. At every spiral, risks are identified, analyzed, and managed before moving to the next phase.</a:t>
            </a:r>
            <a:endParaRPr lang="en-US" sz="1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7688" y="3227832"/>
            <a:ext cx="719632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3. Structure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6647688" y="4187952"/>
            <a:ext cx="7196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Each loop in the spiral represents a phase in the software process and is divided into four main quadrants:</a:t>
            </a:r>
            <a:endParaRPr lang="en-US" sz="1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1719072"/>
            <a:ext cx="6455664" cy="294436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828032"/>
            <a:ext cx="6455664" cy="256946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719072"/>
            <a:ext cx="6455664" cy="294436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4828032"/>
            <a:ext cx="6455664" cy="256946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95528" y="859536"/>
            <a:ext cx="13048488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020"/>
              </a:lnSpc>
              <a:buNone/>
            </a:pPr>
            <a:r>
              <a:rPr lang="en-US" sz="401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Structure</a:t>
            </a:r>
            <a:endParaRPr lang="en-US" sz="4010" dirty="0"/>
          </a:p>
        </p:txBody>
      </p:sp>
      <p:sp>
        <p:nvSpPr>
          <p:cNvPr id="9" name="Text 1"/>
          <p:cNvSpPr/>
          <p:nvPr/>
        </p:nvSpPr>
        <p:spPr>
          <a:xfrm>
            <a:off x="1014984" y="1947672"/>
            <a:ext cx="59893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Planning (Objective setting)</a:t>
            </a:r>
            <a:endParaRPr lang="en-US" sz="2000" dirty="0"/>
          </a:p>
        </p:txBody>
      </p:sp>
      <p:sp>
        <p:nvSpPr>
          <p:cNvPr id="10" name="Text 2"/>
          <p:cNvSpPr/>
          <p:nvPr/>
        </p:nvSpPr>
        <p:spPr>
          <a:xfrm>
            <a:off x="1014984" y="2395728"/>
            <a:ext cx="5989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• Identify the system’s objectives, alternatives, and constraints: Determine what needs to be built in this iteration.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1014984" y="3282696"/>
            <a:ext cx="5989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• Define requirements for that phase: Example: Define what features to include in the next prototype. Gather user requirements.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1014984" y="5065776"/>
            <a:ext cx="59893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Engineering (Development and testing)</a:t>
            </a:r>
            <a:endParaRPr lang="en-US" sz="2000" dirty="0"/>
          </a:p>
        </p:txBody>
      </p:sp>
      <p:sp>
        <p:nvSpPr>
          <p:cNvPr id="13" name="Text 5"/>
          <p:cNvSpPr/>
          <p:nvPr/>
        </p:nvSpPr>
        <p:spPr>
          <a:xfrm>
            <a:off x="1014984" y="5504688"/>
            <a:ext cx="5989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• Actually develop the product for that cycle (coding, testing, etc.): Produce a working model, prototype, or part of the system.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1014984" y="6391656"/>
            <a:ext cx="59893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• Example: Implement a module, then test and validate it.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7644384" y="1947672"/>
            <a:ext cx="59893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Risk Analysis (Evaluation and alternatives)</a:t>
            </a:r>
            <a:endParaRPr lang="en-US" sz="2000" dirty="0"/>
          </a:p>
        </p:txBody>
      </p:sp>
      <p:sp>
        <p:nvSpPr>
          <p:cNvPr id="16" name="Text 8"/>
          <p:cNvSpPr/>
          <p:nvPr/>
        </p:nvSpPr>
        <p:spPr>
          <a:xfrm>
            <a:off x="7644384" y="2395728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• Identify potential risks (technical, financial, time-related, etc.): Analyze and find ways to mitigate or reduce risks.\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7644384" y="3026664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This is the most important and unique part of the Spiral Model.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7644384" y="3657600"/>
            <a:ext cx="5989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• Example: Risk: New technology might not integrate with existing systems. Solution: Build a small prototype to test compatibility.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7644384" y="5065776"/>
            <a:ext cx="59893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Evaluation (Customer feedback)</a:t>
            </a:r>
            <a:endParaRPr lang="en-US" sz="2000" dirty="0"/>
          </a:p>
        </p:txBody>
      </p:sp>
      <p:sp>
        <p:nvSpPr>
          <p:cNvPr id="20" name="Text 12"/>
          <p:cNvSpPr/>
          <p:nvPr/>
        </p:nvSpPr>
        <p:spPr>
          <a:xfrm>
            <a:off x="7644384" y="5504688"/>
            <a:ext cx="5989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• The customer reviews the result and gives feedback: This helps decide whether to continue to the next loop or adjust requirements.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7644384" y="6391656"/>
            <a:ext cx="5989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• Example: Users test the prototype and report usability issues. Developers use this feedback to plan the next iteration.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957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678424"/>
            <a:ext cx="6409944" cy="128016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5678424"/>
            <a:ext cx="6409944" cy="12801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6062472"/>
            <a:ext cx="6446520" cy="914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4" y="6062472"/>
            <a:ext cx="6446520" cy="914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5943600"/>
            <a:ext cx="6446520" cy="14630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5784" y="5943600"/>
            <a:ext cx="6446520" cy="14630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5678424"/>
            <a:ext cx="685800" cy="685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6144" y="5678424"/>
            <a:ext cx="685800" cy="6858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795528" y="3611880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4. Diagram Explanation</a:t>
            </a:r>
            <a:endParaRPr lang="en-US" sz="4460" dirty="0"/>
          </a:p>
        </p:txBody>
      </p:sp>
      <p:sp>
        <p:nvSpPr>
          <p:cNvPr id="13" name="Text 1"/>
          <p:cNvSpPr/>
          <p:nvPr/>
        </p:nvSpPr>
        <p:spPr>
          <a:xfrm>
            <a:off x="795528" y="4572000"/>
            <a:ext cx="130484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Imagine a spiral starting at the center and expanding outward. Each loop (cycle) passes through: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Planning → Risk Analysis → Engineering → Evaluation and then moves to the next spiral with updated requirements and lower risks.</a:t>
            </a:r>
            <a:endParaRPr lang="en-US" sz="1780" dirty="0"/>
          </a:p>
        </p:txBody>
      </p:sp>
      <p:sp>
        <p:nvSpPr>
          <p:cNvPr id="14" name="Text 2"/>
          <p:cNvSpPr/>
          <p:nvPr/>
        </p:nvSpPr>
        <p:spPr>
          <a:xfrm>
            <a:off x="1042416" y="6428232"/>
            <a:ext cx="59253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radius of the spiral = progress in the project.</a:t>
            </a:r>
            <a:endParaRPr lang="en-US" sz="1780" dirty="0"/>
          </a:p>
        </p:txBody>
      </p:sp>
      <p:sp>
        <p:nvSpPr>
          <p:cNvPr id="15" name="Text 3"/>
          <p:cNvSpPr/>
          <p:nvPr/>
        </p:nvSpPr>
        <p:spPr>
          <a:xfrm>
            <a:off x="3922776" y="5824728"/>
            <a:ext cx="16459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45454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140" dirty="0"/>
          </a:p>
        </p:txBody>
      </p:sp>
      <p:sp>
        <p:nvSpPr>
          <p:cNvPr id="16" name="Text 4"/>
          <p:cNvSpPr/>
          <p:nvPr/>
        </p:nvSpPr>
        <p:spPr>
          <a:xfrm>
            <a:off x="7671816" y="6428232"/>
            <a:ext cx="59253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angle of the spiral = cost incurred so far.</a:t>
            </a:r>
            <a:endParaRPr lang="en-US" sz="1780" dirty="0"/>
          </a:p>
        </p:txBody>
      </p:sp>
      <p:sp>
        <p:nvSpPr>
          <p:cNvPr id="17" name="Text 5"/>
          <p:cNvSpPr/>
          <p:nvPr/>
        </p:nvSpPr>
        <p:spPr>
          <a:xfrm>
            <a:off x="10552176" y="5824728"/>
            <a:ext cx="16459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45454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2441448"/>
            <a:ext cx="3401568" cy="221284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4846320"/>
            <a:ext cx="3401568" cy="192938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36" y="2441448"/>
            <a:ext cx="3401568" cy="221284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0736" y="4846320"/>
            <a:ext cx="3401568" cy="192938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2441448"/>
            <a:ext cx="146304" cy="221284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4846320"/>
            <a:ext cx="146304" cy="192938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1864" y="2441448"/>
            <a:ext cx="146304" cy="221284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1864" y="4846320"/>
            <a:ext cx="146304" cy="1929384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6647688" y="1490472"/>
            <a:ext cx="719632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5. Phases in Spiral Model</a:t>
            </a:r>
            <a:endParaRPr lang="en-US" sz="4460" dirty="0"/>
          </a:p>
        </p:txBody>
      </p:sp>
      <p:sp>
        <p:nvSpPr>
          <p:cNvPr id="13" name="Text 1"/>
          <p:cNvSpPr/>
          <p:nvPr/>
        </p:nvSpPr>
        <p:spPr>
          <a:xfrm>
            <a:off x="6986016" y="2697480"/>
            <a:ext cx="2907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Determining Objectives</a:t>
            </a:r>
            <a:endParaRPr lang="en-US" sz="2230" dirty="0"/>
          </a:p>
        </p:txBody>
      </p:sp>
      <p:sp>
        <p:nvSpPr>
          <p:cNvPr id="14" name="Text 2"/>
          <p:cNvSpPr/>
          <p:nvPr/>
        </p:nvSpPr>
        <p:spPr>
          <a:xfrm>
            <a:off x="6986016" y="3538728"/>
            <a:ext cx="2907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Define the purpose, requirements, and constraints.</a:t>
            </a:r>
            <a:endParaRPr lang="en-US" sz="1780" dirty="0"/>
          </a:p>
        </p:txBody>
      </p:sp>
      <p:sp>
        <p:nvSpPr>
          <p:cNvPr id="15" name="Text 3"/>
          <p:cNvSpPr/>
          <p:nvPr/>
        </p:nvSpPr>
        <p:spPr>
          <a:xfrm>
            <a:off x="6986016" y="5102352"/>
            <a:ext cx="2907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Development and Testing</a:t>
            </a:r>
            <a:endParaRPr lang="en-US" sz="2230" dirty="0"/>
          </a:p>
        </p:txBody>
      </p:sp>
      <p:sp>
        <p:nvSpPr>
          <p:cNvPr id="16" name="Text 4"/>
          <p:cNvSpPr/>
          <p:nvPr/>
        </p:nvSpPr>
        <p:spPr>
          <a:xfrm>
            <a:off x="6986016" y="5943600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Build and verify the product incrementally.</a:t>
            </a:r>
            <a:endParaRPr lang="en-US" sz="1780" dirty="0"/>
          </a:p>
        </p:txBody>
      </p:sp>
      <p:sp>
        <p:nvSpPr>
          <p:cNvPr id="17" name="Text 5"/>
          <p:cNvSpPr/>
          <p:nvPr/>
        </p:nvSpPr>
        <p:spPr>
          <a:xfrm>
            <a:off x="10698480" y="2697480"/>
            <a:ext cx="2907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Identifying and Resolving Risks</a:t>
            </a:r>
            <a:endParaRPr lang="en-US" sz="2230" dirty="0"/>
          </a:p>
        </p:txBody>
      </p:sp>
      <p:sp>
        <p:nvSpPr>
          <p:cNvPr id="18" name="Text 6"/>
          <p:cNvSpPr/>
          <p:nvPr/>
        </p:nvSpPr>
        <p:spPr>
          <a:xfrm>
            <a:off x="10698480" y="3538728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Analyze risks and possible solutions.</a:t>
            </a:r>
            <a:endParaRPr lang="en-US" sz="1780" dirty="0"/>
          </a:p>
        </p:txBody>
      </p:sp>
      <p:sp>
        <p:nvSpPr>
          <p:cNvPr id="19" name="Text 7"/>
          <p:cNvSpPr/>
          <p:nvPr/>
        </p:nvSpPr>
        <p:spPr>
          <a:xfrm>
            <a:off x="10698480" y="5102352"/>
            <a:ext cx="2907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Planning the Next Iteration</a:t>
            </a:r>
            <a:endParaRPr lang="en-US" sz="2230" dirty="0"/>
          </a:p>
        </p:txBody>
      </p:sp>
      <p:sp>
        <p:nvSpPr>
          <p:cNvPr id="20" name="Text 8"/>
          <p:cNvSpPr/>
          <p:nvPr/>
        </p:nvSpPr>
        <p:spPr>
          <a:xfrm>
            <a:off x="10698480" y="5943600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Prepare for the next loop using feedback.</a:t>
            </a:r>
            <a:endParaRPr lang="en-US" sz="1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6617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957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767328"/>
            <a:ext cx="6492240" cy="83210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681728"/>
            <a:ext cx="6492240" cy="83210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605272"/>
            <a:ext cx="6492240" cy="83210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6830568"/>
            <a:ext cx="4297680" cy="83210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064" y="3767328"/>
            <a:ext cx="6492240" cy="83210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5504" y="6830568"/>
            <a:ext cx="4297680" cy="83210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064" y="4681728"/>
            <a:ext cx="6492240" cy="83210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4624" y="6830568"/>
            <a:ext cx="4297680" cy="83210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16" y="4151376"/>
            <a:ext cx="6437376" cy="41148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16" y="5074920"/>
            <a:ext cx="6437376" cy="41148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16" y="5989320"/>
            <a:ext cx="6437376" cy="41148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" y="7223760"/>
            <a:ext cx="4242816" cy="41148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7496" y="4151376"/>
            <a:ext cx="6437376" cy="41148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2936" y="7223760"/>
            <a:ext cx="4242816" cy="41148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7496" y="5074920"/>
            <a:ext cx="6437376" cy="41148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2056" y="7223760"/>
            <a:ext cx="4242816" cy="41148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6384" y="3767328"/>
            <a:ext cx="6483096" cy="41148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6384" y="4681728"/>
            <a:ext cx="6483096" cy="41148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6384" y="5596128"/>
            <a:ext cx="6483096" cy="41148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384" y="6830568"/>
            <a:ext cx="4288536" cy="41148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0064" y="3767328"/>
            <a:ext cx="6483096" cy="41148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75504" y="6830568"/>
            <a:ext cx="4288536" cy="41148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0064" y="4681728"/>
            <a:ext cx="6483096" cy="41148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64624" y="6830568"/>
            <a:ext cx="4288536" cy="41148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795528" y="2953512"/>
            <a:ext cx="13048488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6. When to Use the Spiral Model</a:t>
            </a:r>
            <a:endParaRPr lang="en-US" sz="2450" dirty="0"/>
          </a:p>
        </p:txBody>
      </p:sp>
      <p:sp>
        <p:nvSpPr>
          <p:cNvPr id="29" name="Text 1"/>
          <p:cNvSpPr/>
          <p:nvPr/>
        </p:nvSpPr>
        <p:spPr>
          <a:xfrm>
            <a:off x="795528" y="3483864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Use it when:</a:t>
            </a:r>
            <a:endParaRPr lang="en-US" sz="980" dirty="0"/>
          </a:p>
        </p:txBody>
      </p:sp>
      <p:sp>
        <p:nvSpPr>
          <p:cNvPr id="30" name="Text 2"/>
          <p:cNvSpPr/>
          <p:nvPr/>
        </p:nvSpPr>
        <p:spPr>
          <a:xfrm>
            <a:off x="941832" y="4279392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project is large and complex.</a:t>
            </a:r>
            <a:endParaRPr lang="en-US" sz="980" dirty="0"/>
          </a:p>
        </p:txBody>
      </p:sp>
      <p:sp>
        <p:nvSpPr>
          <p:cNvPr id="31" name="Text 3"/>
          <p:cNvSpPr/>
          <p:nvPr/>
        </p:nvSpPr>
        <p:spPr>
          <a:xfrm>
            <a:off x="941832" y="5193792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High risk is involved (technical or business).</a:t>
            </a:r>
            <a:endParaRPr lang="en-US" sz="980" dirty="0"/>
          </a:p>
        </p:txBody>
      </p:sp>
      <p:sp>
        <p:nvSpPr>
          <p:cNvPr id="32" name="Text 4"/>
          <p:cNvSpPr/>
          <p:nvPr/>
        </p:nvSpPr>
        <p:spPr>
          <a:xfrm>
            <a:off x="3968496" y="3822192"/>
            <a:ext cx="11887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470" dirty="0">
                <a:solidFill>
                  <a:srgbClr val="45454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470" dirty="0"/>
          </a:p>
        </p:txBody>
      </p:sp>
      <p:sp>
        <p:nvSpPr>
          <p:cNvPr id="33" name="Text 5"/>
          <p:cNvSpPr/>
          <p:nvPr/>
        </p:nvSpPr>
        <p:spPr>
          <a:xfrm>
            <a:off x="3968496" y="4745736"/>
            <a:ext cx="11887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470" dirty="0">
                <a:solidFill>
                  <a:srgbClr val="45454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470" dirty="0"/>
          </a:p>
        </p:txBody>
      </p:sp>
      <p:sp>
        <p:nvSpPr>
          <p:cNvPr id="34" name="Text 6"/>
          <p:cNvSpPr/>
          <p:nvPr/>
        </p:nvSpPr>
        <p:spPr>
          <a:xfrm>
            <a:off x="941832" y="6117336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You need prototyping and incremental delivery.</a:t>
            </a:r>
            <a:endParaRPr lang="en-US" sz="980" dirty="0"/>
          </a:p>
        </p:txBody>
      </p:sp>
      <p:sp>
        <p:nvSpPr>
          <p:cNvPr id="35" name="Text 7"/>
          <p:cNvSpPr/>
          <p:nvPr/>
        </p:nvSpPr>
        <p:spPr>
          <a:xfrm>
            <a:off x="795528" y="6547104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Examples:</a:t>
            </a:r>
            <a:endParaRPr lang="en-US" sz="980" dirty="0"/>
          </a:p>
        </p:txBody>
      </p:sp>
      <p:sp>
        <p:nvSpPr>
          <p:cNvPr id="36" name="Text 8"/>
          <p:cNvSpPr/>
          <p:nvPr/>
        </p:nvSpPr>
        <p:spPr>
          <a:xfrm>
            <a:off x="3968496" y="5660136"/>
            <a:ext cx="11887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470" dirty="0">
                <a:solidFill>
                  <a:srgbClr val="45454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1470" dirty="0"/>
          </a:p>
        </p:txBody>
      </p:sp>
      <p:sp>
        <p:nvSpPr>
          <p:cNvPr id="37" name="Text 9"/>
          <p:cNvSpPr/>
          <p:nvPr/>
        </p:nvSpPr>
        <p:spPr>
          <a:xfrm>
            <a:off x="941832" y="7342632"/>
            <a:ext cx="39867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Defense systems</a:t>
            </a:r>
            <a:endParaRPr lang="en-US" sz="980" dirty="0"/>
          </a:p>
        </p:txBody>
      </p:sp>
      <p:sp>
        <p:nvSpPr>
          <p:cNvPr id="38" name="Text 10"/>
          <p:cNvSpPr/>
          <p:nvPr/>
        </p:nvSpPr>
        <p:spPr>
          <a:xfrm>
            <a:off x="2871216" y="6894576"/>
            <a:ext cx="11887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470" dirty="0">
                <a:solidFill>
                  <a:srgbClr val="45454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470" dirty="0"/>
          </a:p>
        </p:txBody>
      </p:sp>
      <p:sp>
        <p:nvSpPr>
          <p:cNvPr id="39" name="Text 11"/>
          <p:cNvSpPr/>
          <p:nvPr/>
        </p:nvSpPr>
        <p:spPr>
          <a:xfrm>
            <a:off x="7525512" y="4279392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Requirements are unclear or evolving.</a:t>
            </a:r>
            <a:endParaRPr lang="en-US" sz="980" dirty="0"/>
          </a:p>
        </p:txBody>
      </p:sp>
      <p:sp>
        <p:nvSpPr>
          <p:cNvPr id="40" name="Text 12"/>
          <p:cNvSpPr/>
          <p:nvPr/>
        </p:nvSpPr>
        <p:spPr>
          <a:xfrm>
            <a:off x="5330952" y="7342632"/>
            <a:ext cx="39867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Aerospace projects</a:t>
            </a:r>
            <a:endParaRPr lang="en-US" sz="980" dirty="0"/>
          </a:p>
        </p:txBody>
      </p:sp>
      <p:sp>
        <p:nvSpPr>
          <p:cNvPr id="41" name="Text 13"/>
          <p:cNvSpPr/>
          <p:nvPr/>
        </p:nvSpPr>
        <p:spPr>
          <a:xfrm>
            <a:off x="7525512" y="5193792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Early user feedback is critical.</a:t>
            </a:r>
            <a:endParaRPr lang="en-US" sz="980" dirty="0"/>
          </a:p>
        </p:txBody>
      </p:sp>
      <p:sp>
        <p:nvSpPr>
          <p:cNvPr id="42" name="Text 14"/>
          <p:cNvSpPr/>
          <p:nvPr/>
        </p:nvSpPr>
        <p:spPr>
          <a:xfrm>
            <a:off x="7260336" y="6894576"/>
            <a:ext cx="11887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470" dirty="0">
                <a:solidFill>
                  <a:srgbClr val="45454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470" dirty="0"/>
          </a:p>
        </p:txBody>
      </p:sp>
      <p:sp>
        <p:nvSpPr>
          <p:cNvPr id="43" name="Text 15"/>
          <p:cNvSpPr/>
          <p:nvPr/>
        </p:nvSpPr>
        <p:spPr>
          <a:xfrm>
            <a:off x="10552176" y="3822192"/>
            <a:ext cx="11887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470" dirty="0">
                <a:solidFill>
                  <a:srgbClr val="45454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470" dirty="0"/>
          </a:p>
        </p:txBody>
      </p:sp>
      <p:sp>
        <p:nvSpPr>
          <p:cNvPr id="44" name="Text 16"/>
          <p:cNvSpPr/>
          <p:nvPr/>
        </p:nvSpPr>
        <p:spPr>
          <a:xfrm>
            <a:off x="10552176" y="4745736"/>
            <a:ext cx="11887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470" dirty="0">
                <a:solidFill>
                  <a:srgbClr val="45454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1470" dirty="0"/>
          </a:p>
        </p:txBody>
      </p:sp>
      <p:sp>
        <p:nvSpPr>
          <p:cNvPr id="45" name="Text 17"/>
          <p:cNvSpPr/>
          <p:nvPr/>
        </p:nvSpPr>
        <p:spPr>
          <a:xfrm>
            <a:off x="9720072" y="7342632"/>
            <a:ext cx="39867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Large enterprise software with changing requirements</a:t>
            </a:r>
            <a:endParaRPr lang="en-US" sz="980" dirty="0"/>
          </a:p>
        </p:txBody>
      </p:sp>
      <p:sp>
        <p:nvSpPr>
          <p:cNvPr id="46" name="Text 18"/>
          <p:cNvSpPr/>
          <p:nvPr/>
        </p:nvSpPr>
        <p:spPr>
          <a:xfrm>
            <a:off x="11649456" y="6894576"/>
            <a:ext cx="11887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470" dirty="0">
                <a:solidFill>
                  <a:srgbClr val="45454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4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920240"/>
            <a:ext cx="6483096" cy="53949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578608"/>
            <a:ext cx="6483096" cy="53949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1920240"/>
            <a:ext cx="6483096" cy="53949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2578608"/>
            <a:ext cx="6483096" cy="539496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3611880"/>
          <a:ext cx="13021056" cy="3703320"/>
        </p:xfrm>
        <a:graphic>
          <a:graphicData uri="http://schemas.openxmlformats.org/drawingml/2006/table">
            <a:tbl>
              <a:tblPr/>
              <a:tblGrid>
                <a:gridCol w="6510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0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Aspect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Description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Model Name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Spiral Model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Proposed By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Barry Boehm (1986)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Main Idea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Combines Waterfall and Prototyping in an iterative, risk-driven process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Focus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Risk management and iterative refinement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Output of Each Cycle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 working prototype or refined version of the product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Best For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Large, high-risk, or complex projects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Customer Involvement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Very high — continuous feedback each iteration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Development Type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Iterative and evolutionary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0"/>
          <p:cNvSpPr/>
          <p:nvPr/>
        </p:nvSpPr>
        <p:spPr>
          <a:xfrm>
            <a:off x="795528" y="960120"/>
            <a:ext cx="1304848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62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7. Example Scenario</a:t>
            </a:r>
            <a:endParaRPr lang="en-US" sz="2900" dirty="0"/>
          </a:p>
        </p:txBody>
      </p:sp>
      <p:sp>
        <p:nvSpPr>
          <p:cNvPr id="9" name="Text 1"/>
          <p:cNvSpPr/>
          <p:nvPr/>
        </p:nvSpPr>
        <p:spPr>
          <a:xfrm>
            <a:off x="795528" y="1581912"/>
            <a:ext cx="130484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Let’s say you’re building a banking system:</a:t>
            </a:r>
            <a:endParaRPr lang="en-US" sz="1160" dirty="0"/>
          </a:p>
        </p:txBody>
      </p:sp>
      <p:sp>
        <p:nvSpPr>
          <p:cNvPr id="10" name="Text 2"/>
          <p:cNvSpPr/>
          <p:nvPr/>
        </p:nvSpPr>
        <p:spPr>
          <a:xfrm>
            <a:off x="960120" y="2093976"/>
            <a:ext cx="612648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1st Spiral – Requirement gathering + prototype login module</a:t>
            </a:r>
            <a:endParaRPr lang="en-US" sz="1160" dirty="0"/>
          </a:p>
        </p:txBody>
      </p:sp>
      <p:sp>
        <p:nvSpPr>
          <p:cNvPr id="7" name="Text 3"/>
          <p:cNvSpPr/>
          <p:nvPr/>
        </p:nvSpPr>
        <p:spPr>
          <a:xfrm>
            <a:off x="960120" y="2752344"/>
            <a:ext cx="612648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3rd Spiral – Add security and reporting features</a:t>
            </a:r>
            <a:endParaRPr lang="en-US" sz="1160" dirty="0"/>
          </a:p>
        </p:txBody>
      </p:sp>
      <p:sp>
        <p:nvSpPr>
          <p:cNvPr id="12" name="Text 4"/>
          <p:cNvSpPr/>
          <p:nvPr/>
        </p:nvSpPr>
        <p:spPr>
          <a:xfrm>
            <a:off x="795528" y="3264408"/>
            <a:ext cx="130484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Each spiral reduces uncertainty and adds functionality.</a:t>
            </a:r>
            <a:endParaRPr lang="en-US" sz="1160" dirty="0"/>
          </a:p>
        </p:txBody>
      </p:sp>
      <p:sp>
        <p:nvSpPr>
          <p:cNvPr id="13" name="Text 5"/>
          <p:cNvSpPr/>
          <p:nvPr/>
        </p:nvSpPr>
        <p:spPr>
          <a:xfrm>
            <a:off x="7552944" y="2093976"/>
            <a:ext cx="612648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2nd Spiral – Add transaction and account modules</a:t>
            </a:r>
            <a:endParaRPr lang="en-US" sz="1160" dirty="0"/>
          </a:p>
        </p:txBody>
      </p:sp>
      <p:sp>
        <p:nvSpPr>
          <p:cNvPr id="14" name="Text 6"/>
          <p:cNvSpPr/>
          <p:nvPr/>
        </p:nvSpPr>
        <p:spPr>
          <a:xfrm>
            <a:off x="7552944" y="2752344"/>
            <a:ext cx="612648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4th Spiral – System testing and deployment</a:t>
            </a:r>
            <a:endParaRPr lang="en-US" sz="11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1755648"/>
          <a:ext cx="13021056" cy="4462272"/>
        </p:xfrm>
        <a:graphic>
          <a:graphicData uri="http://schemas.openxmlformats.org/drawingml/2006/table">
            <a:tbl>
              <a:tblPr/>
              <a:tblGrid>
                <a:gridCol w="3255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77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Criteria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Waterfall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Agile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Spiral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Customer Involvement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Low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Very High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Risk Management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Weak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Medium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Strong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Flexibility in Requirements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Low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Cost of Change (Late Stages)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Very High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Medium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Medium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Documentation Required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Very High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Low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Iteration Cycles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1 (sequential)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Many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Many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Best For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Stable, small projects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Fast-paced projects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Complex, risky systems</a:t>
                      </a:r>
                      <a:endParaRPr lang="en-US" sz="1200" dirty="0"/>
                    </a:p>
                  </a:txBody>
                  <a:tcPr marL="203200" marR="203200" marT="121920" marB="12192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795528" y="886968"/>
            <a:ext cx="13048488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020"/>
              </a:lnSpc>
              <a:buNone/>
            </a:pPr>
            <a:r>
              <a:rPr lang="en-US" sz="401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8. Comparative Statistics — Spiral vs Other Models</a:t>
            </a:r>
            <a:endParaRPr lang="en-US" sz="4010" dirty="0"/>
          </a:p>
        </p:txBody>
      </p:sp>
      <p:sp>
        <p:nvSpPr>
          <p:cNvPr id="5" name="Text 1"/>
          <p:cNvSpPr/>
          <p:nvPr/>
        </p:nvSpPr>
        <p:spPr>
          <a:xfrm>
            <a:off x="795528" y="6355080"/>
            <a:ext cx="130484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🧠 Statistically (based on industry data):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95528" y="6839712"/>
            <a:ext cx="1304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Projects using the Spiral Model report 30–40% fewer failures in high-risk environments compared to Waterfall.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However, development cost can be 15–25% higher due to repeated risk assessments.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138928"/>
            <a:ext cx="4297680" cy="4663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696712"/>
            <a:ext cx="6492240" cy="4663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6574536"/>
            <a:ext cx="4297680" cy="46634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7132320"/>
            <a:ext cx="6492240" cy="46634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4" y="5138928"/>
            <a:ext cx="4297680" cy="46634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4" y="6574536"/>
            <a:ext cx="4297680" cy="46634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5696712"/>
            <a:ext cx="6492240" cy="46634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7132320"/>
            <a:ext cx="6492240" cy="46634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5138928"/>
            <a:ext cx="4297680" cy="46634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6574536"/>
            <a:ext cx="4297680" cy="466344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1188720"/>
          <a:ext cx="13021056" cy="1737360"/>
        </p:xfrm>
        <a:graphic>
          <a:graphicData uri="http://schemas.openxmlformats.org/drawingml/2006/table">
            <a:tbl>
              <a:tblPr/>
              <a:tblGrid>
                <a:gridCol w="3255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Phase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Activities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Output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Participants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Planning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Define objectives, alternatives, constraints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Requirements for this iteration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Analysts, Clients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Risk Analysis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Identify and analyze potential risks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Risk mitigation strategies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Developers, Managers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Engineering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Design, code, integrate, and test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Prototype or working version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Developers, Testers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Evaluation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Get customer feedback and assess progress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Updated requirements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Clients, QA Team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808788"/>
              </p:ext>
            </p:extLst>
          </p:nvPr>
        </p:nvGraphicFramePr>
        <p:xfrm>
          <a:off x="795528" y="2953512"/>
          <a:ext cx="13075920" cy="1737360"/>
        </p:xfrm>
        <a:graphic>
          <a:graphicData uri="http://schemas.openxmlformats.org/drawingml/2006/table">
            <a:tbl>
              <a:tblPr/>
              <a:tblGrid>
                <a:gridCol w="2615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5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5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5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5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Iteration (Spiral)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Cost (Est.)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Risk Level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Progress (%)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Customer Satisfaction (%)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Spiral 1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$20,000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🔴 High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20%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60%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Spiral 2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$35,000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🟠 Medium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50%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75%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Spiral 3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$45,000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🟢 Low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80%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90%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Spiral 4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$50,000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🟢 Very Low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100%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95%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0"/>
          <p:cNvSpPr/>
          <p:nvPr/>
        </p:nvSpPr>
        <p:spPr>
          <a:xfrm>
            <a:off x="795528" y="658368"/>
            <a:ext cx="13048488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9. Detailed Phase Table — Spiral Cycle Breakdown</a:t>
            </a:r>
            <a:endParaRPr lang="en-US" sz="2450" dirty="0"/>
          </a:p>
        </p:txBody>
      </p:sp>
      <p:sp>
        <p:nvSpPr>
          <p:cNvPr id="16" name="Text 1"/>
          <p:cNvSpPr/>
          <p:nvPr/>
        </p:nvSpPr>
        <p:spPr>
          <a:xfrm>
            <a:off x="795528" y="4864608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✅ Advantages:</a:t>
            </a:r>
            <a:endParaRPr lang="en-US" sz="980" dirty="0"/>
          </a:p>
        </p:txBody>
      </p:sp>
      <p:sp>
        <p:nvSpPr>
          <p:cNvPr id="17" name="Text 2"/>
          <p:cNvSpPr/>
          <p:nvPr/>
        </p:nvSpPr>
        <p:spPr>
          <a:xfrm>
            <a:off x="941832" y="5294376"/>
            <a:ext cx="39867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Strong risk management</a:t>
            </a:r>
            <a:endParaRPr lang="en-US" sz="980" dirty="0"/>
          </a:p>
        </p:txBody>
      </p:sp>
      <p:sp>
        <p:nvSpPr>
          <p:cNvPr id="18" name="Text 3"/>
          <p:cNvSpPr/>
          <p:nvPr/>
        </p:nvSpPr>
        <p:spPr>
          <a:xfrm>
            <a:off x="941832" y="5852160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Flexible for requirement changes</a:t>
            </a:r>
            <a:endParaRPr lang="en-US" sz="980" dirty="0"/>
          </a:p>
        </p:txBody>
      </p:sp>
      <p:sp>
        <p:nvSpPr>
          <p:cNvPr id="19" name="Text 4"/>
          <p:cNvSpPr/>
          <p:nvPr/>
        </p:nvSpPr>
        <p:spPr>
          <a:xfrm>
            <a:off x="795528" y="6291072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❌ Disadvantages:</a:t>
            </a:r>
            <a:endParaRPr lang="en-US" sz="980" dirty="0"/>
          </a:p>
        </p:txBody>
      </p:sp>
      <p:sp>
        <p:nvSpPr>
          <p:cNvPr id="20" name="Text 5"/>
          <p:cNvSpPr/>
          <p:nvPr/>
        </p:nvSpPr>
        <p:spPr>
          <a:xfrm>
            <a:off x="941832" y="6729984"/>
            <a:ext cx="39867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Complex to manage</a:t>
            </a:r>
            <a:endParaRPr lang="en-US" sz="980" dirty="0"/>
          </a:p>
        </p:txBody>
      </p:sp>
      <p:sp>
        <p:nvSpPr>
          <p:cNvPr id="21" name="Text 6"/>
          <p:cNvSpPr/>
          <p:nvPr/>
        </p:nvSpPr>
        <p:spPr>
          <a:xfrm>
            <a:off x="941832" y="7287768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Not suitable for small projects</a:t>
            </a:r>
            <a:endParaRPr lang="en-US" sz="980" dirty="0"/>
          </a:p>
        </p:txBody>
      </p:sp>
      <p:sp>
        <p:nvSpPr>
          <p:cNvPr id="22" name="Text 7"/>
          <p:cNvSpPr/>
          <p:nvPr/>
        </p:nvSpPr>
        <p:spPr>
          <a:xfrm>
            <a:off x="5330952" y="5294376"/>
            <a:ext cx="39867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Early detection of issues</a:t>
            </a:r>
            <a:endParaRPr lang="en-US" sz="980" dirty="0"/>
          </a:p>
        </p:txBody>
      </p:sp>
      <p:sp>
        <p:nvSpPr>
          <p:cNvPr id="23" name="Text 8"/>
          <p:cNvSpPr/>
          <p:nvPr/>
        </p:nvSpPr>
        <p:spPr>
          <a:xfrm>
            <a:off x="5330952" y="6729984"/>
            <a:ext cx="39867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Expensive due to iterations</a:t>
            </a:r>
            <a:endParaRPr lang="en-US" sz="980" dirty="0"/>
          </a:p>
        </p:txBody>
      </p:sp>
      <p:sp>
        <p:nvSpPr>
          <p:cNvPr id="24" name="Text 9"/>
          <p:cNvSpPr/>
          <p:nvPr/>
        </p:nvSpPr>
        <p:spPr>
          <a:xfrm>
            <a:off x="7525512" y="5852160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Delivers early prototypes</a:t>
            </a:r>
            <a:endParaRPr lang="en-US" sz="980" dirty="0"/>
          </a:p>
        </p:txBody>
      </p:sp>
      <p:sp>
        <p:nvSpPr>
          <p:cNvPr id="14" name="Text 10"/>
          <p:cNvSpPr/>
          <p:nvPr/>
        </p:nvSpPr>
        <p:spPr>
          <a:xfrm>
            <a:off x="7525512" y="7287768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Can take longer to complete</a:t>
            </a:r>
            <a:endParaRPr lang="en-US" sz="980" dirty="0"/>
          </a:p>
        </p:txBody>
      </p:sp>
      <p:sp>
        <p:nvSpPr>
          <p:cNvPr id="26" name="Text 11"/>
          <p:cNvSpPr/>
          <p:nvPr/>
        </p:nvSpPr>
        <p:spPr>
          <a:xfrm>
            <a:off x="9720072" y="5294376"/>
            <a:ext cx="39867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High customer involvement</a:t>
            </a:r>
            <a:endParaRPr lang="en-US" sz="980" dirty="0"/>
          </a:p>
        </p:txBody>
      </p:sp>
      <p:sp>
        <p:nvSpPr>
          <p:cNvPr id="27" name="Text 12"/>
          <p:cNvSpPr/>
          <p:nvPr/>
        </p:nvSpPr>
        <p:spPr>
          <a:xfrm>
            <a:off x="9720072" y="6729984"/>
            <a:ext cx="39867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Needs expert risk analysts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502152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Thank You</a:t>
            </a:r>
            <a:endParaRPr lang="en-US" sz="6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1013</Words>
  <Application>Microsoft Office PowerPoint</Application>
  <PresentationFormat>Custom</PresentationFormat>
  <Paragraphs>201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思源黑体-思源黑体-Medium</vt:lpstr>
      <vt:lpstr>思源黑体-思源黑体-SemiBold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Midou</cp:lastModifiedBy>
  <cp:revision>2</cp:revision>
  <dcterms:created xsi:type="dcterms:W3CDTF">2025-10-28T19:31:59Z</dcterms:created>
  <dcterms:modified xsi:type="dcterms:W3CDTF">2025-10-28T19:35:31Z</dcterms:modified>
</cp:coreProperties>
</file>