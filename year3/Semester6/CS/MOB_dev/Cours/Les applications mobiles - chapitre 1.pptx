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35.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73" r:id="rId5"/>
    <p:sldId id="276" r:id="rId6"/>
    <p:sldId id="277" r:id="rId7"/>
    <p:sldId id="278" r:id="rId8"/>
    <p:sldId id="262" r:id="rId9"/>
    <p:sldId id="272" r:id="rId10"/>
    <p:sldId id="279" r:id="rId11"/>
    <p:sldId id="280" r:id="rId12"/>
    <p:sldId id="258" r:id="rId13"/>
    <p:sldId id="274" r:id="rId14"/>
    <p:sldId id="259" r:id="rId15"/>
    <p:sldId id="260" r:id="rId16"/>
    <p:sldId id="271" r:id="rId17"/>
    <p:sldId id="281" r:id="rId18"/>
    <p:sldId id="282" r:id="rId19"/>
    <p:sldId id="284" r:id="rId20"/>
    <p:sldId id="283" r:id="rId21"/>
    <p:sldId id="285" r:id="rId22"/>
    <p:sldId id="289" r:id="rId23"/>
    <p:sldId id="291" r:id="rId24"/>
    <p:sldId id="286" r:id="rId25"/>
    <p:sldId id="287" r:id="rId26"/>
    <p:sldId id="293" r:id="rId27"/>
    <p:sldId id="288" r:id="rId28"/>
    <p:sldId id="295" r:id="rId29"/>
    <p:sldId id="294" r:id="rId30"/>
  </p:sldIdLst>
  <p:sldSz cx="12192000" cy="6858000"/>
  <p:notesSz cx="6858000" cy="9144000"/>
  <p:defaultTextStyle>
    <a:defPPr>
      <a:defRPr lang="ar-D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9" autoAdjust="0"/>
    <p:restoredTop sz="94660"/>
  </p:normalViewPr>
  <p:slideViewPr>
    <p:cSldViewPr snapToGrid="0">
      <p:cViewPr varScale="1">
        <p:scale>
          <a:sx n="74" d="100"/>
          <a:sy n="74" d="100"/>
        </p:scale>
        <p:origin x="378"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en-US"/>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a:p>
        </p:txBody>
      </p:sp>
      <p:sp>
        <p:nvSpPr>
          <p:cNvPr id="4" name="Espace réservé de la date 3"/>
          <p:cNvSpPr>
            <a:spLocks noGrp="1"/>
          </p:cNvSpPr>
          <p:nvPr>
            <p:ph type="dt" sz="half" idx="10"/>
          </p:nvPr>
        </p:nvSpPr>
        <p:spPr/>
        <p:txBody>
          <a:bodyPr/>
          <a:lstStyle/>
          <a:p>
            <a:fld id="{566ADDEB-7AA9-481B-9871-B95E8A47CA31}" type="datetimeFigureOut">
              <a:rPr lang="en-US" smtClean="0"/>
              <a:t>12/2/2024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2717407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566ADDEB-7AA9-481B-9871-B95E8A47CA31}" type="datetimeFigureOut">
              <a:rPr lang="en-US" smtClean="0"/>
              <a:t>12/2/2024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52151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en-US"/>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566ADDEB-7AA9-481B-9871-B95E8A47CA31}" type="datetimeFigureOut">
              <a:rPr lang="en-US" smtClean="0"/>
              <a:t>12/2/2024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412239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p>
            <a:fld id="{566ADDEB-7AA9-481B-9871-B95E8A47CA31}" type="datetimeFigureOut">
              <a:rPr lang="en-US" smtClean="0"/>
              <a:t>12/2/2024</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931695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en-US"/>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6"/>
          <p:cNvSpPr>
            <a:spLocks noGrp="1"/>
          </p:cNvSpPr>
          <p:nvPr>
            <p:ph type="dt" sz="half" idx="10"/>
          </p:nvPr>
        </p:nvSpPr>
        <p:spPr/>
        <p:txBody>
          <a:bodyPr/>
          <a:lstStyle/>
          <a:p>
            <a:fld id="{566ADDEB-7AA9-481B-9871-B95E8A47CA31}" type="datetimeFigureOut">
              <a:rPr lang="en-US" smtClean="0"/>
              <a:t>12/2/2024</a:t>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839798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e la date 2"/>
          <p:cNvSpPr>
            <a:spLocks noGrp="1"/>
          </p:cNvSpPr>
          <p:nvPr>
            <p:ph type="dt" sz="half" idx="10"/>
          </p:nvPr>
        </p:nvSpPr>
        <p:spPr/>
        <p:txBody>
          <a:bodyPr/>
          <a:lstStyle/>
          <a:p>
            <a:fld id="{566ADDEB-7AA9-481B-9871-B95E8A47CA31}" type="datetimeFigureOut">
              <a:rPr lang="en-US" smtClean="0"/>
              <a:t>12/2/2024</a:t>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3217159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66ADDEB-7AA9-481B-9871-B95E8A47CA31}" type="datetimeFigureOut">
              <a:rPr lang="en-US" smtClean="0"/>
              <a:t>12/2/2024</a:t>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3845048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en-US"/>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566ADDEB-7AA9-481B-9871-B95E8A47CA31}" type="datetimeFigureOut">
              <a:rPr lang="en-US" smtClean="0"/>
              <a:t>12/2/2024</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1977359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en-US"/>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566ADDEB-7AA9-481B-9871-B95E8A47CA31}" type="datetimeFigureOut">
              <a:rPr lang="en-US" smtClean="0"/>
              <a:t>12/2/2024</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2101609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566ADDEB-7AA9-481B-9871-B95E8A47CA31}" type="datetimeFigureOut">
              <a:rPr lang="en-US" smtClean="0"/>
              <a:t>12/2/2024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2461408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en-US"/>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566ADDEB-7AA9-481B-9871-B95E8A47CA31}" type="datetimeFigureOut">
              <a:rPr lang="en-US" smtClean="0"/>
              <a:t>12/2/2024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9FF08E3-4327-48DF-A446-C1DFF5EC273E}" type="slidenum">
              <a:rPr lang="en-US" smtClean="0"/>
              <a:t>‹N°›</a:t>
            </a:fld>
            <a:endParaRPr lang="en-US"/>
          </a:p>
        </p:txBody>
      </p:sp>
    </p:spTree>
    <p:extLst>
      <p:ext uri="{BB962C8B-B14F-4D97-AF65-F5344CB8AC3E}">
        <p14:creationId xmlns:p14="http://schemas.microsoft.com/office/powerpoint/2010/main" val="1543114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en-US"/>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6ADDEB-7AA9-481B-9871-B95E8A47CA31}" type="datetimeFigureOut">
              <a:rPr lang="en-US" smtClean="0"/>
              <a:t>12/2/2024</a:t>
            </a:fld>
            <a:endParaRPr lang="en-US"/>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FF08E3-4327-48DF-A446-C1DFF5EC273E}" type="slidenum">
              <a:rPr lang="en-US" smtClean="0"/>
              <a:t>‹N°›</a:t>
            </a:fld>
            <a:endParaRPr lang="en-US"/>
          </a:p>
        </p:txBody>
      </p:sp>
    </p:spTree>
    <p:extLst>
      <p:ext uri="{BB962C8B-B14F-4D97-AF65-F5344CB8AC3E}">
        <p14:creationId xmlns:p14="http://schemas.microsoft.com/office/powerpoint/2010/main" val="1296857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D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5.jp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8" name="Rectangle 7"/>
          <p:cNvSpPr/>
          <p:nvPr/>
        </p:nvSpPr>
        <p:spPr>
          <a:xfrm>
            <a:off x="0" y="0"/>
            <a:ext cx="12192000" cy="7065817"/>
          </a:xfrm>
          <a:prstGeom prst="rect">
            <a:avLst/>
          </a:prstGeom>
          <a:solidFill>
            <a:schemeClr val="bg1">
              <a:alpha val="34000"/>
            </a:schemeClr>
          </a:solidFill>
          <a:ln>
            <a:solidFill>
              <a:schemeClr val="bg1"/>
            </a:solidFill>
          </a:ln>
          <a:effectLst>
            <a:glow>
              <a:schemeClr val="accent1"/>
            </a:glow>
            <a:outerShdw blurRad="50800" dist="50800" dir="5400000" algn="ctr" rotWithShape="0">
              <a:srgbClr val="000000"/>
            </a:outerShdw>
            <a:reflection endPos="0" dist="762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en-US" sz="2800" b="1" dirty="0" smtClean="0">
              <a:solidFill>
                <a:schemeClr val="tx1"/>
              </a:solidFill>
              <a:latin typeface="Arial Black" panose="020B0A04020102020204" pitchFamily="34" charset="0"/>
              <a:cs typeface="Arial" panose="020B0604020202020204" pitchFamily="34" charset="0"/>
            </a:endParaRPr>
          </a:p>
          <a:p>
            <a:pPr algn="ctr"/>
            <a:endParaRPr lang="en-US" sz="2800" b="1" dirty="0" smtClean="0">
              <a:solidFill>
                <a:schemeClr val="tx1"/>
              </a:solidFill>
              <a:latin typeface="Arial Black" panose="020B0A04020102020204" pitchFamily="34" charset="0"/>
              <a:cs typeface="Arial" panose="020B0604020202020204" pitchFamily="34" charset="0"/>
            </a:endParaRPr>
          </a:p>
          <a:p>
            <a:pPr algn="ctr"/>
            <a:endParaRPr lang="en-US" sz="2800" b="1" dirty="0">
              <a:solidFill>
                <a:schemeClr val="tx1"/>
              </a:solidFill>
              <a:latin typeface="Arial Black" panose="020B0A04020102020204" pitchFamily="34" charset="0"/>
              <a:cs typeface="Arial" panose="020B0604020202020204" pitchFamily="34" charset="0"/>
            </a:endParaRPr>
          </a:p>
          <a:p>
            <a:pPr algn="ctr"/>
            <a:r>
              <a:rPr lang="fr-FR" sz="2800" b="1" dirty="0">
                <a:solidFill>
                  <a:schemeClr val="tx1"/>
                </a:solidFill>
                <a:latin typeface="Arial Black" panose="020B0A04020102020204" pitchFamily="34" charset="0"/>
                <a:cs typeface="Arial" panose="020B0604020202020204" pitchFamily="34" charset="0"/>
              </a:rPr>
              <a:t>Université de </a:t>
            </a:r>
            <a:r>
              <a:rPr lang="fr-FR" sz="2800" b="1" dirty="0" err="1">
                <a:solidFill>
                  <a:schemeClr val="tx1"/>
                </a:solidFill>
                <a:latin typeface="Arial Black" panose="020B0A04020102020204" pitchFamily="34" charset="0"/>
                <a:cs typeface="Arial" panose="020B0604020202020204" pitchFamily="34" charset="0"/>
              </a:rPr>
              <a:t>Tahri</a:t>
            </a:r>
            <a:r>
              <a:rPr lang="fr-FR" sz="2800" b="1" dirty="0">
                <a:solidFill>
                  <a:schemeClr val="tx1"/>
                </a:solidFill>
                <a:latin typeface="Arial Black" panose="020B0A04020102020204" pitchFamily="34" charset="0"/>
                <a:cs typeface="Arial" panose="020B0604020202020204" pitchFamily="34" charset="0"/>
              </a:rPr>
              <a:t> Mohamed Bechar</a:t>
            </a:r>
          </a:p>
          <a:p>
            <a:pPr algn="ctr"/>
            <a:r>
              <a:rPr lang="fr-FR" sz="2800" b="1" dirty="0">
                <a:solidFill>
                  <a:schemeClr val="tx1"/>
                </a:solidFill>
                <a:latin typeface="Arial Black" panose="020B0A04020102020204" pitchFamily="34" charset="0"/>
                <a:cs typeface="Arial" panose="020B0604020202020204" pitchFamily="34" charset="0"/>
              </a:rPr>
              <a:t>Faculté des sciences exactes</a:t>
            </a:r>
          </a:p>
          <a:p>
            <a:pPr algn="ctr"/>
            <a:r>
              <a:rPr lang="fr-FR" sz="2800" b="1" dirty="0">
                <a:solidFill>
                  <a:schemeClr val="tx1"/>
                </a:solidFill>
                <a:latin typeface="Arial Black" panose="020B0A04020102020204" pitchFamily="34" charset="0"/>
                <a:cs typeface="Arial" panose="020B0604020202020204" pitchFamily="34" charset="0"/>
              </a:rPr>
              <a:t>Département d'informatique et de mathématiques</a:t>
            </a:r>
          </a:p>
          <a:p>
            <a:pPr algn="ctr"/>
            <a:endParaRPr lang="en-US" sz="2800" b="1" dirty="0" smtClean="0">
              <a:solidFill>
                <a:schemeClr val="tx1"/>
              </a:solidFill>
              <a:latin typeface="Arial Black" panose="020B0A04020102020204" pitchFamily="34" charset="0"/>
              <a:cs typeface="Arial" panose="020B0604020202020204" pitchFamily="34" charset="0"/>
            </a:endParaRPr>
          </a:p>
          <a:p>
            <a:pPr algn="ctr"/>
            <a:endParaRPr lang="en-US" sz="2800" b="1" dirty="0">
              <a:solidFill>
                <a:schemeClr val="tx1"/>
              </a:solidFill>
              <a:latin typeface="Arial Black" panose="020B0A04020102020204" pitchFamily="34" charset="0"/>
              <a:cs typeface="Arial" panose="020B0604020202020204" pitchFamily="34" charset="0"/>
            </a:endParaRPr>
          </a:p>
          <a:p>
            <a:pPr algn="ctr"/>
            <a:r>
              <a:rPr lang="en-US" sz="2800" b="1" dirty="0" smtClean="0">
                <a:solidFill>
                  <a:schemeClr val="tx1"/>
                </a:solidFill>
                <a:latin typeface="Arial Black" panose="020B0A04020102020204" pitchFamily="34" charset="0"/>
                <a:cs typeface="Arial" panose="020B0604020202020204" pitchFamily="34" charset="0"/>
              </a:rPr>
              <a:t>Application Mobile</a:t>
            </a:r>
          </a:p>
          <a:p>
            <a:pPr algn="ctr"/>
            <a:endParaRPr lang="en-US" sz="2800" b="1" dirty="0">
              <a:solidFill>
                <a:schemeClr val="tx1"/>
              </a:solidFill>
              <a:latin typeface="Arial Black" panose="020B0A04020102020204" pitchFamily="34" charset="0"/>
              <a:cs typeface="Arial" panose="020B0604020202020204" pitchFamily="34" charset="0"/>
            </a:endParaRPr>
          </a:p>
          <a:p>
            <a:pPr algn="ctr"/>
            <a:endParaRPr lang="en-US" sz="2800" b="1" dirty="0" smtClean="0">
              <a:solidFill>
                <a:schemeClr val="tx1"/>
              </a:solidFill>
              <a:latin typeface="Arial Black" panose="020B0A04020102020204" pitchFamily="34" charset="0"/>
              <a:cs typeface="Arial" panose="020B0604020202020204" pitchFamily="34" charset="0"/>
            </a:endParaRPr>
          </a:p>
          <a:p>
            <a:pPr algn="ctr"/>
            <a:endParaRPr lang="en-US" sz="2800" b="1" dirty="0">
              <a:solidFill>
                <a:schemeClr val="tx1"/>
              </a:solidFill>
              <a:latin typeface="Arial Black" panose="020B0A04020102020204" pitchFamily="34" charset="0"/>
              <a:cs typeface="Arial" panose="020B0604020202020204" pitchFamily="34" charset="0"/>
            </a:endParaRPr>
          </a:p>
          <a:p>
            <a:r>
              <a:rPr lang="en-US" sz="2400" b="1" dirty="0" err="1" smtClean="0">
                <a:solidFill>
                  <a:schemeClr val="tx1"/>
                </a:solidFill>
                <a:latin typeface="Arial Black" panose="020B0A04020102020204" pitchFamily="34" charset="0"/>
                <a:cs typeface="Arial" panose="020B0604020202020204" pitchFamily="34" charset="0"/>
              </a:rPr>
              <a:t>Dr</a:t>
            </a:r>
            <a:r>
              <a:rPr lang="en-US" sz="2400" b="1" dirty="0" smtClean="0">
                <a:solidFill>
                  <a:schemeClr val="tx1"/>
                </a:solidFill>
                <a:latin typeface="Arial Black" panose="020B0A04020102020204" pitchFamily="34" charset="0"/>
                <a:cs typeface="Arial" panose="020B0604020202020204" pitchFamily="34" charset="0"/>
              </a:rPr>
              <a:t> Tariq BENAHMED</a:t>
            </a:r>
          </a:p>
          <a:p>
            <a:pPr algn="ctr"/>
            <a:endParaRPr lang="en-US" sz="2800" b="1" dirty="0">
              <a:solidFill>
                <a:schemeClr val="tx1"/>
              </a:solidFill>
              <a:cs typeface="Arial" panose="020B0604020202020204" pitchFamily="34" charset="0"/>
            </a:endParaRPr>
          </a:p>
          <a:p>
            <a:pPr algn="ctr"/>
            <a:endParaRPr lang="en-US" sz="2800" b="1" dirty="0" smtClean="0">
              <a:solidFill>
                <a:schemeClr val="tx1"/>
              </a:solidFill>
              <a:cs typeface="Arial" panose="020B0604020202020204" pitchFamily="34" charset="0"/>
            </a:endParaRPr>
          </a:p>
          <a:p>
            <a:pPr algn="ctr"/>
            <a:endParaRPr lang="en-US" sz="2800" dirty="0">
              <a:solidFill>
                <a:schemeClr val="tx1"/>
              </a:solidFill>
            </a:endParaRPr>
          </a:p>
        </p:txBody>
      </p:sp>
      <p:sp>
        <p:nvSpPr>
          <p:cNvPr id="2" name="ZoneTexte 1"/>
          <p:cNvSpPr txBox="1"/>
          <p:nvPr/>
        </p:nvSpPr>
        <p:spPr>
          <a:xfrm>
            <a:off x="8834510" y="5148776"/>
            <a:ext cx="1960793" cy="400110"/>
          </a:xfrm>
          <a:prstGeom prst="rect">
            <a:avLst/>
          </a:prstGeom>
          <a:noFill/>
        </p:spPr>
        <p:txBody>
          <a:bodyPr wrap="none" rtlCol="1">
            <a:spAutoFit/>
          </a:bodyPr>
          <a:lstStyle/>
          <a:p>
            <a:r>
              <a:rPr lang="en-US" sz="2000" b="1" dirty="0" smtClean="0"/>
              <a:t>3eme </a:t>
            </a:r>
            <a:r>
              <a:rPr lang="fr-FR" sz="2000" b="1" dirty="0" smtClean="0"/>
              <a:t>année</a:t>
            </a:r>
            <a:r>
              <a:rPr lang="en-US" sz="2000" b="1" dirty="0" smtClean="0"/>
              <a:t> </a:t>
            </a:r>
            <a:r>
              <a:rPr lang="en-US" sz="2000" b="1" dirty="0" smtClean="0"/>
              <a:t>ING</a:t>
            </a:r>
            <a:endParaRPr lang="en-US" sz="2000" b="1" dirty="0"/>
          </a:p>
        </p:txBody>
      </p:sp>
    </p:spTree>
    <p:extLst>
      <p:ext uri="{BB962C8B-B14F-4D97-AF65-F5344CB8AC3E}">
        <p14:creationId xmlns:p14="http://schemas.microsoft.com/office/powerpoint/2010/main" val="215382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1000"/>
                                        <p:tgtEl>
                                          <p:spTgt spid="8">
                                            <p:txEl>
                                              <p:pRg st="4" end="4"/>
                                            </p:txEl>
                                          </p:spTgt>
                                        </p:tgtEl>
                                      </p:cBhvr>
                                    </p:animEffect>
                                    <p:anim calcmode="lin" valueType="num">
                                      <p:cBhvr>
                                        <p:cTn id="2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1000"/>
                                        <p:tgtEl>
                                          <p:spTgt spid="8">
                                            <p:txEl>
                                              <p:pRg st="5" end="5"/>
                                            </p:txEl>
                                          </p:spTgt>
                                        </p:tgtEl>
                                      </p:cBhvr>
                                    </p:animEffect>
                                    <p:anim calcmode="lin" valueType="num">
                                      <p:cBhvr>
                                        <p:cTn id="2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xEl>
                                              <p:pRg st="8" end="8"/>
                                            </p:txEl>
                                          </p:spTgt>
                                        </p:tgtEl>
                                        <p:attrNameLst>
                                          <p:attrName>style.visibility</p:attrName>
                                        </p:attrNameLst>
                                      </p:cBhvr>
                                      <p:to>
                                        <p:strVal val="visible"/>
                                      </p:to>
                                    </p:set>
                                    <p:animEffect transition="in" filter="fade">
                                      <p:cBhvr>
                                        <p:cTn id="32" dur="1000"/>
                                        <p:tgtEl>
                                          <p:spTgt spid="8">
                                            <p:txEl>
                                              <p:pRg st="8" end="8"/>
                                            </p:txEl>
                                          </p:spTgt>
                                        </p:tgtEl>
                                      </p:cBhvr>
                                    </p:animEffect>
                                    <p:anim calcmode="lin" valueType="num">
                                      <p:cBhvr>
                                        <p:cTn id="33"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8">
                                            <p:txEl>
                                              <p:pRg st="12" end="12"/>
                                            </p:txEl>
                                          </p:spTgt>
                                        </p:tgtEl>
                                        <p:attrNameLst>
                                          <p:attrName>style.visibility</p:attrName>
                                        </p:attrNameLst>
                                      </p:cBhvr>
                                      <p:to>
                                        <p:strVal val="visible"/>
                                      </p:to>
                                    </p:set>
                                    <p:animEffect transition="in" filter="fade">
                                      <p:cBhvr>
                                        <p:cTn id="37" dur="1000"/>
                                        <p:tgtEl>
                                          <p:spTgt spid="8">
                                            <p:txEl>
                                              <p:pRg st="12" end="12"/>
                                            </p:txEl>
                                          </p:spTgt>
                                        </p:tgtEl>
                                      </p:cBhvr>
                                    </p:animEffect>
                                    <p:anim calcmode="lin" valueType="num">
                                      <p:cBhvr>
                                        <p:cTn id="38" dur="1000" fill="hold"/>
                                        <p:tgtEl>
                                          <p:spTgt spid="8">
                                            <p:txEl>
                                              <p:pRg st="12" end="12"/>
                                            </p:txEl>
                                          </p:spTgt>
                                        </p:tgtEl>
                                        <p:attrNameLst>
                                          <p:attrName>ppt_x</p:attrName>
                                        </p:attrNameLst>
                                      </p:cBhvr>
                                      <p:tavLst>
                                        <p:tav tm="0">
                                          <p:val>
                                            <p:strVal val="#ppt_x"/>
                                          </p:val>
                                        </p:tav>
                                        <p:tav tm="100000">
                                          <p:val>
                                            <p:strVal val="#ppt_x"/>
                                          </p:val>
                                        </p:tav>
                                      </p:tavLst>
                                    </p:anim>
                                    <p:anim calcmode="lin" valueType="num">
                                      <p:cBhvr>
                                        <p:cTn id="39" dur="1000" fill="hold"/>
                                        <p:tgtEl>
                                          <p:spTgt spid="8">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14" name="Rectangle 13"/>
          <p:cNvSpPr/>
          <p:nvPr/>
        </p:nvSpPr>
        <p:spPr>
          <a:xfrm>
            <a:off x="0" y="42614"/>
            <a:ext cx="12192000" cy="6858000"/>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sp>
        <p:nvSpPr>
          <p:cNvPr id="6" name="ZoneTexte 5"/>
          <p:cNvSpPr txBox="1"/>
          <p:nvPr/>
        </p:nvSpPr>
        <p:spPr>
          <a:xfrm>
            <a:off x="2112573" y="339633"/>
            <a:ext cx="1645920" cy="523220"/>
          </a:xfrm>
          <a:prstGeom prst="rect">
            <a:avLst/>
          </a:prstGeom>
          <a:noFill/>
        </p:spPr>
        <p:txBody>
          <a:bodyPr wrap="square" rtlCol="1">
            <a:spAutoFit/>
          </a:bodyPr>
          <a:lstStyle/>
          <a:p>
            <a:r>
              <a:rPr lang="en-US" sz="2800" b="1" dirty="0" smtClean="0">
                <a:latin typeface="Arial Black" panose="020B0A04020102020204" pitchFamily="34" charset="0"/>
              </a:rPr>
              <a:t>Outlin</a:t>
            </a:r>
            <a:r>
              <a:rPr lang="en-US" sz="2800" b="1" dirty="0">
                <a:latin typeface="Arial Black" panose="020B0A04020102020204" pitchFamily="34" charset="0"/>
              </a:rPr>
              <a:t>e</a:t>
            </a:r>
          </a:p>
        </p:txBody>
      </p:sp>
      <p:pic>
        <p:nvPicPr>
          <p:cNvPr id="15" name="Image 14"/>
          <p:cNvPicPr>
            <a:picLocks noChangeAspect="1"/>
          </p:cNvPicPr>
          <p:nvPr/>
        </p:nvPicPr>
        <p:blipFill>
          <a:blip r:embed="rId3" cstate="print">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1317308" y="145586"/>
            <a:ext cx="777240" cy="841248"/>
          </a:xfrm>
          <a:prstGeom prst="rect">
            <a:avLst/>
          </a:prstGeom>
          <a:ln>
            <a:noFill/>
          </a:ln>
          <a:effectLst>
            <a:softEdge rad="112500"/>
          </a:effectLst>
        </p:spPr>
      </p:pic>
      <p:sp>
        <p:nvSpPr>
          <p:cNvPr id="16" name="ZoneTexte 15"/>
          <p:cNvSpPr txBox="1"/>
          <p:nvPr/>
        </p:nvSpPr>
        <p:spPr>
          <a:xfrm>
            <a:off x="4966335" y="1333470"/>
            <a:ext cx="2259330" cy="523220"/>
          </a:xfrm>
          <a:prstGeom prst="rect">
            <a:avLst/>
          </a:prstGeom>
          <a:noFill/>
        </p:spPr>
        <p:txBody>
          <a:bodyPr wrap="square" rtlCol="1">
            <a:spAutoFit/>
          </a:bodyPr>
          <a:lstStyle/>
          <a:p>
            <a:endParaRPr lang="en-US" sz="2800" b="1" dirty="0">
              <a:latin typeface="Arial Black" panose="020B0A04020102020204" pitchFamily="34" charset="0"/>
            </a:endParaRPr>
          </a:p>
        </p:txBody>
      </p:sp>
      <p:sp>
        <p:nvSpPr>
          <p:cNvPr id="20" name="Rectangle à coins arrondis 19"/>
          <p:cNvSpPr/>
          <p:nvPr/>
        </p:nvSpPr>
        <p:spPr>
          <a:xfrm>
            <a:off x="1938685" y="1294458"/>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27" name="Rectangle à coins arrondis 26"/>
          <p:cNvSpPr/>
          <p:nvPr/>
        </p:nvSpPr>
        <p:spPr>
          <a:xfrm>
            <a:off x="1938685" y="2139373"/>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err="1">
                <a:solidFill>
                  <a:schemeClr val="tx1"/>
                </a:solidFill>
                <a:latin typeface="Arial Black" panose="020B0A04020102020204" pitchFamily="34" charset="0"/>
              </a:rPr>
              <a:t>Plateforme</a:t>
            </a:r>
            <a:r>
              <a:rPr lang="en-US" sz="2400" b="1" dirty="0">
                <a:solidFill>
                  <a:schemeClr val="tx1"/>
                </a:solidFill>
                <a:latin typeface="Arial Black" panose="020B0A04020102020204" pitchFamily="34" charset="0"/>
              </a:rPr>
              <a:t> Android</a:t>
            </a:r>
          </a:p>
        </p:txBody>
      </p:sp>
      <p:sp>
        <p:nvSpPr>
          <p:cNvPr id="28" name="Rectangle à coins arrondis 27"/>
          <p:cNvSpPr/>
          <p:nvPr/>
        </p:nvSpPr>
        <p:spPr>
          <a:xfrm>
            <a:off x="1938685" y="286093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err="1">
                <a:solidFill>
                  <a:schemeClr val="tx1"/>
                </a:solidFill>
                <a:latin typeface="Arial Black" panose="020B0A04020102020204" pitchFamily="34" charset="0"/>
              </a:rPr>
              <a:t>Activités</a:t>
            </a:r>
            <a:r>
              <a:rPr lang="en-US" sz="2400" b="1" dirty="0">
                <a:solidFill>
                  <a:schemeClr val="tx1"/>
                </a:solidFill>
                <a:latin typeface="Arial Black" panose="020B0A04020102020204" pitchFamily="34" charset="0"/>
              </a:rPr>
              <a:t> et </a:t>
            </a:r>
            <a:r>
              <a:rPr lang="en-US" sz="2400" b="1" dirty="0" err="1">
                <a:solidFill>
                  <a:schemeClr val="tx1"/>
                </a:solidFill>
                <a:latin typeface="Arial Black" panose="020B0A04020102020204" pitchFamily="34" charset="0"/>
              </a:rPr>
              <a:t>ressources</a:t>
            </a:r>
            <a:endParaRPr lang="en-US" sz="2400" b="1" dirty="0">
              <a:solidFill>
                <a:schemeClr val="tx1"/>
              </a:solidFill>
              <a:latin typeface="Arial Black" panose="020B0A04020102020204" pitchFamily="34" charset="0"/>
            </a:endParaRPr>
          </a:p>
        </p:txBody>
      </p:sp>
      <p:sp>
        <p:nvSpPr>
          <p:cNvPr id="29" name="Rectangle à coins arrondis 28"/>
          <p:cNvSpPr/>
          <p:nvPr/>
        </p:nvSpPr>
        <p:spPr>
          <a:xfrm>
            <a:off x="1938685" y="3577460"/>
            <a:ext cx="6697824"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Interfaces </a:t>
            </a:r>
            <a:r>
              <a:rPr lang="en-US" sz="2400" b="1" dirty="0" err="1">
                <a:solidFill>
                  <a:schemeClr val="tx1"/>
                </a:solidFill>
                <a:latin typeface="Arial Black" panose="020B0A04020102020204" pitchFamily="34" charset="0"/>
              </a:rPr>
              <a:t>graphiques</a:t>
            </a:r>
            <a:r>
              <a:rPr lang="en-US" sz="2400" b="1" dirty="0">
                <a:solidFill>
                  <a:schemeClr val="tx1"/>
                </a:solidFill>
                <a:latin typeface="Arial Black" panose="020B0A04020102020204" pitchFamily="34" charset="0"/>
              </a:rPr>
              <a:t> et widgets</a:t>
            </a:r>
          </a:p>
        </p:txBody>
      </p:sp>
      <p:sp>
        <p:nvSpPr>
          <p:cNvPr id="11" name="Rectangle à coins arrondis 10"/>
          <p:cNvSpPr/>
          <p:nvPr/>
        </p:nvSpPr>
        <p:spPr>
          <a:xfrm>
            <a:off x="1938685" y="4273598"/>
            <a:ext cx="6697824"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fr-FR" sz="2400" b="1" dirty="0">
                <a:solidFill>
                  <a:schemeClr val="tx1"/>
                </a:solidFill>
                <a:latin typeface="Arial Black" panose="020B0A04020102020204" pitchFamily="34" charset="0"/>
              </a:rPr>
              <a:t>Menus et boites de dialogues</a:t>
            </a:r>
            <a:endParaRPr lang="en-US" sz="2400" b="1" dirty="0">
              <a:solidFill>
                <a:schemeClr val="tx1"/>
              </a:solidFill>
              <a:latin typeface="Arial Black" panose="020B0A04020102020204" pitchFamily="34" charset="0"/>
            </a:endParaRPr>
          </a:p>
        </p:txBody>
      </p:sp>
      <p:sp>
        <p:nvSpPr>
          <p:cNvPr id="12" name="Rectangle à coins arrondis 11"/>
          <p:cNvSpPr/>
          <p:nvPr/>
        </p:nvSpPr>
        <p:spPr>
          <a:xfrm>
            <a:off x="1938685" y="5024326"/>
            <a:ext cx="10222420"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fr-FR" sz="2400" b="1" dirty="0">
                <a:solidFill>
                  <a:schemeClr val="tx1"/>
                </a:solidFill>
                <a:latin typeface="Arial Black" panose="020B0A04020102020204" pitchFamily="34" charset="0"/>
              </a:rPr>
              <a:t>AndroidManifest.xml et communication entre composants</a:t>
            </a:r>
            <a:endParaRPr lang="en-US" sz="2400" b="1" dirty="0">
              <a:solidFill>
                <a:schemeClr val="tx1"/>
              </a:solidFill>
              <a:latin typeface="Arial Black" panose="020B0A04020102020204" pitchFamily="34" charset="0"/>
            </a:endParaRPr>
          </a:p>
        </p:txBody>
      </p:sp>
      <p:sp>
        <p:nvSpPr>
          <p:cNvPr id="17" name="Rectangle à coins arrondis 16"/>
          <p:cNvSpPr/>
          <p:nvPr/>
        </p:nvSpPr>
        <p:spPr>
          <a:xfrm>
            <a:off x="1938685" y="5889977"/>
            <a:ext cx="6697824"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fr-FR" sz="2400" b="1">
                <a:solidFill>
                  <a:schemeClr val="tx1"/>
                </a:solidFill>
                <a:latin typeface="Arial Black" panose="020B0A04020102020204" pitchFamily="34" charset="0"/>
              </a:rPr>
              <a:t>Les bases de données avec SQLite</a:t>
            </a:r>
            <a:endParaRPr lang="en-US" sz="2400" b="1"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947885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109949" y="129042"/>
            <a:ext cx="1228725" cy="930134"/>
          </a:xfrm>
          <a:prstGeom prst="rect">
            <a:avLst/>
          </a:prstGeom>
          <a:ln>
            <a:noFill/>
          </a:ln>
          <a:effectLst>
            <a:softEdge rad="112500"/>
          </a:effectLst>
        </p:spPr>
      </p:pic>
      <p:pic>
        <p:nvPicPr>
          <p:cNvPr id="2" name="Image 1"/>
          <p:cNvPicPr>
            <a:picLocks noChangeAspect="1"/>
          </p:cNvPicPr>
          <p:nvPr/>
        </p:nvPicPr>
        <p:blipFill>
          <a:blip r:embed="rId4"/>
          <a:stretch>
            <a:fillRect/>
          </a:stretch>
        </p:blipFill>
        <p:spPr>
          <a:xfrm>
            <a:off x="5863090" y="318555"/>
            <a:ext cx="6228825" cy="3688579"/>
          </a:xfrm>
          <a:prstGeom prst="rect">
            <a:avLst/>
          </a:prstGeom>
        </p:spPr>
      </p:pic>
      <p:pic>
        <p:nvPicPr>
          <p:cNvPr id="3" name="Image 2"/>
          <p:cNvPicPr>
            <a:picLocks noChangeAspect="1"/>
          </p:cNvPicPr>
          <p:nvPr/>
        </p:nvPicPr>
        <p:blipFill>
          <a:blip r:embed="rId5"/>
          <a:stretch>
            <a:fillRect/>
          </a:stretch>
        </p:blipFill>
        <p:spPr>
          <a:xfrm>
            <a:off x="5863091" y="4211502"/>
            <a:ext cx="6228825" cy="2338916"/>
          </a:xfrm>
          <a:prstGeom prst="rect">
            <a:avLst/>
          </a:prstGeom>
        </p:spPr>
      </p:pic>
      <p:sp>
        <p:nvSpPr>
          <p:cNvPr id="13" name="Rectangle à coins arrondis 12"/>
          <p:cNvSpPr/>
          <p:nvPr/>
        </p:nvSpPr>
        <p:spPr>
          <a:xfrm>
            <a:off x="1358168" y="318555"/>
            <a:ext cx="4837549"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7" name="Image 6"/>
          <p:cNvPicPr>
            <a:picLocks noChangeAspect="1"/>
          </p:cNvPicPr>
          <p:nvPr/>
        </p:nvPicPr>
        <p:blipFill>
          <a:blip r:embed="rId6"/>
          <a:stretch>
            <a:fillRect/>
          </a:stretch>
        </p:blipFill>
        <p:spPr>
          <a:xfrm>
            <a:off x="171975" y="1142960"/>
            <a:ext cx="5519141" cy="3582829"/>
          </a:xfrm>
          <a:prstGeom prst="rect">
            <a:avLst/>
          </a:prstGeom>
        </p:spPr>
      </p:pic>
    </p:spTree>
    <p:extLst>
      <p:ext uri="{BB962C8B-B14F-4D97-AF65-F5344CB8AC3E}">
        <p14:creationId xmlns:p14="http://schemas.microsoft.com/office/powerpoint/2010/main" val="10811362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0" name="Image 9"/>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pic>
        <p:nvPicPr>
          <p:cNvPr id="11" name="Image 10"/>
          <p:cNvPicPr>
            <a:picLocks noChangeAspect="1"/>
          </p:cNvPicPr>
          <p:nvPr/>
        </p:nvPicPr>
        <p:blipFill>
          <a:blip r:embed="rId4"/>
          <a:stretch>
            <a:fillRect/>
          </a:stretch>
        </p:blipFill>
        <p:spPr>
          <a:xfrm>
            <a:off x="2105628" y="1208039"/>
            <a:ext cx="7571309" cy="346339"/>
          </a:xfrm>
          <a:prstGeom prst="rect">
            <a:avLst/>
          </a:prstGeom>
        </p:spPr>
      </p:pic>
      <p:pic>
        <p:nvPicPr>
          <p:cNvPr id="12" name="Image 11"/>
          <p:cNvPicPr>
            <a:picLocks noChangeAspect="1"/>
          </p:cNvPicPr>
          <p:nvPr/>
        </p:nvPicPr>
        <p:blipFill>
          <a:blip r:embed="rId5"/>
          <a:stretch>
            <a:fillRect/>
          </a:stretch>
        </p:blipFill>
        <p:spPr>
          <a:xfrm>
            <a:off x="1419366" y="1883485"/>
            <a:ext cx="8534400" cy="4829175"/>
          </a:xfrm>
          <a:prstGeom prst="rect">
            <a:avLst/>
          </a:prstGeom>
        </p:spPr>
      </p:pic>
      <p:sp>
        <p:nvSpPr>
          <p:cNvPr id="13" name="Rectangle à coins arrondis 12"/>
          <p:cNvSpPr/>
          <p:nvPr/>
        </p:nvSpPr>
        <p:spPr>
          <a:xfrm>
            <a:off x="1849853" y="573219"/>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Tree>
    <p:extLst>
      <p:ext uri="{BB962C8B-B14F-4D97-AF65-F5344CB8AC3E}">
        <p14:creationId xmlns:p14="http://schemas.microsoft.com/office/powerpoint/2010/main" val="795801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0" name="Image 9"/>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pic>
        <p:nvPicPr>
          <p:cNvPr id="2" name="Image 1"/>
          <p:cNvPicPr>
            <a:picLocks noChangeAspect="1"/>
          </p:cNvPicPr>
          <p:nvPr/>
        </p:nvPicPr>
        <p:blipFill>
          <a:blip r:embed="rId4"/>
          <a:stretch>
            <a:fillRect/>
          </a:stretch>
        </p:blipFill>
        <p:spPr>
          <a:xfrm>
            <a:off x="1901952" y="1803992"/>
            <a:ext cx="8134350" cy="3495675"/>
          </a:xfrm>
          <a:prstGeom prst="rect">
            <a:avLst/>
          </a:prstGeom>
        </p:spPr>
      </p:pic>
      <p:sp>
        <p:nvSpPr>
          <p:cNvPr id="13" name="Rectangle à coins arrondis 12"/>
          <p:cNvSpPr/>
          <p:nvPr/>
        </p:nvSpPr>
        <p:spPr>
          <a:xfrm>
            <a:off x="1904445" y="562290"/>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Tree>
    <p:extLst>
      <p:ext uri="{BB962C8B-B14F-4D97-AF65-F5344CB8AC3E}">
        <p14:creationId xmlns:p14="http://schemas.microsoft.com/office/powerpoint/2010/main" val="27150818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0" name="Image 9"/>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pic>
        <p:nvPicPr>
          <p:cNvPr id="3" name="Image 2"/>
          <p:cNvPicPr>
            <a:picLocks noChangeAspect="1"/>
          </p:cNvPicPr>
          <p:nvPr/>
        </p:nvPicPr>
        <p:blipFill>
          <a:blip r:embed="rId4"/>
          <a:stretch>
            <a:fillRect/>
          </a:stretch>
        </p:blipFill>
        <p:spPr>
          <a:xfrm>
            <a:off x="2060814" y="1569492"/>
            <a:ext cx="8657158" cy="4292647"/>
          </a:xfrm>
          <a:prstGeom prst="rect">
            <a:avLst/>
          </a:prstGeom>
        </p:spPr>
      </p:pic>
      <p:sp>
        <p:nvSpPr>
          <p:cNvPr id="7" name="Rectangle à coins arrondis 6"/>
          <p:cNvSpPr/>
          <p:nvPr/>
        </p:nvSpPr>
        <p:spPr>
          <a:xfrm>
            <a:off x="1849853" y="573219"/>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Tree>
    <p:extLst>
      <p:ext uri="{BB962C8B-B14F-4D97-AF65-F5344CB8AC3E}">
        <p14:creationId xmlns:p14="http://schemas.microsoft.com/office/powerpoint/2010/main" val="7440064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0" name="Image 9"/>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7" name="Rectangle à coins arrondis 6"/>
          <p:cNvSpPr/>
          <p:nvPr/>
        </p:nvSpPr>
        <p:spPr>
          <a:xfrm>
            <a:off x="1849853" y="573219"/>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2" name="Image 1"/>
          <p:cNvPicPr>
            <a:picLocks noChangeAspect="1"/>
          </p:cNvPicPr>
          <p:nvPr/>
        </p:nvPicPr>
        <p:blipFill>
          <a:blip r:embed="rId4"/>
          <a:stretch>
            <a:fillRect/>
          </a:stretch>
        </p:blipFill>
        <p:spPr>
          <a:xfrm>
            <a:off x="1849853" y="1462585"/>
            <a:ext cx="8591550" cy="4724400"/>
          </a:xfrm>
          <a:prstGeom prst="rect">
            <a:avLst/>
          </a:prstGeom>
        </p:spPr>
      </p:pic>
    </p:spTree>
    <p:extLst>
      <p:ext uri="{BB962C8B-B14F-4D97-AF65-F5344CB8AC3E}">
        <p14:creationId xmlns:p14="http://schemas.microsoft.com/office/powerpoint/2010/main" val="38916915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pic>
        <p:nvPicPr>
          <p:cNvPr id="12" name="Image 11"/>
          <p:cNvPicPr>
            <a:picLocks noChangeAspect="1"/>
          </p:cNvPicPr>
          <p:nvPr/>
        </p:nvPicPr>
        <p:blipFill>
          <a:blip r:embed="rId4"/>
          <a:stretch>
            <a:fillRect/>
          </a:stretch>
        </p:blipFill>
        <p:spPr>
          <a:xfrm>
            <a:off x="1122997" y="1429300"/>
            <a:ext cx="10068167" cy="5080682"/>
          </a:xfrm>
          <a:prstGeom prst="rect">
            <a:avLst/>
          </a:prstGeom>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Tree>
    <p:extLst>
      <p:ext uri="{BB962C8B-B14F-4D97-AF65-F5344CB8AC3E}">
        <p14:creationId xmlns:p14="http://schemas.microsoft.com/office/powerpoint/2010/main" val="28945571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7" name="Image 6"/>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337860" y="180240"/>
            <a:ext cx="1228725" cy="930134"/>
          </a:xfrm>
          <a:prstGeom prst="rect">
            <a:avLst/>
          </a:prstGeom>
          <a:ln>
            <a:noFill/>
          </a:ln>
          <a:effectLst>
            <a:softEdge rad="112500"/>
          </a:effectLst>
        </p:spPr>
      </p:pic>
      <p:sp>
        <p:nvSpPr>
          <p:cNvPr id="8" name="Rectangle à coins arrondis 7"/>
          <p:cNvSpPr/>
          <p:nvPr/>
        </p:nvSpPr>
        <p:spPr>
          <a:xfrm>
            <a:off x="1713376" y="369753"/>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9" name="Image 8"/>
          <p:cNvPicPr>
            <a:picLocks noChangeAspect="1"/>
          </p:cNvPicPr>
          <p:nvPr/>
        </p:nvPicPr>
        <p:blipFill>
          <a:blip r:embed="rId4"/>
          <a:stretch>
            <a:fillRect/>
          </a:stretch>
        </p:blipFill>
        <p:spPr>
          <a:xfrm>
            <a:off x="952222" y="1982972"/>
            <a:ext cx="9959198" cy="2428875"/>
          </a:xfrm>
          <a:prstGeom prst="rect">
            <a:avLst/>
          </a:prstGeom>
        </p:spPr>
      </p:pic>
    </p:spTree>
    <p:extLst>
      <p:ext uri="{BB962C8B-B14F-4D97-AF65-F5344CB8AC3E}">
        <p14:creationId xmlns:p14="http://schemas.microsoft.com/office/powerpoint/2010/main" val="42129507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0"/>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0" name="Image 9"/>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194192"/>
            <a:ext cx="1228725" cy="930134"/>
          </a:xfrm>
          <a:prstGeom prst="rect">
            <a:avLst/>
          </a:prstGeom>
          <a:ln>
            <a:noFill/>
          </a:ln>
          <a:effectLst>
            <a:softEdge rad="112500"/>
          </a:effectLst>
        </p:spPr>
      </p:pic>
      <p:sp>
        <p:nvSpPr>
          <p:cNvPr id="7" name="Rectangle à coins arrondis 6"/>
          <p:cNvSpPr/>
          <p:nvPr/>
        </p:nvSpPr>
        <p:spPr>
          <a:xfrm>
            <a:off x="1737360" y="383705"/>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3" name="Image 2"/>
          <p:cNvPicPr>
            <a:picLocks noChangeAspect="1"/>
          </p:cNvPicPr>
          <p:nvPr/>
        </p:nvPicPr>
        <p:blipFill>
          <a:blip r:embed="rId4"/>
          <a:stretch>
            <a:fillRect/>
          </a:stretch>
        </p:blipFill>
        <p:spPr>
          <a:xfrm>
            <a:off x="508635" y="1455819"/>
            <a:ext cx="5259119" cy="4724021"/>
          </a:xfrm>
          <a:prstGeom prst="rect">
            <a:avLst/>
          </a:prstGeom>
        </p:spPr>
      </p:pic>
      <p:pic>
        <p:nvPicPr>
          <p:cNvPr id="6" name="Image 5"/>
          <p:cNvPicPr>
            <a:picLocks noChangeAspect="1"/>
          </p:cNvPicPr>
          <p:nvPr/>
        </p:nvPicPr>
        <p:blipFill>
          <a:blip r:embed="rId5"/>
          <a:stretch>
            <a:fillRect/>
          </a:stretch>
        </p:blipFill>
        <p:spPr>
          <a:xfrm>
            <a:off x="5926014" y="1455819"/>
            <a:ext cx="5961185" cy="4724021"/>
          </a:xfrm>
          <a:prstGeom prst="rect">
            <a:avLst/>
          </a:prstGeom>
        </p:spPr>
      </p:pic>
    </p:spTree>
    <p:extLst>
      <p:ext uri="{BB962C8B-B14F-4D97-AF65-F5344CB8AC3E}">
        <p14:creationId xmlns:p14="http://schemas.microsoft.com/office/powerpoint/2010/main" val="17423103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2" name="ZoneTexte 1"/>
          <p:cNvSpPr txBox="1"/>
          <p:nvPr/>
        </p:nvSpPr>
        <p:spPr>
          <a:xfrm>
            <a:off x="1836207" y="3442218"/>
            <a:ext cx="7135768" cy="369332"/>
          </a:xfrm>
          <a:prstGeom prst="rect">
            <a:avLst/>
          </a:prstGeom>
          <a:noFill/>
        </p:spPr>
        <p:txBody>
          <a:bodyPr wrap="square" rtlCol="1">
            <a:spAutoFit/>
          </a:bodyPr>
          <a:lstStyle/>
          <a:p>
            <a:r>
              <a:rPr lang="en-US" b="1" dirty="0" smtClean="0">
                <a:solidFill>
                  <a:srgbClr val="C00000"/>
                </a:solidFill>
              </a:rPr>
              <a:t>Visit the site  </a:t>
            </a:r>
            <a:r>
              <a:rPr lang="en-US" b="1" u="sng" dirty="0" smtClean="0"/>
              <a:t>https</a:t>
            </a:r>
            <a:r>
              <a:rPr lang="en-US" b="1" u="sng" dirty="0"/>
              <a:t>://financesonline.com/smartphone-usage-statistics/</a:t>
            </a:r>
          </a:p>
        </p:txBody>
      </p:sp>
    </p:spTree>
    <p:extLst>
      <p:ext uri="{BB962C8B-B14F-4D97-AF65-F5344CB8AC3E}">
        <p14:creationId xmlns:p14="http://schemas.microsoft.com/office/powerpoint/2010/main" val="21032398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6" name="Rectangle 5"/>
          <p:cNvSpPr/>
          <p:nvPr/>
        </p:nvSpPr>
        <p:spPr>
          <a:xfrm>
            <a:off x="0" y="-194382"/>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sp>
        <p:nvSpPr>
          <p:cNvPr id="8" name="ZoneTexte 7"/>
          <p:cNvSpPr txBox="1"/>
          <p:nvPr/>
        </p:nvSpPr>
        <p:spPr>
          <a:xfrm>
            <a:off x="3767328" y="6400800"/>
            <a:ext cx="184731" cy="369332"/>
          </a:xfrm>
          <a:prstGeom prst="rect">
            <a:avLst/>
          </a:prstGeom>
          <a:noFill/>
        </p:spPr>
        <p:txBody>
          <a:bodyPr wrap="none" rtlCol="1">
            <a:spAutoFit/>
          </a:bodyPr>
          <a:lstStyle/>
          <a:p>
            <a:endParaRPr lang="en-US" dirty="0"/>
          </a:p>
        </p:txBody>
      </p:sp>
      <p:sp>
        <p:nvSpPr>
          <p:cNvPr id="10" name="ZoneTexte 9"/>
          <p:cNvSpPr txBox="1"/>
          <p:nvPr/>
        </p:nvSpPr>
        <p:spPr>
          <a:xfrm>
            <a:off x="648848" y="1511456"/>
            <a:ext cx="10405837" cy="400110"/>
          </a:xfrm>
          <a:prstGeom prst="rect">
            <a:avLst/>
          </a:prstGeom>
          <a:noFill/>
        </p:spPr>
        <p:txBody>
          <a:bodyPr wrap="square" rtlCol="1">
            <a:spAutoFit/>
          </a:bodyPr>
          <a:lstStyle/>
          <a:p>
            <a:r>
              <a:rPr lang="fr-FR" sz="2000" b="1" dirty="0" smtClean="0">
                <a:latin typeface="Arial Black" panose="020B0A04020102020204" pitchFamily="34" charset="0"/>
              </a:rPr>
              <a:t>1- Comment </a:t>
            </a:r>
            <a:r>
              <a:rPr lang="fr-FR" sz="2000" b="1" dirty="0">
                <a:latin typeface="Arial Black" panose="020B0A04020102020204" pitchFamily="34" charset="0"/>
              </a:rPr>
              <a:t>fonctionne un téléphone mobile (réseau cellulaire)</a:t>
            </a:r>
            <a:endParaRPr lang="en-US" sz="2000" b="1" dirty="0">
              <a:latin typeface="Arial Black" panose="020B0A04020102020204" pitchFamily="34" charset="0"/>
            </a:endParaRPr>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9" name="Rectangle à coins arrondis 8"/>
          <p:cNvSpPr/>
          <p:nvPr/>
        </p:nvSpPr>
        <p:spPr>
          <a:xfrm>
            <a:off x="1904445" y="562290"/>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13" name="ZoneTexte 12"/>
          <p:cNvSpPr txBox="1"/>
          <p:nvPr/>
        </p:nvSpPr>
        <p:spPr>
          <a:xfrm>
            <a:off x="605050" y="2046442"/>
            <a:ext cx="11586950" cy="830997"/>
          </a:xfrm>
          <a:prstGeom prst="rect">
            <a:avLst/>
          </a:prstGeom>
          <a:noFill/>
        </p:spPr>
        <p:txBody>
          <a:bodyPr wrap="square" rtlCol="1">
            <a:spAutoFit/>
          </a:bodyPr>
          <a:lstStyle/>
          <a:p>
            <a:pPr marL="285750" indent="-285750">
              <a:buFont typeface="Wingdings" panose="05000000000000000000" pitchFamily="2" charset="2"/>
              <a:buChar char="ü"/>
            </a:pPr>
            <a:r>
              <a:rPr lang="fr-FR" sz="1600" b="1" dirty="0">
                <a:latin typeface="Arial Black" panose="020B0A04020102020204" pitchFamily="34" charset="0"/>
              </a:rPr>
              <a:t>Un téléphone </a:t>
            </a:r>
            <a:r>
              <a:rPr lang="fr-FR" sz="1600" dirty="0">
                <a:latin typeface="Arial Black" panose="020B0A04020102020204" pitchFamily="34" charset="0"/>
              </a:rPr>
              <a:t>mobile établit un appel en convertissant la voix en un signal numérique à l'aide d'un capteur MEMS et d'un circuit intégré </a:t>
            </a:r>
            <a:r>
              <a:rPr lang="fr-FR" sz="1600" dirty="0" smtClean="0">
                <a:latin typeface="Arial Black" panose="020B0A04020102020204" pitchFamily="34" charset="0"/>
              </a:rPr>
              <a:t>       </a:t>
            </a:r>
          </a:p>
          <a:p>
            <a:r>
              <a:rPr lang="fr-FR" sz="1600" dirty="0" smtClean="0">
                <a:latin typeface="Arial Black" panose="020B0A04020102020204" pitchFamily="34" charset="0"/>
              </a:rPr>
              <a:t>  </a:t>
            </a:r>
            <a:r>
              <a:rPr lang="fr-FR" sz="1600" dirty="0" smtClean="0">
                <a:solidFill>
                  <a:srgbClr val="C00000"/>
                </a:solidFill>
                <a:latin typeface="Arial Black" panose="020B0A04020102020204" pitchFamily="34" charset="0"/>
              </a:rPr>
              <a:t>voir la vidéo   </a:t>
            </a:r>
            <a:r>
              <a:rPr lang="fr-FR" sz="1600" u="sng" dirty="0" smtClean="0">
                <a:latin typeface="Arial Black" panose="020B0A04020102020204" pitchFamily="34" charset="0"/>
              </a:rPr>
              <a:t>https</a:t>
            </a:r>
            <a:r>
              <a:rPr lang="fr-FR" sz="1600" u="sng" dirty="0">
                <a:latin typeface="Arial Black" panose="020B0A04020102020204" pitchFamily="34" charset="0"/>
              </a:rPr>
              <a:t>://www.youtube.com/watch?v=IST51rB_SJo</a:t>
            </a:r>
            <a:endParaRPr lang="en-US" sz="1600" u="sng" dirty="0">
              <a:latin typeface="Arial Black" panose="020B0A04020102020204" pitchFamily="34" charset="0"/>
            </a:endParaRPr>
          </a:p>
        </p:txBody>
      </p:sp>
      <p:sp>
        <p:nvSpPr>
          <p:cNvPr id="14" name="ZoneTexte 13"/>
          <p:cNvSpPr txBox="1"/>
          <p:nvPr/>
        </p:nvSpPr>
        <p:spPr>
          <a:xfrm>
            <a:off x="643718" y="2979886"/>
            <a:ext cx="10405837" cy="584775"/>
          </a:xfrm>
          <a:prstGeom prst="rect">
            <a:avLst/>
          </a:prstGeom>
          <a:noFill/>
        </p:spPr>
        <p:txBody>
          <a:bodyPr wrap="square" rtlCol="1">
            <a:spAutoFit/>
          </a:bodyPr>
          <a:lstStyle/>
          <a:p>
            <a:pPr marL="285750" indent="-285750">
              <a:buFont typeface="Wingdings" panose="05000000000000000000" pitchFamily="2" charset="2"/>
              <a:buChar char="ü"/>
            </a:pPr>
            <a:r>
              <a:rPr lang="fr-FR" sz="1600" dirty="0" smtClean="0">
                <a:latin typeface="Arial Black" panose="020B0A04020102020204" pitchFamily="34" charset="0"/>
              </a:rPr>
              <a:t>Puis </a:t>
            </a:r>
            <a:r>
              <a:rPr lang="fr-FR" sz="1600" dirty="0">
                <a:latin typeface="Arial Black" panose="020B0A04020102020204" pitchFamily="34" charset="0"/>
              </a:rPr>
              <a:t>en le transmettant sous forme d'ondes électromagnétiques aux caractéristiques </a:t>
            </a:r>
            <a:r>
              <a:rPr lang="fr-FR" sz="1600" dirty="0" smtClean="0">
                <a:latin typeface="Arial Black" panose="020B0A04020102020204" pitchFamily="34" charset="0"/>
              </a:rPr>
              <a:t>variables (fréquence, langueur d’onde, amplitude etc.  ) </a:t>
            </a:r>
            <a:r>
              <a:rPr lang="fr-FR" sz="1600" dirty="0" smtClean="0"/>
              <a:t>.</a:t>
            </a:r>
            <a:endParaRPr lang="en-US" sz="1600" b="1" dirty="0">
              <a:latin typeface="Arial Black" panose="020B0A04020102020204" pitchFamily="34" charset="0"/>
            </a:endParaRPr>
          </a:p>
        </p:txBody>
      </p:sp>
      <p:sp>
        <p:nvSpPr>
          <p:cNvPr id="15" name="ZoneTexte 14"/>
          <p:cNvSpPr txBox="1"/>
          <p:nvPr/>
        </p:nvSpPr>
        <p:spPr>
          <a:xfrm>
            <a:off x="643718" y="3595515"/>
            <a:ext cx="10843995" cy="830997"/>
          </a:xfrm>
          <a:prstGeom prst="rect">
            <a:avLst/>
          </a:prstGeom>
          <a:noFill/>
        </p:spPr>
        <p:txBody>
          <a:bodyPr wrap="square" rtlCol="1">
            <a:spAutoFit/>
          </a:bodyPr>
          <a:lstStyle/>
          <a:p>
            <a:pPr marL="285750" indent="-285750">
              <a:buFont typeface="Wingdings" panose="05000000000000000000" pitchFamily="2" charset="2"/>
              <a:buChar char="ü"/>
            </a:pPr>
            <a:r>
              <a:rPr lang="fr-FR" sz="1600" dirty="0">
                <a:latin typeface="Arial Black" panose="020B0A04020102020204" pitchFamily="34" charset="0"/>
              </a:rPr>
              <a:t>Les tours de téléphonie cellulaire, utilisant la technologie cellulaire, aident à surmonter la gamme limitée des ondes électromagnétiques en divisant une zone géographique en cellules hexagonales, chacune avec sa propre tour et son propre créneau de fréquence.</a:t>
            </a:r>
            <a:r>
              <a:rPr lang="fr-FR" sz="1600" dirty="0" smtClean="0"/>
              <a:t>.</a:t>
            </a:r>
            <a:endParaRPr lang="en-US" sz="1600" b="1" dirty="0">
              <a:latin typeface="Arial Black" panose="020B0A04020102020204" pitchFamily="34" charset="0"/>
            </a:endParaRPr>
          </a:p>
        </p:txBody>
      </p:sp>
      <p:sp>
        <p:nvSpPr>
          <p:cNvPr id="16" name="ZoneTexte 15"/>
          <p:cNvSpPr txBox="1"/>
          <p:nvPr/>
        </p:nvSpPr>
        <p:spPr>
          <a:xfrm>
            <a:off x="674002" y="4620894"/>
            <a:ext cx="10843995" cy="830997"/>
          </a:xfrm>
          <a:prstGeom prst="rect">
            <a:avLst/>
          </a:prstGeom>
          <a:noFill/>
        </p:spPr>
        <p:txBody>
          <a:bodyPr wrap="square" rtlCol="1">
            <a:spAutoFit/>
          </a:bodyPr>
          <a:lstStyle/>
          <a:p>
            <a:pPr marL="285750" indent="-285750">
              <a:buFont typeface="Wingdings" panose="05000000000000000000" pitchFamily="2" charset="2"/>
              <a:buChar char="ü"/>
            </a:pPr>
            <a:r>
              <a:rPr lang="fr-FR" sz="1400" dirty="0">
                <a:latin typeface="Arial Black" panose="020B0A04020102020204" pitchFamily="34" charset="0"/>
              </a:rPr>
              <a:t> </a:t>
            </a:r>
            <a:r>
              <a:rPr lang="fr-FR" sz="1600" dirty="0">
                <a:latin typeface="Arial Black" panose="020B0A04020102020204" pitchFamily="34" charset="0"/>
              </a:rPr>
              <a:t>Un Centre de Commutation Mobile (MSC) aide à déterminer dans quelle zone de tour cellulaire se trouve un ami de l'utilisateur en stockant des informations d'abonnement et en utilisant des techniques de mise à jour de localisation.</a:t>
            </a:r>
            <a:endParaRPr lang="en-US" sz="1600" b="1" dirty="0">
              <a:latin typeface="Arial Black" panose="020B0A04020102020204" pitchFamily="34" charset="0"/>
            </a:endParaRPr>
          </a:p>
        </p:txBody>
      </p:sp>
    </p:spTree>
    <p:extLst>
      <p:ext uri="{BB962C8B-B14F-4D97-AF65-F5344CB8AC3E}">
        <p14:creationId xmlns:p14="http://schemas.microsoft.com/office/powerpoint/2010/main" val="19599720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dirty="0"/>
          </a:p>
        </p:txBody>
      </p:sp>
      <p:sp>
        <p:nvSpPr>
          <p:cNvPr id="3" name="Espace réservé du contenu 2"/>
          <p:cNvSpPr>
            <a:spLocks noGrp="1"/>
          </p:cNvSpPr>
          <p:nvPr>
            <p:ph idx="1"/>
          </p:nvPr>
        </p:nvSpPr>
        <p:spPr/>
        <p:txBody>
          <a:bodyPr/>
          <a:lstStyle/>
          <a:p>
            <a:endParaRPr lang="en-US"/>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0"/>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6" name="Image 5"/>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8" name="Rectangle à coins arrondis 7"/>
          <p:cNvSpPr/>
          <p:nvPr/>
        </p:nvSpPr>
        <p:spPr>
          <a:xfrm>
            <a:off x="1904445" y="562290"/>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9" name="ZoneTexte 8"/>
          <p:cNvSpPr txBox="1"/>
          <p:nvPr/>
        </p:nvSpPr>
        <p:spPr>
          <a:xfrm>
            <a:off x="648848" y="1511456"/>
            <a:ext cx="10405837" cy="400110"/>
          </a:xfrm>
          <a:prstGeom prst="rect">
            <a:avLst/>
          </a:prstGeom>
          <a:noFill/>
        </p:spPr>
        <p:txBody>
          <a:bodyPr wrap="square" rtlCol="1">
            <a:spAutoFit/>
          </a:bodyPr>
          <a:lstStyle/>
          <a:p>
            <a:r>
              <a:rPr lang="fr-FR" sz="2000" b="1" dirty="0" smtClean="0">
                <a:latin typeface="Arial Black" panose="020B0A04020102020204" pitchFamily="34" charset="0"/>
              </a:rPr>
              <a:t>1- Comment </a:t>
            </a:r>
            <a:r>
              <a:rPr lang="fr-FR" sz="2000" b="1" dirty="0">
                <a:latin typeface="Arial Black" panose="020B0A04020102020204" pitchFamily="34" charset="0"/>
              </a:rPr>
              <a:t>fonctionne un téléphone mobile (réseau cellulaire)</a:t>
            </a:r>
            <a:endParaRPr lang="en-US" sz="2000" b="1" dirty="0">
              <a:latin typeface="Arial Black" panose="020B0A04020102020204" pitchFamily="34" charset="0"/>
            </a:endParaRPr>
          </a:p>
        </p:txBody>
      </p:sp>
      <p:sp>
        <p:nvSpPr>
          <p:cNvPr id="10" name="ZoneTexte 9"/>
          <p:cNvSpPr txBox="1"/>
          <p:nvPr/>
        </p:nvSpPr>
        <p:spPr>
          <a:xfrm>
            <a:off x="1122997" y="2141465"/>
            <a:ext cx="10843995" cy="338554"/>
          </a:xfrm>
          <a:prstGeom prst="rect">
            <a:avLst/>
          </a:prstGeom>
          <a:noFill/>
        </p:spPr>
        <p:txBody>
          <a:bodyPr wrap="square" rtlCol="1">
            <a:spAutoFit/>
          </a:bodyPr>
          <a:lstStyle/>
          <a:p>
            <a:pPr marL="285750" indent="-285750">
              <a:buFont typeface="Wingdings" panose="05000000000000000000" pitchFamily="2" charset="2"/>
              <a:buChar char="ü"/>
            </a:pPr>
            <a:r>
              <a:rPr lang="fr-FR" sz="1600" dirty="0">
                <a:latin typeface="Arial Black" panose="020B0A04020102020204" pitchFamily="34" charset="0"/>
              </a:rPr>
              <a:t>Le spectre des fréquences est important dans les communications mobiles, </a:t>
            </a:r>
            <a:endParaRPr lang="en-US" sz="1600" b="1" dirty="0">
              <a:latin typeface="Arial Black" panose="020B0A04020102020204" pitchFamily="34" charset="0"/>
            </a:endParaRPr>
          </a:p>
        </p:txBody>
      </p:sp>
      <p:sp>
        <p:nvSpPr>
          <p:cNvPr id="11" name="ZoneTexte 10"/>
          <p:cNvSpPr txBox="1"/>
          <p:nvPr/>
        </p:nvSpPr>
        <p:spPr>
          <a:xfrm>
            <a:off x="1122996" y="2669480"/>
            <a:ext cx="10843995" cy="923330"/>
          </a:xfrm>
          <a:prstGeom prst="rect">
            <a:avLst/>
          </a:prstGeom>
          <a:noFill/>
        </p:spPr>
        <p:txBody>
          <a:bodyPr wrap="square" rtlCol="1">
            <a:spAutoFit/>
          </a:bodyPr>
          <a:lstStyle/>
          <a:p>
            <a:pPr marL="285750" indent="-285750">
              <a:buFont typeface="Wingdings" panose="05000000000000000000" pitchFamily="2" charset="2"/>
              <a:buChar char="ü"/>
            </a:pPr>
            <a:r>
              <a:rPr lang="fr-FR" dirty="0">
                <a:latin typeface="Arial Black" panose="020B0A04020102020204" pitchFamily="34" charset="0"/>
              </a:rPr>
              <a:t>Différentes générations de technologies de téléphonie mobile (1G, 2G, 3G, 4G et bientôt 5G) ont évolué pour améliorer la qualité vocale, la sécurité, la vitesse de transfert de données et le support pour l'Internet des objets.</a:t>
            </a:r>
            <a:endParaRPr lang="en-US" dirty="0">
              <a:latin typeface="Arial Black" panose="020B0A04020102020204" pitchFamily="34" charset="0"/>
            </a:endParaRPr>
          </a:p>
        </p:txBody>
      </p:sp>
      <p:sp>
        <p:nvSpPr>
          <p:cNvPr id="12" name="ZoneTexte 11"/>
          <p:cNvSpPr txBox="1"/>
          <p:nvPr/>
        </p:nvSpPr>
        <p:spPr>
          <a:xfrm>
            <a:off x="1122996" y="4022253"/>
            <a:ext cx="10843995" cy="369332"/>
          </a:xfrm>
          <a:prstGeom prst="rect">
            <a:avLst/>
          </a:prstGeom>
          <a:noFill/>
        </p:spPr>
        <p:txBody>
          <a:bodyPr wrap="square" rtlCol="1">
            <a:spAutoFit/>
          </a:bodyPr>
          <a:lstStyle/>
          <a:p>
            <a:r>
              <a:rPr lang="fr-FR" dirty="0">
                <a:solidFill>
                  <a:srgbClr val="C00000"/>
                </a:solidFill>
                <a:latin typeface="Arial Black" panose="020B0A04020102020204" pitchFamily="34" charset="0"/>
              </a:rPr>
              <a:t>voir la vidéo </a:t>
            </a:r>
            <a:r>
              <a:rPr lang="fr-FR" dirty="0" smtClean="0">
                <a:solidFill>
                  <a:srgbClr val="C00000"/>
                </a:solidFill>
                <a:latin typeface="Arial Black" panose="020B0A04020102020204" pitchFamily="34" charset="0"/>
              </a:rPr>
              <a:t> </a:t>
            </a:r>
            <a:r>
              <a:rPr lang="en-US" u="sng" dirty="0" smtClean="0">
                <a:latin typeface="Arial Black" panose="020B0A04020102020204" pitchFamily="34" charset="0"/>
              </a:rPr>
              <a:t>https</a:t>
            </a:r>
            <a:r>
              <a:rPr lang="en-US" u="sng" dirty="0">
                <a:latin typeface="Arial Black" panose="020B0A04020102020204" pitchFamily="34" charset="0"/>
              </a:rPr>
              <a:t>://www.youtube.com/watch?v=1JZG9x_VOwA&amp;t=143s</a:t>
            </a:r>
          </a:p>
        </p:txBody>
      </p:sp>
    </p:spTree>
    <p:extLst>
      <p:ext uri="{BB962C8B-B14F-4D97-AF65-F5344CB8AC3E}">
        <p14:creationId xmlns:p14="http://schemas.microsoft.com/office/powerpoint/2010/main" val="17311306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0153"/>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76793"/>
            <a:ext cx="12665981" cy="7444946"/>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endParaRPr lang="fr-FR" b="0" i="0" dirty="0">
              <a:solidFill>
                <a:srgbClr val="374151"/>
              </a:solidFill>
              <a:effectLst/>
              <a:latin typeface="Söhne"/>
            </a:endParaRPr>
          </a:p>
        </p:txBody>
      </p:sp>
      <p:pic>
        <p:nvPicPr>
          <p:cNvPr id="9" name="Espace réservé du contenu 8"/>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05864" y="1879757"/>
            <a:ext cx="5657767" cy="4497922"/>
          </a:xfrm>
        </p:spPr>
      </p:pic>
      <p:pic>
        <p:nvPicPr>
          <p:cNvPr id="8" name="Image 7"/>
          <p:cNvPicPr>
            <a:picLocks noChangeAspect="1"/>
          </p:cNvPicPr>
          <p:nvPr/>
        </p:nvPicPr>
        <p:blipFill>
          <a:blip r:embed="rId4">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9" name="Rectangle à coins arrondis 18"/>
          <p:cNvSpPr/>
          <p:nvPr/>
        </p:nvSpPr>
        <p:spPr>
          <a:xfrm>
            <a:off x="1890693" y="63190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20" name="ZoneTexte 19"/>
          <p:cNvSpPr txBox="1"/>
          <p:nvPr/>
        </p:nvSpPr>
        <p:spPr>
          <a:xfrm>
            <a:off x="1326120" y="1372082"/>
            <a:ext cx="10405837" cy="400110"/>
          </a:xfrm>
          <a:prstGeom prst="rect">
            <a:avLst/>
          </a:prstGeom>
          <a:noFill/>
        </p:spPr>
        <p:txBody>
          <a:bodyPr wrap="square" rtlCol="1">
            <a:spAutoFit/>
          </a:bodyPr>
          <a:lstStyle/>
          <a:p>
            <a:r>
              <a:rPr lang="en-US" sz="2000" b="1" dirty="0" smtClean="0">
                <a:latin typeface="Arial Black" panose="020B0A04020102020204" pitchFamily="34" charset="0"/>
              </a:rPr>
              <a:t>2- Les </a:t>
            </a:r>
            <a:r>
              <a:rPr lang="en-US" sz="2000" b="1" dirty="0" err="1" smtClean="0">
                <a:latin typeface="Arial Black" panose="020B0A04020102020204" pitchFamily="34" charset="0"/>
              </a:rPr>
              <a:t>Génrations</a:t>
            </a:r>
            <a:r>
              <a:rPr lang="en-US" sz="2000" b="1" dirty="0" smtClean="0">
                <a:latin typeface="Arial Black" panose="020B0A04020102020204" pitchFamily="34" charset="0"/>
              </a:rPr>
              <a:t> des </a:t>
            </a:r>
            <a:r>
              <a:rPr lang="en-US" sz="2000" b="1" dirty="0" err="1" smtClean="0">
                <a:latin typeface="Arial Black" panose="020B0A04020102020204" pitchFamily="34" charset="0"/>
              </a:rPr>
              <a:t>réseaux</a:t>
            </a:r>
            <a:r>
              <a:rPr lang="en-US" sz="2000" b="1" dirty="0" smtClean="0">
                <a:latin typeface="Arial Black" panose="020B0A04020102020204" pitchFamily="34" charset="0"/>
              </a:rPr>
              <a:t> </a:t>
            </a:r>
            <a:r>
              <a:rPr lang="en-US" sz="2000" b="1" dirty="0" err="1" smtClean="0">
                <a:latin typeface="Arial Black" panose="020B0A04020102020204" pitchFamily="34" charset="0"/>
              </a:rPr>
              <a:t>télephoniques</a:t>
            </a:r>
            <a:endParaRPr lang="en-US" sz="2000" b="1" dirty="0">
              <a:latin typeface="Arial Black" panose="020B0A04020102020204" pitchFamily="34" charset="0"/>
            </a:endParaRPr>
          </a:p>
        </p:txBody>
      </p:sp>
      <p:sp>
        <p:nvSpPr>
          <p:cNvPr id="21" name="ZoneTexte 20"/>
          <p:cNvSpPr txBox="1"/>
          <p:nvPr/>
        </p:nvSpPr>
        <p:spPr>
          <a:xfrm>
            <a:off x="170869" y="1741414"/>
            <a:ext cx="6106627" cy="5078313"/>
          </a:xfrm>
          <a:prstGeom prst="rect">
            <a:avLst/>
          </a:prstGeom>
          <a:noFill/>
        </p:spPr>
        <p:txBody>
          <a:bodyPr wrap="square" rtlCol="1">
            <a:spAutoFit/>
          </a:bodyPr>
          <a:lstStyle/>
          <a:p>
            <a:r>
              <a:rPr lang="fr-FR" b="1" dirty="0"/>
              <a:t>1G (première génération) : </a:t>
            </a:r>
            <a:r>
              <a:rPr lang="fr-FR" dirty="0"/>
              <a:t>Introduite dans les années 1980, la 1G était une technologie cellulaire analogique principalement utilisée pour les appels vocaux</a:t>
            </a:r>
            <a:r>
              <a:rPr lang="fr-FR" dirty="0" smtClean="0"/>
              <a:t>.</a:t>
            </a:r>
          </a:p>
          <a:p>
            <a:r>
              <a:rPr lang="fr-FR" b="1" dirty="0" smtClean="0"/>
              <a:t>2G </a:t>
            </a:r>
            <a:r>
              <a:rPr lang="fr-FR" b="1" dirty="0"/>
              <a:t>(deuxième génération) : </a:t>
            </a:r>
            <a:r>
              <a:rPr lang="fr-FR" dirty="0"/>
              <a:t>Cette technologie numérique, introduite au début des années 1990, permettait non seulement les appels vocaux mais également la messagerie texte</a:t>
            </a:r>
            <a:r>
              <a:rPr lang="fr-FR" dirty="0" smtClean="0"/>
              <a:t>.</a:t>
            </a:r>
          </a:p>
          <a:p>
            <a:r>
              <a:rPr lang="fr-FR" b="1" dirty="0" smtClean="0"/>
              <a:t>3G </a:t>
            </a:r>
            <a:r>
              <a:rPr lang="fr-FR" b="1" dirty="0"/>
              <a:t>(troisième génération) : </a:t>
            </a:r>
            <a:r>
              <a:rPr lang="fr-FR" dirty="0"/>
              <a:t>déployée au début des années 2000, la 3G offrait des débits de transmission de données plus élevés, une capacité accrue et une prise en charge multimédia</a:t>
            </a:r>
            <a:r>
              <a:rPr lang="fr-FR" dirty="0" smtClean="0"/>
              <a:t>.</a:t>
            </a:r>
          </a:p>
          <a:p>
            <a:r>
              <a:rPr lang="fr-FR" b="1" dirty="0" smtClean="0"/>
              <a:t>4G </a:t>
            </a:r>
            <a:r>
              <a:rPr lang="fr-FR" b="1" dirty="0"/>
              <a:t>(quatrième génération) : </a:t>
            </a:r>
            <a:r>
              <a:rPr lang="fr-FR" dirty="0"/>
              <a:t>la 4G, introduite à la fin des années 2000, offrait des vitesses plus rapides et la capacité de gérer davantage de données, permettant ainsi des services tels que la télévision mobile haute définition et la vidéoconférence</a:t>
            </a:r>
            <a:r>
              <a:rPr lang="fr-FR" dirty="0" smtClean="0"/>
              <a:t>.</a:t>
            </a:r>
          </a:p>
          <a:p>
            <a:r>
              <a:rPr lang="fr-FR" b="1" dirty="0" smtClean="0"/>
              <a:t>5G </a:t>
            </a:r>
            <a:r>
              <a:rPr lang="fr-FR" b="1" dirty="0"/>
              <a:t>(cinquième génération) : </a:t>
            </a:r>
            <a:r>
              <a:rPr lang="fr-FR" dirty="0"/>
              <a:t>la norme la plus récente, la 5G, offre des vitesses de téléchargement et de téléchargement nettement plus rapides, une latence plus faible et la possibilité de connecter un grand nombre d'appareils simultanément.</a:t>
            </a:r>
            <a:endParaRPr lang="en-US" dirty="0"/>
          </a:p>
        </p:txBody>
      </p:sp>
    </p:spTree>
    <p:extLst>
      <p:ext uri="{BB962C8B-B14F-4D97-AF65-F5344CB8AC3E}">
        <p14:creationId xmlns:p14="http://schemas.microsoft.com/office/powerpoint/2010/main" val="24274769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315266"/>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3" name="Image 12"/>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440529" y="48066"/>
            <a:ext cx="1228725" cy="930134"/>
          </a:xfrm>
          <a:prstGeom prst="rect">
            <a:avLst/>
          </a:prstGeom>
          <a:ln>
            <a:noFill/>
          </a:ln>
          <a:effectLst>
            <a:softEdge rad="112500"/>
          </a:effectLst>
        </p:spPr>
      </p:pic>
      <p:sp>
        <p:nvSpPr>
          <p:cNvPr id="9" name="Rectangle à coins arrondis 8"/>
          <p:cNvSpPr/>
          <p:nvPr/>
        </p:nvSpPr>
        <p:spPr>
          <a:xfrm>
            <a:off x="1669254" y="237579"/>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2" name="Image 1"/>
          <p:cNvPicPr>
            <a:picLocks noChangeAspect="1"/>
          </p:cNvPicPr>
          <p:nvPr/>
        </p:nvPicPr>
        <p:blipFill>
          <a:blip r:embed="rId4"/>
          <a:stretch>
            <a:fillRect/>
          </a:stretch>
        </p:blipFill>
        <p:spPr>
          <a:xfrm>
            <a:off x="7124131" y="2340141"/>
            <a:ext cx="5067869" cy="3724275"/>
          </a:xfrm>
          <a:prstGeom prst="rect">
            <a:avLst/>
          </a:prstGeom>
        </p:spPr>
      </p:pic>
      <p:pic>
        <p:nvPicPr>
          <p:cNvPr id="3" name="Image 2"/>
          <p:cNvPicPr>
            <a:picLocks noChangeAspect="1"/>
          </p:cNvPicPr>
          <p:nvPr/>
        </p:nvPicPr>
        <p:blipFill>
          <a:blip r:embed="rId5"/>
          <a:stretch>
            <a:fillRect/>
          </a:stretch>
        </p:blipFill>
        <p:spPr>
          <a:xfrm>
            <a:off x="440529" y="1772500"/>
            <a:ext cx="6065649" cy="2613996"/>
          </a:xfrm>
          <a:prstGeom prst="rect">
            <a:avLst/>
          </a:prstGeom>
        </p:spPr>
      </p:pic>
      <p:pic>
        <p:nvPicPr>
          <p:cNvPr id="6" name="Image 5"/>
          <p:cNvPicPr>
            <a:picLocks noChangeAspect="1"/>
          </p:cNvPicPr>
          <p:nvPr/>
        </p:nvPicPr>
        <p:blipFill>
          <a:blip r:embed="rId6"/>
          <a:stretch>
            <a:fillRect/>
          </a:stretch>
        </p:blipFill>
        <p:spPr>
          <a:xfrm>
            <a:off x="440530" y="4544129"/>
            <a:ext cx="6065649" cy="2066925"/>
          </a:xfrm>
          <a:prstGeom prst="rect">
            <a:avLst/>
          </a:prstGeom>
        </p:spPr>
      </p:pic>
      <p:sp>
        <p:nvSpPr>
          <p:cNvPr id="10" name="ZoneTexte 9"/>
          <p:cNvSpPr txBox="1"/>
          <p:nvPr/>
        </p:nvSpPr>
        <p:spPr>
          <a:xfrm>
            <a:off x="1303259" y="1069997"/>
            <a:ext cx="10405837" cy="400110"/>
          </a:xfrm>
          <a:prstGeom prst="rect">
            <a:avLst/>
          </a:prstGeom>
          <a:noFill/>
        </p:spPr>
        <p:txBody>
          <a:bodyPr wrap="square" rtlCol="1">
            <a:spAutoFit/>
          </a:bodyPr>
          <a:lstStyle/>
          <a:p>
            <a:r>
              <a:rPr lang="en-US" sz="2000" b="1" dirty="0" smtClean="0">
                <a:latin typeface="Arial Black" panose="020B0A04020102020204" pitchFamily="34" charset="0"/>
              </a:rPr>
              <a:t>2- Les </a:t>
            </a:r>
            <a:r>
              <a:rPr lang="en-US" sz="2000" b="1" dirty="0" err="1" smtClean="0">
                <a:latin typeface="Arial Black" panose="020B0A04020102020204" pitchFamily="34" charset="0"/>
              </a:rPr>
              <a:t>Génerations</a:t>
            </a:r>
            <a:r>
              <a:rPr lang="en-US" sz="2000" b="1" dirty="0" smtClean="0">
                <a:latin typeface="Arial Black" panose="020B0A04020102020204" pitchFamily="34" charset="0"/>
              </a:rPr>
              <a:t> des </a:t>
            </a:r>
            <a:r>
              <a:rPr lang="en-US" sz="2000" b="1" dirty="0" err="1" smtClean="0">
                <a:latin typeface="Arial Black" panose="020B0A04020102020204" pitchFamily="34" charset="0"/>
              </a:rPr>
              <a:t>réseaux</a:t>
            </a:r>
            <a:r>
              <a:rPr lang="en-US" sz="2000" b="1" dirty="0" smtClean="0">
                <a:latin typeface="Arial Black" panose="020B0A04020102020204" pitchFamily="34" charset="0"/>
              </a:rPr>
              <a:t> </a:t>
            </a:r>
            <a:r>
              <a:rPr lang="en-US" sz="2000" b="1" dirty="0" err="1" smtClean="0">
                <a:latin typeface="Arial Black" panose="020B0A04020102020204" pitchFamily="34" charset="0"/>
              </a:rPr>
              <a:t>télephoniques</a:t>
            </a:r>
            <a:endParaRPr lang="en-US" sz="2000" b="1" dirty="0">
              <a:latin typeface="Arial Black" panose="020B0A04020102020204" pitchFamily="34" charset="0"/>
            </a:endParaRPr>
          </a:p>
        </p:txBody>
      </p:sp>
    </p:spTree>
    <p:extLst>
      <p:ext uri="{BB962C8B-B14F-4D97-AF65-F5344CB8AC3E}">
        <p14:creationId xmlns:p14="http://schemas.microsoft.com/office/powerpoint/2010/main" val="1570944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9" name="Image 8"/>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2" name="Rectangle à coins arrondis 11"/>
          <p:cNvSpPr/>
          <p:nvPr/>
        </p:nvSpPr>
        <p:spPr>
          <a:xfrm>
            <a:off x="1904445" y="562290"/>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10" name="Image 9"/>
          <p:cNvPicPr>
            <a:picLocks noChangeAspect="1"/>
          </p:cNvPicPr>
          <p:nvPr/>
        </p:nvPicPr>
        <p:blipFill>
          <a:blip r:embed="rId4"/>
          <a:stretch>
            <a:fillRect/>
          </a:stretch>
        </p:blipFill>
        <p:spPr>
          <a:xfrm>
            <a:off x="1598224" y="2422358"/>
            <a:ext cx="9339163" cy="4309580"/>
          </a:xfrm>
          <a:prstGeom prst="rect">
            <a:avLst/>
          </a:prstGeom>
        </p:spPr>
      </p:pic>
      <p:sp>
        <p:nvSpPr>
          <p:cNvPr id="2" name="ZoneTexte 1"/>
          <p:cNvSpPr txBox="1"/>
          <p:nvPr/>
        </p:nvSpPr>
        <p:spPr>
          <a:xfrm>
            <a:off x="3978442" y="1926964"/>
            <a:ext cx="3834063" cy="369332"/>
          </a:xfrm>
          <a:prstGeom prst="rect">
            <a:avLst/>
          </a:prstGeom>
          <a:noFill/>
        </p:spPr>
        <p:txBody>
          <a:bodyPr wrap="square" rtlCol="1">
            <a:spAutoFit/>
          </a:bodyPr>
          <a:lstStyle/>
          <a:p>
            <a:r>
              <a:rPr lang="en-US" b="1" dirty="0" smtClean="0"/>
              <a:t>Les technologies de communication </a:t>
            </a:r>
            <a:endParaRPr lang="en-US" b="1" dirty="0"/>
          </a:p>
        </p:txBody>
      </p:sp>
      <p:sp>
        <p:nvSpPr>
          <p:cNvPr id="8" name="ZoneTexte 7"/>
          <p:cNvSpPr txBox="1"/>
          <p:nvPr/>
        </p:nvSpPr>
        <p:spPr>
          <a:xfrm>
            <a:off x="1271175" y="1302911"/>
            <a:ext cx="10405837" cy="400110"/>
          </a:xfrm>
          <a:prstGeom prst="rect">
            <a:avLst/>
          </a:prstGeom>
          <a:noFill/>
        </p:spPr>
        <p:txBody>
          <a:bodyPr wrap="square" rtlCol="1">
            <a:spAutoFit/>
          </a:bodyPr>
          <a:lstStyle/>
          <a:p>
            <a:r>
              <a:rPr lang="en-US" sz="2000" b="1" dirty="0" smtClean="0">
                <a:latin typeface="Arial Black" panose="020B0A04020102020204" pitchFamily="34" charset="0"/>
              </a:rPr>
              <a:t>2- Les </a:t>
            </a:r>
            <a:r>
              <a:rPr lang="en-US" sz="2000" b="1" dirty="0" err="1" smtClean="0">
                <a:latin typeface="Arial Black" panose="020B0A04020102020204" pitchFamily="34" charset="0"/>
              </a:rPr>
              <a:t>Génerations</a:t>
            </a:r>
            <a:r>
              <a:rPr lang="en-US" sz="2000" b="1" dirty="0" smtClean="0">
                <a:latin typeface="Arial Black" panose="020B0A04020102020204" pitchFamily="34" charset="0"/>
              </a:rPr>
              <a:t> des </a:t>
            </a:r>
            <a:r>
              <a:rPr lang="en-US" sz="2000" b="1" dirty="0" err="1" smtClean="0">
                <a:latin typeface="Arial Black" panose="020B0A04020102020204" pitchFamily="34" charset="0"/>
              </a:rPr>
              <a:t>réseaux</a:t>
            </a:r>
            <a:r>
              <a:rPr lang="en-US" sz="2000" b="1" dirty="0" smtClean="0">
                <a:latin typeface="Arial Black" panose="020B0A04020102020204" pitchFamily="34" charset="0"/>
              </a:rPr>
              <a:t> </a:t>
            </a:r>
            <a:r>
              <a:rPr lang="en-US" sz="2000" b="1" dirty="0" err="1" smtClean="0">
                <a:latin typeface="Arial Black" panose="020B0A04020102020204" pitchFamily="34" charset="0"/>
              </a:rPr>
              <a:t>télephoniques</a:t>
            </a:r>
            <a:endParaRPr lang="en-US" sz="2000" b="1" dirty="0">
              <a:latin typeface="Arial Black" panose="020B0A04020102020204" pitchFamily="34" charset="0"/>
            </a:endParaRPr>
          </a:p>
        </p:txBody>
      </p:sp>
    </p:spTree>
    <p:extLst>
      <p:ext uri="{BB962C8B-B14F-4D97-AF65-F5344CB8AC3E}">
        <p14:creationId xmlns:p14="http://schemas.microsoft.com/office/powerpoint/2010/main" val="18102480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0"/>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marL="285750" indent="-285750">
              <a:buFont typeface="Arial" panose="020B0604020202020204" pitchFamily="34" charset="0"/>
              <a:buChar char="•"/>
            </a:pPr>
            <a:endParaRPr lang="en-US" dirty="0">
              <a:solidFill>
                <a:schemeClr val="tx1"/>
              </a:solidFill>
            </a:endParaRPr>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2" name="ZoneTexte 1"/>
          <p:cNvSpPr txBox="1"/>
          <p:nvPr/>
        </p:nvSpPr>
        <p:spPr>
          <a:xfrm>
            <a:off x="508635" y="1812773"/>
            <a:ext cx="11261538" cy="4108817"/>
          </a:xfrm>
          <a:prstGeom prst="rect">
            <a:avLst/>
          </a:prstGeom>
          <a:noFill/>
        </p:spPr>
        <p:txBody>
          <a:bodyPr wrap="square" rtlCol="1">
            <a:spAutoFit/>
          </a:bodyPr>
          <a:lstStyle/>
          <a:p>
            <a:pPr marL="285750" indent="-285750">
              <a:lnSpc>
                <a:spcPct val="150000"/>
              </a:lnSpc>
              <a:buFont typeface="Arial" panose="020B0604020202020204" pitchFamily="34" charset="0"/>
              <a:buChar char="•"/>
            </a:pPr>
            <a:r>
              <a:rPr lang="fr-FR" b="1" dirty="0"/>
              <a:t>Un dispositif mobile </a:t>
            </a:r>
            <a:r>
              <a:rPr lang="fr-FR" dirty="0"/>
              <a:t>est </a:t>
            </a:r>
            <a:r>
              <a:rPr lang="fr-FR" b="1" dirty="0"/>
              <a:t>un appareil </a:t>
            </a:r>
            <a:r>
              <a:rPr lang="fr-FR" dirty="0"/>
              <a:t>électronique </a:t>
            </a:r>
            <a:r>
              <a:rPr lang="fr-FR" b="1" dirty="0"/>
              <a:t>portable</a:t>
            </a:r>
            <a:r>
              <a:rPr lang="fr-FR" dirty="0"/>
              <a:t> conçu pour fournir diverses fonctionnalités tout en permettant à l'utilisateur de </a:t>
            </a:r>
            <a:r>
              <a:rPr lang="fr-FR" b="1" dirty="0"/>
              <a:t>rester mobile</a:t>
            </a:r>
            <a:r>
              <a:rPr lang="fr-FR" b="1" dirty="0" smtClean="0"/>
              <a:t>.</a:t>
            </a:r>
            <a:r>
              <a:rPr lang="fr-FR" dirty="0" smtClean="0"/>
              <a:t> </a:t>
            </a:r>
          </a:p>
          <a:p>
            <a:pPr marL="285750" indent="-285750">
              <a:lnSpc>
                <a:spcPct val="150000"/>
              </a:lnSpc>
              <a:buFont typeface="Arial" panose="020B0604020202020204" pitchFamily="34" charset="0"/>
              <a:buChar char="•"/>
            </a:pPr>
            <a:r>
              <a:rPr lang="fr-FR" dirty="0"/>
              <a:t>La première classe de ces d'appareils est connue sous le nom  </a:t>
            </a:r>
            <a:r>
              <a:rPr lang="fr-FR" b="1" dirty="0"/>
              <a:t>d'assistants numériques personnels (PDA) </a:t>
            </a:r>
            <a:r>
              <a:rPr lang="fr-FR" dirty="0"/>
              <a:t>et permet de:  Accéder au Web, lire du courrier électronique, prendre des  photos,…</a:t>
            </a:r>
          </a:p>
          <a:p>
            <a:pPr marL="285750" indent="-285750">
              <a:lnSpc>
                <a:spcPct val="150000"/>
              </a:lnSpc>
              <a:buFont typeface="Arial" panose="020B0604020202020204" pitchFamily="34" charset="0"/>
              <a:buChar char="•"/>
            </a:pPr>
            <a:r>
              <a:rPr lang="fr-FR" dirty="0"/>
              <a:t> Avec l’évolution des réseaux mobiles, les fabriquant ont  combiné les fonctionnalité d’un PDA avec celles du téléphones  cellulaires dans un seul appareil s’appel </a:t>
            </a:r>
            <a:r>
              <a:rPr lang="fr-FR" b="1" i="1" dirty="0">
                <a:solidFill>
                  <a:srgbClr val="FF0000"/>
                </a:solidFill>
              </a:rPr>
              <a:t>smartphone.</a:t>
            </a:r>
          </a:p>
          <a:p>
            <a:pPr marL="285750" indent="-285750">
              <a:lnSpc>
                <a:spcPct val="150000"/>
              </a:lnSpc>
              <a:buFont typeface="Arial" panose="020B0604020202020204" pitchFamily="34" charset="0"/>
              <a:buChar char="•"/>
            </a:pPr>
            <a:endParaRPr lang="fr-FR" b="1" dirty="0"/>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endParaRPr lang="fr-FR" dirty="0" smtClean="0"/>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endParaRPr lang="en-US" dirty="0"/>
          </a:p>
        </p:txBody>
      </p:sp>
      <p:pic>
        <p:nvPicPr>
          <p:cNvPr id="3" name="Image 2"/>
          <p:cNvPicPr>
            <a:picLocks noChangeAspect="1"/>
          </p:cNvPicPr>
          <p:nvPr/>
        </p:nvPicPr>
        <p:blipFill>
          <a:blip r:embed="rId4"/>
          <a:stretch>
            <a:fillRect/>
          </a:stretch>
        </p:blipFill>
        <p:spPr>
          <a:xfrm>
            <a:off x="4508508" y="4457122"/>
            <a:ext cx="3174984" cy="2374441"/>
          </a:xfrm>
          <a:prstGeom prst="rect">
            <a:avLst/>
          </a:prstGeom>
        </p:spPr>
      </p:pic>
      <p:sp>
        <p:nvSpPr>
          <p:cNvPr id="6" name="ZoneTexte 5"/>
          <p:cNvSpPr txBox="1"/>
          <p:nvPr/>
        </p:nvSpPr>
        <p:spPr>
          <a:xfrm>
            <a:off x="1427748" y="1324671"/>
            <a:ext cx="4042610" cy="461665"/>
          </a:xfrm>
          <a:prstGeom prst="rect">
            <a:avLst/>
          </a:prstGeom>
          <a:noFill/>
        </p:spPr>
        <p:txBody>
          <a:bodyPr wrap="square" rtlCol="1">
            <a:spAutoFit/>
          </a:bodyPr>
          <a:lstStyle/>
          <a:p>
            <a:r>
              <a:rPr lang="fr-FR" sz="2400" b="1" dirty="0" smtClean="0"/>
              <a:t>3- Un </a:t>
            </a:r>
            <a:r>
              <a:rPr lang="fr-FR" sz="2400" b="1" dirty="0"/>
              <a:t>dispositif mobile</a:t>
            </a:r>
            <a:endParaRPr lang="en-US" sz="2400" dirty="0"/>
          </a:p>
        </p:txBody>
      </p:sp>
    </p:spTree>
    <p:extLst>
      <p:ext uri="{BB962C8B-B14F-4D97-AF65-F5344CB8AC3E}">
        <p14:creationId xmlns:p14="http://schemas.microsoft.com/office/powerpoint/2010/main" val="22830011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3" name="ZoneTexte 2"/>
          <p:cNvSpPr txBox="1"/>
          <p:nvPr/>
        </p:nvSpPr>
        <p:spPr>
          <a:xfrm>
            <a:off x="957185" y="2919064"/>
            <a:ext cx="2438400" cy="2126864"/>
          </a:xfrm>
          <a:prstGeom prst="rect">
            <a:avLst/>
          </a:prstGeom>
          <a:noFill/>
        </p:spPr>
        <p:txBody>
          <a:bodyPr wrap="square" rtlCol="1">
            <a:spAutoFit/>
          </a:bodyPr>
          <a:lstStyle/>
          <a:p>
            <a:pPr>
              <a:lnSpc>
                <a:spcPct val="150000"/>
              </a:lnSpc>
            </a:pPr>
            <a:r>
              <a:rPr lang="en-US" dirty="0" err="1"/>
              <a:t>Plusieurs</a:t>
            </a:r>
            <a:r>
              <a:rPr lang="en-US" dirty="0"/>
              <a:t> types : </a:t>
            </a:r>
            <a:endParaRPr lang="en-US" dirty="0" smtClean="0"/>
          </a:p>
          <a:p>
            <a:pPr>
              <a:lnSpc>
                <a:spcPct val="150000"/>
              </a:lnSpc>
            </a:pPr>
            <a:r>
              <a:rPr lang="en-US" dirty="0" smtClean="0"/>
              <a:t>– </a:t>
            </a:r>
            <a:r>
              <a:rPr lang="en-US" dirty="0"/>
              <a:t>Smartphone </a:t>
            </a:r>
            <a:endParaRPr lang="en-US" dirty="0" smtClean="0"/>
          </a:p>
          <a:p>
            <a:pPr>
              <a:lnSpc>
                <a:spcPct val="150000"/>
              </a:lnSpc>
            </a:pPr>
            <a:r>
              <a:rPr lang="en-US" dirty="0" smtClean="0"/>
              <a:t>– </a:t>
            </a:r>
            <a:r>
              <a:rPr lang="en-US" dirty="0" err="1"/>
              <a:t>Tablette</a:t>
            </a:r>
            <a:r>
              <a:rPr lang="en-US" dirty="0"/>
              <a:t> </a:t>
            </a:r>
            <a:endParaRPr lang="en-US" dirty="0" smtClean="0"/>
          </a:p>
          <a:p>
            <a:pPr>
              <a:lnSpc>
                <a:spcPct val="150000"/>
              </a:lnSpc>
            </a:pPr>
            <a:r>
              <a:rPr lang="en-US" dirty="0" smtClean="0"/>
              <a:t>– </a:t>
            </a:r>
            <a:r>
              <a:rPr lang="en-US" dirty="0"/>
              <a:t>Smartwatch </a:t>
            </a:r>
            <a:endParaRPr lang="en-US" dirty="0" smtClean="0"/>
          </a:p>
          <a:p>
            <a:pPr>
              <a:lnSpc>
                <a:spcPct val="150000"/>
              </a:lnSpc>
            </a:pPr>
            <a:r>
              <a:rPr lang="en-US" dirty="0" smtClean="0"/>
              <a:t>– </a:t>
            </a:r>
            <a:r>
              <a:rPr lang="en-US" dirty="0"/>
              <a:t>Wearable gadgets</a:t>
            </a:r>
          </a:p>
        </p:txBody>
      </p:sp>
      <p:pic>
        <p:nvPicPr>
          <p:cNvPr id="6" name="Image 5"/>
          <p:cNvPicPr>
            <a:picLocks noChangeAspect="1"/>
          </p:cNvPicPr>
          <p:nvPr/>
        </p:nvPicPr>
        <p:blipFill>
          <a:blip r:embed="rId4"/>
          <a:stretch>
            <a:fillRect/>
          </a:stretch>
        </p:blipFill>
        <p:spPr>
          <a:xfrm>
            <a:off x="4229773" y="1302911"/>
            <a:ext cx="6514850" cy="4914900"/>
          </a:xfrm>
          <a:prstGeom prst="rect">
            <a:avLst/>
          </a:prstGeom>
        </p:spPr>
      </p:pic>
      <p:sp>
        <p:nvSpPr>
          <p:cNvPr id="9" name="ZoneTexte 8"/>
          <p:cNvSpPr txBox="1"/>
          <p:nvPr/>
        </p:nvSpPr>
        <p:spPr>
          <a:xfrm>
            <a:off x="508635" y="1649251"/>
            <a:ext cx="4042610" cy="461665"/>
          </a:xfrm>
          <a:prstGeom prst="rect">
            <a:avLst/>
          </a:prstGeom>
          <a:noFill/>
        </p:spPr>
        <p:txBody>
          <a:bodyPr wrap="square" rtlCol="1">
            <a:spAutoFit/>
          </a:bodyPr>
          <a:lstStyle/>
          <a:p>
            <a:r>
              <a:rPr lang="fr-FR" sz="2400" b="1" dirty="0" smtClean="0"/>
              <a:t>3- Un </a:t>
            </a:r>
            <a:r>
              <a:rPr lang="fr-FR" sz="2400" b="1" dirty="0"/>
              <a:t>dispositif mobile</a:t>
            </a:r>
            <a:endParaRPr lang="en-US" sz="2400" dirty="0"/>
          </a:p>
        </p:txBody>
      </p:sp>
    </p:spTree>
    <p:extLst>
      <p:ext uri="{BB962C8B-B14F-4D97-AF65-F5344CB8AC3E}">
        <p14:creationId xmlns:p14="http://schemas.microsoft.com/office/powerpoint/2010/main" val="15999340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2" name="Image 1"/>
          <p:cNvPicPr>
            <a:picLocks noChangeAspect="1"/>
          </p:cNvPicPr>
          <p:nvPr/>
        </p:nvPicPr>
        <p:blipFill>
          <a:blip r:embed="rId4"/>
          <a:stretch>
            <a:fillRect/>
          </a:stretch>
        </p:blipFill>
        <p:spPr>
          <a:xfrm>
            <a:off x="508636" y="3556836"/>
            <a:ext cx="6132796" cy="2952750"/>
          </a:xfrm>
          <a:prstGeom prst="rect">
            <a:avLst/>
          </a:prstGeom>
        </p:spPr>
      </p:pic>
      <p:pic>
        <p:nvPicPr>
          <p:cNvPr id="3" name="Image 2"/>
          <p:cNvPicPr>
            <a:picLocks noChangeAspect="1"/>
          </p:cNvPicPr>
          <p:nvPr/>
        </p:nvPicPr>
        <p:blipFill>
          <a:blip r:embed="rId5"/>
          <a:stretch>
            <a:fillRect/>
          </a:stretch>
        </p:blipFill>
        <p:spPr>
          <a:xfrm>
            <a:off x="6936206" y="3556836"/>
            <a:ext cx="4544660" cy="3128962"/>
          </a:xfrm>
          <a:prstGeom prst="rect">
            <a:avLst/>
          </a:prstGeom>
        </p:spPr>
      </p:pic>
      <p:sp>
        <p:nvSpPr>
          <p:cNvPr id="8" name="ZoneTexte 7"/>
          <p:cNvSpPr txBox="1"/>
          <p:nvPr/>
        </p:nvSpPr>
        <p:spPr>
          <a:xfrm>
            <a:off x="471872" y="1590179"/>
            <a:ext cx="11248255" cy="1913344"/>
          </a:xfrm>
          <a:prstGeom prst="rect">
            <a:avLst/>
          </a:prstGeom>
          <a:noFill/>
        </p:spPr>
        <p:txBody>
          <a:bodyPr wrap="square" rtlCol="1">
            <a:spAutoFit/>
          </a:bodyPr>
          <a:lstStyle/>
          <a:p>
            <a:pPr marL="297814" marR="5080" indent="-285750">
              <a:lnSpc>
                <a:spcPts val="3240"/>
              </a:lnSpc>
              <a:spcBef>
                <a:spcPts val="509"/>
              </a:spcBef>
              <a:buClr>
                <a:schemeClr val="tx1"/>
              </a:buClr>
              <a:buFont typeface="Arial" panose="020B0604020202020204" pitchFamily="34" charset="0"/>
              <a:buChar char="•"/>
              <a:tabLst>
                <a:tab pos="440055" algn="l"/>
                <a:tab pos="2678430" algn="l"/>
                <a:tab pos="3378200" algn="l"/>
                <a:tab pos="5778500" algn="l"/>
                <a:tab pos="6400165" algn="l"/>
                <a:tab pos="7941309" algn="l"/>
                <a:tab pos="9147175" algn="l"/>
              </a:tabLst>
            </a:pPr>
            <a:r>
              <a:rPr lang="fr-FR" sz="2000" spc="-630" dirty="0" smtClean="0">
                <a:latin typeface="Arial"/>
                <a:cs typeface="Arial"/>
              </a:rPr>
              <a:t>L</a:t>
            </a:r>
            <a:r>
              <a:rPr lang="fr-FR" sz="2000" spc="-145" dirty="0" smtClean="0">
                <a:latin typeface="Arial"/>
                <a:cs typeface="Arial"/>
              </a:rPr>
              <a:t>’</a:t>
            </a:r>
            <a:r>
              <a:rPr lang="fr-FR" sz="2000" spc="-114" dirty="0" smtClean="0">
                <a:latin typeface="Arial"/>
                <a:cs typeface="Arial"/>
              </a:rPr>
              <a:t>a</a:t>
            </a:r>
            <a:r>
              <a:rPr lang="fr-FR" sz="2000" spc="-125" dirty="0" smtClean="0">
                <a:latin typeface="Arial"/>
                <a:cs typeface="Arial"/>
              </a:rPr>
              <a:t>r</a:t>
            </a:r>
            <a:r>
              <a:rPr lang="fr-FR" sz="2000" spc="-35" dirty="0" smtClean="0">
                <a:latin typeface="Arial"/>
                <a:cs typeface="Arial"/>
              </a:rPr>
              <a:t>chi</a:t>
            </a:r>
            <a:r>
              <a:rPr lang="fr-FR" sz="2000" spc="-70" dirty="0" smtClean="0">
                <a:latin typeface="Arial"/>
                <a:cs typeface="Arial"/>
              </a:rPr>
              <a:t>t</a:t>
            </a:r>
            <a:r>
              <a:rPr lang="fr-FR" sz="2000" spc="-215" dirty="0" smtClean="0">
                <a:latin typeface="Arial"/>
                <a:cs typeface="Arial"/>
              </a:rPr>
              <a:t>ec</a:t>
            </a:r>
            <a:r>
              <a:rPr lang="fr-FR" sz="2000" spc="45" dirty="0" smtClean="0">
                <a:latin typeface="Arial"/>
                <a:cs typeface="Arial"/>
              </a:rPr>
              <a:t>tu</a:t>
            </a:r>
            <a:r>
              <a:rPr lang="fr-FR" sz="2000" spc="-10" dirty="0" smtClean="0">
                <a:latin typeface="Arial"/>
                <a:cs typeface="Arial"/>
              </a:rPr>
              <a:t>r</a:t>
            </a:r>
            <a:r>
              <a:rPr lang="fr-FR" sz="2000" spc="-175" dirty="0" smtClean="0">
                <a:latin typeface="Arial"/>
                <a:cs typeface="Arial"/>
              </a:rPr>
              <a:t>e</a:t>
            </a:r>
            <a:r>
              <a:rPr lang="fr-FR" sz="2000" dirty="0" smtClean="0">
                <a:latin typeface="Arial"/>
                <a:cs typeface="Arial"/>
              </a:rPr>
              <a:t> </a:t>
            </a:r>
            <a:r>
              <a:rPr lang="fr-FR" sz="2000" spc="-5" dirty="0" smtClean="0">
                <a:latin typeface="Carlito"/>
                <a:cs typeface="Carlito"/>
              </a:rPr>
              <a:t>d</a:t>
            </a:r>
            <a:r>
              <a:rPr lang="fr-FR" sz="2000" spc="-15" dirty="0" smtClean="0">
                <a:latin typeface="Carlito"/>
                <a:cs typeface="Carlito"/>
              </a:rPr>
              <a:t>e</a:t>
            </a:r>
            <a:r>
              <a:rPr lang="fr-FR" sz="2000" dirty="0" smtClean="0">
                <a:latin typeface="Carlito"/>
                <a:cs typeface="Carlito"/>
              </a:rPr>
              <a:t>s </a:t>
            </a:r>
            <a:r>
              <a:rPr lang="fr-FR" sz="2000" spc="-5" dirty="0" smtClean="0">
                <a:latin typeface="Carlito"/>
                <a:cs typeface="Carlito"/>
              </a:rPr>
              <a:t>smartphones</a:t>
            </a:r>
            <a:r>
              <a:rPr lang="fr-FR" sz="2000" dirty="0" smtClean="0">
                <a:latin typeface="Carlito"/>
                <a:cs typeface="Carlito"/>
              </a:rPr>
              <a:t> e</a:t>
            </a:r>
            <a:r>
              <a:rPr lang="fr-FR" sz="2000" spc="-45" dirty="0" smtClean="0">
                <a:latin typeface="Carlito"/>
                <a:cs typeface="Carlito"/>
              </a:rPr>
              <a:t>s</a:t>
            </a:r>
            <a:r>
              <a:rPr lang="fr-FR" sz="2000" dirty="0" smtClean="0">
                <a:latin typeface="Carlito"/>
                <a:cs typeface="Carlito"/>
              </a:rPr>
              <a:t>t </a:t>
            </a:r>
            <a:r>
              <a:rPr lang="fr-FR" sz="2000" spc="-25" dirty="0" smtClean="0">
                <a:latin typeface="Carlito"/>
                <a:cs typeface="Carlito"/>
              </a:rPr>
              <a:t>c</a:t>
            </a:r>
            <a:r>
              <a:rPr lang="fr-FR" sz="2000" spc="-5" dirty="0" smtClean="0">
                <a:latin typeface="Carlito"/>
                <a:cs typeface="Carlito"/>
              </a:rPr>
              <a:t>on</a:t>
            </a:r>
            <a:r>
              <a:rPr lang="fr-FR" sz="2000" spc="-40" dirty="0" smtClean="0">
                <a:latin typeface="Carlito"/>
                <a:cs typeface="Carlito"/>
              </a:rPr>
              <a:t>s</a:t>
            </a:r>
            <a:r>
              <a:rPr lang="fr-FR" sz="2000" dirty="0" smtClean="0">
                <a:latin typeface="Carlito"/>
                <a:cs typeface="Carlito"/>
              </a:rPr>
              <a:t>tru</a:t>
            </a:r>
            <a:r>
              <a:rPr lang="fr-FR" sz="2000" spc="-15" dirty="0" smtClean="0">
                <a:latin typeface="Carlito"/>
                <a:cs typeface="Carlito"/>
              </a:rPr>
              <a:t>i</a:t>
            </a:r>
            <a:r>
              <a:rPr lang="fr-FR" sz="2000" dirty="0" smtClean="0">
                <a:latin typeface="Carlito"/>
                <a:cs typeface="Carlito"/>
              </a:rPr>
              <a:t>t au</a:t>
            </a:r>
            <a:r>
              <a:rPr lang="fr-FR" sz="2000" spc="-25" dirty="0" smtClean="0">
                <a:latin typeface="Carlito"/>
                <a:cs typeface="Carlito"/>
              </a:rPr>
              <a:t>t</a:t>
            </a:r>
            <a:r>
              <a:rPr lang="fr-FR" sz="2000" spc="-5" dirty="0" smtClean="0">
                <a:latin typeface="Carlito"/>
                <a:cs typeface="Carlito"/>
              </a:rPr>
              <a:t>ou</a:t>
            </a:r>
            <a:r>
              <a:rPr lang="fr-FR" sz="2000" dirty="0" smtClean="0">
                <a:latin typeface="Carlito"/>
                <a:cs typeface="Carlito"/>
              </a:rPr>
              <a:t>r e</a:t>
            </a:r>
            <a:r>
              <a:rPr lang="fr-FR" sz="2000" spc="-55" dirty="0" smtClean="0">
                <a:latin typeface="Carlito"/>
                <a:cs typeface="Carlito"/>
              </a:rPr>
              <a:t>s</a:t>
            </a:r>
            <a:r>
              <a:rPr lang="fr-FR" sz="2000" spc="-15" dirty="0" smtClean="0">
                <a:latin typeface="Carlito"/>
                <a:cs typeface="Carlito"/>
              </a:rPr>
              <a:t>t</a:t>
            </a:r>
            <a:r>
              <a:rPr lang="fr-FR" sz="2000" spc="5" dirty="0" smtClean="0">
                <a:latin typeface="Carlito"/>
                <a:cs typeface="Carlito"/>
              </a:rPr>
              <a:t>-</a:t>
            </a:r>
            <a:r>
              <a:rPr lang="fr-FR" sz="2000" dirty="0" smtClean="0">
                <a:latin typeface="Carlito"/>
                <a:cs typeface="Carlito"/>
              </a:rPr>
              <a:t>ce  </a:t>
            </a:r>
            <a:r>
              <a:rPr lang="fr-FR" sz="2000" spc="-110" dirty="0">
                <a:latin typeface="Arial"/>
                <a:cs typeface="Arial"/>
              </a:rPr>
              <a:t>qu’on </a:t>
            </a:r>
            <a:r>
              <a:rPr lang="fr-FR" sz="2000" spc="-5" dirty="0">
                <a:latin typeface="Carlito"/>
                <a:cs typeface="Carlito"/>
              </a:rPr>
              <a:t>appel un </a:t>
            </a:r>
            <a:r>
              <a:rPr lang="fr-FR" sz="2000" b="1" i="1" spc="-5" dirty="0" err="1">
                <a:latin typeface="Carlito"/>
                <a:cs typeface="Carlito"/>
              </a:rPr>
              <a:t>SoC</a:t>
            </a:r>
            <a:r>
              <a:rPr lang="fr-FR" sz="2000" b="1" i="1" spc="-5" dirty="0">
                <a:latin typeface="Carlito"/>
                <a:cs typeface="Carlito"/>
              </a:rPr>
              <a:t> </a:t>
            </a:r>
            <a:r>
              <a:rPr lang="fr-FR" sz="2000" b="1" i="1" spc="-15" dirty="0">
                <a:latin typeface="Carlito"/>
                <a:cs typeface="Carlito"/>
              </a:rPr>
              <a:t>(System </a:t>
            </a:r>
            <a:r>
              <a:rPr lang="fr-FR" sz="2000" b="1" i="1" dirty="0">
                <a:latin typeface="Carlito"/>
                <a:cs typeface="Carlito"/>
              </a:rPr>
              <a:t>on </a:t>
            </a:r>
            <a:r>
              <a:rPr lang="fr-FR" sz="2000" b="1" i="1" spc="-5" dirty="0">
                <a:latin typeface="Carlito"/>
                <a:cs typeface="Carlito"/>
              </a:rPr>
              <a:t>chip) </a:t>
            </a:r>
            <a:r>
              <a:rPr lang="fr-FR" sz="2000" i="1" spc="-5" dirty="0">
                <a:latin typeface="Carlito"/>
                <a:cs typeface="Carlito"/>
              </a:rPr>
              <a:t>ou </a:t>
            </a:r>
            <a:r>
              <a:rPr lang="fr-FR" sz="2000" i="1" spc="-20" dirty="0">
                <a:latin typeface="Carlito"/>
                <a:cs typeface="Carlito"/>
              </a:rPr>
              <a:t>système </a:t>
            </a:r>
            <a:r>
              <a:rPr lang="fr-FR" sz="2000" i="1" spc="-5" dirty="0">
                <a:latin typeface="Carlito"/>
                <a:cs typeface="Carlito"/>
              </a:rPr>
              <a:t>sur </a:t>
            </a:r>
            <a:r>
              <a:rPr lang="fr-FR" sz="2000" i="1" dirty="0">
                <a:latin typeface="Carlito"/>
                <a:cs typeface="Carlito"/>
              </a:rPr>
              <a:t>une</a:t>
            </a:r>
            <a:r>
              <a:rPr lang="fr-FR" sz="2000" i="1" spc="-15" dirty="0">
                <a:latin typeface="Carlito"/>
                <a:cs typeface="Carlito"/>
              </a:rPr>
              <a:t> </a:t>
            </a:r>
            <a:r>
              <a:rPr lang="fr-FR" sz="2000" i="1" spc="-10" dirty="0">
                <a:latin typeface="Carlito"/>
                <a:cs typeface="Carlito"/>
              </a:rPr>
              <a:t>puce.</a:t>
            </a:r>
            <a:endParaRPr lang="fr-FR" sz="2000" dirty="0">
              <a:latin typeface="Carlito"/>
              <a:cs typeface="Carlito"/>
            </a:endParaRPr>
          </a:p>
          <a:p>
            <a:pPr marL="297814" marR="8890" indent="-285750">
              <a:lnSpc>
                <a:spcPts val="3240"/>
              </a:lnSpc>
              <a:spcBef>
                <a:spcPts val="1405"/>
              </a:spcBef>
              <a:buClr>
                <a:schemeClr val="tx1"/>
              </a:buClr>
              <a:buFont typeface="Arial" panose="020B0604020202020204" pitchFamily="34" charset="0"/>
              <a:buChar char="•"/>
              <a:tabLst>
                <a:tab pos="440055" algn="l"/>
                <a:tab pos="821690" algn="l"/>
                <a:tab pos="1835150" algn="l"/>
                <a:tab pos="2330450" algn="l"/>
                <a:tab pos="2931160" algn="l"/>
                <a:tab pos="4076065" algn="l"/>
                <a:tab pos="5367020" algn="l"/>
                <a:tab pos="6054090" algn="l"/>
                <a:tab pos="7830184" algn="l"/>
                <a:tab pos="8456295" algn="l"/>
              </a:tabLst>
            </a:pPr>
            <a:r>
              <a:rPr lang="fr-FR" sz="2000" dirty="0">
                <a:latin typeface="Carlito"/>
                <a:cs typeface="Carlito"/>
              </a:rPr>
              <a:t>Il	</a:t>
            </a:r>
            <a:r>
              <a:rPr lang="fr-FR" sz="2000" spc="-650" dirty="0" smtClean="0">
                <a:latin typeface="Arial"/>
                <a:cs typeface="Arial"/>
              </a:rPr>
              <a:t>S</a:t>
            </a:r>
            <a:r>
              <a:rPr lang="fr-FR" sz="2000" spc="-145" dirty="0" smtClean="0">
                <a:latin typeface="Arial"/>
                <a:cs typeface="Arial"/>
              </a:rPr>
              <a:t>’</a:t>
            </a:r>
            <a:r>
              <a:rPr lang="fr-FR" sz="2000" spc="-195" dirty="0" smtClean="0">
                <a:latin typeface="Arial"/>
                <a:cs typeface="Arial"/>
              </a:rPr>
              <a:t>ag</a:t>
            </a:r>
            <a:r>
              <a:rPr lang="fr-FR" sz="2000" spc="-95" dirty="0" smtClean="0">
                <a:latin typeface="Arial"/>
                <a:cs typeface="Arial"/>
              </a:rPr>
              <a:t>i</a:t>
            </a:r>
            <a:r>
              <a:rPr lang="fr-FR" sz="2000" spc="170" dirty="0" smtClean="0">
                <a:latin typeface="Arial"/>
                <a:cs typeface="Arial"/>
              </a:rPr>
              <a:t>t</a:t>
            </a:r>
            <a:r>
              <a:rPr lang="fr-FR" sz="2000" dirty="0">
                <a:latin typeface="Arial"/>
                <a:cs typeface="Arial"/>
              </a:rPr>
              <a:t> </a:t>
            </a:r>
            <a:r>
              <a:rPr lang="fr-FR" sz="2000" spc="-15" dirty="0" smtClean="0">
                <a:latin typeface="Arial"/>
                <a:cs typeface="Arial"/>
              </a:rPr>
              <a:t>d</a:t>
            </a:r>
            <a:r>
              <a:rPr lang="fr-FR" sz="2000" spc="-5" dirty="0" smtClean="0">
                <a:latin typeface="Arial"/>
                <a:cs typeface="Arial"/>
              </a:rPr>
              <a:t>’</a:t>
            </a:r>
            <a:r>
              <a:rPr lang="fr-FR" sz="2000" spc="-5" dirty="0" smtClean="0">
                <a:latin typeface="Carlito"/>
                <a:cs typeface="Carlito"/>
              </a:rPr>
              <a:t>u</a:t>
            </a:r>
            <a:r>
              <a:rPr lang="fr-FR" sz="2000" dirty="0" smtClean="0">
                <a:latin typeface="Carlito"/>
                <a:cs typeface="Carlito"/>
              </a:rPr>
              <a:t>n</a:t>
            </a:r>
            <a:r>
              <a:rPr lang="fr-FR" sz="2000" dirty="0">
                <a:latin typeface="Carlito"/>
                <a:cs typeface="Carlito"/>
              </a:rPr>
              <a:t> </a:t>
            </a:r>
            <a:r>
              <a:rPr lang="fr-FR" sz="2000" i="1" dirty="0" smtClean="0">
                <a:latin typeface="Carlito"/>
                <a:cs typeface="Carlito"/>
              </a:rPr>
              <a:t>ci</a:t>
            </a:r>
            <a:r>
              <a:rPr lang="fr-FR" sz="2000" i="1" spc="-15" dirty="0" smtClean="0">
                <a:latin typeface="Carlito"/>
                <a:cs typeface="Carlito"/>
              </a:rPr>
              <a:t>r</a:t>
            </a:r>
            <a:r>
              <a:rPr lang="fr-FR" sz="2000" i="1" dirty="0" smtClean="0">
                <a:latin typeface="Carlito"/>
                <a:cs typeface="Carlito"/>
              </a:rPr>
              <a:t>cuit </a:t>
            </a:r>
            <a:r>
              <a:rPr lang="fr-FR" sz="2000" i="1" spc="-20" dirty="0" smtClean="0">
                <a:latin typeface="Carlito"/>
                <a:cs typeface="Carlito"/>
              </a:rPr>
              <a:t>in</a:t>
            </a:r>
            <a:r>
              <a:rPr lang="fr-FR" sz="2000" i="1" spc="-35" dirty="0" smtClean="0">
                <a:latin typeface="Carlito"/>
                <a:cs typeface="Carlito"/>
              </a:rPr>
              <a:t>t</a:t>
            </a:r>
            <a:r>
              <a:rPr lang="fr-FR" sz="2000" i="1" spc="-20" dirty="0" smtClean="0">
                <a:latin typeface="Carlito"/>
                <a:cs typeface="Carlito"/>
              </a:rPr>
              <a:t>é</a:t>
            </a:r>
            <a:r>
              <a:rPr lang="fr-FR" sz="2000" i="1" spc="-5" dirty="0" smtClean="0">
                <a:latin typeface="Carlito"/>
                <a:cs typeface="Carlito"/>
              </a:rPr>
              <a:t>gr</a:t>
            </a:r>
            <a:r>
              <a:rPr lang="fr-FR" sz="2000" i="1" dirty="0" smtClean="0">
                <a:latin typeface="Carlito"/>
                <a:cs typeface="Carlito"/>
              </a:rPr>
              <a:t>é </a:t>
            </a:r>
            <a:r>
              <a:rPr lang="fr-FR" sz="2000" spc="-5" dirty="0" smtClean="0">
                <a:latin typeface="Carlito"/>
                <a:cs typeface="Carlito"/>
              </a:rPr>
              <a:t>qu</a:t>
            </a:r>
            <a:r>
              <a:rPr lang="fr-FR" sz="2000" dirty="0" smtClean="0">
                <a:latin typeface="Carlito"/>
                <a:cs typeface="Carlito"/>
              </a:rPr>
              <a:t>i </a:t>
            </a:r>
            <a:r>
              <a:rPr lang="fr-FR" sz="2000" spc="-65" dirty="0" smtClean="0">
                <a:latin typeface="Carlito"/>
                <a:cs typeface="Carlito"/>
              </a:rPr>
              <a:t>r</a:t>
            </a:r>
            <a:r>
              <a:rPr lang="fr-FR" sz="2000" dirty="0" smtClean="0">
                <a:latin typeface="Carlito"/>
                <a:cs typeface="Carlito"/>
              </a:rPr>
              <a:t>ass</a:t>
            </a:r>
            <a:r>
              <a:rPr lang="fr-FR" sz="2000" spc="-10" dirty="0" smtClean="0">
                <a:latin typeface="Carlito"/>
                <a:cs typeface="Carlito"/>
              </a:rPr>
              <a:t>e</a:t>
            </a:r>
            <a:r>
              <a:rPr lang="fr-FR" sz="2000" dirty="0" smtClean="0">
                <a:latin typeface="Carlito"/>
                <a:cs typeface="Carlito"/>
              </a:rPr>
              <a:t>mble </a:t>
            </a:r>
            <a:r>
              <a:rPr lang="fr-FR" sz="2000" spc="-5" dirty="0" smtClean="0">
                <a:latin typeface="Carlito"/>
                <a:cs typeface="Carlito"/>
              </a:rPr>
              <a:t>le</a:t>
            </a:r>
            <a:r>
              <a:rPr lang="fr-FR" sz="2000" dirty="0" smtClean="0">
                <a:latin typeface="Carlito"/>
                <a:cs typeface="Carlito"/>
              </a:rPr>
              <a:t>s </a:t>
            </a:r>
            <a:r>
              <a:rPr lang="fr-FR" sz="2000" spc="-5" dirty="0" smtClean="0">
                <a:latin typeface="Carlito"/>
                <a:cs typeface="Carlito"/>
              </a:rPr>
              <a:t>pr</a:t>
            </a:r>
            <a:r>
              <a:rPr lang="fr-FR" sz="2000" spc="-15" dirty="0" smtClean="0">
                <a:latin typeface="Carlito"/>
                <a:cs typeface="Carlito"/>
              </a:rPr>
              <a:t>i</a:t>
            </a:r>
            <a:r>
              <a:rPr lang="fr-FR" sz="2000" spc="-5" dirty="0" smtClean="0">
                <a:latin typeface="Carlito"/>
                <a:cs typeface="Carlito"/>
              </a:rPr>
              <a:t>ncipaux </a:t>
            </a:r>
            <a:r>
              <a:rPr lang="fr-FR" sz="2000" spc="-10" dirty="0" smtClean="0">
                <a:latin typeface="Carlito"/>
                <a:cs typeface="Carlito"/>
              </a:rPr>
              <a:t>composants </a:t>
            </a:r>
            <a:r>
              <a:rPr lang="fr-FR" sz="2000" spc="-5" dirty="0">
                <a:latin typeface="Carlito"/>
                <a:cs typeface="Carlito"/>
              </a:rPr>
              <a:t>du smartphone sur </a:t>
            </a:r>
            <a:r>
              <a:rPr lang="fr-FR" sz="2000" spc="-10" dirty="0">
                <a:latin typeface="Carlito"/>
                <a:cs typeface="Carlito"/>
              </a:rPr>
              <a:t>une </a:t>
            </a:r>
            <a:r>
              <a:rPr lang="fr-FR" sz="2000" spc="-5" dirty="0">
                <a:latin typeface="Carlito"/>
                <a:cs typeface="Carlito"/>
              </a:rPr>
              <a:t>seule puce</a:t>
            </a:r>
            <a:r>
              <a:rPr lang="fr-FR" sz="2000" spc="-20" dirty="0">
                <a:latin typeface="Carlito"/>
                <a:cs typeface="Carlito"/>
              </a:rPr>
              <a:t> </a:t>
            </a:r>
            <a:r>
              <a:rPr lang="fr-FR" sz="2000" spc="-10" dirty="0">
                <a:latin typeface="Carlito"/>
                <a:cs typeface="Carlito"/>
              </a:rPr>
              <a:t>électronique.</a:t>
            </a:r>
            <a:endParaRPr lang="fr-FR" sz="2000" dirty="0">
              <a:latin typeface="Carlito"/>
              <a:cs typeface="Carlito"/>
            </a:endParaRPr>
          </a:p>
        </p:txBody>
      </p:sp>
      <p:sp>
        <p:nvSpPr>
          <p:cNvPr id="12" name="ZoneTexte 11"/>
          <p:cNvSpPr txBox="1"/>
          <p:nvPr/>
        </p:nvSpPr>
        <p:spPr>
          <a:xfrm>
            <a:off x="781351" y="1209691"/>
            <a:ext cx="4042610" cy="461665"/>
          </a:xfrm>
          <a:prstGeom prst="rect">
            <a:avLst/>
          </a:prstGeom>
          <a:noFill/>
        </p:spPr>
        <p:txBody>
          <a:bodyPr wrap="square" rtlCol="1">
            <a:spAutoFit/>
          </a:bodyPr>
          <a:lstStyle/>
          <a:p>
            <a:r>
              <a:rPr lang="fr-FR" sz="2400" b="1" dirty="0" smtClean="0"/>
              <a:t>3- Un </a:t>
            </a:r>
            <a:r>
              <a:rPr lang="fr-FR" sz="2400" b="1" dirty="0"/>
              <a:t>dispositif mobile</a:t>
            </a:r>
            <a:endParaRPr lang="en-US" sz="2400" dirty="0"/>
          </a:p>
        </p:txBody>
      </p:sp>
    </p:spTree>
    <p:extLst>
      <p:ext uri="{BB962C8B-B14F-4D97-AF65-F5344CB8AC3E}">
        <p14:creationId xmlns:p14="http://schemas.microsoft.com/office/powerpoint/2010/main" val="41036475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grpSp>
        <p:nvGrpSpPr>
          <p:cNvPr id="8" name="object 4"/>
          <p:cNvGrpSpPr/>
          <p:nvPr/>
        </p:nvGrpSpPr>
        <p:grpSpPr>
          <a:xfrm>
            <a:off x="3092116" y="2017343"/>
            <a:ext cx="5897880" cy="3229610"/>
            <a:chOff x="1772411" y="2537460"/>
            <a:chExt cx="5897880" cy="3229610"/>
          </a:xfrm>
        </p:grpSpPr>
        <p:sp>
          <p:nvSpPr>
            <p:cNvPr id="9" name="object 5"/>
            <p:cNvSpPr/>
            <p:nvPr/>
          </p:nvSpPr>
          <p:spPr>
            <a:xfrm>
              <a:off x="1772411" y="2537460"/>
              <a:ext cx="5897880" cy="3229610"/>
            </a:xfrm>
            <a:custGeom>
              <a:avLst/>
              <a:gdLst/>
              <a:ahLst/>
              <a:cxnLst/>
              <a:rect l="l" t="t" r="r" b="b"/>
              <a:pathLst>
                <a:path w="5897880" h="3229610">
                  <a:moveTo>
                    <a:pt x="5897880" y="0"/>
                  </a:moveTo>
                  <a:lnTo>
                    <a:pt x="0" y="0"/>
                  </a:lnTo>
                  <a:lnTo>
                    <a:pt x="0" y="3229355"/>
                  </a:lnTo>
                  <a:lnTo>
                    <a:pt x="5897880" y="3229355"/>
                  </a:lnTo>
                  <a:lnTo>
                    <a:pt x="5897880" y="0"/>
                  </a:lnTo>
                  <a:close/>
                </a:path>
              </a:pathLst>
            </a:custGeom>
            <a:solidFill>
              <a:srgbClr val="42B996"/>
            </a:solidFill>
          </p:spPr>
          <p:txBody>
            <a:bodyPr wrap="square" lIns="0" tIns="0" rIns="0" bIns="0" rtlCol="0"/>
            <a:lstStyle/>
            <a:p>
              <a:endParaRPr/>
            </a:p>
          </p:txBody>
        </p:sp>
        <p:sp>
          <p:nvSpPr>
            <p:cNvPr id="10" name="object 6"/>
            <p:cNvSpPr/>
            <p:nvPr/>
          </p:nvSpPr>
          <p:spPr>
            <a:xfrm>
              <a:off x="1996439" y="3582924"/>
              <a:ext cx="1306195" cy="858519"/>
            </a:xfrm>
            <a:custGeom>
              <a:avLst/>
              <a:gdLst/>
              <a:ahLst/>
              <a:cxnLst/>
              <a:rect l="l" t="t" r="r" b="b"/>
              <a:pathLst>
                <a:path w="1306195" h="858520">
                  <a:moveTo>
                    <a:pt x="1163066" y="0"/>
                  </a:moveTo>
                  <a:lnTo>
                    <a:pt x="143002" y="0"/>
                  </a:lnTo>
                  <a:lnTo>
                    <a:pt x="97796" y="7288"/>
                  </a:lnTo>
                  <a:lnTo>
                    <a:pt x="58539" y="27586"/>
                  </a:lnTo>
                  <a:lnTo>
                    <a:pt x="27586" y="58539"/>
                  </a:lnTo>
                  <a:lnTo>
                    <a:pt x="7288" y="97796"/>
                  </a:lnTo>
                  <a:lnTo>
                    <a:pt x="0" y="143001"/>
                  </a:lnTo>
                  <a:lnTo>
                    <a:pt x="0" y="715009"/>
                  </a:lnTo>
                  <a:lnTo>
                    <a:pt x="7288" y="760215"/>
                  </a:lnTo>
                  <a:lnTo>
                    <a:pt x="27586" y="799472"/>
                  </a:lnTo>
                  <a:lnTo>
                    <a:pt x="58539" y="830425"/>
                  </a:lnTo>
                  <a:lnTo>
                    <a:pt x="97796" y="850723"/>
                  </a:lnTo>
                  <a:lnTo>
                    <a:pt x="143002" y="858012"/>
                  </a:lnTo>
                  <a:lnTo>
                    <a:pt x="1163066" y="858012"/>
                  </a:lnTo>
                  <a:lnTo>
                    <a:pt x="1208271" y="850723"/>
                  </a:lnTo>
                  <a:lnTo>
                    <a:pt x="1247528" y="830425"/>
                  </a:lnTo>
                  <a:lnTo>
                    <a:pt x="1278481" y="799472"/>
                  </a:lnTo>
                  <a:lnTo>
                    <a:pt x="1298779" y="760215"/>
                  </a:lnTo>
                  <a:lnTo>
                    <a:pt x="1306068" y="715009"/>
                  </a:lnTo>
                  <a:lnTo>
                    <a:pt x="1306068" y="143001"/>
                  </a:lnTo>
                  <a:lnTo>
                    <a:pt x="1298779" y="97796"/>
                  </a:lnTo>
                  <a:lnTo>
                    <a:pt x="1278481" y="58539"/>
                  </a:lnTo>
                  <a:lnTo>
                    <a:pt x="1247528" y="27586"/>
                  </a:lnTo>
                  <a:lnTo>
                    <a:pt x="1208271" y="7288"/>
                  </a:lnTo>
                  <a:lnTo>
                    <a:pt x="1163066" y="0"/>
                  </a:lnTo>
                  <a:close/>
                </a:path>
              </a:pathLst>
            </a:custGeom>
            <a:solidFill>
              <a:srgbClr val="FF0000"/>
            </a:solidFill>
          </p:spPr>
          <p:txBody>
            <a:bodyPr wrap="square" lIns="0" tIns="0" rIns="0" bIns="0" rtlCol="0"/>
            <a:lstStyle/>
            <a:p>
              <a:endParaRPr/>
            </a:p>
          </p:txBody>
        </p:sp>
        <p:sp>
          <p:nvSpPr>
            <p:cNvPr id="12" name="object 7"/>
            <p:cNvSpPr/>
            <p:nvPr/>
          </p:nvSpPr>
          <p:spPr>
            <a:xfrm>
              <a:off x="2305811" y="3793248"/>
              <a:ext cx="697230" cy="511289"/>
            </a:xfrm>
            <a:prstGeom prst="rect">
              <a:avLst/>
            </a:prstGeom>
            <a:blipFill>
              <a:blip r:embed="rId4" cstate="print"/>
              <a:stretch>
                <a:fillRect/>
              </a:stretch>
            </a:blipFill>
          </p:spPr>
          <p:txBody>
            <a:bodyPr wrap="square" lIns="0" tIns="0" rIns="0" bIns="0" rtlCol="0"/>
            <a:lstStyle/>
            <a:p>
              <a:endParaRPr/>
            </a:p>
          </p:txBody>
        </p:sp>
        <p:sp>
          <p:nvSpPr>
            <p:cNvPr id="14" name="object 8"/>
            <p:cNvSpPr/>
            <p:nvPr/>
          </p:nvSpPr>
          <p:spPr>
            <a:xfrm>
              <a:off x="1996439" y="2854452"/>
              <a:ext cx="1306195" cy="597535"/>
            </a:xfrm>
            <a:custGeom>
              <a:avLst/>
              <a:gdLst/>
              <a:ahLst/>
              <a:cxnLst/>
              <a:rect l="l" t="t" r="r" b="b"/>
              <a:pathLst>
                <a:path w="1306195" h="597535">
                  <a:moveTo>
                    <a:pt x="1206500" y="0"/>
                  </a:moveTo>
                  <a:lnTo>
                    <a:pt x="99568" y="0"/>
                  </a:lnTo>
                  <a:lnTo>
                    <a:pt x="60811" y="7824"/>
                  </a:lnTo>
                  <a:lnTo>
                    <a:pt x="29162" y="29162"/>
                  </a:lnTo>
                  <a:lnTo>
                    <a:pt x="7824" y="60811"/>
                  </a:lnTo>
                  <a:lnTo>
                    <a:pt x="0" y="99568"/>
                  </a:lnTo>
                  <a:lnTo>
                    <a:pt x="0" y="497839"/>
                  </a:lnTo>
                  <a:lnTo>
                    <a:pt x="7824" y="536596"/>
                  </a:lnTo>
                  <a:lnTo>
                    <a:pt x="29162" y="568245"/>
                  </a:lnTo>
                  <a:lnTo>
                    <a:pt x="60811" y="589583"/>
                  </a:lnTo>
                  <a:lnTo>
                    <a:pt x="99568" y="597408"/>
                  </a:lnTo>
                  <a:lnTo>
                    <a:pt x="1206500" y="597408"/>
                  </a:lnTo>
                  <a:lnTo>
                    <a:pt x="1245256" y="589583"/>
                  </a:lnTo>
                  <a:lnTo>
                    <a:pt x="1276905" y="568245"/>
                  </a:lnTo>
                  <a:lnTo>
                    <a:pt x="1298243" y="536596"/>
                  </a:lnTo>
                  <a:lnTo>
                    <a:pt x="1306068" y="497839"/>
                  </a:lnTo>
                  <a:lnTo>
                    <a:pt x="1306068" y="99568"/>
                  </a:lnTo>
                  <a:lnTo>
                    <a:pt x="1298243" y="60811"/>
                  </a:lnTo>
                  <a:lnTo>
                    <a:pt x="1276905" y="29162"/>
                  </a:lnTo>
                  <a:lnTo>
                    <a:pt x="1245256" y="7824"/>
                  </a:lnTo>
                  <a:lnTo>
                    <a:pt x="1206500" y="0"/>
                  </a:lnTo>
                  <a:close/>
                </a:path>
              </a:pathLst>
            </a:custGeom>
            <a:solidFill>
              <a:srgbClr val="3D8752"/>
            </a:solidFill>
          </p:spPr>
          <p:txBody>
            <a:bodyPr wrap="square" lIns="0" tIns="0" rIns="0" bIns="0" rtlCol="0"/>
            <a:lstStyle/>
            <a:p>
              <a:endParaRPr/>
            </a:p>
          </p:txBody>
        </p:sp>
        <p:sp>
          <p:nvSpPr>
            <p:cNvPr id="15" name="object 9"/>
            <p:cNvSpPr/>
            <p:nvPr/>
          </p:nvSpPr>
          <p:spPr>
            <a:xfrm>
              <a:off x="1996439" y="2854452"/>
              <a:ext cx="1306195" cy="597535"/>
            </a:xfrm>
            <a:custGeom>
              <a:avLst/>
              <a:gdLst/>
              <a:ahLst/>
              <a:cxnLst/>
              <a:rect l="l" t="t" r="r" b="b"/>
              <a:pathLst>
                <a:path w="1306195" h="597535">
                  <a:moveTo>
                    <a:pt x="0" y="99568"/>
                  </a:moveTo>
                  <a:lnTo>
                    <a:pt x="7824" y="60811"/>
                  </a:lnTo>
                  <a:lnTo>
                    <a:pt x="29162" y="29162"/>
                  </a:lnTo>
                  <a:lnTo>
                    <a:pt x="60811" y="7824"/>
                  </a:lnTo>
                  <a:lnTo>
                    <a:pt x="99568" y="0"/>
                  </a:lnTo>
                  <a:lnTo>
                    <a:pt x="1206500" y="0"/>
                  </a:lnTo>
                  <a:lnTo>
                    <a:pt x="1245256" y="7824"/>
                  </a:lnTo>
                  <a:lnTo>
                    <a:pt x="1276905" y="29162"/>
                  </a:lnTo>
                  <a:lnTo>
                    <a:pt x="1298243" y="60811"/>
                  </a:lnTo>
                  <a:lnTo>
                    <a:pt x="1306068" y="99568"/>
                  </a:lnTo>
                  <a:lnTo>
                    <a:pt x="1306068" y="497839"/>
                  </a:lnTo>
                  <a:lnTo>
                    <a:pt x="1298243" y="536596"/>
                  </a:lnTo>
                  <a:lnTo>
                    <a:pt x="1276905" y="568245"/>
                  </a:lnTo>
                  <a:lnTo>
                    <a:pt x="1245256" y="589583"/>
                  </a:lnTo>
                  <a:lnTo>
                    <a:pt x="1206500" y="597408"/>
                  </a:lnTo>
                  <a:lnTo>
                    <a:pt x="99568" y="597408"/>
                  </a:lnTo>
                  <a:lnTo>
                    <a:pt x="60811" y="589583"/>
                  </a:lnTo>
                  <a:lnTo>
                    <a:pt x="29162" y="568245"/>
                  </a:lnTo>
                  <a:lnTo>
                    <a:pt x="7824" y="536596"/>
                  </a:lnTo>
                  <a:lnTo>
                    <a:pt x="0" y="497839"/>
                  </a:lnTo>
                  <a:lnTo>
                    <a:pt x="0" y="99568"/>
                  </a:lnTo>
                  <a:close/>
                </a:path>
              </a:pathLst>
            </a:custGeom>
            <a:ln w="15240">
              <a:solidFill>
                <a:srgbClr val="2B613A"/>
              </a:solidFill>
            </a:ln>
          </p:spPr>
          <p:txBody>
            <a:bodyPr wrap="square" lIns="0" tIns="0" rIns="0" bIns="0" rtlCol="0"/>
            <a:lstStyle/>
            <a:p>
              <a:endParaRPr/>
            </a:p>
          </p:txBody>
        </p:sp>
        <p:sp>
          <p:nvSpPr>
            <p:cNvPr id="16" name="object 10"/>
            <p:cNvSpPr/>
            <p:nvPr/>
          </p:nvSpPr>
          <p:spPr>
            <a:xfrm>
              <a:off x="2296667" y="2935236"/>
              <a:ext cx="713994" cy="511289"/>
            </a:xfrm>
            <a:prstGeom prst="rect">
              <a:avLst/>
            </a:prstGeom>
            <a:blipFill>
              <a:blip r:embed="rId5" cstate="print"/>
              <a:stretch>
                <a:fillRect/>
              </a:stretch>
            </a:blipFill>
          </p:spPr>
          <p:txBody>
            <a:bodyPr wrap="square" lIns="0" tIns="0" rIns="0" bIns="0" rtlCol="0"/>
            <a:lstStyle/>
            <a:p>
              <a:endParaRPr/>
            </a:p>
          </p:txBody>
        </p:sp>
      </p:grpSp>
      <p:sp>
        <p:nvSpPr>
          <p:cNvPr id="17" name="object 11"/>
          <p:cNvSpPr txBox="1"/>
          <p:nvPr/>
        </p:nvSpPr>
        <p:spPr>
          <a:xfrm>
            <a:off x="3092116" y="2017343"/>
            <a:ext cx="5897880" cy="1613262"/>
          </a:xfrm>
          <a:prstGeom prst="rect">
            <a:avLst/>
          </a:prstGeom>
          <a:ln w="15240">
            <a:solidFill>
              <a:srgbClr val="2D876D"/>
            </a:solidFill>
          </a:ln>
        </p:spPr>
        <p:txBody>
          <a:bodyPr vert="horz" wrap="square" lIns="0" tIns="0" rIns="0" bIns="0" rtlCol="0">
            <a:spAutoFit/>
          </a:bodyPr>
          <a:lstStyle/>
          <a:p>
            <a:pPr>
              <a:lnSpc>
                <a:spcPct val="100000"/>
              </a:lnSpc>
            </a:pPr>
            <a:endParaRPr sz="1800" dirty="0">
              <a:latin typeface="Times New Roman"/>
              <a:cs typeface="Times New Roman"/>
            </a:endParaRPr>
          </a:p>
          <a:p>
            <a:pPr marL="673100">
              <a:lnSpc>
                <a:spcPct val="100000"/>
              </a:lnSpc>
              <a:spcBef>
                <a:spcPts val="1585"/>
              </a:spcBef>
            </a:pPr>
            <a:r>
              <a:rPr sz="1800" dirty="0">
                <a:latin typeface="Carlito"/>
                <a:cs typeface="Carlito"/>
              </a:rPr>
              <a:t>GPU</a:t>
            </a:r>
          </a:p>
          <a:p>
            <a:pPr>
              <a:lnSpc>
                <a:spcPct val="100000"/>
              </a:lnSpc>
            </a:pPr>
            <a:endParaRPr sz="1800" dirty="0">
              <a:latin typeface="Carlito"/>
              <a:cs typeface="Carlito"/>
            </a:endParaRPr>
          </a:p>
          <a:p>
            <a:pPr>
              <a:lnSpc>
                <a:spcPct val="100000"/>
              </a:lnSpc>
              <a:spcBef>
                <a:spcPts val="25"/>
              </a:spcBef>
            </a:pPr>
            <a:endParaRPr sz="1950" dirty="0">
              <a:latin typeface="Carlito"/>
              <a:cs typeface="Carlito"/>
            </a:endParaRPr>
          </a:p>
          <a:p>
            <a:pPr marL="681355">
              <a:lnSpc>
                <a:spcPct val="100000"/>
              </a:lnSpc>
            </a:pPr>
            <a:r>
              <a:rPr sz="1800" b="1" spc="-10" dirty="0">
                <a:latin typeface="Carlito"/>
                <a:cs typeface="Carlito"/>
              </a:rPr>
              <a:t>CPU</a:t>
            </a:r>
            <a:endParaRPr sz="1800" dirty="0">
              <a:latin typeface="Carlito"/>
              <a:cs typeface="Carlito"/>
            </a:endParaRPr>
          </a:p>
        </p:txBody>
      </p:sp>
      <p:grpSp>
        <p:nvGrpSpPr>
          <p:cNvPr id="18" name="object 12"/>
          <p:cNvGrpSpPr/>
          <p:nvPr/>
        </p:nvGrpSpPr>
        <p:grpSpPr>
          <a:xfrm>
            <a:off x="3316144" y="4126559"/>
            <a:ext cx="1306195" cy="742315"/>
            <a:chOff x="1996439" y="4646676"/>
            <a:chExt cx="1306195" cy="742315"/>
          </a:xfrm>
        </p:grpSpPr>
        <p:sp>
          <p:nvSpPr>
            <p:cNvPr id="19" name="object 13"/>
            <p:cNvSpPr/>
            <p:nvPr/>
          </p:nvSpPr>
          <p:spPr>
            <a:xfrm>
              <a:off x="1996439" y="4646676"/>
              <a:ext cx="1306195" cy="742315"/>
            </a:xfrm>
            <a:custGeom>
              <a:avLst/>
              <a:gdLst/>
              <a:ahLst/>
              <a:cxnLst/>
              <a:rect l="l" t="t" r="r" b="b"/>
              <a:pathLst>
                <a:path w="1306195" h="742314">
                  <a:moveTo>
                    <a:pt x="1306067" y="0"/>
                  </a:moveTo>
                  <a:lnTo>
                    <a:pt x="0" y="0"/>
                  </a:lnTo>
                  <a:lnTo>
                    <a:pt x="0" y="742188"/>
                  </a:lnTo>
                  <a:lnTo>
                    <a:pt x="1306067" y="742188"/>
                  </a:lnTo>
                  <a:lnTo>
                    <a:pt x="1306067" y="0"/>
                  </a:lnTo>
                  <a:close/>
                </a:path>
              </a:pathLst>
            </a:custGeom>
            <a:solidFill>
              <a:srgbClr val="FFC000"/>
            </a:solidFill>
          </p:spPr>
          <p:txBody>
            <a:bodyPr wrap="square" lIns="0" tIns="0" rIns="0" bIns="0" rtlCol="0"/>
            <a:lstStyle/>
            <a:p>
              <a:endParaRPr/>
            </a:p>
          </p:txBody>
        </p:sp>
        <p:sp>
          <p:nvSpPr>
            <p:cNvPr id="20" name="object 14"/>
            <p:cNvSpPr/>
            <p:nvPr/>
          </p:nvSpPr>
          <p:spPr>
            <a:xfrm>
              <a:off x="2313431" y="4799088"/>
              <a:ext cx="680466" cy="511289"/>
            </a:xfrm>
            <a:prstGeom prst="rect">
              <a:avLst/>
            </a:prstGeom>
            <a:blipFill>
              <a:blip r:embed="rId6" cstate="print"/>
              <a:stretch>
                <a:fillRect/>
              </a:stretch>
            </a:blipFill>
          </p:spPr>
          <p:txBody>
            <a:bodyPr wrap="square" lIns="0" tIns="0" rIns="0" bIns="0" rtlCol="0"/>
            <a:lstStyle/>
            <a:p>
              <a:endParaRPr/>
            </a:p>
          </p:txBody>
        </p:sp>
      </p:grpSp>
      <p:sp>
        <p:nvSpPr>
          <p:cNvPr id="21" name="object 15"/>
          <p:cNvSpPr txBox="1"/>
          <p:nvPr/>
        </p:nvSpPr>
        <p:spPr>
          <a:xfrm>
            <a:off x="3316144" y="4126559"/>
            <a:ext cx="1306195" cy="742315"/>
          </a:xfrm>
          <a:prstGeom prst="rect">
            <a:avLst/>
          </a:prstGeom>
          <a:ln w="15240">
            <a:solidFill>
              <a:srgbClr val="117DA7"/>
            </a:solidFill>
          </a:ln>
        </p:spPr>
        <p:txBody>
          <a:bodyPr vert="horz" wrap="square" lIns="0" tIns="635" rIns="0" bIns="0" rtlCol="0">
            <a:spAutoFit/>
          </a:bodyPr>
          <a:lstStyle/>
          <a:p>
            <a:pPr>
              <a:lnSpc>
                <a:spcPct val="100000"/>
              </a:lnSpc>
              <a:spcBef>
                <a:spcPts val="5"/>
              </a:spcBef>
            </a:pPr>
            <a:endParaRPr sz="1500">
              <a:latin typeface="Times New Roman"/>
              <a:cs typeface="Times New Roman"/>
            </a:endParaRPr>
          </a:p>
          <a:p>
            <a:pPr algn="ctr">
              <a:lnSpc>
                <a:spcPct val="100000"/>
              </a:lnSpc>
            </a:pPr>
            <a:r>
              <a:rPr sz="1800" b="1" dirty="0">
                <a:latin typeface="Carlito"/>
                <a:cs typeface="Carlito"/>
              </a:rPr>
              <a:t>DSP</a:t>
            </a:r>
            <a:endParaRPr sz="1800">
              <a:latin typeface="Carlito"/>
              <a:cs typeface="Carlito"/>
            </a:endParaRPr>
          </a:p>
        </p:txBody>
      </p:sp>
      <p:grpSp>
        <p:nvGrpSpPr>
          <p:cNvPr id="22" name="object 16"/>
          <p:cNvGrpSpPr/>
          <p:nvPr/>
        </p:nvGrpSpPr>
        <p:grpSpPr>
          <a:xfrm>
            <a:off x="4757849" y="3193871"/>
            <a:ext cx="2200910" cy="597535"/>
            <a:chOff x="3438144" y="3713988"/>
            <a:chExt cx="2200910" cy="597535"/>
          </a:xfrm>
        </p:grpSpPr>
        <p:sp>
          <p:nvSpPr>
            <p:cNvPr id="23" name="object 17"/>
            <p:cNvSpPr/>
            <p:nvPr/>
          </p:nvSpPr>
          <p:spPr>
            <a:xfrm>
              <a:off x="3438144" y="3713988"/>
              <a:ext cx="2200910" cy="597535"/>
            </a:xfrm>
            <a:custGeom>
              <a:avLst/>
              <a:gdLst/>
              <a:ahLst/>
              <a:cxnLst/>
              <a:rect l="l" t="t" r="r" b="b"/>
              <a:pathLst>
                <a:path w="2200910" h="597535">
                  <a:moveTo>
                    <a:pt x="2200655" y="0"/>
                  </a:moveTo>
                  <a:lnTo>
                    <a:pt x="0" y="0"/>
                  </a:lnTo>
                  <a:lnTo>
                    <a:pt x="0" y="597407"/>
                  </a:lnTo>
                  <a:lnTo>
                    <a:pt x="2200655" y="597407"/>
                  </a:lnTo>
                  <a:lnTo>
                    <a:pt x="2200655" y="0"/>
                  </a:lnTo>
                  <a:close/>
                </a:path>
              </a:pathLst>
            </a:custGeom>
            <a:solidFill>
              <a:srgbClr val="1CACE3"/>
            </a:solidFill>
          </p:spPr>
          <p:txBody>
            <a:bodyPr wrap="square" lIns="0" tIns="0" rIns="0" bIns="0" rtlCol="0"/>
            <a:lstStyle/>
            <a:p>
              <a:endParaRPr/>
            </a:p>
          </p:txBody>
        </p:sp>
        <p:sp>
          <p:nvSpPr>
            <p:cNvPr id="24" name="object 18"/>
            <p:cNvSpPr/>
            <p:nvPr/>
          </p:nvSpPr>
          <p:spPr>
            <a:xfrm>
              <a:off x="3980688" y="3793248"/>
              <a:ext cx="1120902" cy="511289"/>
            </a:xfrm>
            <a:prstGeom prst="rect">
              <a:avLst/>
            </a:prstGeom>
            <a:blipFill>
              <a:blip r:embed="rId7" cstate="print"/>
              <a:stretch>
                <a:fillRect/>
              </a:stretch>
            </a:blipFill>
          </p:spPr>
          <p:txBody>
            <a:bodyPr wrap="square" lIns="0" tIns="0" rIns="0" bIns="0" rtlCol="0"/>
            <a:lstStyle/>
            <a:p>
              <a:endParaRPr/>
            </a:p>
          </p:txBody>
        </p:sp>
      </p:grpSp>
      <p:sp>
        <p:nvSpPr>
          <p:cNvPr id="25" name="object 19"/>
          <p:cNvSpPr txBox="1"/>
          <p:nvPr/>
        </p:nvSpPr>
        <p:spPr>
          <a:xfrm>
            <a:off x="4757849" y="3193871"/>
            <a:ext cx="2200910" cy="597535"/>
          </a:xfrm>
          <a:prstGeom prst="rect">
            <a:avLst/>
          </a:prstGeom>
          <a:ln w="15240">
            <a:solidFill>
              <a:srgbClr val="117DA7"/>
            </a:solidFill>
          </a:ln>
        </p:spPr>
        <p:txBody>
          <a:bodyPr vert="horz" wrap="square" lIns="0" tIns="146050" rIns="0" bIns="0" rtlCol="0">
            <a:spAutoFit/>
          </a:bodyPr>
          <a:lstStyle/>
          <a:p>
            <a:pPr marL="692150">
              <a:lnSpc>
                <a:spcPct val="100000"/>
              </a:lnSpc>
              <a:spcBef>
                <a:spcPts val="1150"/>
              </a:spcBef>
            </a:pPr>
            <a:r>
              <a:rPr sz="1800" b="1" dirty="0">
                <a:latin typeface="Carlito"/>
                <a:cs typeface="Carlito"/>
              </a:rPr>
              <a:t>Memory</a:t>
            </a:r>
            <a:endParaRPr sz="1800">
              <a:latin typeface="Carlito"/>
              <a:cs typeface="Carlito"/>
            </a:endParaRPr>
          </a:p>
        </p:txBody>
      </p:sp>
      <p:grpSp>
        <p:nvGrpSpPr>
          <p:cNvPr id="26" name="object 20"/>
          <p:cNvGrpSpPr/>
          <p:nvPr/>
        </p:nvGrpSpPr>
        <p:grpSpPr>
          <a:xfrm>
            <a:off x="4788328" y="4271338"/>
            <a:ext cx="1384300" cy="597535"/>
            <a:chOff x="3468623" y="4791455"/>
            <a:chExt cx="1384300" cy="597535"/>
          </a:xfrm>
        </p:grpSpPr>
        <p:sp>
          <p:nvSpPr>
            <p:cNvPr id="27" name="object 21"/>
            <p:cNvSpPr/>
            <p:nvPr/>
          </p:nvSpPr>
          <p:spPr>
            <a:xfrm>
              <a:off x="3468623" y="4791455"/>
              <a:ext cx="1384300" cy="597535"/>
            </a:xfrm>
            <a:custGeom>
              <a:avLst/>
              <a:gdLst/>
              <a:ahLst/>
              <a:cxnLst/>
              <a:rect l="l" t="t" r="r" b="b"/>
              <a:pathLst>
                <a:path w="1384300" h="597535">
                  <a:moveTo>
                    <a:pt x="1383791" y="0"/>
                  </a:moveTo>
                  <a:lnTo>
                    <a:pt x="0" y="0"/>
                  </a:lnTo>
                  <a:lnTo>
                    <a:pt x="0" y="597408"/>
                  </a:lnTo>
                  <a:lnTo>
                    <a:pt x="1383791" y="597408"/>
                  </a:lnTo>
                  <a:lnTo>
                    <a:pt x="1383791" y="0"/>
                  </a:lnTo>
                  <a:close/>
                </a:path>
              </a:pathLst>
            </a:custGeom>
            <a:solidFill>
              <a:srgbClr val="1CACE3"/>
            </a:solidFill>
          </p:spPr>
          <p:txBody>
            <a:bodyPr wrap="square" lIns="0" tIns="0" rIns="0" bIns="0" rtlCol="0"/>
            <a:lstStyle/>
            <a:p>
              <a:endParaRPr/>
            </a:p>
          </p:txBody>
        </p:sp>
        <p:sp>
          <p:nvSpPr>
            <p:cNvPr id="28" name="object 22"/>
            <p:cNvSpPr/>
            <p:nvPr/>
          </p:nvSpPr>
          <p:spPr>
            <a:xfrm>
              <a:off x="3636263" y="4870716"/>
              <a:ext cx="1053846" cy="511289"/>
            </a:xfrm>
            <a:prstGeom prst="rect">
              <a:avLst/>
            </a:prstGeom>
            <a:blipFill>
              <a:blip r:embed="rId8" cstate="print"/>
              <a:stretch>
                <a:fillRect/>
              </a:stretch>
            </a:blipFill>
          </p:spPr>
          <p:txBody>
            <a:bodyPr wrap="square" lIns="0" tIns="0" rIns="0" bIns="0" rtlCol="0"/>
            <a:lstStyle/>
            <a:p>
              <a:endParaRPr/>
            </a:p>
          </p:txBody>
        </p:sp>
      </p:grpSp>
      <p:sp>
        <p:nvSpPr>
          <p:cNvPr id="29" name="object 23"/>
          <p:cNvSpPr txBox="1"/>
          <p:nvPr/>
        </p:nvSpPr>
        <p:spPr>
          <a:xfrm>
            <a:off x="4788328" y="4271338"/>
            <a:ext cx="1384300" cy="597535"/>
          </a:xfrm>
          <a:prstGeom prst="rect">
            <a:avLst/>
          </a:prstGeom>
          <a:ln w="15240">
            <a:solidFill>
              <a:srgbClr val="117DA7"/>
            </a:solidFill>
          </a:ln>
        </p:spPr>
        <p:txBody>
          <a:bodyPr vert="horz" wrap="square" lIns="0" tIns="146685" rIns="0" bIns="0" rtlCol="0">
            <a:spAutoFit/>
          </a:bodyPr>
          <a:lstStyle/>
          <a:p>
            <a:pPr marL="316865">
              <a:lnSpc>
                <a:spcPct val="100000"/>
              </a:lnSpc>
              <a:spcBef>
                <a:spcPts val="1155"/>
              </a:spcBef>
            </a:pPr>
            <a:r>
              <a:rPr sz="1800" b="1" dirty="0">
                <a:latin typeface="Carlito"/>
                <a:cs typeface="Carlito"/>
              </a:rPr>
              <a:t>Modem</a:t>
            </a:r>
            <a:endParaRPr sz="1800">
              <a:latin typeface="Carlito"/>
              <a:cs typeface="Carlito"/>
            </a:endParaRPr>
          </a:p>
        </p:txBody>
      </p:sp>
      <p:grpSp>
        <p:nvGrpSpPr>
          <p:cNvPr id="30" name="object 24"/>
          <p:cNvGrpSpPr/>
          <p:nvPr/>
        </p:nvGrpSpPr>
        <p:grpSpPr>
          <a:xfrm>
            <a:off x="7496476" y="2317571"/>
            <a:ext cx="1082040" cy="603885"/>
            <a:chOff x="6176771" y="2837688"/>
            <a:chExt cx="1082040" cy="603885"/>
          </a:xfrm>
        </p:grpSpPr>
        <p:sp>
          <p:nvSpPr>
            <p:cNvPr id="31" name="object 25"/>
            <p:cNvSpPr/>
            <p:nvPr/>
          </p:nvSpPr>
          <p:spPr>
            <a:xfrm>
              <a:off x="6176771" y="2837688"/>
              <a:ext cx="1082040" cy="603885"/>
            </a:xfrm>
            <a:custGeom>
              <a:avLst/>
              <a:gdLst/>
              <a:ahLst/>
              <a:cxnLst/>
              <a:rect l="l" t="t" r="r" b="b"/>
              <a:pathLst>
                <a:path w="1082040" h="603885">
                  <a:moveTo>
                    <a:pt x="1082040" y="0"/>
                  </a:moveTo>
                  <a:lnTo>
                    <a:pt x="0" y="0"/>
                  </a:lnTo>
                  <a:lnTo>
                    <a:pt x="0" y="603503"/>
                  </a:lnTo>
                  <a:lnTo>
                    <a:pt x="1082040" y="603503"/>
                  </a:lnTo>
                  <a:lnTo>
                    <a:pt x="1082040" y="0"/>
                  </a:lnTo>
                  <a:close/>
                </a:path>
              </a:pathLst>
            </a:custGeom>
            <a:solidFill>
              <a:srgbClr val="1CACE3"/>
            </a:solidFill>
          </p:spPr>
          <p:txBody>
            <a:bodyPr wrap="square" lIns="0" tIns="0" rIns="0" bIns="0" rtlCol="0"/>
            <a:lstStyle/>
            <a:p>
              <a:endParaRPr/>
            </a:p>
          </p:txBody>
        </p:sp>
        <p:sp>
          <p:nvSpPr>
            <p:cNvPr id="32" name="object 26"/>
            <p:cNvSpPr/>
            <p:nvPr/>
          </p:nvSpPr>
          <p:spPr>
            <a:xfrm>
              <a:off x="6207251" y="2919996"/>
              <a:ext cx="1029461" cy="511289"/>
            </a:xfrm>
            <a:prstGeom prst="rect">
              <a:avLst/>
            </a:prstGeom>
            <a:blipFill>
              <a:blip r:embed="rId9" cstate="print"/>
              <a:stretch>
                <a:fillRect/>
              </a:stretch>
            </a:blipFill>
          </p:spPr>
          <p:txBody>
            <a:bodyPr wrap="square" lIns="0" tIns="0" rIns="0" bIns="0" rtlCol="0"/>
            <a:lstStyle/>
            <a:p>
              <a:endParaRPr/>
            </a:p>
          </p:txBody>
        </p:sp>
      </p:grpSp>
      <p:sp>
        <p:nvSpPr>
          <p:cNvPr id="33" name="object 27"/>
          <p:cNvSpPr txBox="1"/>
          <p:nvPr/>
        </p:nvSpPr>
        <p:spPr>
          <a:xfrm>
            <a:off x="7496476" y="2317571"/>
            <a:ext cx="1082040" cy="603885"/>
          </a:xfrm>
          <a:prstGeom prst="rect">
            <a:avLst/>
          </a:prstGeom>
          <a:ln w="15240">
            <a:solidFill>
              <a:srgbClr val="117DA7"/>
            </a:solidFill>
          </a:ln>
        </p:spPr>
        <p:txBody>
          <a:bodyPr vert="horz" wrap="square" lIns="0" tIns="149860" rIns="0" bIns="0" rtlCol="0">
            <a:spAutoFit/>
          </a:bodyPr>
          <a:lstStyle/>
          <a:p>
            <a:pPr marL="179705">
              <a:lnSpc>
                <a:spcPct val="100000"/>
              </a:lnSpc>
              <a:spcBef>
                <a:spcPts val="1180"/>
              </a:spcBef>
            </a:pPr>
            <a:r>
              <a:rPr sz="1800" b="1" spc="-10" dirty="0">
                <a:latin typeface="Carlito"/>
                <a:cs typeface="Carlito"/>
              </a:rPr>
              <a:t>Camera</a:t>
            </a:r>
            <a:endParaRPr sz="1800">
              <a:latin typeface="Carlito"/>
              <a:cs typeface="Carlito"/>
            </a:endParaRPr>
          </a:p>
        </p:txBody>
      </p:sp>
      <p:grpSp>
        <p:nvGrpSpPr>
          <p:cNvPr id="34" name="object 28"/>
          <p:cNvGrpSpPr/>
          <p:nvPr/>
        </p:nvGrpSpPr>
        <p:grpSpPr>
          <a:xfrm>
            <a:off x="7496476" y="3267023"/>
            <a:ext cx="1082040" cy="593090"/>
            <a:chOff x="6176771" y="3787140"/>
            <a:chExt cx="1082040" cy="593090"/>
          </a:xfrm>
        </p:grpSpPr>
        <p:sp>
          <p:nvSpPr>
            <p:cNvPr id="35" name="object 29"/>
            <p:cNvSpPr/>
            <p:nvPr/>
          </p:nvSpPr>
          <p:spPr>
            <a:xfrm>
              <a:off x="6176771" y="3787140"/>
              <a:ext cx="1082040" cy="593090"/>
            </a:xfrm>
            <a:custGeom>
              <a:avLst/>
              <a:gdLst/>
              <a:ahLst/>
              <a:cxnLst/>
              <a:rect l="l" t="t" r="r" b="b"/>
              <a:pathLst>
                <a:path w="1082040" h="593089">
                  <a:moveTo>
                    <a:pt x="1082040" y="0"/>
                  </a:moveTo>
                  <a:lnTo>
                    <a:pt x="0" y="0"/>
                  </a:lnTo>
                  <a:lnTo>
                    <a:pt x="0" y="592836"/>
                  </a:lnTo>
                  <a:lnTo>
                    <a:pt x="1082040" y="592836"/>
                  </a:lnTo>
                  <a:lnTo>
                    <a:pt x="1082040" y="0"/>
                  </a:lnTo>
                  <a:close/>
                </a:path>
              </a:pathLst>
            </a:custGeom>
            <a:solidFill>
              <a:srgbClr val="1CACE3"/>
            </a:solidFill>
          </p:spPr>
          <p:txBody>
            <a:bodyPr wrap="square" lIns="0" tIns="0" rIns="0" bIns="0" rtlCol="0"/>
            <a:lstStyle/>
            <a:p>
              <a:endParaRPr/>
            </a:p>
          </p:txBody>
        </p:sp>
        <p:sp>
          <p:nvSpPr>
            <p:cNvPr id="36" name="object 30"/>
            <p:cNvSpPr/>
            <p:nvPr/>
          </p:nvSpPr>
          <p:spPr>
            <a:xfrm>
              <a:off x="6211823" y="3864876"/>
              <a:ext cx="1020318" cy="511289"/>
            </a:xfrm>
            <a:prstGeom prst="rect">
              <a:avLst/>
            </a:prstGeom>
            <a:blipFill>
              <a:blip r:embed="rId10" cstate="print"/>
              <a:stretch>
                <a:fillRect/>
              </a:stretch>
            </a:blipFill>
          </p:spPr>
          <p:txBody>
            <a:bodyPr wrap="square" lIns="0" tIns="0" rIns="0" bIns="0" rtlCol="0"/>
            <a:lstStyle/>
            <a:p>
              <a:endParaRPr/>
            </a:p>
          </p:txBody>
        </p:sp>
      </p:grpSp>
      <p:sp>
        <p:nvSpPr>
          <p:cNvPr id="37" name="object 31"/>
          <p:cNvSpPr txBox="1"/>
          <p:nvPr/>
        </p:nvSpPr>
        <p:spPr>
          <a:xfrm>
            <a:off x="7496476" y="3267023"/>
            <a:ext cx="1082040" cy="593090"/>
          </a:xfrm>
          <a:prstGeom prst="rect">
            <a:avLst/>
          </a:prstGeom>
          <a:ln w="15240">
            <a:solidFill>
              <a:srgbClr val="117DA7"/>
            </a:solidFill>
          </a:ln>
        </p:spPr>
        <p:txBody>
          <a:bodyPr vert="horz" wrap="square" lIns="0" tIns="144780" rIns="0" bIns="0" rtlCol="0">
            <a:spAutoFit/>
          </a:bodyPr>
          <a:lstStyle/>
          <a:p>
            <a:pPr marL="184150">
              <a:lnSpc>
                <a:spcPct val="100000"/>
              </a:lnSpc>
              <a:spcBef>
                <a:spcPts val="1140"/>
              </a:spcBef>
            </a:pPr>
            <a:r>
              <a:rPr sz="1800" spc="-10" dirty="0">
                <a:latin typeface="Carlito"/>
                <a:cs typeface="Carlito"/>
              </a:rPr>
              <a:t>Sensors</a:t>
            </a:r>
            <a:endParaRPr sz="1800">
              <a:latin typeface="Carlito"/>
              <a:cs typeface="Carlito"/>
            </a:endParaRPr>
          </a:p>
        </p:txBody>
      </p:sp>
      <p:grpSp>
        <p:nvGrpSpPr>
          <p:cNvPr id="38" name="object 32"/>
          <p:cNvGrpSpPr/>
          <p:nvPr/>
        </p:nvGrpSpPr>
        <p:grpSpPr>
          <a:xfrm>
            <a:off x="7514764" y="4277435"/>
            <a:ext cx="1083945" cy="584835"/>
            <a:chOff x="6195059" y="4797552"/>
            <a:chExt cx="1083945" cy="584835"/>
          </a:xfrm>
        </p:grpSpPr>
        <p:sp>
          <p:nvSpPr>
            <p:cNvPr id="39" name="object 33"/>
            <p:cNvSpPr/>
            <p:nvPr/>
          </p:nvSpPr>
          <p:spPr>
            <a:xfrm>
              <a:off x="6195059" y="4797552"/>
              <a:ext cx="1083945" cy="584200"/>
            </a:xfrm>
            <a:custGeom>
              <a:avLst/>
              <a:gdLst/>
              <a:ahLst/>
              <a:cxnLst/>
              <a:rect l="l" t="t" r="r" b="b"/>
              <a:pathLst>
                <a:path w="1083945" h="584200">
                  <a:moveTo>
                    <a:pt x="1083564" y="0"/>
                  </a:moveTo>
                  <a:lnTo>
                    <a:pt x="0" y="0"/>
                  </a:lnTo>
                  <a:lnTo>
                    <a:pt x="0" y="583692"/>
                  </a:lnTo>
                  <a:lnTo>
                    <a:pt x="1083564" y="583692"/>
                  </a:lnTo>
                  <a:lnTo>
                    <a:pt x="1083564" y="0"/>
                  </a:lnTo>
                  <a:close/>
                </a:path>
              </a:pathLst>
            </a:custGeom>
            <a:solidFill>
              <a:srgbClr val="1CACE3"/>
            </a:solidFill>
          </p:spPr>
          <p:txBody>
            <a:bodyPr wrap="square" lIns="0" tIns="0" rIns="0" bIns="0" rtlCol="0"/>
            <a:lstStyle/>
            <a:p>
              <a:endParaRPr/>
            </a:p>
          </p:txBody>
        </p:sp>
        <p:sp>
          <p:nvSpPr>
            <p:cNvPr id="40" name="object 34"/>
            <p:cNvSpPr/>
            <p:nvPr/>
          </p:nvSpPr>
          <p:spPr>
            <a:xfrm>
              <a:off x="6214871" y="4870716"/>
              <a:ext cx="1052322" cy="511289"/>
            </a:xfrm>
            <a:prstGeom prst="rect">
              <a:avLst/>
            </a:prstGeom>
            <a:blipFill>
              <a:blip r:embed="rId11" cstate="print"/>
              <a:stretch>
                <a:fillRect/>
              </a:stretch>
            </a:blipFill>
          </p:spPr>
          <p:txBody>
            <a:bodyPr wrap="square" lIns="0" tIns="0" rIns="0" bIns="0" rtlCol="0"/>
            <a:lstStyle/>
            <a:p>
              <a:endParaRPr/>
            </a:p>
          </p:txBody>
        </p:sp>
      </p:grpSp>
      <p:sp>
        <p:nvSpPr>
          <p:cNvPr id="41" name="object 35"/>
          <p:cNvSpPr txBox="1"/>
          <p:nvPr/>
        </p:nvSpPr>
        <p:spPr>
          <a:xfrm>
            <a:off x="7514764" y="4277435"/>
            <a:ext cx="1083945" cy="584200"/>
          </a:xfrm>
          <a:prstGeom prst="rect">
            <a:avLst/>
          </a:prstGeom>
          <a:ln w="15240">
            <a:solidFill>
              <a:srgbClr val="117DA7"/>
            </a:solidFill>
          </a:ln>
        </p:spPr>
        <p:txBody>
          <a:bodyPr vert="horz" wrap="square" lIns="0" tIns="140970" rIns="0" bIns="0" rtlCol="0">
            <a:spAutoFit/>
          </a:bodyPr>
          <a:lstStyle/>
          <a:p>
            <a:pPr marL="168910">
              <a:lnSpc>
                <a:spcPct val="100000"/>
              </a:lnSpc>
              <a:spcBef>
                <a:spcPts val="1110"/>
              </a:spcBef>
            </a:pPr>
            <a:r>
              <a:rPr sz="1800" spc="-5" dirty="0">
                <a:latin typeface="Carlito"/>
                <a:cs typeface="Carlito"/>
              </a:rPr>
              <a:t>Security</a:t>
            </a:r>
            <a:endParaRPr sz="1800">
              <a:latin typeface="Carlito"/>
              <a:cs typeface="Carlito"/>
            </a:endParaRPr>
          </a:p>
        </p:txBody>
      </p:sp>
      <p:sp>
        <p:nvSpPr>
          <p:cNvPr id="42" name="ZoneTexte 41"/>
          <p:cNvSpPr txBox="1"/>
          <p:nvPr/>
        </p:nvSpPr>
        <p:spPr>
          <a:xfrm>
            <a:off x="781351" y="1209691"/>
            <a:ext cx="4042610" cy="461665"/>
          </a:xfrm>
          <a:prstGeom prst="rect">
            <a:avLst/>
          </a:prstGeom>
          <a:noFill/>
        </p:spPr>
        <p:txBody>
          <a:bodyPr wrap="square" rtlCol="1">
            <a:spAutoFit/>
          </a:bodyPr>
          <a:lstStyle/>
          <a:p>
            <a:r>
              <a:rPr lang="fr-FR" sz="2400" b="1" dirty="0" smtClean="0"/>
              <a:t>3- Un </a:t>
            </a:r>
            <a:r>
              <a:rPr lang="fr-FR" sz="2400" b="1" dirty="0"/>
              <a:t>dispositif mobile</a:t>
            </a:r>
            <a:endParaRPr lang="en-US" sz="2400" dirty="0"/>
          </a:p>
        </p:txBody>
      </p:sp>
      <p:sp>
        <p:nvSpPr>
          <p:cNvPr id="3" name="ZoneTexte 2"/>
          <p:cNvSpPr txBox="1"/>
          <p:nvPr/>
        </p:nvSpPr>
        <p:spPr>
          <a:xfrm>
            <a:off x="5480478" y="1508847"/>
            <a:ext cx="1844842" cy="400110"/>
          </a:xfrm>
          <a:prstGeom prst="rect">
            <a:avLst/>
          </a:prstGeom>
          <a:noFill/>
        </p:spPr>
        <p:txBody>
          <a:bodyPr wrap="square" rtlCol="1">
            <a:spAutoFit/>
          </a:bodyPr>
          <a:lstStyle/>
          <a:p>
            <a:r>
              <a:rPr lang="fr-FR" sz="2000" spc="-5">
                <a:latin typeface="Carlito"/>
                <a:cs typeface="Carlito"/>
              </a:rPr>
              <a:t>un </a:t>
            </a:r>
            <a:r>
              <a:rPr lang="fr-FR" sz="2000" b="1" i="1" spc="-5">
                <a:latin typeface="Carlito"/>
                <a:cs typeface="Carlito"/>
              </a:rPr>
              <a:t>SoC</a:t>
            </a:r>
            <a:endParaRPr lang="en-US" sz="2000" dirty="0"/>
          </a:p>
        </p:txBody>
      </p:sp>
    </p:spTree>
    <p:extLst>
      <p:ext uri="{BB962C8B-B14F-4D97-AF65-F5344CB8AC3E}">
        <p14:creationId xmlns:p14="http://schemas.microsoft.com/office/powerpoint/2010/main" val="12110864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0"/>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42" name="object 4"/>
          <p:cNvSpPr txBox="1"/>
          <p:nvPr/>
        </p:nvSpPr>
        <p:spPr>
          <a:xfrm>
            <a:off x="344905" y="2354056"/>
            <a:ext cx="11502189" cy="3170483"/>
          </a:xfrm>
          <a:prstGeom prst="rect">
            <a:avLst/>
          </a:prstGeom>
        </p:spPr>
        <p:txBody>
          <a:bodyPr vert="horz" wrap="square" lIns="0" tIns="12065" rIns="0" bIns="0" rtlCol="0">
            <a:spAutoFit/>
          </a:bodyPr>
          <a:lstStyle/>
          <a:p>
            <a:pPr marL="354965" indent="-342900">
              <a:lnSpc>
                <a:spcPts val="3130"/>
              </a:lnSpc>
              <a:spcBef>
                <a:spcPts val="95"/>
              </a:spcBef>
              <a:buClr>
                <a:schemeClr val="tx1"/>
              </a:buClr>
              <a:buSzPct val="96428"/>
              <a:buFont typeface="Wingdings" panose="05000000000000000000" pitchFamily="2" charset="2"/>
              <a:buChar char="v"/>
              <a:tabLst>
                <a:tab pos="330200" algn="l"/>
              </a:tabLst>
            </a:pPr>
            <a:r>
              <a:rPr sz="2400" b="1" spc="-10" dirty="0">
                <a:latin typeface="Carlito"/>
                <a:cs typeface="Carlito"/>
              </a:rPr>
              <a:t>CPU </a:t>
            </a:r>
            <a:r>
              <a:rPr sz="2400" b="1" spc="-15" dirty="0">
                <a:latin typeface="Carlito"/>
                <a:cs typeface="Carlito"/>
              </a:rPr>
              <a:t>(Central </a:t>
            </a:r>
            <a:r>
              <a:rPr sz="2400" b="1" spc="-10" dirty="0">
                <a:latin typeface="Carlito"/>
                <a:cs typeface="Carlito"/>
              </a:rPr>
              <a:t>processing</a:t>
            </a:r>
            <a:r>
              <a:rPr sz="2400" b="1" spc="60" dirty="0">
                <a:latin typeface="Carlito"/>
                <a:cs typeface="Carlito"/>
              </a:rPr>
              <a:t> </a:t>
            </a:r>
            <a:r>
              <a:rPr sz="2400" b="1" spc="-5" dirty="0">
                <a:latin typeface="Carlito"/>
                <a:cs typeface="Carlito"/>
              </a:rPr>
              <a:t>unit):</a:t>
            </a:r>
            <a:endParaRPr sz="2400" dirty="0">
              <a:latin typeface="Carlito"/>
              <a:cs typeface="Carlito"/>
            </a:endParaRPr>
          </a:p>
          <a:p>
            <a:pPr marL="556895" marR="5311140" lvl="1" indent="-342900">
              <a:lnSpc>
                <a:spcPct val="70000"/>
              </a:lnSpc>
              <a:spcBef>
                <a:spcPts val="630"/>
              </a:spcBef>
              <a:buClr>
                <a:schemeClr val="tx1"/>
              </a:buClr>
              <a:buSzPct val="95833"/>
              <a:buFont typeface="Arial" panose="020B0604020202020204" pitchFamily="34" charset="0"/>
              <a:buChar char="•"/>
              <a:tabLst>
                <a:tab pos="457200" algn="l"/>
                <a:tab pos="1616075" algn="l"/>
              </a:tabLst>
            </a:pPr>
            <a:r>
              <a:rPr sz="2400" spc="-5" dirty="0">
                <a:latin typeface="Carlito"/>
                <a:cs typeface="Carlito"/>
              </a:rPr>
              <a:t>Cnstitué	de </a:t>
            </a:r>
            <a:r>
              <a:rPr sz="2400" spc="-10" dirty="0">
                <a:latin typeface="Carlito"/>
                <a:cs typeface="Carlito"/>
              </a:rPr>
              <a:t>plusieurs noyaux  </a:t>
            </a:r>
            <a:r>
              <a:rPr sz="2400" spc="-5" dirty="0">
                <a:latin typeface="Carlito"/>
                <a:cs typeface="Carlito"/>
              </a:rPr>
              <a:t>(</a:t>
            </a:r>
            <a:r>
              <a:rPr sz="2400" spc="-5" dirty="0" smtClean="0">
                <a:latin typeface="Carlito"/>
                <a:cs typeface="Carlito"/>
              </a:rPr>
              <a:t>multiple</a:t>
            </a:r>
            <a:r>
              <a:rPr lang="fr-FR" sz="2400" spc="-5" dirty="0" smtClean="0">
                <a:latin typeface="Carlito"/>
                <a:cs typeface="Carlito"/>
              </a:rPr>
              <a:t> </a:t>
            </a:r>
            <a:r>
              <a:rPr sz="2400" spc="-10" dirty="0" smtClean="0">
                <a:latin typeface="Carlito"/>
                <a:cs typeface="Carlito"/>
              </a:rPr>
              <a:t>cores): </a:t>
            </a:r>
            <a:r>
              <a:rPr sz="2400" spc="-5" dirty="0" smtClean="0">
                <a:latin typeface="Carlito"/>
                <a:cs typeface="Carlito"/>
              </a:rPr>
              <a:t>Dual, </a:t>
            </a:r>
            <a:r>
              <a:rPr sz="2400" dirty="0" smtClean="0">
                <a:latin typeface="Carlito"/>
                <a:cs typeface="Carlito"/>
              </a:rPr>
              <a:t>Quad, </a:t>
            </a:r>
            <a:r>
              <a:rPr sz="2400" spc="-20" dirty="0" err="1" smtClean="0">
                <a:latin typeface="Carlito"/>
                <a:cs typeface="Carlito"/>
              </a:rPr>
              <a:t>Hexa</a:t>
            </a:r>
            <a:r>
              <a:rPr sz="2400" spc="-20" dirty="0" smtClean="0">
                <a:latin typeface="Carlito"/>
                <a:cs typeface="Carlito"/>
              </a:rPr>
              <a:t>,  </a:t>
            </a:r>
            <a:r>
              <a:rPr sz="2400" dirty="0" smtClean="0">
                <a:latin typeface="Carlito"/>
                <a:cs typeface="Carlito"/>
              </a:rPr>
              <a:t>and </a:t>
            </a:r>
            <a:r>
              <a:rPr sz="2400" spc="-10" dirty="0" err="1" smtClean="0">
                <a:latin typeface="Carlito"/>
                <a:cs typeface="Carlito"/>
              </a:rPr>
              <a:t>Octa</a:t>
            </a:r>
            <a:r>
              <a:rPr lang="fr-FR" sz="2400" spc="-25" dirty="0" smtClean="0">
                <a:latin typeface="Carlito"/>
                <a:cs typeface="Carlito"/>
              </a:rPr>
              <a:t> </a:t>
            </a:r>
            <a:r>
              <a:rPr sz="2400" spc="-15" dirty="0" smtClean="0">
                <a:latin typeface="Carlito"/>
                <a:cs typeface="Carlito"/>
              </a:rPr>
              <a:t>core.</a:t>
            </a:r>
            <a:endParaRPr sz="2400" dirty="0" smtClean="0">
              <a:latin typeface="Carlito"/>
              <a:cs typeface="Carlito"/>
            </a:endParaRPr>
          </a:p>
          <a:p>
            <a:pPr marL="556895" marR="4194810" lvl="1" indent="-342900">
              <a:lnSpc>
                <a:spcPct val="70100"/>
              </a:lnSpc>
              <a:spcBef>
                <a:spcPts val="600"/>
              </a:spcBef>
              <a:buClr>
                <a:schemeClr val="tx1"/>
              </a:buClr>
              <a:buSzPct val="95833"/>
              <a:buFont typeface="Arial" panose="020B0604020202020204" pitchFamily="34" charset="0"/>
              <a:buChar char="•"/>
              <a:tabLst>
                <a:tab pos="457200" algn="l"/>
              </a:tabLst>
            </a:pPr>
            <a:r>
              <a:rPr sz="2400" i="1" spc="-5" dirty="0" err="1" smtClean="0">
                <a:latin typeface="Carlito"/>
                <a:cs typeface="Carlito"/>
              </a:rPr>
              <a:t>Caractérisé</a:t>
            </a:r>
            <a:r>
              <a:rPr sz="2400" i="1" spc="-5" dirty="0" smtClean="0">
                <a:latin typeface="Carlito"/>
                <a:cs typeface="Carlito"/>
              </a:rPr>
              <a:t> par </a:t>
            </a:r>
            <a:r>
              <a:rPr sz="2400" i="1" spc="-5" dirty="0" err="1" smtClean="0">
                <a:latin typeface="Carlito"/>
                <a:cs typeface="Carlito"/>
              </a:rPr>
              <a:t>sa</a:t>
            </a:r>
            <a:r>
              <a:rPr sz="2400" i="1" spc="-5" dirty="0" smtClean="0">
                <a:latin typeface="Carlito"/>
                <a:cs typeface="Carlito"/>
              </a:rPr>
              <a:t> </a:t>
            </a:r>
            <a:r>
              <a:rPr sz="2400" i="1" spc="-5" dirty="0" err="1" smtClean="0">
                <a:latin typeface="Carlito"/>
                <a:cs typeface="Carlito"/>
              </a:rPr>
              <a:t>fréquence</a:t>
            </a:r>
            <a:r>
              <a:rPr sz="2400" i="1" spc="-5" dirty="0" smtClean="0">
                <a:latin typeface="Carlito"/>
                <a:cs typeface="Carlito"/>
              </a:rPr>
              <a:t> </a:t>
            </a:r>
            <a:r>
              <a:rPr sz="2400" b="1" i="1" spc="-5" dirty="0" err="1" smtClean="0">
                <a:latin typeface="Carlito"/>
                <a:cs typeface="Carlito"/>
              </a:rPr>
              <a:t>en</a:t>
            </a:r>
            <a:r>
              <a:rPr sz="2400" b="1" i="1" spc="-5" dirty="0" smtClean="0">
                <a:latin typeface="Carlito"/>
                <a:cs typeface="Carlito"/>
              </a:rPr>
              <a:t> </a:t>
            </a:r>
            <a:r>
              <a:rPr sz="2400" b="1" i="1" spc="-10" dirty="0" smtClean="0">
                <a:latin typeface="Carlito"/>
                <a:cs typeface="Carlito"/>
              </a:rPr>
              <a:t>GHz </a:t>
            </a:r>
            <a:r>
              <a:rPr sz="2400" i="1" spc="-5" dirty="0" err="1" smtClean="0">
                <a:latin typeface="Carlito"/>
                <a:cs typeface="Carlito"/>
              </a:rPr>
              <a:t>ainsi</a:t>
            </a:r>
            <a:r>
              <a:rPr sz="2400" i="1" spc="-5" dirty="0" smtClean="0">
                <a:latin typeface="Carlito"/>
                <a:cs typeface="Carlito"/>
              </a:rPr>
              <a:t>  que </a:t>
            </a:r>
            <a:r>
              <a:rPr sz="2400" i="1" dirty="0" smtClean="0">
                <a:latin typeface="Carlito"/>
                <a:cs typeface="Carlito"/>
              </a:rPr>
              <a:t>la </a:t>
            </a:r>
            <a:r>
              <a:rPr sz="2400" i="1" spc="-5" dirty="0" err="1" smtClean="0">
                <a:latin typeface="Carlito"/>
                <a:cs typeface="Carlito"/>
              </a:rPr>
              <a:t>technologie</a:t>
            </a:r>
            <a:r>
              <a:rPr sz="2400" i="1" spc="-5" dirty="0" smtClean="0">
                <a:latin typeface="Carlito"/>
                <a:cs typeface="Carlito"/>
              </a:rPr>
              <a:t> </a:t>
            </a:r>
            <a:r>
              <a:rPr sz="2400" i="1" spc="-5" dirty="0" err="1" smtClean="0">
                <a:latin typeface="Carlito"/>
                <a:cs typeface="Carlito"/>
              </a:rPr>
              <a:t>utilisé</a:t>
            </a:r>
            <a:r>
              <a:rPr sz="2400" i="1" spc="-5" dirty="0" smtClean="0">
                <a:latin typeface="Carlito"/>
                <a:cs typeface="Carlito"/>
              </a:rPr>
              <a:t> </a:t>
            </a:r>
            <a:r>
              <a:rPr sz="2400" i="1" spc="-5" dirty="0" err="1" smtClean="0">
                <a:latin typeface="Carlito"/>
                <a:cs typeface="Carlito"/>
              </a:rPr>
              <a:t>dans</a:t>
            </a:r>
            <a:r>
              <a:rPr sz="2400" i="1" spc="-5" dirty="0" smtClean="0">
                <a:latin typeface="Carlito"/>
                <a:cs typeface="Carlito"/>
              </a:rPr>
              <a:t> </a:t>
            </a:r>
            <a:r>
              <a:rPr sz="2400" i="1" spc="-5" dirty="0" err="1" smtClean="0">
                <a:latin typeface="Carlito"/>
                <a:cs typeface="Carlito"/>
              </a:rPr>
              <a:t>sa</a:t>
            </a:r>
            <a:r>
              <a:rPr sz="2400" i="1" spc="-5" dirty="0" smtClean="0">
                <a:latin typeface="Carlito"/>
                <a:cs typeface="Carlito"/>
              </a:rPr>
              <a:t> </a:t>
            </a:r>
            <a:r>
              <a:rPr sz="2400" i="1" spc="-10" dirty="0" smtClean="0">
                <a:latin typeface="Carlito"/>
                <a:cs typeface="Carlito"/>
              </a:rPr>
              <a:t>fabrication  </a:t>
            </a:r>
            <a:r>
              <a:rPr sz="2400" i="1" dirty="0" err="1" smtClean="0">
                <a:latin typeface="Carlito"/>
                <a:cs typeface="Carlito"/>
              </a:rPr>
              <a:t>en</a:t>
            </a:r>
            <a:r>
              <a:rPr sz="2400" i="1" dirty="0" smtClean="0">
                <a:latin typeface="Carlito"/>
                <a:cs typeface="Carlito"/>
              </a:rPr>
              <a:t> </a:t>
            </a:r>
            <a:r>
              <a:rPr sz="2400" i="1" spc="-5" dirty="0" err="1" smtClean="0">
                <a:latin typeface="Carlito"/>
                <a:cs typeface="Carlito"/>
              </a:rPr>
              <a:t>nanomètre</a:t>
            </a:r>
            <a:endParaRPr sz="2400" dirty="0" smtClean="0">
              <a:latin typeface="Carlito"/>
              <a:cs typeface="Carlito"/>
            </a:endParaRPr>
          </a:p>
          <a:p>
            <a:pPr marL="556895" marR="5102225" lvl="1" indent="-342900">
              <a:lnSpc>
                <a:spcPct val="70000"/>
              </a:lnSpc>
              <a:spcBef>
                <a:spcPts val="600"/>
              </a:spcBef>
              <a:buClr>
                <a:schemeClr val="tx1"/>
              </a:buClr>
              <a:buSzPct val="95833"/>
              <a:buFont typeface="Arial" panose="020B0604020202020204" pitchFamily="34" charset="0"/>
              <a:buChar char="•"/>
              <a:tabLst>
                <a:tab pos="457200" algn="l"/>
              </a:tabLst>
            </a:pPr>
            <a:r>
              <a:rPr sz="2400" b="1" i="1" spc="-10" dirty="0" smtClean="0">
                <a:latin typeface="Carlito"/>
                <a:cs typeface="Carlito"/>
              </a:rPr>
              <a:t>Fabricant</a:t>
            </a:r>
            <a:r>
              <a:rPr sz="2400" b="1" i="1" spc="-10" dirty="0">
                <a:latin typeface="Carlito"/>
                <a:cs typeface="Carlito"/>
              </a:rPr>
              <a:t>: </a:t>
            </a:r>
            <a:r>
              <a:rPr sz="2400" i="1" spc="-10" dirty="0">
                <a:latin typeface="Carlito"/>
                <a:cs typeface="Carlito"/>
              </a:rPr>
              <a:t>Qualcomm </a:t>
            </a:r>
            <a:r>
              <a:rPr sz="2400" i="1" spc="-5" dirty="0">
                <a:latin typeface="Carlito"/>
                <a:cs typeface="Carlito"/>
              </a:rPr>
              <a:t>(Snapdragon),  Samsung (Exynos), </a:t>
            </a:r>
            <a:r>
              <a:rPr sz="2400" i="1" dirty="0">
                <a:latin typeface="Carlito"/>
                <a:cs typeface="Carlito"/>
              </a:rPr>
              <a:t>kirin</a:t>
            </a:r>
            <a:r>
              <a:rPr sz="2400" i="1" spc="-10" dirty="0">
                <a:latin typeface="Carlito"/>
                <a:cs typeface="Carlito"/>
              </a:rPr>
              <a:t> </a:t>
            </a:r>
            <a:r>
              <a:rPr sz="2400" i="1" spc="-5" dirty="0">
                <a:latin typeface="Carlito"/>
                <a:cs typeface="Carlito"/>
              </a:rPr>
              <a:t>(Huawei),</a:t>
            </a:r>
            <a:endParaRPr sz="2400" dirty="0">
              <a:latin typeface="Carlito"/>
              <a:cs typeface="Carlito"/>
            </a:endParaRPr>
          </a:p>
          <a:p>
            <a:pPr marL="396875">
              <a:lnSpc>
                <a:spcPts val="2014"/>
              </a:lnSpc>
            </a:pPr>
            <a:r>
              <a:rPr sz="2400" i="1" dirty="0">
                <a:latin typeface="Carlito"/>
                <a:cs typeface="Carlito"/>
              </a:rPr>
              <a:t>Hélio </a:t>
            </a:r>
            <a:r>
              <a:rPr sz="2400" i="1" spc="-5" dirty="0">
                <a:latin typeface="Carlito"/>
                <a:cs typeface="Carlito"/>
              </a:rPr>
              <a:t>(médiatèque) and bionic </a:t>
            </a:r>
            <a:r>
              <a:rPr sz="2400" i="1" dirty="0">
                <a:latin typeface="Carlito"/>
                <a:cs typeface="Carlito"/>
              </a:rPr>
              <a:t>A</a:t>
            </a:r>
            <a:r>
              <a:rPr sz="2400" i="1" spc="-20" dirty="0">
                <a:latin typeface="Carlito"/>
                <a:cs typeface="Carlito"/>
              </a:rPr>
              <a:t> </a:t>
            </a:r>
            <a:r>
              <a:rPr sz="2400" i="1" spc="-5" dirty="0">
                <a:latin typeface="Carlito"/>
                <a:cs typeface="Carlito"/>
              </a:rPr>
              <a:t>(apple).</a:t>
            </a:r>
            <a:endParaRPr sz="2400" dirty="0">
              <a:latin typeface="Carlito"/>
              <a:cs typeface="Carlito"/>
            </a:endParaRPr>
          </a:p>
          <a:p>
            <a:pPr marL="104139" marR="5080" indent="-92075">
              <a:lnSpc>
                <a:spcPct val="70000"/>
              </a:lnSpc>
              <a:spcBef>
                <a:spcPts val="1605"/>
              </a:spcBef>
              <a:buClr>
                <a:srgbClr val="1CACE3"/>
              </a:buClr>
              <a:buSzPct val="96428"/>
              <a:buFont typeface="Wingdings"/>
              <a:buChar char=""/>
              <a:tabLst>
                <a:tab pos="330200" algn="l"/>
                <a:tab pos="1132840" algn="l"/>
                <a:tab pos="1574800" algn="l"/>
                <a:tab pos="2692400" algn="l"/>
                <a:tab pos="4408170" algn="l"/>
                <a:tab pos="4704080" algn="l"/>
                <a:tab pos="5263515" algn="l"/>
                <a:tab pos="5519420" algn="l"/>
                <a:tab pos="7475220" algn="l"/>
                <a:tab pos="8075295" algn="l"/>
                <a:tab pos="8496300" algn="l"/>
              </a:tabLst>
            </a:pPr>
            <a:r>
              <a:rPr sz="2400" b="1" i="1" spc="-10" dirty="0">
                <a:latin typeface="Carlito"/>
                <a:cs typeface="Carlito"/>
              </a:rPr>
              <a:t>GP</a:t>
            </a:r>
            <a:r>
              <a:rPr sz="2400" b="1" i="1" spc="-5" dirty="0">
                <a:latin typeface="Carlito"/>
                <a:cs typeface="Carlito"/>
              </a:rPr>
              <a:t>U</a:t>
            </a:r>
            <a:r>
              <a:rPr sz="2400" b="1" i="1" dirty="0">
                <a:latin typeface="Carlito"/>
                <a:cs typeface="Carlito"/>
              </a:rPr>
              <a:t>	</a:t>
            </a:r>
            <a:r>
              <a:rPr sz="2400" b="1" i="1" spc="10" dirty="0">
                <a:latin typeface="Carlito"/>
                <a:cs typeface="Carlito"/>
              </a:rPr>
              <a:t>(</a:t>
            </a:r>
            <a:r>
              <a:rPr sz="2400" b="1" i="1" spc="-10" dirty="0">
                <a:latin typeface="Carlito"/>
                <a:cs typeface="Carlito"/>
              </a:rPr>
              <a:t>Gr</a:t>
            </a:r>
            <a:r>
              <a:rPr sz="2400" b="1" i="1" spc="10" dirty="0">
                <a:latin typeface="Carlito"/>
                <a:cs typeface="Carlito"/>
              </a:rPr>
              <a:t>a</a:t>
            </a:r>
            <a:r>
              <a:rPr sz="2400" b="1" i="1" spc="-5" dirty="0">
                <a:latin typeface="Carlito"/>
                <a:cs typeface="Carlito"/>
              </a:rPr>
              <a:t>phics</a:t>
            </a:r>
            <a:r>
              <a:rPr sz="2400" b="1" i="1" dirty="0">
                <a:latin typeface="Carlito"/>
                <a:cs typeface="Carlito"/>
              </a:rPr>
              <a:t>	</a:t>
            </a:r>
            <a:r>
              <a:rPr sz="2400" b="1" i="1" spc="-5" dirty="0">
                <a:latin typeface="Carlito"/>
                <a:cs typeface="Carlito"/>
              </a:rPr>
              <a:t>pro</a:t>
            </a:r>
            <a:r>
              <a:rPr sz="2400" b="1" i="1" spc="-30" dirty="0">
                <a:latin typeface="Carlito"/>
                <a:cs typeface="Carlito"/>
              </a:rPr>
              <a:t>c</a:t>
            </a:r>
            <a:r>
              <a:rPr sz="2400" b="1" i="1" spc="-10" dirty="0">
                <a:latin typeface="Carlito"/>
                <a:cs typeface="Carlito"/>
              </a:rPr>
              <a:t>essin</a:t>
            </a:r>
            <a:r>
              <a:rPr sz="2400" b="1" i="1" spc="-5" dirty="0">
                <a:latin typeface="Carlito"/>
                <a:cs typeface="Carlito"/>
              </a:rPr>
              <a:t>g</a:t>
            </a:r>
            <a:r>
              <a:rPr sz="2400" b="1" i="1" dirty="0">
                <a:latin typeface="Carlito"/>
                <a:cs typeface="Carlito"/>
              </a:rPr>
              <a:t>	</a:t>
            </a:r>
            <a:r>
              <a:rPr sz="2400" b="1" i="1" spc="-10" dirty="0">
                <a:latin typeface="Carlito"/>
                <a:cs typeface="Carlito"/>
              </a:rPr>
              <a:t>un</a:t>
            </a:r>
            <a:r>
              <a:rPr sz="2400" b="1" i="1" spc="5" dirty="0">
                <a:latin typeface="Carlito"/>
                <a:cs typeface="Carlito"/>
              </a:rPr>
              <a:t>i</a:t>
            </a:r>
            <a:r>
              <a:rPr sz="2400" b="1" i="1" spc="-5" dirty="0">
                <a:latin typeface="Carlito"/>
                <a:cs typeface="Carlito"/>
              </a:rPr>
              <a:t>t)</a:t>
            </a:r>
            <a:r>
              <a:rPr sz="2400" b="1" i="1" dirty="0">
                <a:latin typeface="Carlito"/>
                <a:cs typeface="Carlito"/>
              </a:rPr>
              <a:t>	</a:t>
            </a:r>
            <a:r>
              <a:rPr sz="2400" b="1" i="1" spc="-5" dirty="0">
                <a:latin typeface="Carlito"/>
                <a:cs typeface="Carlito"/>
              </a:rPr>
              <a:t>:</a:t>
            </a:r>
            <a:r>
              <a:rPr sz="2400" b="1" i="1" dirty="0">
                <a:latin typeface="Carlito"/>
                <a:cs typeface="Carlito"/>
              </a:rPr>
              <a:t>	</a:t>
            </a:r>
            <a:r>
              <a:rPr sz="2400" i="1" spc="-50" dirty="0">
                <a:latin typeface="Carlito"/>
                <a:cs typeface="Carlito"/>
              </a:rPr>
              <a:t>R</a:t>
            </a:r>
            <a:r>
              <a:rPr sz="2400" i="1" spc="-5" dirty="0">
                <a:latin typeface="Carlito"/>
                <a:cs typeface="Carlito"/>
              </a:rPr>
              <a:t>espo</a:t>
            </a:r>
            <a:r>
              <a:rPr sz="2400" i="1" dirty="0">
                <a:latin typeface="Carlito"/>
                <a:cs typeface="Carlito"/>
              </a:rPr>
              <a:t>n</a:t>
            </a:r>
            <a:r>
              <a:rPr sz="2400" i="1" spc="-10" dirty="0">
                <a:latin typeface="Carlito"/>
                <a:cs typeface="Carlito"/>
              </a:rPr>
              <a:t>sa</a:t>
            </a:r>
            <a:r>
              <a:rPr sz="2400" i="1" dirty="0">
                <a:latin typeface="Carlito"/>
                <a:cs typeface="Carlito"/>
              </a:rPr>
              <a:t>b</a:t>
            </a:r>
            <a:r>
              <a:rPr sz="2400" i="1" spc="-5" dirty="0">
                <a:latin typeface="Carlito"/>
                <a:cs typeface="Carlito"/>
              </a:rPr>
              <a:t>le</a:t>
            </a:r>
            <a:r>
              <a:rPr sz="2400" i="1" dirty="0">
                <a:latin typeface="Carlito"/>
                <a:cs typeface="Carlito"/>
              </a:rPr>
              <a:t>	</a:t>
            </a:r>
            <a:r>
              <a:rPr sz="2400" i="1" spc="-10" dirty="0">
                <a:latin typeface="Carlito"/>
                <a:cs typeface="Carlito"/>
              </a:rPr>
              <a:t>su</a:t>
            </a:r>
            <a:r>
              <a:rPr sz="2400" i="1" spc="-5" dirty="0">
                <a:latin typeface="Carlito"/>
                <a:cs typeface="Carlito"/>
              </a:rPr>
              <a:t>r</a:t>
            </a:r>
            <a:r>
              <a:rPr sz="2400" i="1" dirty="0">
                <a:latin typeface="Carlito"/>
                <a:cs typeface="Carlito"/>
              </a:rPr>
              <a:t>	</a:t>
            </a:r>
            <a:r>
              <a:rPr sz="2400" i="1" spc="-15" dirty="0">
                <a:latin typeface="Carlito"/>
                <a:cs typeface="Carlito"/>
              </a:rPr>
              <a:t>l</a:t>
            </a:r>
            <a:r>
              <a:rPr sz="2400" i="1" spc="-5" dirty="0">
                <a:latin typeface="Carlito"/>
                <a:cs typeface="Carlito"/>
              </a:rPr>
              <a:t>a</a:t>
            </a:r>
            <a:r>
              <a:rPr sz="2400" i="1" dirty="0">
                <a:latin typeface="Carlito"/>
                <a:cs typeface="Carlito"/>
              </a:rPr>
              <a:t>	</a:t>
            </a:r>
            <a:r>
              <a:rPr sz="2400" i="1" spc="-10" dirty="0">
                <a:latin typeface="Carlito"/>
                <a:cs typeface="Carlito"/>
              </a:rPr>
              <a:t>gén</a:t>
            </a:r>
            <a:r>
              <a:rPr sz="2400" i="1" dirty="0">
                <a:latin typeface="Carlito"/>
                <a:cs typeface="Carlito"/>
              </a:rPr>
              <a:t>é</a:t>
            </a:r>
            <a:r>
              <a:rPr sz="2400" i="1" spc="5" dirty="0">
                <a:latin typeface="Carlito"/>
                <a:cs typeface="Carlito"/>
              </a:rPr>
              <a:t>r</a:t>
            </a:r>
            <a:r>
              <a:rPr sz="2400" i="1" spc="-10" dirty="0">
                <a:latin typeface="Carlito"/>
                <a:cs typeface="Carlito"/>
              </a:rPr>
              <a:t>ation  </a:t>
            </a:r>
            <a:r>
              <a:rPr sz="2400" i="1" spc="-130" dirty="0">
                <a:latin typeface="Trebuchet MS"/>
                <a:cs typeface="Trebuchet MS"/>
              </a:rPr>
              <a:t>d’images	</a:t>
            </a:r>
            <a:r>
              <a:rPr sz="2400" spc="-10" dirty="0">
                <a:latin typeface="Carlito"/>
                <a:cs typeface="Carlito"/>
              </a:rPr>
              <a:t>affichées ensuite</a:t>
            </a:r>
            <a:r>
              <a:rPr sz="2400" spc="20" dirty="0">
                <a:latin typeface="Carlito"/>
                <a:cs typeface="Carlito"/>
              </a:rPr>
              <a:t> </a:t>
            </a:r>
            <a:r>
              <a:rPr sz="2400" spc="-5" dirty="0">
                <a:latin typeface="Carlito"/>
                <a:cs typeface="Carlito"/>
              </a:rPr>
              <a:t>sur	</a:t>
            </a:r>
            <a:r>
              <a:rPr sz="2400" i="1" spc="-204" dirty="0">
                <a:latin typeface="Trebuchet MS"/>
                <a:cs typeface="Trebuchet MS"/>
              </a:rPr>
              <a:t>l’écran </a:t>
            </a:r>
            <a:r>
              <a:rPr sz="2400" i="1" spc="-5" dirty="0">
                <a:latin typeface="Carlito"/>
                <a:cs typeface="Carlito"/>
              </a:rPr>
              <a:t>du</a:t>
            </a:r>
            <a:r>
              <a:rPr sz="2400" i="1" dirty="0">
                <a:latin typeface="Carlito"/>
                <a:cs typeface="Carlito"/>
              </a:rPr>
              <a:t> </a:t>
            </a:r>
            <a:r>
              <a:rPr sz="2400" i="1" spc="-5" dirty="0">
                <a:latin typeface="Carlito"/>
                <a:cs typeface="Carlito"/>
              </a:rPr>
              <a:t>smartphone.</a:t>
            </a:r>
            <a:endParaRPr sz="2400" dirty="0">
              <a:latin typeface="Carlito"/>
              <a:cs typeface="Carlito"/>
            </a:endParaRPr>
          </a:p>
        </p:txBody>
      </p:sp>
      <p:sp>
        <p:nvSpPr>
          <p:cNvPr id="43" name="ZoneTexte 42"/>
          <p:cNvSpPr txBox="1"/>
          <p:nvPr/>
        </p:nvSpPr>
        <p:spPr>
          <a:xfrm>
            <a:off x="669056" y="1370695"/>
            <a:ext cx="6277176" cy="461665"/>
          </a:xfrm>
          <a:prstGeom prst="rect">
            <a:avLst/>
          </a:prstGeom>
          <a:noFill/>
        </p:spPr>
        <p:txBody>
          <a:bodyPr wrap="square" rtlCol="1">
            <a:spAutoFit/>
          </a:bodyPr>
          <a:lstStyle/>
          <a:p>
            <a:r>
              <a:rPr lang="en-US" sz="2400" b="1" dirty="0" smtClean="0">
                <a:cs typeface="+mj-cs"/>
              </a:rPr>
              <a:t>4- Les </a:t>
            </a:r>
            <a:r>
              <a:rPr lang="en-US" sz="2400" b="1" dirty="0" err="1" smtClean="0">
                <a:cs typeface="+mj-cs"/>
              </a:rPr>
              <a:t>composants</a:t>
            </a:r>
            <a:r>
              <a:rPr lang="en-US" sz="2400" b="1" dirty="0" smtClean="0">
                <a:cs typeface="+mj-cs"/>
              </a:rPr>
              <a:t> des smartphones</a:t>
            </a:r>
            <a:endParaRPr lang="en-US" sz="2400" b="1" dirty="0">
              <a:cs typeface="+mj-cs"/>
            </a:endParaRPr>
          </a:p>
        </p:txBody>
      </p:sp>
    </p:spTree>
    <p:extLst>
      <p:ext uri="{BB962C8B-B14F-4D97-AF65-F5344CB8AC3E}">
        <p14:creationId xmlns:p14="http://schemas.microsoft.com/office/powerpoint/2010/main" val="21963291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0"/>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3" name="Image 2"/>
          <p:cNvPicPr>
            <a:picLocks noChangeAspect="1"/>
          </p:cNvPicPr>
          <p:nvPr/>
        </p:nvPicPr>
        <p:blipFill>
          <a:blip r:embed="rId4"/>
          <a:stretch>
            <a:fillRect/>
          </a:stretch>
        </p:blipFill>
        <p:spPr>
          <a:xfrm>
            <a:off x="1090863" y="1473717"/>
            <a:ext cx="10010274" cy="4991122"/>
          </a:xfrm>
          <a:prstGeom prst="rect">
            <a:avLst/>
          </a:prstGeom>
        </p:spPr>
      </p:pic>
    </p:spTree>
    <p:extLst>
      <p:ext uri="{BB962C8B-B14F-4D97-AF65-F5344CB8AC3E}">
        <p14:creationId xmlns:p14="http://schemas.microsoft.com/office/powerpoint/2010/main" val="30742667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0"/>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pic>
        <p:nvPicPr>
          <p:cNvPr id="2" name="Image 1"/>
          <p:cNvPicPr>
            <a:picLocks noChangeAspect="1"/>
          </p:cNvPicPr>
          <p:nvPr/>
        </p:nvPicPr>
        <p:blipFill>
          <a:blip r:embed="rId4"/>
          <a:stretch>
            <a:fillRect/>
          </a:stretch>
        </p:blipFill>
        <p:spPr>
          <a:xfrm>
            <a:off x="786063" y="1491916"/>
            <a:ext cx="10908632" cy="4860758"/>
          </a:xfrm>
          <a:prstGeom prst="rect">
            <a:avLst/>
          </a:prstGeom>
        </p:spPr>
      </p:pic>
    </p:spTree>
    <p:extLst>
      <p:ext uri="{BB962C8B-B14F-4D97-AF65-F5344CB8AC3E}">
        <p14:creationId xmlns:p14="http://schemas.microsoft.com/office/powerpoint/2010/main" val="8411042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42" name="object 3"/>
          <p:cNvSpPr txBox="1"/>
          <p:nvPr/>
        </p:nvSpPr>
        <p:spPr>
          <a:xfrm>
            <a:off x="508635" y="2060775"/>
            <a:ext cx="11444304" cy="2833468"/>
          </a:xfrm>
          <a:prstGeom prst="rect">
            <a:avLst/>
          </a:prstGeom>
        </p:spPr>
        <p:txBody>
          <a:bodyPr vert="horz" wrap="square" lIns="0" tIns="12065" rIns="0" bIns="0" rtlCol="0">
            <a:spAutoFit/>
          </a:bodyPr>
          <a:lstStyle/>
          <a:p>
            <a:pPr marL="469264" indent="-457200">
              <a:lnSpc>
                <a:spcPct val="100000"/>
              </a:lnSpc>
              <a:spcBef>
                <a:spcPts val="95"/>
              </a:spcBef>
              <a:buClr>
                <a:schemeClr val="tx1"/>
              </a:buClr>
              <a:buFont typeface="Wingdings" panose="05000000000000000000" pitchFamily="2" charset="2"/>
              <a:buChar char="v"/>
              <a:tabLst>
                <a:tab pos="410845" algn="l"/>
                <a:tab pos="4127500" algn="l"/>
                <a:tab pos="5335270" algn="l"/>
              </a:tabLst>
            </a:pPr>
            <a:r>
              <a:rPr sz="2400" spc="-5" dirty="0">
                <a:latin typeface="Carlito"/>
                <a:cs typeface="Carlito"/>
              </a:rPr>
              <a:t>On </a:t>
            </a:r>
            <a:r>
              <a:rPr sz="2400" spc="-10" dirty="0">
                <a:latin typeface="Carlito"/>
                <a:cs typeface="Carlito"/>
              </a:rPr>
              <a:t>peut</a:t>
            </a:r>
            <a:r>
              <a:rPr sz="2400" spc="65" dirty="0">
                <a:latin typeface="Carlito"/>
                <a:cs typeface="Carlito"/>
              </a:rPr>
              <a:t> </a:t>
            </a:r>
            <a:r>
              <a:rPr sz="2400" spc="-15" dirty="0">
                <a:latin typeface="Carlito"/>
                <a:cs typeface="Carlito"/>
              </a:rPr>
              <a:t>distinguer</a:t>
            </a:r>
            <a:r>
              <a:rPr sz="2400" spc="75" dirty="0">
                <a:latin typeface="Carlito"/>
                <a:cs typeface="Carlito"/>
              </a:rPr>
              <a:t> </a:t>
            </a:r>
            <a:r>
              <a:rPr sz="2400" spc="-20" dirty="0">
                <a:latin typeface="Carlito"/>
                <a:cs typeface="Carlito"/>
              </a:rPr>
              <a:t>entre	</a:t>
            </a:r>
            <a:r>
              <a:rPr sz="2400" spc="-5" dirty="0">
                <a:latin typeface="Carlito"/>
                <a:cs typeface="Carlito"/>
              </a:rPr>
              <a:t>3</a:t>
            </a:r>
            <a:r>
              <a:rPr sz="2400" spc="15" dirty="0">
                <a:latin typeface="Carlito"/>
                <a:cs typeface="Carlito"/>
              </a:rPr>
              <a:t> </a:t>
            </a:r>
            <a:r>
              <a:rPr sz="2400" spc="-5" dirty="0">
                <a:latin typeface="Carlito"/>
                <a:cs typeface="Carlito"/>
              </a:rPr>
              <a:t>types	</a:t>
            </a:r>
            <a:r>
              <a:rPr sz="2400" spc="-10" dirty="0">
                <a:latin typeface="Carlito"/>
                <a:cs typeface="Carlito"/>
              </a:rPr>
              <a:t>de</a:t>
            </a:r>
            <a:r>
              <a:rPr sz="2400" spc="-5" dirty="0">
                <a:latin typeface="Carlito"/>
                <a:cs typeface="Carlito"/>
              </a:rPr>
              <a:t> </a:t>
            </a:r>
            <a:r>
              <a:rPr sz="2400" spc="-10" dirty="0">
                <a:latin typeface="Carlito"/>
                <a:cs typeface="Carlito"/>
              </a:rPr>
              <a:t>mémoire:</a:t>
            </a:r>
            <a:endParaRPr sz="2400" dirty="0">
              <a:latin typeface="Carlito"/>
              <a:cs typeface="Carlito"/>
            </a:endParaRPr>
          </a:p>
          <a:p>
            <a:pPr marL="556260" lvl="1" indent="-342900">
              <a:lnSpc>
                <a:spcPct val="100000"/>
              </a:lnSpc>
              <a:spcBef>
                <a:spcPts val="1875"/>
              </a:spcBef>
              <a:buClr>
                <a:schemeClr val="tx1"/>
              </a:buClr>
              <a:buSzPct val="95454"/>
              <a:buFont typeface="Arial" panose="020B0604020202020204" pitchFamily="34" charset="0"/>
              <a:buChar char="•"/>
              <a:tabLst>
                <a:tab pos="434340" algn="l"/>
                <a:tab pos="3097530" algn="l"/>
              </a:tabLst>
            </a:pPr>
            <a:r>
              <a:rPr sz="2400" spc="-5" dirty="0">
                <a:latin typeface="Carlito"/>
                <a:cs typeface="Carlito"/>
              </a:rPr>
              <a:t>La </a:t>
            </a:r>
            <a:r>
              <a:rPr sz="2400" b="1" i="1" spc="-5" dirty="0">
                <a:latin typeface="Carlito"/>
                <a:cs typeface="Carlito"/>
              </a:rPr>
              <a:t>Mémoire</a:t>
            </a:r>
            <a:r>
              <a:rPr sz="2400" b="1" i="1" spc="15" dirty="0">
                <a:latin typeface="Carlito"/>
                <a:cs typeface="Carlito"/>
              </a:rPr>
              <a:t> </a:t>
            </a:r>
            <a:r>
              <a:rPr sz="2400" b="1" i="1" spc="-10" dirty="0">
                <a:latin typeface="Carlito"/>
                <a:cs typeface="Carlito"/>
              </a:rPr>
              <a:t>vive</a:t>
            </a:r>
            <a:r>
              <a:rPr sz="2400" b="1" i="1" spc="20" dirty="0">
                <a:latin typeface="Carlito"/>
                <a:cs typeface="Carlito"/>
              </a:rPr>
              <a:t> </a:t>
            </a:r>
            <a:r>
              <a:rPr sz="2400" b="1" i="1" spc="-5" dirty="0">
                <a:latin typeface="Carlito"/>
                <a:cs typeface="Carlito"/>
              </a:rPr>
              <a:t>RAM	</a:t>
            </a:r>
            <a:r>
              <a:rPr sz="2400" b="1" spc="-10" dirty="0">
                <a:latin typeface="Carlito"/>
                <a:cs typeface="Carlito"/>
              </a:rPr>
              <a:t>LPDDR </a:t>
            </a:r>
            <a:r>
              <a:rPr sz="2400" spc="-10" dirty="0">
                <a:latin typeface="Carlito"/>
                <a:cs typeface="Carlito"/>
              </a:rPr>
              <a:t>(</a:t>
            </a:r>
            <a:r>
              <a:rPr sz="2400" i="1" spc="-10" dirty="0">
                <a:latin typeface="Carlito"/>
                <a:cs typeface="Carlito"/>
              </a:rPr>
              <a:t>Low </a:t>
            </a:r>
            <a:r>
              <a:rPr sz="2400" i="1" spc="-15" dirty="0">
                <a:latin typeface="Carlito"/>
                <a:cs typeface="Carlito"/>
              </a:rPr>
              <a:t>Power </a:t>
            </a:r>
            <a:r>
              <a:rPr sz="2400" i="1" spc="-5" dirty="0">
                <a:latin typeface="Carlito"/>
                <a:cs typeface="Carlito"/>
              </a:rPr>
              <a:t>DDR) </a:t>
            </a:r>
            <a:r>
              <a:rPr sz="2400" spc="-5" dirty="0">
                <a:latin typeface="Carlito"/>
                <a:cs typeface="Carlito"/>
              </a:rPr>
              <a:t>( </a:t>
            </a:r>
            <a:r>
              <a:rPr sz="2400" b="1" i="1" spc="-5" dirty="0">
                <a:latin typeface="Carlito"/>
                <a:cs typeface="Carlito"/>
              </a:rPr>
              <a:t>4Go </a:t>
            </a:r>
            <a:r>
              <a:rPr sz="2400" spc="-5" dirty="0">
                <a:latin typeface="Carlito"/>
                <a:cs typeface="Carlito"/>
              </a:rPr>
              <a:t>à </a:t>
            </a:r>
            <a:r>
              <a:rPr sz="2400" b="1" i="1" spc="-5" dirty="0">
                <a:latin typeface="Carlito"/>
                <a:cs typeface="Carlito"/>
              </a:rPr>
              <a:t>16 Go</a:t>
            </a:r>
            <a:r>
              <a:rPr sz="2400" b="1" i="1" spc="85" dirty="0">
                <a:latin typeface="Carlito"/>
                <a:cs typeface="Carlito"/>
              </a:rPr>
              <a:t> </a:t>
            </a:r>
            <a:r>
              <a:rPr sz="2400" spc="-5" dirty="0">
                <a:latin typeface="Carlito"/>
                <a:cs typeface="Carlito"/>
              </a:rPr>
              <a:t>)</a:t>
            </a:r>
            <a:endParaRPr sz="2400" dirty="0">
              <a:latin typeface="Carlito"/>
              <a:cs typeface="Carlito"/>
            </a:endParaRPr>
          </a:p>
          <a:p>
            <a:pPr marL="556260" lvl="1" indent="-342900">
              <a:lnSpc>
                <a:spcPct val="100000"/>
              </a:lnSpc>
              <a:spcBef>
                <a:spcPts val="1920"/>
              </a:spcBef>
              <a:buClr>
                <a:schemeClr val="tx1"/>
              </a:buClr>
              <a:buSzPct val="95454"/>
              <a:buFont typeface="Arial" panose="020B0604020202020204" pitchFamily="34" charset="0"/>
              <a:buChar char="•"/>
              <a:tabLst>
                <a:tab pos="434340" algn="l"/>
                <a:tab pos="5138420" algn="l"/>
              </a:tabLst>
            </a:pPr>
            <a:r>
              <a:rPr sz="2400" spc="-5" dirty="0">
                <a:latin typeface="Carlito"/>
                <a:cs typeface="Carlito"/>
              </a:rPr>
              <a:t>La </a:t>
            </a:r>
            <a:r>
              <a:rPr sz="2400" b="1" i="1" spc="-10" dirty="0">
                <a:latin typeface="Carlito"/>
                <a:cs typeface="Carlito"/>
              </a:rPr>
              <a:t>Mémoire </a:t>
            </a:r>
            <a:r>
              <a:rPr sz="2400" b="1" i="1" spc="-15" dirty="0">
                <a:latin typeface="Carlito"/>
                <a:cs typeface="Carlito"/>
              </a:rPr>
              <a:t>interne </a:t>
            </a:r>
            <a:r>
              <a:rPr sz="2400" spc="-5" dirty="0">
                <a:latin typeface="Carlito"/>
                <a:cs typeface="Carlito"/>
              </a:rPr>
              <a:t>=</a:t>
            </a:r>
            <a:r>
              <a:rPr sz="2400" spc="100" dirty="0">
                <a:latin typeface="Carlito"/>
                <a:cs typeface="Carlito"/>
              </a:rPr>
              <a:t> </a:t>
            </a:r>
            <a:r>
              <a:rPr sz="2400" spc="-10" dirty="0">
                <a:latin typeface="Carlito"/>
                <a:cs typeface="Carlito"/>
              </a:rPr>
              <a:t>Mémoire</a:t>
            </a:r>
            <a:r>
              <a:rPr sz="2400" spc="30" dirty="0">
                <a:latin typeface="Carlito"/>
                <a:cs typeface="Carlito"/>
              </a:rPr>
              <a:t> </a:t>
            </a:r>
            <a:r>
              <a:rPr sz="2400" spc="-15" dirty="0">
                <a:latin typeface="Carlito"/>
                <a:cs typeface="Carlito"/>
              </a:rPr>
              <a:t>intégrée	</a:t>
            </a:r>
            <a:r>
              <a:rPr sz="2400" spc="-5" dirty="0">
                <a:latin typeface="Carlito"/>
                <a:cs typeface="Carlito"/>
              </a:rPr>
              <a:t>( </a:t>
            </a:r>
            <a:r>
              <a:rPr sz="2400" b="1" i="1" spc="-5" dirty="0">
                <a:latin typeface="Carlito"/>
                <a:cs typeface="Carlito"/>
              </a:rPr>
              <a:t>jusquà 1T </a:t>
            </a:r>
            <a:r>
              <a:rPr sz="2400" spc="-5" dirty="0">
                <a:latin typeface="Carlito"/>
                <a:cs typeface="Carlito"/>
              </a:rPr>
              <a:t>) </a:t>
            </a:r>
            <a:r>
              <a:rPr sz="2400" spc="-15" dirty="0">
                <a:latin typeface="Carlito"/>
                <a:cs typeface="Carlito"/>
              </a:rPr>
              <a:t>(souvent </a:t>
            </a:r>
            <a:r>
              <a:rPr sz="2400" spc="-5" dirty="0">
                <a:latin typeface="Carlito"/>
                <a:cs typeface="Carlito"/>
              </a:rPr>
              <a:t>appelée</a:t>
            </a:r>
            <a:r>
              <a:rPr sz="2400" spc="50" dirty="0">
                <a:latin typeface="Carlito"/>
                <a:cs typeface="Carlito"/>
              </a:rPr>
              <a:t> </a:t>
            </a:r>
            <a:r>
              <a:rPr sz="2400" b="1" i="1" spc="-10" dirty="0">
                <a:latin typeface="Carlito"/>
                <a:cs typeface="Carlito"/>
              </a:rPr>
              <a:t>ROM)</a:t>
            </a:r>
            <a:r>
              <a:rPr sz="2400" spc="-10" dirty="0">
                <a:latin typeface="Carlito"/>
                <a:cs typeface="Carlito"/>
              </a:rPr>
              <a:t>.</a:t>
            </a:r>
            <a:endParaRPr sz="2400" dirty="0">
              <a:latin typeface="Carlito"/>
              <a:cs typeface="Carlito"/>
            </a:endParaRPr>
          </a:p>
          <a:p>
            <a:pPr marL="556260" lvl="1" indent="-342900">
              <a:lnSpc>
                <a:spcPct val="100000"/>
              </a:lnSpc>
              <a:spcBef>
                <a:spcPts val="1925"/>
              </a:spcBef>
              <a:buClr>
                <a:schemeClr val="tx1"/>
              </a:buClr>
              <a:buSzPct val="95454"/>
              <a:buFont typeface="Arial" panose="020B0604020202020204" pitchFamily="34" charset="0"/>
              <a:buChar char="•"/>
              <a:tabLst>
                <a:tab pos="434340" algn="l"/>
                <a:tab pos="7513320" algn="l"/>
              </a:tabLst>
            </a:pPr>
            <a:r>
              <a:rPr sz="2400" spc="-5" dirty="0">
                <a:latin typeface="Carlito"/>
                <a:cs typeface="Carlito"/>
              </a:rPr>
              <a:t>La </a:t>
            </a:r>
            <a:r>
              <a:rPr sz="2400" spc="-10" dirty="0">
                <a:latin typeface="Carlito"/>
                <a:cs typeface="Carlito"/>
              </a:rPr>
              <a:t>possibilité d'ajouter </a:t>
            </a:r>
            <a:r>
              <a:rPr sz="2400" spc="-5" dirty="0">
                <a:latin typeface="Carlito"/>
                <a:cs typeface="Carlito"/>
              </a:rPr>
              <a:t>de la </a:t>
            </a:r>
            <a:r>
              <a:rPr sz="2400" b="1" spc="-10" dirty="0">
                <a:latin typeface="Carlito"/>
                <a:cs typeface="Carlito"/>
              </a:rPr>
              <a:t>Mémoire </a:t>
            </a:r>
            <a:r>
              <a:rPr sz="2400" b="1" spc="-20" dirty="0">
                <a:latin typeface="Carlito"/>
                <a:cs typeface="Carlito"/>
              </a:rPr>
              <a:t>externe </a:t>
            </a:r>
            <a:r>
              <a:rPr sz="2400" spc="-10" dirty="0">
                <a:latin typeface="Carlito"/>
                <a:cs typeface="Carlito"/>
              </a:rPr>
              <a:t>par</a:t>
            </a:r>
            <a:r>
              <a:rPr sz="2400" spc="229" dirty="0">
                <a:latin typeface="Carlito"/>
                <a:cs typeface="Carlito"/>
              </a:rPr>
              <a:t> </a:t>
            </a:r>
            <a:r>
              <a:rPr sz="2400" b="1" i="1" spc="-15" dirty="0">
                <a:latin typeface="Carlito"/>
                <a:cs typeface="Carlito"/>
              </a:rPr>
              <a:t>carte</a:t>
            </a:r>
            <a:r>
              <a:rPr sz="2400" b="1" i="1" spc="30" dirty="0">
                <a:latin typeface="Carlito"/>
                <a:cs typeface="Carlito"/>
              </a:rPr>
              <a:t> </a:t>
            </a:r>
            <a:r>
              <a:rPr sz="2400" b="1" i="1" spc="-5" dirty="0">
                <a:latin typeface="Carlito"/>
                <a:cs typeface="Carlito"/>
              </a:rPr>
              <a:t>au	</a:t>
            </a:r>
            <a:r>
              <a:rPr sz="2400" b="1" i="1" spc="-10" dirty="0">
                <a:latin typeface="Carlito"/>
                <a:cs typeface="Carlito"/>
              </a:rPr>
              <a:t>format</a:t>
            </a:r>
            <a:r>
              <a:rPr sz="2400" b="1" i="1" spc="-5" dirty="0">
                <a:latin typeface="Carlito"/>
                <a:cs typeface="Carlito"/>
              </a:rPr>
              <a:t> </a:t>
            </a:r>
            <a:r>
              <a:rPr sz="2400" b="1" i="1" spc="-10" dirty="0">
                <a:latin typeface="Carlito"/>
                <a:cs typeface="Carlito"/>
              </a:rPr>
              <a:t>microSD</a:t>
            </a:r>
            <a:endParaRPr sz="2400" dirty="0">
              <a:latin typeface="Carlito"/>
              <a:cs typeface="Carlito"/>
            </a:endParaRPr>
          </a:p>
          <a:p>
            <a:pPr marL="277495">
              <a:lnSpc>
                <a:spcPct val="100000"/>
              </a:lnSpc>
              <a:spcBef>
                <a:spcPts val="1920"/>
              </a:spcBef>
              <a:buClr>
                <a:schemeClr val="tx1"/>
              </a:buClr>
            </a:pPr>
            <a:r>
              <a:rPr sz="2400" i="1" spc="-90" dirty="0">
                <a:latin typeface="Carlito"/>
                <a:cs typeface="Carlito"/>
              </a:rPr>
              <a:t>(</a:t>
            </a:r>
            <a:r>
              <a:rPr sz="2400" spc="-90" dirty="0">
                <a:latin typeface="Arial"/>
                <a:cs typeface="Arial"/>
              </a:rPr>
              <a:t>jusqu’à</a:t>
            </a:r>
            <a:r>
              <a:rPr sz="2400" spc="-130" dirty="0">
                <a:latin typeface="Arial"/>
                <a:cs typeface="Arial"/>
              </a:rPr>
              <a:t> </a:t>
            </a:r>
            <a:r>
              <a:rPr sz="2400" b="1" i="1" spc="-10" dirty="0">
                <a:latin typeface="Carlito"/>
                <a:cs typeface="Carlito"/>
              </a:rPr>
              <a:t>1to</a:t>
            </a:r>
            <a:r>
              <a:rPr sz="2400" i="1" spc="-10" dirty="0">
                <a:latin typeface="Carlito"/>
                <a:cs typeface="Carlito"/>
              </a:rPr>
              <a:t>).</a:t>
            </a:r>
            <a:endParaRPr sz="2400" dirty="0">
              <a:latin typeface="Carlito"/>
              <a:cs typeface="Carlito"/>
            </a:endParaRPr>
          </a:p>
        </p:txBody>
      </p:sp>
      <p:sp>
        <p:nvSpPr>
          <p:cNvPr id="43" name="ZoneTexte 42"/>
          <p:cNvSpPr txBox="1"/>
          <p:nvPr/>
        </p:nvSpPr>
        <p:spPr>
          <a:xfrm>
            <a:off x="669056" y="1370695"/>
            <a:ext cx="6277176" cy="461665"/>
          </a:xfrm>
          <a:prstGeom prst="rect">
            <a:avLst/>
          </a:prstGeom>
          <a:noFill/>
        </p:spPr>
        <p:txBody>
          <a:bodyPr wrap="square" rtlCol="1">
            <a:spAutoFit/>
          </a:bodyPr>
          <a:lstStyle/>
          <a:p>
            <a:r>
              <a:rPr lang="en-US" sz="2400" b="1" dirty="0" smtClean="0">
                <a:cs typeface="+mj-cs"/>
              </a:rPr>
              <a:t>4- Les </a:t>
            </a:r>
            <a:r>
              <a:rPr lang="fr-FR" sz="2400" b="1" dirty="0" smtClean="0">
                <a:cs typeface="+mj-cs"/>
              </a:rPr>
              <a:t>composants</a:t>
            </a:r>
            <a:r>
              <a:rPr lang="en-US" sz="2400" b="1" dirty="0" smtClean="0">
                <a:cs typeface="+mj-cs"/>
              </a:rPr>
              <a:t> des smartphones</a:t>
            </a:r>
            <a:endParaRPr lang="en-US" sz="2400" b="1" dirty="0">
              <a:cs typeface="+mj-cs"/>
            </a:endParaRPr>
          </a:p>
        </p:txBody>
      </p:sp>
    </p:spTree>
    <p:extLst>
      <p:ext uri="{BB962C8B-B14F-4D97-AF65-F5344CB8AC3E}">
        <p14:creationId xmlns:p14="http://schemas.microsoft.com/office/powerpoint/2010/main" val="20667145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42" name="object 3"/>
          <p:cNvSpPr txBox="1">
            <a:spLocks noGrp="1"/>
          </p:cNvSpPr>
          <p:nvPr>
            <p:ph type="title"/>
          </p:nvPr>
        </p:nvSpPr>
        <p:spPr>
          <a:xfrm>
            <a:off x="827639" y="1491132"/>
            <a:ext cx="7981950" cy="382156"/>
          </a:xfrm>
          <a:prstGeom prst="rect">
            <a:avLst/>
          </a:prstGeom>
        </p:spPr>
        <p:txBody>
          <a:bodyPr vert="horz" wrap="square" lIns="0" tIns="12700" rIns="0" bIns="0" rtlCol="0">
            <a:spAutoFit/>
          </a:bodyPr>
          <a:lstStyle/>
          <a:p>
            <a:pPr marL="12700">
              <a:lnSpc>
                <a:spcPct val="100000"/>
              </a:lnSpc>
              <a:spcBef>
                <a:spcPts val="100"/>
              </a:spcBef>
            </a:pPr>
            <a:r>
              <a:rPr lang="fr-FR" sz="2400" b="1" u="none" spc="-345" dirty="0" smtClean="0"/>
              <a:t>5-    </a:t>
            </a:r>
            <a:r>
              <a:rPr sz="2400" b="1" u="none" spc="-45" dirty="0" err="1" smtClean="0">
                <a:solidFill>
                  <a:srgbClr val="000000"/>
                </a:solidFill>
                <a:latin typeface="Times New Roman"/>
                <a:cs typeface="Times New Roman"/>
              </a:rPr>
              <a:t>Système</a:t>
            </a:r>
            <a:r>
              <a:rPr sz="2400" b="1" u="none" spc="-45" dirty="0" smtClean="0">
                <a:solidFill>
                  <a:srgbClr val="000000"/>
                </a:solidFill>
                <a:latin typeface="Times New Roman"/>
                <a:cs typeface="Times New Roman"/>
              </a:rPr>
              <a:t> </a:t>
            </a:r>
            <a:r>
              <a:rPr sz="2400" b="1" u="none" spc="-25" dirty="0" err="1" smtClean="0">
                <a:solidFill>
                  <a:srgbClr val="000000"/>
                </a:solidFill>
                <a:latin typeface="Times New Roman"/>
                <a:cs typeface="Times New Roman"/>
              </a:rPr>
              <a:t>d’</a:t>
            </a:r>
            <a:r>
              <a:rPr sz="2400" b="1" u="none" spc="-50" dirty="0" err="1" smtClean="0">
                <a:solidFill>
                  <a:srgbClr val="000000"/>
                </a:solidFill>
                <a:latin typeface="Times New Roman"/>
                <a:cs typeface="Times New Roman"/>
              </a:rPr>
              <a:t>exploitation</a:t>
            </a:r>
            <a:r>
              <a:rPr lang="fr-FR" sz="2400" b="1" spc="-50" dirty="0" smtClean="0">
                <a:solidFill>
                  <a:srgbClr val="000000"/>
                </a:solidFill>
                <a:latin typeface="Times New Roman"/>
                <a:cs typeface="Times New Roman"/>
              </a:rPr>
              <a:t> </a:t>
            </a:r>
            <a:r>
              <a:rPr sz="2400" b="1" u="none" spc="-844" dirty="0" smtClean="0">
                <a:solidFill>
                  <a:srgbClr val="000000"/>
                </a:solidFill>
                <a:latin typeface="Times New Roman"/>
                <a:cs typeface="Times New Roman"/>
              </a:rPr>
              <a:t> </a:t>
            </a:r>
            <a:r>
              <a:rPr sz="2400" b="1" u="none" spc="-45" dirty="0" smtClean="0">
                <a:solidFill>
                  <a:srgbClr val="000000"/>
                </a:solidFill>
                <a:latin typeface="Times New Roman"/>
                <a:cs typeface="Times New Roman"/>
              </a:rPr>
              <a:t>mobile</a:t>
            </a:r>
            <a:endParaRPr sz="2400" b="1" u="none" spc="-45" dirty="0">
              <a:solidFill>
                <a:srgbClr val="000000"/>
              </a:solidFill>
              <a:latin typeface="Times New Roman"/>
              <a:cs typeface="Times New Roman"/>
            </a:endParaRPr>
          </a:p>
        </p:txBody>
      </p:sp>
      <p:sp>
        <p:nvSpPr>
          <p:cNvPr id="2" name="ZoneTexte 1"/>
          <p:cNvSpPr txBox="1"/>
          <p:nvPr/>
        </p:nvSpPr>
        <p:spPr>
          <a:xfrm>
            <a:off x="508635" y="2257427"/>
            <a:ext cx="10289540" cy="960328"/>
          </a:xfrm>
          <a:prstGeom prst="rect">
            <a:avLst/>
          </a:prstGeom>
          <a:noFill/>
        </p:spPr>
        <p:txBody>
          <a:bodyPr wrap="square" rtlCol="1">
            <a:spAutoFit/>
          </a:bodyPr>
          <a:lstStyle/>
          <a:p>
            <a:pPr marL="104139" marR="5080" indent="-92075" algn="just">
              <a:lnSpc>
                <a:spcPct val="150000"/>
              </a:lnSpc>
              <a:spcBef>
                <a:spcPts val="819"/>
              </a:spcBef>
              <a:buClr>
                <a:schemeClr val="tx1"/>
              </a:buClr>
              <a:buFont typeface="Wingdings"/>
              <a:buChar char=""/>
              <a:tabLst>
                <a:tab pos="448945" algn="l"/>
              </a:tabLst>
            </a:pPr>
            <a:r>
              <a:rPr lang="fr-FR" sz="2000" dirty="0" smtClean="0">
                <a:latin typeface="Times New Roman"/>
                <a:cs typeface="Times New Roman"/>
              </a:rPr>
              <a:t> Un </a:t>
            </a:r>
            <a:r>
              <a:rPr lang="fr-FR" sz="2000" spc="-5" dirty="0">
                <a:latin typeface="Times New Roman"/>
                <a:cs typeface="Times New Roman"/>
              </a:rPr>
              <a:t>système d'exploitation </a:t>
            </a:r>
            <a:r>
              <a:rPr lang="fr-FR" sz="2000" dirty="0">
                <a:latin typeface="Times New Roman"/>
                <a:cs typeface="Times New Roman"/>
              </a:rPr>
              <a:t>mobile (OS) est </a:t>
            </a:r>
            <a:r>
              <a:rPr lang="fr-FR" sz="2000" spc="-5" dirty="0">
                <a:latin typeface="Times New Roman"/>
                <a:cs typeface="Times New Roman"/>
              </a:rPr>
              <a:t>un système d’  </a:t>
            </a:r>
            <a:r>
              <a:rPr lang="fr-FR" sz="2000" dirty="0">
                <a:latin typeface="Times New Roman"/>
                <a:cs typeface="Times New Roman"/>
              </a:rPr>
              <a:t>exploitation conçu pour </a:t>
            </a:r>
            <a:r>
              <a:rPr lang="fr-FR" sz="2000" spc="-5" dirty="0">
                <a:latin typeface="Times New Roman"/>
                <a:cs typeface="Times New Roman"/>
              </a:rPr>
              <a:t>les </a:t>
            </a:r>
            <a:r>
              <a:rPr lang="fr-FR" sz="2000" dirty="0">
                <a:latin typeface="Times New Roman"/>
                <a:cs typeface="Times New Roman"/>
              </a:rPr>
              <a:t>appareils mobiles, et permet d’  </a:t>
            </a:r>
            <a:r>
              <a:rPr lang="fr-FR" sz="2000" spc="-5" dirty="0">
                <a:latin typeface="Times New Roman"/>
                <a:cs typeface="Times New Roman"/>
              </a:rPr>
              <a:t>interagir </a:t>
            </a:r>
            <a:r>
              <a:rPr lang="fr-FR" sz="2000" dirty="0">
                <a:latin typeface="Times New Roman"/>
                <a:cs typeface="Times New Roman"/>
              </a:rPr>
              <a:t>avec </a:t>
            </a:r>
            <a:r>
              <a:rPr lang="fr-FR" sz="2000" spc="-5" dirty="0">
                <a:latin typeface="Times New Roman"/>
                <a:cs typeface="Times New Roman"/>
              </a:rPr>
              <a:t>les </a:t>
            </a:r>
            <a:r>
              <a:rPr lang="fr-FR" sz="2000" dirty="0">
                <a:latin typeface="Times New Roman"/>
                <a:cs typeface="Times New Roman"/>
              </a:rPr>
              <a:t>écrans </a:t>
            </a:r>
            <a:r>
              <a:rPr lang="fr-FR" sz="2000" spc="-5" dirty="0">
                <a:latin typeface="Times New Roman"/>
                <a:cs typeface="Times New Roman"/>
              </a:rPr>
              <a:t>tactiles des smartphones</a:t>
            </a:r>
            <a:r>
              <a:rPr lang="fr-FR" sz="2000" spc="170" dirty="0">
                <a:latin typeface="Times New Roman"/>
                <a:cs typeface="Times New Roman"/>
              </a:rPr>
              <a:t> </a:t>
            </a:r>
            <a:r>
              <a:rPr lang="fr-FR" sz="2000" spc="-5" dirty="0">
                <a:latin typeface="Times New Roman"/>
                <a:cs typeface="Times New Roman"/>
              </a:rPr>
              <a:t>tablettes.</a:t>
            </a:r>
            <a:endParaRPr lang="fr-FR" sz="2000" dirty="0">
              <a:latin typeface="Times New Roman"/>
              <a:cs typeface="Times New Roman"/>
            </a:endParaRPr>
          </a:p>
        </p:txBody>
      </p:sp>
      <p:sp>
        <p:nvSpPr>
          <p:cNvPr id="3" name="ZoneTexte 2"/>
          <p:cNvSpPr txBox="1"/>
          <p:nvPr/>
        </p:nvSpPr>
        <p:spPr>
          <a:xfrm>
            <a:off x="470886" y="3533901"/>
            <a:ext cx="11250228" cy="2067233"/>
          </a:xfrm>
          <a:prstGeom prst="rect">
            <a:avLst/>
          </a:prstGeom>
          <a:noFill/>
        </p:spPr>
        <p:txBody>
          <a:bodyPr wrap="square" rtlCol="1">
            <a:spAutoFit/>
          </a:bodyPr>
          <a:lstStyle/>
          <a:p>
            <a:pPr marL="354964" marR="34290" indent="-342900" algn="just">
              <a:lnSpc>
                <a:spcPct val="150000"/>
              </a:lnSpc>
              <a:spcBef>
                <a:spcPts val="1380"/>
              </a:spcBef>
              <a:buClr>
                <a:schemeClr val="tx1"/>
              </a:buClr>
              <a:buFont typeface="Wingdings" panose="05000000000000000000" pitchFamily="2" charset="2"/>
              <a:buChar char="v"/>
              <a:tabLst>
                <a:tab pos="353695" algn="l"/>
              </a:tabLst>
            </a:pPr>
            <a:r>
              <a:rPr lang="fr-FR" sz="2000" b="1" i="1" spc="-5" dirty="0">
                <a:latin typeface="Times New Roman"/>
                <a:cs typeface="Times New Roman"/>
              </a:rPr>
              <a:t>Android et iOS: </a:t>
            </a:r>
            <a:r>
              <a:rPr lang="fr-FR" sz="2000" spc="-5" dirty="0">
                <a:latin typeface="Times New Roman"/>
                <a:cs typeface="Times New Roman"/>
              </a:rPr>
              <a:t>sont </a:t>
            </a:r>
            <a:r>
              <a:rPr lang="fr-FR" sz="2000" dirty="0">
                <a:latin typeface="Times New Roman"/>
                <a:cs typeface="Times New Roman"/>
              </a:rPr>
              <a:t>les </a:t>
            </a:r>
            <a:r>
              <a:rPr lang="fr-FR" sz="2000" spc="-5" dirty="0">
                <a:latin typeface="Times New Roman"/>
                <a:cs typeface="Times New Roman"/>
              </a:rPr>
              <a:t>systèmes </a:t>
            </a:r>
            <a:r>
              <a:rPr lang="fr-FR" sz="2000" dirty="0">
                <a:latin typeface="Times New Roman"/>
                <a:cs typeface="Times New Roman"/>
              </a:rPr>
              <a:t>les </a:t>
            </a:r>
            <a:r>
              <a:rPr lang="fr-FR" sz="2000" spc="-5" dirty="0">
                <a:latin typeface="Times New Roman"/>
                <a:cs typeface="Times New Roman"/>
              </a:rPr>
              <a:t>plus populaires et </a:t>
            </a:r>
            <a:r>
              <a:rPr lang="fr-FR" sz="2000" dirty="0">
                <a:latin typeface="Times New Roman"/>
                <a:cs typeface="Times New Roman"/>
              </a:rPr>
              <a:t>les  </a:t>
            </a:r>
            <a:r>
              <a:rPr lang="fr-FR" sz="2000" spc="-5" dirty="0">
                <a:latin typeface="Times New Roman"/>
                <a:cs typeface="Times New Roman"/>
              </a:rPr>
              <a:t>plus</a:t>
            </a:r>
            <a:r>
              <a:rPr lang="fr-FR" sz="2000" spc="-10" dirty="0">
                <a:latin typeface="Times New Roman"/>
                <a:cs typeface="Times New Roman"/>
              </a:rPr>
              <a:t> </a:t>
            </a:r>
            <a:r>
              <a:rPr lang="fr-FR" sz="2000" spc="-5" dirty="0">
                <a:latin typeface="Times New Roman"/>
                <a:cs typeface="Times New Roman"/>
              </a:rPr>
              <a:t>utilisés:</a:t>
            </a:r>
            <a:endParaRPr lang="fr-FR" sz="2000" dirty="0">
              <a:latin typeface="Times New Roman"/>
              <a:cs typeface="Times New Roman"/>
            </a:endParaRPr>
          </a:p>
          <a:p>
            <a:pPr marL="556895" marR="34290" lvl="1" indent="-342900" algn="just">
              <a:lnSpc>
                <a:spcPct val="150000"/>
              </a:lnSpc>
              <a:spcBef>
                <a:spcPts val="430"/>
              </a:spcBef>
              <a:buClr>
                <a:schemeClr val="tx1"/>
              </a:buClr>
              <a:buSzPct val="95833"/>
              <a:buFont typeface="Arial" panose="020B0604020202020204" pitchFamily="34" charset="0"/>
              <a:buChar char="•"/>
              <a:tabLst>
                <a:tab pos="457200" algn="l"/>
              </a:tabLst>
            </a:pPr>
            <a:r>
              <a:rPr lang="fr-FR" sz="2000" spc="-5" dirty="0">
                <a:latin typeface="Times New Roman"/>
                <a:cs typeface="Times New Roman"/>
              </a:rPr>
              <a:t>iOS est </a:t>
            </a:r>
            <a:r>
              <a:rPr lang="fr-FR" sz="2000" dirty="0">
                <a:latin typeface="Times New Roman"/>
                <a:cs typeface="Times New Roman"/>
              </a:rPr>
              <a:t>le </a:t>
            </a:r>
            <a:r>
              <a:rPr lang="fr-FR" sz="2000" spc="-5" dirty="0">
                <a:latin typeface="Times New Roman"/>
                <a:cs typeface="Times New Roman"/>
              </a:rPr>
              <a:t>système d’exploitation développé </a:t>
            </a:r>
            <a:r>
              <a:rPr lang="fr-FR" sz="2000" spc="-10" dirty="0">
                <a:latin typeface="Times New Roman"/>
                <a:cs typeface="Times New Roman"/>
              </a:rPr>
              <a:t>par </a:t>
            </a:r>
            <a:r>
              <a:rPr lang="fr-FR" sz="2000" b="1" spc="-5" dirty="0">
                <a:latin typeface="Times New Roman"/>
                <a:cs typeface="Times New Roman"/>
              </a:rPr>
              <a:t>Apple </a:t>
            </a:r>
            <a:r>
              <a:rPr lang="fr-FR" sz="2000" dirty="0">
                <a:latin typeface="Times New Roman"/>
                <a:cs typeface="Times New Roman"/>
              </a:rPr>
              <a:t>pour </a:t>
            </a:r>
            <a:r>
              <a:rPr lang="fr-FR" sz="2000" spc="-5" dirty="0">
                <a:latin typeface="Times New Roman"/>
                <a:cs typeface="Times New Roman"/>
              </a:rPr>
              <a:t>ses (iPhones </a:t>
            </a:r>
            <a:r>
              <a:rPr lang="fr-FR" sz="2000" spc="-10" dirty="0">
                <a:latin typeface="Times New Roman"/>
                <a:cs typeface="Times New Roman"/>
              </a:rPr>
              <a:t>et  </a:t>
            </a:r>
            <a:r>
              <a:rPr lang="fr-FR" sz="2000" dirty="0">
                <a:latin typeface="Times New Roman"/>
                <a:cs typeface="Times New Roman"/>
              </a:rPr>
              <a:t>iPads).</a:t>
            </a:r>
          </a:p>
          <a:p>
            <a:pPr marL="556895" marR="31115" lvl="1" indent="-342900" algn="just">
              <a:lnSpc>
                <a:spcPct val="150000"/>
              </a:lnSpc>
              <a:spcBef>
                <a:spcPts val="610"/>
              </a:spcBef>
              <a:buClr>
                <a:schemeClr val="tx1"/>
              </a:buClr>
              <a:buSzPct val="95833"/>
              <a:buFont typeface="Arial" panose="020B0604020202020204" pitchFamily="34" charset="0"/>
              <a:buChar char="•"/>
              <a:tabLst>
                <a:tab pos="516255" algn="l"/>
              </a:tabLst>
            </a:pPr>
            <a:r>
              <a:rPr lang="fr-FR" sz="2000" spc="-5" dirty="0">
                <a:latin typeface="Times New Roman"/>
                <a:cs typeface="Times New Roman"/>
              </a:rPr>
              <a:t>Android </a:t>
            </a:r>
            <a:r>
              <a:rPr lang="fr-FR" sz="2000" dirty="0">
                <a:latin typeface="Times New Roman"/>
                <a:cs typeface="Times New Roman"/>
              </a:rPr>
              <a:t>est le </a:t>
            </a:r>
            <a:r>
              <a:rPr lang="fr-FR" sz="2000" spc="-5" dirty="0">
                <a:latin typeface="Times New Roman"/>
                <a:cs typeface="Times New Roman"/>
              </a:rPr>
              <a:t>système d’exploitation développé </a:t>
            </a:r>
            <a:r>
              <a:rPr lang="fr-FR" sz="2000" dirty="0">
                <a:latin typeface="Times New Roman"/>
                <a:cs typeface="Times New Roman"/>
              </a:rPr>
              <a:t>par </a:t>
            </a:r>
            <a:r>
              <a:rPr lang="fr-FR" sz="2000" b="1" dirty="0" err="1">
                <a:latin typeface="Times New Roman"/>
                <a:cs typeface="Times New Roman"/>
              </a:rPr>
              <a:t>google</a:t>
            </a:r>
            <a:r>
              <a:rPr lang="fr-FR" sz="2000" b="1" dirty="0">
                <a:latin typeface="Times New Roman"/>
                <a:cs typeface="Times New Roman"/>
              </a:rPr>
              <a:t>, </a:t>
            </a:r>
            <a:r>
              <a:rPr lang="fr-FR" sz="2000" dirty="0">
                <a:latin typeface="Times New Roman"/>
                <a:cs typeface="Times New Roman"/>
              </a:rPr>
              <a:t>et </a:t>
            </a:r>
            <a:r>
              <a:rPr lang="fr-FR" sz="2000" spc="-5" dirty="0">
                <a:latin typeface="Times New Roman"/>
                <a:cs typeface="Times New Roman"/>
              </a:rPr>
              <a:t>est adopté </a:t>
            </a:r>
            <a:r>
              <a:rPr lang="fr-FR" sz="2000" dirty="0">
                <a:latin typeface="Times New Roman"/>
                <a:cs typeface="Times New Roman"/>
              </a:rPr>
              <a:t>par  la </a:t>
            </a:r>
            <a:r>
              <a:rPr lang="fr-FR" sz="2000" spc="-5" dirty="0">
                <a:latin typeface="Times New Roman"/>
                <a:cs typeface="Times New Roman"/>
              </a:rPr>
              <a:t>majorité des fabricants des appareils </a:t>
            </a:r>
            <a:r>
              <a:rPr lang="fr-FR" sz="2000" spc="-10" dirty="0">
                <a:latin typeface="Times New Roman"/>
                <a:cs typeface="Times New Roman"/>
              </a:rPr>
              <a:t>mobiles </a:t>
            </a:r>
            <a:r>
              <a:rPr lang="fr-FR" sz="2000" spc="-5" dirty="0">
                <a:latin typeface="Times New Roman"/>
                <a:cs typeface="Times New Roman"/>
              </a:rPr>
              <a:t>comme: Samsung, </a:t>
            </a:r>
            <a:r>
              <a:rPr lang="fr-FR" sz="2000" dirty="0" err="1">
                <a:latin typeface="Times New Roman"/>
                <a:cs typeface="Times New Roman"/>
              </a:rPr>
              <a:t>huawei</a:t>
            </a:r>
            <a:r>
              <a:rPr lang="fr-FR" sz="2000" dirty="0">
                <a:latin typeface="Times New Roman"/>
                <a:cs typeface="Times New Roman"/>
              </a:rPr>
              <a:t>,  Google,…</a:t>
            </a:r>
          </a:p>
        </p:txBody>
      </p:sp>
    </p:spTree>
    <p:extLst>
      <p:ext uri="{BB962C8B-B14F-4D97-AF65-F5344CB8AC3E}">
        <p14:creationId xmlns:p14="http://schemas.microsoft.com/office/powerpoint/2010/main" val="1783763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6" name="ZoneTexte 5"/>
          <p:cNvSpPr txBox="1"/>
          <p:nvPr/>
        </p:nvSpPr>
        <p:spPr>
          <a:xfrm>
            <a:off x="508635" y="2309258"/>
            <a:ext cx="10619873" cy="3593291"/>
          </a:xfrm>
          <a:prstGeom prst="rect">
            <a:avLst/>
          </a:prstGeom>
          <a:noFill/>
        </p:spPr>
        <p:txBody>
          <a:bodyPr wrap="square" rtlCol="1">
            <a:spAutoFit/>
          </a:bodyPr>
          <a:lstStyle/>
          <a:p>
            <a:pPr marL="354965" marR="5080" indent="-342900" algn="just">
              <a:lnSpc>
                <a:spcPct val="150000"/>
              </a:lnSpc>
              <a:spcBef>
                <a:spcPts val="100"/>
              </a:spcBef>
              <a:buClr>
                <a:schemeClr val="tx1"/>
              </a:buClr>
              <a:buFont typeface="Wingdings" panose="05000000000000000000" pitchFamily="2" charset="2"/>
              <a:buChar char="v"/>
              <a:tabLst>
                <a:tab pos="418465" algn="l"/>
              </a:tabLst>
            </a:pPr>
            <a:r>
              <a:rPr lang="fr-FR" sz="2000" spc="-5" dirty="0" err="1">
                <a:latin typeface="Times New Roman"/>
                <a:cs typeface="Times New Roman"/>
              </a:rPr>
              <a:t>Symbian</a:t>
            </a:r>
            <a:r>
              <a:rPr lang="fr-FR" sz="2000" spc="-5" dirty="0">
                <a:latin typeface="Times New Roman"/>
                <a:cs typeface="Times New Roman"/>
              </a:rPr>
              <a:t>, BlackBerry OS </a:t>
            </a:r>
            <a:r>
              <a:rPr lang="fr-FR" sz="2000" dirty="0">
                <a:latin typeface="Times New Roman"/>
                <a:cs typeface="Times New Roman"/>
              </a:rPr>
              <a:t>et </a:t>
            </a:r>
            <a:r>
              <a:rPr lang="fr-FR" sz="2000" spc="-20" dirty="0">
                <a:latin typeface="Times New Roman"/>
                <a:cs typeface="Times New Roman"/>
              </a:rPr>
              <a:t>Windows </a:t>
            </a:r>
            <a:r>
              <a:rPr lang="fr-FR" sz="2000" dirty="0">
                <a:latin typeface="Times New Roman"/>
                <a:cs typeface="Times New Roman"/>
              </a:rPr>
              <a:t>Mobile </a:t>
            </a:r>
            <a:r>
              <a:rPr lang="fr-FR" sz="2000" spc="-5" dirty="0">
                <a:latin typeface="Times New Roman"/>
                <a:cs typeface="Times New Roman"/>
              </a:rPr>
              <a:t>ont </a:t>
            </a:r>
            <a:r>
              <a:rPr lang="fr-FR" sz="2000" spc="-10" dirty="0">
                <a:latin typeface="Times New Roman"/>
                <a:cs typeface="Times New Roman"/>
              </a:rPr>
              <a:t>été </a:t>
            </a:r>
            <a:r>
              <a:rPr lang="fr-FR" sz="2000" spc="-5" dirty="0">
                <a:latin typeface="Times New Roman"/>
                <a:cs typeface="Times New Roman"/>
              </a:rPr>
              <a:t>les  </a:t>
            </a:r>
            <a:r>
              <a:rPr lang="fr-FR" sz="2000" spc="-10" dirty="0">
                <a:latin typeface="Times New Roman"/>
                <a:cs typeface="Times New Roman"/>
              </a:rPr>
              <a:t>systèmes </a:t>
            </a:r>
            <a:r>
              <a:rPr lang="fr-FR" sz="2000" dirty="0">
                <a:latin typeface="Times New Roman"/>
                <a:cs typeface="Times New Roman"/>
              </a:rPr>
              <a:t>les plus </a:t>
            </a:r>
            <a:r>
              <a:rPr lang="fr-FR" sz="2000" spc="-5" dirty="0">
                <a:latin typeface="Times New Roman"/>
                <a:cs typeface="Times New Roman"/>
              </a:rPr>
              <a:t>utilisé, avant </a:t>
            </a:r>
            <a:r>
              <a:rPr lang="fr-FR" sz="2000" spc="-5" dirty="0" err="1">
                <a:latin typeface="Times New Roman"/>
                <a:cs typeface="Times New Roman"/>
              </a:rPr>
              <a:t>android</a:t>
            </a:r>
            <a:r>
              <a:rPr lang="fr-FR" sz="2000" spc="-5" dirty="0">
                <a:latin typeface="Times New Roman"/>
                <a:cs typeface="Times New Roman"/>
              </a:rPr>
              <a:t> </a:t>
            </a:r>
            <a:r>
              <a:rPr lang="fr-FR" sz="2000" spc="-10" dirty="0">
                <a:latin typeface="Times New Roman"/>
                <a:cs typeface="Times New Roman"/>
              </a:rPr>
              <a:t>et </a:t>
            </a:r>
            <a:r>
              <a:rPr lang="fr-FR" sz="2000" dirty="0" err="1">
                <a:latin typeface="Times New Roman"/>
                <a:cs typeface="Times New Roman"/>
              </a:rPr>
              <a:t>ios</a:t>
            </a:r>
            <a:r>
              <a:rPr lang="fr-FR" sz="2000" dirty="0">
                <a:latin typeface="Times New Roman"/>
                <a:cs typeface="Times New Roman"/>
              </a:rPr>
              <a:t>, </a:t>
            </a:r>
            <a:r>
              <a:rPr lang="fr-FR" sz="2000" spc="-5" dirty="0">
                <a:latin typeface="Times New Roman"/>
                <a:cs typeface="Times New Roman"/>
              </a:rPr>
              <a:t>ils sont conçus </a:t>
            </a:r>
            <a:r>
              <a:rPr lang="fr-FR" sz="2000" dirty="0">
                <a:latin typeface="Times New Roman"/>
                <a:cs typeface="Times New Roman"/>
              </a:rPr>
              <a:t>pour  des </a:t>
            </a:r>
            <a:r>
              <a:rPr lang="fr-FR" sz="2000" spc="-5" dirty="0">
                <a:latin typeface="Times New Roman"/>
                <a:cs typeface="Times New Roman"/>
              </a:rPr>
              <a:t>claviers</a:t>
            </a:r>
            <a:r>
              <a:rPr lang="fr-FR" sz="2000" spc="-20" dirty="0">
                <a:latin typeface="Times New Roman"/>
                <a:cs typeface="Times New Roman"/>
              </a:rPr>
              <a:t> </a:t>
            </a:r>
            <a:r>
              <a:rPr lang="fr-FR" sz="2000" dirty="0">
                <a:latin typeface="Times New Roman"/>
                <a:cs typeface="Times New Roman"/>
              </a:rPr>
              <a:t>physiques.</a:t>
            </a:r>
          </a:p>
          <a:p>
            <a:pPr marL="537209" lvl="1" indent="-342900">
              <a:lnSpc>
                <a:spcPct val="150000"/>
              </a:lnSpc>
              <a:spcBef>
                <a:spcPts val="910"/>
              </a:spcBef>
              <a:buClr>
                <a:schemeClr val="tx1"/>
              </a:buClr>
              <a:buSzPct val="95833"/>
              <a:buFont typeface="Arial" panose="020B0604020202020204" pitchFamily="34" charset="0"/>
              <a:buChar char="•"/>
              <a:tabLst>
                <a:tab pos="436245" algn="l"/>
                <a:tab pos="1840864" algn="l"/>
              </a:tabLst>
            </a:pPr>
            <a:r>
              <a:rPr lang="fr-FR" sz="2000" b="1" spc="-5" dirty="0" err="1">
                <a:latin typeface="Times New Roman"/>
                <a:cs typeface="Times New Roman"/>
              </a:rPr>
              <a:t>Symbian</a:t>
            </a:r>
            <a:r>
              <a:rPr lang="fr-FR" sz="2000" b="1" spc="-5" dirty="0">
                <a:latin typeface="Times New Roman"/>
                <a:cs typeface="Times New Roman"/>
              </a:rPr>
              <a:t>:	</a:t>
            </a:r>
            <a:r>
              <a:rPr lang="fr-FR" sz="2000" spc="-5" dirty="0">
                <a:latin typeface="Times New Roman"/>
                <a:cs typeface="Times New Roman"/>
              </a:rPr>
              <a:t>Le système </a:t>
            </a:r>
            <a:r>
              <a:rPr lang="fr-FR" sz="2000" dirty="0">
                <a:latin typeface="Times New Roman"/>
                <a:cs typeface="Times New Roman"/>
              </a:rPr>
              <a:t>développé par </a:t>
            </a:r>
            <a:r>
              <a:rPr lang="fr-FR" sz="2000" b="1" i="1" spc="-5" dirty="0">
                <a:latin typeface="Times New Roman"/>
                <a:cs typeface="Times New Roman"/>
              </a:rPr>
              <a:t>Nokia </a:t>
            </a:r>
            <a:r>
              <a:rPr lang="fr-FR" sz="2000" spc="-5" dirty="0">
                <a:latin typeface="Times New Roman"/>
                <a:cs typeface="Times New Roman"/>
              </a:rPr>
              <a:t>pour </a:t>
            </a:r>
            <a:r>
              <a:rPr lang="fr-FR" sz="2000" dirty="0">
                <a:latin typeface="Times New Roman"/>
                <a:cs typeface="Times New Roman"/>
              </a:rPr>
              <a:t>ces</a:t>
            </a:r>
            <a:r>
              <a:rPr lang="fr-FR" sz="2000" spc="-40" dirty="0">
                <a:latin typeface="Times New Roman"/>
                <a:cs typeface="Times New Roman"/>
              </a:rPr>
              <a:t> </a:t>
            </a:r>
            <a:r>
              <a:rPr lang="fr-FR" sz="2000" spc="-5" dirty="0">
                <a:latin typeface="Times New Roman"/>
                <a:cs typeface="Times New Roman"/>
              </a:rPr>
              <a:t>smartphones.</a:t>
            </a:r>
            <a:endParaRPr lang="fr-FR" sz="2000" dirty="0">
              <a:latin typeface="Times New Roman"/>
              <a:cs typeface="Times New Roman"/>
            </a:endParaRPr>
          </a:p>
          <a:p>
            <a:pPr marL="537845" marR="6985" lvl="1" indent="-342900">
              <a:lnSpc>
                <a:spcPct val="150000"/>
              </a:lnSpc>
              <a:spcBef>
                <a:spcPts val="580"/>
              </a:spcBef>
              <a:buClr>
                <a:schemeClr val="tx1"/>
              </a:buClr>
              <a:buSzPct val="95833"/>
              <a:buFont typeface="Arial" panose="020B0604020202020204" pitchFamily="34" charset="0"/>
              <a:buChar char="•"/>
              <a:tabLst>
                <a:tab pos="436245" algn="l"/>
              </a:tabLst>
            </a:pPr>
            <a:r>
              <a:rPr lang="fr-FR" sz="2000" b="1" spc="-5" dirty="0">
                <a:latin typeface="Times New Roman"/>
                <a:cs typeface="Times New Roman"/>
              </a:rPr>
              <a:t>BlackBerry </a:t>
            </a:r>
            <a:r>
              <a:rPr lang="fr-FR" sz="2000" b="1" dirty="0">
                <a:latin typeface="Times New Roman"/>
                <a:cs typeface="Times New Roman"/>
              </a:rPr>
              <a:t>OS : </a:t>
            </a:r>
            <a:r>
              <a:rPr lang="fr-FR" sz="2000" dirty="0">
                <a:latin typeface="Times New Roman"/>
                <a:cs typeface="Times New Roman"/>
              </a:rPr>
              <a:t>Utilisé </a:t>
            </a:r>
            <a:r>
              <a:rPr lang="fr-FR" sz="2000" spc="-5" dirty="0">
                <a:latin typeface="Times New Roman"/>
                <a:cs typeface="Times New Roman"/>
              </a:rPr>
              <a:t>uniquement </a:t>
            </a:r>
            <a:r>
              <a:rPr lang="fr-FR" sz="2000" dirty="0">
                <a:latin typeface="Times New Roman"/>
                <a:cs typeface="Times New Roman"/>
              </a:rPr>
              <a:t>par </a:t>
            </a:r>
            <a:r>
              <a:rPr lang="fr-FR" sz="2000" spc="-5" dirty="0" err="1">
                <a:latin typeface="Times New Roman"/>
                <a:cs typeface="Times New Roman"/>
              </a:rPr>
              <a:t>Research</a:t>
            </a:r>
            <a:r>
              <a:rPr lang="fr-FR" sz="2000" spc="-5" dirty="0">
                <a:latin typeface="Times New Roman"/>
                <a:cs typeface="Times New Roman"/>
              </a:rPr>
              <a:t> </a:t>
            </a:r>
            <a:r>
              <a:rPr lang="fr-FR" sz="2000" spc="-10" dirty="0">
                <a:latin typeface="Times New Roman"/>
                <a:cs typeface="Times New Roman"/>
              </a:rPr>
              <a:t>In </a:t>
            </a:r>
            <a:r>
              <a:rPr lang="fr-FR" sz="2000" dirty="0">
                <a:latin typeface="Times New Roman"/>
                <a:cs typeface="Times New Roman"/>
              </a:rPr>
              <a:t>Motion </a:t>
            </a:r>
            <a:r>
              <a:rPr lang="fr-FR" sz="2000" spc="-5" dirty="0">
                <a:latin typeface="Times New Roman"/>
                <a:cs typeface="Times New Roman"/>
              </a:rPr>
              <a:t>(RIM), il  est </a:t>
            </a:r>
            <a:r>
              <a:rPr lang="fr-FR" sz="2000" dirty="0">
                <a:latin typeface="Times New Roman"/>
                <a:cs typeface="Times New Roman"/>
              </a:rPr>
              <a:t>distingué par son support de Messenger</a:t>
            </a:r>
            <a:r>
              <a:rPr lang="fr-FR" sz="2000" spc="-110" dirty="0">
                <a:latin typeface="Times New Roman"/>
                <a:cs typeface="Times New Roman"/>
              </a:rPr>
              <a:t> </a:t>
            </a:r>
            <a:r>
              <a:rPr lang="fr-FR" sz="2000" i="1" dirty="0">
                <a:latin typeface="Times New Roman"/>
                <a:cs typeface="Times New Roman"/>
              </a:rPr>
              <a:t>BBM</a:t>
            </a:r>
            <a:r>
              <a:rPr lang="fr-FR" sz="2000" dirty="0">
                <a:latin typeface="Times New Roman"/>
                <a:cs typeface="Times New Roman"/>
              </a:rPr>
              <a:t>.</a:t>
            </a:r>
          </a:p>
          <a:p>
            <a:pPr marL="537845" marR="5715" lvl="1" indent="-342900">
              <a:lnSpc>
                <a:spcPct val="150000"/>
              </a:lnSpc>
              <a:spcBef>
                <a:spcPts val="605"/>
              </a:spcBef>
              <a:buClr>
                <a:schemeClr val="tx1"/>
              </a:buClr>
              <a:buSzPct val="96153"/>
              <a:buFont typeface="Arial" panose="020B0604020202020204" pitchFamily="34" charset="0"/>
              <a:buChar char="•"/>
              <a:tabLst>
                <a:tab pos="456565" algn="l"/>
                <a:tab pos="3964304" algn="l"/>
              </a:tabLst>
            </a:pPr>
            <a:r>
              <a:rPr lang="fr-FR" sz="2000" b="1" spc="-10" dirty="0">
                <a:latin typeface="Times New Roman"/>
                <a:cs typeface="Times New Roman"/>
              </a:rPr>
              <a:t>Windows </a:t>
            </a:r>
            <a:r>
              <a:rPr lang="fr-FR" sz="2000" b="1" spc="-5" dirty="0">
                <a:latin typeface="Times New Roman"/>
                <a:cs typeface="Times New Roman"/>
              </a:rPr>
              <a:t>Mobile:</a:t>
            </a:r>
            <a:r>
              <a:rPr lang="fr-FR" sz="2000" b="1" spc="100" dirty="0">
                <a:latin typeface="Times New Roman"/>
                <a:cs typeface="Times New Roman"/>
              </a:rPr>
              <a:t> </a:t>
            </a:r>
            <a:r>
              <a:rPr lang="fr-FR" sz="2000" spc="-5" dirty="0">
                <a:latin typeface="Times New Roman"/>
                <a:cs typeface="Times New Roman"/>
              </a:rPr>
              <a:t>Est</a:t>
            </a:r>
            <a:r>
              <a:rPr lang="fr-FR" sz="2000" spc="50" dirty="0">
                <a:latin typeface="Times New Roman"/>
                <a:cs typeface="Times New Roman"/>
              </a:rPr>
              <a:t> </a:t>
            </a:r>
            <a:r>
              <a:rPr lang="fr-FR" sz="2000" spc="-5" dirty="0">
                <a:latin typeface="Times New Roman"/>
                <a:cs typeface="Times New Roman"/>
              </a:rPr>
              <a:t>le	</a:t>
            </a:r>
            <a:r>
              <a:rPr lang="fr-FR" sz="2000" dirty="0">
                <a:latin typeface="Times New Roman"/>
                <a:cs typeface="Times New Roman"/>
              </a:rPr>
              <a:t>système </a:t>
            </a:r>
            <a:r>
              <a:rPr lang="fr-FR" sz="2000" spc="-5" dirty="0">
                <a:latin typeface="Times New Roman"/>
                <a:cs typeface="Times New Roman"/>
              </a:rPr>
              <a:t>d'exploitation </a:t>
            </a:r>
            <a:r>
              <a:rPr lang="fr-FR" sz="2000" dirty="0">
                <a:latin typeface="Times New Roman"/>
                <a:cs typeface="Times New Roman"/>
              </a:rPr>
              <a:t>mobile </a:t>
            </a:r>
            <a:r>
              <a:rPr lang="fr-FR" sz="2000" spc="-5" dirty="0">
                <a:latin typeface="Times New Roman"/>
                <a:cs typeface="Times New Roman"/>
              </a:rPr>
              <a:t>développé </a:t>
            </a:r>
            <a:r>
              <a:rPr lang="fr-FR" sz="2000" dirty="0">
                <a:latin typeface="Times New Roman"/>
                <a:cs typeface="Times New Roman"/>
              </a:rPr>
              <a:t>par  Microsoft, </a:t>
            </a:r>
            <a:r>
              <a:rPr lang="fr-FR" sz="2000" spc="-5" dirty="0">
                <a:latin typeface="Times New Roman"/>
                <a:cs typeface="Times New Roman"/>
              </a:rPr>
              <a:t>il est remplacé </a:t>
            </a:r>
            <a:r>
              <a:rPr lang="fr-FR" sz="2000" dirty="0">
                <a:latin typeface="Times New Roman"/>
                <a:cs typeface="Times New Roman"/>
              </a:rPr>
              <a:t>par </a:t>
            </a:r>
            <a:r>
              <a:rPr lang="fr-FR" sz="2000" b="1" spc="-10" dirty="0">
                <a:latin typeface="Times New Roman"/>
                <a:cs typeface="Times New Roman"/>
              </a:rPr>
              <a:t>Windows</a:t>
            </a:r>
            <a:r>
              <a:rPr lang="fr-FR" sz="2000" b="1" spc="-25" dirty="0">
                <a:latin typeface="Times New Roman"/>
                <a:cs typeface="Times New Roman"/>
              </a:rPr>
              <a:t> </a:t>
            </a:r>
            <a:r>
              <a:rPr lang="fr-FR" sz="2000" b="1" dirty="0">
                <a:latin typeface="Times New Roman"/>
                <a:cs typeface="Times New Roman"/>
              </a:rPr>
              <a:t>Phone…</a:t>
            </a:r>
            <a:endParaRPr lang="fr-FR" sz="2000" dirty="0">
              <a:latin typeface="Times New Roman"/>
              <a:cs typeface="Times New Roman"/>
            </a:endParaRPr>
          </a:p>
        </p:txBody>
      </p:sp>
      <p:sp>
        <p:nvSpPr>
          <p:cNvPr id="12" name="object 3"/>
          <p:cNvSpPr txBox="1">
            <a:spLocks noGrp="1"/>
          </p:cNvSpPr>
          <p:nvPr>
            <p:ph type="title"/>
          </p:nvPr>
        </p:nvSpPr>
        <p:spPr>
          <a:xfrm>
            <a:off x="827639" y="1491132"/>
            <a:ext cx="7981950" cy="382156"/>
          </a:xfrm>
          <a:prstGeom prst="rect">
            <a:avLst/>
          </a:prstGeom>
        </p:spPr>
        <p:txBody>
          <a:bodyPr vert="horz" wrap="square" lIns="0" tIns="12700" rIns="0" bIns="0" rtlCol="0">
            <a:spAutoFit/>
          </a:bodyPr>
          <a:lstStyle/>
          <a:p>
            <a:pPr marL="12700">
              <a:lnSpc>
                <a:spcPct val="100000"/>
              </a:lnSpc>
              <a:spcBef>
                <a:spcPts val="100"/>
              </a:spcBef>
            </a:pPr>
            <a:r>
              <a:rPr lang="fr-FR" sz="2400" b="1" u="none" spc="-345" dirty="0" smtClean="0"/>
              <a:t>5-    </a:t>
            </a:r>
            <a:r>
              <a:rPr sz="2400" b="1" u="none" spc="-45" dirty="0" err="1" smtClean="0">
                <a:solidFill>
                  <a:srgbClr val="000000"/>
                </a:solidFill>
                <a:latin typeface="Times New Roman"/>
                <a:cs typeface="Times New Roman"/>
              </a:rPr>
              <a:t>Système</a:t>
            </a:r>
            <a:r>
              <a:rPr sz="2400" b="1" u="none" spc="-45" dirty="0" smtClean="0">
                <a:solidFill>
                  <a:srgbClr val="000000"/>
                </a:solidFill>
                <a:latin typeface="Times New Roman"/>
                <a:cs typeface="Times New Roman"/>
              </a:rPr>
              <a:t> </a:t>
            </a:r>
            <a:r>
              <a:rPr sz="2400" b="1" u="none" spc="-25" dirty="0" err="1" smtClean="0">
                <a:solidFill>
                  <a:srgbClr val="000000"/>
                </a:solidFill>
                <a:latin typeface="Times New Roman"/>
                <a:cs typeface="Times New Roman"/>
              </a:rPr>
              <a:t>d’</a:t>
            </a:r>
            <a:r>
              <a:rPr sz="2400" b="1" u="none" spc="-50" dirty="0" err="1" smtClean="0">
                <a:solidFill>
                  <a:srgbClr val="000000"/>
                </a:solidFill>
                <a:latin typeface="Times New Roman"/>
                <a:cs typeface="Times New Roman"/>
              </a:rPr>
              <a:t>exploitation</a:t>
            </a:r>
            <a:r>
              <a:rPr lang="fr-FR" sz="2400" b="1" spc="-50" dirty="0" smtClean="0">
                <a:solidFill>
                  <a:srgbClr val="000000"/>
                </a:solidFill>
                <a:latin typeface="Times New Roman"/>
                <a:cs typeface="Times New Roman"/>
              </a:rPr>
              <a:t> </a:t>
            </a:r>
            <a:r>
              <a:rPr sz="2400" b="1" u="none" spc="-844" dirty="0" smtClean="0">
                <a:solidFill>
                  <a:srgbClr val="000000"/>
                </a:solidFill>
                <a:latin typeface="Times New Roman"/>
                <a:cs typeface="Times New Roman"/>
              </a:rPr>
              <a:t> </a:t>
            </a:r>
            <a:r>
              <a:rPr sz="2400" b="1" u="none" spc="-45" dirty="0" smtClean="0">
                <a:solidFill>
                  <a:srgbClr val="000000"/>
                </a:solidFill>
                <a:latin typeface="Times New Roman"/>
                <a:cs typeface="Times New Roman"/>
              </a:rPr>
              <a:t>mobile</a:t>
            </a:r>
            <a:endParaRPr sz="2400" b="1" u="none" spc="-45" dirty="0">
              <a:solidFill>
                <a:srgbClr val="000000"/>
              </a:solidFill>
              <a:latin typeface="Times New Roman"/>
              <a:cs typeface="Times New Roman"/>
            </a:endParaRPr>
          </a:p>
        </p:txBody>
      </p:sp>
    </p:spTree>
    <p:extLst>
      <p:ext uri="{BB962C8B-B14F-4D97-AF65-F5344CB8AC3E}">
        <p14:creationId xmlns:p14="http://schemas.microsoft.com/office/powerpoint/2010/main" val="22142412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42" name="object 2"/>
          <p:cNvSpPr txBox="1">
            <a:spLocks noGrp="1"/>
          </p:cNvSpPr>
          <p:nvPr>
            <p:ph type="title"/>
          </p:nvPr>
        </p:nvSpPr>
        <p:spPr>
          <a:xfrm>
            <a:off x="1018870" y="323218"/>
            <a:ext cx="10154259" cy="1317489"/>
          </a:xfrm>
          <a:prstGeom prst="rect">
            <a:avLst/>
          </a:prstGeom>
        </p:spPr>
        <p:txBody>
          <a:bodyPr vert="horz" wrap="square" lIns="0" tIns="634187" rIns="0" bIns="0" rtlCol="0">
            <a:spAutoFit/>
          </a:bodyPr>
          <a:lstStyle/>
          <a:p>
            <a:pPr marL="169545">
              <a:lnSpc>
                <a:spcPct val="100000"/>
              </a:lnSpc>
              <a:spcBef>
                <a:spcPts val="100"/>
              </a:spcBef>
              <a:tabLst>
                <a:tab pos="10140950" algn="l"/>
              </a:tabLst>
            </a:pPr>
            <a:r>
              <a:rPr lang="fr-FR" sz="2400" b="1" spc="-215" dirty="0" smtClean="0">
                <a:latin typeface="+mn-lt"/>
              </a:rPr>
              <a:t>5.1 Le système </a:t>
            </a:r>
            <a:r>
              <a:rPr lang="fr-FR" sz="2400" b="1" spc="-215" dirty="0" err="1" smtClean="0">
                <a:latin typeface="+mn-lt"/>
              </a:rPr>
              <a:t>ios</a:t>
            </a:r>
            <a:r>
              <a:rPr lang="fr-FR" sz="2400" b="1" spc="-215" dirty="0" smtClean="0">
                <a:latin typeface="+mn-lt"/>
              </a:rPr>
              <a:t> </a:t>
            </a:r>
            <a:r>
              <a:rPr spc="-215" dirty="0"/>
              <a:t>	</a:t>
            </a:r>
          </a:p>
        </p:txBody>
      </p:sp>
      <p:sp>
        <p:nvSpPr>
          <p:cNvPr id="2" name="ZoneTexte 1"/>
          <p:cNvSpPr txBox="1"/>
          <p:nvPr/>
        </p:nvSpPr>
        <p:spPr>
          <a:xfrm>
            <a:off x="1122997" y="1751997"/>
            <a:ext cx="10236601" cy="804131"/>
          </a:xfrm>
          <a:prstGeom prst="rect">
            <a:avLst/>
          </a:prstGeom>
          <a:noFill/>
        </p:spPr>
        <p:txBody>
          <a:bodyPr wrap="square" rtlCol="1">
            <a:spAutoFit/>
          </a:bodyPr>
          <a:lstStyle/>
          <a:p>
            <a:pPr marL="194945" marR="5080" lvl="0" indent="-182880">
              <a:lnSpc>
                <a:spcPct val="121000"/>
              </a:lnSpc>
              <a:spcBef>
                <a:spcPts val="5"/>
              </a:spcBef>
              <a:buClr>
                <a:srgbClr val="1CACE3"/>
              </a:buClr>
              <a:buFont typeface="Wingdings"/>
              <a:buChar char=""/>
              <a:tabLst>
                <a:tab pos="418465" algn="l"/>
                <a:tab pos="1821180" algn="l"/>
                <a:tab pos="2426970" algn="l"/>
                <a:tab pos="2553335" algn="l"/>
                <a:tab pos="2888615" algn="l"/>
                <a:tab pos="4145915" algn="l"/>
                <a:tab pos="4869815" algn="l"/>
                <a:tab pos="6060440" algn="l"/>
                <a:tab pos="7334884" algn="l"/>
                <a:tab pos="9614535" algn="l"/>
              </a:tabLst>
            </a:pPr>
            <a:r>
              <a:rPr lang="fr-FR" sz="2000" spc="-265" dirty="0" smtClean="0">
                <a:latin typeface="Times New Roman"/>
                <a:cs typeface="Times New Roman"/>
              </a:rPr>
              <a:t>L</a:t>
            </a:r>
            <a:r>
              <a:rPr lang="fr-FR" sz="2000" spc="-5" dirty="0" smtClean="0">
                <a:latin typeface="Times New Roman"/>
                <a:cs typeface="Times New Roman"/>
              </a:rPr>
              <a:t>’arri</a:t>
            </a:r>
            <a:r>
              <a:rPr lang="fr-FR" sz="2000" spc="5" dirty="0" smtClean="0">
                <a:latin typeface="Times New Roman"/>
                <a:cs typeface="Times New Roman"/>
              </a:rPr>
              <a:t>v</a:t>
            </a:r>
            <a:r>
              <a:rPr lang="fr-FR" sz="2000" spc="-5" dirty="0" smtClean="0">
                <a:latin typeface="Times New Roman"/>
                <a:cs typeface="Times New Roman"/>
              </a:rPr>
              <a:t>é</a:t>
            </a:r>
            <a:r>
              <a:rPr lang="fr-FR" sz="2000" dirty="0" smtClean="0">
                <a:latin typeface="Times New Roman"/>
                <a:cs typeface="Times New Roman"/>
              </a:rPr>
              <a:t> </a:t>
            </a:r>
            <a:r>
              <a:rPr lang="fr-FR" sz="2000" spc="-5" dirty="0" smtClean="0">
                <a:latin typeface="Times New Roman"/>
                <a:cs typeface="Times New Roman"/>
              </a:rPr>
              <a:t>de</a:t>
            </a:r>
            <a:r>
              <a:rPr lang="fr-FR" sz="2000" dirty="0" smtClean="0">
                <a:latin typeface="Times New Roman"/>
                <a:cs typeface="Times New Roman"/>
              </a:rPr>
              <a:t> </a:t>
            </a:r>
            <a:r>
              <a:rPr lang="fr-FR" sz="2000" spc="-5" dirty="0" smtClean="0">
                <a:latin typeface="Times New Roman"/>
                <a:cs typeface="Times New Roman"/>
              </a:rPr>
              <a:t>l’</a:t>
            </a:r>
            <a:r>
              <a:rPr lang="fr-FR" sz="2000" dirty="0" smtClean="0">
                <a:latin typeface="Times New Roman"/>
                <a:cs typeface="Times New Roman"/>
              </a:rPr>
              <a:t> </a:t>
            </a:r>
            <a:r>
              <a:rPr lang="fr-FR" sz="2000" spc="-5" dirty="0" smtClean="0">
                <a:latin typeface="Times New Roman"/>
                <a:cs typeface="Times New Roman"/>
              </a:rPr>
              <a:t>iPho</a:t>
            </a:r>
            <a:r>
              <a:rPr lang="fr-FR" sz="2000" dirty="0" smtClean="0">
                <a:latin typeface="Times New Roman"/>
                <a:cs typeface="Times New Roman"/>
              </a:rPr>
              <a:t>n</a:t>
            </a:r>
            <a:r>
              <a:rPr lang="fr-FR" sz="2000" spc="-5" dirty="0" smtClean="0">
                <a:latin typeface="Times New Roman"/>
                <a:cs typeface="Times New Roman"/>
              </a:rPr>
              <a:t>e</a:t>
            </a:r>
            <a:r>
              <a:rPr lang="fr-FR" sz="2000" dirty="0" smtClean="0">
                <a:latin typeface="Times New Roman"/>
                <a:cs typeface="Times New Roman"/>
              </a:rPr>
              <a:t> </a:t>
            </a:r>
            <a:r>
              <a:rPr lang="fr-FR" sz="2000" spc="-5" dirty="0" smtClean="0">
                <a:latin typeface="Times New Roman"/>
                <a:cs typeface="Times New Roman"/>
              </a:rPr>
              <a:t>(en</a:t>
            </a:r>
            <a:r>
              <a:rPr lang="fr-FR" sz="2000" dirty="0">
                <a:latin typeface="Times New Roman"/>
                <a:cs typeface="Times New Roman"/>
              </a:rPr>
              <a:t>	</a:t>
            </a:r>
            <a:r>
              <a:rPr lang="fr-FR" sz="2000" spc="-5" dirty="0">
                <a:latin typeface="Times New Roman"/>
                <a:cs typeface="Times New Roman"/>
              </a:rPr>
              <a:t>2007</a:t>
            </a:r>
            <a:r>
              <a:rPr lang="fr-FR" sz="2000" spc="-5" dirty="0" smtClean="0">
                <a:latin typeface="Times New Roman"/>
                <a:cs typeface="Times New Roman"/>
              </a:rPr>
              <a:t>),</a:t>
            </a:r>
            <a:r>
              <a:rPr lang="fr-FR" sz="2000" dirty="0" smtClean="0">
                <a:latin typeface="Times New Roman"/>
                <a:cs typeface="Times New Roman"/>
              </a:rPr>
              <a:t> </a:t>
            </a:r>
            <a:r>
              <a:rPr lang="fr-FR" sz="2000" spc="-5" dirty="0" smtClean="0">
                <a:latin typeface="Times New Roman"/>
                <a:cs typeface="Times New Roman"/>
              </a:rPr>
              <a:t>c</a:t>
            </a:r>
            <a:r>
              <a:rPr lang="fr-FR" sz="2000" spc="-20" dirty="0" smtClean="0">
                <a:latin typeface="Times New Roman"/>
                <a:cs typeface="Times New Roman"/>
              </a:rPr>
              <a:t>h</a:t>
            </a:r>
            <a:r>
              <a:rPr lang="fr-FR" sz="2000" spc="-5" dirty="0" smtClean="0">
                <a:latin typeface="Times New Roman"/>
                <a:cs typeface="Times New Roman"/>
              </a:rPr>
              <a:t>ange</a:t>
            </a:r>
            <a:r>
              <a:rPr lang="fr-FR" sz="2000" dirty="0" smtClean="0">
                <a:latin typeface="Times New Roman"/>
                <a:cs typeface="Times New Roman"/>
              </a:rPr>
              <a:t> </a:t>
            </a:r>
            <a:r>
              <a:rPr lang="fr-FR" sz="2000" spc="-5" dirty="0" smtClean="0">
                <a:latin typeface="Times New Roman"/>
                <a:cs typeface="Times New Roman"/>
              </a:rPr>
              <a:t>complèt</a:t>
            </a:r>
            <a:r>
              <a:rPr lang="fr-FR" sz="2000" spc="-20" dirty="0" smtClean="0">
                <a:latin typeface="Times New Roman"/>
                <a:cs typeface="Times New Roman"/>
              </a:rPr>
              <a:t>e</a:t>
            </a:r>
            <a:r>
              <a:rPr lang="fr-FR" sz="2000" spc="-25" dirty="0" smtClean="0">
                <a:latin typeface="Times New Roman"/>
                <a:cs typeface="Times New Roman"/>
              </a:rPr>
              <a:t>m</a:t>
            </a:r>
            <a:r>
              <a:rPr lang="fr-FR" sz="2000" spc="-5" dirty="0" smtClean="0">
                <a:latin typeface="Times New Roman"/>
                <a:cs typeface="Times New Roman"/>
              </a:rPr>
              <a:t>ent</a:t>
            </a:r>
            <a:r>
              <a:rPr lang="fr-FR" sz="2000" dirty="0" smtClean="0">
                <a:latin typeface="Times New Roman"/>
                <a:cs typeface="Times New Roman"/>
              </a:rPr>
              <a:t> </a:t>
            </a:r>
            <a:r>
              <a:rPr lang="fr-FR" sz="2000" spc="-5" dirty="0" smtClean="0">
                <a:latin typeface="Times New Roman"/>
                <a:cs typeface="Times New Roman"/>
              </a:rPr>
              <a:t>le  paradigme</a:t>
            </a:r>
            <a:r>
              <a:rPr lang="fr-FR" sz="2000" spc="25" dirty="0" smtClean="0">
                <a:latin typeface="Times New Roman"/>
                <a:cs typeface="Times New Roman"/>
              </a:rPr>
              <a:t> v</a:t>
            </a:r>
            <a:r>
              <a:rPr lang="fr-FR" sz="2000" spc="-5" dirty="0" smtClean="0">
                <a:latin typeface="Times New Roman"/>
                <a:cs typeface="Times New Roman"/>
              </a:rPr>
              <a:t>ers </a:t>
            </a:r>
            <a:r>
              <a:rPr lang="fr-FR" sz="2000" dirty="0" smtClean="0">
                <a:latin typeface="Times New Roman"/>
                <a:cs typeface="Times New Roman"/>
              </a:rPr>
              <a:t>un </a:t>
            </a:r>
            <a:r>
              <a:rPr lang="fr-FR" sz="2000" spc="-5" dirty="0">
                <a:latin typeface="Times New Roman"/>
                <a:cs typeface="Times New Roman"/>
              </a:rPr>
              <a:t>système avant tout</a:t>
            </a:r>
            <a:r>
              <a:rPr lang="fr-FR" sz="2000" spc="-20" dirty="0">
                <a:latin typeface="Times New Roman"/>
                <a:cs typeface="Times New Roman"/>
              </a:rPr>
              <a:t> </a:t>
            </a:r>
            <a:r>
              <a:rPr lang="fr-FR" sz="2000" i="1" dirty="0">
                <a:latin typeface="Times New Roman"/>
                <a:cs typeface="Times New Roman"/>
              </a:rPr>
              <a:t>tactile.</a:t>
            </a:r>
            <a:endParaRPr lang="fr-FR" sz="2000" dirty="0">
              <a:latin typeface="Times New Roman"/>
              <a:cs typeface="Times New Roman"/>
            </a:endParaRPr>
          </a:p>
        </p:txBody>
      </p:sp>
      <p:sp>
        <p:nvSpPr>
          <p:cNvPr id="43" name="object 4"/>
          <p:cNvSpPr/>
          <p:nvPr/>
        </p:nvSpPr>
        <p:spPr>
          <a:xfrm>
            <a:off x="3035563" y="3258810"/>
            <a:ext cx="6411467" cy="3249168"/>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6962313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9" name="object 3"/>
          <p:cNvSpPr txBox="1"/>
          <p:nvPr/>
        </p:nvSpPr>
        <p:spPr>
          <a:xfrm>
            <a:off x="804739" y="2377385"/>
            <a:ext cx="10905998" cy="2870529"/>
          </a:xfrm>
          <a:prstGeom prst="rect">
            <a:avLst/>
          </a:prstGeom>
        </p:spPr>
        <p:txBody>
          <a:bodyPr vert="horz" wrap="square" lIns="0" tIns="12700" rIns="0" bIns="0" rtlCol="0">
            <a:spAutoFit/>
          </a:bodyPr>
          <a:lstStyle/>
          <a:p>
            <a:pPr marL="194945" marR="5080" indent="-182880">
              <a:lnSpc>
                <a:spcPct val="120100"/>
              </a:lnSpc>
              <a:spcBef>
                <a:spcPts val="100"/>
              </a:spcBef>
              <a:buClr>
                <a:srgbClr val="1CACE3"/>
              </a:buClr>
              <a:buSzPct val="93750"/>
              <a:buFont typeface="Wingdings"/>
              <a:buChar char=""/>
              <a:tabLst>
                <a:tab pos="448945" algn="l"/>
                <a:tab pos="1466215" algn="l"/>
                <a:tab pos="1697989" algn="l"/>
                <a:tab pos="2145665" algn="l"/>
                <a:tab pos="2668905" algn="l"/>
                <a:tab pos="4275455" algn="l"/>
                <a:tab pos="6782434" algn="l"/>
                <a:tab pos="8242934" algn="l"/>
                <a:tab pos="9486900" algn="l"/>
              </a:tabLst>
            </a:pPr>
            <a:r>
              <a:rPr lang="fr-FR" sz="2400" dirty="0" smtClean="0">
                <a:latin typeface="Times New Roman"/>
                <a:cs typeface="Times New Roman"/>
              </a:rPr>
              <a:t>iOS : </a:t>
            </a:r>
            <a:r>
              <a:rPr sz="2400" dirty="0" err="1" smtClean="0">
                <a:latin typeface="Times New Roman"/>
                <a:cs typeface="Times New Roman"/>
              </a:rPr>
              <a:t>est</a:t>
            </a:r>
            <a:r>
              <a:rPr lang="fr-FR" sz="2400" dirty="0" smtClean="0">
                <a:latin typeface="Times New Roman"/>
                <a:cs typeface="Times New Roman"/>
              </a:rPr>
              <a:t> </a:t>
            </a:r>
            <a:r>
              <a:rPr sz="2400" spc="-5" dirty="0" smtClean="0">
                <a:latin typeface="Times New Roman"/>
                <a:cs typeface="Times New Roman"/>
              </a:rPr>
              <a:t>l</a:t>
            </a:r>
            <a:r>
              <a:rPr sz="2400" dirty="0" smtClean="0">
                <a:latin typeface="Times New Roman"/>
                <a:cs typeface="Times New Roman"/>
              </a:rPr>
              <a:t>e</a:t>
            </a:r>
            <a:r>
              <a:rPr lang="fr-FR" sz="2400" dirty="0" smtClean="0">
                <a:latin typeface="Times New Roman"/>
                <a:cs typeface="Times New Roman"/>
              </a:rPr>
              <a:t> </a:t>
            </a:r>
            <a:r>
              <a:rPr sz="2400" dirty="0" err="1" smtClean="0">
                <a:latin typeface="Times New Roman"/>
                <a:cs typeface="Times New Roman"/>
              </a:rPr>
              <a:t>Sy</a:t>
            </a:r>
            <a:r>
              <a:rPr sz="2400" spc="-15" dirty="0" err="1" smtClean="0">
                <a:latin typeface="Times New Roman"/>
                <a:cs typeface="Times New Roman"/>
              </a:rPr>
              <a:t>s</a:t>
            </a:r>
            <a:r>
              <a:rPr sz="2400" dirty="0" err="1" smtClean="0">
                <a:latin typeface="Times New Roman"/>
                <a:cs typeface="Times New Roman"/>
              </a:rPr>
              <a:t>tème</a:t>
            </a:r>
            <a:r>
              <a:rPr lang="fr-FR" sz="2400" dirty="0">
                <a:latin typeface="Times New Roman"/>
                <a:cs typeface="Times New Roman"/>
              </a:rPr>
              <a:t> </a:t>
            </a:r>
            <a:r>
              <a:rPr sz="2400" dirty="0" err="1" smtClean="0">
                <a:latin typeface="Times New Roman"/>
                <a:cs typeface="Times New Roman"/>
              </a:rPr>
              <a:t>d’</a:t>
            </a:r>
            <a:r>
              <a:rPr sz="2400" spc="-20" dirty="0" err="1" smtClean="0">
                <a:latin typeface="Times New Roman"/>
                <a:cs typeface="Times New Roman"/>
              </a:rPr>
              <a:t>e</a:t>
            </a:r>
            <a:r>
              <a:rPr sz="2400" dirty="0" err="1" smtClean="0">
                <a:latin typeface="Times New Roman"/>
                <a:cs typeface="Times New Roman"/>
              </a:rPr>
              <a:t>xploitat</a:t>
            </a:r>
            <a:r>
              <a:rPr sz="2400" spc="-25" dirty="0" err="1" smtClean="0">
                <a:latin typeface="Times New Roman"/>
                <a:cs typeface="Times New Roman"/>
              </a:rPr>
              <a:t>i</a:t>
            </a:r>
            <a:r>
              <a:rPr sz="2400" dirty="0" err="1" smtClean="0">
                <a:latin typeface="Times New Roman"/>
                <a:cs typeface="Times New Roman"/>
              </a:rPr>
              <a:t>on</a:t>
            </a:r>
            <a:r>
              <a:rPr lang="fr-FR" sz="2400" dirty="0" smtClean="0">
                <a:latin typeface="Times New Roman"/>
                <a:cs typeface="Times New Roman"/>
              </a:rPr>
              <a:t> </a:t>
            </a:r>
            <a:r>
              <a:rPr sz="2400" dirty="0" smtClean="0">
                <a:latin typeface="Times New Roman"/>
                <a:cs typeface="Times New Roman"/>
              </a:rPr>
              <a:t>mobi</a:t>
            </a:r>
            <a:r>
              <a:rPr sz="2400" spc="-20" dirty="0" smtClean="0">
                <a:latin typeface="Times New Roman"/>
                <a:cs typeface="Times New Roman"/>
              </a:rPr>
              <a:t>l</a:t>
            </a:r>
            <a:r>
              <a:rPr sz="2400" dirty="0" smtClean="0">
                <a:latin typeface="Times New Roman"/>
                <a:cs typeface="Times New Roman"/>
              </a:rPr>
              <a:t>e,</a:t>
            </a:r>
            <a:r>
              <a:rPr lang="fr-FR" sz="2400" dirty="0" smtClean="0">
                <a:latin typeface="Times New Roman"/>
                <a:cs typeface="Times New Roman"/>
              </a:rPr>
              <a:t> </a:t>
            </a:r>
            <a:r>
              <a:rPr sz="2400" dirty="0" err="1" smtClean="0">
                <a:latin typeface="Times New Roman"/>
                <a:cs typeface="Times New Roman"/>
              </a:rPr>
              <a:t>dér</a:t>
            </a:r>
            <a:r>
              <a:rPr sz="2400" spc="-20" dirty="0" err="1" smtClean="0">
                <a:latin typeface="Times New Roman"/>
                <a:cs typeface="Times New Roman"/>
              </a:rPr>
              <a:t>i</a:t>
            </a:r>
            <a:r>
              <a:rPr sz="2400" dirty="0" err="1" smtClean="0">
                <a:latin typeface="Times New Roman"/>
                <a:cs typeface="Times New Roman"/>
              </a:rPr>
              <a:t>vé</a:t>
            </a:r>
            <a:r>
              <a:rPr lang="fr-FR" sz="2400" dirty="0">
                <a:latin typeface="Times New Roman"/>
                <a:cs typeface="Times New Roman"/>
              </a:rPr>
              <a:t> </a:t>
            </a:r>
            <a:r>
              <a:rPr sz="2400" dirty="0" smtClean="0">
                <a:latin typeface="Times New Roman"/>
                <a:cs typeface="Times New Roman"/>
              </a:rPr>
              <a:t>de </a:t>
            </a:r>
            <a:r>
              <a:rPr sz="2400" dirty="0" err="1" smtClean="0">
                <a:latin typeface="Times New Roman"/>
                <a:cs typeface="Times New Roman"/>
              </a:rPr>
              <a:t>macOS</a:t>
            </a:r>
            <a:r>
              <a:rPr sz="2400" dirty="0" smtClean="0">
                <a:latin typeface="Times New Roman"/>
                <a:cs typeface="Times New Roman"/>
              </a:rPr>
              <a:t>,</a:t>
            </a:r>
            <a:r>
              <a:rPr lang="fr-FR" sz="2400" dirty="0" smtClean="0">
                <a:latin typeface="Times New Roman"/>
                <a:cs typeface="Times New Roman"/>
              </a:rPr>
              <a:t> </a:t>
            </a:r>
            <a:r>
              <a:rPr sz="2400" dirty="0" err="1" smtClean="0">
                <a:latin typeface="Times New Roman"/>
                <a:cs typeface="Times New Roman"/>
              </a:rPr>
              <a:t>développé</a:t>
            </a:r>
            <a:r>
              <a:rPr sz="2400" dirty="0" smtClean="0">
                <a:latin typeface="Times New Roman"/>
                <a:cs typeface="Times New Roman"/>
              </a:rPr>
              <a:t> </a:t>
            </a:r>
            <a:r>
              <a:rPr sz="2400" spc="5" dirty="0">
                <a:latin typeface="Times New Roman"/>
                <a:cs typeface="Times New Roman"/>
              </a:rPr>
              <a:t>par </a:t>
            </a:r>
            <a:r>
              <a:rPr sz="2400" dirty="0">
                <a:latin typeface="Times New Roman"/>
                <a:cs typeface="Times New Roman"/>
              </a:rPr>
              <a:t>Apple et caractérisé </a:t>
            </a:r>
            <a:r>
              <a:rPr sz="2400" spc="5" dirty="0">
                <a:latin typeface="Times New Roman"/>
                <a:cs typeface="Times New Roman"/>
              </a:rPr>
              <a:t>par</a:t>
            </a:r>
            <a:r>
              <a:rPr sz="2400" spc="-290" dirty="0">
                <a:latin typeface="Times New Roman"/>
                <a:cs typeface="Times New Roman"/>
              </a:rPr>
              <a:t> </a:t>
            </a:r>
            <a:r>
              <a:rPr sz="2400" dirty="0">
                <a:latin typeface="Times New Roman"/>
                <a:cs typeface="Times New Roman"/>
              </a:rPr>
              <a:t>:</a:t>
            </a:r>
          </a:p>
          <a:p>
            <a:pPr marL="377825" marR="7620" lvl="1" indent="-182880">
              <a:lnSpc>
                <a:spcPct val="120100"/>
              </a:lnSpc>
              <a:spcBef>
                <a:spcPts val="660"/>
              </a:spcBef>
              <a:buClr>
                <a:srgbClr val="1CACE3"/>
              </a:buClr>
              <a:buSzPct val="78571"/>
              <a:buFont typeface="Wingdings"/>
              <a:buChar char=""/>
              <a:tabLst>
                <a:tab pos="485140" algn="l"/>
                <a:tab pos="4822825" algn="l"/>
              </a:tabLst>
            </a:pPr>
            <a:r>
              <a:rPr sz="2400" spc="-5" dirty="0">
                <a:latin typeface="Times New Roman"/>
                <a:cs typeface="Times New Roman"/>
              </a:rPr>
              <a:t>les applications</a:t>
            </a:r>
            <a:r>
              <a:rPr sz="2400" spc="430" dirty="0">
                <a:latin typeface="Times New Roman"/>
                <a:cs typeface="Times New Roman"/>
              </a:rPr>
              <a:t> </a:t>
            </a:r>
            <a:r>
              <a:rPr sz="2400" spc="-5" dirty="0">
                <a:latin typeface="Times New Roman"/>
                <a:cs typeface="Times New Roman"/>
              </a:rPr>
              <a:t>sont</a:t>
            </a:r>
            <a:r>
              <a:rPr sz="2400" spc="204" dirty="0">
                <a:latin typeface="Times New Roman"/>
                <a:cs typeface="Times New Roman"/>
              </a:rPr>
              <a:t> </a:t>
            </a:r>
            <a:r>
              <a:rPr sz="2400" spc="-5" dirty="0">
                <a:latin typeface="Times New Roman"/>
                <a:cs typeface="Times New Roman"/>
              </a:rPr>
              <a:t>sujettes	à des règle très sévères avant leurs  déploiement dans la </a:t>
            </a:r>
            <a:r>
              <a:rPr sz="2400" b="1" i="1" spc="-5" dirty="0">
                <a:latin typeface="Times New Roman"/>
                <a:cs typeface="Times New Roman"/>
              </a:rPr>
              <a:t>plateforme, </a:t>
            </a:r>
            <a:r>
              <a:rPr sz="2400" spc="-10" dirty="0" smtClean="0">
                <a:latin typeface="Times New Roman"/>
                <a:cs typeface="Times New Roman"/>
              </a:rPr>
              <a:t>e</a:t>
            </a:r>
            <a:r>
              <a:rPr lang="fr-FR" sz="2400" spc="-10" dirty="0" smtClean="0">
                <a:latin typeface="Times New Roman"/>
                <a:cs typeface="Times New Roman"/>
              </a:rPr>
              <a:t>s</a:t>
            </a:r>
            <a:r>
              <a:rPr sz="2400" spc="-10" dirty="0" smtClean="0">
                <a:latin typeface="Times New Roman"/>
                <a:cs typeface="Times New Roman"/>
              </a:rPr>
              <a:t>t </a:t>
            </a:r>
            <a:r>
              <a:rPr sz="2400" dirty="0">
                <a:latin typeface="Times New Roman"/>
                <a:cs typeface="Times New Roman"/>
              </a:rPr>
              <a:t>donc</a:t>
            </a:r>
            <a:r>
              <a:rPr sz="2400" spc="-20" dirty="0">
                <a:latin typeface="Times New Roman"/>
                <a:cs typeface="Times New Roman"/>
              </a:rPr>
              <a:t> </a:t>
            </a:r>
            <a:r>
              <a:rPr sz="2400" b="1" spc="-5" dirty="0">
                <a:latin typeface="Times New Roman"/>
                <a:cs typeface="Times New Roman"/>
              </a:rPr>
              <a:t>sécurisé.</a:t>
            </a:r>
            <a:endParaRPr sz="2400" dirty="0">
              <a:latin typeface="Times New Roman"/>
              <a:cs typeface="Times New Roman"/>
            </a:endParaRPr>
          </a:p>
          <a:p>
            <a:pPr marL="562610" lvl="1" indent="-368300">
              <a:lnSpc>
                <a:spcPct val="100000"/>
              </a:lnSpc>
              <a:spcBef>
                <a:spcPts val="1270"/>
              </a:spcBef>
              <a:buClr>
                <a:srgbClr val="1CACE3"/>
              </a:buClr>
              <a:buFont typeface="Wingdings"/>
              <a:buChar char=""/>
              <a:tabLst>
                <a:tab pos="563245" algn="l"/>
              </a:tabLst>
            </a:pPr>
            <a:r>
              <a:rPr sz="2400" dirty="0">
                <a:latin typeface="Times New Roman"/>
                <a:cs typeface="Times New Roman"/>
              </a:rPr>
              <a:t>Supporté </a:t>
            </a:r>
            <a:r>
              <a:rPr sz="2400" spc="-5" dirty="0">
                <a:latin typeface="Times New Roman"/>
                <a:cs typeface="Times New Roman"/>
              </a:rPr>
              <a:t>seulement par les appareils </a:t>
            </a:r>
            <a:r>
              <a:rPr sz="2400" dirty="0">
                <a:latin typeface="Times New Roman"/>
                <a:cs typeface="Times New Roman"/>
              </a:rPr>
              <a:t>de </a:t>
            </a:r>
            <a:r>
              <a:rPr sz="2400" spc="-5" dirty="0">
                <a:latin typeface="Times New Roman"/>
                <a:cs typeface="Times New Roman"/>
              </a:rPr>
              <a:t>la marque Apple </a:t>
            </a:r>
            <a:r>
              <a:rPr sz="2400" spc="-10" dirty="0" smtClean="0">
                <a:latin typeface="Times New Roman"/>
                <a:cs typeface="Times New Roman"/>
              </a:rPr>
              <a:t>e</a:t>
            </a:r>
            <a:r>
              <a:rPr lang="fr-FR" sz="2400" spc="-10" dirty="0" smtClean="0">
                <a:latin typeface="Times New Roman"/>
                <a:cs typeface="Times New Roman"/>
              </a:rPr>
              <a:t>s</a:t>
            </a:r>
            <a:r>
              <a:rPr sz="2400" spc="-10" dirty="0" smtClean="0">
                <a:latin typeface="Times New Roman"/>
                <a:cs typeface="Times New Roman"/>
              </a:rPr>
              <a:t>t</a:t>
            </a:r>
            <a:r>
              <a:rPr sz="2400" spc="80" dirty="0" smtClean="0">
                <a:latin typeface="Times New Roman"/>
                <a:cs typeface="Times New Roman"/>
              </a:rPr>
              <a:t> </a:t>
            </a:r>
            <a:r>
              <a:rPr sz="2400" spc="-5" dirty="0">
                <a:latin typeface="Times New Roman"/>
                <a:cs typeface="Times New Roman"/>
              </a:rPr>
              <a:t>donc</a:t>
            </a:r>
            <a:endParaRPr sz="2400" dirty="0">
              <a:latin typeface="Times New Roman"/>
              <a:cs typeface="Times New Roman"/>
            </a:endParaRPr>
          </a:p>
          <a:p>
            <a:pPr marL="377825">
              <a:lnSpc>
                <a:spcPct val="100000"/>
              </a:lnSpc>
              <a:spcBef>
                <a:spcPts val="675"/>
              </a:spcBef>
            </a:pPr>
            <a:r>
              <a:rPr sz="2400" b="1" spc="-5" dirty="0">
                <a:latin typeface="Times New Roman"/>
                <a:cs typeface="Times New Roman"/>
              </a:rPr>
              <a:t>fermé.</a:t>
            </a:r>
            <a:endParaRPr sz="2400" dirty="0">
              <a:latin typeface="Times New Roman"/>
              <a:cs typeface="Times New Roman"/>
            </a:endParaRPr>
          </a:p>
        </p:txBody>
      </p:sp>
      <p:sp>
        <p:nvSpPr>
          <p:cNvPr id="10" name="object 2"/>
          <p:cNvSpPr txBox="1">
            <a:spLocks/>
          </p:cNvSpPr>
          <p:nvPr/>
        </p:nvSpPr>
        <p:spPr>
          <a:xfrm>
            <a:off x="1018868" y="750903"/>
            <a:ext cx="10154259" cy="1009712"/>
          </a:xfrm>
          <a:prstGeom prst="rect">
            <a:avLst/>
          </a:prstGeom>
        </p:spPr>
        <p:txBody>
          <a:bodyPr vert="horz" wrap="square" lIns="0" tIns="634187"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545">
              <a:lnSpc>
                <a:spcPct val="100000"/>
              </a:lnSpc>
              <a:spcBef>
                <a:spcPts val="100"/>
              </a:spcBef>
              <a:tabLst>
                <a:tab pos="10140950" algn="l"/>
              </a:tabLst>
            </a:pPr>
            <a:r>
              <a:rPr lang="fr-FR" sz="2400" b="1" spc="-215" smtClean="0">
                <a:latin typeface="+mn-lt"/>
              </a:rPr>
              <a:t>5.1 Le système ios </a:t>
            </a:r>
            <a:r>
              <a:rPr lang="fr-FR" sz="2400" spc="-215" smtClean="0"/>
              <a:t>	</a:t>
            </a:r>
            <a:endParaRPr lang="fr-FR" sz="2400" spc="-215" dirty="0"/>
          </a:p>
        </p:txBody>
      </p:sp>
    </p:spTree>
    <p:extLst>
      <p:ext uri="{BB962C8B-B14F-4D97-AF65-F5344CB8AC3E}">
        <p14:creationId xmlns:p14="http://schemas.microsoft.com/office/powerpoint/2010/main" val="21952590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50800" dist="50800" dir="5400000" algn="ctr" rotWithShape="0">
              <a:srgbClr val="000000"/>
            </a:outerShdw>
            <a:reflection endPos="0" dist="50800" dir="5400000" sy="-100000" algn="bl" rotWithShape="0"/>
          </a:effectLst>
        </p:spPr>
      </p:pic>
      <p:sp>
        <p:nvSpPr>
          <p:cNvPr id="5" name="Rectangle 4"/>
          <p:cNvSpPr/>
          <p:nvPr/>
        </p:nvSpPr>
        <p:spPr>
          <a:xfrm>
            <a:off x="0" y="26437"/>
            <a:ext cx="12192000" cy="6831563"/>
          </a:xfrm>
          <a:prstGeom prst="rect">
            <a:avLst/>
          </a:prstGeom>
          <a:gradFill>
            <a:gsLst>
              <a:gs pos="0">
                <a:schemeClr val="bg1">
                  <a:lumMod val="50000"/>
                </a:schemeClr>
              </a:gs>
              <a:gs pos="40000">
                <a:schemeClr val="accent1">
                  <a:lumMod val="45000"/>
                  <a:lumOff val="55000"/>
                </a:schemeClr>
              </a:gs>
              <a:gs pos="63000">
                <a:schemeClr val="accent1">
                  <a:lumMod val="45000"/>
                  <a:lumOff val="55000"/>
                  <a:alpha val="67000"/>
                </a:schemeClr>
              </a:gs>
              <a:gs pos="100000">
                <a:schemeClr val="accent5">
                  <a:lumMod val="50000"/>
                  <a:alpha val="0"/>
                </a:schemeClr>
              </a:gs>
            </a:gsLst>
            <a:lin ang="5400000" scaled="1"/>
          </a:gradFill>
          <a:ln>
            <a:noFill/>
          </a:ln>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en-US" dirty="0"/>
          </a:p>
        </p:txBody>
      </p:sp>
      <p:pic>
        <p:nvPicPr>
          <p:cNvPr id="11" name="Image 10"/>
          <p:cNvPicPr>
            <a:picLocks noChangeAspect="1"/>
          </p:cNvPicPr>
          <p:nvPr/>
        </p:nvPicPr>
        <p:blipFill>
          <a:blip r:embed="rId3">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508635" y="372777"/>
            <a:ext cx="1228725" cy="930134"/>
          </a:xfrm>
          <a:prstGeom prst="rect">
            <a:avLst/>
          </a:prstGeom>
          <a:ln>
            <a:noFill/>
          </a:ln>
          <a:effectLst>
            <a:softEdge rad="112500"/>
          </a:effectLst>
        </p:spPr>
      </p:pic>
      <p:sp>
        <p:nvSpPr>
          <p:cNvPr id="13" name="Rectangle à coins arrondis 12"/>
          <p:cNvSpPr/>
          <p:nvPr/>
        </p:nvSpPr>
        <p:spPr>
          <a:xfrm>
            <a:off x="1836206" y="555886"/>
            <a:ext cx="5650992" cy="5511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r>
              <a:rPr lang="en-US" sz="2400" b="1" dirty="0">
                <a:solidFill>
                  <a:schemeClr val="tx1"/>
                </a:solidFill>
                <a:latin typeface="Arial Black" panose="020B0A04020102020204" pitchFamily="34" charset="0"/>
              </a:rPr>
              <a:t>Les applications mobiles</a:t>
            </a:r>
          </a:p>
        </p:txBody>
      </p:sp>
      <p:sp>
        <p:nvSpPr>
          <p:cNvPr id="10" name="object 3"/>
          <p:cNvSpPr txBox="1"/>
          <p:nvPr/>
        </p:nvSpPr>
        <p:spPr>
          <a:xfrm>
            <a:off x="1018868" y="2485081"/>
            <a:ext cx="10669556" cy="3375539"/>
          </a:xfrm>
          <a:prstGeom prst="rect">
            <a:avLst/>
          </a:prstGeom>
        </p:spPr>
        <p:txBody>
          <a:bodyPr vert="horz" wrap="square" lIns="0" tIns="12700" rIns="0" bIns="0" rtlCol="0">
            <a:spAutoFit/>
          </a:bodyPr>
          <a:lstStyle/>
          <a:p>
            <a:pPr marL="469265" marR="5080" indent="-457200" algn="just">
              <a:lnSpc>
                <a:spcPct val="100000"/>
              </a:lnSpc>
              <a:spcBef>
                <a:spcPts val="100"/>
              </a:spcBef>
              <a:buClr>
                <a:schemeClr val="tx1"/>
              </a:buClr>
              <a:buSzPct val="96296"/>
              <a:buFont typeface="Wingdings" panose="05000000000000000000" pitchFamily="2" charset="2"/>
              <a:buChar char="v"/>
              <a:tabLst>
                <a:tab pos="389255" algn="l"/>
              </a:tabLst>
            </a:pPr>
            <a:r>
              <a:rPr lang="fr-FR" sz="2800" b="1" spc="-215" dirty="0"/>
              <a:t>Le système Android :</a:t>
            </a:r>
            <a:r>
              <a:rPr lang="fr-FR" sz="2800" b="1" dirty="0">
                <a:latin typeface="Times New Roman"/>
                <a:cs typeface="Times New Roman"/>
              </a:rPr>
              <a:t> </a:t>
            </a:r>
            <a:r>
              <a:rPr sz="2700" dirty="0" err="1" smtClean="0">
                <a:latin typeface="Times New Roman"/>
                <a:cs typeface="Times New Roman"/>
              </a:rPr>
              <a:t>est</a:t>
            </a:r>
            <a:r>
              <a:rPr sz="2700" dirty="0" smtClean="0">
                <a:latin typeface="Times New Roman"/>
                <a:cs typeface="Times New Roman"/>
              </a:rPr>
              <a:t> </a:t>
            </a:r>
            <a:r>
              <a:rPr sz="2700" spc="-5" dirty="0">
                <a:latin typeface="Times New Roman"/>
                <a:cs typeface="Times New Roman"/>
              </a:rPr>
              <a:t>le Système d’exploitation mobile, </a:t>
            </a:r>
            <a:r>
              <a:rPr sz="2700" dirty="0">
                <a:latin typeface="Times New Roman"/>
                <a:cs typeface="Times New Roman"/>
              </a:rPr>
              <a:t>basé sur Linux, qui a été  inventé par </a:t>
            </a:r>
            <a:r>
              <a:rPr sz="2700" b="1" i="1" dirty="0">
                <a:latin typeface="Times New Roman"/>
                <a:cs typeface="Times New Roman"/>
              </a:rPr>
              <a:t>open </a:t>
            </a:r>
            <a:r>
              <a:rPr sz="2700" b="1" i="1" spc="-5" dirty="0">
                <a:latin typeface="Times New Roman"/>
                <a:cs typeface="Times New Roman"/>
              </a:rPr>
              <a:t>handset alliance </a:t>
            </a:r>
            <a:r>
              <a:rPr sz="2700" b="1" i="1" dirty="0">
                <a:latin typeface="Times New Roman"/>
                <a:cs typeface="Times New Roman"/>
              </a:rPr>
              <a:t>(OHA) </a:t>
            </a:r>
            <a:r>
              <a:rPr sz="2700" dirty="0">
                <a:latin typeface="Times New Roman"/>
                <a:cs typeface="Times New Roman"/>
              </a:rPr>
              <a:t>et racheté par </a:t>
            </a:r>
            <a:r>
              <a:rPr sz="2700" spc="-5" dirty="0">
                <a:latin typeface="Times New Roman"/>
                <a:cs typeface="Times New Roman"/>
              </a:rPr>
              <a:t>google </a:t>
            </a:r>
            <a:r>
              <a:rPr sz="2700" dirty="0">
                <a:latin typeface="Times New Roman"/>
                <a:cs typeface="Times New Roman"/>
              </a:rPr>
              <a:t>en  2005.</a:t>
            </a:r>
          </a:p>
          <a:p>
            <a:pPr marL="469265" indent="-457200" algn="just">
              <a:lnSpc>
                <a:spcPct val="100000"/>
              </a:lnSpc>
              <a:spcBef>
                <a:spcPts val="605"/>
              </a:spcBef>
              <a:buClr>
                <a:schemeClr val="tx1"/>
              </a:buClr>
              <a:buSzPct val="96296"/>
              <a:buFont typeface="Wingdings" panose="05000000000000000000" pitchFamily="2" charset="2"/>
              <a:buChar char="v"/>
              <a:tabLst>
                <a:tab pos="319405" algn="l"/>
              </a:tabLst>
            </a:pPr>
            <a:r>
              <a:rPr sz="2700" dirty="0">
                <a:latin typeface="Times New Roman"/>
                <a:cs typeface="Times New Roman"/>
              </a:rPr>
              <a:t>Android caractérisé</a:t>
            </a:r>
            <a:r>
              <a:rPr sz="2700" spc="-30" dirty="0">
                <a:latin typeface="Times New Roman"/>
                <a:cs typeface="Times New Roman"/>
              </a:rPr>
              <a:t> </a:t>
            </a:r>
            <a:r>
              <a:rPr sz="2700" dirty="0">
                <a:latin typeface="Times New Roman"/>
                <a:cs typeface="Times New Roman"/>
              </a:rPr>
              <a:t>par:</a:t>
            </a:r>
          </a:p>
          <a:p>
            <a:pPr marL="537845" marR="8890" lvl="1" indent="-342900" algn="just">
              <a:lnSpc>
                <a:spcPct val="100000"/>
              </a:lnSpc>
              <a:spcBef>
                <a:spcPts val="615"/>
              </a:spcBef>
              <a:buClr>
                <a:schemeClr val="tx1"/>
              </a:buClr>
              <a:buSzPct val="95833"/>
              <a:buFont typeface="Arial" panose="020B0604020202020204" pitchFamily="34" charset="0"/>
              <a:buChar char="•"/>
              <a:tabLst>
                <a:tab pos="436245" algn="l"/>
              </a:tabLst>
            </a:pPr>
            <a:r>
              <a:rPr sz="2400" dirty="0">
                <a:latin typeface="Times New Roman"/>
                <a:cs typeface="Times New Roman"/>
              </a:rPr>
              <a:t>Open </a:t>
            </a:r>
            <a:r>
              <a:rPr sz="2400" spc="-5" dirty="0">
                <a:latin typeface="Times New Roman"/>
                <a:cs typeface="Times New Roman"/>
              </a:rPr>
              <a:t>source: </a:t>
            </a:r>
            <a:r>
              <a:rPr sz="2400" dirty="0">
                <a:latin typeface="Times New Roman"/>
                <a:cs typeface="Times New Roman"/>
              </a:rPr>
              <a:t>fourni </a:t>
            </a:r>
            <a:r>
              <a:rPr sz="2400" spc="-5" dirty="0">
                <a:latin typeface="Times New Roman"/>
                <a:cs typeface="Times New Roman"/>
              </a:rPr>
              <a:t>sous </a:t>
            </a:r>
            <a:r>
              <a:rPr sz="2400" dirty="0">
                <a:latin typeface="Times New Roman"/>
                <a:cs typeface="Times New Roman"/>
              </a:rPr>
              <a:t>la </a:t>
            </a:r>
            <a:r>
              <a:rPr sz="2400" spc="-5" dirty="0">
                <a:latin typeface="Times New Roman"/>
                <a:cs typeface="Times New Roman"/>
              </a:rPr>
              <a:t>licence open source qui </a:t>
            </a:r>
            <a:r>
              <a:rPr sz="2400" spc="-10" dirty="0">
                <a:latin typeface="Times New Roman"/>
                <a:cs typeface="Times New Roman"/>
              </a:rPr>
              <a:t>permet </a:t>
            </a:r>
            <a:r>
              <a:rPr sz="2400" spc="-5" dirty="0">
                <a:latin typeface="Times New Roman"/>
                <a:cs typeface="Times New Roman"/>
              </a:rPr>
              <a:t>d’avoir </a:t>
            </a:r>
            <a:r>
              <a:rPr sz="2400" spc="-10" dirty="0">
                <a:latin typeface="Times New Roman"/>
                <a:cs typeface="Times New Roman"/>
              </a:rPr>
              <a:t>et  </a:t>
            </a:r>
            <a:r>
              <a:rPr sz="2400" spc="-5" dirty="0">
                <a:latin typeface="Times New Roman"/>
                <a:cs typeface="Times New Roman"/>
              </a:rPr>
              <a:t>modifier </a:t>
            </a:r>
            <a:r>
              <a:rPr sz="2400" dirty="0">
                <a:latin typeface="Times New Roman"/>
                <a:cs typeface="Times New Roman"/>
              </a:rPr>
              <a:t>le code source du </a:t>
            </a:r>
            <a:r>
              <a:rPr sz="2400" spc="-5" dirty="0">
                <a:latin typeface="Times New Roman"/>
                <a:cs typeface="Times New Roman"/>
              </a:rPr>
              <a:t>système, </a:t>
            </a:r>
            <a:r>
              <a:rPr sz="2400" dirty="0">
                <a:latin typeface="Times New Roman"/>
                <a:cs typeface="Times New Roman"/>
              </a:rPr>
              <a:t>et donc</a:t>
            </a:r>
            <a:r>
              <a:rPr sz="2400" spc="-40" dirty="0">
                <a:latin typeface="Times New Roman"/>
                <a:cs typeface="Times New Roman"/>
              </a:rPr>
              <a:t> </a:t>
            </a:r>
            <a:r>
              <a:rPr sz="2400" b="1" i="1" dirty="0">
                <a:latin typeface="Times New Roman"/>
                <a:cs typeface="Times New Roman"/>
              </a:rPr>
              <a:t>ouvert.</a:t>
            </a:r>
            <a:endParaRPr sz="2400" dirty="0">
              <a:latin typeface="Times New Roman"/>
              <a:cs typeface="Times New Roman"/>
            </a:endParaRPr>
          </a:p>
          <a:p>
            <a:pPr marL="537845" marR="5080" lvl="1" indent="-342900" algn="just">
              <a:lnSpc>
                <a:spcPct val="99000"/>
              </a:lnSpc>
              <a:spcBef>
                <a:spcPts val="625"/>
              </a:spcBef>
              <a:buClr>
                <a:schemeClr val="tx1"/>
              </a:buClr>
              <a:buSzPct val="95833"/>
              <a:buFont typeface="Arial" panose="020B0604020202020204" pitchFamily="34" charset="0"/>
              <a:buChar char="•"/>
              <a:tabLst>
                <a:tab pos="436245" algn="l"/>
              </a:tabLst>
            </a:pPr>
            <a:r>
              <a:rPr sz="2400" spc="-5" dirty="0">
                <a:latin typeface="Times New Roman"/>
                <a:cs typeface="Times New Roman"/>
              </a:rPr>
              <a:t>Supporté </a:t>
            </a:r>
            <a:r>
              <a:rPr sz="2400" spc="-10" dirty="0">
                <a:latin typeface="Times New Roman"/>
                <a:cs typeface="Times New Roman"/>
              </a:rPr>
              <a:t>par </a:t>
            </a:r>
            <a:r>
              <a:rPr sz="2400" dirty="0">
                <a:latin typeface="Times New Roman"/>
                <a:cs typeface="Times New Roman"/>
              </a:rPr>
              <a:t>des </a:t>
            </a:r>
            <a:r>
              <a:rPr sz="2400" spc="-5" dirty="0">
                <a:latin typeface="Times New Roman"/>
                <a:cs typeface="Times New Roman"/>
              </a:rPr>
              <a:t>smartphone fabriqué </a:t>
            </a:r>
            <a:r>
              <a:rPr sz="2400" dirty="0">
                <a:latin typeface="Times New Roman"/>
                <a:cs typeface="Times New Roman"/>
              </a:rPr>
              <a:t>par des </a:t>
            </a:r>
            <a:r>
              <a:rPr sz="2400" spc="-5" dirty="0">
                <a:latin typeface="Times New Roman"/>
                <a:cs typeface="Times New Roman"/>
              </a:rPr>
              <a:t>constructeur </a:t>
            </a:r>
            <a:r>
              <a:rPr sz="2400" spc="-10" dirty="0">
                <a:latin typeface="Times New Roman"/>
                <a:cs typeface="Times New Roman"/>
              </a:rPr>
              <a:t>différent, ce </a:t>
            </a:r>
            <a:r>
              <a:rPr sz="2400" spc="-5" dirty="0">
                <a:latin typeface="Times New Roman"/>
                <a:cs typeface="Times New Roman"/>
              </a:rPr>
              <a:t>qui  permet </a:t>
            </a:r>
            <a:r>
              <a:rPr sz="2400" dirty="0">
                <a:latin typeface="Times New Roman"/>
                <a:cs typeface="Times New Roman"/>
              </a:rPr>
              <a:t>aux </a:t>
            </a:r>
            <a:r>
              <a:rPr sz="2400" spc="-5" dirty="0">
                <a:latin typeface="Times New Roman"/>
                <a:cs typeface="Times New Roman"/>
              </a:rPr>
              <a:t>développeurs </a:t>
            </a:r>
            <a:r>
              <a:rPr sz="2400" dirty="0">
                <a:latin typeface="Times New Roman"/>
                <a:cs typeface="Times New Roman"/>
              </a:rPr>
              <a:t>de </a:t>
            </a:r>
            <a:r>
              <a:rPr sz="2400" spc="-5" dirty="0">
                <a:latin typeface="Times New Roman"/>
                <a:cs typeface="Times New Roman"/>
              </a:rPr>
              <a:t>tester </a:t>
            </a:r>
            <a:r>
              <a:rPr sz="2400" spc="-10" dirty="0">
                <a:latin typeface="Times New Roman"/>
                <a:cs typeface="Times New Roman"/>
              </a:rPr>
              <a:t>facilement ses </a:t>
            </a:r>
            <a:r>
              <a:rPr sz="2400" spc="-5" dirty="0">
                <a:latin typeface="Times New Roman"/>
                <a:cs typeface="Times New Roman"/>
              </a:rPr>
              <a:t>applications, </a:t>
            </a:r>
            <a:r>
              <a:rPr sz="2400" dirty="0">
                <a:latin typeface="Times New Roman"/>
                <a:cs typeface="Times New Roman"/>
              </a:rPr>
              <a:t>ce </a:t>
            </a:r>
            <a:r>
              <a:rPr sz="2400" spc="-5" dirty="0">
                <a:latin typeface="Times New Roman"/>
                <a:cs typeface="Times New Roman"/>
              </a:rPr>
              <a:t>qui </a:t>
            </a:r>
            <a:r>
              <a:rPr sz="2400" dirty="0">
                <a:latin typeface="Times New Roman"/>
                <a:cs typeface="Times New Roman"/>
              </a:rPr>
              <a:t>le rend  </a:t>
            </a:r>
            <a:r>
              <a:rPr sz="2400" b="1" i="1" dirty="0">
                <a:latin typeface="Times New Roman"/>
                <a:cs typeface="Times New Roman"/>
              </a:rPr>
              <a:t>accessible.</a:t>
            </a:r>
            <a:endParaRPr sz="2400" dirty="0">
              <a:latin typeface="Times New Roman"/>
              <a:cs typeface="Times New Roman"/>
            </a:endParaRPr>
          </a:p>
        </p:txBody>
      </p:sp>
      <p:sp>
        <p:nvSpPr>
          <p:cNvPr id="14" name="object 2"/>
          <p:cNvSpPr txBox="1">
            <a:spLocks/>
          </p:cNvSpPr>
          <p:nvPr/>
        </p:nvSpPr>
        <p:spPr>
          <a:xfrm>
            <a:off x="1018868" y="590436"/>
            <a:ext cx="10154259" cy="1317489"/>
          </a:xfrm>
          <a:prstGeom prst="rect">
            <a:avLst/>
          </a:prstGeom>
        </p:spPr>
        <p:txBody>
          <a:bodyPr vert="horz" wrap="square" lIns="0" tIns="634187"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545">
              <a:lnSpc>
                <a:spcPct val="100000"/>
              </a:lnSpc>
              <a:spcBef>
                <a:spcPts val="100"/>
              </a:spcBef>
              <a:tabLst>
                <a:tab pos="10140950" algn="l"/>
              </a:tabLst>
            </a:pPr>
            <a:r>
              <a:rPr lang="fr-FR" sz="2400" b="1" spc="-215" dirty="0" smtClean="0">
                <a:latin typeface="+mn-lt"/>
              </a:rPr>
              <a:t>5.2 Le système Android</a:t>
            </a:r>
            <a:r>
              <a:rPr lang="fr-FR" spc="-215" dirty="0" smtClean="0"/>
              <a:t>	</a:t>
            </a:r>
            <a:endParaRPr lang="fr-FR" spc="-215" dirty="0"/>
          </a:p>
        </p:txBody>
      </p:sp>
    </p:spTree>
    <p:extLst>
      <p:ext uri="{BB962C8B-B14F-4D97-AF65-F5344CB8AC3E}">
        <p14:creationId xmlns:p14="http://schemas.microsoft.com/office/powerpoint/2010/main" val="1291079481"/>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8140</TotalTime>
  <Words>894</Words>
  <Application>Microsoft Office PowerPoint</Application>
  <PresentationFormat>Grand écran</PresentationFormat>
  <Paragraphs>135</Paragraphs>
  <Slides>29</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29</vt:i4>
      </vt:variant>
    </vt:vector>
  </HeadingPairs>
  <TitlesOfParts>
    <vt:vector size="39" baseType="lpstr">
      <vt:lpstr>Arial</vt:lpstr>
      <vt:lpstr>Arial Black</vt:lpstr>
      <vt:lpstr>Calibri</vt:lpstr>
      <vt:lpstr>Calibri Light</vt:lpstr>
      <vt:lpstr>Carlito</vt:lpstr>
      <vt:lpstr>Söhne</vt:lpstr>
      <vt:lpstr>Times New Roman</vt:lpstr>
      <vt:lpstr>Trebuchet MS</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5-    Système d’exploitation  mobile</vt:lpstr>
      <vt:lpstr>5-    Système d’exploitation  mobile</vt:lpstr>
      <vt:lpstr>5.1 Le système ios  </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tarek</dc:creator>
  <cp:lastModifiedBy>tarek</cp:lastModifiedBy>
  <cp:revision>93</cp:revision>
  <dcterms:created xsi:type="dcterms:W3CDTF">2023-04-16T00:21:23Z</dcterms:created>
  <dcterms:modified xsi:type="dcterms:W3CDTF">2024-12-02T12:38:58Z</dcterms:modified>
</cp:coreProperties>
</file>