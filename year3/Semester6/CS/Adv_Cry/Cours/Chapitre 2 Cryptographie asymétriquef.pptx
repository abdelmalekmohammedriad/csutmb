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8"/>
  </p:notesMasterIdLst>
  <p:sldIdLst>
    <p:sldId id="256" r:id="rId2"/>
    <p:sldId id="259" r:id="rId3"/>
    <p:sldId id="413" r:id="rId4"/>
    <p:sldId id="321" r:id="rId5"/>
    <p:sldId id="414" r:id="rId6"/>
    <p:sldId id="416" r:id="rId7"/>
    <p:sldId id="417" r:id="rId8"/>
    <p:sldId id="418" r:id="rId9"/>
    <p:sldId id="419" r:id="rId10"/>
    <p:sldId id="420" r:id="rId11"/>
    <p:sldId id="423" r:id="rId12"/>
    <p:sldId id="422" r:id="rId13"/>
    <p:sldId id="421" r:id="rId14"/>
    <p:sldId id="424" r:id="rId15"/>
    <p:sldId id="425" r:id="rId16"/>
    <p:sldId id="426" r:id="rId17"/>
    <p:sldId id="427" r:id="rId18"/>
    <p:sldId id="428" r:id="rId19"/>
    <p:sldId id="429" r:id="rId20"/>
    <p:sldId id="431" r:id="rId21"/>
    <p:sldId id="430" r:id="rId22"/>
    <p:sldId id="433" r:id="rId23"/>
    <p:sldId id="434" r:id="rId24"/>
    <p:sldId id="436" r:id="rId25"/>
    <p:sldId id="468" r:id="rId26"/>
    <p:sldId id="437" r:id="rId27"/>
    <p:sldId id="438" r:id="rId28"/>
    <p:sldId id="439" r:id="rId29"/>
    <p:sldId id="440" r:id="rId30"/>
    <p:sldId id="442" r:id="rId31"/>
    <p:sldId id="441" r:id="rId32"/>
    <p:sldId id="444" r:id="rId33"/>
    <p:sldId id="443" r:id="rId34"/>
    <p:sldId id="460" r:id="rId35"/>
    <p:sldId id="461" r:id="rId36"/>
    <p:sldId id="445" r:id="rId37"/>
    <p:sldId id="462" r:id="rId38"/>
    <p:sldId id="463" r:id="rId39"/>
    <p:sldId id="464" r:id="rId40"/>
    <p:sldId id="446" r:id="rId41"/>
    <p:sldId id="447" r:id="rId42"/>
    <p:sldId id="450" r:id="rId43"/>
    <p:sldId id="452" r:id="rId44"/>
    <p:sldId id="465" r:id="rId45"/>
    <p:sldId id="466" r:id="rId46"/>
    <p:sldId id="467" r:id="rId47"/>
    <p:sldId id="469" r:id="rId48"/>
    <p:sldId id="470" r:id="rId49"/>
    <p:sldId id="471" r:id="rId50"/>
    <p:sldId id="474" r:id="rId51"/>
    <p:sldId id="475" r:id="rId52"/>
    <p:sldId id="477" r:id="rId53"/>
    <p:sldId id="478" r:id="rId54"/>
    <p:sldId id="479" r:id="rId55"/>
    <p:sldId id="485" r:id="rId56"/>
    <p:sldId id="486" r:id="rId57"/>
    <p:sldId id="487" r:id="rId58"/>
    <p:sldId id="509" r:id="rId59"/>
    <p:sldId id="510" r:id="rId60"/>
    <p:sldId id="472" r:id="rId61"/>
    <p:sldId id="488" r:id="rId62"/>
    <p:sldId id="490" r:id="rId63"/>
    <p:sldId id="491" r:id="rId64"/>
    <p:sldId id="493" r:id="rId65"/>
    <p:sldId id="511" r:id="rId66"/>
    <p:sldId id="494" r:id="rId67"/>
    <p:sldId id="495" r:id="rId68"/>
    <p:sldId id="496" r:id="rId69"/>
    <p:sldId id="506" r:id="rId70"/>
    <p:sldId id="497" r:id="rId71"/>
    <p:sldId id="498" r:id="rId72"/>
    <p:sldId id="499" r:id="rId73"/>
    <p:sldId id="500" r:id="rId74"/>
    <p:sldId id="501" r:id="rId75"/>
    <p:sldId id="502" r:id="rId76"/>
    <p:sldId id="507" r:id="rId77"/>
    <p:sldId id="539" r:id="rId78"/>
    <p:sldId id="540" r:id="rId79"/>
    <p:sldId id="504" r:id="rId80"/>
    <p:sldId id="508" r:id="rId81"/>
    <p:sldId id="541" r:id="rId82"/>
    <p:sldId id="542" r:id="rId83"/>
    <p:sldId id="543" r:id="rId84"/>
    <p:sldId id="544" r:id="rId85"/>
    <p:sldId id="545" r:id="rId86"/>
    <p:sldId id="552" r:id="rId87"/>
    <p:sldId id="546" r:id="rId88"/>
    <p:sldId id="547" r:id="rId89"/>
    <p:sldId id="548" r:id="rId90"/>
    <p:sldId id="549" r:id="rId91"/>
    <p:sldId id="550" r:id="rId92"/>
    <p:sldId id="551" r:id="rId93"/>
    <p:sldId id="553" r:id="rId94"/>
    <p:sldId id="554" r:id="rId95"/>
    <p:sldId id="555" r:id="rId96"/>
    <p:sldId id="556" r:id="rId97"/>
    <p:sldId id="557" r:id="rId98"/>
    <p:sldId id="473" r:id="rId99"/>
    <p:sldId id="514" r:id="rId100"/>
    <p:sldId id="515" r:id="rId101"/>
    <p:sldId id="516" r:id="rId102"/>
    <p:sldId id="517" r:id="rId103"/>
    <p:sldId id="518" r:id="rId104"/>
    <p:sldId id="519" r:id="rId105"/>
    <p:sldId id="527" r:id="rId106"/>
    <p:sldId id="520" r:id="rId107"/>
    <p:sldId id="522" r:id="rId108"/>
    <p:sldId id="523" r:id="rId109"/>
    <p:sldId id="538" r:id="rId110"/>
    <p:sldId id="525" r:id="rId111"/>
    <p:sldId id="526" r:id="rId112"/>
    <p:sldId id="530" r:id="rId113"/>
    <p:sldId id="532" r:id="rId114"/>
    <p:sldId id="559" r:id="rId115"/>
    <p:sldId id="560" r:id="rId116"/>
    <p:sldId id="561" r:id="rId117"/>
    <p:sldId id="562" r:id="rId118"/>
    <p:sldId id="563" r:id="rId119"/>
    <p:sldId id="564" r:id="rId120"/>
    <p:sldId id="565" r:id="rId121"/>
    <p:sldId id="566" r:id="rId122"/>
    <p:sldId id="567" r:id="rId123"/>
    <p:sldId id="568" r:id="rId124"/>
    <p:sldId id="569" r:id="rId125"/>
    <p:sldId id="576" r:id="rId126"/>
    <p:sldId id="570" r:id="rId127"/>
    <p:sldId id="571" r:id="rId128"/>
    <p:sldId id="572" r:id="rId129"/>
    <p:sldId id="573" r:id="rId130"/>
    <p:sldId id="574" r:id="rId131"/>
    <p:sldId id="533" r:id="rId132"/>
    <p:sldId id="575" r:id="rId133"/>
    <p:sldId id="558" r:id="rId134"/>
    <p:sldId id="578" r:id="rId135"/>
    <p:sldId id="579" r:id="rId136"/>
    <p:sldId id="581" r:id="rId137"/>
    <p:sldId id="580" r:id="rId138"/>
    <p:sldId id="582" r:id="rId139"/>
    <p:sldId id="583" r:id="rId140"/>
    <p:sldId id="584" r:id="rId141"/>
    <p:sldId id="585" r:id="rId142"/>
    <p:sldId id="586" r:id="rId143"/>
    <p:sldId id="587" r:id="rId144"/>
    <p:sldId id="588" r:id="rId145"/>
    <p:sldId id="589" r:id="rId146"/>
    <p:sldId id="287" r:id="rId1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6ACB"/>
    <a:srgbClr val="FF6600"/>
    <a:srgbClr val="FFFFFF"/>
    <a:srgbClr val="6F7A91"/>
    <a:srgbClr val="FBE7CD"/>
    <a:srgbClr val="000066"/>
    <a:srgbClr val="CC3399"/>
    <a:srgbClr val="3376C7"/>
    <a:srgbClr val="003366"/>
    <a:srgbClr val="B6E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>
      <p:cViewPr varScale="1">
        <p:scale>
          <a:sx n="67" d="100"/>
          <a:sy n="67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presProps" Target="pres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fr-F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fr-F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 smtClean="0"/>
              <a:t>Click to edit Master text styles</a:t>
            </a:r>
          </a:p>
          <a:p>
            <a:pPr lvl="1"/>
            <a:r>
              <a:rPr lang="en-US" altLang="fr-FR" smtClean="0"/>
              <a:t>Second level</a:t>
            </a:r>
          </a:p>
          <a:p>
            <a:pPr lvl="2"/>
            <a:r>
              <a:rPr lang="en-US" altLang="fr-FR" smtClean="0"/>
              <a:t>Third level</a:t>
            </a:r>
          </a:p>
          <a:p>
            <a:pPr lvl="3"/>
            <a:r>
              <a:rPr lang="en-US" altLang="fr-FR" smtClean="0"/>
              <a:t>Fourth level</a:t>
            </a:r>
          </a:p>
          <a:p>
            <a:pPr lvl="4"/>
            <a:r>
              <a:rPr lang="en-US" altLang="fr-FR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fr-F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CEC8A5C-69C6-441B-952C-86476333BE9C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232758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Freeform 39"/>
          <p:cNvSpPr>
            <a:spLocks/>
          </p:cNvSpPr>
          <p:nvPr/>
        </p:nvSpPr>
        <p:spPr bwMode="gray">
          <a:xfrm>
            <a:off x="3175" y="6346825"/>
            <a:ext cx="9131300" cy="511175"/>
          </a:xfrm>
          <a:custGeom>
            <a:avLst/>
            <a:gdLst>
              <a:gd name="T0" fmla="*/ 5745 w 5752"/>
              <a:gd name="T1" fmla="*/ 9 h 444"/>
              <a:gd name="T2" fmla="*/ 2449 w 5752"/>
              <a:gd name="T3" fmla="*/ 8 h 444"/>
              <a:gd name="T4" fmla="*/ 2347 w 5752"/>
              <a:gd name="T5" fmla="*/ 14 h 444"/>
              <a:gd name="T6" fmla="*/ 2174 w 5752"/>
              <a:gd name="T7" fmla="*/ 93 h 444"/>
              <a:gd name="T8" fmla="*/ 2046 w 5752"/>
              <a:gd name="T9" fmla="*/ 127 h 444"/>
              <a:gd name="T10" fmla="*/ 0 w 5752"/>
              <a:gd name="T11" fmla="*/ 119 h 444"/>
              <a:gd name="T12" fmla="*/ 0 w 5752"/>
              <a:gd name="T13" fmla="*/ 444 h 444"/>
              <a:gd name="T14" fmla="*/ 3601 w 5752"/>
              <a:gd name="T15" fmla="*/ 444 h 444"/>
              <a:gd name="T16" fmla="*/ 3672 w 5752"/>
              <a:gd name="T17" fmla="*/ 424 h 444"/>
              <a:gd name="T18" fmla="*/ 3883 w 5752"/>
              <a:gd name="T19" fmla="*/ 331 h 444"/>
              <a:gd name="T20" fmla="*/ 3985 w 5752"/>
              <a:gd name="T21" fmla="*/ 325 h 444"/>
              <a:gd name="T22" fmla="*/ 5752 w 5752"/>
              <a:gd name="T23" fmla="*/ 325 h 444"/>
              <a:gd name="T24" fmla="*/ 5745 w 5752"/>
              <a:gd name="T25" fmla="*/ 9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01" name="Freeform 29"/>
          <p:cNvSpPr>
            <a:spLocks/>
          </p:cNvSpPr>
          <p:nvPr/>
        </p:nvSpPr>
        <p:spPr bwMode="gray">
          <a:xfrm>
            <a:off x="-1588" y="-1588"/>
            <a:ext cx="9155113" cy="4940301"/>
          </a:xfrm>
          <a:custGeom>
            <a:avLst/>
            <a:gdLst>
              <a:gd name="T0" fmla="*/ 8 w 5767"/>
              <a:gd name="T1" fmla="*/ 3103 h 3128"/>
              <a:gd name="T2" fmla="*/ 2913 w 5767"/>
              <a:gd name="T3" fmla="*/ 3102 h 3128"/>
              <a:gd name="T4" fmla="*/ 3143 w 5767"/>
              <a:gd name="T5" fmla="*/ 3022 h 3128"/>
              <a:gd name="T6" fmla="*/ 3668 w 5767"/>
              <a:gd name="T7" fmla="*/ 2460 h 3128"/>
              <a:gd name="T8" fmla="*/ 4129 w 5767"/>
              <a:gd name="T9" fmla="*/ 2235 h 3128"/>
              <a:gd name="T10" fmla="*/ 5761 w 5767"/>
              <a:gd name="T11" fmla="*/ 2235 h 3128"/>
              <a:gd name="T12" fmla="*/ 5767 w 5767"/>
              <a:gd name="T13" fmla="*/ 0 h 3128"/>
              <a:gd name="T14" fmla="*/ 0 w 5767"/>
              <a:gd name="T15" fmla="*/ 1 h 3128"/>
              <a:gd name="T16" fmla="*/ 8 w 5767"/>
              <a:gd name="T17" fmla="*/ 3103 h 3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7" h="3128">
                <a:moveTo>
                  <a:pt x="8" y="3103"/>
                </a:moveTo>
                <a:lnTo>
                  <a:pt x="2913" y="3102"/>
                </a:lnTo>
                <a:cubicBezTo>
                  <a:pt x="3054" y="3102"/>
                  <a:pt x="3012" y="3128"/>
                  <a:pt x="3143" y="3022"/>
                </a:cubicBezTo>
                <a:lnTo>
                  <a:pt x="3668" y="2460"/>
                </a:lnTo>
                <a:cubicBezTo>
                  <a:pt x="3832" y="2329"/>
                  <a:pt x="3809" y="2215"/>
                  <a:pt x="4129" y="2235"/>
                </a:cubicBezTo>
                <a:lnTo>
                  <a:pt x="5761" y="2235"/>
                </a:lnTo>
                <a:lnTo>
                  <a:pt x="5767" y="0"/>
                </a:lnTo>
                <a:lnTo>
                  <a:pt x="0" y="1"/>
                </a:lnTo>
                <a:lnTo>
                  <a:pt x="8" y="3103"/>
                </a:lnTo>
                <a:close/>
              </a:path>
            </a:pathLst>
          </a:custGeom>
          <a:solidFill>
            <a:schemeClr val="bg2">
              <a:alpha val="8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00" name="Freeform 28"/>
          <p:cNvSpPr>
            <a:spLocks/>
          </p:cNvSpPr>
          <p:nvPr/>
        </p:nvSpPr>
        <p:spPr bwMode="gray">
          <a:xfrm>
            <a:off x="0" y="0"/>
            <a:ext cx="9155113" cy="4333875"/>
          </a:xfrm>
          <a:custGeom>
            <a:avLst/>
            <a:gdLst>
              <a:gd name="T0" fmla="*/ 8 w 5767"/>
              <a:gd name="T1" fmla="*/ 2730 h 2730"/>
              <a:gd name="T2" fmla="*/ 3040 w 5767"/>
              <a:gd name="T3" fmla="*/ 2726 h 2730"/>
              <a:gd name="T4" fmla="*/ 3347 w 5767"/>
              <a:gd name="T5" fmla="*/ 2630 h 2730"/>
              <a:gd name="T6" fmla="*/ 3795 w 5767"/>
              <a:gd name="T7" fmla="*/ 2170 h 2730"/>
              <a:gd name="T8" fmla="*/ 4115 w 5767"/>
              <a:gd name="T9" fmla="*/ 2080 h 2730"/>
              <a:gd name="T10" fmla="*/ 5760 w 5767"/>
              <a:gd name="T11" fmla="*/ 2093 h 2730"/>
              <a:gd name="T12" fmla="*/ 5767 w 5767"/>
              <a:gd name="T13" fmla="*/ 0 h 2730"/>
              <a:gd name="T14" fmla="*/ 0 w 5767"/>
              <a:gd name="T15" fmla="*/ 1 h 2730"/>
              <a:gd name="T16" fmla="*/ 8 w 5767"/>
              <a:gd name="T17" fmla="*/ 2730 h 27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7" h="2730">
                <a:moveTo>
                  <a:pt x="8" y="2730"/>
                </a:moveTo>
                <a:lnTo>
                  <a:pt x="3040" y="2726"/>
                </a:lnTo>
                <a:cubicBezTo>
                  <a:pt x="3181" y="2726"/>
                  <a:pt x="3224" y="2728"/>
                  <a:pt x="3347" y="2630"/>
                </a:cubicBezTo>
                <a:lnTo>
                  <a:pt x="3795" y="2170"/>
                </a:lnTo>
                <a:cubicBezTo>
                  <a:pt x="3923" y="2078"/>
                  <a:pt x="3942" y="2074"/>
                  <a:pt x="4115" y="2080"/>
                </a:cubicBezTo>
                <a:lnTo>
                  <a:pt x="5760" y="2093"/>
                </a:lnTo>
                <a:lnTo>
                  <a:pt x="5767" y="0"/>
                </a:lnTo>
                <a:lnTo>
                  <a:pt x="0" y="1"/>
                </a:lnTo>
                <a:lnTo>
                  <a:pt x="8" y="273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</a:schemeClr>
              </a:gs>
              <a:gs pos="100000">
                <a:schemeClr val="bg1">
                  <a:alpha val="89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02" name="Freeform 30"/>
          <p:cNvSpPr>
            <a:spLocks/>
          </p:cNvSpPr>
          <p:nvPr/>
        </p:nvSpPr>
        <p:spPr bwMode="gray">
          <a:xfrm>
            <a:off x="0" y="0"/>
            <a:ext cx="9153525" cy="1600200"/>
          </a:xfrm>
          <a:custGeom>
            <a:avLst/>
            <a:gdLst>
              <a:gd name="T0" fmla="*/ 0 w 5766"/>
              <a:gd name="T1" fmla="*/ 1008 h 1008"/>
              <a:gd name="T2" fmla="*/ 1884 w 5766"/>
              <a:gd name="T3" fmla="*/ 1008 h 1008"/>
              <a:gd name="T4" fmla="*/ 2152 w 5766"/>
              <a:gd name="T5" fmla="*/ 921 h 1008"/>
              <a:gd name="T6" fmla="*/ 2560 w 5766"/>
              <a:gd name="T7" fmla="*/ 531 h 1008"/>
              <a:gd name="T8" fmla="*/ 2892 w 5766"/>
              <a:gd name="T9" fmla="*/ 448 h 1008"/>
              <a:gd name="T10" fmla="*/ 5766 w 5766"/>
              <a:gd name="T11" fmla="*/ 461 h 1008"/>
              <a:gd name="T12" fmla="*/ 5758 w 5766"/>
              <a:gd name="T13" fmla="*/ 0 h 1008"/>
              <a:gd name="T14" fmla="*/ 0 w 5766"/>
              <a:gd name="T15" fmla="*/ 2 h 1008"/>
              <a:gd name="T16" fmla="*/ 0 w 5766"/>
              <a:gd name="T17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6" h="1008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dt" sz="half" idx="2"/>
          </p:nvPr>
        </p:nvSpPr>
        <p:spPr>
          <a:xfrm>
            <a:off x="762000" y="6477000"/>
            <a:ext cx="2133600" cy="247650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228600" y="1828800"/>
            <a:ext cx="5486400" cy="1470025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altLang="fr-FR" noProof="0" smtClean="0"/>
              <a:t>Modifiez le style du titre</a:t>
            </a:r>
            <a:endParaRPr lang="en-US" altLang="fr-FR" noProof="0" smtClean="0"/>
          </a:p>
        </p:txBody>
      </p:sp>
      <p:sp>
        <p:nvSpPr>
          <p:cNvPr id="3088" name="Rectangle 16"/>
          <p:cNvSpPr>
            <a:spLocks noGrp="1" noChangeArrowheads="1"/>
          </p:cNvSpPr>
          <p:nvPr>
            <p:ph type="subTitle" idx="1"/>
          </p:nvPr>
        </p:nvSpPr>
        <p:spPr>
          <a:xfrm>
            <a:off x="228600" y="3200400"/>
            <a:ext cx="5472113" cy="457200"/>
          </a:xfrm>
        </p:spPr>
        <p:txBody>
          <a:bodyPr/>
          <a:lstStyle>
            <a:lvl1pPr marL="0" indent="0" algn="dist">
              <a:buFontTx/>
              <a:buNone/>
              <a:defRPr sz="1600" i="1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fr-FR" altLang="fr-FR" noProof="0" smtClean="0"/>
              <a:t>Modifiez le style des sous-titres du masque</a:t>
            </a:r>
            <a:endParaRPr lang="en-US" altLang="fr-FR" noProof="0" smtClean="0"/>
          </a:p>
        </p:txBody>
      </p:sp>
      <p:sp>
        <p:nvSpPr>
          <p:cNvPr id="3090" name="Rectangle 18"/>
          <p:cNvSpPr>
            <a:spLocks noGrp="1" noChangeArrowheads="1"/>
          </p:cNvSpPr>
          <p:nvPr>
            <p:ph type="ftr" sz="quarter" idx="3"/>
          </p:nvPr>
        </p:nvSpPr>
        <p:spPr>
          <a:xfrm>
            <a:off x="3048000" y="6477000"/>
            <a:ext cx="3276600" cy="247650"/>
          </a:xfrm>
        </p:spPr>
        <p:txBody>
          <a:bodyPr/>
          <a:lstStyle>
            <a:lvl1pPr algn="l">
              <a:defRPr/>
            </a:lvl1pPr>
          </a:lstStyle>
          <a:p>
            <a:endParaRPr lang="en-US" altLang="fr-FR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04800" y="6477000"/>
            <a:ext cx="381000" cy="247650"/>
          </a:xfrm>
        </p:spPr>
        <p:txBody>
          <a:bodyPr/>
          <a:lstStyle>
            <a:lvl1pPr>
              <a:defRPr/>
            </a:lvl1pPr>
          </a:lstStyle>
          <a:p>
            <a:fld id="{37839852-D5BA-40BB-9A9A-E5F4F7FE9941}" type="slidenum">
              <a:rPr lang="en-US" altLang="fr-FR"/>
              <a:pPr/>
              <a:t>‹N°›</a:t>
            </a:fld>
            <a:endParaRPr lang="en-US" altLang="fr-FR"/>
          </a:p>
        </p:txBody>
      </p:sp>
      <p:sp>
        <p:nvSpPr>
          <p:cNvPr id="3108" name="Text Box 36"/>
          <p:cNvSpPr txBox="1">
            <a:spLocks noChangeArrowheads="1"/>
          </p:cNvSpPr>
          <p:nvPr/>
        </p:nvSpPr>
        <p:spPr bwMode="gray">
          <a:xfrm>
            <a:off x="7391400" y="7620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fr-FR" sz="2400" b="1" dirty="0">
                <a:solidFill>
                  <a:schemeClr val="tx2"/>
                </a:solidFill>
                <a:latin typeface="Arial Black" panose="020B0A04020102020204" pitchFamily="34" charset="0"/>
              </a:rPr>
              <a:t>L/O/G/O</a:t>
            </a:r>
          </a:p>
        </p:txBody>
      </p:sp>
      <p:sp>
        <p:nvSpPr>
          <p:cNvPr id="3109" name="Freeform 37"/>
          <p:cNvSpPr>
            <a:spLocks/>
          </p:cNvSpPr>
          <p:nvPr/>
        </p:nvSpPr>
        <p:spPr bwMode="gray">
          <a:xfrm>
            <a:off x="3175" y="4562475"/>
            <a:ext cx="9131300" cy="511175"/>
          </a:xfrm>
          <a:custGeom>
            <a:avLst/>
            <a:gdLst>
              <a:gd name="T0" fmla="*/ 5745 w 5752"/>
              <a:gd name="T1" fmla="*/ 9 h 444"/>
              <a:gd name="T2" fmla="*/ 2449 w 5752"/>
              <a:gd name="T3" fmla="*/ 8 h 444"/>
              <a:gd name="T4" fmla="*/ 2347 w 5752"/>
              <a:gd name="T5" fmla="*/ 14 h 444"/>
              <a:gd name="T6" fmla="*/ 2174 w 5752"/>
              <a:gd name="T7" fmla="*/ 93 h 444"/>
              <a:gd name="T8" fmla="*/ 2046 w 5752"/>
              <a:gd name="T9" fmla="*/ 127 h 444"/>
              <a:gd name="T10" fmla="*/ 0 w 5752"/>
              <a:gd name="T11" fmla="*/ 119 h 444"/>
              <a:gd name="T12" fmla="*/ 0 w 5752"/>
              <a:gd name="T13" fmla="*/ 444 h 444"/>
              <a:gd name="T14" fmla="*/ 3601 w 5752"/>
              <a:gd name="T15" fmla="*/ 444 h 444"/>
              <a:gd name="T16" fmla="*/ 3672 w 5752"/>
              <a:gd name="T17" fmla="*/ 424 h 444"/>
              <a:gd name="T18" fmla="*/ 3883 w 5752"/>
              <a:gd name="T19" fmla="*/ 331 h 444"/>
              <a:gd name="T20" fmla="*/ 3985 w 5752"/>
              <a:gd name="T21" fmla="*/ 325 h 444"/>
              <a:gd name="T22" fmla="*/ 5752 w 5752"/>
              <a:gd name="T23" fmla="*/ 325 h 444"/>
              <a:gd name="T24" fmla="*/ 5745 w 5752"/>
              <a:gd name="T25" fmla="*/ 9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" y="14921"/>
            <a:ext cx="3562621" cy="158527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383" y="12372"/>
            <a:ext cx="2302034" cy="158837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1" y="12372"/>
            <a:ext cx="1981802" cy="159165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802" y="-2623"/>
            <a:ext cx="1456723" cy="16066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0398" y="1617939"/>
            <a:ext cx="8401050" cy="67468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30541-4B5B-4E6A-847F-0EF85A58EDE9}" type="slidenum">
              <a:rPr lang="en-US" altLang="fr-FR"/>
              <a:pPr/>
              <a:t>‹N°›</a:t>
            </a:fld>
            <a:endParaRPr lang="en-US" altLang="fr-FR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443" y="2297"/>
            <a:ext cx="1840418" cy="104036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" y="3314"/>
            <a:ext cx="2848277" cy="1041347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506" y="2297"/>
            <a:ext cx="1840417" cy="10433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840" y="2297"/>
            <a:ext cx="1507686" cy="1045533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121" y="-12698"/>
            <a:ext cx="1152385" cy="105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03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DA7691-521A-418A-B50F-3A4EAFBCAFB4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154406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50838" y="1600200"/>
            <a:ext cx="4141787" cy="475456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5025" y="1600200"/>
            <a:ext cx="4143375" cy="475456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654A6-546E-4093-96CC-D13E1FF6233E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40869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518FB-4A73-4E81-BED6-B9418EDDDDC6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08801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C3CF3C-FA04-46BC-A6A4-9FB142BA74C1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91589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474F65-A7B1-44A5-A874-C186773F0A19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993639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83BF65-4B7E-4752-8FF4-F2AAF8D793D1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53583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9CD0B-58F7-4A90-BD9E-DF9DD16BC0E1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85554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650BEE-BEFF-48E5-AF1D-BA8D1DAB71E2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105281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80200" y="773113"/>
            <a:ext cx="2108200" cy="558165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50838" y="773113"/>
            <a:ext cx="6176962" cy="55816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5FA651-3485-4AD1-9FF8-E7DADAEAF867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315677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2895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fld id="{F73C5C55-1092-463A-BA4A-D3E9CE85DCED}" type="slidenum">
              <a:rPr lang="en-US" altLang="fr-FR"/>
              <a:pPr/>
              <a:t>‹N°›</a:t>
            </a:fld>
            <a:endParaRPr lang="en-US" altLang="fr-FR"/>
          </a:p>
        </p:txBody>
      </p:sp>
      <p:sp>
        <p:nvSpPr>
          <p:cNvPr id="3" name="Rectangle 2"/>
          <p:cNvSpPr/>
          <p:nvPr userDrawn="1"/>
        </p:nvSpPr>
        <p:spPr>
          <a:xfrm>
            <a:off x="0" y="28575"/>
            <a:ext cx="9144000" cy="1124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 userDrawn="1"/>
        </p:nvSpPr>
        <p:spPr>
          <a:xfrm>
            <a:off x="-22704" y="-23962"/>
            <a:ext cx="9128788" cy="57264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-9674"/>
            <a:ext cx="1114944" cy="55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647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1950" y="773113"/>
            <a:ext cx="8401050" cy="67468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350838" y="1600200"/>
            <a:ext cx="8437562" cy="4754563"/>
          </a:xfrm>
        </p:spPr>
        <p:txBody>
          <a:bodyPr/>
          <a:lstStyle/>
          <a:p>
            <a:r>
              <a:rPr lang="fr-FR" smtClean="0"/>
              <a:t>Cliquez sur l'icône pour ajouter un tableau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2895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fld id="{38F2979B-F4F5-4F7D-AB69-AFE4B6E70206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743842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r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1950" y="773113"/>
            <a:ext cx="8401050" cy="67468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graphique 2"/>
          <p:cNvSpPr>
            <a:spLocks noGrp="1"/>
          </p:cNvSpPr>
          <p:nvPr>
            <p:ph type="chart" idx="1"/>
          </p:nvPr>
        </p:nvSpPr>
        <p:spPr>
          <a:xfrm>
            <a:off x="350838" y="1600200"/>
            <a:ext cx="8437562" cy="4754563"/>
          </a:xfrm>
        </p:spPr>
        <p:txBody>
          <a:bodyPr/>
          <a:lstStyle/>
          <a:p>
            <a:r>
              <a:rPr lang="fr-FR" smtClean="0"/>
              <a:t>Cliquez sur l'icône pour ajouter un graphique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2895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fld id="{C8E1645B-A33A-40F1-BF24-D98298D8C496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718797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re et diagramme ou organi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1950" y="773113"/>
            <a:ext cx="8401050" cy="67468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graphique SmartArt 2"/>
          <p:cNvSpPr>
            <a:spLocks noGrp="1"/>
          </p:cNvSpPr>
          <p:nvPr>
            <p:ph type="dgm" idx="1"/>
          </p:nvPr>
        </p:nvSpPr>
        <p:spPr>
          <a:xfrm>
            <a:off x="350838" y="1600200"/>
            <a:ext cx="8437562" cy="4754563"/>
          </a:xfrm>
        </p:spPr>
        <p:txBody>
          <a:bodyPr/>
          <a:lstStyle/>
          <a:p>
            <a:r>
              <a:rPr lang="fr-FR" smtClean="0"/>
              <a:t>Cliquez sur l'icône pour ajouter un graphique SmartArt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2895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fld id="{A6ABB503-D1AB-4470-92B1-1636400F913E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92959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Freeform 46"/>
          <p:cNvSpPr>
            <a:spLocks/>
          </p:cNvSpPr>
          <p:nvPr userDrawn="1"/>
        </p:nvSpPr>
        <p:spPr bwMode="gray">
          <a:xfrm>
            <a:off x="0" y="1108075"/>
            <a:ext cx="9175751" cy="5749925"/>
          </a:xfrm>
          <a:custGeom>
            <a:avLst/>
            <a:gdLst>
              <a:gd name="T0" fmla="*/ 7 w 5780"/>
              <a:gd name="T1" fmla="*/ 3616 h 3622"/>
              <a:gd name="T2" fmla="*/ 5780 w 5780"/>
              <a:gd name="T3" fmla="*/ 3622 h 3622"/>
              <a:gd name="T4" fmla="*/ 5760 w 5780"/>
              <a:gd name="T5" fmla="*/ 0 h 3622"/>
              <a:gd name="T6" fmla="*/ 0 w 5780"/>
              <a:gd name="T7" fmla="*/ 0 h 3622"/>
              <a:gd name="T8" fmla="*/ 7 w 5780"/>
              <a:gd name="T9" fmla="*/ 3616 h 3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80" h="3622">
                <a:moveTo>
                  <a:pt x="7" y="3616"/>
                </a:moveTo>
                <a:lnTo>
                  <a:pt x="5780" y="3622"/>
                </a:lnTo>
                <a:lnTo>
                  <a:pt x="5760" y="0"/>
                </a:lnTo>
                <a:lnTo>
                  <a:pt x="0" y="0"/>
                </a:lnTo>
                <a:lnTo>
                  <a:pt x="7" y="3616"/>
                </a:lnTo>
                <a:close/>
              </a:path>
            </a:pathLst>
          </a:custGeom>
          <a:solidFill>
            <a:srgbClr val="FFFFFF"/>
          </a:solidFill>
          <a:ln/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fr-FR"/>
          </a:p>
        </p:txBody>
      </p:sp>
      <p:sp>
        <p:nvSpPr>
          <p:cNvPr id="1092" name="Rectangle 68"/>
          <p:cNvSpPr>
            <a:spLocks noGrp="1" noChangeArrowheads="1"/>
          </p:cNvSpPr>
          <p:nvPr>
            <p:ph type="body" idx="1"/>
          </p:nvPr>
        </p:nvSpPr>
        <p:spPr bwMode="gray">
          <a:xfrm>
            <a:off x="350838" y="1600200"/>
            <a:ext cx="8437562" cy="475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  <a:endParaRPr lang="en-US" altLang="fr-FR" smtClean="0"/>
          </a:p>
        </p:txBody>
      </p:sp>
      <p:sp>
        <p:nvSpPr>
          <p:cNvPr id="1093" name="Rectangle 69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629400"/>
            <a:ext cx="2133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US" altLang="fr-FR"/>
          </a:p>
        </p:txBody>
      </p:sp>
      <p:sp>
        <p:nvSpPr>
          <p:cNvPr id="1094" name="Rectangle 70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629400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fr-FR"/>
          </a:p>
        </p:txBody>
      </p:sp>
      <p:sp>
        <p:nvSpPr>
          <p:cNvPr id="1095" name="Rectangle 71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6629400"/>
            <a:ext cx="2133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8B6FA04B-B156-496B-B776-4620B9F0E678}" type="slidenum">
              <a:rPr lang="en-US" altLang="fr-FR"/>
              <a:pPr/>
              <a:t>‹N°›</a:t>
            </a:fld>
            <a:endParaRPr lang="en-US" altLang="fr-FR"/>
          </a:p>
        </p:txBody>
      </p:sp>
      <p:sp>
        <p:nvSpPr>
          <p:cNvPr id="1097" name="Freeform 73"/>
          <p:cNvSpPr>
            <a:spLocks/>
          </p:cNvSpPr>
          <p:nvPr/>
        </p:nvSpPr>
        <p:spPr bwMode="gray">
          <a:xfrm>
            <a:off x="3175" y="685800"/>
            <a:ext cx="9131300" cy="685800"/>
          </a:xfrm>
          <a:custGeom>
            <a:avLst/>
            <a:gdLst>
              <a:gd name="T0" fmla="*/ 5745 w 5752"/>
              <a:gd name="T1" fmla="*/ 9 h 444"/>
              <a:gd name="T2" fmla="*/ 2449 w 5752"/>
              <a:gd name="T3" fmla="*/ 8 h 444"/>
              <a:gd name="T4" fmla="*/ 2347 w 5752"/>
              <a:gd name="T5" fmla="*/ 14 h 444"/>
              <a:gd name="T6" fmla="*/ 2174 w 5752"/>
              <a:gd name="T7" fmla="*/ 93 h 444"/>
              <a:gd name="T8" fmla="*/ 2046 w 5752"/>
              <a:gd name="T9" fmla="*/ 127 h 444"/>
              <a:gd name="T10" fmla="*/ 0 w 5752"/>
              <a:gd name="T11" fmla="*/ 119 h 444"/>
              <a:gd name="T12" fmla="*/ 0 w 5752"/>
              <a:gd name="T13" fmla="*/ 444 h 444"/>
              <a:gd name="T14" fmla="*/ 3601 w 5752"/>
              <a:gd name="T15" fmla="*/ 444 h 444"/>
              <a:gd name="T16" fmla="*/ 3672 w 5752"/>
              <a:gd name="T17" fmla="*/ 424 h 444"/>
              <a:gd name="T18" fmla="*/ 3883 w 5752"/>
              <a:gd name="T19" fmla="*/ 331 h 444"/>
              <a:gd name="T20" fmla="*/ 3985 w 5752"/>
              <a:gd name="T21" fmla="*/ 325 h 444"/>
              <a:gd name="T22" fmla="*/ 5752 w 5752"/>
              <a:gd name="T23" fmla="*/ 325 h 444"/>
              <a:gd name="T24" fmla="*/ 5745 w 5752"/>
              <a:gd name="T25" fmla="*/ 9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91" name="Rectangle 67"/>
          <p:cNvSpPr>
            <a:spLocks noGrp="1" noChangeArrowheads="1"/>
          </p:cNvSpPr>
          <p:nvPr>
            <p:ph type="title"/>
          </p:nvPr>
        </p:nvSpPr>
        <p:spPr bwMode="gray">
          <a:xfrm>
            <a:off x="361950" y="773113"/>
            <a:ext cx="8401050" cy="67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 style du titre</a:t>
            </a:r>
            <a:endParaRPr lang="en-US" altLang="fr-FR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1752600"/>
            <a:ext cx="8587680" cy="1576388"/>
          </a:xfrm>
        </p:spPr>
        <p:txBody>
          <a:bodyPr/>
          <a:lstStyle/>
          <a:p>
            <a:r>
              <a:rPr lang="fr-FR" altLang="fr-FR" sz="3200" dirty="0" smtClean="0">
                <a:solidFill>
                  <a:schemeClr val="tx2"/>
                </a:solidFill>
              </a:rPr>
              <a:t>Chapitre</a:t>
            </a:r>
            <a:r>
              <a:rPr lang="en-US" altLang="fr-FR" sz="3200" dirty="0" smtClean="0">
                <a:solidFill>
                  <a:schemeClr val="tx2"/>
                </a:solidFill>
              </a:rPr>
              <a:t> 2</a:t>
            </a:r>
            <a:r>
              <a:rPr lang="en-US" altLang="fr-FR" sz="3200" dirty="0">
                <a:solidFill>
                  <a:schemeClr val="tx2"/>
                </a:solidFill>
              </a:rPr>
              <a:t>: </a:t>
            </a:r>
            <a:r>
              <a:rPr lang="fr-FR" altLang="fr-FR" sz="3200" dirty="0" smtClean="0">
                <a:solidFill>
                  <a:schemeClr val="tx2"/>
                </a:solidFill>
              </a:rPr>
              <a:t>Cryptographie</a:t>
            </a:r>
            <a:r>
              <a:rPr lang="en-US" altLang="fr-FR" sz="3200" dirty="0" smtClean="0">
                <a:solidFill>
                  <a:schemeClr val="tx2"/>
                </a:solidFill>
              </a:rPr>
              <a:t> </a:t>
            </a:r>
            <a:r>
              <a:rPr lang="fr-FR" altLang="fr-FR" sz="3200" dirty="0" smtClean="0">
                <a:solidFill>
                  <a:schemeClr val="tx2"/>
                </a:solidFill>
              </a:rPr>
              <a:t>asymétrique</a:t>
            </a:r>
            <a:endParaRPr lang="fr-FR" altLang="fr-FR" sz="60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124200"/>
            <a:ext cx="4572000" cy="381000"/>
          </a:xfrm>
          <a:noFill/>
          <a:ln/>
        </p:spPr>
        <p:txBody>
          <a:bodyPr/>
          <a:lstStyle/>
          <a:p>
            <a:r>
              <a:rPr lang="en-US" altLang="fr-FR" b="1" dirty="0" smtClean="0">
                <a:solidFill>
                  <a:schemeClr val="tx2"/>
                </a:solidFill>
              </a:rPr>
              <a:t>Module:  </a:t>
            </a:r>
            <a:r>
              <a:rPr lang="fr-FR" altLang="fr-FR" b="1" dirty="0">
                <a:solidFill>
                  <a:schemeClr val="tx2"/>
                </a:solidFill>
              </a:rPr>
              <a:t>Cryptographie</a:t>
            </a:r>
            <a:r>
              <a:rPr lang="en-US" altLang="fr-FR" b="1" dirty="0">
                <a:solidFill>
                  <a:schemeClr val="tx2"/>
                </a:solidFill>
              </a:rPr>
              <a:t> </a:t>
            </a:r>
            <a:r>
              <a:rPr lang="en-US" altLang="fr-FR" b="1" dirty="0" smtClean="0">
                <a:solidFill>
                  <a:schemeClr val="tx2"/>
                </a:solidFill>
              </a:rPr>
              <a:t> </a:t>
            </a:r>
            <a:r>
              <a:rPr lang="fr-FR" altLang="fr-FR" b="1" dirty="0" smtClean="0">
                <a:solidFill>
                  <a:schemeClr val="tx2"/>
                </a:solidFill>
              </a:rPr>
              <a:t>avancée</a:t>
            </a:r>
            <a:endParaRPr lang="fr-FR" alt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230852"/>
            <a:ext cx="8401050" cy="674687"/>
          </a:xfrm>
        </p:spPr>
        <p:txBody>
          <a:bodyPr/>
          <a:lstStyle/>
          <a:p>
            <a:r>
              <a:rPr lang="fr-FR" altLang="fr-FR" dirty="0" smtClean="0"/>
              <a:t>Contenu</a:t>
            </a:r>
            <a:r>
              <a:rPr lang="en-US" altLang="fr-FR" dirty="0" smtClean="0"/>
              <a:t> </a:t>
            </a:r>
            <a:r>
              <a:rPr lang="en-US" altLang="fr-FR" dirty="0"/>
              <a:t>du </a:t>
            </a:r>
            <a:r>
              <a:rPr lang="fr-FR" altLang="fr-FR" dirty="0" smtClean="0"/>
              <a:t>cours</a:t>
            </a:r>
            <a:r>
              <a:rPr lang="en-US" altLang="fr-FR" dirty="0" smtClean="0"/>
              <a:t> </a:t>
            </a:r>
            <a:r>
              <a:rPr lang="en-US" altLang="fr-FR" dirty="0"/>
              <a:t>:</a:t>
            </a:r>
            <a:endParaRPr lang="en-US" altLang="fr-FR" dirty="0">
              <a:solidFill>
                <a:schemeClr val="accent1"/>
              </a:solidFill>
            </a:endParaRPr>
          </a:p>
        </p:txBody>
      </p:sp>
      <p:grpSp>
        <p:nvGrpSpPr>
          <p:cNvPr id="10289" name="Group 49"/>
          <p:cNvGrpSpPr>
            <a:grpSpLocks/>
          </p:cNvGrpSpPr>
          <p:nvPr/>
        </p:nvGrpSpPr>
        <p:grpSpPr bwMode="auto">
          <a:xfrm>
            <a:off x="1981201" y="2774950"/>
            <a:ext cx="5311775" cy="469900"/>
            <a:chOff x="1213" y="1748"/>
            <a:chExt cx="3346" cy="296"/>
          </a:xfrm>
        </p:grpSpPr>
        <p:grpSp>
          <p:nvGrpSpPr>
            <p:cNvPr id="10244" name="Group 4"/>
            <p:cNvGrpSpPr>
              <a:grpSpLocks/>
            </p:cNvGrpSpPr>
            <p:nvPr/>
          </p:nvGrpSpPr>
          <p:grpSpPr bwMode="auto">
            <a:xfrm>
              <a:off x="1213" y="1756"/>
              <a:ext cx="3346" cy="288"/>
              <a:chOff x="1117" y="1455"/>
              <a:chExt cx="3346" cy="288"/>
            </a:xfrm>
          </p:grpSpPr>
          <p:sp>
            <p:nvSpPr>
              <p:cNvPr id="10245" name="AutoShape 5"/>
              <p:cNvSpPr>
                <a:spLocks noChangeArrowheads="1"/>
              </p:cNvSpPr>
              <p:nvPr/>
            </p:nvSpPr>
            <p:spPr bwMode="gray">
              <a:xfrm>
                <a:off x="1117" y="1455"/>
                <a:ext cx="3346" cy="288"/>
              </a:xfrm>
              <a:prstGeom prst="roundRect">
                <a:avLst>
                  <a:gd name="adj" fmla="val 7292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7451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solidFill>
                  <a:srgbClr val="FFFFFF">
                    <a:alpha val="70000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46" name="AutoShape 6"/>
              <p:cNvSpPr>
                <a:spLocks noChangeArrowheads="1"/>
              </p:cNvSpPr>
              <p:nvPr/>
            </p:nvSpPr>
            <p:spPr bwMode="gray">
              <a:xfrm>
                <a:off x="1117" y="1455"/>
                <a:ext cx="3346" cy="95"/>
              </a:xfrm>
              <a:prstGeom prst="roundRect">
                <a:avLst>
                  <a:gd name="adj" fmla="val 26389"/>
                </a:avLst>
              </a:prstGeom>
              <a:solidFill>
                <a:schemeClr val="accent2">
                  <a:alpha val="3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0247" name="Text Box 7"/>
            <p:cNvSpPr txBox="1">
              <a:spLocks noChangeArrowheads="1"/>
            </p:cNvSpPr>
            <p:nvPr/>
          </p:nvSpPr>
          <p:spPr bwMode="white">
            <a:xfrm>
              <a:off x="1680" y="1755"/>
              <a:ext cx="25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292929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fr-FR" sz="2400" b="1" dirty="0">
                  <a:solidFill>
                    <a:srgbClr val="FFFFFF"/>
                  </a:solidFill>
                </a:rPr>
                <a:t>Introduction</a:t>
              </a:r>
            </a:p>
          </p:txBody>
        </p:sp>
        <p:grpSp>
          <p:nvGrpSpPr>
            <p:cNvPr id="10248" name="Group 8"/>
            <p:cNvGrpSpPr>
              <a:grpSpLocks/>
            </p:cNvGrpSpPr>
            <p:nvPr/>
          </p:nvGrpSpPr>
          <p:grpSpPr bwMode="auto">
            <a:xfrm>
              <a:off x="1355" y="1758"/>
              <a:ext cx="270" cy="270"/>
              <a:chOff x="4166" y="1706"/>
              <a:chExt cx="1252" cy="1252"/>
            </a:xfrm>
          </p:grpSpPr>
          <p:sp>
            <p:nvSpPr>
              <p:cNvPr id="10249" name="Oval 9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50" name="Oval 10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51" name="Oval 11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52" name="Oval 12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</p:grpSp>
        <p:sp>
          <p:nvSpPr>
            <p:cNvPr id="10253" name="Text Box 13"/>
            <p:cNvSpPr txBox="1">
              <a:spLocks noChangeArrowheads="1"/>
            </p:cNvSpPr>
            <p:nvPr/>
          </p:nvSpPr>
          <p:spPr bwMode="auto">
            <a:xfrm>
              <a:off x="1364" y="1748"/>
              <a:ext cx="2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fr-FR" sz="2400" b="1">
                  <a:solidFill>
                    <a:srgbClr val="000000"/>
                  </a:solidFill>
                </a:rPr>
                <a:t>1</a:t>
              </a:r>
            </a:p>
          </p:txBody>
        </p:sp>
      </p:grpSp>
      <p:grpSp>
        <p:nvGrpSpPr>
          <p:cNvPr id="10288" name="Group 48"/>
          <p:cNvGrpSpPr>
            <a:grpSpLocks/>
          </p:cNvGrpSpPr>
          <p:nvPr/>
        </p:nvGrpSpPr>
        <p:grpSpPr bwMode="auto">
          <a:xfrm>
            <a:off x="1981200" y="3501432"/>
            <a:ext cx="5311775" cy="469900"/>
            <a:chOff x="1214" y="2241"/>
            <a:chExt cx="4898" cy="296"/>
          </a:xfrm>
        </p:grpSpPr>
        <p:grpSp>
          <p:nvGrpSpPr>
            <p:cNvPr id="10254" name="Group 14"/>
            <p:cNvGrpSpPr>
              <a:grpSpLocks/>
            </p:cNvGrpSpPr>
            <p:nvPr/>
          </p:nvGrpSpPr>
          <p:grpSpPr bwMode="auto">
            <a:xfrm>
              <a:off x="1214" y="2249"/>
              <a:ext cx="4898" cy="288"/>
              <a:chOff x="1118" y="1948"/>
              <a:chExt cx="4898" cy="288"/>
            </a:xfrm>
          </p:grpSpPr>
          <p:sp>
            <p:nvSpPr>
              <p:cNvPr id="10255" name="AutoShape 15"/>
              <p:cNvSpPr>
                <a:spLocks noChangeArrowheads="1"/>
              </p:cNvSpPr>
              <p:nvPr/>
            </p:nvSpPr>
            <p:spPr bwMode="gray">
              <a:xfrm>
                <a:off x="1118" y="1948"/>
                <a:ext cx="4898" cy="288"/>
              </a:xfrm>
              <a:prstGeom prst="roundRect">
                <a:avLst>
                  <a:gd name="adj" fmla="val 7292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4314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solidFill>
                  <a:srgbClr val="FFFFFF">
                    <a:alpha val="70000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6" name="AutoShape 16"/>
              <p:cNvSpPr>
                <a:spLocks noChangeArrowheads="1"/>
              </p:cNvSpPr>
              <p:nvPr/>
            </p:nvSpPr>
            <p:spPr bwMode="gray">
              <a:xfrm>
                <a:off x="1118" y="1948"/>
                <a:ext cx="3346" cy="95"/>
              </a:xfrm>
              <a:prstGeom prst="roundRect">
                <a:avLst>
                  <a:gd name="adj" fmla="val 26389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0257" name="Text Box 17"/>
            <p:cNvSpPr txBox="1">
              <a:spLocks noChangeArrowheads="1"/>
            </p:cNvSpPr>
            <p:nvPr/>
          </p:nvSpPr>
          <p:spPr bwMode="white">
            <a:xfrm>
              <a:off x="1880" y="2248"/>
              <a:ext cx="39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292929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fr-FR" altLang="fr-FR" sz="2000" b="1" dirty="0" smtClean="0">
                  <a:solidFill>
                    <a:srgbClr val="FFFFFF"/>
                  </a:solidFill>
                </a:rPr>
                <a:t>Algorithme RSA</a:t>
              </a:r>
              <a:endParaRPr lang="en-US" altLang="fr-FR" sz="20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10258" name="Group 18"/>
            <p:cNvGrpSpPr>
              <a:grpSpLocks/>
            </p:cNvGrpSpPr>
            <p:nvPr/>
          </p:nvGrpSpPr>
          <p:grpSpPr bwMode="auto">
            <a:xfrm>
              <a:off x="1342" y="2251"/>
              <a:ext cx="270" cy="270"/>
              <a:chOff x="4166" y="1706"/>
              <a:chExt cx="1252" cy="1252"/>
            </a:xfrm>
          </p:grpSpPr>
          <p:sp>
            <p:nvSpPr>
              <p:cNvPr id="10259" name="Oval 19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60" name="Oval 20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61" name="Oval 21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62" name="Oval 22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</p:grpSp>
        <p:sp>
          <p:nvSpPr>
            <p:cNvPr id="10263" name="Text Box 23"/>
            <p:cNvSpPr txBox="1">
              <a:spLocks noChangeArrowheads="1"/>
            </p:cNvSpPr>
            <p:nvPr/>
          </p:nvSpPr>
          <p:spPr bwMode="auto">
            <a:xfrm>
              <a:off x="1351" y="2241"/>
              <a:ext cx="2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fr-FR" sz="2400" b="1" dirty="0">
                  <a:solidFill>
                    <a:srgbClr val="000000"/>
                  </a:solidFill>
                </a:rPr>
                <a:t>2</a:t>
              </a:r>
            </a:p>
          </p:txBody>
        </p:sp>
      </p:grpSp>
      <p:grpSp>
        <p:nvGrpSpPr>
          <p:cNvPr id="10286" name="Group 46"/>
          <p:cNvGrpSpPr>
            <a:grpSpLocks/>
          </p:cNvGrpSpPr>
          <p:nvPr/>
        </p:nvGrpSpPr>
        <p:grpSpPr bwMode="auto">
          <a:xfrm>
            <a:off x="1472135" y="4213143"/>
            <a:ext cx="6610895" cy="469900"/>
            <a:chOff x="1255" y="3256"/>
            <a:chExt cx="3355" cy="296"/>
          </a:xfrm>
        </p:grpSpPr>
        <p:grpSp>
          <p:nvGrpSpPr>
            <p:cNvPr id="10274" name="Group 34"/>
            <p:cNvGrpSpPr>
              <a:grpSpLocks/>
            </p:cNvGrpSpPr>
            <p:nvPr/>
          </p:nvGrpSpPr>
          <p:grpSpPr bwMode="auto">
            <a:xfrm>
              <a:off x="1255" y="3264"/>
              <a:ext cx="3346" cy="288"/>
              <a:chOff x="1118" y="2963"/>
              <a:chExt cx="3346" cy="288"/>
            </a:xfrm>
          </p:grpSpPr>
          <p:sp>
            <p:nvSpPr>
              <p:cNvPr id="10275" name="AutoShape 35"/>
              <p:cNvSpPr>
                <a:spLocks noChangeArrowheads="1"/>
              </p:cNvSpPr>
              <p:nvPr/>
            </p:nvSpPr>
            <p:spPr bwMode="gray">
              <a:xfrm>
                <a:off x="1118" y="2963"/>
                <a:ext cx="3346" cy="288"/>
              </a:xfrm>
              <a:prstGeom prst="roundRect">
                <a:avLst>
                  <a:gd name="adj" fmla="val 7292"/>
                </a:avLst>
              </a:prstGeom>
              <a:gradFill rotWithShape="1">
                <a:gsLst>
                  <a:gs pos="0">
                    <a:schemeClr val="hlink">
                      <a:gamma/>
                      <a:shade val="50980"/>
                      <a:invGamma/>
                    </a:schemeClr>
                  </a:gs>
                  <a:gs pos="100000">
                    <a:schemeClr val="hlink"/>
                  </a:gs>
                </a:gsLst>
                <a:lin ang="5400000" scaled="1"/>
              </a:gradFill>
              <a:ln w="9525">
                <a:solidFill>
                  <a:srgbClr val="FFFFFF">
                    <a:alpha val="39999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76" name="AutoShape 36"/>
              <p:cNvSpPr>
                <a:spLocks noChangeArrowheads="1"/>
              </p:cNvSpPr>
              <p:nvPr/>
            </p:nvSpPr>
            <p:spPr bwMode="gray">
              <a:xfrm>
                <a:off x="1118" y="2963"/>
                <a:ext cx="3346" cy="95"/>
              </a:xfrm>
              <a:prstGeom prst="roundRect">
                <a:avLst>
                  <a:gd name="adj" fmla="val 26389"/>
                </a:avLst>
              </a:prstGeom>
              <a:solidFill>
                <a:schemeClr val="hlink">
                  <a:alpha val="3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0277" name="Text Box 37"/>
            <p:cNvSpPr txBox="1">
              <a:spLocks noChangeArrowheads="1"/>
            </p:cNvSpPr>
            <p:nvPr/>
          </p:nvSpPr>
          <p:spPr bwMode="white">
            <a:xfrm>
              <a:off x="1662" y="3256"/>
              <a:ext cx="29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292929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1"/>
                </a:buClr>
              </a:pPr>
              <a:endParaRPr lang="fr-FR" altLang="fr-FR" sz="24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10278" name="Group 38"/>
            <p:cNvGrpSpPr>
              <a:grpSpLocks/>
            </p:cNvGrpSpPr>
            <p:nvPr/>
          </p:nvGrpSpPr>
          <p:grpSpPr bwMode="auto">
            <a:xfrm>
              <a:off x="1383" y="3266"/>
              <a:ext cx="270" cy="270"/>
              <a:chOff x="4166" y="1706"/>
              <a:chExt cx="1252" cy="1252"/>
            </a:xfrm>
          </p:grpSpPr>
          <p:sp>
            <p:nvSpPr>
              <p:cNvPr id="10279" name="Oval 39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80" name="Oval 40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81" name="Oval 41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82" name="Oval 42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</p:grpSp>
        <p:sp>
          <p:nvSpPr>
            <p:cNvPr id="10283" name="Text Box 43"/>
            <p:cNvSpPr txBox="1">
              <a:spLocks noChangeArrowheads="1"/>
            </p:cNvSpPr>
            <p:nvPr/>
          </p:nvSpPr>
          <p:spPr bwMode="auto">
            <a:xfrm>
              <a:off x="1392" y="3256"/>
              <a:ext cx="2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fr-FR" sz="2400" b="1" dirty="0" smtClean="0">
                  <a:solidFill>
                    <a:srgbClr val="000000"/>
                  </a:solidFill>
                </a:rPr>
                <a:t>3</a:t>
              </a:r>
              <a:endParaRPr lang="en-US" altLang="fr-FR" sz="24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7" name="Group 48"/>
          <p:cNvGrpSpPr>
            <a:grpSpLocks/>
          </p:cNvGrpSpPr>
          <p:nvPr/>
        </p:nvGrpSpPr>
        <p:grpSpPr bwMode="auto">
          <a:xfrm>
            <a:off x="2023423" y="4903316"/>
            <a:ext cx="5311775" cy="469900"/>
            <a:chOff x="1214" y="2241"/>
            <a:chExt cx="4898" cy="296"/>
          </a:xfrm>
        </p:grpSpPr>
        <p:grpSp>
          <p:nvGrpSpPr>
            <p:cNvPr id="48" name="Group 14"/>
            <p:cNvGrpSpPr>
              <a:grpSpLocks/>
            </p:cNvGrpSpPr>
            <p:nvPr/>
          </p:nvGrpSpPr>
          <p:grpSpPr bwMode="auto">
            <a:xfrm>
              <a:off x="1214" y="2249"/>
              <a:ext cx="4898" cy="288"/>
              <a:chOff x="1118" y="1948"/>
              <a:chExt cx="4898" cy="288"/>
            </a:xfrm>
          </p:grpSpPr>
          <p:sp>
            <p:nvSpPr>
              <p:cNvPr id="56" name="AutoShape 15"/>
              <p:cNvSpPr>
                <a:spLocks noChangeArrowheads="1"/>
              </p:cNvSpPr>
              <p:nvPr/>
            </p:nvSpPr>
            <p:spPr bwMode="gray">
              <a:xfrm>
                <a:off x="1118" y="1948"/>
                <a:ext cx="4898" cy="288"/>
              </a:xfrm>
              <a:prstGeom prst="roundRect">
                <a:avLst>
                  <a:gd name="adj" fmla="val 7292"/>
                </a:avLst>
              </a:prstGeom>
              <a:solidFill>
                <a:srgbClr val="FFC000"/>
              </a:solidFill>
              <a:ln w="9525">
                <a:solidFill>
                  <a:srgbClr val="FFFFFF">
                    <a:alpha val="70000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7" name="AutoShape 16"/>
              <p:cNvSpPr>
                <a:spLocks noChangeArrowheads="1"/>
              </p:cNvSpPr>
              <p:nvPr/>
            </p:nvSpPr>
            <p:spPr bwMode="gray">
              <a:xfrm>
                <a:off x="1118" y="1948"/>
                <a:ext cx="3346" cy="95"/>
              </a:xfrm>
              <a:prstGeom prst="roundRect">
                <a:avLst>
                  <a:gd name="adj" fmla="val 26389"/>
                </a:avLst>
              </a:prstGeom>
              <a:solidFill>
                <a:srgbClr val="FFC000">
                  <a:alpha val="3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9" name="Text Box 17"/>
            <p:cNvSpPr txBox="1">
              <a:spLocks noChangeArrowheads="1"/>
            </p:cNvSpPr>
            <p:nvPr/>
          </p:nvSpPr>
          <p:spPr bwMode="white">
            <a:xfrm>
              <a:off x="1667" y="2248"/>
              <a:ext cx="39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292929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fr-FR" altLang="fr-FR" sz="2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Algorithme El Gamal</a:t>
              </a:r>
            </a:p>
          </p:txBody>
        </p:sp>
        <p:grpSp>
          <p:nvGrpSpPr>
            <p:cNvPr id="50" name="Group 18"/>
            <p:cNvGrpSpPr>
              <a:grpSpLocks/>
            </p:cNvGrpSpPr>
            <p:nvPr/>
          </p:nvGrpSpPr>
          <p:grpSpPr bwMode="auto">
            <a:xfrm>
              <a:off x="1342" y="2251"/>
              <a:ext cx="270" cy="270"/>
              <a:chOff x="4166" y="1706"/>
              <a:chExt cx="1252" cy="1252"/>
            </a:xfrm>
          </p:grpSpPr>
          <p:sp>
            <p:nvSpPr>
              <p:cNvPr id="52" name="Oval 19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53" name="Oval 20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54" name="Oval 21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55" name="Oval 22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</p:grp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1351" y="2241"/>
              <a:ext cx="2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fr-FR" sz="2400" b="1" dirty="0" smtClean="0">
                  <a:solidFill>
                    <a:srgbClr val="000000"/>
                  </a:solidFill>
                </a:rPr>
                <a:t>4</a:t>
              </a:r>
              <a:endParaRPr lang="en-US" altLang="fr-FR" sz="24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ZoneTexte 1"/>
          <p:cNvSpPr txBox="1"/>
          <p:nvPr/>
        </p:nvSpPr>
        <p:spPr>
          <a:xfrm>
            <a:off x="2384290" y="4240614"/>
            <a:ext cx="5716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FFFF"/>
                </a:solidFill>
              </a:rPr>
              <a:t>Protocole de </a:t>
            </a:r>
            <a:r>
              <a:rPr lang="fr-FR" b="1" dirty="0" err="1">
                <a:solidFill>
                  <a:srgbClr val="FFFFFF"/>
                </a:solidFill>
              </a:rPr>
              <a:t>Diffie-Hellman</a:t>
            </a:r>
            <a:r>
              <a:rPr lang="fr-FR" b="1" dirty="0">
                <a:solidFill>
                  <a:srgbClr val="FFFFFF"/>
                </a:solidFill>
              </a:rPr>
              <a:t> : Logarithme Discret</a:t>
            </a:r>
          </a:p>
          <a:p>
            <a:endParaRPr lang="fr-FR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625752" y="103566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421196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20650" y="1360682"/>
            <a:ext cx="9036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Principe de </a:t>
            </a:r>
            <a:r>
              <a:rPr lang="fr-FR" sz="2400" b="1" dirty="0" err="1">
                <a:solidFill>
                  <a:srgbClr val="C00000"/>
                </a:solidFill>
              </a:rPr>
              <a:t>Kerckhoffs</a:t>
            </a:r>
            <a:endParaRPr lang="fr-FR" sz="2400" dirty="0">
              <a:solidFill>
                <a:srgbClr val="C0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3146" y="73945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 </a:t>
            </a:r>
            <a:r>
              <a:rPr lang="fr-FR" sz="2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 cryptographie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99554" y="4149080"/>
            <a:ext cx="84786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200" dirty="0"/>
              <a:t>Contraire à </a:t>
            </a:r>
            <a:r>
              <a:rPr lang="fr-FR" sz="2200" b="1" dirty="0"/>
              <a:t>l’intuition</a:t>
            </a:r>
            <a:r>
              <a:rPr lang="fr-FR" sz="2200" dirty="0"/>
              <a:t> qui est de dissimuler le maximum de choses possibles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200" dirty="0"/>
              <a:t>Un </a:t>
            </a:r>
            <a:r>
              <a:rPr lang="fr-FR" sz="2200" b="1" dirty="0"/>
              <a:t>mécanisme connu </a:t>
            </a:r>
            <a:r>
              <a:rPr lang="fr-FR" sz="2200" dirty="0"/>
              <a:t>de tous sera testé, attaqué, étudié, et </a:t>
            </a:r>
            <a:r>
              <a:rPr lang="fr-FR" sz="2200" b="1" dirty="0"/>
              <a:t>utilisé s’il est robuste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200" b="1" dirty="0"/>
              <a:t>Seule la clé utilisée reste secrète </a:t>
            </a:r>
          </a:p>
          <a:p>
            <a:endParaRPr lang="fr-FR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1403648" y="2014000"/>
            <a:ext cx="6768752" cy="864096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b="1" dirty="0" smtClean="0"/>
          </a:p>
          <a:p>
            <a:pPr algn="ctr"/>
            <a:endParaRPr lang="fr-FR" sz="2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</a:t>
            </a:r>
            <a:r>
              <a:rPr lang="fr-F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sécurité d’un système de chiffrement ne doit reposer que sur le </a:t>
            </a:r>
            <a:r>
              <a:rPr lang="fr-FR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secret de la clé</a:t>
            </a:r>
            <a:r>
              <a:rPr lang="fr-F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endParaRPr lang="fr-FR" sz="2200" dirty="0"/>
          </a:p>
          <a:p>
            <a:pPr algn="ctr"/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37427" y="3200952"/>
            <a:ext cx="9130854" cy="673686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00" dirty="0" smtClean="0"/>
          </a:p>
          <a:p>
            <a:pPr algn="ctr"/>
            <a:r>
              <a:rPr lang="fr-FR" sz="23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L’ennemi </a:t>
            </a:r>
            <a:r>
              <a:rPr lang="fr-FR" sz="23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peut avoir connaissance du système de chiffrement.</a:t>
            </a: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551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3146" y="1360682"/>
            <a:ext cx="923937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 smtClean="0"/>
              <a:t>5 X 7 =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 smtClean="0"/>
              <a:t>35 =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 smtClean="0"/>
              <a:t>Factoriser </a:t>
            </a:r>
            <a:r>
              <a:rPr lang="fr-FR" sz="2200" b="1" dirty="0" smtClean="0"/>
              <a:t>1591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 smtClean="0"/>
              <a:t>Calculer 37 X </a:t>
            </a:r>
            <a:r>
              <a:rPr lang="fr-FR" sz="2200" dirty="0"/>
              <a:t>43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 smtClean="0"/>
              <a:t>Calculer </a:t>
            </a:r>
            <a:r>
              <a:rPr lang="fr-FR" sz="2200" b="1" dirty="0" smtClean="0"/>
              <a:t>p X q </a:t>
            </a:r>
            <a:r>
              <a:rPr lang="fr-FR" sz="2200" dirty="0" smtClean="0">
                <a:solidFill>
                  <a:srgbClr val="FF0000"/>
                </a:solidFill>
              </a:rPr>
              <a:t>est plus facile que de factoriser </a:t>
            </a:r>
            <a:r>
              <a:rPr lang="fr-FR" sz="2200" b="1" dirty="0" smtClean="0"/>
              <a:t>n=</a:t>
            </a:r>
            <a:r>
              <a:rPr lang="fr-FR" sz="2200" b="1" dirty="0" err="1" smtClean="0"/>
              <a:t>pq</a:t>
            </a:r>
            <a:endParaRPr lang="fr-FR" sz="2200" b="1" dirty="0" smtClean="0"/>
          </a:p>
          <a:p>
            <a:endParaRPr lang="fr-F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/>
              <a:t>La </a:t>
            </a:r>
            <a:r>
              <a:rPr lang="fr-FR" sz="2200" b="1" i="1" dirty="0">
                <a:solidFill>
                  <a:srgbClr val="FFC000"/>
                </a:solidFill>
              </a:rPr>
              <a:t>complexité</a:t>
            </a:r>
            <a:r>
              <a:rPr lang="fr-FR" sz="2200" b="1" i="1" dirty="0"/>
              <a:t> </a:t>
            </a:r>
            <a:r>
              <a:rPr lang="fr-FR" sz="2200" dirty="0" smtClean="0"/>
              <a:t>estime  </a:t>
            </a:r>
            <a:r>
              <a:rPr lang="fr-FR" sz="2200" b="1" dirty="0"/>
              <a:t>le temps de calculs </a:t>
            </a:r>
            <a:r>
              <a:rPr lang="fr-FR" sz="2200" dirty="0"/>
              <a:t>(ou le </a:t>
            </a:r>
            <a:r>
              <a:rPr lang="fr-FR" sz="2200" dirty="0" smtClean="0"/>
              <a:t>nombre d’opérations </a:t>
            </a:r>
            <a:r>
              <a:rPr lang="fr-FR" sz="2200" dirty="0"/>
              <a:t>élémentaires) nécessaire </a:t>
            </a:r>
            <a:r>
              <a:rPr lang="fr-FR" sz="2200" b="1" dirty="0"/>
              <a:t>pour effectuer une </a:t>
            </a:r>
            <a:r>
              <a:rPr lang="fr-FR" sz="2200" b="1" dirty="0" smtClean="0"/>
              <a:t>opération</a:t>
            </a:r>
            <a:r>
              <a:rPr lang="fr-FR" sz="22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b="1" dirty="0" smtClean="0">
                <a:solidFill>
                  <a:schemeClr val="accent1">
                    <a:lumMod val="75000"/>
                  </a:schemeClr>
                </a:solidFill>
              </a:rPr>
              <a:t>Addition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2200" dirty="0" smtClean="0"/>
              <a:t>La </a:t>
            </a:r>
            <a:r>
              <a:rPr lang="fr-FR" sz="2200" dirty="0"/>
              <a:t>somme de deux chiffres (par </a:t>
            </a:r>
            <a:r>
              <a:rPr lang="fr-FR" sz="2200" dirty="0" smtClean="0"/>
              <a:t>exemple 6 </a:t>
            </a:r>
            <a:r>
              <a:rPr lang="fr-FR" sz="2200" dirty="0"/>
              <a:t>+ 8) soit </a:t>
            </a:r>
            <a:r>
              <a:rPr lang="fr-FR" sz="2200" b="1" dirty="0">
                <a:solidFill>
                  <a:srgbClr val="C00000"/>
                </a:solidFill>
              </a:rPr>
              <a:t>de complexité 1 </a:t>
            </a:r>
            <a:r>
              <a:rPr lang="fr-FR" sz="2200" dirty="0"/>
              <a:t>(par exemple 1 seconde pour un humain, 1 milliseconde pour un ordinateur</a:t>
            </a:r>
            <a:r>
              <a:rPr lang="fr-FR" sz="2200" dirty="0" smtClean="0"/>
              <a:t>).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2200" dirty="0" smtClean="0"/>
              <a:t>La </a:t>
            </a:r>
            <a:r>
              <a:rPr lang="fr-FR" sz="2200" dirty="0"/>
              <a:t>somme de deux entiers à </a:t>
            </a:r>
            <a:r>
              <a:rPr lang="fr-FR" sz="2200" i="1" dirty="0"/>
              <a:t>n </a:t>
            </a:r>
            <a:r>
              <a:rPr lang="fr-FR" sz="2200" dirty="0"/>
              <a:t>chiffres, la complexité est d’ordre </a:t>
            </a:r>
            <a:r>
              <a:rPr lang="fr-FR" sz="2200" i="1" dirty="0" smtClean="0"/>
              <a:t>n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2200" dirty="0" smtClean="0"/>
              <a:t>ex </a:t>
            </a:r>
            <a:r>
              <a:rPr lang="fr-FR" sz="2200" dirty="0"/>
              <a:t>: 1234 + 2323, </a:t>
            </a:r>
            <a:r>
              <a:rPr lang="fr-FR" sz="2200" dirty="0" smtClean="0"/>
              <a:t>il faut </a:t>
            </a:r>
            <a:r>
              <a:rPr lang="fr-FR" sz="2200" dirty="0"/>
              <a:t>faire 4 additions de chiffres, donc environ 4 secondes pour un humain).</a:t>
            </a:r>
            <a:endParaRPr lang="fr-FR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3146" y="73945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5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Complexité de la factorisation</a:t>
            </a:r>
            <a:endParaRPr lang="fr-FR" sz="2400" b="1" dirty="0">
              <a:solidFill>
                <a:schemeClr val="accent5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123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3146" y="1360682"/>
            <a:ext cx="9239374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b="1" dirty="0" smtClean="0">
                <a:solidFill>
                  <a:schemeClr val="accent1">
                    <a:lumMod val="75000"/>
                  </a:schemeClr>
                </a:solidFill>
              </a:rPr>
              <a:t>Multiplication:</a:t>
            </a:r>
          </a:p>
          <a:p>
            <a:pPr>
              <a:lnSpc>
                <a:spcPct val="150000"/>
              </a:lnSpc>
            </a:pPr>
            <a:r>
              <a:rPr lang="fr-FR" sz="2200" dirty="0"/>
              <a:t>La multiplication de deux entiers à </a:t>
            </a:r>
            <a:r>
              <a:rPr lang="fr-FR" sz="2200" i="1" dirty="0"/>
              <a:t>n </a:t>
            </a:r>
            <a:r>
              <a:rPr lang="fr-FR" sz="2200" dirty="0"/>
              <a:t>chiffres est de complexité d’ordre </a:t>
            </a:r>
            <a:r>
              <a:rPr lang="fr-FR" sz="2200" i="1" dirty="0"/>
              <a:t>n</a:t>
            </a:r>
            <a:r>
              <a:rPr lang="fr-FR" sz="2200" baseline="30000" dirty="0"/>
              <a:t>2</a:t>
            </a:r>
            <a:r>
              <a:rPr lang="fr-FR" sz="2200" dirty="0"/>
              <a:t>. </a:t>
            </a:r>
            <a:endParaRPr lang="fr-FR" sz="2200" dirty="0" smtClean="0"/>
          </a:p>
          <a:p>
            <a:pPr>
              <a:lnSpc>
                <a:spcPct val="150000"/>
              </a:lnSpc>
            </a:pPr>
            <a:r>
              <a:rPr lang="fr-FR" sz="2200" dirty="0" smtClean="0"/>
              <a:t>ex </a:t>
            </a:r>
            <a:r>
              <a:rPr lang="fr-FR" sz="2200" dirty="0"/>
              <a:t>: 1234 </a:t>
            </a:r>
            <a:r>
              <a:rPr lang="fr-FR" sz="2200" dirty="0" smtClean="0"/>
              <a:t>X </a:t>
            </a:r>
            <a:r>
              <a:rPr lang="fr-FR" sz="2200" dirty="0"/>
              <a:t>2323, 16 multiplications de chiffres (chaque chiffre de 1234 est à multiplier par </a:t>
            </a:r>
            <a:r>
              <a:rPr lang="fr-FR" sz="2200" dirty="0" smtClean="0"/>
              <a:t>chaque chiffre </a:t>
            </a:r>
            <a:r>
              <a:rPr lang="fr-FR" sz="2200" dirty="0"/>
              <a:t>de 2323</a:t>
            </a:r>
            <a:r>
              <a:rPr lang="fr-FR" sz="2200" dirty="0" smtClean="0"/>
              <a:t>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b="1" dirty="0" smtClean="0">
                <a:solidFill>
                  <a:schemeClr val="accent1">
                    <a:lumMod val="75000"/>
                  </a:schemeClr>
                </a:solidFill>
              </a:rPr>
              <a:t>Factorisation :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la meilleure méthode de factorisation connue est de complexité d’ordre </a:t>
            </a:r>
            <a:r>
              <a:rPr lang="fr-FR" sz="2400" b="1" dirty="0" err="1" smtClean="0">
                <a:solidFill>
                  <a:srgbClr val="C00000"/>
                </a:solidFill>
              </a:rPr>
              <a:t>exp</a:t>
            </a:r>
            <a:r>
              <a:rPr lang="fr-FR" sz="2400" b="1" dirty="0" smtClean="0">
                <a:solidFill>
                  <a:srgbClr val="C00000"/>
                </a:solidFill>
              </a:rPr>
              <a:t>(4</a:t>
            </a:r>
            <a:r>
              <a:rPr lang="fr-FR" sz="2400" b="1" i="1" dirty="0" smtClean="0">
                <a:solidFill>
                  <a:srgbClr val="C00000"/>
                </a:solidFill>
              </a:rPr>
              <a:t>n</a:t>
            </a:r>
            <a:r>
              <a:rPr lang="fr-FR" sz="2400" b="1" baseline="30000" dirty="0" smtClean="0">
                <a:solidFill>
                  <a:srgbClr val="C00000"/>
                </a:solidFill>
              </a:rPr>
              <a:t>1/3</a:t>
            </a:r>
            <a:r>
              <a:rPr lang="fr-FR" sz="2400" b="1" dirty="0" smtClean="0">
                <a:solidFill>
                  <a:srgbClr val="C00000"/>
                </a:solidFill>
              </a:rPr>
              <a:t> </a:t>
            </a:r>
            <a:r>
              <a:rPr lang="fr-FR" sz="2400" b="1" dirty="0">
                <a:solidFill>
                  <a:srgbClr val="C00000"/>
                </a:solidFill>
              </a:rPr>
              <a:t>)</a:t>
            </a:r>
            <a:endParaRPr lang="fr-FR" sz="2200" b="1" dirty="0">
              <a:solidFill>
                <a:srgbClr val="C0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3146" y="73945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5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Complexité de la factorisation</a:t>
            </a:r>
            <a:endParaRPr lang="fr-FR" sz="2400" b="1" dirty="0">
              <a:solidFill>
                <a:schemeClr val="accent5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087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73945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5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Multiplier et Factoriser des nombres à n chiffres</a:t>
            </a:r>
            <a:endParaRPr lang="fr-FR" sz="2400" b="1" dirty="0">
              <a:solidFill>
                <a:schemeClr val="accent5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966487"/>
              </p:ext>
            </p:extLst>
          </p:nvPr>
        </p:nvGraphicFramePr>
        <p:xfrm>
          <a:off x="539552" y="1481561"/>
          <a:ext cx="7632847" cy="3652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3721"/>
                <a:gridCol w="2544563"/>
                <a:gridCol w="2544563"/>
              </a:tblGrid>
              <a:tr h="3382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N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multiplication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factorisation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3382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3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9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320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3382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4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16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572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3382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5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25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934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3382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10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100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5528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3382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50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2500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2510835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3382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100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10000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115681968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3382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200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</a:rPr>
                        <a:t>40000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14423748780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77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73945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Fonctions à sens unique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79512" y="1201124"/>
            <a:ext cx="835292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 smtClean="0"/>
              <a:t>Fonction </a:t>
            </a:r>
            <a:r>
              <a:rPr lang="fr-FR" sz="2400" b="1" i="1" dirty="0"/>
              <a:t>f </a:t>
            </a:r>
            <a:endParaRPr lang="fr-FR" sz="24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 smtClean="0"/>
              <a:t>connaissant </a:t>
            </a:r>
            <a:r>
              <a:rPr lang="fr-FR" sz="2400" b="1" i="1" dirty="0" smtClean="0"/>
              <a:t>x</a:t>
            </a:r>
            <a:r>
              <a:rPr lang="fr-FR" sz="2400" i="1" dirty="0" smtClean="0"/>
              <a:t>,</a:t>
            </a:r>
            <a:r>
              <a:rPr lang="fr-FR" sz="2400" dirty="0" smtClean="0"/>
              <a:t> calcul </a:t>
            </a:r>
            <a:r>
              <a:rPr lang="fr-FR" sz="2400" dirty="0"/>
              <a:t>«</a:t>
            </a:r>
            <a:r>
              <a:rPr lang="fr-FR" sz="2400" b="1" dirty="0" smtClean="0">
                <a:solidFill>
                  <a:schemeClr val="accent1">
                    <a:lumMod val="75000"/>
                  </a:schemeClr>
                </a:solidFill>
              </a:rPr>
              <a:t>facile</a:t>
            </a:r>
            <a:r>
              <a:rPr lang="fr-FR" sz="2400" dirty="0" smtClean="0"/>
              <a:t>» de  </a:t>
            </a:r>
            <a:r>
              <a:rPr lang="fr-FR" sz="2400" b="1" i="1" dirty="0"/>
              <a:t>f </a:t>
            </a:r>
            <a:r>
              <a:rPr lang="fr-FR" sz="2400" b="1" dirty="0"/>
              <a:t>(</a:t>
            </a:r>
            <a:r>
              <a:rPr lang="fr-FR" sz="2400" b="1" i="1" dirty="0" smtClean="0"/>
              <a:t>x</a:t>
            </a:r>
            <a:r>
              <a:rPr lang="fr-FR" sz="2400" b="1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smtClean="0"/>
              <a:t>Pour un y, </a:t>
            </a:r>
            <a:r>
              <a:rPr lang="fr-FR" sz="2400" b="1" dirty="0" smtClean="0"/>
              <a:t>trouver x</a:t>
            </a:r>
            <a:r>
              <a:rPr lang="fr-FR" sz="2400" dirty="0" smtClean="0"/>
              <a:t> tel que </a:t>
            </a:r>
            <a:r>
              <a:rPr lang="fr-FR" sz="2400" b="1" dirty="0" smtClean="0"/>
              <a:t>y=f(x)</a:t>
            </a:r>
            <a:r>
              <a:rPr lang="fr-FR" sz="2400" dirty="0" smtClean="0"/>
              <a:t> est </a:t>
            </a:r>
            <a:r>
              <a:rPr lang="fr-FR" sz="2400" b="1" dirty="0" smtClean="0">
                <a:solidFill>
                  <a:schemeClr val="accent1">
                    <a:lumMod val="75000"/>
                  </a:schemeClr>
                </a:solidFill>
              </a:rPr>
              <a:t>difficile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smtClean="0"/>
              <a:t>Fonction à sens unique à </a:t>
            </a:r>
            <a:r>
              <a:rPr lang="fr-FR" sz="2400" b="1" dirty="0" smtClean="0">
                <a:solidFill>
                  <a:srgbClr val="FFC000"/>
                </a:solidFill>
              </a:rPr>
              <a:t>trappe</a:t>
            </a:r>
          </a:p>
          <a:p>
            <a:r>
              <a:rPr lang="fr-FR" sz="2400" b="1" dirty="0" smtClean="0"/>
              <a:t>Exemple:</a:t>
            </a:r>
          </a:p>
          <a:p>
            <a:pPr algn="ctr"/>
            <a:r>
              <a:rPr lang="da-DK" sz="2400" i="1" dirty="0"/>
              <a:t>f </a:t>
            </a:r>
            <a:r>
              <a:rPr lang="da-DK" sz="2400" dirty="0"/>
              <a:t>: </a:t>
            </a:r>
            <a:r>
              <a:rPr lang="da-DK" sz="2400" i="1" dirty="0"/>
              <a:t>x </a:t>
            </a:r>
            <a:r>
              <a:rPr lang="da-DK" sz="2400" dirty="0"/>
              <a:t>→</a:t>
            </a:r>
            <a:r>
              <a:rPr lang="da-DK" sz="2400" dirty="0" smtClean="0"/>
              <a:t> </a:t>
            </a:r>
            <a:r>
              <a:rPr lang="da-DK" sz="2400" i="1" dirty="0"/>
              <a:t>x</a:t>
            </a:r>
            <a:r>
              <a:rPr lang="da-DK" sz="2400" baseline="30000" dirty="0"/>
              <a:t>3</a:t>
            </a:r>
            <a:r>
              <a:rPr lang="da-DK" sz="2400" dirty="0"/>
              <a:t> (mod 100</a:t>
            </a:r>
            <a:r>
              <a:rPr lang="da-DK" sz="2400" dirty="0" smtClean="0"/>
              <a:t>).</a:t>
            </a:r>
          </a:p>
          <a:p>
            <a:r>
              <a:rPr lang="fr-FR" sz="2400" dirty="0"/>
              <a:t>T</a:t>
            </a:r>
            <a:r>
              <a:rPr lang="fr-FR" sz="2400" dirty="0" smtClean="0"/>
              <a:t>rouver </a:t>
            </a:r>
            <a:r>
              <a:rPr lang="fr-FR" sz="2400" i="1" dirty="0"/>
              <a:t>x </a:t>
            </a:r>
            <a:r>
              <a:rPr lang="fr-FR" sz="2400" dirty="0"/>
              <a:t>tel que </a:t>
            </a:r>
            <a:r>
              <a:rPr lang="fr-FR" sz="2400" i="1" dirty="0"/>
              <a:t>x</a:t>
            </a:r>
            <a:r>
              <a:rPr lang="fr-FR" sz="2400" baseline="30000" dirty="0"/>
              <a:t>3</a:t>
            </a:r>
            <a:r>
              <a:rPr lang="fr-FR" sz="2400" dirty="0"/>
              <a:t> </a:t>
            </a:r>
            <a:r>
              <a:rPr lang="fr-FR" sz="2400" dirty="0" smtClean="0"/>
              <a:t>≡11 </a:t>
            </a:r>
            <a:r>
              <a:rPr lang="fr-FR" sz="2400" dirty="0"/>
              <a:t>(</a:t>
            </a:r>
            <a:r>
              <a:rPr lang="fr-FR" sz="2400" dirty="0" err="1"/>
              <a:t>mod</a:t>
            </a:r>
            <a:r>
              <a:rPr lang="fr-FR" sz="2400" dirty="0"/>
              <a:t> 100</a:t>
            </a:r>
            <a:r>
              <a:rPr lang="fr-FR" sz="2400" dirty="0" smtClean="0"/>
              <a:t>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/>
              <a:t>R</a:t>
            </a:r>
            <a:r>
              <a:rPr lang="fr-FR" sz="2400" dirty="0" smtClean="0"/>
              <a:t>echerche </a:t>
            </a:r>
            <a:r>
              <a:rPr lang="fr-FR" sz="2400" b="1" dirty="0"/>
              <a:t>exhaustive</a:t>
            </a:r>
            <a:r>
              <a:rPr lang="fr-FR" sz="2400" dirty="0"/>
              <a:t>, c’est-à-dire essayer successivement 1, 2, 3, ..., 99, on trouve alors :</a:t>
            </a:r>
          </a:p>
          <a:p>
            <a:pPr algn="ctr"/>
            <a:r>
              <a:rPr lang="da-DK" sz="2400" dirty="0"/>
              <a:t>71</a:t>
            </a:r>
            <a:r>
              <a:rPr lang="da-DK" sz="2400" baseline="30000" dirty="0"/>
              <a:t>3</a:t>
            </a:r>
            <a:r>
              <a:rPr lang="da-DK" sz="2400" dirty="0"/>
              <a:t> </a:t>
            </a:r>
            <a:r>
              <a:rPr lang="da-DK" sz="2400" dirty="0" smtClean="0"/>
              <a:t>≡ </a:t>
            </a:r>
            <a:r>
              <a:rPr lang="da-DK" sz="2400" dirty="0"/>
              <a:t>357 911 </a:t>
            </a:r>
            <a:r>
              <a:rPr lang="da-DK" sz="2400" dirty="0" smtClean="0"/>
              <a:t>≡ </a:t>
            </a:r>
            <a:r>
              <a:rPr lang="da-DK" sz="2400" dirty="0"/>
              <a:t>11 (mod 100),</a:t>
            </a:r>
            <a:endParaRPr lang="fr-FR" sz="2400" b="1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b="1" dirty="0" smtClean="0">
                <a:solidFill>
                  <a:srgbClr val="FFC000"/>
                </a:solidFill>
              </a:rPr>
              <a:t>Trappe </a:t>
            </a:r>
            <a:r>
              <a:rPr lang="fr-FR" sz="2400" b="1" dirty="0">
                <a:solidFill>
                  <a:srgbClr val="FFC000"/>
                </a:solidFill>
              </a:rPr>
              <a:t>secrète </a:t>
            </a:r>
            <a:r>
              <a:rPr lang="fr-FR" sz="2400" dirty="0"/>
              <a:t>: </a:t>
            </a:r>
            <a:r>
              <a:rPr lang="fr-FR" sz="2400" i="1" dirty="0"/>
              <a:t>y </a:t>
            </a:r>
            <a:r>
              <a:rPr lang="fr-FR" sz="2400" i="1" dirty="0" smtClean="0"/>
              <a:t>→y</a:t>
            </a:r>
            <a:r>
              <a:rPr lang="fr-FR" sz="2400" baseline="30000" dirty="0" smtClean="0"/>
              <a:t>7</a:t>
            </a:r>
            <a:r>
              <a:rPr lang="fr-FR" sz="2400" dirty="0" smtClean="0"/>
              <a:t> </a:t>
            </a:r>
            <a:r>
              <a:rPr lang="fr-FR" sz="2400" dirty="0"/>
              <a:t>(</a:t>
            </a:r>
            <a:r>
              <a:rPr lang="fr-FR" sz="2400" dirty="0" err="1"/>
              <a:t>mod</a:t>
            </a:r>
            <a:r>
              <a:rPr lang="fr-FR" sz="2400" dirty="0"/>
              <a:t> 100) qui fournit directement le résultat !</a:t>
            </a:r>
          </a:p>
          <a:p>
            <a:pPr algn="ctr"/>
            <a:r>
              <a:rPr lang="da-DK" sz="2400" dirty="0"/>
              <a:t>11</a:t>
            </a:r>
            <a:r>
              <a:rPr lang="da-DK" sz="2400" baseline="30000" dirty="0"/>
              <a:t>7</a:t>
            </a:r>
            <a:r>
              <a:rPr lang="da-DK" sz="2400" dirty="0"/>
              <a:t> </a:t>
            </a:r>
            <a:r>
              <a:rPr lang="da-DK" sz="2400" dirty="0" smtClean="0"/>
              <a:t>≡ </a:t>
            </a:r>
            <a:r>
              <a:rPr lang="da-DK" sz="2400" dirty="0"/>
              <a:t>19 487 </a:t>
            </a:r>
            <a:r>
              <a:rPr lang="da-DK" sz="2400" dirty="0" smtClean="0"/>
              <a:t>171 ≡  </a:t>
            </a:r>
            <a:r>
              <a:rPr lang="da-DK" sz="2400" b="1" dirty="0"/>
              <a:t>71</a:t>
            </a:r>
            <a:r>
              <a:rPr lang="da-DK" sz="2400" dirty="0"/>
              <a:t> (mod 100</a:t>
            </a:r>
            <a:r>
              <a:rPr lang="da-DK" sz="2400" dirty="0" smtClean="0"/>
              <a:t>).</a:t>
            </a:r>
          </a:p>
          <a:p>
            <a:r>
              <a:rPr lang="fr-FR" sz="2400" dirty="0"/>
              <a:t>La morale est la suivante : le problème est dur à résoudre, sauf pour ceux qui connaissent la </a:t>
            </a:r>
            <a:r>
              <a:rPr lang="fr-FR" sz="2400" b="1" dirty="0"/>
              <a:t>trappe secrète</a:t>
            </a:r>
            <a:r>
              <a:rPr lang="fr-FR" sz="2400" dirty="0"/>
              <a:t>.</a:t>
            </a:r>
            <a:endParaRPr lang="fr-FR" sz="2400" b="1" dirty="0" smtClean="0"/>
          </a:p>
          <a:p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29298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73945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à clé privée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06" y="1898084"/>
            <a:ext cx="8743731" cy="2755052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683568" y="4797152"/>
            <a:ext cx="79208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000" dirty="0"/>
              <a:t>Petit retour en arrière. Les protocoles étudiés dans les chapitres précédents étaient des </a:t>
            </a:r>
            <a:r>
              <a:rPr lang="fr-FR" sz="2000" b="1" i="1" dirty="0">
                <a:solidFill>
                  <a:srgbClr val="C00000"/>
                </a:solidFill>
              </a:rPr>
              <a:t>chiffrements à </a:t>
            </a:r>
            <a:r>
              <a:rPr lang="fr-FR" sz="2000" b="1" i="1" dirty="0" smtClean="0">
                <a:solidFill>
                  <a:srgbClr val="C00000"/>
                </a:solidFill>
              </a:rPr>
              <a:t>clé privée</a:t>
            </a:r>
            <a:r>
              <a:rPr lang="fr-FR" sz="2000" dirty="0"/>
              <a:t>. De façon imagée, tout se passe comme si Bruno pouvaient déposer son message dans un coffre </a:t>
            </a:r>
            <a:r>
              <a:rPr lang="fr-FR" sz="2000" dirty="0" smtClean="0"/>
              <a:t>fort pour </a:t>
            </a:r>
            <a:r>
              <a:rPr lang="fr-FR" sz="2000" dirty="0"/>
              <a:t>Alice, Alice et Bruno étant les seuls à posséder la clé du coffre.</a:t>
            </a:r>
          </a:p>
        </p:txBody>
      </p:sp>
    </p:spTree>
    <p:extLst>
      <p:ext uri="{BB962C8B-B14F-4D97-AF65-F5344CB8AC3E}">
        <p14:creationId xmlns:p14="http://schemas.microsoft.com/office/powerpoint/2010/main" val="216275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73945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à clé privée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683568" y="4797152"/>
            <a:ext cx="7920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000" dirty="0"/>
              <a:t>En effet, jusqu’ici, les deux interlocuteurs se partageaient </a:t>
            </a:r>
            <a:r>
              <a:rPr lang="fr-FR" sz="2000" b="1" dirty="0"/>
              <a:t>une même clé </a:t>
            </a:r>
            <a:r>
              <a:rPr lang="fr-FR" sz="2000" dirty="0"/>
              <a:t>qui servait à </a:t>
            </a:r>
            <a:r>
              <a:rPr lang="fr-FR" sz="2000" b="1" dirty="0"/>
              <a:t>chiffrer (et </a:t>
            </a:r>
            <a:r>
              <a:rPr lang="fr-FR" sz="2000" b="1" dirty="0" smtClean="0"/>
              <a:t>déchiffrer) </a:t>
            </a:r>
            <a:r>
              <a:rPr lang="fr-FR" sz="2000" dirty="0" smtClean="0"/>
              <a:t>les </a:t>
            </a:r>
            <a:r>
              <a:rPr lang="fr-FR" sz="2000" dirty="0"/>
              <a:t>messages. Cela pose bien sûr un problème majeur : Alice et Bruno doivent d’abord se communiquer </a:t>
            </a:r>
            <a:r>
              <a:rPr lang="fr-FR" sz="2000" dirty="0" smtClean="0"/>
              <a:t>la clé</a:t>
            </a:r>
            <a:r>
              <a:rPr lang="fr-FR" sz="2000" dirty="0"/>
              <a:t>.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397309"/>
            <a:ext cx="5307855" cy="325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94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73945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à clé publique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624706" y="4221088"/>
            <a:ext cx="79208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000" dirty="0"/>
              <a:t>De façon imagée, si Bruno veut envoyer un message à Alice, il dépose son message dans la boîte aux </a:t>
            </a:r>
            <a:r>
              <a:rPr lang="fr-FR" sz="2000" dirty="0" smtClean="0"/>
              <a:t>lettres d’Alice</a:t>
            </a:r>
            <a:r>
              <a:rPr lang="fr-FR" sz="2000" dirty="0"/>
              <a:t>, seule Alice pourra ouvrir sa boîte et consulter le message. Ici la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clé publique est symbolisée par </a:t>
            </a:r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</a:rPr>
              <a:t>la boîte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aux lettre</a:t>
            </a:r>
            <a:r>
              <a:rPr lang="fr-FR" sz="2000" dirty="0"/>
              <a:t>, tout le monde peut y déposer un message,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la clé qui ouvre la boîte aux lettres est la </a:t>
            </a:r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</a:rPr>
              <a:t>clé privée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d’Alice</a:t>
            </a:r>
            <a:r>
              <a:rPr lang="fr-FR" sz="2000" dirty="0"/>
              <a:t>, que Alice doit conserver à l’abri.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85" y="1201124"/>
            <a:ext cx="5298870" cy="281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1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73945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à clé publique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27" y="1700808"/>
            <a:ext cx="8768033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79512" y="764704"/>
            <a:ext cx="813690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smtClean="0"/>
              <a:t>Paramètres </a:t>
            </a:r>
            <a:r>
              <a:rPr lang="fr-FR" sz="2000" dirty="0"/>
              <a:t>d’un </a:t>
            </a:r>
            <a:r>
              <a:rPr lang="fr-FR" sz="2000" dirty="0" smtClean="0"/>
              <a:t> </a:t>
            </a:r>
            <a:r>
              <a:rPr lang="fr-FR" sz="2000" b="1" i="1" dirty="0">
                <a:solidFill>
                  <a:srgbClr val="FFC000"/>
                </a:solidFill>
              </a:rPr>
              <a:t>chiffrement à clé publique </a:t>
            </a:r>
            <a:r>
              <a:rPr lang="fr-FR" sz="2000" dirty="0" smtClean="0"/>
              <a:t>:</a:t>
            </a: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• les fonctions de chiffrement et de déchiffrement : 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2000" dirty="0"/>
              <a:t> et 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fr-FR" sz="2000" dirty="0"/>
              <a:t>,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• la clé publique du destinataire qui va permettre de paramétrer la fonction 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2000" dirty="0"/>
              <a:t>,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• la clé privée du destinataire qui va permettre de paramétrer la fonction 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fr-FR" sz="2000" dirty="0" smtClean="0"/>
              <a:t>.</a:t>
            </a:r>
          </a:p>
          <a:p>
            <a:pPr algn="ctr"/>
            <a:r>
              <a:rPr lang="fr-FR" sz="2000" dirty="0" smtClean="0"/>
              <a:t>Trouver </a:t>
            </a:r>
            <a:r>
              <a:rPr lang="da-DK" sz="2000" i="1" dirty="0"/>
              <a:t>x </a:t>
            </a:r>
            <a:r>
              <a:rPr lang="da-DK" sz="2000" i="1" dirty="0" smtClean="0"/>
              <a:t>tel que </a:t>
            </a:r>
            <a:r>
              <a:rPr lang="da-DK" sz="2000" dirty="0" smtClean="0"/>
              <a:t> </a:t>
            </a:r>
            <a:r>
              <a:rPr lang="da-DK" sz="2000" i="1" dirty="0"/>
              <a:t>x</a:t>
            </a:r>
            <a:r>
              <a:rPr lang="da-DK" sz="2000" baseline="30000" dirty="0"/>
              <a:t>3</a:t>
            </a:r>
            <a:r>
              <a:rPr lang="da-DK" sz="2000" dirty="0"/>
              <a:t> </a:t>
            </a:r>
            <a:r>
              <a:rPr lang="da-DK" sz="2000" dirty="0" smtClean="0"/>
              <a:t>≡ 11 (mod </a:t>
            </a:r>
            <a:r>
              <a:rPr lang="da-DK" sz="2000" dirty="0"/>
              <a:t>100),</a:t>
            </a:r>
          </a:p>
          <a:p>
            <a:endParaRPr lang="fr-FR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da-DK" sz="2000" dirty="0"/>
              <a:t>• </a:t>
            </a:r>
            <a:r>
              <a:rPr lang="da-DK" sz="2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da-DK" sz="2000" dirty="0"/>
              <a:t> : </a:t>
            </a:r>
            <a:r>
              <a:rPr lang="da-DK" sz="2000" dirty="0" smtClean="0"/>
              <a:t>x → </a:t>
            </a:r>
            <a:r>
              <a:rPr lang="da-DK" sz="2000" i="1" dirty="0" smtClean="0"/>
              <a:t>x</a:t>
            </a:r>
            <a:r>
              <a:rPr lang="da-DK" sz="2000" baseline="30000" dirty="0"/>
              <a:t>?</a:t>
            </a:r>
            <a:r>
              <a:rPr lang="da-DK" sz="2000" dirty="0"/>
              <a:t> (mod 100) </a:t>
            </a:r>
            <a:r>
              <a:rPr lang="da-DK" sz="2000" dirty="0" smtClean="0"/>
              <a:t>et            </a:t>
            </a:r>
            <a:r>
              <a:rPr lang="da-DK" sz="20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da-DK" sz="2000" dirty="0" smtClean="0"/>
              <a:t> </a:t>
            </a:r>
            <a:r>
              <a:rPr lang="da-DK" sz="2000" dirty="0"/>
              <a:t>: </a:t>
            </a:r>
            <a:r>
              <a:rPr lang="da-DK" sz="2000" i="1" dirty="0"/>
              <a:t>x </a:t>
            </a:r>
            <a:r>
              <a:rPr lang="da-DK" sz="2000" i="1" dirty="0" smtClean="0"/>
              <a:t>→ x</a:t>
            </a:r>
            <a:r>
              <a:rPr lang="da-DK" sz="2000" baseline="30000" dirty="0"/>
              <a:t>?</a:t>
            </a:r>
            <a:r>
              <a:rPr lang="da-DK" sz="2000" dirty="0"/>
              <a:t> (mod 100),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• </a:t>
            </a:r>
            <a:r>
              <a:rPr lang="fr-FR" sz="2000" dirty="0" smtClean="0"/>
              <a:t>la </a:t>
            </a:r>
            <a:r>
              <a:rPr lang="fr-FR" sz="2000" b="1" dirty="0"/>
              <a:t>clé publique </a:t>
            </a:r>
            <a:r>
              <a:rPr lang="fr-FR" sz="2000" dirty="0" smtClean="0"/>
              <a:t>d’Alice </a:t>
            </a:r>
            <a:r>
              <a:rPr lang="fr-FR" sz="20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fr-FR" sz="2000" b="1" dirty="0" smtClean="0">
                <a:solidFill>
                  <a:schemeClr val="accent2">
                    <a:lumMod val="75000"/>
                  </a:schemeClr>
                </a:solidFill>
              </a:rPr>
              <a:t>            </a:t>
            </a:r>
            <a:r>
              <a:rPr lang="da-DK" sz="20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da-DK" sz="2000" dirty="0" smtClean="0"/>
              <a:t> </a:t>
            </a:r>
            <a:r>
              <a:rPr lang="da-DK" sz="2000" dirty="0"/>
              <a:t>: </a:t>
            </a:r>
            <a:r>
              <a:rPr lang="da-DK" sz="2000" i="1" dirty="0"/>
              <a:t>x </a:t>
            </a:r>
            <a:r>
              <a:rPr lang="da-DK" sz="2000" i="1" dirty="0" smtClean="0"/>
              <a:t>→ </a:t>
            </a:r>
            <a:r>
              <a:rPr lang="da-DK" sz="2000" b="1" i="1" dirty="0" smtClean="0"/>
              <a:t>x</a:t>
            </a:r>
            <a:r>
              <a:rPr lang="da-DK" sz="2000" b="1" baseline="30000" dirty="0" smtClean="0"/>
              <a:t>3</a:t>
            </a:r>
            <a:r>
              <a:rPr lang="da-DK" sz="2000" dirty="0" smtClean="0"/>
              <a:t> </a:t>
            </a:r>
            <a:r>
              <a:rPr lang="da-DK" sz="2000" dirty="0"/>
              <a:t>(mod 100),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• </a:t>
            </a:r>
            <a:r>
              <a:rPr lang="fr-FR" sz="2000" dirty="0" smtClean="0"/>
              <a:t>la </a:t>
            </a:r>
            <a:r>
              <a:rPr lang="fr-FR" sz="2000" b="1" dirty="0"/>
              <a:t>clé privée </a:t>
            </a:r>
            <a:r>
              <a:rPr lang="fr-FR" sz="2000" dirty="0"/>
              <a:t>d’Alice </a:t>
            </a:r>
            <a:r>
              <a:rPr lang="fr-FR" sz="2000" b="1" dirty="0" smtClean="0">
                <a:solidFill>
                  <a:srgbClr val="FF0000"/>
                </a:solidFill>
              </a:rPr>
              <a:t>7                </a:t>
            </a:r>
            <a:r>
              <a:rPr lang="da-DK" sz="2000" b="1" dirty="0" smtClean="0">
                <a:solidFill>
                  <a:srgbClr val="FF0000"/>
                </a:solidFill>
              </a:rPr>
              <a:t>D</a:t>
            </a:r>
            <a:r>
              <a:rPr lang="da-DK" sz="2000" dirty="0" smtClean="0"/>
              <a:t> </a:t>
            </a:r>
            <a:r>
              <a:rPr lang="da-DK" sz="2000" dirty="0"/>
              <a:t>: </a:t>
            </a:r>
            <a:r>
              <a:rPr lang="da-DK" sz="2000" i="1" dirty="0"/>
              <a:t>x </a:t>
            </a:r>
            <a:r>
              <a:rPr lang="da-DK" sz="2000" i="1" dirty="0" smtClean="0"/>
              <a:t>→ </a:t>
            </a:r>
            <a:r>
              <a:rPr lang="da-DK" sz="2000" b="1" i="1" dirty="0" smtClean="0"/>
              <a:t>x</a:t>
            </a:r>
            <a:r>
              <a:rPr lang="da-DK" sz="2000" b="1" baseline="30000" dirty="0" smtClean="0"/>
              <a:t>7</a:t>
            </a:r>
            <a:r>
              <a:rPr lang="da-DK" sz="2000" dirty="0" smtClean="0"/>
              <a:t> </a:t>
            </a:r>
            <a:r>
              <a:rPr lang="da-DK" sz="2000" dirty="0"/>
              <a:t>(mod 100).</a:t>
            </a:r>
          </a:p>
          <a:p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708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asymétrique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-68179" y="1028289"/>
            <a:ext cx="9361040" cy="4916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900" dirty="0" smtClean="0"/>
              <a:t>Le cryptage asymétrique utilise </a:t>
            </a:r>
            <a:r>
              <a:rPr lang="fr-FR" sz="1900" b="1" dirty="0" smtClean="0">
                <a:solidFill>
                  <a:srgbClr val="FF0000"/>
                </a:solidFill>
              </a:rPr>
              <a:t>deux clés différentes </a:t>
            </a:r>
            <a:r>
              <a:rPr lang="fr-FR" sz="1900" dirty="0" smtClean="0"/>
              <a:t>pour chaque utilisateur:</a:t>
            </a:r>
          </a:p>
          <a:p>
            <a:pPr marL="577850" lvl="1" indent="-2286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900" dirty="0" smtClean="0"/>
              <a:t>la </a:t>
            </a:r>
            <a:r>
              <a:rPr lang="fr-FR" sz="1900" dirty="0" smtClean="0">
                <a:solidFill>
                  <a:schemeClr val="accent1">
                    <a:lumMod val="75000"/>
                  </a:schemeClr>
                </a:solidFill>
              </a:rPr>
              <a:t>première est privée </a:t>
            </a:r>
            <a:r>
              <a:rPr lang="fr-FR" sz="1900" dirty="0" smtClean="0"/>
              <a:t>et n'est connue que de </a:t>
            </a:r>
            <a:r>
              <a:rPr lang="fr-FR" sz="1900" dirty="0" smtClean="0">
                <a:solidFill>
                  <a:schemeClr val="accent2">
                    <a:lumMod val="75000"/>
                  </a:schemeClr>
                </a:solidFill>
              </a:rPr>
              <a:t>l'utilisateur qui a généré les clés</a:t>
            </a:r>
            <a:r>
              <a:rPr lang="fr-FR" sz="19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1900" dirty="0" smtClean="0"/>
              <a:t>;</a:t>
            </a:r>
          </a:p>
          <a:p>
            <a:pPr marL="577850" lvl="1" indent="-2286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900" dirty="0" smtClean="0"/>
              <a:t>la </a:t>
            </a:r>
            <a:r>
              <a:rPr lang="fr-FR" sz="1900" dirty="0" smtClean="0">
                <a:solidFill>
                  <a:schemeClr val="accent1">
                    <a:lumMod val="75000"/>
                  </a:schemeClr>
                </a:solidFill>
              </a:rPr>
              <a:t>deuxième est publique </a:t>
            </a:r>
            <a:r>
              <a:rPr lang="fr-FR" sz="1900" dirty="0" smtClean="0"/>
              <a:t>et peut être </a:t>
            </a:r>
            <a:r>
              <a:rPr lang="fr-FR" sz="1900" dirty="0" smtClean="0">
                <a:solidFill>
                  <a:schemeClr val="accent6">
                    <a:lumMod val="75000"/>
                  </a:schemeClr>
                </a:solidFill>
              </a:rPr>
              <a:t>transmise sur Internet</a:t>
            </a:r>
            <a:r>
              <a:rPr lang="fr-FR" sz="19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900" dirty="0" smtClean="0"/>
              <a:t> Les clés publique et privée sont mathématiquement liées par l'algorithme de cryptage de telle manière qu'un </a:t>
            </a:r>
            <a:r>
              <a:rPr lang="fr-FR" sz="1900" b="1" i="1" dirty="0" smtClean="0"/>
              <a:t>message crypté avec une clé publique ne puisse être décrypté qu'avec la clé privée correspondante </a:t>
            </a:r>
            <a:r>
              <a:rPr lang="fr-FR" sz="1900" dirty="0" smtClean="0"/>
              <a:t>et qu'il est </a:t>
            </a:r>
            <a:r>
              <a:rPr lang="fr-FR" sz="1900" i="1" dirty="0" smtClean="0"/>
              <a:t>impossible de déduire la clé privée à partir de la clé publique</a:t>
            </a:r>
            <a:r>
              <a:rPr lang="fr-FR" sz="19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900" dirty="0" smtClean="0"/>
              <a:t> </a:t>
            </a:r>
            <a:r>
              <a:rPr lang="fr-FR" sz="1900" dirty="0" smtClean="0">
                <a:solidFill>
                  <a:srgbClr val="2F6ACB"/>
                </a:solidFill>
              </a:rPr>
              <a:t>Une clé </a:t>
            </a:r>
            <a:r>
              <a:rPr lang="fr-FR" sz="1900" dirty="0" smtClean="0"/>
              <a:t>est donc utilisée pour le </a:t>
            </a:r>
            <a:r>
              <a:rPr lang="fr-FR" sz="1900" dirty="0" smtClean="0">
                <a:solidFill>
                  <a:srgbClr val="2F6ACB"/>
                </a:solidFill>
              </a:rPr>
              <a:t>cryptage</a:t>
            </a:r>
            <a:r>
              <a:rPr lang="fr-FR" sz="1900" dirty="0" smtClean="0"/>
              <a:t> et l'</a:t>
            </a:r>
            <a:r>
              <a:rPr lang="fr-FR" sz="1900" b="1" dirty="0" smtClean="0">
                <a:solidFill>
                  <a:schemeClr val="accent2">
                    <a:lumMod val="75000"/>
                  </a:schemeClr>
                </a:solidFill>
              </a:rPr>
              <a:t>autre</a:t>
            </a:r>
            <a:r>
              <a:rPr lang="fr-FR" sz="1900" dirty="0" smtClean="0"/>
              <a:t> pour le </a:t>
            </a:r>
            <a:r>
              <a:rPr lang="fr-FR" sz="1900" b="1" dirty="0" smtClean="0">
                <a:solidFill>
                  <a:schemeClr val="accent2">
                    <a:lumMod val="75000"/>
                  </a:schemeClr>
                </a:solidFill>
              </a:rPr>
              <a:t>décryptage</a:t>
            </a:r>
            <a:r>
              <a:rPr lang="fr-FR" sz="19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900" dirty="0" smtClean="0"/>
              <a:t> </a:t>
            </a:r>
            <a:r>
              <a:rPr lang="fr-FR" sz="1900" u="sng" dirty="0" smtClean="0"/>
              <a:t>Principal avantage</a:t>
            </a:r>
            <a:r>
              <a:rPr lang="fr-FR" sz="1900" dirty="0" smtClean="0"/>
              <a:t>: il </a:t>
            </a:r>
            <a:r>
              <a:rPr lang="fr-FR" sz="1900" b="1" dirty="0" smtClean="0">
                <a:solidFill>
                  <a:srgbClr val="FF0000"/>
                </a:solidFill>
              </a:rPr>
              <a:t>résout</a:t>
            </a:r>
            <a:r>
              <a:rPr lang="fr-FR" sz="1900" dirty="0" smtClean="0"/>
              <a:t> en partie le problème du transfert de la clé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900" dirty="0" smtClean="0"/>
              <a:t> En revanche, il est </a:t>
            </a:r>
            <a:r>
              <a:rPr lang="fr-FR" sz="1900" b="1" dirty="0" smtClean="0">
                <a:solidFill>
                  <a:srgbClr val="FF0000"/>
                </a:solidFill>
              </a:rPr>
              <a:t>plus coûteux </a:t>
            </a:r>
            <a:r>
              <a:rPr lang="fr-FR" sz="1900" dirty="0" smtClean="0"/>
              <a:t>en termes de temps de calcul et </a:t>
            </a:r>
            <a:r>
              <a:rPr lang="fr-FR" sz="1900" b="1" dirty="0" smtClean="0">
                <a:solidFill>
                  <a:srgbClr val="FF0000"/>
                </a:solidFill>
              </a:rPr>
              <a:t>nécessite</a:t>
            </a:r>
            <a:r>
              <a:rPr lang="fr-FR" sz="1900" dirty="0" smtClean="0"/>
              <a:t> des </a:t>
            </a:r>
            <a:r>
              <a:rPr lang="fr-FR" sz="1900" dirty="0" smtClean="0">
                <a:solidFill>
                  <a:srgbClr val="2F6ACB"/>
                </a:solidFill>
              </a:rPr>
              <a:t>tailles de clé plus importantes </a:t>
            </a:r>
            <a:r>
              <a:rPr lang="fr-FR" sz="1900" dirty="0" smtClean="0"/>
              <a:t>(couramment </a:t>
            </a:r>
            <a:r>
              <a:rPr lang="fr-FR" sz="1900" b="1" dirty="0" smtClean="0">
                <a:solidFill>
                  <a:schemeClr val="accent2">
                    <a:lumMod val="75000"/>
                  </a:schemeClr>
                </a:solidFill>
              </a:rPr>
              <a:t>1 024 </a:t>
            </a:r>
            <a:r>
              <a:rPr lang="fr-FR" sz="1900" dirty="0" smtClean="0"/>
              <a:t>ou </a:t>
            </a:r>
            <a:r>
              <a:rPr lang="fr-FR" sz="1900" b="1" dirty="0" smtClean="0">
                <a:solidFill>
                  <a:schemeClr val="accent2">
                    <a:lumMod val="75000"/>
                  </a:schemeClr>
                </a:solidFill>
              </a:rPr>
              <a:t>2 048 </a:t>
            </a:r>
            <a:r>
              <a:rPr lang="fr-FR" sz="1900" dirty="0" smtClean="0"/>
              <a:t>bits).</a:t>
            </a:r>
            <a:endParaRPr lang="fr-FR" sz="1900" dirty="0"/>
          </a:p>
        </p:txBody>
      </p:sp>
    </p:spTree>
    <p:extLst>
      <p:ext uri="{BB962C8B-B14F-4D97-AF65-F5344CB8AC3E}">
        <p14:creationId xmlns:p14="http://schemas.microsoft.com/office/powerpoint/2010/main" val="286258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asymétrique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-68179" y="1028289"/>
            <a:ext cx="936104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 L'algorithme de chiffrement asymétrique </a:t>
            </a:r>
            <a:r>
              <a:rPr lang="fr-FR" sz="2400" b="1" dirty="0" smtClean="0">
                <a:solidFill>
                  <a:schemeClr val="accent1">
                    <a:lumMod val="75000"/>
                  </a:schemeClr>
                </a:solidFill>
              </a:rPr>
              <a:t>le plus courant </a:t>
            </a:r>
            <a:r>
              <a:rPr lang="fr-FR" sz="2400" dirty="0" smtClean="0"/>
              <a:t>est l'algorithme </a:t>
            </a:r>
            <a:r>
              <a:rPr lang="fr-FR" sz="2400" b="1" i="1" dirty="0" smtClean="0">
                <a:solidFill>
                  <a:srgbClr val="FF0000"/>
                </a:solidFill>
              </a:rPr>
              <a:t>RSA</a:t>
            </a:r>
            <a:r>
              <a:rPr lang="fr-FR" sz="2400" i="1" dirty="0" smtClean="0"/>
              <a:t> </a:t>
            </a:r>
            <a:r>
              <a:rPr lang="fr-FR" sz="2400" dirty="0" smtClean="0"/>
              <a:t>(</a:t>
            </a:r>
            <a:r>
              <a:rPr lang="fr-FR" sz="2400" i="1" dirty="0" err="1" smtClean="0"/>
              <a:t>Rivest,Shamir</a:t>
            </a:r>
            <a:r>
              <a:rPr lang="fr-FR" sz="2400" i="1" dirty="0" smtClean="0"/>
              <a:t>, </a:t>
            </a:r>
            <a:r>
              <a:rPr lang="fr-FR" sz="2400" i="1" dirty="0" err="1" smtClean="0"/>
              <a:t>Adleman</a:t>
            </a:r>
            <a:r>
              <a:rPr lang="fr-FR" sz="2400" dirty="0" smtClean="0"/>
              <a:t>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 </a:t>
            </a:r>
            <a:r>
              <a:rPr lang="fr-FR" sz="2400" dirty="0"/>
              <a:t>L'algorithme </a:t>
            </a:r>
            <a:r>
              <a:rPr lang="fr-FR" sz="2400" b="1" i="1" dirty="0" err="1">
                <a:solidFill>
                  <a:srgbClr val="FF0000"/>
                </a:solidFill>
              </a:rPr>
              <a:t>EIGamal</a:t>
            </a:r>
            <a:r>
              <a:rPr lang="fr-FR" sz="2400" i="1" dirty="0"/>
              <a:t> </a:t>
            </a:r>
            <a:r>
              <a:rPr lang="fr-FR" sz="2400" dirty="0"/>
              <a:t>: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basé</a:t>
            </a:r>
            <a:r>
              <a:rPr lang="fr-FR" sz="2400" dirty="0"/>
              <a:t> sur 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les logarithmes discrets</a:t>
            </a:r>
            <a:r>
              <a:rPr lang="fr-FR" sz="2400" dirty="0"/>
              <a:t>. Il est également très utilisé </a:t>
            </a:r>
            <a:r>
              <a:rPr lang="fr-FR" sz="2400" dirty="0" smtClean="0"/>
              <a:t>pour le 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chiffrement</a:t>
            </a:r>
            <a:r>
              <a:rPr lang="fr-FR" sz="2400" dirty="0"/>
              <a:t> et 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la signature</a:t>
            </a:r>
            <a:r>
              <a:rPr lang="fr-FR" sz="2400" dirty="0" smtClean="0"/>
              <a:t>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1333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asymétrique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-68179" y="1028289"/>
            <a:ext cx="93610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b="1" dirty="0" smtClean="0">
                <a:solidFill>
                  <a:srgbClr val="FF0000"/>
                </a:solidFill>
              </a:rPr>
              <a:t>RSA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/>
              <a:t>: fondé sur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la difficulté de factoriser des grands nombres </a:t>
            </a:r>
            <a:r>
              <a:rPr lang="fr-FR" sz="2400" dirty="0"/>
              <a:t>qui sont le produit de </a:t>
            </a:r>
            <a:r>
              <a:rPr lang="fr-FR" sz="2400" dirty="0" smtClean="0"/>
              <a:t>deux grands </a:t>
            </a:r>
            <a:r>
              <a:rPr lang="fr-FR" sz="2400" dirty="0"/>
              <a:t>nombres premiers.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b="1" dirty="0">
                <a:solidFill>
                  <a:srgbClr val="C00000"/>
                </a:solidFill>
              </a:rPr>
              <a:t>Multiplier </a:t>
            </a:r>
            <a:r>
              <a:rPr lang="fr-FR" sz="2400" b="1" dirty="0"/>
              <a:t>deux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grands nombres premiers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400" dirty="0"/>
              <a:t>est une fonction à sens unique: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Il </a:t>
            </a:r>
            <a:r>
              <a:rPr lang="fr-FR" sz="2400" b="1" dirty="0"/>
              <a:t>est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facile de multiplier </a:t>
            </a:r>
            <a:r>
              <a:rPr lang="fr-FR" sz="2400" b="1" dirty="0"/>
              <a:t>deux nombres pour obtenir un produit,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mais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difficile de factoriser </a:t>
            </a:r>
            <a:r>
              <a:rPr lang="fr-FR" sz="2400" b="1" dirty="0"/>
              <a:t>ce produit et de retrouver les deux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grands nombres premiers</a:t>
            </a:r>
            <a:r>
              <a:rPr lang="fr-FR" sz="2400" dirty="0"/>
              <a:t>.</a:t>
            </a:r>
          </a:p>
          <a:p>
            <a:r>
              <a:rPr lang="fr-F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941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asymétrique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-68179" y="1028289"/>
            <a:ext cx="9361040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b="1" dirty="0"/>
              <a:t>Algorithme RSA</a:t>
            </a:r>
          </a:p>
          <a:p>
            <a:pPr marL="685800" lvl="1" indent="-457200">
              <a:lnSpc>
                <a:spcPct val="150000"/>
              </a:lnSpc>
              <a:buFont typeface="+mj-lt"/>
              <a:buAutoNum type="arabicPeriod"/>
              <a:tabLst>
                <a:tab pos="511175" algn="l"/>
              </a:tabLst>
            </a:pPr>
            <a:r>
              <a:rPr lang="fr-FR" sz="1900" dirty="0" smtClean="0"/>
              <a:t>Choisir </a:t>
            </a:r>
            <a:r>
              <a:rPr lang="fr-FR" sz="1900" b="1" dirty="0" smtClean="0"/>
              <a:t>deux</a:t>
            </a:r>
            <a:r>
              <a:rPr lang="fr-FR" sz="1900" dirty="0" smtClean="0"/>
              <a:t> </a:t>
            </a:r>
            <a:r>
              <a:rPr lang="fr-FR" sz="1900" b="1" dirty="0" smtClean="0"/>
              <a:t>nombres premiers  p</a:t>
            </a:r>
            <a:r>
              <a:rPr lang="fr-FR" sz="1900" dirty="0" smtClean="0"/>
              <a:t> et </a:t>
            </a:r>
            <a:r>
              <a:rPr lang="fr-FR" sz="1900" b="1" dirty="0" smtClean="0"/>
              <a:t>q</a:t>
            </a:r>
            <a:r>
              <a:rPr lang="fr-FR" sz="1900" dirty="0" smtClean="0"/>
              <a:t>, les deux étant plus grands que </a:t>
            </a:r>
            <a:r>
              <a:rPr lang="fr-FR" sz="1900" b="1" dirty="0" smtClean="0"/>
              <a:t>10</a:t>
            </a:r>
            <a:r>
              <a:rPr lang="fr-FR" sz="1900" b="1" baseline="30000" dirty="0" smtClean="0"/>
              <a:t>100</a:t>
            </a:r>
            <a:r>
              <a:rPr lang="fr-FR" sz="1900" dirty="0" smtClean="0"/>
              <a:t>.</a:t>
            </a:r>
          </a:p>
          <a:p>
            <a:pPr marL="685800" lvl="1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1900" dirty="0" smtClean="0"/>
              <a:t>Calculer </a:t>
            </a:r>
            <a:r>
              <a:rPr lang="fr-FR" sz="1900" b="1" dirty="0" smtClean="0">
                <a:solidFill>
                  <a:srgbClr val="FF0000"/>
                </a:solidFill>
              </a:rPr>
              <a:t>n = p . q </a:t>
            </a:r>
            <a:r>
              <a:rPr lang="fr-FR" sz="1900" dirty="0" smtClean="0"/>
              <a:t>(n est le </a:t>
            </a:r>
            <a:r>
              <a:rPr lang="fr-FR" sz="1900" dirty="0" err="1" smtClean="0"/>
              <a:t>modulus</a:t>
            </a:r>
            <a:r>
              <a:rPr lang="fr-FR" sz="1900" dirty="0" smtClean="0"/>
              <a:t>) et </a:t>
            </a:r>
            <a:r>
              <a:rPr lang="el-GR" sz="1900" b="1" dirty="0" smtClean="0">
                <a:solidFill>
                  <a:srgbClr val="FF0000"/>
                </a:solidFill>
              </a:rPr>
              <a:t>φ</a:t>
            </a:r>
            <a:r>
              <a:rPr lang="fr-FR" sz="1900" b="1" dirty="0" smtClean="0">
                <a:solidFill>
                  <a:srgbClr val="FF0000"/>
                </a:solidFill>
              </a:rPr>
              <a:t>(n) = (p - 1) · (q - 1) </a:t>
            </a:r>
            <a:r>
              <a:rPr lang="fr-FR" sz="1900" dirty="0" smtClean="0"/>
              <a:t>(fonction d’Euler)</a:t>
            </a:r>
          </a:p>
          <a:p>
            <a:pPr marL="685800" lvl="1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1900" dirty="0" smtClean="0"/>
              <a:t>Choisir </a:t>
            </a:r>
            <a:r>
              <a:rPr lang="fr-FR" sz="1900" b="1" i="1" dirty="0" smtClean="0">
                <a:solidFill>
                  <a:srgbClr val="FF0000"/>
                </a:solidFill>
              </a:rPr>
              <a:t>e</a:t>
            </a:r>
            <a:r>
              <a:rPr lang="fr-FR" sz="1900" dirty="0" smtClean="0"/>
              <a:t> aléatoire </a:t>
            </a:r>
            <a:r>
              <a:rPr lang="fr-FR" sz="1900" b="1" dirty="0" smtClean="0">
                <a:solidFill>
                  <a:srgbClr val="FF0000"/>
                </a:solidFill>
              </a:rPr>
              <a:t>premier</a:t>
            </a:r>
            <a:r>
              <a:rPr lang="fr-FR" sz="1900" dirty="0" smtClean="0"/>
              <a:t> avec </a:t>
            </a:r>
            <a:r>
              <a:rPr lang="el-GR" sz="1900" b="1" dirty="0" smtClean="0">
                <a:solidFill>
                  <a:srgbClr val="FF0000"/>
                </a:solidFill>
              </a:rPr>
              <a:t>φ</a:t>
            </a:r>
            <a:r>
              <a:rPr lang="fr-FR" sz="1900" b="1" dirty="0" smtClean="0">
                <a:solidFill>
                  <a:srgbClr val="FF0000"/>
                </a:solidFill>
              </a:rPr>
              <a:t>(n)</a:t>
            </a:r>
            <a:r>
              <a:rPr lang="fr-FR" sz="1900" dirty="0" smtClean="0"/>
              <a:t> (</a:t>
            </a:r>
            <a:r>
              <a:rPr lang="fr-FR" sz="1900" b="1" dirty="0" smtClean="0"/>
              <a:t>pgcd</a:t>
            </a:r>
            <a:r>
              <a:rPr lang="fr-FR" sz="1900" dirty="0" smtClean="0"/>
              <a:t>(e,</a:t>
            </a:r>
            <a:r>
              <a:rPr lang="el-GR" sz="1900" b="1" dirty="0" smtClean="0">
                <a:solidFill>
                  <a:srgbClr val="FF0000"/>
                </a:solidFill>
              </a:rPr>
              <a:t> φ</a:t>
            </a:r>
            <a:r>
              <a:rPr lang="fr-FR" sz="1900" b="1" dirty="0" smtClean="0">
                <a:solidFill>
                  <a:srgbClr val="FF0000"/>
                </a:solidFill>
              </a:rPr>
              <a:t>(n)</a:t>
            </a:r>
            <a:r>
              <a:rPr lang="fr-FR" sz="1900" dirty="0" smtClean="0"/>
              <a:t>) = 1).</a:t>
            </a:r>
          </a:p>
          <a:p>
            <a:pPr marL="685800" lvl="1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1900" dirty="0" smtClean="0"/>
              <a:t>Trouver </a:t>
            </a:r>
            <a:r>
              <a:rPr lang="pt-BR" sz="1900" b="1" i="1" dirty="0" smtClean="0">
                <a:solidFill>
                  <a:srgbClr val="FF0000"/>
                </a:solidFill>
              </a:rPr>
              <a:t>d</a:t>
            </a:r>
            <a:r>
              <a:rPr lang="pt-BR" sz="1900" dirty="0" smtClean="0"/>
              <a:t> tel que :</a:t>
            </a:r>
            <a:r>
              <a:rPr lang="pt-BR" sz="1900" dirty="0">
                <a:solidFill>
                  <a:srgbClr val="FF0000"/>
                </a:solidFill>
              </a:rPr>
              <a:t> d = e</a:t>
            </a:r>
            <a:r>
              <a:rPr lang="pt-BR" sz="1900" baseline="30000" dirty="0">
                <a:solidFill>
                  <a:srgbClr val="FF0000"/>
                </a:solidFill>
              </a:rPr>
              <a:t>-1</a:t>
            </a:r>
            <a:r>
              <a:rPr lang="pt-BR" sz="1900" dirty="0">
                <a:solidFill>
                  <a:srgbClr val="FF0000"/>
                </a:solidFill>
              </a:rPr>
              <a:t> mod (</a:t>
            </a:r>
            <a:r>
              <a:rPr lang="el-GR" sz="1900" dirty="0">
                <a:solidFill>
                  <a:srgbClr val="FF0000"/>
                </a:solidFill>
              </a:rPr>
              <a:t>φ(</a:t>
            </a:r>
            <a:r>
              <a:rPr lang="pt-BR" sz="1900" dirty="0">
                <a:solidFill>
                  <a:srgbClr val="FF0000"/>
                </a:solidFill>
              </a:rPr>
              <a:t>n))</a:t>
            </a:r>
            <a:r>
              <a:rPr lang="pt-BR" sz="1900" dirty="0" smtClean="0"/>
              <a:t> ( </a:t>
            </a:r>
            <a:r>
              <a:rPr lang="fr-FR" sz="1900" dirty="0" err="1" smtClean="0"/>
              <a:t>c-à-d</a:t>
            </a:r>
            <a:r>
              <a:rPr lang="fr-FR" sz="1900" dirty="0" smtClean="0"/>
              <a:t> </a:t>
            </a:r>
            <a:r>
              <a:rPr lang="pt-BR" sz="1900" dirty="0">
                <a:solidFill>
                  <a:srgbClr val="FF0000"/>
                </a:solidFill>
              </a:rPr>
              <a:t>e </a:t>
            </a:r>
            <a:r>
              <a:rPr lang="pt-BR" sz="1900" dirty="0" smtClean="0">
                <a:solidFill>
                  <a:srgbClr val="FF0000"/>
                </a:solidFill>
              </a:rPr>
              <a:t>∗ d </a:t>
            </a:r>
            <a:r>
              <a:rPr lang="pt-BR" sz="1900" dirty="0">
                <a:solidFill>
                  <a:srgbClr val="FF0000"/>
                </a:solidFill>
              </a:rPr>
              <a:t>= 1 mod (</a:t>
            </a:r>
            <a:r>
              <a:rPr lang="el-GR" sz="1900" dirty="0">
                <a:solidFill>
                  <a:srgbClr val="FF0000"/>
                </a:solidFill>
              </a:rPr>
              <a:t>φ(</a:t>
            </a:r>
            <a:r>
              <a:rPr lang="pt-BR" sz="1900" dirty="0">
                <a:solidFill>
                  <a:srgbClr val="FF0000"/>
                </a:solidFill>
              </a:rPr>
              <a:t>n)) </a:t>
            </a:r>
            <a:r>
              <a:rPr lang="pt-BR" sz="1900" dirty="0" smtClean="0"/>
              <a:t>) (1&lt;e&lt; </a:t>
            </a:r>
            <a:r>
              <a:rPr lang="el-GR" sz="1900" dirty="0">
                <a:solidFill>
                  <a:srgbClr val="FF0000"/>
                </a:solidFill>
              </a:rPr>
              <a:t>φ(</a:t>
            </a:r>
            <a:r>
              <a:rPr lang="pt-BR" sz="1900" dirty="0">
                <a:solidFill>
                  <a:srgbClr val="FF0000"/>
                </a:solidFill>
              </a:rPr>
              <a:t>n)</a:t>
            </a:r>
            <a:r>
              <a:rPr lang="pt-BR" sz="1900" dirty="0" smtClean="0"/>
              <a:t>)</a:t>
            </a:r>
          </a:p>
          <a:p>
            <a:pPr marL="685800" lvl="1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1900" b="1" dirty="0" smtClean="0">
                <a:solidFill>
                  <a:schemeClr val="accent1">
                    <a:lumMod val="75000"/>
                  </a:schemeClr>
                </a:solidFill>
              </a:rPr>
              <a:t>Clé publique : (n, e)</a:t>
            </a:r>
            <a:r>
              <a:rPr lang="fr-FR" sz="1900" dirty="0" smtClean="0"/>
              <a:t>.</a:t>
            </a:r>
          </a:p>
          <a:p>
            <a:pPr marL="685800" lvl="1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1900" b="1" dirty="0" smtClean="0">
                <a:solidFill>
                  <a:schemeClr val="accent2">
                    <a:lumMod val="75000"/>
                  </a:schemeClr>
                </a:solidFill>
              </a:rPr>
              <a:t>Clé privée : (n, d) </a:t>
            </a:r>
            <a:r>
              <a:rPr lang="fr-FR" sz="1900" b="1" dirty="0" smtClean="0"/>
              <a:t>ou</a:t>
            </a:r>
            <a:r>
              <a:rPr lang="fr-FR" sz="1900" b="1" dirty="0" smtClean="0">
                <a:solidFill>
                  <a:schemeClr val="accent2">
                    <a:lumMod val="75000"/>
                  </a:schemeClr>
                </a:solidFill>
              </a:rPr>
              <a:t> (p, q, d )) </a:t>
            </a:r>
            <a:r>
              <a:rPr lang="fr-FR" sz="1900" dirty="0" smtClean="0"/>
              <a:t>si on désire garder p et q.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900" dirty="0" smtClean="0"/>
              <a:t> </a:t>
            </a:r>
            <a:r>
              <a:rPr lang="fr-FR" sz="2000" b="1" u="sng" dirty="0" smtClean="0"/>
              <a:t>Chiffrement</a:t>
            </a:r>
            <a:r>
              <a:rPr lang="fr-FR" sz="2000" u="sng" dirty="0" smtClean="0"/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 smtClean="0"/>
              <a:t> L'expéditeur crée le texte chiffré c à partir du message m  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 smtClean="0"/>
              <a:t> </a:t>
            </a:r>
            <a:r>
              <a:rPr lang="fr-FR" sz="2000" b="1" u="sng" dirty="0" smtClean="0"/>
              <a:t>Déchiffrement</a:t>
            </a:r>
            <a:r>
              <a:rPr lang="fr-FR" sz="2000" u="sng" dirty="0" smtClean="0"/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 smtClean="0"/>
              <a:t> Le destinataire reçoit c et effectue le déchiffrement : </a:t>
            </a:r>
            <a:endParaRPr lang="fr-FR" sz="2000" dirty="0"/>
          </a:p>
        </p:txBody>
      </p:sp>
      <p:sp>
        <p:nvSpPr>
          <p:cNvPr id="2" name="Rectangle 1"/>
          <p:cNvSpPr/>
          <p:nvPr/>
        </p:nvSpPr>
        <p:spPr>
          <a:xfrm>
            <a:off x="6948264" y="4639717"/>
            <a:ext cx="1800200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FF0000"/>
                </a:solidFill>
              </a:rPr>
              <a:t>C=m</a:t>
            </a:r>
            <a:r>
              <a:rPr lang="fr-FR" baseline="30000" dirty="0" smtClean="0">
                <a:solidFill>
                  <a:srgbClr val="FF0000"/>
                </a:solidFill>
              </a:rPr>
              <a:t>e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mod</a:t>
            </a:r>
            <a:r>
              <a:rPr lang="fr-FR" dirty="0" smtClean="0">
                <a:solidFill>
                  <a:srgbClr val="FF0000"/>
                </a:solidFill>
              </a:rPr>
              <a:t> (n)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48264" y="5372783"/>
            <a:ext cx="1800200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FF0000"/>
                </a:solidFill>
              </a:rPr>
              <a:t>m=c</a:t>
            </a:r>
            <a:r>
              <a:rPr lang="fr-FR" baseline="30000" dirty="0" smtClean="0">
                <a:solidFill>
                  <a:srgbClr val="FF0000"/>
                </a:solidFill>
              </a:rPr>
              <a:t>d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mod</a:t>
            </a:r>
            <a:r>
              <a:rPr lang="fr-FR" dirty="0" smtClean="0">
                <a:solidFill>
                  <a:srgbClr val="FF0000"/>
                </a:solidFill>
              </a:rPr>
              <a:t> (n)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35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asymétrique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-68179" y="1028289"/>
            <a:ext cx="93610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100" b="1" u="sng" dirty="0" smtClean="0">
                <a:solidFill>
                  <a:srgbClr val="2F6ACB"/>
                </a:solidFill>
              </a:rPr>
              <a:t>Chiffrement</a:t>
            </a:r>
            <a:r>
              <a:rPr lang="fr-FR" sz="2100" u="sng" dirty="0" smtClean="0">
                <a:solidFill>
                  <a:srgbClr val="2F6ACB"/>
                </a:solidFill>
              </a:rPr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100" dirty="0" smtClean="0"/>
              <a:t> L'expéditeur crée le texte chiffré c à partir du message m  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100" dirty="0" smtClean="0">
                <a:solidFill>
                  <a:srgbClr val="2F6ACB"/>
                </a:solidFill>
              </a:rPr>
              <a:t> </a:t>
            </a:r>
            <a:r>
              <a:rPr lang="fr-FR" sz="2100" b="1" u="sng" dirty="0" smtClean="0">
                <a:solidFill>
                  <a:srgbClr val="2F6ACB"/>
                </a:solidFill>
              </a:rPr>
              <a:t>Déchiffrement: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100" dirty="0" smtClean="0"/>
              <a:t> Le destinataire reçoit c et effectue le déchiffrement : </a:t>
            </a:r>
            <a:endParaRPr lang="fr-FR" sz="21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573016"/>
            <a:ext cx="6879261" cy="168841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296" y="1556792"/>
            <a:ext cx="1800200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FF0000"/>
                </a:solidFill>
              </a:rPr>
              <a:t>C=m</a:t>
            </a:r>
            <a:r>
              <a:rPr lang="fr-FR" baseline="30000" dirty="0" smtClean="0">
                <a:solidFill>
                  <a:srgbClr val="FF0000"/>
                </a:solidFill>
              </a:rPr>
              <a:t>e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mod</a:t>
            </a:r>
            <a:r>
              <a:rPr lang="fr-FR" dirty="0" smtClean="0">
                <a:solidFill>
                  <a:srgbClr val="FF0000"/>
                </a:solidFill>
              </a:rPr>
              <a:t> (n)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236296" y="2378551"/>
            <a:ext cx="1800200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FF0000"/>
                </a:solidFill>
              </a:rPr>
              <a:t>m=c</a:t>
            </a:r>
            <a:r>
              <a:rPr lang="fr-FR" baseline="30000" dirty="0" smtClean="0">
                <a:solidFill>
                  <a:srgbClr val="FF0000"/>
                </a:solidFill>
              </a:rPr>
              <a:t>d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mod</a:t>
            </a:r>
            <a:r>
              <a:rPr lang="fr-FR" dirty="0" smtClean="0">
                <a:solidFill>
                  <a:srgbClr val="FF0000"/>
                </a:solidFill>
              </a:rPr>
              <a:t> (n)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86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asymétrique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-68179" y="1028289"/>
            <a:ext cx="93610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b="1" i="1" dirty="0"/>
              <a:t>Exemple : </a:t>
            </a:r>
            <a:r>
              <a:rPr lang="fr-FR" sz="2400" dirty="0"/>
              <a:t>procédé de chiffrement /déchiffrement 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Soit 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p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= 3 </a:t>
            </a:r>
            <a:r>
              <a:rPr lang="fr-FR" sz="2400" dirty="0"/>
              <a:t>et 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q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= 11</a:t>
            </a:r>
            <a:r>
              <a:rPr lang="fr-FR" sz="2400" dirty="0"/>
              <a:t>,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on a donc 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n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= 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p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∗ 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q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= 33</a:t>
            </a:r>
            <a:r>
              <a:rPr lang="fr-FR" sz="2400" dirty="0"/>
              <a:t>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Ainsi, </a:t>
            </a:r>
            <a:r>
              <a:rPr lang="el-GR" sz="2400" dirty="0">
                <a:solidFill>
                  <a:schemeClr val="accent1">
                    <a:lumMod val="75000"/>
                  </a:schemeClr>
                </a:solidFill>
              </a:rPr>
              <a:t>φ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(n)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 =(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− 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1)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∗ 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(q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− 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1) </a:t>
            </a:r>
            <a:r>
              <a:rPr lang="fr-FR" sz="2400" dirty="0"/>
              <a:t>= 2 ∗ 10 = 20;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On choisit aléatoirement </a:t>
            </a:r>
            <a:r>
              <a:rPr lang="fr-FR" sz="2400" dirty="0" smtClean="0"/>
              <a:t> 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e=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fr-FR" sz="2400" dirty="0"/>
              <a:t>, qui n'a pas de facteur commun avec 20;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On cherche </a:t>
            </a:r>
            <a:r>
              <a:rPr lang="fr-FR" sz="2400" dirty="0" smtClean="0">
                <a:solidFill>
                  <a:srgbClr val="C00000"/>
                </a:solidFill>
              </a:rPr>
              <a:t>d </a:t>
            </a:r>
            <a:r>
              <a:rPr lang="fr-FR" sz="2400" dirty="0">
                <a:solidFill>
                  <a:srgbClr val="C00000"/>
                </a:solidFill>
              </a:rPr>
              <a:t>= </a:t>
            </a:r>
            <a:r>
              <a:rPr lang="fr-FR" sz="2400" dirty="0" smtClean="0">
                <a:solidFill>
                  <a:srgbClr val="C00000"/>
                </a:solidFill>
              </a:rPr>
              <a:t>e</a:t>
            </a:r>
            <a:r>
              <a:rPr lang="fr-FR" sz="2400" baseline="30000" dirty="0" smtClean="0">
                <a:solidFill>
                  <a:srgbClr val="C00000"/>
                </a:solidFill>
              </a:rPr>
              <a:t>-1</a:t>
            </a:r>
            <a:r>
              <a:rPr lang="fr-FR" sz="2400" dirty="0" smtClean="0">
                <a:solidFill>
                  <a:srgbClr val="C00000"/>
                </a:solidFill>
              </a:rPr>
              <a:t> </a:t>
            </a:r>
            <a:r>
              <a:rPr lang="fr-FR" sz="2400" dirty="0" err="1" smtClean="0">
                <a:solidFill>
                  <a:srgbClr val="C00000"/>
                </a:solidFill>
              </a:rPr>
              <a:t>mod</a:t>
            </a:r>
            <a:r>
              <a:rPr lang="fr-FR" sz="2400" dirty="0" smtClean="0">
                <a:solidFill>
                  <a:srgbClr val="C00000"/>
                </a:solidFill>
              </a:rPr>
              <a:t> </a:t>
            </a:r>
            <a:r>
              <a:rPr lang="fr-FR" sz="2400" dirty="0">
                <a:solidFill>
                  <a:srgbClr val="C00000"/>
                </a:solidFill>
              </a:rPr>
              <a:t>(20)</a:t>
            </a:r>
            <a:r>
              <a:rPr lang="fr-FR" sz="2400" dirty="0"/>
              <a:t>,</a:t>
            </a:r>
            <a:r>
              <a:rPr lang="fr-FR" sz="2400" dirty="0">
                <a:solidFill>
                  <a:srgbClr val="C00000"/>
                </a:solidFill>
              </a:rPr>
              <a:t> </a:t>
            </a:r>
            <a:r>
              <a:rPr lang="fr-FR" sz="2400" dirty="0"/>
              <a:t>soit </a:t>
            </a:r>
            <a:r>
              <a:rPr lang="fr-FR" sz="2400" dirty="0" smtClean="0"/>
              <a:t>d </a:t>
            </a:r>
            <a:r>
              <a:rPr lang="fr-FR" sz="2400" dirty="0"/>
              <a:t>= 7.</a:t>
            </a:r>
          </a:p>
        </p:txBody>
      </p:sp>
    </p:spTree>
    <p:extLst>
      <p:ext uri="{BB962C8B-B14F-4D97-AF65-F5344CB8AC3E}">
        <p14:creationId xmlns:p14="http://schemas.microsoft.com/office/powerpoint/2010/main" val="132197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asymétrique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-68179" y="1028289"/>
            <a:ext cx="9361040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/>
              <a:t> </a:t>
            </a:r>
            <a:r>
              <a:rPr lang="fr-FR" sz="2400" dirty="0"/>
              <a:t>Si le texte à chiffrer est : "ASSEZ" en codant chaque lettre avec son numéro alphabétique </a:t>
            </a:r>
            <a:r>
              <a:rPr lang="fr-FR" sz="2400" dirty="0" smtClean="0"/>
              <a:t>: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92" y="2201118"/>
            <a:ext cx="8766440" cy="41764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83768" y="3370439"/>
            <a:ext cx="4968552" cy="216024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673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asymétrique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-68179" y="1028289"/>
            <a:ext cx="9361040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/>
              <a:t> </a:t>
            </a:r>
            <a:r>
              <a:rPr lang="fr-FR" sz="2400" dirty="0"/>
              <a:t>Si le texte à chiffrer est : "ASSEZ" en codant chaque lettre avec son numéro alphabétique </a:t>
            </a:r>
            <a:r>
              <a:rPr lang="fr-FR" sz="2400" dirty="0" smtClean="0"/>
              <a:t>: 6859/33=207, reste =28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91" y="2180250"/>
            <a:ext cx="8810241" cy="419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asymétrique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-68179" y="1028289"/>
            <a:ext cx="93610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sz="2000" dirty="0"/>
              <a:t>Si le texte à chiffrer est : "ASSEZ" en codant chaque lettre avec son numéro alphabétique </a:t>
            </a:r>
            <a:r>
              <a:rPr lang="fr-FR" sz="2000" dirty="0" smtClean="0"/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 smtClean="0"/>
              <a:t> 6859 / 33 = 207, reste = 28</a:t>
            </a:r>
            <a:endParaRPr lang="fr-FR" sz="20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/>
              <a:t> </a:t>
            </a:r>
            <a:r>
              <a:rPr lang="fr-FR" sz="2000" dirty="0" smtClean="0"/>
              <a:t>125 / 33 = 3 , reste = 26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 smtClean="0"/>
              <a:t>17576 / 33= 532, reste =20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 smtClean="0"/>
              <a:t>1280000000/33= 1279999974 , reste =26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 smtClean="0"/>
              <a:t>13492928512/33=…………………, reste=19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4193249"/>
            <a:ext cx="5953108" cy="283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1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de RSA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-108520" y="1397621"/>
            <a:ext cx="93610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Quand </a:t>
            </a:r>
            <a:r>
              <a:rPr lang="fr-FR" sz="2400" dirty="0"/>
              <a:t>le message est représenté par M &lt; n , le chiffrement se fait en une seule étape.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Pour </a:t>
            </a:r>
            <a:r>
              <a:rPr lang="fr-FR" sz="2400" dirty="0"/>
              <a:t>chiffrer de plus long messages il suffit de le diviser en blocs M=M1 M2 ... Mt de sorte que Mi &lt; n pour tout 1≤i≤t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On </a:t>
            </a:r>
            <a:r>
              <a:rPr lang="fr-FR" sz="2400" dirty="0"/>
              <a:t>peut aussi utiliser RSA pour transmettre une clef et ensuite utiliser un algorithme à clef secrète.</a:t>
            </a:r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57754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de 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Exemple 1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57720" y="1268760"/>
            <a:ext cx="9050784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100" dirty="0" smtClean="0"/>
              <a:t>Les </a:t>
            </a:r>
            <a:r>
              <a:rPr lang="fr-FR" sz="2100" dirty="0"/>
              <a:t>clés : </a:t>
            </a:r>
          </a:p>
          <a:p>
            <a:pPr>
              <a:lnSpc>
                <a:spcPct val="150000"/>
              </a:lnSpc>
            </a:pPr>
            <a:r>
              <a:rPr lang="fr-FR" sz="2100" dirty="0"/>
              <a:t>• P=5 , q=7 </a:t>
            </a:r>
          </a:p>
          <a:p>
            <a:pPr>
              <a:lnSpc>
                <a:spcPct val="150000"/>
              </a:lnSpc>
            </a:pPr>
            <a:r>
              <a:rPr lang="en-GB" sz="2100" dirty="0" smtClean="0"/>
              <a:t>P=</a:t>
            </a:r>
            <a:r>
              <a:rPr lang="el-GR" sz="2100" dirty="0" smtClean="0"/>
              <a:t>5</a:t>
            </a:r>
            <a:r>
              <a:rPr lang="el-GR" sz="2100" dirty="0"/>
              <a:t>, </a:t>
            </a:r>
            <a:r>
              <a:rPr lang="en-GB" sz="2100" dirty="0" smtClean="0"/>
              <a:t>q=</a:t>
            </a:r>
            <a:r>
              <a:rPr lang="el-GR" sz="2100" dirty="0" smtClean="0"/>
              <a:t>7</a:t>
            </a:r>
            <a:r>
              <a:rPr lang="el-GR" sz="2100" dirty="0"/>
              <a:t>, </a:t>
            </a:r>
            <a:r>
              <a:rPr lang="en-GB" sz="2100" dirty="0" smtClean="0"/>
              <a:t>n=</a:t>
            </a:r>
            <a:r>
              <a:rPr lang="el-GR" sz="2100" dirty="0" smtClean="0"/>
              <a:t>35,</a:t>
            </a:r>
            <a:r>
              <a:rPr lang="el-GR" sz="21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l-GR" sz="2100" dirty="0" smtClean="0">
                <a:solidFill>
                  <a:schemeClr val="accent1">
                    <a:lumMod val="75000"/>
                  </a:schemeClr>
                </a:solidFill>
              </a:rPr>
              <a:t>φ</a:t>
            </a:r>
            <a:r>
              <a:rPr lang="el-GR" sz="2100" dirty="0" smtClean="0"/>
              <a:t>(</a:t>
            </a:r>
            <a:r>
              <a:rPr lang="en-GB" sz="2100" dirty="0" smtClean="0"/>
              <a:t>n</a:t>
            </a:r>
            <a:r>
              <a:rPr lang="el-GR" sz="2100" dirty="0" smtClean="0"/>
              <a:t>)</a:t>
            </a:r>
            <a:r>
              <a:rPr lang="en-GB" sz="2100" dirty="0" smtClean="0"/>
              <a:t> =</a:t>
            </a:r>
            <a:r>
              <a:rPr lang="el-GR" sz="2100" dirty="0" smtClean="0"/>
              <a:t> (</a:t>
            </a:r>
            <a:r>
              <a:rPr lang="en-GB" sz="2100" dirty="0" smtClean="0"/>
              <a:t>p-</a:t>
            </a:r>
            <a:r>
              <a:rPr lang="el-GR" sz="2100" dirty="0" smtClean="0"/>
              <a:t>1</a:t>
            </a:r>
            <a:r>
              <a:rPr lang="el-GR" sz="2100" dirty="0"/>
              <a:t>)( </a:t>
            </a:r>
            <a:r>
              <a:rPr lang="en-GB" sz="2100" dirty="0" smtClean="0"/>
              <a:t>q-</a:t>
            </a:r>
            <a:r>
              <a:rPr lang="el-GR" sz="2100" dirty="0" smtClean="0"/>
              <a:t>1)</a:t>
            </a:r>
            <a:r>
              <a:rPr lang="en-GB" sz="2100" dirty="0" smtClean="0"/>
              <a:t>= </a:t>
            </a:r>
            <a:r>
              <a:rPr lang="el-GR" sz="2100" dirty="0" smtClean="0"/>
              <a:t>24 </a:t>
            </a:r>
            <a:endParaRPr lang="en-GB" sz="2100" dirty="0" smtClean="0"/>
          </a:p>
          <a:p>
            <a:pPr>
              <a:lnSpc>
                <a:spcPct val="150000"/>
              </a:lnSpc>
            </a:pPr>
            <a:r>
              <a:rPr lang="en-GB" sz="2100" b="1" dirty="0" smtClean="0">
                <a:solidFill>
                  <a:srgbClr val="FF0000"/>
                </a:solidFill>
              </a:rPr>
              <a:t>e=</a:t>
            </a:r>
            <a:r>
              <a:rPr lang="el-GR" sz="2100" b="1" dirty="0" smtClean="0">
                <a:solidFill>
                  <a:srgbClr val="FF0000"/>
                </a:solidFill>
              </a:rPr>
              <a:t>5</a:t>
            </a:r>
            <a:r>
              <a:rPr lang="el-GR" sz="2100" dirty="0">
                <a:solidFill>
                  <a:srgbClr val="FF0000"/>
                </a:solidFill>
              </a:rPr>
              <a:t>,</a:t>
            </a:r>
            <a:r>
              <a:rPr lang="el-GR" sz="2100" dirty="0"/>
              <a:t> </a:t>
            </a:r>
            <a:r>
              <a:rPr lang="en-GB" sz="2100" b="1" dirty="0" smtClean="0"/>
              <a:t>p</a:t>
            </a:r>
            <a:r>
              <a:rPr lang="fr-FR" sz="2100" b="1" dirty="0" err="1" smtClean="0"/>
              <a:t>gcd</a:t>
            </a:r>
            <a:r>
              <a:rPr lang="fr-FR" sz="2100" dirty="0" smtClean="0"/>
              <a:t>(5,24)=1</a:t>
            </a:r>
            <a:r>
              <a:rPr lang="fr-FR" sz="2100" dirty="0"/>
              <a:t>, </a:t>
            </a:r>
            <a:r>
              <a:rPr lang="fr-FR" sz="2100" b="1" dirty="0" smtClean="0">
                <a:solidFill>
                  <a:srgbClr val="FF0000"/>
                </a:solidFill>
              </a:rPr>
              <a:t>d=e</a:t>
            </a:r>
            <a:r>
              <a:rPr lang="fr-FR" sz="2100" b="1" baseline="30000" dirty="0" smtClean="0">
                <a:solidFill>
                  <a:srgbClr val="FF0000"/>
                </a:solidFill>
              </a:rPr>
              <a:t>-1</a:t>
            </a:r>
            <a:r>
              <a:rPr lang="fr-FR" sz="2100" b="1" dirty="0" smtClean="0">
                <a:solidFill>
                  <a:srgbClr val="FF0000"/>
                </a:solidFill>
              </a:rPr>
              <a:t>=5</a:t>
            </a:r>
            <a:r>
              <a:rPr lang="fr-FR" sz="2100" dirty="0" smtClean="0"/>
              <a:t>, 5*5= 25 ≡ </a:t>
            </a:r>
            <a:r>
              <a:rPr lang="fr-FR" sz="2100" dirty="0"/>
              <a:t>1(</a:t>
            </a:r>
            <a:r>
              <a:rPr lang="fr-FR" sz="2100" dirty="0" err="1"/>
              <a:t>mod</a:t>
            </a:r>
            <a:r>
              <a:rPr lang="fr-FR" sz="2100" dirty="0"/>
              <a:t> 24)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100" b="1" dirty="0" smtClean="0"/>
              <a:t>Chiffrement / déchiffrement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100" b="1" dirty="0" smtClean="0"/>
              <a:t>E(3)</a:t>
            </a:r>
          </a:p>
          <a:p>
            <a:pPr marL="403225">
              <a:lnSpc>
                <a:spcPct val="150000"/>
              </a:lnSpc>
            </a:pPr>
            <a:r>
              <a:rPr lang="fr-FR" sz="2100" dirty="0" smtClean="0"/>
              <a:t>E(3) ≡ </a:t>
            </a:r>
            <a:r>
              <a:rPr lang="fr-FR" sz="2100" b="1" dirty="0" smtClean="0">
                <a:solidFill>
                  <a:srgbClr val="C00000"/>
                </a:solidFill>
              </a:rPr>
              <a:t>3</a:t>
            </a:r>
            <a:r>
              <a:rPr lang="fr-FR" sz="2100" b="1" baseline="30000" dirty="0" smtClean="0">
                <a:solidFill>
                  <a:srgbClr val="C00000"/>
                </a:solidFill>
              </a:rPr>
              <a:t>5</a:t>
            </a:r>
            <a:r>
              <a:rPr lang="fr-FR" sz="2100" dirty="0" smtClean="0"/>
              <a:t> ≡ 243 ≡ </a:t>
            </a:r>
            <a:r>
              <a:rPr lang="fr-FR" sz="2100" b="1" dirty="0" smtClean="0">
                <a:solidFill>
                  <a:srgbClr val="C00000"/>
                </a:solidFill>
              </a:rPr>
              <a:t>33</a:t>
            </a:r>
            <a:r>
              <a:rPr lang="fr-FR" sz="2100" dirty="0" smtClean="0"/>
              <a:t> (</a:t>
            </a:r>
            <a:r>
              <a:rPr lang="fr-FR" sz="2100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</a:t>
            </a:r>
            <a:r>
              <a:rPr lang="fr-FR" sz="21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35</a:t>
            </a:r>
            <a:r>
              <a:rPr lang="fr-FR" sz="2100" dirty="0" smtClean="0"/>
              <a:t>)  </a:t>
            </a:r>
          </a:p>
          <a:p>
            <a:pPr marL="403225">
              <a:lnSpc>
                <a:spcPct val="150000"/>
              </a:lnSpc>
            </a:pPr>
            <a:r>
              <a:rPr lang="fr-FR" sz="2100" dirty="0" smtClean="0"/>
              <a:t>D(33</a:t>
            </a:r>
            <a:r>
              <a:rPr lang="fr-FR" sz="2100" dirty="0"/>
              <a:t>) ≡ </a:t>
            </a:r>
            <a:r>
              <a:rPr lang="fr-FR" sz="2100" b="1" dirty="0" smtClean="0">
                <a:solidFill>
                  <a:srgbClr val="C00000"/>
                </a:solidFill>
              </a:rPr>
              <a:t>33</a:t>
            </a:r>
            <a:r>
              <a:rPr lang="fr-FR" sz="2100" b="1" baseline="30000" dirty="0" smtClean="0">
                <a:solidFill>
                  <a:srgbClr val="C00000"/>
                </a:solidFill>
              </a:rPr>
              <a:t>5</a:t>
            </a:r>
            <a:r>
              <a:rPr lang="fr-FR" sz="2100" dirty="0" smtClean="0"/>
              <a:t> </a:t>
            </a:r>
            <a:r>
              <a:rPr lang="fr-FR" sz="2100" dirty="0"/>
              <a:t>≡ </a:t>
            </a:r>
            <a:r>
              <a:rPr lang="fr-FR" sz="2100" dirty="0" smtClean="0"/>
              <a:t>39135393 </a:t>
            </a:r>
            <a:r>
              <a:rPr lang="fr-FR" sz="2100" dirty="0"/>
              <a:t>≡ </a:t>
            </a:r>
            <a:r>
              <a:rPr lang="fr-FR" sz="2100" b="1" dirty="0" smtClean="0">
                <a:solidFill>
                  <a:srgbClr val="C00000"/>
                </a:solidFill>
              </a:rPr>
              <a:t>3</a:t>
            </a:r>
            <a:r>
              <a:rPr lang="fr-FR" sz="2100" dirty="0" smtClean="0"/>
              <a:t> </a:t>
            </a:r>
            <a:r>
              <a:rPr lang="fr-FR" sz="2100" dirty="0"/>
              <a:t>(</a:t>
            </a:r>
            <a:r>
              <a:rPr lang="fr-FR" sz="21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mod</a:t>
            </a:r>
            <a:r>
              <a:rPr lang="fr-FR" sz="21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35</a:t>
            </a:r>
            <a:r>
              <a:rPr lang="fr-FR" sz="2100" dirty="0"/>
              <a:t>) </a:t>
            </a:r>
            <a:endParaRPr lang="fr-FR" sz="21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100" b="1" dirty="0" smtClean="0"/>
              <a:t>E(5)</a:t>
            </a:r>
            <a:endParaRPr lang="fr-FR" sz="2100" b="1" dirty="0"/>
          </a:p>
          <a:p>
            <a:pPr marL="457200">
              <a:lnSpc>
                <a:spcPct val="150000"/>
              </a:lnSpc>
            </a:pPr>
            <a:r>
              <a:rPr lang="fr-FR" sz="2100" dirty="0" smtClean="0"/>
              <a:t>E(5) </a:t>
            </a:r>
            <a:r>
              <a:rPr lang="fr-FR" sz="2100" dirty="0"/>
              <a:t>≡ </a:t>
            </a:r>
            <a:r>
              <a:rPr lang="fr-FR" sz="2100" b="1" dirty="0" smtClean="0">
                <a:solidFill>
                  <a:srgbClr val="C00000"/>
                </a:solidFill>
              </a:rPr>
              <a:t>5</a:t>
            </a:r>
            <a:r>
              <a:rPr lang="fr-FR" sz="2100" b="1" baseline="30000" dirty="0" smtClean="0">
                <a:solidFill>
                  <a:srgbClr val="C00000"/>
                </a:solidFill>
              </a:rPr>
              <a:t>5</a:t>
            </a:r>
            <a:r>
              <a:rPr lang="fr-FR" sz="2100" dirty="0" smtClean="0"/>
              <a:t> </a:t>
            </a:r>
            <a:r>
              <a:rPr lang="fr-FR" sz="2100" dirty="0"/>
              <a:t>≡ </a:t>
            </a:r>
            <a:r>
              <a:rPr lang="fr-FR" sz="2400" dirty="0"/>
              <a:t>3125</a:t>
            </a:r>
            <a:r>
              <a:rPr lang="fr-FR" sz="2100" dirty="0" smtClean="0"/>
              <a:t> </a:t>
            </a:r>
            <a:r>
              <a:rPr lang="fr-FR" sz="2100" dirty="0"/>
              <a:t>≡ </a:t>
            </a:r>
            <a:r>
              <a:rPr lang="fr-FR" sz="2100" dirty="0" smtClean="0"/>
              <a:t>10 </a:t>
            </a:r>
            <a:r>
              <a:rPr lang="fr-FR" sz="2100" dirty="0"/>
              <a:t>(</a:t>
            </a:r>
            <a:r>
              <a:rPr lang="fr-FR" sz="21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mod</a:t>
            </a:r>
            <a:r>
              <a:rPr lang="fr-FR" sz="21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35</a:t>
            </a:r>
            <a:r>
              <a:rPr lang="fr-FR" sz="2100" dirty="0"/>
              <a:t>) </a:t>
            </a:r>
          </a:p>
          <a:p>
            <a:pPr marL="457200">
              <a:lnSpc>
                <a:spcPct val="150000"/>
              </a:lnSpc>
            </a:pPr>
            <a:r>
              <a:rPr lang="fr-FR" sz="2100" dirty="0" smtClean="0"/>
              <a:t>D(10) </a:t>
            </a:r>
            <a:r>
              <a:rPr lang="fr-FR" sz="2100" dirty="0"/>
              <a:t>≡ </a:t>
            </a:r>
            <a:r>
              <a:rPr lang="fr-FR" sz="2100" b="1" dirty="0" smtClean="0">
                <a:solidFill>
                  <a:srgbClr val="C00000"/>
                </a:solidFill>
              </a:rPr>
              <a:t>10</a:t>
            </a:r>
            <a:r>
              <a:rPr lang="fr-FR" sz="2100" b="1" baseline="30000" dirty="0" smtClean="0">
                <a:solidFill>
                  <a:srgbClr val="C00000"/>
                </a:solidFill>
              </a:rPr>
              <a:t>5</a:t>
            </a:r>
            <a:r>
              <a:rPr lang="fr-FR" sz="2100" dirty="0" smtClean="0"/>
              <a:t> </a:t>
            </a:r>
            <a:r>
              <a:rPr lang="fr-FR" sz="2100" dirty="0"/>
              <a:t>≡ </a:t>
            </a:r>
            <a:r>
              <a:rPr lang="fr-FR" sz="2100" dirty="0">
                <a:solidFill>
                  <a:srgbClr val="FF0000"/>
                </a:solidFill>
              </a:rPr>
              <a:t>39135393</a:t>
            </a:r>
            <a:r>
              <a:rPr lang="fr-FR" sz="2100" dirty="0"/>
              <a:t> ≡ </a:t>
            </a:r>
            <a:r>
              <a:rPr lang="fr-FR" sz="2100" dirty="0" smtClean="0"/>
              <a:t>5 </a:t>
            </a:r>
            <a:r>
              <a:rPr lang="fr-FR" sz="2100" dirty="0"/>
              <a:t>(</a:t>
            </a:r>
            <a:r>
              <a:rPr lang="fr-FR" sz="21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mod</a:t>
            </a:r>
            <a:r>
              <a:rPr lang="fr-FR" sz="21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35</a:t>
            </a:r>
            <a:r>
              <a:rPr lang="fr-FR" sz="2100" dirty="0"/>
              <a:t>)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580112" y="3981041"/>
            <a:ext cx="3456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243/35= 6 </a:t>
            </a:r>
            <a:r>
              <a:rPr lang="fr-FR" sz="2000" dirty="0" smtClean="0">
                <a:solidFill>
                  <a:srgbClr val="FF0000"/>
                </a:solidFill>
              </a:rPr>
              <a:t>reste=33</a:t>
            </a:r>
          </a:p>
          <a:p>
            <a:r>
              <a:rPr lang="fr-FR" sz="2000" dirty="0" smtClean="0"/>
              <a:t>33</a:t>
            </a:r>
            <a:r>
              <a:rPr lang="fr-FR" sz="2000" baseline="30000" dirty="0" smtClean="0"/>
              <a:t>5 </a:t>
            </a:r>
            <a:r>
              <a:rPr lang="fr-FR" sz="2000" dirty="0" smtClean="0"/>
              <a:t> / 35 = 1118154 </a:t>
            </a:r>
            <a:r>
              <a:rPr lang="fr-FR" sz="2000" dirty="0" smtClean="0">
                <a:solidFill>
                  <a:srgbClr val="FF0000"/>
                </a:solidFill>
              </a:rPr>
              <a:t>reste =3</a:t>
            </a:r>
            <a:endParaRPr lang="fr-FR" sz="2000" baseline="30000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5251884" y="5746909"/>
            <a:ext cx="41128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3125 / 35= 89  </a:t>
            </a:r>
            <a:r>
              <a:rPr lang="fr-FR" sz="2000" b="1" dirty="0" smtClean="0">
                <a:solidFill>
                  <a:srgbClr val="FF0000"/>
                </a:solidFill>
              </a:rPr>
              <a:t>reste=10</a:t>
            </a:r>
          </a:p>
          <a:p>
            <a:r>
              <a:rPr lang="fr-FR" sz="2000" dirty="0" smtClean="0"/>
              <a:t>33</a:t>
            </a:r>
            <a:r>
              <a:rPr lang="fr-FR" sz="2000" baseline="30000" dirty="0" smtClean="0"/>
              <a:t>5 </a:t>
            </a:r>
            <a:r>
              <a:rPr lang="fr-FR" sz="2000" dirty="0" smtClean="0"/>
              <a:t> / 35 = 39135393/35= 1118154 </a:t>
            </a:r>
            <a:r>
              <a:rPr lang="fr-FR" sz="2000" b="1" dirty="0" smtClean="0">
                <a:solidFill>
                  <a:srgbClr val="FF0000"/>
                </a:solidFill>
              </a:rPr>
              <a:t>reste =5</a:t>
            </a:r>
            <a:endParaRPr lang="fr-FR" sz="2000" b="1" baseline="3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07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de 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Exemple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/>
              <a:t>Prenons </a:t>
            </a:r>
            <a:r>
              <a:rPr lang="fr-FR" b="1" dirty="0"/>
              <a:t>p=47 et q=71 </a:t>
            </a:r>
          </a:p>
          <a:p>
            <a:r>
              <a:rPr lang="pt-BR" b="1" dirty="0">
                <a:solidFill>
                  <a:srgbClr val="FF0000"/>
                </a:solidFill>
              </a:rPr>
              <a:t>n = 3337 </a:t>
            </a:r>
            <a:r>
              <a:rPr lang="pt-BR" dirty="0"/>
              <a:t>et </a:t>
            </a:r>
            <a:r>
              <a:rPr lang="el-GR" dirty="0"/>
              <a:t>φ</a:t>
            </a:r>
            <a:r>
              <a:rPr lang="pt-BR" dirty="0"/>
              <a:t>(n)=(p − 1)(q − 1) = 46*70 = </a:t>
            </a:r>
            <a:r>
              <a:rPr lang="pt-BR" b="1" dirty="0">
                <a:solidFill>
                  <a:srgbClr val="FF0000"/>
                </a:solidFill>
              </a:rPr>
              <a:t>3220</a:t>
            </a:r>
            <a:r>
              <a:rPr lang="pt-BR" dirty="0"/>
              <a:t> </a:t>
            </a:r>
          </a:p>
          <a:p>
            <a:r>
              <a:rPr lang="fr-FR" dirty="0"/>
              <a:t>Choisissons </a:t>
            </a:r>
            <a:r>
              <a:rPr lang="fr-FR" b="1" dirty="0">
                <a:solidFill>
                  <a:srgbClr val="C00000"/>
                </a:solidFill>
              </a:rPr>
              <a:t>e=79</a:t>
            </a:r>
            <a:r>
              <a:rPr lang="fr-FR" dirty="0"/>
              <a:t> et </a:t>
            </a:r>
            <a:r>
              <a:rPr lang="fr-FR" b="1" dirty="0">
                <a:solidFill>
                  <a:srgbClr val="C00000"/>
                </a:solidFill>
              </a:rPr>
              <a:t>d=1019</a:t>
            </a:r>
            <a:r>
              <a:rPr lang="fr-FR" dirty="0"/>
              <a:t> </a:t>
            </a:r>
          </a:p>
          <a:p>
            <a:pPr indent="0">
              <a:buNone/>
            </a:pPr>
            <a:r>
              <a:rPr lang="fr-FR" dirty="0"/>
              <a:t>(on peut vérifier que </a:t>
            </a:r>
            <a:r>
              <a:rPr lang="fr-FR" dirty="0" err="1" smtClean="0"/>
              <a:t>e.d</a:t>
            </a:r>
            <a:r>
              <a:rPr lang="fr-FR" dirty="0" smtClean="0"/>
              <a:t> </a:t>
            </a:r>
            <a:r>
              <a:rPr lang="fr-FR" dirty="0"/>
              <a:t>= 80501 = 1+ 25 *3220) </a:t>
            </a:r>
          </a:p>
        </p:txBody>
      </p:sp>
    </p:spTree>
    <p:extLst>
      <p:ext uri="{BB962C8B-B14F-4D97-AF65-F5344CB8AC3E}">
        <p14:creationId xmlns:p14="http://schemas.microsoft.com/office/powerpoint/2010/main" val="2441077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de 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Exemple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/>
              <a:t>Prenons </a:t>
            </a:r>
            <a:r>
              <a:rPr lang="fr-FR" b="1" dirty="0"/>
              <a:t>p=47 et q=71 </a:t>
            </a:r>
          </a:p>
          <a:p>
            <a:r>
              <a:rPr lang="pt-BR" b="1" dirty="0">
                <a:solidFill>
                  <a:srgbClr val="FF0000"/>
                </a:solidFill>
              </a:rPr>
              <a:t>n = 3337 </a:t>
            </a:r>
            <a:r>
              <a:rPr lang="pt-BR" dirty="0"/>
              <a:t>et </a:t>
            </a:r>
            <a:r>
              <a:rPr lang="el-GR" dirty="0"/>
              <a:t>φ</a:t>
            </a:r>
            <a:r>
              <a:rPr lang="pt-BR" dirty="0"/>
              <a:t>(n)=(p − 1)(q − 1) = 46*70 = </a:t>
            </a:r>
            <a:r>
              <a:rPr lang="pt-BR" b="1" dirty="0">
                <a:solidFill>
                  <a:srgbClr val="FF0000"/>
                </a:solidFill>
              </a:rPr>
              <a:t>3220</a:t>
            </a:r>
            <a:r>
              <a:rPr lang="pt-BR" dirty="0"/>
              <a:t> </a:t>
            </a:r>
          </a:p>
          <a:p>
            <a:r>
              <a:rPr lang="fr-FR" dirty="0"/>
              <a:t>Choisissons </a:t>
            </a:r>
            <a:r>
              <a:rPr lang="fr-FR" b="1" dirty="0">
                <a:solidFill>
                  <a:srgbClr val="C00000"/>
                </a:solidFill>
              </a:rPr>
              <a:t>e=79</a:t>
            </a:r>
            <a:r>
              <a:rPr lang="fr-FR" dirty="0"/>
              <a:t> et </a:t>
            </a:r>
            <a:r>
              <a:rPr lang="fr-FR" b="1" dirty="0">
                <a:solidFill>
                  <a:srgbClr val="C00000"/>
                </a:solidFill>
              </a:rPr>
              <a:t>d=1019</a:t>
            </a:r>
            <a:r>
              <a:rPr lang="fr-FR" dirty="0"/>
              <a:t> </a:t>
            </a:r>
          </a:p>
          <a:p>
            <a:pPr indent="0">
              <a:buNone/>
            </a:pPr>
            <a:r>
              <a:rPr lang="fr-FR" dirty="0"/>
              <a:t>(on peut vérifier que </a:t>
            </a:r>
            <a:r>
              <a:rPr lang="fr-FR" dirty="0" err="1" smtClean="0"/>
              <a:t>e.d</a:t>
            </a:r>
            <a:r>
              <a:rPr lang="fr-FR" dirty="0" smtClean="0"/>
              <a:t> </a:t>
            </a:r>
            <a:r>
              <a:rPr lang="fr-FR" dirty="0"/>
              <a:t>= 80501 = 1+ 25 *3220) </a:t>
            </a:r>
          </a:p>
        </p:txBody>
      </p:sp>
    </p:spTree>
    <p:extLst>
      <p:ext uri="{BB962C8B-B14F-4D97-AF65-F5344CB8AC3E}">
        <p14:creationId xmlns:p14="http://schemas.microsoft.com/office/powerpoint/2010/main" val="149030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de 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Exemple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suite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 smtClean="0"/>
              <a:t>Pour </a:t>
            </a:r>
            <a:r>
              <a:rPr lang="fr-FR" dirty="0"/>
              <a:t>chiffrer le message </a:t>
            </a:r>
            <a:r>
              <a:rPr lang="fr-FR" dirty="0">
                <a:solidFill>
                  <a:srgbClr val="FF0000"/>
                </a:solidFill>
              </a:rPr>
              <a:t>688</a:t>
            </a:r>
            <a:r>
              <a:rPr lang="fr-FR" dirty="0"/>
              <a:t>232</a:t>
            </a:r>
            <a:r>
              <a:rPr lang="fr-FR" dirty="0">
                <a:solidFill>
                  <a:srgbClr val="FF0000"/>
                </a:solidFill>
              </a:rPr>
              <a:t>687</a:t>
            </a:r>
            <a:r>
              <a:rPr lang="fr-FR" dirty="0"/>
              <a:t>966</a:t>
            </a:r>
            <a:r>
              <a:rPr lang="fr-FR" dirty="0">
                <a:solidFill>
                  <a:srgbClr val="FF0000"/>
                </a:solidFill>
              </a:rPr>
              <a:t>668</a:t>
            </a:r>
            <a:r>
              <a:rPr lang="fr-FR" dirty="0"/>
              <a:t>3 on commence par le diviser en petit blocs de trois chiffres: </a:t>
            </a:r>
          </a:p>
          <a:p>
            <a:r>
              <a:rPr lang="fr-FR" dirty="0"/>
              <a:t>m1 m2 m3 m4 m5 m6 = 688 232 687 966 668 3 </a:t>
            </a:r>
          </a:p>
          <a:p>
            <a:r>
              <a:rPr lang="fr-FR" dirty="0" smtClean="0"/>
              <a:t>En </a:t>
            </a:r>
            <a:r>
              <a:rPr lang="fr-FR" dirty="0"/>
              <a:t>utilisant la clef (</a:t>
            </a:r>
            <a:r>
              <a:rPr lang="fr-FR" dirty="0" err="1"/>
              <a:t>e,n</a:t>
            </a:r>
            <a:r>
              <a:rPr lang="fr-FR" dirty="0"/>
              <a:t>)=(79, 3337) on calcule le premier bloc: </a:t>
            </a:r>
          </a:p>
          <a:p>
            <a:r>
              <a:rPr lang="da-DK" dirty="0"/>
              <a:t>688</a:t>
            </a:r>
            <a:r>
              <a:rPr lang="da-DK" b="1" baseline="30000" dirty="0">
                <a:solidFill>
                  <a:srgbClr val="FF0000"/>
                </a:solidFill>
              </a:rPr>
              <a:t>79</a:t>
            </a:r>
            <a:r>
              <a:rPr lang="da-DK" dirty="0"/>
              <a:t> mod 3337 = 1570 = c1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836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de 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Exemple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suite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 smtClean="0"/>
              <a:t>Les </a:t>
            </a:r>
            <a:r>
              <a:rPr lang="fr-FR" dirty="0"/>
              <a:t>autres blocs sont chiffrés de la même manière et on obtient: </a:t>
            </a:r>
          </a:p>
          <a:p>
            <a:r>
              <a:rPr lang="fr-FR" b="1" dirty="0">
                <a:solidFill>
                  <a:srgbClr val="C00000"/>
                </a:solidFill>
              </a:rPr>
              <a:t>c1 c2 c3 c4 c5 c6 </a:t>
            </a:r>
            <a:r>
              <a:rPr lang="fr-FR" dirty="0"/>
              <a:t>= </a:t>
            </a:r>
            <a:r>
              <a:rPr lang="fr-F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1570 2756 2091 2276 2423 158 </a:t>
            </a:r>
          </a:p>
          <a:p>
            <a:r>
              <a:rPr lang="fr-FR" dirty="0" smtClean="0"/>
              <a:t>Pour </a:t>
            </a:r>
            <a:r>
              <a:rPr lang="fr-FR" dirty="0"/>
              <a:t>déchiffrer le message on utilise la clef </a:t>
            </a:r>
            <a:r>
              <a:rPr lang="fr-FR" b="1" dirty="0">
                <a:solidFill>
                  <a:srgbClr val="FF0000"/>
                </a:solidFill>
              </a:rPr>
              <a:t>(</a:t>
            </a:r>
            <a:r>
              <a:rPr lang="fr-FR" b="1" dirty="0" err="1">
                <a:solidFill>
                  <a:srgbClr val="FF0000"/>
                </a:solidFill>
              </a:rPr>
              <a:t>d,n</a:t>
            </a:r>
            <a:r>
              <a:rPr lang="fr-FR" b="1" dirty="0">
                <a:solidFill>
                  <a:srgbClr val="FF0000"/>
                </a:solidFill>
              </a:rPr>
              <a:t>)=(1019, 3337) </a:t>
            </a:r>
            <a:r>
              <a:rPr lang="fr-FR" dirty="0"/>
              <a:t>et on obtient pour le premier bloc: </a:t>
            </a:r>
          </a:p>
          <a:p>
            <a:r>
              <a:rPr lang="da-DK" b="1" dirty="0" smtClean="0">
                <a:solidFill>
                  <a:srgbClr val="C00000"/>
                </a:solidFill>
              </a:rPr>
              <a:t>1570</a:t>
            </a:r>
            <a:r>
              <a:rPr lang="da-DK" b="1" baseline="30000" dirty="0" smtClean="0">
                <a:solidFill>
                  <a:srgbClr val="C00000"/>
                </a:solidFill>
              </a:rPr>
              <a:t>1019</a:t>
            </a:r>
            <a:r>
              <a:rPr lang="da-DK" b="1" dirty="0" smtClean="0">
                <a:solidFill>
                  <a:srgbClr val="C00000"/>
                </a:solidFill>
              </a:rPr>
              <a:t> </a:t>
            </a:r>
            <a:r>
              <a:rPr lang="da-DK" b="1" dirty="0">
                <a:solidFill>
                  <a:srgbClr val="C00000"/>
                </a:solidFill>
              </a:rPr>
              <a:t>mod 3337 = 688 = m1 </a:t>
            </a:r>
          </a:p>
          <a:p>
            <a:r>
              <a:rPr lang="fr-FR" dirty="0" smtClean="0"/>
              <a:t>Le </a:t>
            </a:r>
            <a:r>
              <a:rPr lang="fr-FR" dirty="0"/>
              <a:t>reste du message en clair est obtenu de la même manière </a:t>
            </a:r>
          </a:p>
        </p:txBody>
      </p:sp>
    </p:spTree>
    <p:extLst>
      <p:ext uri="{BB962C8B-B14F-4D97-AF65-F5344CB8AC3E}">
        <p14:creationId xmlns:p14="http://schemas.microsoft.com/office/powerpoint/2010/main" val="388677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Rappel : Arithmétique modulaire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 smtClean="0"/>
              <a:t>x ≡ y (</a:t>
            </a:r>
            <a:r>
              <a:rPr lang="fr-FR" dirty="0" err="1" smtClean="0"/>
              <a:t>mod</a:t>
            </a:r>
            <a:r>
              <a:rPr lang="fr-FR" dirty="0" smtClean="0"/>
              <a:t> n)     </a:t>
            </a:r>
            <a:r>
              <a:rPr lang="fr-FR" dirty="0" err="1" smtClean="0"/>
              <a:t>ssi</a:t>
            </a:r>
            <a:r>
              <a:rPr lang="fr-FR" dirty="0" smtClean="0"/>
              <a:t>       x=</a:t>
            </a:r>
            <a:r>
              <a:rPr lang="fr-FR" dirty="0" err="1" smtClean="0">
                <a:solidFill>
                  <a:srgbClr val="FF0000"/>
                </a:solidFill>
              </a:rPr>
              <a:t>k</a:t>
            </a:r>
            <a:r>
              <a:rPr lang="fr-FR" dirty="0" err="1" smtClean="0"/>
              <a:t>n</a:t>
            </a:r>
            <a:r>
              <a:rPr lang="fr-FR" dirty="0" smtClean="0"/>
              <a:t> + </a:t>
            </a:r>
            <a:r>
              <a:rPr lang="fr-FR" dirty="0" smtClean="0">
                <a:solidFill>
                  <a:srgbClr val="FF0000"/>
                </a:solidFill>
              </a:rPr>
              <a:t>y</a:t>
            </a:r>
            <a:r>
              <a:rPr lang="fr-FR" dirty="0" smtClean="0"/>
              <a:t> avec y &lt; n</a:t>
            </a:r>
          </a:p>
          <a:p>
            <a:pPr marL="457200" indent="0">
              <a:buNone/>
            </a:pPr>
            <a:r>
              <a:rPr lang="fr-FR" dirty="0" smtClean="0"/>
              <a:t>27 = 3*7 + 6 alors 27 ≡ 6 (</a:t>
            </a:r>
            <a:r>
              <a:rPr lang="fr-FR" dirty="0" err="1" smtClean="0"/>
              <a:t>mod</a:t>
            </a:r>
            <a:r>
              <a:rPr lang="fr-FR" dirty="0" smtClean="0"/>
              <a:t> 7)</a:t>
            </a:r>
          </a:p>
          <a:p>
            <a:pPr marL="511175" indent="0">
              <a:buNone/>
            </a:pPr>
            <a:r>
              <a:rPr lang="fr-F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</a:t>
            </a:r>
            <a:r>
              <a:rPr lang="fr-F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fr-FR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</a:t>
            </a:r>
            <a:r>
              <a:rPr lang="fr-F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n) + y(</a:t>
            </a:r>
            <a:r>
              <a:rPr lang="fr-FR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</a:t>
            </a:r>
            <a:r>
              <a:rPr lang="fr-F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n) ≡ (x + y) (</a:t>
            </a:r>
            <a:r>
              <a:rPr lang="fr-FR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</a:t>
            </a:r>
            <a:r>
              <a:rPr lang="fr-F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n)</a:t>
            </a:r>
          </a:p>
          <a:p>
            <a:r>
              <a:rPr lang="fr-FR" b="1" dirty="0" smtClean="0"/>
              <a:t>Exemple</a:t>
            </a:r>
          </a:p>
          <a:p>
            <a:pPr marL="457200" indent="0">
              <a:buNone/>
            </a:pPr>
            <a:r>
              <a:rPr lang="fr-FR" dirty="0" smtClean="0"/>
              <a:t>9 </a:t>
            </a:r>
            <a:r>
              <a:rPr lang="fr-FR" dirty="0" err="1" smtClean="0"/>
              <a:t>mod</a:t>
            </a:r>
            <a:r>
              <a:rPr lang="fr-FR" dirty="0" smtClean="0"/>
              <a:t> 7</a:t>
            </a:r>
          </a:p>
          <a:p>
            <a:pPr marL="457200" indent="0">
              <a:buNone/>
            </a:pPr>
            <a:r>
              <a:rPr lang="fr-FR" dirty="0" smtClean="0"/>
              <a:t>11 </a:t>
            </a:r>
            <a:r>
              <a:rPr lang="fr-FR" dirty="0" err="1" smtClean="0"/>
              <a:t>mod</a:t>
            </a:r>
            <a:r>
              <a:rPr lang="fr-FR" dirty="0" smtClean="0"/>
              <a:t> 7</a:t>
            </a:r>
          </a:p>
          <a:p>
            <a:pPr marL="511175" indent="-53975">
              <a:buNone/>
            </a:pPr>
            <a:r>
              <a:rPr lang="fr-FR" dirty="0" smtClean="0"/>
              <a:t>9+11= 20 ≡ 6( </a:t>
            </a:r>
            <a:r>
              <a:rPr lang="fr-FR" dirty="0" err="1" smtClean="0"/>
              <a:t>mod</a:t>
            </a:r>
            <a:r>
              <a:rPr lang="fr-FR" dirty="0" smtClean="0"/>
              <a:t> 7) et </a:t>
            </a:r>
          </a:p>
          <a:p>
            <a:pPr marL="511175" indent="-53975">
              <a:buNone/>
            </a:pPr>
            <a:r>
              <a:rPr lang="fr-FR" dirty="0" smtClean="0"/>
              <a:t>9( </a:t>
            </a:r>
            <a:r>
              <a:rPr lang="fr-FR" dirty="0" err="1" smtClean="0"/>
              <a:t>mod</a:t>
            </a:r>
            <a:r>
              <a:rPr lang="fr-FR" dirty="0" smtClean="0"/>
              <a:t> 7) + 11(</a:t>
            </a:r>
            <a:r>
              <a:rPr lang="fr-FR" dirty="0" err="1" smtClean="0"/>
              <a:t>mod</a:t>
            </a:r>
            <a:r>
              <a:rPr lang="fr-FR" dirty="0" smtClean="0"/>
              <a:t> 7) ≡ 2 + 4 ≡ 6 (</a:t>
            </a:r>
            <a:r>
              <a:rPr lang="fr-FR" dirty="0" err="1" smtClean="0"/>
              <a:t>mod</a:t>
            </a:r>
            <a:r>
              <a:rPr lang="fr-FR" dirty="0" smtClean="0"/>
              <a:t> 7)</a:t>
            </a:r>
          </a:p>
        </p:txBody>
      </p:sp>
    </p:spTree>
    <p:extLst>
      <p:ext uri="{BB962C8B-B14F-4D97-AF65-F5344CB8AC3E}">
        <p14:creationId xmlns:p14="http://schemas.microsoft.com/office/powerpoint/2010/main" val="410130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Rappel : Arithmétique modulaire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pPr marL="457200" indent="-403225"/>
            <a:r>
              <a:rPr lang="fr-FR" dirty="0" smtClean="0"/>
              <a:t>  </a:t>
            </a:r>
            <a:r>
              <a:rPr lang="fr-F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x(</a:t>
            </a:r>
            <a:r>
              <a:rPr lang="fr-FR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</a:t>
            </a:r>
            <a:r>
              <a:rPr lang="fr-F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n) * y(</a:t>
            </a:r>
            <a:r>
              <a:rPr lang="fr-FR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</a:t>
            </a:r>
            <a:r>
              <a:rPr lang="fr-F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n) ≡ (x * y) (</a:t>
            </a:r>
            <a:r>
              <a:rPr lang="fr-FR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</a:t>
            </a:r>
            <a:r>
              <a:rPr lang="fr-F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n)</a:t>
            </a:r>
          </a:p>
          <a:p>
            <a:r>
              <a:rPr lang="fr-FR" b="1" dirty="0" smtClean="0"/>
              <a:t>Exemple</a:t>
            </a:r>
          </a:p>
          <a:p>
            <a:pPr marL="457200" indent="0">
              <a:buNone/>
            </a:pPr>
            <a:r>
              <a:rPr lang="fr-FR" dirty="0" smtClean="0"/>
              <a:t>9 </a:t>
            </a:r>
            <a:r>
              <a:rPr lang="fr-FR" dirty="0" err="1" smtClean="0"/>
              <a:t>mod</a:t>
            </a:r>
            <a:r>
              <a:rPr lang="fr-FR" dirty="0" smtClean="0"/>
              <a:t> 7</a:t>
            </a:r>
          </a:p>
          <a:p>
            <a:pPr marL="457200" indent="0">
              <a:buNone/>
            </a:pPr>
            <a:r>
              <a:rPr lang="fr-FR" dirty="0" smtClean="0"/>
              <a:t>11 </a:t>
            </a:r>
            <a:r>
              <a:rPr lang="fr-FR" dirty="0" err="1" smtClean="0"/>
              <a:t>mod</a:t>
            </a:r>
            <a:r>
              <a:rPr lang="fr-FR" dirty="0" smtClean="0"/>
              <a:t> 7</a:t>
            </a:r>
          </a:p>
          <a:p>
            <a:pPr marL="511175" indent="-53975">
              <a:buNone/>
            </a:pPr>
            <a:r>
              <a:rPr lang="fr-FR" b="1" dirty="0" smtClean="0"/>
              <a:t>9*11</a:t>
            </a:r>
            <a:r>
              <a:rPr lang="fr-FR" dirty="0" smtClean="0"/>
              <a:t>= 99 ≡ </a:t>
            </a:r>
            <a:r>
              <a:rPr lang="fr-FR" b="1" dirty="0" smtClean="0"/>
              <a:t>14*7</a:t>
            </a:r>
            <a:r>
              <a:rPr lang="fr-FR" dirty="0" smtClean="0"/>
              <a:t>+</a:t>
            </a:r>
            <a:r>
              <a:rPr lang="fr-FR" b="1" dirty="0" smtClean="0">
                <a:solidFill>
                  <a:srgbClr val="C00000"/>
                </a:solidFill>
              </a:rPr>
              <a:t>1</a:t>
            </a:r>
            <a:r>
              <a:rPr lang="fr-FR" dirty="0" smtClean="0"/>
              <a:t> ≡ </a:t>
            </a:r>
            <a:r>
              <a:rPr lang="fr-FR" b="1" dirty="0" smtClean="0">
                <a:solidFill>
                  <a:srgbClr val="C00000"/>
                </a:solidFill>
              </a:rPr>
              <a:t>1</a:t>
            </a:r>
            <a:r>
              <a:rPr lang="fr-FR" dirty="0" smtClean="0"/>
              <a:t> ( </a:t>
            </a:r>
            <a:r>
              <a:rPr lang="fr-FR" dirty="0" err="1" smtClean="0"/>
              <a:t>mod</a:t>
            </a:r>
            <a:r>
              <a:rPr lang="fr-FR" dirty="0" smtClean="0"/>
              <a:t> 7) et </a:t>
            </a:r>
          </a:p>
          <a:p>
            <a:pPr marL="511175" indent="-53975">
              <a:buNone/>
            </a:pPr>
            <a:r>
              <a:rPr lang="fr-FR" b="1" dirty="0" smtClean="0"/>
              <a:t>9</a:t>
            </a:r>
            <a:r>
              <a:rPr lang="fr-FR" dirty="0" smtClean="0"/>
              <a:t>( </a:t>
            </a:r>
            <a:r>
              <a:rPr lang="fr-FR" dirty="0" err="1" smtClean="0"/>
              <a:t>mod</a:t>
            </a:r>
            <a:r>
              <a:rPr lang="fr-FR" dirty="0" smtClean="0"/>
              <a:t> 7) </a:t>
            </a:r>
            <a:r>
              <a:rPr lang="fr-FR" b="1" dirty="0" smtClean="0"/>
              <a:t>*</a:t>
            </a:r>
            <a:r>
              <a:rPr lang="fr-FR" dirty="0" smtClean="0"/>
              <a:t> </a:t>
            </a:r>
            <a:r>
              <a:rPr lang="fr-FR" b="1" dirty="0" smtClean="0"/>
              <a:t>11</a:t>
            </a:r>
            <a:r>
              <a:rPr lang="fr-FR" dirty="0" smtClean="0"/>
              <a:t>(</a:t>
            </a:r>
            <a:r>
              <a:rPr lang="fr-FR" dirty="0" err="1" smtClean="0"/>
              <a:t>mod</a:t>
            </a:r>
            <a:r>
              <a:rPr lang="fr-FR" dirty="0" smtClean="0"/>
              <a:t> 7) ≡ </a:t>
            </a:r>
            <a:r>
              <a:rPr lang="fr-FR" b="1" dirty="0" smtClean="0">
                <a:solidFill>
                  <a:srgbClr val="C00000"/>
                </a:solidFill>
              </a:rPr>
              <a:t>2 * 4 </a:t>
            </a:r>
            <a:r>
              <a:rPr lang="fr-FR" dirty="0" smtClean="0"/>
              <a:t>≡ </a:t>
            </a:r>
            <a:r>
              <a:rPr lang="fr-FR" b="1" dirty="0" smtClean="0">
                <a:solidFill>
                  <a:srgbClr val="C00000"/>
                </a:solidFill>
              </a:rPr>
              <a:t>8</a:t>
            </a:r>
            <a:r>
              <a:rPr lang="fr-FR" dirty="0" smtClean="0"/>
              <a:t> ≡  </a:t>
            </a:r>
            <a:r>
              <a:rPr lang="fr-FR" b="1" dirty="0" smtClean="0">
                <a:solidFill>
                  <a:srgbClr val="C00000"/>
                </a:solidFill>
              </a:rPr>
              <a:t>1 </a:t>
            </a:r>
            <a:r>
              <a:rPr lang="fr-FR" dirty="0" smtClean="0"/>
              <a:t>(</a:t>
            </a:r>
            <a:r>
              <a:rPr lang="fr-FR" dirty="0" err="1" smtClean="0"/>
              <a:t>mod</a:t>
            </a:r>
            <a:r>
              <a:rPr lang="fr-FR" dirty="0" smtClean="0"/>
              <a:t> 7)</a:t>
            </a:r>
          </a:p>
        </p:txBody>
      </p:sp>
    </p:spTree>
    <p:extLst>
      <p:ext uri="{BB962C8B-B14F-4D97-AF65-F5344CB8AC3E}">
        <p14:creationId xmlns:p14="http://schemas.microsoft.com/office/powerpoint/2010/main" val="261480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Exponentiation modulaire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pPr marL="457200" indent="-403225"/>
            <a:r>
              <a:rPr lang="fr-FR" dirty="0" smtClean="0"/>
              <a:t>  Comment calculez </a:t>
            </a:r>
            <a:r>
              <a:rPr lang="fr-FR" b="1" dirty="0" smtClean="0"/>
              <a:t>165789</a:t>
            </a:r>
            <a:r>
              <a:rPr lang="fr-FR" b="1" baseline="30000" dirty="0" smtClean="0"/>
              <a:t>23456781</a:t>
            </a:r>
            <a:r>
              <a:rPr lang="fr-FR" dirty="0" smtClean="0"/>
              <a:t>(</a:t>
            </a:r>
            <a:r>
              <a:rPr lang="fr-FR" dirty="0" err="1" smtClean="0"/>
              <a:t>mod</a:t>
            </a:r>
            <a:r>
              <a:rPr lang="fr-FR" dirty="0" smtClean="0"/>
              <a:t> 456712)</a:t>
            </a:r>
            <a:endParaRPr lang="fr-FR" baseline="30000" dirty="0" smtClean="0"/>
          </a:p>
          <a:p>
            <a:pPr marL="457200" indent="0">
              <a:buNone/>
            </a:pPr>
            <a:r>
              <a:rPr lang="fr-FR" dirty="0" smtClean="0"/>
              <a:t> x</a:t>
            </a:r>
            <a:r>
              <a:rPr lang="fr-FR" baseline="30000" dirty="0" smtClean="0"/>
              <a:t>8</a:t>
            </a:r>
            <a:r>
              <a:rPr lang="fr-FR" dirty="0" smtClean="0"/>
              <a:t> = ((x</a:t>
            </a:r>
            <a:r>
              <a:rPr lang="fr-FR" baseline="30000" dirty="0" smtClean="0"/>
              <a:t>2</a:t>
            </a:r>
            <a:r>
              <a:rPr lang="fr-FR" dirty="0" smtClean="0"/>
              <a:t>)</a:t>
            </a:r>
            <a:r>
              <a:rPr lang="fr-FR" baseline="60000" dirty="0" smtClean="0"/>
              <a:t>2</a:t>
            </a:r>
            <a:r>
              <a:rPr lang="fr-FR" dirty="0" smtClean="0"/>
              <a:t>)</a:t>
            </a:r>
            <a:r>
              <a:rPr lang="fr-FR" baseline="90000" dirty="0" smtClean="0"/>
              <a:t>2</a:t>
            </a:r>
            <a:r>
              <a:rPr lang="fr-FR" baseline="30000" dirty="0" smtClean="0"/>
              <a:t> </a:t>
            </a:r>
            <a:r>
              <a:rPr lang="fr-FR" dirty="0" smtClean="0"/>
              <a:t> donc  pour calculer x</a:t>
            </a:r>
            <a:r>
              <a:rPr lang="fr-FR" baseline="30000" dirty="0" smtClean="0"/>
              <a:t>(2</a:t>
            </a:r>
            <a:r>
              <a:rPr lang="fr-FR" baseline="60000" dirty="0" smtClean="0"/>
              <a:t>k</a:t>
            </a:r>
            <a:r>
              <a:rPr lang="fr-FR" baseline="30000" dirty="0" smtClean="0"/>
              <a:t>)</a:t>
            </a:r>
            <a:r>
              <a:rPr lang="fr-FR" dirty="0" smtClean="0"/>
              <a:t> (</a:t>
            </a:r>
            <a:r>
              <a:rPr lang="fr-FR" dirty="0" err="1" smtClean="0"/>
              <a:t>mod</a:t>
            </a:r>
            <a:r>
              <a:rPr lang="fr-FR" dirty="0" smtClean="0"/>
              <a:t> n)</a:t>
            </a:r>
          </a:p>
          <a:p>
            <a:pPr marL="457200" indent="0">
              <a:buNone/>
            </a:pPr>
            <a:r>
              <a:rPr lang="fr-FR" dirty="0" smtClean="0"/>
              <a:t>On calcule x ← x</a:t>
            </a:r>
            <a:r>
              <a:rPr lang="fr-FR" baseline="30000" dirty="0" smtClean="0"/>
              <a:t>2 </a:t>
            </a:r>
            <a:r>
              <a:rPr lang="fr-FR" dirty="0" smtClean="0"/>
              <a:t>(</a:t>
            </a:r>
            <a:r>
              <a:rPr lang="fr-FR" dirty="0" err="1" smtClean="0"/>
              <a:t>mod</a:t>
            </a:r>
            <a:r>
              <a:rPr lang="fr-FR" dirty="0" smtClean="0"/>
              <a:t> n)  k  fois</a:t>
            </a:r>
          </a:p>
          <a:p>
            <a:pPr marL="0" indent="0" algn="just">
              <a:buNone/>
            </a:pPr>
            <a:r>
              <a:rPr lang="fr-FR" sz="2200" b="1" dirty="0" smtClean="0">
                <a:solidFill>
                  <a:srgbClr val="FF0000"/>
                </a:solidFill>
              </a:rPr>
              <a:t>L'exponentiation </a:t>
            </a:r>
            <a:r>
              <a:rPr lang="fr-FR" sz="2200" b="1" dirty="0">
                <a:solidFill>
                  <a:srgbClr val="FF0000"/>
                </a:solidFill>
              </a:rPr>
              <a:t>modulaire </a:t>
            </a:r>
            <a:r>
              <a:rPr lang="fr-FR" sz="2200" dirty="0"/>
              <a:t>est une méthode permettant de calculer rapidement de </a:t>
            </a:r>
            <a:r>
              <a:rPr lang="fr-FR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grandes puissances de nombres</a:t>
            </a:r>
            <a:r>
              <a:rPr lang="fr-FR" sz="2200" dirty="0"/>
              <a:t>, tout en les réduisant à chaque étape modulo un certain nombre </a:t>
            </a:r>
            <a:r>
              <a:rPr lang="fr-FR" sz="2200" b="1" i="1" dirty="0" smtClean="0"/>
              <a:t>n</a:t>
            </a:r>
            <a:r>
              <a:rPr lang="fr-FR" sz="2200" dirty="0" smtClean="0"/>
              <a:t>. </a:t>
            </a:r>
            <a:r>
              <a:rPr lang="fr-FR" sz="2200" dirty="0"/>
              <a:t>Cela permet de </a:t>
            </a:r>
            <a:r>
              <a:rPr lang="fr-FR" sz="2200" b="1" dirty="0"/>
              <a:t>gérer des calculs impliquant des nombres extrêmement grand</a:t>
            </a:r>
            <a:r>
              <a:rPr lang="fr-FR" sz="2200" dirty="0"/>
              <a:t>s, tout </a:t>
            </a:r>
            <a:r>
              <a:rPr lang="fr-FR" sz="2200" b="1" dirty="0"/>
              <a:t>en évitant de traiter des nombres trop grands</a:t>
            </a:r>
            <a:r>
              <a:rPr lang="fr-FR" sz="2200" dirty="0"/>
              <a:t>. Le principe est particulièrement utile dans le cadre de </a:t>
            </a:r>
            <a:r>
              <a:rPr lang="fr-FR" sz="2200" b="1" dirty="0">
                <a:solidFill>
                  <a:srgbClr val="C00000"/>
                </a:solidFill>
              </a:rPr>
              <a:t>la cryptographie</a:t>
            </a:r>
            <a:r>
              <a:rPr lang="fr-FR" sz="2200" dirty="0"/>
              <a:t>, où </a:t>
            </a:r>
            <a:r>
              <a:rPr lang="fr-FR" sz="2200" b="1" dirty="0"/>
              <a:t>de grands nombres sont souvent utilisés</a:t>
            </a:r>
            <a:r>
              <a:rPr lang="fr-FR" sz="2200" dirty="0"/>
              <a:t>.</a:t>
            </a:r>
            <a:endParaRPr lang="fr-FR" sz="2200" b="1" dirty="0"/>
          </a:p>
        </p:txBody>
      </p:sp>
    </p:spTree>
    <p:extLst>
      <p:ext uri="{BB962C8B-B14F-4D97-AF65-F5344CB8AC3E}">
        <p14:creationId xmlns:p14="http://schemas.microsoft.com/office/powerpoint/2010/main" val="2510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Exponentiation modulaire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pPr marL="457200" indent="0">
              <a:buNone/>
            </a:pPr>
            <a:r>
              <a:rPr lang="fr-FR" b="1" dirty="0" smtClean="0"/>
              <a:t>Exemple : </a:t>
            </a:r>
            <a:r>
              <a:rPr lang="fr-FR" b="1" dirty="0"/>
              <a:t>5</a:t>
            </a:r>
            <a:r>
              <a:rPr lang="fr-FR" b="1" baseline="30000" dirty="0"/>
              <a:t>21</a:t>
            </a:r>
            <a:endParaRPr lang="fr-FR" b="1" dirty="0" smtClean="0"/>
          </a:p>
          <a:p>
            <a:pPr marL="457200" indent="0">
              <a:buNone/>
            </a:pPr>
            <a:r>
              <a:rPr lang="fr-FR" b="1" dirty="0" smtClean="0"/>
              <a:t>21 = 10101 = </a:t>
            </a:r>
            <a:r>
              <a:rPr lang="fr-FR" b="1" dirty="0" smtClean="0">
                <a:solidFill>
                  <a:srgbClr val="FF0000"/>
                </a:solidFill>
              </a:rPr>
              <a:t>2</a:t>
            </a:r>
            <a:r>
              <a:rPr lang="fr-FR" b="1" baseline="30000" dirty="0" smtClean="0">
                <a:solidFill>
                  <a:srgbClr val="FF0000"/>
                </a:solidFill>
              </a:rPr>
              <a:t>4</a:t>
            </a:r>
            <a:r>
              <a:rPr lang="fr-FR" b="1" dirty="0" smtClean="0"/>
              <a:t> + </a:t>
            </a:r>
            <a:r>
              <a:rPr lang="fr-FR" b="1" dirty="0" smtClean="0">
                <a:solidFill>
                  <a:srgbClr val="FF0000"/>
                </a:solidFill>
              </a:rPr>
              <a:t>2</a:t>
            </a:r>
            <a:r>
              <a:rPr lang="fr-FR" b="1" baseline="30000" dirty="0" smtClean="0">
                <a:solidFill>
                  <a:srgbClr val="FF0000"/>
                </a:solidFill>
              </a:rPr>
              <a:t>2</a:t>
            </a:r>
            <a:r>
              <a:rPr lang="fr-FR" b="1" dirty="0" smtClean="0"/>
              <a:t> + </a:t>
            </a:r>
            <a:r>
              <a:rPr lang="fr-FR" b="1" dirty="0" smtClean="0">
                <a:solidFill>
                  <a:srgbClr val="FF0000"/>
                </a:solidFill>
              </a:rPr>
              <a:t>2</a:t>
            </a:r>
            <a:r>
              <a:rPr lang="fr-FR" b="1" baseline="30000" dirty="0" smtClean="0">
                <a:solidFill>
                  <a:srgbClr val="FF0000"/>
                </a:solidFill>
              </a:rPr>
              <a:t>0</a:t>
            </a:r>
            <a:r>
              <a:rPr lang="fr-FR" b="1" baseline="30000" dirty="0" smtClean="0"/>
              <a:t> </a:t>
            </a:r>
            <a:r>
              <a:rPr lang="fr-FR" b="1" dirty="0" smtClean="0"/>
              <a:t>et</a:t>
            </a:r>
          </a:p>
          <a:p>
            <a:pPr marL="457200" indent="0">
              <a:buNone/>
            </a:pPr>
            <a:r>
              <a:rPr lang="fr-FR" b="1" dirty="0" smtClean="0">
                <a:solidFill>
                  <a:srgbClr val="C00000"/>
                </a:solidFill>
              </a:rPr>
              <a:t>5</a:t>
            </a:r>
            <a:r>
              <a:rPr lang="fr-FR" b="1" baseline="30000" dirty="0" smtClean="0">
                <a:solidFill>
                  <a:srgbClr val="C00000"/>
                </a:solidFill>
              </a:rPr>
              <a:t>1</a:t>
            </a:r>
            <a:r>
              <a:rPr lang="fr-FR" b="1" dirty="0" smtClean="0"/>
              <a:t> </a:t>
            </a:r>
            <a:r>
              <a:rPr lang="fr-FR" b="1" dirty="0"/>
              <a:t>= </a:t>
            </a:r>
            <a:r>
              <a:rPr lang="fr-FR" b="1" dirty="0" smtClean="0">
                <a:solidFill>
                  <a:srgbClr val="FF0000"/>
                </a:solidFill>
              </a:rPr>
              <a:t>5</a:t>
            </a:r>
            <a:r>
              <a:rPr lang="fr-FR" b="1" dirty="0" smtClean="0"/>
              <a:t> </a:t>
            </a:r>
            <a:r>
              <a:rPr lang="fr-FR" b="1" dirty="0"/>
              <a:t>(</a:t>
            </a:r>
            <a:r>
              <a:rPr lang="fr-FR" b="1" dirty="0" err="1"/>
              <a:t>mod</a:t>
            </a:r>
            <a:r>
              <a:rPr lang="fr-FR" b="1" dirty="0"/>
              <a:t> 17</a:t>
            </a:r>
            <a:r>
              <a:rPr lang="fr-FR" b="1" dirty="0" smtClean="0"/>
              <a:t>)          5</a:t>
            </a:r>
            <a:r>
              <a:rPr lang="fr-FR" b="1" baseline="30000" dirty="0" smtClean="0"/>
              <a:t>2</a:t>
            </a:r>
            <a:r>
              <a:rPr lang="fr-FR" b="1" dirty="0" smtClean="0"/>
              <a:t> = 8 (</a:t>
            </a:r>
            <a:r>
              <a:rPr lang="fr-FR" b="1" dirty="0" err="1" smtClean="0"/>
              <a:t>mod</a:t>
            </a:r>
            <a:r>
              <a:rPr lang="fr-FR" b="1" dirty="0" smtClean="0"/>
              <a:t> 17)         </a:t>
            </a:r>
            <a:r>
              <a:rPr lang="fr-FR" b="1" dirty="0" smtClean="0">
                <a:solidFill>
                  <a:srgbClr val="C00000"/>
                </a:solidFill>
              </a:rPr>
              <a:t>5</a:t>
            </a:r>
            <a:r>
              <a:rPr lang="fr-FR" b="1" baseline="30000" dirty="0" smtClean="0">
                <a:solidFill>
                  <a:srgbClr val="C00000"/>
                </a:solidFill>
              </a:rPr>
              <a:t>4 </a:t>
            </a:r>
            <a:r>
              <a:rPr lang="fr-FR" b="1" dirty="0" smtClean="0"/>
              <a:t>= </a:t>
            </a:r>
            <a:r>
              <a:rPr lang="fr-FR" b="1" dirty="0" smtClean="0">
                <a:solidFill>
                  <a:srgbClr val="FF0000"/>
                </a:solidFill>
              </a:rPr>
              <a:t>13 </a:t>
            </a:r>
            <a:r>
              <a:rPr lang="fr-FR" b="1" dirty="0" smtClean="0"/>
              <a:t>(</a:t>
            </a:r>
            <a:r>
              <a:rPr lang="fr-FR" b="1" dirty="0" err="1" smtClean="0"/>
              <a:t>mod</a:t>
            </a:r>
            <a:r>
              <a:rPr lang="fr-FR" b="1" dirty="0" smtClean="0"/>
              <a:t> 17)</a:t>
            </a:r>
          </a:p>
          <a:p>
            <a:pPr marL="457200" indent="0">
              <a:buNone/>
            </a:pPr>
            <a:r>
              <a:rPr lang="fr-FR" b="1" dirty="0" smtClean="0"/>
              <a:t>5</a:t>
            </a:r>
            <a:r>
              <a:rPr lang="fr-FR" b="1" baseline="30000" dirty="0" smtClean="0"/>
              <a:t>8</a:t>
            </a:r>
            <a:r>
              <a:rPr lang="fr-FR" b="1" dirty="0" smtClean="0"/>
              <a:t> </a:t>
            </a:r>
            <a:r>
              <a:rPr lang="fr-FR" b="1" dirty="0"/>
              <a:t>= </a:t>
            </a:r>
            <a:r>
              <a:rPr lang="fr-FR" b="1" dirty="0" smtClean="0"/>
              <a:t>16 </a:t>
            </a:r>
            <a:r>
              <a:rPr lang="fr-FR" b="1" dirty="0"/>
              <a:t>(</a:t>
            </a:r>
            <a:r>
              <a:rPr lang="fr-FR" b="1" dirty="0" err="1"/>
              <a:t>mod</a:t>
            </a:r>
            <a:r>
              <a:rPr lang="fr-FR" b="1" dirty="0"/>
              <a:t> 17) </a:t>
            </a:r>
            <a:r>
              <a:rPr lang="fr-FR" b="1" dirty="0" smtClean="0"/>
              <a:t>       </a:t>
            </a:r>
            <a:r>
              <a:rPr lang="fr-FR" b="1" dirty="0" smtClean="0">
                <a:solidFill>
                  <a:srgbClr val="C00000"/>
                </a:solidFill>
              </a:rPr>
              <a:t>5</a:t>
            </a:r>
            <a:r>
              <a:rPr lang="fr-FR" b="1" baseline="30000" dirty="0" smtClean="0">
                <a:solidFill>
                  <a:srgbClr val="C00000"/>
                </a:solidFill>
              </a:rPr>
              <a:t>16</a:t>
            </a:r>
            <a:r>
              <a:rPr lang="fr-FR" b="1" baseline="30000" dirty="0" smtClean="0"/>
              <a:t> </a:t>
            </a:r>
            <a:r>
              <a:rPr lang="fr-FR" b="1" dirty="0" smtClean="0"/>
              <a:t>= </a:t>
            </a:r>
            <a:r>
              <a:rPr lang="fr-FR" b="1" dirty="0" smtClean="0">
                <a:solidFill>
                  <a:srgbClr val="FF0000"/>
                </a:solidFill>
              </a:rPr>
              <a:t>1 </a:t>
            </a:r>
            <a:r>
              <a:rPr lang="fr-FR" b="1" dirty="0" smtClean="0"/>
              <a:t>(</a:t>
            </a:r>
            <a:r>
              <a:rPr lang="fr-FR" b="1" dirty="0" err="1" smtClean="0"/>
              <a:t>mod</a:t>
            </a:r>
            <a:r>
              <a:rPr lang="fr-FR" b="1" dirty="0" smtClean="0"/>
              <a:t> </a:t>
            </a:r>
            <a:r>
              <a:rPr lang="fr-FR" b="1" dirty="0"/>
              <a:t>17</a:t>
            </a:r>
            <a:r>
              <a:rPr lang="fr-FR" b="1" dirty="0" smtClean="0"/>
              <a:t>)</a:t>
            </a:r>
          </a:p>
          <a:p>
            <a:pPr marL="457200" indent="0">
              <a:buNone/>
            </a:pPr>
            <a:r>
              <a:rPr lang="fr-FR" b="1" dirty="0" smtClean="0"/>
              <a:t>5</a:t>
            </a:r>
            <a:r>
              <a:rPr lang="fr-FR" b="1" baseline="30000" dirty="0" smtClean="0"/>
              <a:t>21</a:t>
            </a:r>
            <a:r>
              <a:rPr lang="fr-FR" b="1" dirty="0" smtClean="0"/>
              <a:t> (</a:t>
            </a:r>
            <a:r>
              <a:rPr lang="fr-FR" b="1" dirty="0" err="1"/>
              <a:t>mod</a:t>
            </a:r>
            <a:r>
              <a:rPr lang="fr-FR" b="1" dirty="0"/>
              <a:t> 17</a:t>
            </a:r>
            <a:r>
              <a:rPr lang="fr-FR" b="1" dirty="0" smtClean="0"/>
              <a:t>) =  </a:t>
            </a:r>
            <a:r>
              <a:rPr lang="fr-FR" b="1" dirty="0" smtClean="0">
                <a:solidFill>
                  <a:srgbClr val="C00000"/>
                </a:solidFill>
              </a:rPr>
              <a:t>5</a:t>
            </a:r>
            <a:r>
              <a:rPr lang="fr-FR" b="1" baseline="30000" dirty="0" smtClean="0">
                <a:solidFill>
                  <a:srgbClr val="C00000"/>
                </a:solidFill>
              </a:rPr>
              <a:t>16</a:t>
            </a:r>
            <a:r>
              <a:rPr lang="fr-FR" b="1" dirty="0" smtClean="0">
                <a:solidFill>
                  <a:srgbClr val="C00000"/>
                </a:solidFill>
              </a:rPr>
              <a:t> 5</a:t>
            </a:r>
            <a:r>
              <a:rPr lang="fr-FR" b="1" baseline="30000" dirty="0" smtClean="0">
                <a:solidFill>
                  <a:srgbClr val="C00000"/>
                </a:solidFill>
              </a:rPr>
              <a:t>4</a:t>
            </a:r>
            <a:r>
              <a:rPr lang="fr-FR" b="1" dirty="0" smtClean="0">
                <a:solidFill>
                  <a:srgbClr val="C00000"/>
                </a:solidFill>
              </a:rPr>
              <a:t> 5</a:t>
            </a:r>
            <a:r>
              <a:rPr lang="fr-FR" b="1" baseline="30000" dirty="0" smtClean="0">
                <a:solidFill>
                  <a:srgbClr val="C00000"/>
                </a:solidFill>
              </a:rPr>
              <a:t>1 </a:t>
            </a:r>
            <a:r>
              <a:rPr lang="fr-FR" b="1" dirty="0" smtClean="0"/>
              <a:t>(</a:t>
            </a:r>
            <a:r>
              <a:rPr lang="fr-FR" b="1" dirty="0" err="1" smtClean="0"/>
              <a:t>mod</a:t>
            </a:r>
            <a:r>
              <a:rPr lang="fr-FR" b="1" dirty="0" smtClean="0"/>
              <a:t> </a:t>
            </a:r>
            <a:r>
              <a:rPr lang="fr-FR" b="1" dirty="0"/>
              <a:t>17</a:t>
            </a:r>
            <a:r>
              <a:rPr lang="fr-FR" b="1" dirty="0" smtClean="0"/>
              <a:t>)= </a:t>
            </a:r>
            <a:r>
              <a:rPr lang="fr-FR" b="1" dirty="0" smtClean="0">
                <a:solidFill>
                  <a:srgbClr val="FF0000"/>
                </a:solidFill>
              </a:rPr>
              <a:t>1*13*5</a:t>
            </a:r>
            <a:r>
              <a:rPr lang="fr-FR" b="1" dirty="0" smtClean="0"/>
              <a:t> = 14 (</a:t>
            </a:r>
            <a:r>
              <a:rPr lang="fr-FR" b="1" dirty="0" err="1" smtClean="0"/>
              <a:t>mod</a:t>
            </a:r>
            <a:r>
              <a:rPr lang="fr-FR" b="1" dirty="0" smtClean="0"/>
              <a:t> 17)</a:t>
            </a:r>
          </a:p>
          <a:p>
            <a:pPr marL="457200" indent="0">
              <a:buNone/>
            </a:pPr>
            <a:endParaRPr lang="fr-FR" b="1" dirty="0" smtClean="0"/>
          </a:p>
        </p:txBody>
      </p:sp>
      <p:sp>
        <p:nvSpPr>
          <p:cNvPr id="2" name="Rectangle 1"/>
          <p:cNvSpPr/>
          <p:nvPr/>
        </p:nvSpPr>
        <p:spPr>
          <a:xfrm>
            <a:off x="6444208" y="2629760"/>
            <a:ext cx="2448272" cy="57606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611560" y="2636912"/>
            <a:ext cx="2448272" cy="57606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563888" y="3173159"/>
            <a:ext cx="2448272" cy="57606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533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Exponentiation modulaire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 smtClean="0"/>
              <a:t>Calculer </a:t>
            </a:r>
            <a:r>
              <a:rPr lang="fr-FR" dirty="0"/>
              <a:t>5</a:t>
            </a:r>
            <a:r>
              <a:rPr lang="fr-FR" baseline="30000" dirty="0"/>
              <a:t>11</a:t>
            </a:r>
            <a:r>
              <a:rPr lang="fr-FR" dirty="0"/>
              <a:t> </a:t>
            </a:r>
            <a:r>
              <a:rPr lang="fr-FR" dirty="0" err="1"/>
              <a:t>mod</a:t>
            </a:r>
            <a:r>
              <a:rPr lang="fr-FR" dirty="0"/>
              <a:t> 14 </a:t>
            </a:r>
          </a:p>
          <a:p>
            <a:pPr marL="457200" indent="0">
              <a:buNone/>
            </a:pPr>
            <a:endParaRPr lang="fr-FR" b="1" dirty="0" smtClean="0"/>
          </a:p>
          <a:p>
            <a:pPr marL="457200" indent="0">
              <a:buNone/>
            </a:pPr>
            <a:endParaRPr lang="fr-FR" b="1" dirty="0" smtClean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32856"/>
            <a:ext cx="8757836" cy="38884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9512" y="3140968"/>
            <a:ext cx="8757836" cy="36724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9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Exponentiation modulaire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 smtClean="0"/>
              <a:t>Calculer </a:t>
            </a:r>
            <a:r>
              <a:rPr lang="fr-FR" dirty="0"/>
              <a:t>5</a:t>
            </a:r>
            <a:r>
              <a:rPr lang="fr-FR" baseline="30000" dirty="0"/>
              <a:t>11</a:t>
            </a:r>
            <a:r>
              <a:rPr lang="fr-FR" dirty="0"/>
              <a:t> </a:t>
            </a:r>
            <a:r>
              <a:rPr lang="fr-FR" dirty="0" err="1"/>
              <a:t>mod</a:t>
            </a:r>
            <a:r>
              <a:rPr lang="fr-FR" dirty="0"/>
              <a:t> 14 </a:t>
            </a:r>
          </a:p>
          <a:p>
            <a:pPr marL="457200" indent="0">
              <a:buNone/>
            </a:pPr>
            <a:endParaRPr lang="fr-FR" b="1" dirty="0" smtClean="0"/>
          </a:p>
          <a:p>
            <a:pPr marL="457200" indent="0">
              <a:buNone/>
            </a:pPr>
            <a:endParaRPr lang="fr-FR" b="1" dirty="0" smtClean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32856"/>
            <a:ext cx="8757836" cy="388843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79512" y="2224492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11= (1011)</a:t>
            </a:r>
            <a:r>
              <a:rPr lang="fr-FR" b="1" baseline="-25000" dirty="0" smtClean="0">
                <a:solidFill>
                  <a:srgbClr val="C00000"/>
                </a:solidFill>
              </a:rPr>
              <a:t>2</a:t>
            </a:r>
            <a:r>
              <a:rPr lang="fr-FR" b="1" dirty="0" smtClean="0">
                <a:solidFill>
                  <a:srgbClr val="C00000"/>
                </a:solidFill>
              </a:rPr>
              <a:t>=1 + 2 + 8 =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512" y="3140968"/>
            <a:ext cx="8757836" cy="36724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420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Exponentiation modulaire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 smtClean="0"/>
              <a:t>Calculer </a:t>
            </a:r>
            <a:r>
              <a:rPr lang="fr-FR" dirty="0"/>
              <a:t>5</a:t>
            </a:r>
            <a:r>
              <a:rPr lang="fr-FR" baseline="30000" dirty="0"/>
              <a:t>11</a:t>
            </a:r>
            <a:r>
              <a:rPr lang="fr-FR" dirty="0"/>
              <a:t> </a:t>
            </a:r>
            <a:r>
              <a:rPr lang="fr-FR" dirty="0" err="1"/>
              <a:t>mod</a:t>
            </a:r>
            <a:r>
              <a:rPr lang="fr-FR" dirty="0"/>
              <a:t> 14 </a:t>
            </a:r>
          </a:p>
          <a:p>
            <a:pPr marL="457200" indent="0">
              <a:buNone/>
            </a:pPr>
            <a:endParaRPr lang="fr-FR" b="1" dirty="0" smtClean="0"/>
          </a:p>
          <a:p>
            <a:pPr marL="457200" indent="0">
              <a:buNone/>
            </a:pPr>
            <a:endParaRPr lang="fr-FR" b="1" dirty="0" smtClean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32856"/>
            <a:ext cx="8757836" cy="388843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79512" y="2224492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11= (1011)</a:t>
            </a:r>
            <a:r>
              <a:rPr lang="fr-FR" b="1" baseline="-25000" dirty="0" smtClean="0">
                <a:solidFill>
                  <a:srgbClr val="C00000"/>
                </a:solidFill>
              </a:rPr>
              <a:t>2</a:t>
            </a:r>
            <a:r>
              <a:rPr lang="fr-FR" b="1" dirty="0" smtClean="0">
                <a:solidFill>
                  <a:srgbClr val="C00000"/>
                </a:solidFill>
              </a:rPr>
              <a:t>=1 + 2 + 8 = 11</a:t>
            </a:r>
          </a:p>
          <a:p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b="1" dirty="0" smtClean="0">
                <a:solidFill>
                  <a:srgbClr val="C00000"/>
                </a:solidFill>
              </a:rPr>
              <a:t>                  =2</a:t>
            </a:r>
            <a:r>
              <a:rPr lang="fr-FR" b="1" baseline="30000" dirty="0" smtClean="0">
                <a:solidFill>
                  <a:srgbClr val="C00000"/>
                </a:solidFill>
              </a:rPr>
              <a:t>0</a:t>
            </a:r>
            <a:r>
              <a:rPr lang="fr-FR" b="1" dirty="0" smtClean="0">
                <a:solidFill>
                  <a:srgbClr val="C00000"/>
                </a:solidFill>
              </a:rPr>
              <a:t>+2</a:t>
            </a:r>
            <a:r>
              <a:rPr lang="fr-FR" b="1" baseline="30000" dirty="0" smtClean="0">
                <a:solidFill>
                  <a:srgbClr val="C00000"/>
                </a:solidFill>
              </a:rPr>
              <a:t>1</a:t>
            </a:r>
            <a:r>
              <a:rPr lang="fr-FR" b="1" dirty="0" smtClean="0">
                <a:solidFill>
                  <a:srgbClr val="C00000"/>
                </a:solidFill>
              </a:rPr>
              <a:t>+2</a:t>
            </a:r>
            <a:r>
              <a:rPr lang="fr-FR" b="1" baseline="30000" dirty="0" smtClean="0">
                <a:solidFill>
                  <a:srgbClr val="C00000"/>
                </a:solidFill>
              </a:rPr>
              <a:t>3 </a:t>
            </a:r>
            <a:r>
              <a:rPr lang="fr-FR" b="1" dirty="0" smtClean="0">
                <a:solidFill>
                  <a:srgbClr val="C00000"/>
                </a:solidFill>
              </a:rPr>
              <a:t> =11</a:t>
            </a:r>
            <a:endParaRPr lang="fr-FR" b="1" baseline="30000" dirty="0" smtClean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9512" y="5085184"/>
            <a:ext cx="8757836" cy="1728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378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Exponentiation modulaire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 smtClean="0"/>
              <a:t>Calculer </a:t>
            </a:r>
            <a:r>
              <a:rPr lang="fr-FR" dirty="0"/>
              <a:t>5</a:t>
            </a:r>
            <a:r>
              <a:rPr lang="fr-FR" baseline="30000" dirty="0"/>
              <a:t>11</a:t>
            </a:r>
            <a:r>
              <a:rPr lang="fr-FR" dirty="0"/>
              <a:t> </a:t>
            </a:r>
            <a:r>
              <a:rPr lang="fr-FR" dirty="0" err="1"/>
              <a:t>mod</a:t>
            </a:r>
            <a:r>
              <a:rPr lang="fr-FR" dirty="0"/>
              <a:t> 14 </a:t>
            </a:r>
          </a:p>
          <a:p>
            <a:pPr marL="457200" indent="0">
              <a:buNone/>
            </a:pPr>
            <a:endParaRPr lang="fr-FR" b="1" dirty="0" smtClean="0"/>
          </a:p>
          <a:p>
            <a:pPr marL="457200" indent="0">
              <a:buNone/>
            </a:pPr>
            <a:endParaRPr lang="fr-FR" b="1" dirty="0" smtClean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32856"/>
            <a:ext cx="8757836" cy="388843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79512" y="2224492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11= (1011)</a:t>
            </a:r>
            <a:r>
              <a:rPr lang="fr-FR" b="1" baseline="-25000" dirty="0" smtClean="0">
                <a:solidFill>
                  <a:srgbClr val="C00000"/>
                </a:solidFill>
              </a:rPr>
              <a:t>2</a:t>
            </a:r>
            <a:r>
              <a:rPr lang="fr-FR" b="1" dirty="0" smtClean="0">
                <a:solidFill>
                  <a:srgbClr val="C00000"/>
                </a:solidFill>
              </a:rPr>
              <a:t>=1 + 2 + 8 =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7904" y="3573016"/>
            <a:ext cx="274320" cy="3600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4324309" y="3933056"/>
            <a:ext cx="274320" cy="3600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6228449" y="4293096"/>
            <a:ext cx="274320" cy="3600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5926970" y="4648363"/>
            <a:ext cx="274320" cy="3600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2483768" y="5445224"/>
            <a:ext cx="1145272" cy="57606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3858776" y="5445224"/>
            <a:ext cx="1073264" cy="57606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6502769" y="5546887"/>
            <a:ext cx="274320" cy="3600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5580244" y="5546887"/>
            <a:ext cx="274320" cy="3600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7582898" y="5546887"/>
            <a:ext cx="274320" cy="3600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667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Exponentiation modulaire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/>
              <a:t>Calculer 17</a:t>
            </a:r>
            <a:r>
              <a:rPr lang="fr-FR" baseline="30000" dirty="0"/>
              <a:t>154</a:t>
            </a:r>
            <a:r>
              <a:rPr lang="fr-FR" dirty="0"/>
              <a:t> </a:t>
            </a:r>
            <a:r>
              <a:rPr lang="fr-FR" dirty="0" err="1"/>
              <a:t>mod</a:t>
            </a:r>
            <a:r>
              <a:rPr lang="fr-FR" dirty="0"/>
              <a:t> 100</a:t>
            </a:r>
            <a:endParaRPr lang="fr-FR" b="1" dirty="0" smtClean="0"/>
          </a:p>
          <a:p>
            <a:pPr marL="457200" indent="0">
              <a:buNone/>
            </a:pPr>
            <a:endParaRPr lang="fr-FR" b="1" dirty="0" smtClean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060847"/>
            <a:ext cx="7848872" cy="452904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79512" y="2060847"/>
            <a:ext cx="8757836" cy="452904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60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Exponentiation modulaire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268760"/>
            <a:ext cx="9050784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/>
              <a:t>Calculer 17</a:t>
            </a:r>
            <a:r>
              <a:rPr lang="fr-FR" baseline="30000" dirty="0"/>
              <a:t>154</a:t>
            </a:r>
            <a:r>
              <a:rPr lang="fr-FR" dirty="0"/>
              <a:t> </a:t>
            </a:r>
            <a:r>
              <a:rPr lang="fr-FR" dirty="0" err="1"/>
              <a:t>mod</a:t>
            </a:r>
            <a:r>
              <a:rPr lang="fr-FR" dirty="0"/>
              <a:t> 100</a:t>
            </a:r>
            <a:endParaRPr lang="fr-FR" b="1" dirty="0" smtClean="0"/>
          </a:p>
          <a:p>
            <a:pPr marL="457200" indent="0">
              <a:buNone/>
            </a:pPr>
            <a:endParaRPr lang="fr-FR" b="1" dirty="0" smtClean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4" y="1844824"/>
            <a:ext cx="8511274" cy="49112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2343" y="2996952"/>
            <a:ext cx="8852145" cy="375913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00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Exponentiation modulaire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268760"/>
            <a:ext cx="9050784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/>
              <a:t>Calculer 17</a:t>
            </a:r>
            <a:r>
              <a:rPr lang="fr-FR" baseline="30000" dirty="0"/>
              <a:t>154</a:t>
            </a:r>
            <a:r>
              <a:rPr lang="fr-FR" dirty="0"/>
              <a:t> </a:t>
            </a:r>
            <a:r>
              <a:rPr lang="fr-FR" dirty="0" err="1"/>
              <a:t>mod</a:t>
            </a:r>
            <a:r>
              <a:rPr lang="fr-FR" dirty="0"/>
              <a:t> 100</a:t>
            </a:r>
            <a:endParaRPr lang="fr-FR" b="1" dirty="0" smtClean="0"/>
          </a:p>
          <a:p>
            <a:pPr marL="457200" indent="0">
              <a:buNone/>
            </a:pPr>
            <a:endParaRPr lang="fr-FR" b="1" dirty="0" smtClean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4" y="1844824"/>
            <a:ext cx="8511274" cy="49112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2343" y="5805264"/>
            <a:ext cx="8852145" cy="95082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16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Exponentiation modulaire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268760"/>
            <a:ext cx="9050784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dirty="0"/>
              <a:t>Calculer 17</a:t>
            </a:r>
            <a:r>
              <a:rPr lang="fr-FR" baseline="30000" dirty="0"/>
              <a:t>154</a:t>
            </a:r>
            <a:r>
              <a:rPr lang="fr-FR" dirty="0"/>
              <a:t> </a:t>
            </a:r>
            <a:r>
              <a:rPr lang="fr-FR" dirty="0" err="1"/>
              <a:t>mod</a:t>
            </a:r>
            <a:r>
              <a:rPr lang="fr-FR" dirty="0"/>
              <a:t> 100</a:t>
            </a:r>
            <a:endParaRPr lang="fr-FR" b="1" dirty="0" smtClean="0"/>
          </a:p>
          <a:p>
            <a:pPr marL="457200" indent="0">
              <a:buNone/>
            </a:pPr>
            <a:endParaRPr lang="fr-FR" b="1" dirty="0" smtClean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4" y="1844824"/>
            <a:ext cx="8511274" cy="491126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339752" y="5445224"/>
            <a:ext cx="4248472" cy="36004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2339752" y="4398329"/>
            <a:ext cx="4248472" cy="36004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2328991" y="4019906"/>
            <a:ext cx="4248472" cy="36004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2328991" y="3333051"/>
            <a:ext cx="4248472" cy="36004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4067944" y="3377819"/>
            <a:ext cx="280867" cy="27050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4932040" y="4073866"/>
            <a:ext cx="280867" cy="27050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5108569" y="4433905"/>
            <a:ext cx="280867" cy="27050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5232104" y="5464619"/>
            <a:ext cx="280867" cy="29755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3131840" y="6381328"/>
            <a:ext cx="1321387" cy="360040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7092280" y="6381328"/>
            <a:ext cx="280867" cy="29755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55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 du PGCD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2343" y="1464999"/>
            <a:ext cx="90507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sz="2000" dirty="0"/>
              <a:t>Algorithme Euclide (récursif) : calcule le pgcd </a:t>
            </a:r>
            <a:r>
              <a:rPr lang="fr-FR" sz="2000" dirty="0" smtClean="0"/>
              <a:t>de deux </a:t>
            </a:r>
            <a:r>
              <a:rPr lang="fr-FR" sz="2000" dirty="0"/>
              <a:t>nombres a et b</a:t>
            </a:r>
            <a:r>
              <a:rPr lang="fr-FR" sz="2000" dirty="0" smtClean="0"/>
              <a:t>.</a:t>
            </a:r>
          </a:p>
          <a:p>
            <a:pPr marL="457200" indent="0">
              <a:buNone/>
            </a:pPr>
            <a:r>
              <a:rPr lang="fr-FR" sz="2000" dirty="0" smtClean="0"/>
              <a:t>Euclide (a, b)  a &gt; b</a:t>
            </a:r>
          </a:p>
          <a:p>
            <a:pPr marL="457200" indent="0">
              <a:buNone/>
            </a:pPr>
            <a:r>
              <a:rPr lang="fr-FR" sz="2000" dirty="0" smtClean="0"/>
              <a:t>(</a:t>
            </a:r>
            <a:r>
              <a:rPr lang="fr-FR" sz="2000" dirty="0" err="1" smtClean="0"/>
              <a:t>a,b</a:t>
            </a:r>
            <a:r>
              <a:rPr lang="fr-FR" sz="2000" dirty="0" smtClean="0"/>
              <a:t>) ← (b, a </a:t>
            </a:r>
            <a:r>
              <a:rPr lang="fr-FR" sz="2000" dirty="0" err="1" smtClean="0"/>
              <a:t>mod</a:t>
            </a:r>
            <a:r>
              <a:rPr lang="fr-FR" sz="2000" dirty="0" smtClean="0"/>
              <a:t> b)</a:t>
            </a:r>
          </a:p>
          <a:p>
            <a:pPr marL="457200" indent="0">
              <a:buNone/>
            </a:pPr>
            <a:r>
              <a:rPr lang="fr-FR" sz="2000" dirty="0" smtClean="0"/>
              <a:t>Si </a:t>
            </a:r>
            <a:r>
              <a:rPr lang="fr-FR" sz="2000" b="1" dirty="0" smtClean="0"/>
              <a:t>b=0</a:t>
            </a:r>
            <a:r>
              <a:rPr lang="fr-FR" sz="2000" dirty="0" smtClean="0"/>
              <a:t> alors répondre </a:t>
            </a:r>
            <a:r>
              <a:rPr lang="fr-FR" sz="2000" b="1" dirty="0" smtClean="0"/>
              <a:t>a</a:t>
            </a:r>
          </a:p>
          <a:p>
            <a:r>
              <a:rPr lang="fr-FR" sz="2000" dirty="0" smtClean="0"/>
              <a:t>Exemples</a:t>
            </a:r>
          </a:p>
          <a:p>
            <a:pPr marL="53975" indent="0">
              <a:buNone/>
            </a:pPr>
            <a:r>
              <a:rPr lang="fr-FR" sz="2000" dirty="0" smtClean="0"/>
              <a:t>(</a:t>
            </a:r>
            <a:r>
              <a:rPr lang="fr-FR" sz="2000" dirty="0"/>
              <a:t>42,30) et (105,45) </a:t>
            </a:r>
            <a:endParaRPr lang="fr-FR" sz="2000" dirty="0" smtClean="0"/>
          </a:p>
        </p:txBody>
      </p:sp>
      <p:sp>
        <p:nvSpPr>
          <p:cNvPr id="8" name="ZoneTexte 7"/>
          <p:cNvSpPr txBox="1"/>
          <p:nvPr/>
        </p:nvSpPr>
        <p:spPr>
          <a:xfrm>
            <a:off x="4860032" y="4365104"/>
            <a:ext cx="273630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Euclide </a:t>
            </a:r>
            <a:r>
              <a:rPr lang="fr-FR" sz="2000" dirty="0" smtClean="0"/>
              <a:t>(105,45)= </a:t>
            </a:r>
            <a:r>
              <a:rPr lang="fr-FR" sz="2000" dirty="0" smtClean="0">
                <a:solidFill>
                  <a:srgbClr val="FF0000"/>
                </a:solidFill>
              </a:rPr>
              <a:t>15</a:t>
            </a:r>
            <a:endParaRPr lang="fr-FR" sz="2000" dirty="0">
              <a:solidFill>
                <a:srgbClr val="FF0000"/>
              </a:solidFill>
            </a:endParaRPr>
          </a:p>
          <a:p>
            <a:r>
              <a:rPr lang="fr-FR" sz="2000" dirty="0" smtClean="0"/>
              <a:t>(105,45)</a:t>
            </a:r>
            <a:endParaRPr lang="fr-FR" sz="2000" dirty="0"/>
          </a:p>
          <a:p>
            <a:r>
              <a:rPr lang="fr-FR" sz="2000" dirty="0" smtClean="0"/>
              <a:t>(45,15)</a:t>
            </a:r>
            <a:endParaRPr lang="fr-FR" sz="2000" dirty="0"/>
          </a:p>
          <a:p>
            <a:r>
              <a:rPr lang="fr-FR" sz="2000" dirty="0"/>
              <a:t>(</a:t>
            </a:r>
            <a:r>
              <a:rPr lang="fr-FR" sz="2000" dirty="0" smtClean="0">
                <a:solidFill>
                  <a:srgbClr val="C00000"/>
                </a:solidFill>
              </a:rPr>
              <a:t>15</a:t>
            </a:r>
            <a:r>
              <a:rPr lang="fr-FR" sz="2000" dirty="0" smtClean="0"/>
              <a:t>,</a:t>
            </a:r>
            <a:r>
              <a:rPr lang="fr-FR" sz="2000" b="1" dirty="0" smtClean="0">
                <a:solidFill>
                  <a:srgbClr val="FF0000"/>
                </a:solidFill>
              </a:rPr>
              <a:t>0</a:t>
            </a:r>
            <a:r>
              <a:rPr lang="fr-FR" sz="2000" dirty="0" smtClean="0"/>
              <a:t>)</a:t>
            </a:r>
            <a:endParaRPr lang="fr-FR" sz="2000" dirty="0"/>
          </a:p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23528" y="4365104"/>
            <a:ext cx="316835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Euclide (42,30)=</a:t>
            </a:r>
            <a:r>
              <a:rPr lang="fr-FR" sz="2000" dirty="0">
                <a:solidFill>
                  <a:srgbClr val="FF0000"/>
                </a:solidFill>
              </a:rPr>
              <a:t>6</a:t>
            </a:r>
          </a:p>
          <a:p>
            <a:r>
              <a:rPr lang="fr-FR" sz="2000" dirty="0"/>
              <a:t>(42,30)</a:t>
            </a:r>
          </a:p>
          <a:p>
            <a:r>
              <a:rPr lang="fr-FR" sz="2000" dirty="0"/>
              <a:t>(30,</a:t>
            </a:r>
            <a:r>
              <a:rPr lang="fr-FR" sz="2000" b="1" dirty="0"/>
              <a:t>12</a:t>
            </a:r>
            <a:r>
              <a:rPr lang="fr-FR" sz="2000" dirty="0"/>
              <a:t>)</a:t>
            </a:r>
          </a:p>
          <a:p>
            <a:r>
              <a:rPr lang="fr-FR" sz="2000" dirty="0"/>
              <a:t>(12,6)</a:t>
            </a:r>
          </a:p>
          <a:p>
            <a:r>
              <a:rPr lang="fr-FR" sz="2000" dirty="0"/>
              <a:t>(</a:t>
            </a:r>
            <a:r>
              <a:rPr lang="fr-FR" sz="2000" dirty="0">
                <a:solidFill>
                  <a:srgbClr val="C00000"/>
                </a:solidFill>
              </a:rPr>
              <a:t>6</a:t>
            </a:r>
            <a:r>
              <a:rPr lang="fr-FR" sz="2000" dirty="0"/>
              <a:t>,</a:t>
            </a:r>
            <a:r>
              <a:rPr lang="fr-FR" sz="2000" b="1" dirty="0">
                <a:solidFill>
                  <a:srgbClr val="FF0000"/>
                </a:solidFill>
              </a:rPr>
              <a:t>0</a:t>
            </a:r>
            <a:r>
              <a:rPr lang="fr-FR" sz="2000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36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Inverse multiplicatif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3336" y="1340768"/>
            <a:ext cx="9050784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r>
              <a:rPr lang="fr-FR" sz="2000" dirty="0" smtClean="0"/>
              <a:t>Algorithme </a:t>
            </a:r>
            <a:r>
              <a:rPr lang="fr-FR" sz="2000" dirty="0"/>
              <a:t>Euclide étendu (récursif) :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527376" y="1772816"/>
            <a:ext cx="5616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cherche r</a:t>
            </a:r>
            <a:r>
              <a:rPr lang="fr-FR" baseline="30000" dirty="0" smtClean="0"/>
              <a:t>-1</a:t>
            </a:r>
            <a:r>
              <a:rPr lang="fr-FR" dirty="0" smtClean="0"/>
              <a:t> </a:t>
            </a:r>
            <a:r>
              <a:rPr lang="fr-FR" dirty="0" err="1" smtClean="0"/>
              <a:t>mod</a:t>
            </a:r>
            <a:r>
              <a:rPr lang="fr-FR" dirty="0" smtClean="0"/>
              <a:t> m avec pgcd(</a:t>
            </a:r>
            <a:r>
              <a:rPr lang="fr-FR" dirty="0" err="1" smtClean="0"/>
              <a:t>r,m</a:t>
            </a:r>
            <a:r>
              <a:rPr lang="fr-FR" dirty="0" smtClean="0"/>
              <a:t>)=1</a:t>
            </a:r>
          </a:p>
          <a:p>
            <a:r>
              <a:rPr lang="fr-FR" dirty="0" smtClean="0"/>
              <a:t>L’appel avec (m,r,1,0)</a:t>
            </a:r>
          </a:p>
          <a:p>
            <a:r>
              <a:rPr lang="fr-FR" dirty="0" smtClean="0"/>
              <a:t>La définition:</a:t>
            </a:r>
          </a:p>
          <a:p>
            <a:r>
              <a:rPr lang="fr-FR" dirty="0" smtClean="0"/>
              <a:t>(</a:t>
            </a:r>
            <a:r>
              <a:rPr lang="fr-FR" dirty="0" err="1" smtClean="0"/>
              <a:t>a,b,c,d</a:t>
            </a:r>
            <a:r>
              <a:rPr lang="fr-FR" dirty="0" smtClean="0"/>
              <a:t>) ← (b, a </a:t>
            </a:r>
            <a:r>
              <a:rPr lang="fr-FR" dirty="0" err="1" smtClean="0"/>
              <a:t>mod</a:t>
            </a:r>
            <a:r>
              <a:rPr lang="fr-FR" dirty="0" smtClean="0"/>
              <a:t> b , d-c(a div b) </a:t>
            </a:r>
            <a:r>
              <a:rPr lang="fr-FR" dirty="0" err="1" smtClean="0"/>
              <a:t>mod</a:t>
            </a:r>
            <a:r>
              <a:rPr lang="fr-FR" dirty="0" smtClean="0"/>
              <a:t> m , c)</a:t>
            </a:r>
          </a:p>
          <a:p>
            <a:r>
              <a:rPr lang="fr-FR" dirty="0" smtClean="0"/>
              <a:t>Si b=1 alors répondre c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68106" y="3068960"/>
            <a:ext cx="4320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Exemples:</a:t>
            </a:r>
            <a:endParaRPr lang="fr-FR" sz="2000" dirty="0"/>
          </a:p>
          <a:p>
            <a:r>
              <a:rPr lang="fr-FR" sz="2000" dirty="0" smtClean="0"/>
              <a:t>5</a:t>
            </a:r>
            <a:r>
              <a:rPr lang="fr-FR" sz="2000" baseline="30000" dirty="0" smtClean="0"/>
              <a:t>-1</a:t>
            </a:r>
            <a:r>
              <a:rPr lang="fr-FR" sz="2000" dirty="0" smtClean="0"/>
              <a:t> ≡   ?   </a:t>
            </a:r>
            <a:r>
              <a:rPr lang="fr-FR" sz="2000" dirty="0" err="1" smtClean="0"/>
              <a:t>mod</a:t>
            </a:r>
            <a:r>
              <a:rPr lang="fr-FR" sz="2000" dirty="0" smtClean="0"/>
              <a:t> 13</a:t>
            </a:r>
          </a:p>
          <a:p>
            <a:r>
              <a:rPr lang="fr-FR" sz="2000" dirty="0"/>
              <a:t>5</a:t>
            </a:r>
            <a:r>
              <a:rPr lang="fr-FR" sz="2000" baseline="30000" dirty="0"/>
              <a:t>-1</a:t>
            </a:r>
            <a:r>
              <a:rPr lang="fr-FR" sz="2000" dirty="0"/>
              <a:t> ≡ </a:t>
            </a:r>
            <a:r>
              <a:rPr lang="fr-FR" sz="2000" b="1" dirty="0" smtClean="0">
                <a:solidFill>
                  <a:srgbClr val="FF0000"/>
                </a:solidFill>
              </a:rPr>
              <a:t>8</a:t>
            </a:r>
            <a:r>
              <a:rPr lang="fr-FR" sz="2000" dirty="0" smtClean="0"/>
              <a:t> </a:t>
            </a:r>
            <a:r>
              <a:rPr lang="fr-FR" sz="2000" dirty="0" err="1" smtClean="0"/>
              <a:t>mod</a:t>
            </a:r>
            <a:r>
              <a:rPr lang="fr-FR" sz="2000" dirty="0" smtClean="0"/>
              <a:t> 13</a:t>
            </a:r>
          </a:p>
          <a:p>
            <a:r>
              <a:rPr lang="fr-FR" sz="2000" dirty="0" smtClean="0"/>
              <a:t>(13,5,1,0)(5,3,0-1*(2) </a:t>
            </a:r>
            <a:r>
              <a:rPr lang="fr-FR" sz="2000" dirty="0" err="1" smtClean="0"/>
              <a:t>mod</a:t>
            </a:r>
            <a:r>
              <a:rPr lang="fr-FR" sz="2000" dirty="0" smtClean="0"/>
              <a:t> 13,1) = (</a:t>
            </a:r>
            <a:r>
              <a:rPr lang="fr-FR" sz="2000" b="1" dirty="0" smtClean="0"/>
              <a:t>5,3,11,1</a:t>
            </a:r>
            <a:r>
              <a:rPr lang="fr-FR" sz="2000" dirty="0" smtClean="0"/>
              <a:t>)</a:t>
            </a:r>
          </a:p>
          <a:p>
            <a:r>
              <a:rPr lang="fr-FR" sz="2000" dirty="0" smtClean="0"/>
              <a:t>(</a:t>
            </a:r>
            <a:r>
              <a:rPr lang="fr-FR" sz="2000" b="1" dirty="0" smtClean="0"/>
              <a:t>3</a:t>
            </a:r>
            <a:r>
              <a:rPr lang="fr-FR" sz="2000" dirty="0" smtClean="0"/>
              <a:t>,</a:t>
            </a:r>
            <a:r>
              <a:rPr lang="fr-FR" sz="2000" b="1" dirty="0" smtClean="0"/>
              <a:t>2</a:t>
            </a:r>
            <a:r>
              <a:rPr lang="fr-FR" sz="2000" dirty="0" smtClean="0"/>
              <a:t>,1-11*(1) </a:t>
            </a:r>
            <a:r>
              <a:rPr lang="fr-FR" sz="2000" dirty="0" err="1" smtClean="0"/>
              <a:t>mod</a:t>
            </a:r>
            <a:r>
              <a:rPr lang="fr-FR" sz="2000" dirty="0" smtClean="0"/>
              <a:t> 13,11) = (3,2,3,11)</a:t>
            </a:r>
          </a:p>
          <a:p>
            <a:r>
              <a:rPr lang="fr-FR" sz="2000" dirty="0" smtClean="0"/>
              <a:t>(2,</a:t>
            </a:r>
            <a:r>
              <a:rPr lang="fr-FR" sz="2000" b="1" dirty="0" smtClean="0">
                <a:solidFill>
                  <a:srgbClr val="FF0000"/>
                </a:solidFill>
              </a:rPr>
              <a:t>1</a:t>
            </a:r>
            <a:r>
              <a:rPr lang="fr-FR" sz="2000" dirty="0" smtClean="0"/>
              <a:t>,11-3*(</a:t>
            </a:r>
            <a:r>
              <a:rPr lang="fr-FR" sz="2000" dirty="0"/>
              <a:t>1) </a:t>
            </a:r>
            <a:r>
              <a:rPr lang="fr-FR" sz="2000" dirty="0" err="1"/>
              <a:t>mod</a:t>
            </a:r>
            <a:r>
              <a:rPr lang="fr-FR" sz="2000" dirty="0"/>
              <a:t> </a:t>
            </a:r>
            <a:r>
              <a:rPr lang="fr-FR" sz="2000" dirty="0" smtClean="0"/>
              <a:t>13,3)=(2,</a:t>
            </a:r>
            <a:r>
              <a:rPr lang="fr-FR" sz="2000" dirty="0" smtClean="0">
                <a:solidFill>
                  <a:srgbClr val="FF0000"/>
                </a:solidFill>
              </a:rPr>
              <a:t>1</a:t>
            </a:r>
            <a:r>
              <a:rPr lang="fr-FR" sz="2000" dirty="0" smtClean="0"/>
              <a:t>,</a:t>
            </a:r>
            <a:r>
              <a:rPr lang="fr-FR" sz="2000" dirty="0" smtClean="0">
                <a:solidFill>
                  <a:srgbClr val="C00000"/>
                </a:solidFill>
              </a:rPr>
              <a:t>8</a:t>
            </a:r>
            <a:r>
              <a:rPr lang="fr-FR" sz="2000" dirty="0" smtClean="0"/>
              <a:t>,3)</a:t>
            </a:r>
          </a:p>
          <a:p>
            <a:r>
              <a:rPr lang="fr-FR" sz="2000" dirty="0" smtClean="0"/>
              <a:t>5*8=40=1 mod13</a:t>
            </a:r>
            <a:endParaRPr lang="fr-FR" sz="2000" dirty="0"/>
          </a:p>
        </p:txBody>
      </p:sp>
      <p:sp>
        <p:nvSpPr>
          <p:cNvPr id="10" name="ZoneTexte 9"/>
          <p:cNvSpPr txBox="1"/>
          <p:nvPr/>
        </p:nvSpPr>
        <p:spPr>
          <a:xfrm>
            <a:off x="4716016" y="3307413"/>
            <a:ext cx="38884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7</a:t>
            </a:r>
            <a:r>
              <a:rPr lang="fr-FR" sz="2000" baseline="30000" dirty="0" smtClean="0"/>
              <a:t>-1</a:t>
            </a:r>
            <a:r>
              <a:rPr lang="fr-FR" sz="2000" dirty="0" smtClean="0"/>
              <a:t> ≡     </a:t>
            </a:r>
            <a:r>
              <a:rPr lang="fr-FR" sz="2000" dirty="0" err="1" smtClean="0"/>
              <a:t>mod</a:t>
            </a:r>
            <a:r>
              <a:rPr lang="fr-FR" sz="2000" dirty="0" smtClean="0"/>
              <a:t> 22</a:t>
            </a:r>
          </a:p>
          <a:p>
            <a:r>
              <a:rPr lang="fr-FR" sz="2000" dirty="0"/>
              <a:t>7</a:t>
            </a:r>
            <a:r>
              <a:rPr lang="fr-FR" sz="2000" baseline="30000" dirty="0"/>
              <a:t>-1</a:t>
            </a:r>
            <a:r>
              <a:rPr lang="fr-FR" sz="2000" dirty="0"/>
              <a:t> ≡ </a:t>
            </a:r>
            <a:r>
              <a:rPr lang="fr-FR" sz="2000" b="1" dirty="0" smtClean="0">
                <a:solidFill>
                  <a:srgbClr val="FF0000"/>
                </a:solidFill>
              </a:rPr>
              <a:t>19</a:t>
            </a:r>
            <a:r>
              <a:rPr lang="fr-FR" sz="2000" dirty="0" smtClean="0"/>
              <a:t> </a:t>
            </a:r>
            <a:r>
              <a:rPr lang="fr-FR" sz="2000" dirty="0" err="1" smtClean="0"/>
              <a:t>mod</a:t>
            </a:r>
            <a:r>
              <a:rPr lang="fr-FR" sz="2000" dirty="0" smtClean="0"/>
              <a:t> 22</a:t>
            </a:r>
          </a:p>
          <a:p>
            <a:r>
              <a:rPr lang="fr-FR" sz="2000" dirty="0" smtClean="0"/>
              <a:t>(22,7,1,0)</a:t>
            </a:r>
          </a:p>
          <a:p>
            <a:r>
              <a:rPr lang="fr-FR" sz="2000" dirty="0" smtClean="0"/>
              <a:t>(7,1,0-1*(3) </a:t>
            </a:r>
            <a:r>
              <a:rPr lang="fr-FR" sz="2000" dirty="0" err="1"/>
              <a:t>mod</a:t>
            </a:r>
            <a:r>
              <a:rPr lang="fr-FR" sz="2000" dirty="0"/>
              <a:t> </a:t>
            </a:r>
            <a:r>
              <a:rPr lang="fr-FR" sz="2000" dirty="0" smtClean="0"/>
              <a:t>22,1</a:t>
            </a:r>
            <a:r>
              <a:rPr lang="fr-FR" sz="2000" dirty="0"/>
              <a:t>) = </a:t>
            </a:r>
            <a:r>
              <a:rPr lang="fr-FR" sz="2000" dirty="0" smtClean="0"/>
              <a:t>(7,</a:t>
            </a:r>
            <a:r>
              <a:rPr lang="fr-FR" sz="2000" b="1" dirty="0" smtClean="0">
                <a:solidFill>
                  <a:srgbClr val="FF0000"/>
                </a:solidFill>
              </a:rPr>
              <a:t>1</a:t>
            </a:r>
            <a:r>
              <a:rPr lang="fr-FR" sz="2000" dirty="0" smtClean="0"/>
              <a:t>,</a:t>
            </a:r>
            <a:r>
              <a:rPr lang="fr-FR" sz="2000" dirty="0" smtClean="0">
                <a:solidFill>
                  <a:srgbClr val="C00000"/>
                </a:solidFill>
              </a:rPr>
              <a:t>19</a:t>
            </a:r>
            <a:r>
              <a:rPr lang="fr-FR" sz="2000" dirty="0" smtClean="0"/>
              <a:t>,1)</a:t>
            </a:r>
          </a:p>
          <a:p>
            <a:r>
              <a:rPr lang="fr-FR" sz="2000" dirty="0" smtClean="0"/>
              <a:t>7*19 = 133 = 6*22+1 = 1 </a:t>
            </a:r>
            <a:r>
              <a:rPr lang="fr-FR" sz="2000" dirty="0" err="1" smtClean="0"/>
              <a:t>mod</a:t>
            </a:r>
            <a:r>
              <a:rPr lang="fr-FR" sz="2000" dirty="0" smtClean="0"/>
              <a:t> 22</a:t>
            </a:r>
            <a:endParaRPr lang="fr-FR" sz="2000" dirty="0"/>
          </a:p>
        </p:txBody>
      </p:sp>
      <p:sp>
        <p:nvSpPr>
          <p:cNvPr id="11" name="ZoneTexte 10"/>
          <p:cNvSpPr txBox="1"/>
          <p:nvPr/>
        </p:nvSpPr>
        <p:spPr>
          <a:xfrm>
            <a:off x="323528" y="5733256"/>
            <a:ext cx="7939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Avec un ordinateur, on calcule le PGCD et l’inverse multiplicatif de très grands nombres efficacement.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63435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Trouver les clefs du RSA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3336" y="1340768"/>
            <a:ext cx="905078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7850" indent="-523875">
              <a:lnSpc>
                <a:spcPct val="150000"/>
              </a:lnSpc>
              <a:buFont typeface="Wingdings" panose="05000000000000000000" pitchFamily="2" charset="2"/>
              <a:buChar char="q"/>
              <a:defRPr sz="2400"/>
            </a:lvl1pPr>
          </a:lstStyle>
          <a:p>
            <a:pPr>
              <a:lnSpc>
                <a:spcPct val="200000"/>
              </a:lnSpc>
            </a:pPr>
            <a:r>
              <a:rPr lang="fr-FR" sz="2000" dirty="0" smtClean="0"/>
              <a:t>On </a:t>
            </a:r>
            <a:r>
              <a:rPr lang="fr-FR" sz="2000" dirty="0"/>
              <a:t>veut un entier e relativement premier à </a:t>
            </a:r>
            <a:r>
              <a:rPr lang="el-GR" sz="2000" dirty="0" smtClean="0"/>
              <a:t>φ</a:t>
            </a:r>
            <a:r>
              <a:rPr lang="fr-FR" sz="2000" dirty="0" smtClean="0"/>
              <a:t>(n</a:t>
            </a:r>
            <a:r>
              <a:rPr lang="fr-FR" sz="2000" dirty="0"/>
              <a:t>). </a:t>
            </a:r>
          </a:p>
          <a:p>
            <a:pPr>
              <a:lnSpc>
                <a:spcPct val="200000"/>
              </a:lnSpc>
            </a:pPr>
            <a:r>
              <a:rPr lang="fr-FR" sz="2000" dirty="0" smtClean="0"/>
              <a:t>On </a:t>
            </a:r>
            <a:r>
              <a:rPr lang="fr-FR" sz="2000" dirty="0"/>
              <a:t>choisit </a:t>
            </a:r>
            <a:r>
              <a:rPr lang="fr-FR" sz="2000" dirty="0" smtClean="0"/>
              <a:t>(e </a:t>
            </a:r>
            <a:r>
              <a:rPr lang="fr-FR" sz="2000" dirty="0"/>
              <a:t>&lt; </a:t>
            </a:r>
            <a:r>
              <a:rPr lang="el-GR" sz="2000" dirty="0" smtClean="0"/>
              <a:t>φ</a:t>
            </a:r>
            <a:r>
              <a:rPr lang="fr-FR" sz="2000" dirty="0" smtClean="0"/>
              <a:t>(n)) </a:t>
            </a:r>
            <a:r>
              <a:rPr lang="fr-FR" sz="2000" dirty="0"/>
              <a:t>au </a:t>
            </a:r>
            <a:r>
              <a:rPr lang="fr-FR" sz="2000" dirty="0" err="1"/>
              <a:t>hazard</a:t>
            </a:r>
            <a:r>
              <a:rPr lang="fr-FR" sz="2000" dirty="0"/>
              <a:t> puis on appelle Euclide(e, </a:t>
            </a:r>
            <a:r>
              <a:rPr lang="el-GR" sz="2000" dirty="0"/>
              <a:t>φ</a:t>
            </a:r>
            <a:r>
              <a:rPr lang="fr-FR" sz="2000" dirty="0" smtClean="0"/>
              <a:t>(n</a:t>
            </a:r>
            <a:r>
              <a:rPr lang="fr-FR" sz="2000" dirty="0"/>
              <a:t>)) (pour trouver leur pgcd): </a:t>
            </a:r>
          </a:p>
          <a:p>
            <a:pPr marL="9144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Euclide(</a:t>
            </a:r>
            <a:r>
              <a:rPr lang="fr-FR" sz="2000" dirty="0" err="1"/>
              <a:t>a,b</a:t>
            </a:r>
            <a:r>
              <a:rPr lang="fr-FR" sz="2000" dirty="0"/>
              <a:t>) </a:t>
            </a:r>
          </a:p>
          <a:p>
            <a:pPr marL="13716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si b=0 alors retourner a </a:t>
            </a:r>
          </a:p>
          <a:p>
            <a:pPr marL="13716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sinon retourner Euclide(</a:t>
            </a:r>
            <a:r>
              <a:rPr lang="fr-FR" sz="2000" dirty="0" err="1"/>
              <a:t>b,a</a:t>
            </a:r>
            <a:r>
              <a:rPr lang="fr-FR" sz="2000" dirty="0"/>
              <a:t> </a:t>
            </a:r>
            <a:r>
              <a:rPr lang="fr-FR" sz="2000" dirty="0" err="1"/>
              <a:t>mod</a:t>
            </a:r>
            <a:r>
              <a:rPr lang="fr-FR" sz="2000" dirty="0"/>
              <a:t> b) </a:t>
            </a:r>
          </a:p>
          <a:p>
            <a:pPr>
              <a:lnSpc>
                <a:spcPct val="200000"/>
              </a:lnSpc>
            </a:pPr>
            <a:r>
              <a:rPr lang="fr-FR" sz="2000" dirty="0" smtClean="0"/>
              <a:t>Si </a:t>
            </a:r>
            <a:r>
              <a:rPr lang="fr-FR" sz="2000" dirty="0"/>
              <a:t>e n'est pas relativement premier à </a:t>
            </a:r>
            <a:r>
              <a:rPr lang="el-GR" sz="2000" dirty="0" smtClean="0"/>
              <a:t>φ</a:t>
            </a:r>
            <a:r>
              <a:rPr lang="fr-FR" sz="2000" dirty="0" smtClean="0"/>
              <a:t>(n</a:t>
            </a:r>
            <a:r>
              <a:rPr lang="fr-FR" sz="2000" dirty="0"/>
              <a:t>) alors on incrémente e successivement jusqu'à ce que l'on obtienne le nombre désiré. </a:t>
            </a:r>
          </a:p>
          <a:p>
            <a:pPr marL="53975" indent="0">
              <a:buNone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81032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Exercice 1 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0" y="1628800"/>
            <a:ext cx="89644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 smtClean="0"/>
              <a:t>Un </a:t>
            </a:r>
            <a:r>
              <a:rPr lang="fr-FR" sz="2400" dirty="0"/>
              <a:t>professeur envoie ses notes au secrétariat de </a:t>
            </a:r>
            <a:r>
              <a:rPr lang="fr-FR" sz="2400" dirty="0" smtClean="0"/>
              <a:t> l'École </a:t>
            </a:r>
            <a:r>
              <a:rPr lang="fr-FR" sz="2400" dirty="0"/>
              <a:t>par mail. </a:t>
            </a:r>
            <a:r>
              <a:rPr lang="fr-FR" sz="2400" b="1" dirty="0"/>
              <a:t>La clef publique </a:t>
            </a:r>
            <a:r>
              <a:rPr lang="fr-FR" sz="2400" dirty="0"/>
              <a:t>du professeur est (</a:t>
            </a:r>
            <a:r>
              <a:rPr lang="fr-FR" sz="2400" b="1" dirty="0"/>
              <a:t>3,55</a:t>
            </a:r>
            <a:r>
              <a:rPr lang="fr-FR" sz="2400" dirty="0"/>
              <a:t>), celle du secrétariat (</a:t>
            </a:r>
            <a:r>
              <a:rPr lang="fr-FR" sz="2400" b="1" dirty="0"/>
              <a:t>3,33</a:t>
            </a:r>
            <a:r>
              <a:rPr lang="fr-FR" sz="2400" dirty="0"/>
              <a:t>). 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1. Déterminer </a:t>
            </a:r>
            <a:r>
              <a:rPr lang="fr-FR" sz="2400" b="1" dirty="0"/>
              <a:t>la clé privée </a:t>
            </a:r>
            <a:r>
              <a:rPr lang="fr-FR" sz="2400" dirty="0"/>
              <a:t>du professeur et du secrétariat de l'Ecole. 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2. Pour assurer la confidentialité de ses messages, le professeur chiffre les notes avec la clef RSA du </a:t>
            </a:r>
            <a:r>
              <a:rPr lang="fr-FR" sz="2400" dirty="0" smtClean="0"/>
              <a:t>secrétariat</a:t>
            </a:r>
            <a:r>
              <a:rPr lang="fr-FR" sz="2400" dirty="0"/>
              <a:t>. Quel message chiffré correspond à la note 12? </a:t>
            </a:r>
          </a:p>
        </p:txBody>
      </p:sp>
    </p:spTree>
    <p:extLst>
      <p:ext uri="{BB962C8B-B14F-4D97-AF65-F5344CB8AC3E}">
        <p14:creationId xmlns:p14="http://schemas.microsoft.com/office/powerpoint/2010/main" val="5794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dirty="0" smtClean="0">
                <a:solidFill>
                  <a:srgbClr val="FF0000"/>
                </a:solidFill>
              </a:rPr>
              <a:t>Solution</a:t>
            </a:r>
            <a:r>
              <a:rPr lang="fr-FR" sz="2400" dirty="0" smtClean="0"/>
              <a:t> 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7720" y="1397621"/>
            <a:ext cx="905078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Pour </a:t>
            </a:r>
            <a:r>
              <a:rPr lang="fr-FR" sz="2400" dirty="0"/>
              <a:t>le professeur: </a:t>
            </a:r>
            <a:r>
              <a:rPr lang="el-GR" sz="2400" dirty="0"/>
              <a:t>φ</a:t>
            </a:r>
            <a:r>
              <a:rPr lang="fr-FR" sz="2400" dirty="0" smtClean="0"/>
              <a:t>(</a:t>
            </a:r>
            <a:r>
              <a:rPr lang="fr-FR" sz="2400" b="1" dirty="0" smtClean="0"/>
              <a:t>55</a:t>
            </a:r>
            <a:r>
              <a:rPr lang="fr-FR" sz="2400" dirty="0"/>
              <a:t>) = </a:t>
            </a:r>
            <a:r>
              <a:rPr lang="fr-FR" sz="2400" b="1" dirty="0">
                <a:solidFill>
                  <a:srgbClr val="FF0000"/>
                </a:solidFill>
              </a:rPr>
              <a:t>40</a:t>
            </a:r>
            <a:r>
              <a:rPr lang="fr-FR" sz="2400" dirty="0"/>
              <a:t> 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et </a:t>
            </a:r>
            <a:r>
              <a:rPr lang="fr-FR" sz="2400" b="1" dirty="0">
                <a:solidFill>
                  <a:srgbClr val="FF0000"/>
                </a:solidFill>
              </a:rPr>
              <a:t>27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/>
              <a:t>x </a:t>
            </a:r>
            <a:r>
              <a:rPr lang="fr-FR" sz="2400" b="1" dirty="0"/>
              <a:t>3</a:t>
            </a:r>
            <a:r>
              <a:rPr lang="fr-FR" sz="2400" dirty="0"/>
              <a:t> = 81 = 1 </a:t>
            </a:r>
            <a:r>
              <a:rPr lang="fr-FR" sz="2400" dirty="0" err="1"/>
              <a:t>mod</a:t>
            </a:r>
            <a:r>
              <a:rPr lang="fr-FR" sz="2400" dirty="0"/>
              <a:t> 40. 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dirty="0" smtClean="0"/>
              <a:t>La clé </a:t>
            </a:r>
            <a:r>
              <a:rPr lang="en-GB" sz="2400" dirty="0" err="1" smtClean="0"/>
              <a:t>privé</a:t>
            </a:r>
            <a:r>
              <a:rPr lang="en-GB" sz="2400" dirty="0" smtClean="0"/>
              <a:t> (</a:t>
            </a:r>
            <a:r>
              <a:rPr lang="en-GB" sz="2400" b="1" dirty="0" smtClean="0"/>
              <a:t>27,55</a:t>
            </a:r>
            <a:r>
              <a:rPr lang="en-GB" sz="2400" dirty="0" smtClean="0"/>
              <a:t>)</a:t>
            </a:r>
            <a:endParaRPr lang="fr-FR" sz="2400" dirty="0"/>
          </a:p>
          <a:p>
            <a:pPr>
              <a:lnSpc>
                <a:spcPct val="150000"/>
              </a:lnSpc>
            </a:pPr>
            <a:r>
              <a:rPr lang="fr-FR" sz="2400" dirty="0"/>
              <a:t>Pour le secrétariat: </a:t>
            </a:r>
            <a:r>
              <a:rPr lang="el-GR" sz="2400" dirty="0" smtClean="0"/>
              <a:t>φ</a:t>
            </a:r>
            <a:r>
              <a:rPr lang="fr-FR" sz="2400" dirty="0" smtClean="0"/>
              <a:t>(33</a:t>
            </a:r>
            <a:r>
              <a:rPr lang="fr-FR" sz="2400" dirty="0"/>
              <a:t>) = </a:t>
            </a:r>
            <a:r>
              <a:rPr lang="fr-FR" sz="2400" b="1" dirty="0"/>
              <a:t>20</a:t>
            </a:r>
            <a:r>
              <a:rPr lang="fr-FR" sz="2400" dirty="0"/>
              <a:t> et </a:t>
            </a:r>
            <a:r>
              <a:rPr lang="fr-FR" sz="2400" b="1" dirty="0">
                <a:solidFill>
                  <a:srgbClr val="FF0000"/>
                </a:solidFill>
              </a:rPr>
              <a:t>7</a:t>
            </a:r>
            <a:r>
              <a:rPr lang="fr-FR" sz="2400" b="1" dirty="0"/>
              <a:t> </a:t>
            </a:r>
            <a:r>
              <a:rPr lang="fr-FR" sz="2400" dirty="0"/>
              <a:t>x </a:t>
            </a:r>
            <a:r>
              <a:rPr lang="fr-FR" sz="2400" b="1" dirty="0"/>
              <a:t>3</a:t>
            </a:r>
            <a:r>
              <a:rPr lang="fr-FR" sz="2400" dirty="0"/>
              <a:t> = 21 = 1 </a:t>
            </a:r>
            <a:r>
              <a:rPr lang="fr-FR" sz="2400" dirty="0" err="1"/>
              <a:t>mod</a:t>
            </a:r>
            <a:r>
              <a:rPr lang="fr-FR" sz="2400" dirty="0"/>
              <a:t> 20. 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dirty="0"/>
              <a:t>La clé </a:t>
            </a:r>
            <a:r>
              <a:rPr lang="en-GB" sz="2400" dirty="0" err="1"/>
              <a:t>privé</a:t>
            </a:r>
            <a:r>
              <a:rPr lang="en-GB" sz="2400" dirty="0"/>
              <a:t> </a:t>
            </a:r>
            <a:r>
              <a:rPr lang="en-GB" sz="2400" dirty="0" smtClean="0"/>
              <a:t>(</a:t>
            </a:r>
            <a:r>
              <a:rPr lang="en-GB" sz="2400" b="1" dirty="0" smtClean="0"/>
              <a:t>7,33</a:t>
            </a:r>
            <a:r>
              <a:rPr lang="en-GB" sz="2400" dirty="0" smtClean="0"/>
              <a:t>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dirty="0"/>
              <a:t>La clé </a:t>
            </a:r>
            <a:r>
              <a:rPr lang="en-GB" sz="2400" dirty="0" err="1" smtClean="0"/>
              <a:t>publique</a:t>
            </a:r>
            <a:r>
              <a:rPr lang="en-GB" sz="2400" dirty="0" smtClean="0"/>
              <a:t> </a:t>
            </a:r>
            <a:r>
              <a:rPr lang="fr-FR" sz="2400" dirty="0" smtClean="0"/>
              <a:t>(</a:t>
            </a:r>
            <a:r>
              <a:rPr lang="fr-FR" sz="2400" b="1" dirty="0" smtClean="0"/>
              <a:t>3,33</a:t>
            </a:r>
            <a:r>
              <a:rPr lang="fr-FR" sz="2400" dirty="0"/>
              <a:t>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Le </a:t>
            </a:r>
            <a:r>
              <a:rPr lang="fr-FR" sz="2400" dirty="0"/>
              <a:t>professeur </a:t>
            </a:r>
            <a:r>
              <a:rPr lang="fr-FR" sz="2400" dirty="0" smtClean="0"/>
              <a:t>envoi </a:t>
            </a:r>
            <a:r>
              <a:rPr lang="fr-FR" sz="2400" dirty="0"/>
              <a:t>m = 12</a:t>
            </a:r>
            <a:r>
              <a:rPr lang="fr-FR" sz="2400" b="1" baseline="30000" dirty="0">
                <a:solidFill>
                  <a:srgbClr val="FF6600"/>
                </a:solidFill>
              </a:rPr>
              <a:t>3</a:t>
            </a:r>
            <a:r>
              <a:rPr lang="fr-FR" sz="2400" dirty="0"/>
              <a:t> </a:t>
            </a:r>
            <a:r>
              <a:rPr lang="fr-FR" sz="2400" dirty="0" err="1"/>
              <a:t>mod</a:t>
            </a:r>
            <a:r>
              <a:rPr lang="fr-FR" sz="2400" dirty="0"/>
              <a:t> 33. 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Or </a:t>
            </a:r>
            <a:r>
              <a:rPr lang="fr-FR" sz="2400" dirty="0"/>
              <a:t>122 = 12[33]; donc m = </a:t>
            </a:r>
            <a:r>
              <a:rPr lang="fr-FR" sz="2400" b="1" dirty="0">
                <a:solidFill>
                  <a:srgbClr val="FF0000"/>
                </a:solidFill>
              </a:rPr>
              <a:t>12</a:t>
            </a:r>
            <a:r>
              <a:rPr lang="fr-FR" sz="2400" dirty="0"/>
              <a:t> </a:t>
            </a:r>
            <a:r>
              <a:rPr lang="fr-FR" sz="2400" dirty="0" err="1"/>
              <a:t>mod</a:t>
            </a:r>
            <a:r>
              <a:rPr lang="fr-FR" sz="2400" dirty="0"/>
              <a:t> 33 </a:t>
            </a:r>
          </a:p>
          <a:p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54421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b="1" dirty="0">
                <a:solidFill>
                  <a:srgbClr val="FF0000"/>
                </a:solidFill>
              </a:rPr>
              <a:t>Exercice 2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7720" y="1397621"/>
            <a:ext cx="90507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 smtClean="0"/>
              <a:t>Bob </a:t>
            </a:r>
            <a:r>
              <a:rPr lang="fr-FR" sz="2400" dirty="0"/>
              <a:t>choisit comme nombre premier p = 5 et q=11, comme exposant e=3. 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- Donner sa </a:t>
            </a:r>
            <a:r>
              <a:rPr lang="fr-FR" sz="2400" b="1" dirty="0"/>
              <a:t>clef publique</a:t>
            </a:r>
            <a:r>
              <a:rPr lang="fr-FR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- Donner sa </a:t>
            </a:r>
            <a:r>
              <a:rPr lang="fr-FR" sz="2400" b="1" dirty="0"/>
              <a:t>clé secrète </a:t>
            </a:r>
            <a:r>
              <a:rPr lang="fr-FR" sz="2400" dirty="0"/>
              <a:t>de déchiffrement </a:t>
            </a:r>
            <a:r>
              <a:rPr lang="fr-FR" sz="2400" b="1" dirty="0"/>
              <a:t>d</a:t>
            </a:r>
            <a:r>
              <a:rPr lang="fr-FR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Alice veut envoyer le message </a:t>
            </a:r>
            <a:r>
              <a:rPr lang="fr-FR" sz="2400" b="1" dirty="0"/>
              <a:t>4</a:t>
            </a:r>
            <a:r>
              <a:rPr lang="fr-FR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- Écrire le message chiffré qu‘elle envoie à Bob. 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- Déchiffrer le message qu’a reçu Bob et vérifier que c’est bien celui qu’a envoyé Alice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81364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 : </a:t>
            </a:r>
            <a:r>
              <a:rPr lang="fr-FR" sz="2400" dirty="0">
                <a:solidFill>
                  <a:srgbClr val="FF0000"/>
                </a:solidFill>
              </a:rPr>
              <a:t>Solution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7720" y="1397621"/>
            <a:ext cx="90507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La </a:t>
            </a:r>
            <a:r>
              <a:rPr lang="fr-FR" sz="2400" b="1" dirty="0"/>
              <a:t>clé publique </a:t>
            </a:r>
            <a:r>
              <a:rPr lang="fr-FR" sz="2400" dirty="0"/>
              <a:t>de Bob est: (</a:t>
            </a:r>
            <a:r>
              <a:rPr lang="fr-FR" sz="2400" b="1" dirty="0"/>
              <a:t>n=5x11</a:t>
            </a:r>
            <a:r>
              <a:rPr lang="fr-FR" sz="2400" dirty="0"/>
              <a:t>, 3)=</a:t>
            </a:r>
            <a:r>
              <a:rPr lang="fr-FR" sz="2400" b="1" dirty="0"/>
              <a:t>(55,3) </a:t>
            </a:r>
          </a:p>
          <a:p>
            <a:r>
              <a:rPr lang="el-GR" sz="2400" b="1" dirty="0">
                <a:solidFill>
                  <a:srgbClr val="FF0000"/>
                </a:solidFill>
              </a:rPr>
              <a:t>Φ(</a:t>
            </a:r>
            <a:r>
              <a:rPr lang="fr-FR" sz="2400" b="1" dirty="0">
                <a:solidFill>
                  <a:srgbClr val="FF0000"/>
                </a:solidFill>
              </a:rPr>
              <a:t>n) =(5-1)(11-1)=40</a:t>
            </a:r>
            <a:r>
              <a:rPr lang="fr-FR" sz="2400" dirty="0"/>
              <a:t>. </a:t>
            </a:r>
            <a:endParaRPr lang="fr-FR" sz="2400" dirty="0" smtClean="0"/>
          </a:p>
          <a:p>
            <a:endParaRPr lang="fr-FR" sz="2400" dirty="0"/>
          </a:p>
          <a:p>
            <a:r>
              <a:rPr lang="fr-FR" sz="2400" dirty="0"/>
              <a:t>En appliquant </a:t>
            </a:r>
            <a:r>
              <a:rPr lang="fr-FR" sz="2400" b="1" dirty="0"/>
              <a:t>l’algorithme d’Euclide étendu</a:t>
            </a:r>
            <a:r>
              <a:rPr lang="fr-FR" sz="2400" dirty="0"/>
              <a:t> on trouve: </a:t>
            </a:r>
          </a:p>
          <a:p>
            <a:r>
              <a:rPr lang="fr-FR" sz="2400" b="1" dirty="0">
                <a:solidFill>
                  <a:srgbClr val="C00000"/>
                </a:solidFill>
              </a:rPr>
              <a:t>d=27</a:t>
            </a:r>
            <a:r>
              <a:rPr lang="fr-FR" sz="2400" dirty="0"/>
              <a:t> </a:t>
            </a:r>
          </a:p>
          <a:p>
            <a:r>
              <a:rPr lang="fr-FR" sz="2400" b="1" dirty="0"/>
              <a:t>La clé privé est </a:t>
            </a:r>
            <a:r>
              <a:rPr lang="fr-FR" sz="2400" b="1" dirty="0">
                <a:solidFill>
                  <a:srgbClr val="FF0000"/>
                </a:solidFill>
              </a:rPr>
              <a:t>(55, 27) </a:t>
            </a:r>
          </a:p>
          <a:p>
            <a:endParaRPr lang="da-DK" sz="2400" dirty="0" smtClean="0"/>
          </a:p>
          <a:p>
            <a:r>
              <a:rPr lang="da-DK" sz="2400" b="1" dirty="0" smtClean="0"/>
              <a:t>4</a:t>
            </a:r>
            <a:r>
              <a:rPr lang="da-DK" sz="2400" b="1" baseline="30000" dirty="0" smtClean="0"/>
              <a:t>3</a:t>
            </a:r>
            <a:r>
              <a:rPr lang="da-DK" sz="2400" b="1" dirty="0" smtClean="0"/>
              <a:t> </a:t>
            </a:r>
            <a:r>
              <a:rPr lang="da-DK" sz="2400" b="1" dirty="0"/>
              <a:t>mod 55 </a:t>
            </a:r>
            <a:r>
              <a:rPr lang="da-DK" sz="2400" dirty="0"/>
              <a:t>=</a:t>
            </a:r>
            <a:r>
              <a:rPr lang="da-DK" sz="2400" b="1" dirty="0"/>
              <a:t> 64 mod 55</a:t>
            </a:r>
            <a:r>
              <a:rPr lang="da-DK" sz="2400" dirty="0"/>
              <a:t>= </a:t>
            </a:r>
            <a:r>
              <a:rPr lang="da-DK" sz="2400" b="1" dirty="0">
                <a:solidFill>
                  <a:srgbClr val="C00000"/>
                </a:solidFill>
              </a:rPr>
              <a:t>9</a:t>
            </a:r>
            <a:r>
              <a:rPr lang="da-DK" sz="2400" b="1" dirty="0"/>
              <a:t> mod 55 </a:t>
            </a:r>
          </a:p>
          <a:p>
            <a:r>
              <a:rPr lang="fr-FR" sz="2400" b="1" dirty="0" smtClean="0">
                <a:solidFill>
                  <a:srgbClr val="C00000"/>
                </a:solidFill>
              </a:rPr>
              <a:t>                           Alice </a:t>
            </a:r>
            <a:r>
              <a:rPr lang="fr-FR" sz="2400" b="1" dirty="0">
                <a:solidFill>
                  <a:srgbClr val="C00000"/>
                </a:solidFill>
              </a:rPr>
              <a:t>envoie le message chiffré 9</a:t>
            </a:r>
            <a:r>
              <a:rPr lang="fr-FR" sz="2400" dirty="0"/>
              <a:t>. </a:t>
            </a:r>
          </a:p>
          <a:p>
            <a:endParaRPr lang="fr-FR" sz="2400" dirty="0" smtClean="0"/>
          </a:p>
          <a:p>
            <a:r>
              <a:rPr lang="fr-FR" sz="2400" b="1" dirty="0" smtClean="0"/>
              <a:t>Déchiffrement </a:t>
            </a:r>
            <a:r>
              <a:rPr lang="fr-FR" sz="2400" b="1" dirty="0"/>
              <a:t>du message reçu</a:t>
            </a:r>
            <a:r>
              <a:rPr lang="fr-FR" sz="2400" dirty="0"/>
              <a:t>. </a:t>
            </a:r>
          </a:p>
          <a:p>
            <a:r>
              <a:rPr lang="da-DK" sz="2400" b="1" dirty="0">
                <a:solidFill>
                  <a:srgbClr val="C00000"/>
                </a:solidFill>
              </a:rPr>
              <a:t>9</a:t>
            </a:r>
            <a:r>
              <a:rPr lang="da-DK" sz="2400" b="1" baseline="30000" dirty="0">
                <a:solidFill>
                  <a:srgbClr val="C00000"/>
                </a:solidFill>
              </a:rPr>
              <a:t>27</a:t>
            </a:r>
            <a:r>
              <a:rPr lang="da-DK" sz="2400" b="1" dirty="0">
                <a:solidFill>
                  <a:srgbClr val="C00000"/>
                </a:solidFill>
              </a:rPr>
              <a:t> mod 55 </a:t>
            </a:r>
            <a:r>
              <a:rPr lang="da-DK" sz="2400" b="1" dirty="0" smtClean="0">
                <a:solidFill>
                  <a:srgbClr val="C00000"/>
                </a:solidFill>
              </a:rPr>
              <a:t>= </a:t>
            </a:r>
            <a:r>
              <a:rPr lang="da-DK" sz="2400" b="1" dirty="0" smtClean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da-DK" sz="2400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da-DK" sz="2400" b="1" dirty="0">
                <a:solidFill>
                  <a:srgbClr val="C00000"/>
                </a:solidFill>
              </a:rPr>
              <a:t>mod 55 </a:t>
            </a:r>
          </a:p>
          <a:p>
            <a:r>
              <a:rPr lang="fr-FR" sz="2400" dirty="0"/>
              <a:t>C’est bien le message en clair qu’Alice a chiffré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95774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Echange de </a:t>
            </a:r>
            <a:r>
              <a:rPr lang="fr-F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clés: </a:t>
            </a:r>
            <a:r>
              <a:rPr lang="fr-F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méthodes pour résoudre l'échange de clé symétrique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57720" y="1397621"/>
            <a:ext cx="9050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b="1" dirty="0"/>
              <a:t>Procédure</a:t>
            </a:r>
            <a:r>
              <a:rPr lang="fr-FR" sz="2400" dirty="0"/>
              <a:t> </a:t>
            </a:r>
            <a:r>
              <a:rPr lang="fr-FR" sz="2400" dirty="0" smtClean="0"/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/>
              <a:t> on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chiffre le message </a:t>
            </a:r>
            <a:r>
              <a:rPr lang="fr-FR" sz="2400" dirty="0"/>
              <a:t>avec une </a:t>
            </a:r>
            <a:r>
              <a:rPr lang="fr-FR" sz="2400" dirty="0">
                <a:solidFill>
                  <a:schemeClr val="accent2"/>
                </a:solidFill>
              </a:rPr>
              <a:t>clé symétrique</a:t>
            </a:r>
            <a:r>
              <a:rPr lang="fr-FR" sz="2400" dirty="0" smtClean="0"/>
              <a:t>,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 </a:t>
            </a:r>
            <a:r>
              <a:rPr lang="fr-FR" sz="2400" dirty="0"/>
              <a:t>on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chiffre la clé symétrique </a:t>
            </a:r>
            <a:r>
              <a:rPr lang="fr-FR" sz="2400" dirty="0"/>
              <a:t>avec la </a:t>
            </a:r>
            <a:r>
              <a:rPr lang="fr-FR" sz="2400" dirty="0">
                <a:solidFill>
                  <a:schemeClr val="accent6"/>
                </a:solidFill>
              </a:rPr>
              <a:t>clé publique du </a:t>
            </a:r>
            <a:r>
              <a:rPr lang="fr-FR" sz="2400" dirty="0" smtClean="0">
                <a:solidFill>
                  <a:schemeClr val="accent6"/>
                </a:solidFill>
              </a:rPr>
              <a:t>destinataire</a:t>
            </a:r>
            <a:r>
              <a:rPr lang="fr-FR" sz="2400" dirty="0" smtClean="0"/>
              <a:t>,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on </a:t>
            </a:r>
            <a:r>
              <a:rPr lang="fr-FR" sz="2400" dirty="0">
                <a:solidFill>
                  <a:srgbClr val="2F6ACB"/>
                </a:solidFill>
              </a:rPr>
              <a:t>joint la clé symétrique chiffrée </a:t>
            </a:r>
            <a:r>
              <a:rPr lang="fr-FR" sz="2400" dirty="0"/>
              <a:t>au </a:t>
            </a:r>
            <a:r>
              <a:rPr lang="fr-FR" sz="2400" dirty="0" smtClean="0">
                <a:solidFill>
                  <a:schemeClr val="accent6"/>
                </a:solidFill>
              </a:rPr>
              <a:t>message</a:t>
            </a:r>
            <a:r>
              <a:rPr lang="fr-FR" sz="2400" dirty="0" smtClean="0"/>
              <a:t>,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le </a:t>
            </a:r>
            <a:r>
              <a:rPr lang="fr-FR" sz="2400" dirty="0"/>
              <a:t>destinataire </a:t>
            </a:r>
            <a:r>
              <a:rPr lang="fr-FR" sz="2400" dirty="0">
                <a:solidFill>
                  <a:srgbClr val="2F6ACB"/>
                </a:solidFill>
              </a:rPr>
              <a:t>déchiffre la clé symétrique </a:t>
            </a:r>
            <a:r>
              <a:rPr lang="fr-FR" sz="2400" dirty="0"/>
              <a:t>avec sa </a:t>
            </a:r>
            <a:r>
              <a:rPr lang="fr-FR" sz="2400" dirty="0">
                <a:solidFill>
                  <a:schemeClr val="accent6"/>
                </a:solidFill>
              </a:rPr>
              <a:t>clé privée</a:t>
            </a:r>
            <a:r>
              <a:rPr lang="fr-FR" sz="2400" dirty="0"/>
              <a:t>, puis le </a:t>
            </a:r>
            <a:r>
              <a:rPr lang="fr-FR" sz="2400" dirty="0">
                <a:solidFill>
                  <a:srgbClr val="2F6ACB"/>
                </a:solidFill>
              </a:rPr>
              <a:t>message</a:t>
            </a:r>
            <a:r>
              <a:rPr lang="fr-FR" sz="2400" dirty="0"/>
              <a:t> avec la </a:t>
            </a:r>
            <a:r>
              <a:rPr lang="fr-FR" sz="2400" dirty="0" smtClean="0">
                <a:solidFill>
                  <a:schemeClr val="accent6"/>
                </a:solidFill>
              </a:rPr>
              <a:t>clé symétrique </a:t>
            </a:r>
            <a:r>
              <a:rPr lang="fr-FR" sz="2400" dirty="0"/>
              <a:t>qu'il peut utiliser à son tour pour envoyer des messages chiffrés ;</a:t>
            </a:r>
          </a:p>
        </p:txBody>
      </p:sp>
    </p:spTree>
    <p:extLst>
      <p:ext uri="{BB962C8B-B14F-4D97-AF65-F5344CB8AC3E}">
        <p14:creationId xmlns:p14="http://schemas.microsoft.com/office/powerpoint/2010/main" val="4070924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Echange de </a:t>
            </a:r>
            <a:r>
              <a:rPr lang="fr-FR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clès</a:t>
            </a:r>
            <a:r>
              <a:rPr lang="fr-F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2 méthodes pour résoudre l'échange de clé symétrique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57720" y="1397621"/>
            <a:ext cx="9050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b="1" dirty="0"/>
              <a:t>Principale faiblesse</a:t>
            </a:r>
            <a:r>
              <a:rPr lang="fr-FR" sz="2400" dirty="0"/>
              <a:t> : </a:t>
            </a:r>
            <a:r>
              <a:rPr lang="fr-FR" sz="2400" dirty="0">
                <a:solidFill>
                  <a:srgbClr val="0070C0"/>
                </a:solidFill>
              </a:rPr>
              <a:t>la </a:t>
            </a:r>
            <a:r>
              <a:rPr lang="fr-FR" sz="2400" dirty="0" smtClean="0">
                <a:solidFill>
                  <a:srgbClr val="0070C0"/>
                </a:solidFill>
              </a:rPr>
              <a:t>clé symétrique </a:t>
            </a:r>
            <a:r>
              <a:rPr lang="fr-FR" sz="2400" dirty="0">
                <a:solidFill>
                  <a:srgbClr val="0070C0"/>
                </a:solidFill>
              </a:rPr>
              <a:t>cryptée </a:t>
            </a:r>
            <a:r>
              <a:rPr lang="fr-FR" sz="2400" dirty="0" smtClean="0"/>
              <a:t>est </a:t>
            </a:r>
            <a:r>
              <a:rPr lang="fr-FR" sz="2400" dirty="0" smtClean="0">
                <a:solidFill>
                  <a:srgbClr val="0070C0"/>
                </a:solidFill>
              </a:rPr>
              <a:t>transmise </a:t>
            </a:r>
            <a:r>
              <a:rPr lang="fr-FR" sz="2400" dirty="0">
                <a:solidFill>
                  <a:schemeClr val="accent6"/>
                </a:solidFill>
              </a:rPr>
              <a:t>sur le réseau </a:t>
            </a:r>
            <a:r>
              <a:rPr lang="fr-FR" sz="2400" dirty="0" smtClean="0"/>
              <a:t>et donc </a:t>
            </a:r>
            <a:r>
              <a:rPr lang="fr-FR" sz="2400" dirty="0">
                <a:solidFill>
                  <a:srgbClr val="0070C0"/>
                </a:solidFill>
              </a:rPr>
              <a:t>susceptible</a:t>
            </a:r>
            <a:r>
              <a:rPr lang="fr-FR" sz="2400" dirty="0"/>
              <a:t> </a:t>
            </a:r>
            <a:r>
              <a:rPr lang="fr-FR" sz="2400" dirty="0" smtClean="0"/>
              <a:t>d'être </a:t>
            </a:r>
            <a:r>
              <a:rPr lang="fr-FR" sz="2400" dirty="0" smtClean="0">
                <a:solidFill>
                  <a:schemeClr val="accent6"/>
                </a:solidFill>
              </a:rPr>
              <a:t>interceptée</a:t>
            </a:r>
            <a:r>
              <a:rPr lang="fr-FR" sz="2400" dirty="0" smtClean="0"/>
              <a:t> </a:t>
            </a:r>
            <a:r>
              <a:rPr lang="fr-FR" sz="2400" dirty="0"/>
              <a:t>et </a:t>
            </a:r>
            <a:r>
              <a:rPr lang="fr-FR" sz="2400" dirty="0">
                <a:solidFill>
                  <a:schemeClr val="accent6"/>
                </a:solidFill>
              </a:rPr>
              <a:t>déchiffrée</a:t>
            </a:r>
            <a:r>
              <a:rPr lang="fr-FR" sz="2400" dirty="0"/>
              <a:t>;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597950"/>
            <a:ext cx="7335811" cy="392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2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Echange de </a:t>
            </a:r>
            <a:r>
              <a:rPr lang="fr-FR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clès</a:t>
            </a:r>
            <a:r>
              <a:rPr lang="fr-F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fr-FR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-14288" y="1397621"/>
            <a:ext cx="9122792" cy="4789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850" b="1" dirty="0" smtClean="0">
                <a:solidFill>
                  <a:srgbClr val="FF0000"/>
                </a:solidFill>
              </a:rPr>
              <a:t>Echange </a:t>
            </a:r>
            <a:r>
              <a:rPr lang="fr-FR" sz="1850" b="1" dirty="0" err="1" smtClean="0">
                <a:solidFill>
                  <a:srgbClr val="FF0000"/>
                </a:solidFill>
              </a:rPr>
              <a:t>Diffie-Hellman</a:t>
            </a:r>
            <a:r>
              <a:rPr lang="fr-FR" sz="1850" b="1" dirty="0" smtClean="0">
                <a:solidFill>
                  <a:srgbClr val="FF0000"/>
                </a:solidFill>
              </a:rPr>
              <a:t> </a:t>
            </a:r>
            <a:r>
              <a:rPr lang="fr-FR" sz="1850" dirty="0" smtClean="0"/>
              <a:t>(</a:t>
            </a:r>
            <a:r>
              <a:rPr lang="fr-FR" sz="1850" dirty="0" smtClean="0">
                <a:solidFill>
                  <a:srgbClr val="FF0000"/>
                </a:solidFill>
              </a:rPr>
              <a:t>DH</a:t>
            </a:r>
            <a:r>
              <a:rPr lang="fr-FR" sz="1850" dirty="0" smtClean="0"/>
              <a:t>) (notamment utilisé dans le protocole </a:t>
            </a:r>
            <a:r>
              <a:rPr lang="fr-FR" sz="1850" dirty="0" smtClean="0">
                <a:solidFill>
                  <a:srgbClr val="FF0000"/>
                </a:solidFill>
              </a:rPr>
              <a:t>SSH</a:t>
            </a:r>
            <a:r>
              <a:rPr lang="fr-FR" sz="1850" dirty="0" smtClean="0"/>
              <a:t>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850" dirty="0" smtClean="0"/>
              <a:t> Clé symétrique générée par les deux extrémités; pas nécessaire de la transmettre.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850" b="1" dirty="0" smtClean="0"/>
              <a:t> Procédure :</a:t>
            </a: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850" dirty="0" smtClean="0"/>
              <a:t> Alice et Bob ont choisi un </a:t>
            </a:r>
            <a:r>
              <a:rPr lang="fr-FR" sz="1850" b="1" dirty="0" smtClean="0">
                <a:solidFill>
                  <a:srgbClr val="0070C0"/>
                </a:solidFill>
              </a:rPr>
              <a:t>groupe de nombres </a:t>
            </a:r>
            <a:r>
              <a:rPr lang="fr-FR" sz="1850" dirty="0" smtClean="0"/>
              <a:t>et une </a:t>
            </a:r>
            <a:r>
              <a:rPr lang="fr-FR" sz="1850" b="1" dirty="0" smtClean="0">
                <a:solidFill>
                  <a:srgbClr val="0070C0"/>
                </a:solidFill>
              </a:rPr>
              <a:t>génératrice g</a:t>
            </a:r>
            <a:r>
              <a:rPr lang="fr-FR" sz="1850" b="1" dirty="0" smtClean="0"/>
              <a:t> </a:t>
            </a:r>
            <a:r>
              <a:rPr lang="fr-FR" sz="1850" dirty="0" smtClean="0"/>
              <a:t>de ce groupe,</a:t>
            </a: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850" dirty="0" smtClean="0"/>
              <a:t> Alice choisit un </a:t>
            </a:r>
            <a:r>
              <a:rPr lang="fr-FR" sz="1850" b="1" dirty="0" smtClean="0">
                <a:solidFill>
                  <a:srgbClr val="0070C0"/>
                </a:solidFill>
              </a:rPr>
              <a:t>nombre au hasard a</a:t>
            </a:r>
            <a:r>
              <a:rPr lang="fr-FR" sz="1850" dirty="0" smtClean="0"/>
              <a:t>, élève g à la puissance a, et </a:t>
            </a:r>
            <a:r>
              <a:rPr lang="fr-FR" sz="1850" b="1" dirty="0" smtClean="0">
                <a:solidFill>
                  <a:schemeClr val="accent6"/>
                </a:solidFill>
              </a:rPr>
              <a:t>transmet </a:t>
            </a:r>
            <a:r>
              <a:rPr lang="fr-FR" sz="1850" b="1" dirty="0" err="1" smtClean="0">
                <a:solidFill>
                  <a:schemeClr val="accent6"/>
                </a:solidFill>
              </a:rPr>
              <a:t>g</a:t>
            </a:r>
            <a:r>
              <a:rPr lang="fr-FR" sz="1850" b="1" baseline="30000" dirty="0" err="1" smtClean="0">
                <a:solidFill>
                  <a:schemeClr val="accent6"/>
                </a:solidFill>
              </a:rPr>
              <a:t>a</a:t>
            </a:r>
            <a:r>
              <a:rPr lang="fr-FR" sz="1850" b="1" dirty="0" smtClean="0">
                <a:solidFill>
                  <a:schemeClr val="accent6"/>
                </a:solidFill>
              </a:rPr>
              <a:t> </a:t>
            </a:r>
            <a:r>
              <a:rPr lang="fr-FR" sz="1850" dirty="0" smtClean="0"/>
              <a:t>à Bob,</a:t>
            </a: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850" dirty="0" smtClean="0"/>
              <a:t> Bob fait de même avec le </a:t>
            </a:r>
            <a:r>
              <a:rPr lang="fr-FR" sz="1850" b="1" dirty="0" smtClean="0">
                <a:solidFill>
                  <a:srgbClr val="0070C0"/>
                </a:solidFill>
              </a:rPr>
              <a:t>nombre b</a:t>
            </a:r>
            <a:r>
              <a:rPr lang="fr-FR" sz="1850" dirty="0" smtClean="0"/>
              <a:t> et </a:t>
            </a:r>
            <a:r>
              <a:rPr lang="fr-FR" sz="1850" b="1" dirty="0" smtClean="0">
                <a:solidFill>
                  <a:schemeClr val="accent6"/>
                </a:solidFill>
              </a:rPr>
              <a:t>transmet </a:t>
            </a:r>
            <a:r>
              <a:rPr lang="fr-FR" sz="1850" b="1" dirty="0" err="1" smtClean="0">
                <a:solidFill>
                  <a:schemeClr val="accent6"/>
                </a:solidFill>
              </a:rPr>
              <a:t>g</a:t>
            </a:r>
            <a:r>
              <a:rPr lang="fr-FR" sz="1850" b="1" baseline="30000" dirty="0" err="1" smtClean="0">
                <a:solidFill>
                  <a:schemeClr val="accent6"/>
                </a:solidFill>
              </a:rPr>
              <a:t>b</a:t>
            </a:r>
            <a:r>
              <a:rPr lang="fr-FR" sz="1850" b="1" dirty="0" smtClean="0"/>
              <a:t> </a:t>
            </a:r>
            <a:r>
              <a:rPr lang="fr-FR" sz="1850" dirty="0" smtClean="0"/>
              <a:t>à Alice,</a:t>
            </a: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850" dirty="0" smtClean="0"/>
              <a:t> Alice, en élevant le nombre reçu de Bob à la puissance a, obtient </a:t>
            </a:r>
          </a:p>
          <a:p>
            <a:pPr>
              <a:lnSpc>
                <a:spcPct val="150000"/>
              </a:lnSpc>
            </a:pPr>
            <a:r>
              <a:rPr lang="fr-FR" sz="1850" b="1" dirty="0" err="1" smtClean="0">
                <a:solidFill>
                  <a:srgbClr val="C00000"/>
                </a:solidFill>
              </a:rPr>
              <a:t>g</a:t>
            </a:r>
            <a:r>
              <a:rPr lang="fr-FR" sz="1850" b="1" baseline="30000" dirty="0" err="1" smtClean="0">
                <a:solidFill>
                  <a:srgbClr val="C00000"/>
                </a:solidFill>
              </a:rPr>
              <a:t>ba</a:t>
            </a:r>
            <a:r>
              <a:rPr lang="fr-FR" sz="1850" dirty="0" smtClean="0"/>
              <a:t> qui est la clé K ,</a:t>
            </a: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850" dirty="0" smtClean="0"/>
              <a:t> Bob fait le calcul analogue et obtient </a:t>
            </a:r>
            <a:r>
              <a:rPr lang="fr-FR" sz="1850" b="1" dirty="0" err="1" smtClean="0">
                <a:solidFill>
                  <a:srgbClr val="C00000"/>
                </a:solidFill>
              </a:rPr>
              <a:t>g</a:t>
            </a:r>
            <a:r>
              <a:rPr lang="fr-FR" sz="1850" b="1" baseline="30000" dirty="0" err="1" smtClean="0">
                <a:solidFill>
                  <a:srgbClr val="C00000"/>
                </a:solidFill>
              </a:rPr>
              <a:t>ab</a:t>
            </a:r>
            <a:r>
              <a:rPr lang="fr-FR" sz="1850" dirty="0" smtClean="0"/>
              <a:t>, et donc la même clé K .</a:t>
            </a:r>
            <a:endParaRPr lang="fr-FR" sz="1850" dirty="0"/>
          </a:p>
        </p:txBody>
      </p:sp>
    </p:spTree>
    <p:extLst>
      <p:ext uri="{BB962C8B-B14F-4D97-AF65-F5344CB8AC3E}">
        <p14:creationId xmlns:p14="http://schemas.microsoft.com/office/powerpoint/2010/main" val="1804394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000" dirty="0">
                <a:solidFill>
                  <a:srgbClr val="FF0000"/>
                </a:solidFill>
              </a:rPr>
              <a:t>Protocole de </a:t>
            </a:r>
            <a:r>
              <a:rPr lang="fr-FR" sz="2000" dirty="0" err="1" smtClean="0">
                <a:solidFill>
                  <a:srgbClr val="FF0000"/>
                </a:solidFill>
              </a:rPr>
              <a:t>Diffie-Hellman</a:t>
            </a:r>
            <a:r>
              <a:rPr lang="fr-FR" sz="2000" dirty="0" smtClean="0">
                <a:solidFill>
                  <a:srgbClr val="FF0000"/>
                </a:solidFill>
              </a:rPr>
              <a:t>: Introduction: Historique</a:t>
            </a:r>
            <a:endParaRPr lang="fr-FR" sz="2000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-14288" y="1397621"/>
            <a:ext cx="912279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300" dirty="0" smtClean="0"/>
              <a:t>On </a:t>
            </a:r>
            <a:r>
              <a:rPr lang="fr-FR" sz="2300" dirty="0"/>
              <a:t>considère généralement que la cryptographie moderne est née </a:t>
            </a:r>
            <a:r>
              <a:rPr lang="fr-FR" sz="2300" dirty="0" smtClean="0"/>
              <a:t>en 1976 </a:t>
            </a:r>
            <a:r>
              <a:rPr lang="fr-FR" sz="2300" dirty="0"/>
              <a:t>avec la parution de l’article de </a:t>
            </a:r>
            <a:r>
              <a:rPr lang="fr-FR" sz="2300" dirty="0" err="1"/>
              <a:t>Diffie</a:t>
            </a:r>
            <a:r>
              <a:rPr lang="fr-FR" sz="2300" dirty="0"/>
              <a:t> et </a:t>
            </a:r>
            <a:r>
              <a:rPr lang="fr-FR" sz="2300" dirty="0" err="1"/>
              <a:t>Hellman</a:t>
            </a:r>
            <a:r>
              <a:rPr lang="fr-FR" sz="2300" dirty="0"/>
              <a:t> intitulé : “</a:t>
            </a:r>
            <a:r>
              <a:rPr lang="fr-FR" sz="2300" dirty="0" smtClean="0"/>
              <a:t>New directions </a:t>
            </a:r>
            <a:r>
              <a:rPr lang="fr-FR" sz="2300" dirty="0"/>
              <a:t>in </a:t>
            </a:r>
            <a:r>
              <a:rPr lang="fr-FR" sz="2300" dirty="0" err="1"/>
              <a:t>cryptography</a:t>
            </a:r>
            <a:r>
              <a:rPr lang="fr-FR" sz="2300" dirty="0" smtClean="0"/>
              <a:t>”.</a:t>
            </a:r>
          </a:p>
          <a:p>
            <a:endParaRPr lang="fr-FR" sz="2300" dirty="0"/>
          </a:p>
          <a:p>
            <a:r>
              <a:rPr lang="fr-FR" sz="2300" dirty="0"/>
              <a:t>Le problème que ces deux auteurs résolvent, et que l’on </a:t>
            </a:r>
            <a:r>
              <a:rPr lang="fr-FR" sz="2300" dirty="0" smtClean="0"/>
              <a:t>pensait insoluble </a:t>
            </a:r>
            <a:r>
              <a:rPr lang="fr-FR" sz="2300" dirty="0"/>
              <a:t>jusqu’alors, est </a:t>
            </a:r>
            <a:r>
              <a:rPr lang="fr-FR" sz="2300" b="1" dirty="0">
                <a:solidFill>
                  <a:schemeClr val="accent1">
                    <a:lumMod val="75000"/>
                  </a:schemeClr>
                </a:solidFill>
              </a:rPr>
              <a:t>le partage d’un secret </a:t>
            </a:r>
            <a:r>
              <a:rPr lang="fr-FR" sz="2300" dirty="0"/>
              <a:t>entre deux </a:t>
            </a:r>
            <a:r>
              <a:rPr lang="fr-FR" sz="2300" b="1" dirty="0"/>
              <a:t>entités</a:t>
            </a:r>
            <a:r>
              <a:rPr lang="fr-FR" sz="2300" dirty="0"/>
              <a:t> </a:t>
            </a:r>
            <a:r>
              <a:rPr lang="fr-FR" sz="2300" dirty="0" smtClean="0"/>
              <a:t>à travers </a:t>
            </a:r>
            <a:r>
              <a:rPr lang="fr-FR" sz="2300" dirty="0"/>
              <a:t>un canal non sécurisé.</a:t>
            </a:r>
          </a:p>
          <a:p>
            <a:r>
              <a:rPr lang="fr-FR" sz="2300" dirty="0"/>
              <a:t>Plus précisément, supposons que nos amis </a:t>
            </a:r>
            <a:r>
              <a:rPr lang="fr-FR" sz="2300" b="1" dirty="0"/>
              <a:t>Alice et Bob </a:t>
            </a:r>
            <a:r>
              <a:rPr lang="fr-FR" sz="2300" dirty="0" smtClean="0"/>
              <a:t>veuillent échanger </a:t>
            </a:r>
            <a:r>
              <a:rPr lang="fr-FR" sz="2300" dirty="0"/>
              <a:t>des données confidentielles à travers un canal non </a:t>
            </a:r>
            <a:r>
              <a:rPr lang="fr-FR" sz="2300" dirty="0" smtClean="0"/>
              <a:t>sécurisé, comme </a:t>
            </a:r>
            <a:r>
              <a:rPr lang="fr-FR" sz="2300" dirty="0"/>
              <a:t>l’internet public par exemple. Ils devront au préalable </a:t>
            </a:r>
            <a:r>
              <a:rPr lang="fr-FR" sz="2300" b="1" dirty="0" smtClean="0"/>
              <a:t>se mettre </a:t>
            </a:r>
            <a:r>
              <a:rPr lang="fr-FR" sz="2300" b="1" dirty="0"/>
              <a:t>d’accord publiquement sur un protocole de </a:t>
            </a:r>
            <a:r>
              <a:rPr lang="fr-FR" sz="2300" b="1" dirty="0" smtClean="0"/>
              <a:t>communication permettant </a:t>
            </a:r>
            <a:r>
              <a:rPr lang="fr-FR" sz="2300" b="1" dirty="0"/>
              <a:t>un tel échange</a:t>
            </a:r>
            <a:r>
              <a:rPr lang="fr-FR" sz="2300" dirty="0"/>
              <a:t>.</a:t>
            </a:r>
          </a:p>
          <a:p>
            <a:r>
              <a:rPr lang="fr-FR" sz="2300" dirty="0"/>
              <a:t>Ce qui est étonnant, c’est qu’un tel protocole existe et en outre </a:t>
            </a:r>
            <a:r>
              <a:rPr lang="fr-FR" sz="2300" dirty="0" smtClean="0"/>
              <a:t>soit simple</a:t>
            </a:r>
            <a:r>
              <a:rPr lang="fr-FR" sz="2300" dirty="0"/>
              <a:t>. Il est fondé sur l’exponentielle discrète.</a:t>
            </a:r>
          </a:p>
        </p:txBody>
      </p:sp>
    </p:spTree>
    <p:extLst>
      <p:ext uri="{BB962C8B-B14F-4D97-AF65-F5344CB8AC3E}">
        <p14:creationId xmlns:p14="http://schemas.microsoft.com/office/powerpoint/2010/main" val="289118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000" dirty="0">
                <a:solidFill>
                  <a:srgbClr val="FF0000"/>
                </a:solidFill>
              </a:rPr>
              <a:t>Protocole de </a:t>
            </a:r>
            <a:r>
              <a:rPr lang="fr-FR" sz="2000" dirty="0" err="1" smtClean="0">
                <a:solidFill>
                  <a:srgbClr val="FF0000"/>
                </a:solidFill>
              </a:rPr>
              <a:t>Diffie-Hellman</a:t>
            </a:r>
            <a:r>
              <a:rPr lang="fr-FR" sz="2000" dirty="0" smtClean="0">
                <a:solidFill>
                  <a:srgbClr val="FF0000"/>
                </a:solidFill>
              </a:rPr>
              <a:t>: Introduction</a:t>
            </a:r>
          </a:p>
          <a:p>
            <a:r>
              <a:rPr lang="fr-FR" sz="2000" b="1" dirty="0"/>
              <a:t>Schéma du protocole</a:t>
            </a:r>
            <a:endParaRPr lang="fr-FR" sz="2000" b="1" dirty="0">
              <a:solidFill>
                <a:srgbClr val="FF000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88840"/>
            <a:ext cx="7821310" cy="332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3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asymétrique</a:t>
            </a:r>
          </a:p>
          <a:p>
            <a:r>
              <a:rPr lang="fr-FR" sz="2000" dirty="0" smtClean="0">
                <a:solidFill>
                  <a:srgbClr val="FF0000"/>
                </a:solidFill>
              </a:rPr>
              <a:t>Protocole </a:t>
            </a:r>
            <a:r>
              <a:rPr lang="fr-FR" sz="2000" dirty="0">
                <a:solidFill>
                  <a:srgbClr val="FF0000"/>
                </a:solidFill>
              </a:rPr>
              <a:t>de </a:t>
            </a:r>
            <a:r>
              <a:rPr lang="fr-FR" sz="2000" dirty="0" err="1" smtClean="0">
                <a:solidFill>
                  <a:srgbClr val="FF0000"/>
                </a:solidFill>
              </a:rPr>
              <a:t>Diffie-Hellman</a:t>
            </a:r>
            <a:r>
              <a:rPr lang="fr-FR" sz="2000" dirty="0" smtClean="0">
                <a:solidFill>
                  <a:srgbClr val="FF0000"/>
                </a:solidFill>
              </a:rPr>
              <a:t>: </a:t>
            </a:r>
            <a:r>
              <a:rPr lang="fr-FR" sz="2000" dirty="0">
                <a:solidFill>
                  <a:schemeClr val="accent6"/>
                </a:solidFill>
              </a:rPr>
              <a:t>La notion de </a:t>
            </a:r>
            <a:r>
              <a:rPr lang="fr-FR" sz="2000" dirty="0" smtClean="0">
                <a:solidFill>
                  <a:schemeClr val="accent6"/>
                </a:solidFill>
              </a:rPr>
              <a:t>groupe 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29956"/>
            <a:ext cx="8498049" cy="502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8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000" dirty="0">
                <a:solidFill>
                  <a:srgbClr val="FF0000"/>
                </a:solidFill>
              </a:rPr>
              <a:t>Protocole de </a:t>
            </a:r>
            <a:r>
              <a:rPr lang="fr-FR" sz="2000" dirty="0" err="1" smtClean="0">
                <a:solidFill>
                  <a:srgbClr val="FF0000"/>
                </a:solidFill>
              </a:rPr>
              <a:t>Diffie-Hellman</a:t>
            </a:r>
            <a:r>
              <a:rPr lang="fr-FR" sz="2000" dirty="0" smtClean="0">
                <a:solidFill>
                  <a:srgbClr val="FF0000"/>
                </a:solidFill>
              </a:rPr>
              <a:t>: </a:t>
            </a:r>
            <a:r>
              <a:rPr lang="fr-FR" sz="2000" dirty="0" smtClean="0"/>
              <a:t>La </a:t>
            </a:r>
            <a:r>
              <a:rPr lang="fr-FR" sz="2000" dirty="0"/>
              <a:t>notion de groupe </a:t>
            </a:r>
          </a:p>
          <a:p>
            <a:r>
              <a:rPr lang="fr-FR" sz="2000" dirty="0">
                <a:solidFill>
                  <a:schemeClr val="accent6"/>
                </a:solidFill>
              </a:rPr>
              <a:t>Exemples de </a:t>
            </a:r>
            <a:r>
              <a:rPr lang="fr-FR" sz="2000" dirty="0" smtClean="0">
                <a:solidFill>
                  <a:schemeClr val="accent6"/>
                </a:solidFill>
              </a:rPr>
              <a:t>groupes</a:t>
            </a:r>
            <a:endParaRPr lang="fr-FR" sz="2000" dirty="0">
              <a:solidFill>
                <a:schemeClr val="accent6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618236"/>
            <a:ext cx="8043540" cy="487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8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000" dirty="0">
                <a:solidFill>
                  <a:srgbClr val="FF0000"/>
                </a:solidFill>
              </a:rPr>
              <a:t>Protocole de </a:t>
            </a:r>
            <a:r>
              <a:rPr lang="fr-FR" sz="2000" dirty="0" err="1" smtClean="0">
                <a:solidFill>
                  <a:srgbClr val="FF0000"/>
                </a:solidFill>
              </a:rPr>
              <a:t>Diffie-Hellman</a:t>
            </a:r>
            <a:r>
              <a:rPr lang="fr-FR" sz="2000" dirty="0" smtClean="0">
                <a:solidFill>
                  <a:srgbClr val="FF0000"/>
                </a:solidFill>
              </a:rPr>
              <a:t>: </a:t>
            </a:r>
            <a:r>
              <a:rPr lang="fr-FR" sz="2000" dirty="0"/>
              <a:t>Le groupe ((</a:t>
            </a:r>
            <a:r>
              <a:rPr lang="fr-FR" sz="2000" dirty="0" smtClean="0"/>
              <a:t>Z/5Z)*, . )</a:t>
            </a:r>
            <a:endParaRPr lang="fr-FR" sz="2000" dirty="0">
              <a:solidFill>
                <a:schemeClr val="accent6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9" y="1338714"/>
            <a:ext cx="9011545" cy="512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8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Protocole </a:t>
            </a: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lang="fr-FR" sz="24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Diffie-Hellman</a:t>
            </a:r>
            <a:r>
              <a:rPr lang="fr-FR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Logarithme Discret</a:t>
            </a:r>
            <a:endParaRPr lang="fr-FR" sz="2400" b="1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Robustesse 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du </a:t>
            </a:r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protocole</a:t>
            </a:r>
            <a:endParaRPr lang="fr-FR" sz="24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llipse 1"/>
          <p:cNvSpPr/>
          <p:nvPr/>
        </p:nvSpPr>
        <p:spPr>
          <a:xfrm>
            <a:off x="395536" y="3302336"/>
            <a:ext cx="2160240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Alice</a:t>
            </a:r>
          </a:p>
        </p:txBody>
      </p:sp>
      <p:sp>
        <p:nvSpPr>
          <p:cNvPr id="8" name="Ellipse 7"/>
          <p:cNvSpPr/>
          <p:nvPr/>
        </p:nvSpPr>
        <p:spPr>
          <a:xfrm>
            <a:off x="6529029" y="3248980"/>
            <a:ext cx="2160240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2">
                    <a:lumMod val="75000"/>
                  </a:schemeClr>
                </a:solidFill>
              </a:rPr>
              <a:t>Bob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1677392" y="1450072"/>
            <a:ext cx="5760640" cy="528869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 qui est </a:t>
            </a:r>
            <a:r>
              <a:rPr lang="fr-FR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400" dirty="0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G, .) </a:t>
            </a:r>
            <a:r>
              <a:rPr lang="fr-FR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dirty="0" smtClean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Є G d’ordre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395536" y="2163997"/>
            <a:ext cx="2296834" cy="648072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Alice choisit</a:t>
            </a:r>
          </a:p>
          <a:p>
            <a:pPr algn="ctr"/>
            <a:r>
              <a:rPr lang="fr-FR" sz="20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dirty="0" smtClea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fr-FR" sz="20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Є</a:t>
            </a:r>
            <a:r>
              <a:rPr lang="fr-FR" sz="2000" b="1" dirty="0" smtClea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]0,p[ </a:t>
            </a:r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secret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6260051" y="2120943"/>
            <a:ext cx="2429218" cy="648072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accent4"/>
                </a:solidFill>
              </a:rPr>
              <a:t>Bob </a:t>
            </a:r>
            <a:r>
              <a:rPr lang="fr-FR" sz="2000" b="1" dirty="0">
                <a:solidFill>
                  <a:schemeClr val="accent4"/>
                </a:solidFill>
              </a:rPr>
              <a:t>choisit</a:t>
            </a:r>
          </a:p>
          <a:p>
            <a:pPr algn="ctr"/>
            <a:r>
              <a:rPr lang="fr-FR" sz="2000" b="1" dirty="0">
                <a:solidFill>
                  <a:schemeClr val="accent4"/>
                </a:solidFill>
              </a:rPr>
              <a:t> </a:t>
            </a:r>
            <a:r>
              <a:rPr lang="fr-FR" sz="2000" b="1" dirty="0" smtClean="0">
                <a:solidFill>
                  <a:schemeClr val="accent4"/>
                </a:solidFill>
              </a:rPr>
              <a:t>b </a:t>
            </a:r>
            <a:r>
              <a:rPr lang="fr-FR" sz="2000" b="1" dirty="0">
                <a:solidFill>
                  <a:schemeClr val="accent4"/>
                </a:solidFill>
              </a:rPr>
              <a:t>Є</a:t>
            </a:r>
            <a:r>
              <a:rPr lang="fr-FR" sz="2000" b="1" dirty="0" smtClean="0">
                <a:solidFill>
                  <a:schemeClr val="accent4"/>
                </a:solidFill>
              </a:rPr>
              <a:t> ]0,p[ </a:t>
            </a:r>
            <a:r>
              <a:rPr lang="fr-FR" sz="2000" b="1" dirty="0">
                <a:solidFill>
                  <a:srgbClr val="FF0000"/>
                </a:solidFill>
              </a:rPr>
              <a:t>secret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971600" y="4725144"/>
            <a:ext cx="2103286" cy="43993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Alice calcule </a:t>
            </a:r>
            <a:r>
              <a:rPr lang="fr-FR" sz="2000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000" b="1" baseline="30000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fr-FR" sz="2000" b="1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6057297" y="4725144"/>
            <a:ext cx="2103286" cy="43993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 </a:t>
            </a:r>
            <a:r>
              <a:rPr lang="fr-FR" b="1" dirty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calcule </a:t>
            </a:r>
            <a:r>
              <a:rPr lang="fr-FR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b="1" baseline="30000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fr-FR" b="1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Connecteur en arc 16"/>
          <p:cNvCxnSpPr/>
          <p:nvPr/>
        </p:nvCxnSpPr>
        <p:spPr>
          <a:xfrm rot="5400000" flipH="1" flipV="1">
            <a:off x="4515725" y="208912"/>
            <a:ext cx="53356" cy="6133493"/>
          </a:xfrm>
          <a:prstGeom prst="curvedConnector3">
            <a:avLst>
              <a:gd name="adj1" fmla="val 11081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4283968" y="2236802"/>
            <a:ext cx="597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400" b="1" baseline="30000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fr-F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6" name="Connecteur en arc 35"/>
          <p:cNvCxnSpPr>
            <a:stCxn id="8" idx="4"/>
            <a:endCxn id="2" idx="4"/>
          </p:cNvCxnSpPr>
          <p:nvPr/>
        </p:nvCxnSpPr>
        <p:spPr>
          <a:xfrm rot="5400000">
            <a:off x="4515725" y="1073008"/>
            <a:ext cx="53356" cy="6133493"/>
          </a:xfrm>
          <a:prstGeom prst="curvedConnector3">
            <a:avLst>
              <a:gd name="adj1" fmla="val 5284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4233676" y="4446925"/>
            <a:ext cx="6480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400" b="1" baseline="30000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fr-FR" sz="2400" b="1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/>
          </a:p>
        </p:txBody>
      </p:sp>
      <p:sp>
        <p:nvSpPr>
          <p:cNvPr id="40" name="Rectangle à coins arrondis 39"/>
          <p:cNvSpPr/>
          <p:nvPr/>
        </p:nvSpPr>
        <p:spPr>
          <a:xfrm>
            <a:off x="971600" y="5338513"/>
            <a:ext cx="2520280" cy="43993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dirty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Alice calcule </a:t>
            </a:r>
            <a:r>
              <a:rPr lang="fr-FR" sz="2200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200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200" b="1" baseline="30000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fr-FR" sz="2200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l-GR" sz="2200" b="1" baseline="30000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200" b="1" baseline="30000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fr-FR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baseline="30000" dirty="0" smtClean="0"/>
              <a:t>)</a:t>
            </a:r>
            <a:endParaRPr lang="fr-FR" baseline="30000" dirty="0"/>
          </a:p>
        </p:txBody>
      </p:sp>
      <p:sp>
        <p:nvSpPr>
          <p:cNvPr id="41" name="Rectangle à coins arrondis 40"/>
          <p:cNvSpPr/>
          <p:nvPr/>
        </p:nvSpPr>
        <p:spPr>
          <a:xfrm>
            <a:off x="5972019" y="5344863"/>
            <a:ext cx="2520280" cy="43993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 </a:t>
            </a:r>
            <a:r>
              <a:rPr lang="fr-FR" sz="2000" b="1" dirty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calcule </a:t>
            </a:r>
            <a:r>
              <a:rPr lang="fr-FR" sz="2000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(g</a:t>
            </a:r>
            <a:r>
              <a:rPr lang="el-GR" sz="2000" b="1" baseline="30000" dirty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baseline="30000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fr-FR" sz="2000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l-GR" sz="2000" b="1" baseline="30000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baseline="30000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fr-FR" sz="2000" b="1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baseline="30000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fr-FR" sz="2000" b="1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99792" y="3138900"/>
            <a:ext cx="3600400" cy="504614"/>
          </a:xfrm>
          <a:prstGeom prst="rect">
            <a:avLst/>
          </a:prstGeom>
          <a:solidFill>
            <a:srgbClr val="FBE7CD"/>
          </a:solidFill>
          <a:ln>
            <a:solidFill>
              <a:srgbClr val="FBE7CD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Le secret partagé est </a:t>
            </a:r>
            <a:r>
              <a:rPr lang="fr-FR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 </a:t>
            </a:r>
            <a:r>
              <a:rPr lang="fr-FR" sz="2400" b="1" baseline="300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</a:t>
            </a:r>
            <a:endParaRPr lang="fr-FR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91881" y="5338513"/>
            <a:ext cx="2480138" cy="4462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fr-FR" sz="3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l-GR" sz="3200" baseline="300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baseline="300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 </a:t>
            </a:r>
            <a:r>
              <a:rPr lang="fr-FR" sz="32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lang="fr-FR" sz="3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13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5" grpId="0" animBg="1"/>
      <p:bldP spid="11" grpId="0" animBg="1"/>
      <p:bldP spid="13" grpId="0" animBg="1"/>
      <p:bldP spid="14" grpId="0" animBg="1"/>
      <p:bldP spid="15" grpId="0" animBg="1"/>
      <p:bldP spid="19" grpId="0"/>
      <p:bldP spid="38" grpId="0"/>
      <p:bldP spid="40" grpId="0" animBg="1"/>
      <p:bldP spid="41" grpId="0" animBg="1"/>
      <p:bldP spid="43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Protocole </a:t>
            </a:r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lang="fr-FR" sz="20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Diffie-Hellman</a:t>
            </a:r>
            <a:r>
              <a:rPr lang="fr-FR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2000" b="1" dirty="0">
                <a:latin typeface="Calibri" panose="020F0502020204030204" pitchFamily="34" charset="0"/>
                <a:cs typeface="Calibri" panose="020F0502020204030204" pitchFamily="34" charset="0"/>
              </a:rPr>
              <a:t>Logarithme Discret</a:t>
            </a:r>
            <a:endParaRPr lang="fr-FR" sz="2000" b="1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Robustesse </a:t>
            </a:r>
            <a:r>
              <a:rPr lang="fr-FR" sz="2000" b="1" dirty="0">
                <a:latin typeface="Calibri" panose="020F0502020204030204" pitchFamily="34" charset="0"/>
                <a:cs typeface="Calibri" panose="020F0502020204030204" pitchFamily="34" charset="0"/>
              </a:rPr>
              <a:t>du </a:t>
            </a:r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protocole</a:t>
            </a:r>
            <a:endParaRPr lang="fr-FR" sz="20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41888"/>
            <a:ext cx="8760762" cy="527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34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Protocole </a:t>
            </a:r>
            <a:r>
              <a:rPr lang="fr-FR" sz="2400" b="1" dirty="0">
                <a:solidFill>
                  <a:srgbClr val="FF0000"/>
                </a:solidFill>
              </a:rPr>
              <a:t>de </a:t>
            </a:r>
            <a:r>
              <a:rPr lang="fr-FR" sz="2400" b="1" dirty="0" err="1" smtClean="0">
                <a:solidFill>
                  <a:srgbClr val="FF0000"/>
                </a:solidFill>
              </a:rPr>
              <a:t>Diffie-Hellman</a:t>
            </a:r>
            <a:r>
              <a:rPr lang="fr-FR" sz="2400" b="1" dirty="0" smtClean="0">
                <a:solidFill>
                  <a:srgbClr val="FF0000"/>
                </a:solidFill>
              </a:rPr>
              <a:t> : </a:t>
            </a:r>
            <a:r>
              <a:rPr lang="fr-FR" sz="2400" b="1" dirty="0"/>
              <a:t>Logarithme Discret</a:t>
            </a:r>
            <a:endParaRPr lang="fr-FR" sz="2400" b="1" dirty="0" smtClean="0">
              <a:solidFill>
                <a:srgbClr val="FF0000"/>
              </a:solidFill>
            </a:endParaRPr>
          </a:p>
          <a:p>
            <a:r>
              <a:rPr lang="fr-FR" sz="2400" b="1" dirty="0" smtClean="0">
                <a:solidFill>
                  <a:srgbClr val="C00000"/>
                </a:solidFill>
              </a:rPr>
              <a:t>Remarque:</a:t>
            </a:r>
            <a:endParaRPr lang="fr-FR" sz="2400" b="1" dirty="0">
              <a:solidFill>
                <a:srgbClr val="C00000"/>
              </a:solidFill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" y="1498825"/>
            <a:ext cx="8950200" cy="132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000" dirty="0">
                <a:solidFill>
                  <a:srgbClr val="FF0000"/>
                </a:solidFill>
              </a:rPr>
              <a:t>Protocole de </a:t>
            </a:r>
            <a:r>
              <a:rPr lang="fr-FR" sz="2000" dirty="0" err="1" smtClean="0">
                <a:solidFill>
                  <a:srgbClr val="FF0000"/>
                </a:solidFill>
              </a:rPr>
              <a:t>Diffie-Hellman</a:t>
            </a:r>
            <a:r>
              <a:rPr lang="fr-FR" sz="2000" dirty="0" smtClean="0">
                <a:solidFill>
                  <a:srgbClr val="FF0000"/>
                </a:solidFill>
              </a:rPr>
              <a:t>: </a:t>
            </a:r>
            <a:r>
              <a:rPr lang="fr-FR" sz="2000" dirty="0" smtClean="0"/>
              <a:t>exemple</a:t>
            </a:r>
            <a:endParaRPr lang="fr-FR" sz="2000" dirty="0">
              <a:solidFill>
                <a:schemeClr val="accent6"/>
              </a:solidFill>
            </a:endParaRPr>
          </a:p>
        </p:txBody>
      </p:sp>
      <p:sp>
        <p:nvSpPr>
          <p:cNvPr id="2" name="Ellipse 1"/>
          <p:cNvSpPr/>
          <p:nvPr/>
        </p:nvSpPr>
        <p:spPr>
          <a:xfrm>
            <a:off x="539552" y="1369163"/>
            <a:ext cx="1512168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2">
                    <a:lumMod val="50000"/>
                  </a:schemeClr>
                </a:solidFill>
              </a:rPr>
              <a:t>Alice</a:t>
            </a:r>
          </a:p>
          <a:p>
            <a:pPr algn="ctr"/>
            <a:r>
              <a:rPr lang="fr-FR" b="1" dirty="0" smtClean="0">
                <a:solidFill>
                  <a:srgbClr val="C00000"/>
                </a:solidFill>
              </a:rPr>
              <a:t>a=4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6948264" y="1315953"/>
            <a:ext cx="1368152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 smtClean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fr-FR" b="1" dirty="0" smtClean="0">
                <a:solidFill>
                  <a:schemeClr val="bg2">
                    <a:lumMod val="75000"/>
                  </a:schemeClr>
                </a:solidFill>
              </a:rPr>
              <a:t>Bob</a:t>
            </a:r>
          </a:p>
          <a:p>
            <a:pPr algn="ctr"/>
            <a:r>
              <a:rPr lang="fr-FR" b="1" dirty="0">
                <a:solidFill>
                  <a:srgbClr val="C00000"/>
                </a:solidFill>
              </a:rPr>
              <a:t>b=3</a:t>
            </a:r>
          </a:p>
          <a:p>
            <a:pPr algn="ctr"/>
            <a:endParaRPr lang="fr-FR" b="1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7" name="Connecteur droit 6"/>
          <p:cNvCxnSpPr/>
          <p:nvPr/>
        </p:nvCxnSpPr>
        <p:spPr>
          <a:xfrm>
            <a:off x="755576" y="2144898"/>
            <a:ext cx="36004" cy="3860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7092280" y="2019206"/>
            <a:ext cx="36004" cy="3841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059832" y="1369163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C00000"/>
                </a:solidFill>
              </a:rPr>
              <a:t>g=5, p=23</a:t>
            </a:r>
          </a:p>
        </p:txBody>
      </p:sp>
    </p:spTree>
    <p:extLst>
      <p:ext uri="{BB962C8B-B14F-4D97-AF65-F5344CB8AC3E}">
        <p14:creationId xmlns:p14="http://schemas.microsoft.com/office/powerpoint/2010/main" val="241297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000" dirty="0">
                <a:solidFill>
                  <a:srgbClr val="FF0000"/>
                </a:solidFill>
              </a:rPr>
              <a:t>Protocole de </a:t>
            </a:r>
            <a:r>
              <a:rPr lang="fr-FR" sz="2000" dirty="0" err="1" smtClean="0">
                <a:solidFill>
                  <a:srgbClr val="FF0000"/>
                </a:solidFill>
              </a:rPr>
              <a:t>Diffie-Hellman</a:t>
            </a:r>
            <a:r>
              <a:rPr lang="fr-FR" sz="2000" dirty="0" smtClean="0">
                <a:solidFill>
                  <a:srgbClr val="FF0000"/>
                </a:solidFill>
              </a:rPr>
              <a:t>: </a:t>
            </a:r>
            <a:r>
              <a:rPr lang="fr-FR" sz="2000" dirty="0" smtClean="0"/>
              <a:t>exemple</a:t>
            </a:r>
            <a:endParaRPr lang="fr-FR" sz="2000" dirty="0">
              <a:solidFill>
                <a:schemeClr val="accent6"/>
              </a:solidFill>
            </a:endParaRPr>
          </a:p>
        </p:txBody>
      </p:sp>
      <p:sp>
        <p:nvSpPr>
          <p:cNvPr id="2" name="Ellipse 1"/>
          <p:cNvSpPr/>
          <p:nvPr/>
        </p:nvSpPr>
        <p:spPr>
          <a:xfrm>
            <a:off x="539552" y="1369163"/>
            <a:ext cx="1512168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2">
                    <a:lumMod val="50000"/>
                  </a:schemeClr>
                </a:solidFill>
              </a:rPr>
              <a:t>Alice</a:t>
            </a:r>
          </a:p>
          <a:p>
            <a:pPr algn="ctr"/>
            <a:r>
              <a:rPr lang="fr-FR" b="1" dirty="0" smtClean="0">
                <a:solidFill>
                  <a:srgbClr val="C00000"/>
                </a:solidFill>
              </a:rPr>
              <a:t>a=4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6948264" y="1315953"/>
            <a:ext cx="1368152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 smtClean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fr-FR" b="1" dirty="0" smtClean="0">
                <a:solidFill>
                  <a:schemeClr val="bg2">
                    <a:lumMod val="75000"/>
                  </a:schemeClr>
                </a:solidFill>
              </a:rPr>
              <a:t>Bob</a:t>
            </a:r>
          </a:p>
          <a:p>
            <a:pPr algn="ctr"/>
            <a:r>
              <a:rPr lang="fr-FR" b="1" dirty="0">
                <a:solidFill>
                  <a:srgbClr val="C00000"/>
                </a:solidFill>
              </a:rPr>
              <a:t>b=3</a:t>
            </a:r>
          </a:p>
          <a:p>
            <a:pPr algn="ctr"/>
            <a:endParaRPr lang="fr-FR" b="1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7" name="Connecteur droit 6"/>
          <p:cNvCxnSpPr/>
          <p:nvPr/>
        </p:nvCxnSpPr>
        <p:spPr>
          <a:xfrm>
            <a:off x="755576" y="2144898"/>
            <a:ext cx="36004" cy="3860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7092280" y="2019206"/>
            <a:ext cx="36004" cy="3841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059832" y="1369163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C00000"/>
                </a:solidFill>
              </a:rPr>
              <a:t>g=5, p=23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791580" y="2420888"/>
            <a:ext cx="14761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g</a:t>
            </a:r>
            <a:r>
              <a:rPr lang="fr-FR" b="1" baseline="30000" dirty="0" err="1"/>
              <a:t>a</a:t>
            </a:r>
            <a:r>
              <a:rPr lang="fr-FR" b="1" dirty="0"/>
              <a:t> </a:t>
            </a:r>
            <a:r>
              <a:rPr lang="fr-FR" b="1" dirty="0" err="1"/>
              <a:t>mod</a:t>
            </a:r>
            <a:r>
              <a:rPr lang="fr-FR" b="1" dirty="0"/>
              <a:t> </a:t>
            </a:r>
            <a:r>
              <a:rPr lang="fr-FR" b="1" dirty="0" smtClean="0"/>
              <a:t>p</a:t>
            </a:r>
          </a:p>
          <a:p>
            <a:endParaRPr lang="fr-FR" b="1" dirty="0"/>
          </a:p>
          <a:p>
            <a:r>
              <a:rPr lang="fr-FR" b="1" dirty="0" smtClean="0"/>
              <a:t>5</a:t>
            </a:r>
            <a:r>
              <a:rPr lang="fr-FR" b="1" baseline="30000" dirty="0" smtClean="0"/>
              <a:t>4</a:t>
            </a:r>
            <a:r>
              <a:rPr lang="fr-FR" b="1" dirty="0" smtClean="0"/>
              <a:t> </a:t>
            </a:r>
            <a:r>
              <a:rPr lang="fr-FR" b="1" dirty="0" err="1" smtClean="0"/>
              <a:t>mod</a:t>
            </a:r>
            <a:r>
              <a:rPr lang="fr-FR" b="1" dirty="0" smtClean="0"/>
              <a:t> 23</a:t>
            </a:r>
          </a:p>
          <a:p>
            <a:r>
              <a:rPr lang="fr-FR" b="1" dirty="0" smtClean="0"/>
              <a:t>=4</a:t>
            </a:r>
            <a:endParaRPr lang="fr-FR" b="1" dirty="0"/>
          </a:p>
          <a:p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7128284" y="2348880"/>
            <a:ext cx="1476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/>
              <a:t>g</a:t>
            </a:r>
            <a:r>
              <a:rPr lang="fr-FR" b="1" baseline="30000" dirty="0" err="1" smtClean="0"/>
              <a:t>b</a:t>
            </a:r>
            <a:r>
              <a:rPr lang="fr-FR" b="1" dirty="0" smtClean="0"/>
              <a:t> </a:t>
            </a:r>
            <a:r>
              <a:rPr lang="fr-FR" b="1" dirty="0" err="1"/>
              <a:t>mod</a:t>
            </a:r>
            <a:r>
              <a:rPr lang="fr-FR" b="1" dirty="0"/>
              <a:t> </a:t>
            </a:r>
            <a:r>
              <a:rPr lang="fr-FR" b="1" dirty="0" smtClean="0"/>
              <a:t>p</a:t>
            </a:r>
          </a:p>
          <a:p>
            <a:endParaRPr lang="fr-FR" b="1" dirty="0"/>
          </a:p>
          <a:p>
            <a:r>
              <a:rPr lang="fr-FR" b="1" dirty="0" smtClean="0"/>
              <a:t>5</a:t>
            </a:r>
            <a:r>
              <a:rPr lang="fr-FR" b="1" baseline="30000" dirty="0" smtClean="0"/>
              <a:t>3</a:t>
            </a:r>
            <a:r>
              <a:rPr lang="fr-FR" b="1" dirty="0" smtClean="0"/>
              <a:t> </a:t>
            </a:r>
            <a:r>
              <a:rPr lang="fr-FR" b="1" dirty="0" err="1" smtClean="0"/>
              <a:t>mod</a:t>
            </a:r>
            <a:r>
              <a:rPr lang="fr-FR" b="1" dirty="0" smtClean="0"/>
              <a:t> 23</a:t>
            </a:r>
            <a:endParaRPr lang="fr-FR" b="1" dirty="0"/>
          </a:p>
          <a:p>
            <a:r>
              <a:rPr lang="fr-FR" b="1" dirty="0" smtClean="0"/>
              <a:t>=10</a:t>
            </a:r>
            <a:endParaRPr lang="fr-FR" b="1" dirty="0"/>
          </a:p>
        </p:txBody>
      </p:sp>
      <p:cxnSp>
        <p:nvCxnSpPr>
          <p:cNvPr id="15" name="Connecteur droit avec flèche 14"/>
          <p:cNvCxnSpPr/>
          <p:nvPr/>
        </p:nvCxnSpPr>
        <p:spPr>
          <a:xfrm>
            <a:off x="1115616" y="3429000"/>
            <a:ext cx="6012668" cy="645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H="1">
            <a:off x="755576" y="3338194"/>
            <a:ext cx="6480720" cy="457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787243" y="406778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10</a:t>
            </a:r>
            <a:r>
              <a:rPr lang="fr-FR" b="1" baseline="30000" dirty="0" smtClean="0">
                <a:solidFill>
                  <a:srgbClr val="C00000"/>
                </a:solidFill>
              </a:rPr>
              <a:t>4</a:t>
            </a:r>
            <a:r>
              <a:rPr lang="fr-FR" b="1" dirty="0" smtClean="0">
                <a:solidFill>
                  <a:srgbClr val="C00000"/>
                </a:solidFill>
              </a:rPr>
              <a:t> </a:t>
            </a:r>
            <a:r>
              <a:rPr lang="fr-FR" b="1" dirty="0" err="1" smtClean="0">
                <a:solidFill>
                  <a:srgbClr val="C00000"/>
                </a:solidFill>
              </a:rPr>
              <a:t>mod</a:t>
            </a:r>
            <a:r>
              <a:rPr lang="fr-FR" b="1" dirty="0" smtClean="0">
                <a:solidFill>
                  <a:srgbClr val="C00000"/>
                </a:solidFill>
              </a:rPr>
              <a:t> 23 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7092280" y="399577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4</a:t>
            </a:r>
            <a:r>
              <a:rPr lang="fr-FR" b="1" baseline="30000" dirty="0" smtClean="0">
                <a:solidFill>
                  <a:srgbClr val="C00000"/>
                </a:solidFill>
              </a:rPr>
              <a:t>3</a:t>
            </a:r>
            <a:r>
              <a:rPr lang="fr-FR" b="1" dirty="0" smtClean="0">
                <a:solidFill>
                  <a:srgbClr val="C00000"/>
                </a:solidFill>
              </a:rPr>
              <a:t> </a:t>
            </a:r>
            <a:r>
              <a:rPr lang="fr-FR" b="1" dirty="0" err="1" smtClean="0">
                <a:solidFill>
                  <a:srgbClr val="C00000"/>
                </a:solidFill>
              </a:rPr>
              <a:t>mod</a:t>
            </a:r>
            <a:r>
              <a:rPr lang="fr-FR" b="1" dirty="0" smtClean="0">
                <a:solidFill>
                  <a:srgbClr val="C00000"/>
                </a:solidFill>
              </a:rPr>
              <a:t> 23 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787243" y="4725144"/>
            <a:ext cx="1048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SP= 18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7098305" y="4687271"/>
            <a:ext cx="1048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SP= 18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00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Echange de </a:t>
            </a:r>
            <a:r>
              <a:rPr lang="fr-FR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clès</a:t>
            </a:r>
            <a:r>
              <a:rPr lang="fr-F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fr-FR" sz="2000" dirty="0">
                <a:solidFill>
                  <a:srgbClr val="FF0000"/>
                </a:solidFill>
              </a:rPr>
              <a:t> Protocole de </a:t>
            </a:r>
            <a:r>
              <a:rPr lang="fr-FR" sz="2000" dirty="0" err="1">
                <a:solidFill>
                  <a:srgbClr val="FF0000"/>
                </a:solidFill>
              </a:rPr>
              <a:t>Diffie-Hellman</a:t>
            </a:r>
            <a:r>
              <a:rPr lang="fr-FR" sz="2000" dirty="0">
                <a:solidFill>
                  <a:srgbClr val="FF0000"/>
                </a:solidFill>
              </a:rPr>
              <a:t>: </a:t>
            </a:r>
            <a:endParaRPr lang="fr-FR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-14288" y="1397621"/>
            <a:ext cx="91227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Il est très difficile d'inverser l'exponentiation dans un corps fini.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i="1" dirty="0" err="1">
                <a:solidFill>
                  <a:srgbClr val="FF0000"/>
                </a:solidFill>
              </a:rPr>
              <a:t>MiM</a:t>
            </a:r>
            <a:r>
              <a:rPr lang="fr-FR" sz="2400" i="1" dirty="0"/>
              <a:t> (</a:t>
            </a:r>
            <a:r>
              <a:rPr lang="fr-FR" sz="2400" i="1" dirty="0">
                <a:solidFill>
                  <a:srgbClr val="FF0000"/>
                </a:solidFill>
              </a:rPr>
              <a:t>Man in the Middle</a:t>
            </a:r>
            <a:r>
              <a:rPr lang="fr-FR" sz="2400" dirty="0"/>
              <a:t>) ne peut pas découvrir </a:t>
            </a:r>
            <a:r>
              <a:rPr lang="fr-FR" sz="2400" dirty="0" smtClean="0"/>
              <a:t>a </a:t>
            </a:r>
            <a:r>
              <a:rPr lang="fr-FR" sz="2400" dirty="0"/>
              <a:t>et </a:t>
            </a:r>
            <a:r>
              <a:rPr lang="fr-FR" sz="2400" dirty="0" smtClean="0"/>
              <a:t>b, </a:t>
            </a:r>
            <a:r>
              <a:rPr lang="fr-FR" sz="2400" dirty="0"/>
              <a:t>donc ne peut calculer </a:t>
            </a:r>
            <a:r>
              <a:rPr lang="fr-FR" sz="2400" dirty="0" err="1" smtClean="0"/>
              <a:t>g</a:t>
            </a:r>
            <a:r>
              <a:rPr lang="fr-FR" sz="2400" baseline="30000" dirty="0" err="1" smtClean="0"/>
              <a:t>ab</a:t>
            </a:r>
            <a:r>
              <a:rPr lang="fr-FR" sz="2400" dirty="0" smtClean="0"/>
              <a:t>.</a:t>
            </a:r>
            <a:endParaRPr lang="fr-FR" sz="22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3233615"/>
            <a:ext cx="7922406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71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4B93D5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rgbClr val="4B93D5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rgbClr val="B1C8E7">
                  <a:lumMod val="5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rgbClr val="C1D0D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Protocole </a:t>
            </a: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lang="fr-FR" sz="24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Diffie-Hellman</a:t>
            </a:r>
            <a:r>
              <a:rPr lang="fr-FR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</a:p>
          <a:p>
            <a:r>
              <a:rPr lang="en-US" sz="2400" dirty="0" err="1"/>
              <a:t>L’attaque</a:t>
            </a:r>
            <a:r>
              <a:rPr lang="en-US" sz="2400" dirty="0"/>
              <a:t> “man in the middle”</a:t>
            </a:r>
            <a:endParaRPr lang="fr-FR" sz="2400" b="1" dirty="0">
              <a:solidFill>
                <a:srgbClr val="5BA63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llipse 1"/>
          <p:cNvSpPr/>
          <p:nvPr/>
        </p:nvSpPr>
        <p:spPr>
          <a:xfrm>
            <a:off x="395536" y="3302336"/>
            <a:ext cx="2160240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7C92B6">
                    <a:lumMod val="50000"/>
                  </a:srgbClr>
                </a:solidFill>
              </a:rPr>
              <a:t>Alice</a:t>
            </a:r>
          </a:p>
        </p:txBody>
      </p:sp>
      <p:sp>
        <p:nvSpPr>
          <p:cNvPr id="8" name="Ellipse 7"/>
          <p:cNvSpPr/>
          <p:nvPr/>
        </p:nvSpPr>
        <p:spPr>
          <a:xfrm>
            <a:off x="6529029" y="3248980"/>
            <a:ext cx="2160240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7C92B6">
                    <a:lumMod val="75000"/>
                  </a:srgbClr>
                </a:solidFill>
              </a:rPr>
              <a:t>Bob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1677392" y="1450072"/>
            <a:ext cx="5760640" cy="528869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dirty="0">
                <a:solidFill>
                  <a:srgbClr val="33517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 qui est </a:t>
            </a:r>
            <a:r>
              <a:rPr lang="fr-FR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</a:t>
            </a: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2400" dirty="0">
                <a:solidFill>
                  <a:srgbClr val="33517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400" dirty="0" smtClean="0">
                <a:solidFill>
                  <a:srgbClr val="33517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G, .) </a:t>
            </a:r>
            <a:r>
              <a:rPr lang="fr-FR" sz="2400" dirty="0">
                <a:solidFill>
                  <a:srgbClr val="33517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400" dirty="0">
                <a:solidFill>
                  <a:srgbClr val="33517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dirty="0" smtClean="0">
                <a:solidFill>
                  <a:srgbClr val="33517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Є G d’ordre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395536" y="2163997"/>
            <a:ext cx="2296834" cy="648072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Alice choisit</a:t>
            </a:r>
          </a:p>
          <a:p>
            <a:pPr algn="ctr"/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Є</a:t>
            </a:r>
            <a:r>
              <a:rPr lang="fr-FR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]0,p[ </a:t>
            </a:r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secret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6260051" y="2120943"/>
            <a:ext cx="2429218" cy="648072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choisit</a:t>
            </a:r>
          </a:p>
          <a:p>
            <a:pPr algn="ctr"/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Є</a:t>
            </a:r>
            <a:r>
              <a:rPr lang="fr-FR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]0,p[ </a:t>
            </a:r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secret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971600" y="4725144"/>
            <a:ext cx="2103286" cy="43993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Alice calcule </a:t>
            </a:r>
            <a:r>
              <a:rPr lang="fr-FR" sz="2000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000" b="1" baseline="30000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fr-FR" sz="2000" b="1" baseline="30000" dirty="0">
              <a:solidFill>
                <a:srgbClr val="C1D0D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6057297" y="4725144"/>
            <a:ext cx="2103286" cy="43993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 </a:t>
            </a:r>
            <a:r>
              <a:rPr lang="fr-FR" b="1" dirty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calcule </a:t>
            </a:r>
            <a:r>
              <a:rPr lang="fr-FR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b="1" baseline="30000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fr-FR" b="1" baseline="30000" dirty="0">
              <a:solidFill>
                <a:srgbClr val="C1D0D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Connecteur en arc 16"/>
          <p:cNvCxnSpPr/>
          <p:nvPr/>
        </p:nvCxnSpPr>
        <p:spPr>
          <a:xfrm rot="5400000" flipH="1" flipV="1">
            <a:off x="4515729" y="208912"/>
            <a:ext cx="53356" cy="6133493"/>
          </a:xfrm>
          <a:prstGeom prst="curvedConnector3">
            <a:avLst>
              <a:gd name="adj1" fmla="val 11081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4283968" y="2236802"/>
            <a:ext cx="597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400" b="1" baseline="30000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fr-FR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29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5" grpId="0" animBg="1"/>
      <p:bldP spid="11" grpId="0" animBg="1"/>
      <p:bldP spid="13" grpId="0" animBg="1"/>
      <p:bldP spid="14" grpId="0" animBg="1"/>
      <p:bldP spid="15" grpId="0" animBg="1"/>
      <p:bldP spid="1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4B93D5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rgbClr val="4B93D5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rgbClr val="B1C8E7">
                  <a:lumMod val="5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rgbClr val="C1D0D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Protocole </a:t>
            </a: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lang="fr-FR" sz="24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Diffie-Hellman</a:t>
            </a:r>
            <a:r>
              <a:rPr lang="fr-FR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2400" dirty="0" err="1" smtClean="0"/>
              <a:t>L’attaque</a:t>
            </a:r>
            <a:r>
              <a:rPr lang="en-US" sz="2400" dirty="0" smtClean="0"/>
              <a:t> </a:t>
            </a:r>
            <a:r>
              <a:rPr lang="en-US" sz="2400" dirty="0"/>
              <a:t>“man in the middle”</a:t>
            </a:r>
            <a:endParaRPr lang="fr-FR" sz="2400" b="1" dirty="0">
              <a:solidFill>
                <a:srgbClr val="5BA63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llipse 1"/>
          <p:cNvSpPr/>
          <p:nvPr/>
        </p:nvSpPr>
        <p:spPr>
          <a:xfrm>
            <a:off x="76076" y="3230397"/>
            <a:ext cx="1825515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7C92B6">
                    <a:lumMod val="50000"/>
                  </a:srgbClr>
                </a:solidFill>
              </a:rPr>
              <a:t>Alice</a:t>
            </a:r>
          </a:p>
        </p:txBody>
      </p:sp>
      <p:sp>
        <p:nvSpPr>
          <p:cNvPr id="8" name="Ellipse 7"/>
          <p:cNvSpPr/>
          <p:nvPr/>
        </p:nvSpPr>
        <p:spPr>
          <a:xfrm>
            <a:off x="6952052" y="3194977"/>
            <a:ext cx="2160240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7C92B6">
                    <a:lumMod val="75000"/>
                  </a:srgbClr>
                </a:solidFill>
              </a:rPr>
              <a:t>Bob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1677392" y="1450072"/>
            <a:ext cx="5760640" cy="528869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dirty="0">
                <a:solidFill>
                  <a:srgbClr val="33517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 qui est </a:t>
            </a:r>
            <a:r>
              <a:rPr lang="fr-FR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</a:t>
            </a: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2400" dirty="0">
                <a:solidFill>
                  <a:srgbClr val="33517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400" dirty="0" smtClean="0">
                <a:solidFill>
                  <a:srgbClr val="33517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G, .) </a:t>
            </a:r>
            <a:r>
              <a:rPr lang="fr-FR" sz="2400" dirty="0">
                <a:solidFill>
                  <a:srgbClr val="33517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400" dirty="0">
                <a:solidFill>
                  <a:srgbClr val="33517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dirty="0" smtClean="0">
                <a:solidFill>
                  <a:srgbClr val="33517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Є G d’ordre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395536" y="2163997"/>
            <a:ext cx="2296834" cy="648072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Alice choisit</a:t>
            </a:r>
          </a:p>
          <a:p>
            <a:pPr algn="ctr"/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Є</a:t>
            </a:r>
            <a:r>
              <a:rPr lang="fr-FR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]0,p[ </a:t>
            </a:r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secret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6260051" y="2120943"/>
            <a:ext cx="2429218" cy="648072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choisit</a:t>
            </a:r>
          </a:p>
          <a:p>
            <a:pPr algn="ctr"/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Є</a:t>
            </a:r>
            <a:r>
              <a:rPr lang="fr-FR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]0,p[ </a:t>
            </a:r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secret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971600" y="4725144"/>
            <a:ext cx="2103286" cy="43993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Alice calcule </a:t>
            </a:r>
            <a:r>
              <a:rPr lang="fr-FR" sz="2000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000" b="1" baseline="30000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fr-FR" sz="2000" b="1" baseline="30000" dirty="0">
              <a:solidFill>
                <a:srgbClr val="C1D0D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6057297" y="4725144"/>
            <a:ext cx="2103286" cy="43993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 </a:t>
            </a:r>
            <a:r>
              <a:rPr lang="fr-FR" b="1" dirty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calcule </a:t>
            </a:r>
            <a:r>
              <a:rPr lang="fr-FR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b="1" baseline="30000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fr-FR" b="1" baseline="30000" dirty="0">
              <a:solidFill>
                <a:srgbClr val="C1D0D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Connecteur en arc 16"/>
          <p:cNvCxnSpPr>
            <a:stCxn id="2" idx="0"/>
          </p:cNvCxnSpPr>
          <p:nvPr/>
        </p:nvCxnSpPr>
        <p:spPr>
          <a:xfrm rot="5400000" flipH="1" flipV="1">
            <a:off x="2669630" y="1460171"/>
            <a:ext cx="89430" cy="3451023"/>
          </a:xfrm>
          <a:prstGeom prst="curvedConnector3">
            <a:avLst>
              <a:gd name="adj1" fmla="val 355619"/>
            </a:avLst>
          </a:prstGeom>
          <a:ln cmpd="sng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2692370" y="2534600"/>
            <a:ext cx="597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400" b="1" baseline="30000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fr-FR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à coins arrondis 39"/>
          <p:cNvSpPr/>
          <p:nvPr/>
        </p:nvSpPr>
        <p:spPr>
          <a:xfrm>
            <a:off x="971600" y="5338513"/>
            <a:ext cx="2520280" cy="43993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dirty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Alice calcule </a:t>
            </a:r>
            <a:r>
              <a:rPr lang="fr-FR" sz="2200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(g</a:t>
            </a:r>
            <a:r>
              <a:rPr lang="fr-FR" sz="2200" b="1" baseline="300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b1</a:t>
            </a:r>
            <a:r>
              <a:rPr lang="fr-FR" sz="2200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l-GR" sz="2200" b="1" baseline="30000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200" b="1" baseline="30000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fr-FR" sz="2200" b="1" dirty="0">
              <a:solidFill>
                <a:srgbClr val="C1D0D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baseline="30000" dirty="0" smtClean="0">
                <a:solidFill>
                  <a:srgbClr val="C1D0DD"/>
                </a:solidFill>
              </a:rPr>
              <a:t>)</a:t>
            </a:r>
            <a:endParaRPr lang="fr-FR" baseline="30000" dirty="0">
              <a:solidFill>
                <a:srgbClr val="C1D0DD"/>
              </a:solidFill>
            </a:endParaRPr>
          </a:p>
        </p:txBody>
      </p:sp>
      <p:sp>
        <p:nvSpPr>
          <p:cNvPr id="41" name="Rectangle à coins arrondis 40"/>
          <p:cNvSpPr/>
          <p:nvPr/>
        </p:nvSpPr>
        <p:spPr>
          <a:xfrm>
            <a:off x="5972019" y="5344863"/>
            <a:ext cx="2520280" cy="43993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 </a:t>
            </a:r>
            <a:r>
              <a:rPr lang="fr-FR" sz="2000" b="1" dirty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calcule </a:t>
            </a:r>
            <a:r>
              <a:rPr lang="fr-FR" sz="2000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(g</a:t>
            </a:r>
            <a:r>
              <a:rPr lang="el-GR" sz="2000" b="1" baseline="30000" dirty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baseline="300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a1</a:t>
            </a:r>
            <a:r>
              <a:rPr lang="fr-FR" sz="2000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l-GR" sz="2000" b="1" baseline="30000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baseline="30000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fr-FR" sz="2000" b="1" baseline="30000" dirty="0">
              <a:solidFill>
                <a:srgbClr val="C1D0D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baseline="30000" dirty="0" smtClean="0">
                <a:solidFill>
                  <a:srgbClr val="C1D0D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fr-FR" sz="2000" b="1" baseline="30000" dirty="0">
              <a:solidFill>
                <a:srgbClr val="C1D0D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Ellipse 17"/>
          <p:cNvSpPr/>
          <p:nvPr/>
        </p:nvSpPr>
        <p:spPr>
          <a:xfrm>
            <a:off x="3732229" y="3140967"/>
            <a:ext cx="1422876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Carl (Intrus)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1" name="Rectangle à coins arrondis 20"/>
          <p:cNvSpPr/>
          <p:nvPr/>
        </p:nvSpPr>
        <p:spPr>
          <a:xfrm>
            <a:off x="3612550" y="2086705"/>
            <a:ext cx="1727321" cy="678728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Carl</a:t>
            </a:r>
            <a:r>
              <a:rPr lang="fr-F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intercepte</a:t>
            </a:r>
          </a:p>
          <a:p>
            <a:pPr algn="ctr"/>
            <a:r>
              <a:rPr lang="fr-F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l’envoi d’Alice</a:t>
            </a:r>
            <a:endParaRPr lang="fr-FR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à coins arrondis 21"/>
          <p:cNvSpPr/>
          <p:nvPr/>
        </p:nvSpPr>
        <p:spPr>
          <a:xfrm>
            <a:off x="3634708" y="2073875"/>
            <a:ext cx="1965685" cy="678728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Carl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choisit</a:t>
            </a:r>
          </a:p>
          <a:p>
            <a:pPr algn="ctr"/>
            <a:r>
              <a:rPr lang="fr-FR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a1</a:t>
            </a:r>
            <a:r>
              <a:rPr lang="fr-FR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z-Cyrl-AZ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Є</a:t>
            </a:r>
            <a:r>
              <a:rPr lang="fr-FR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]0,p[ 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secret</a:t>
            </a:r>
            <a:endParaRPr lang="fr-FR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Connecteur en arc 28"/>
          <p:cNvCxnSpPr/>
          <p:nvPr/>
        </p:nvCxnSpPr>
        <p:spPr>
          <a:xfrm rot="16200000" flipH="1">
            <a:off x="6280260" y="1425844"/>
            <a:ext cx="108012" cy="3460465"/>
          </a:xfrm>
          <a:prstGeom prst="curvedConnector3">
            <a:avLst>
              <a:gd name="adj1" fmla="val -2116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5662271" y="2472983"/>
            <a:ext cx="597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400" b="1" baseline="300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a1</a:t>
            </a:r>
            <a:endParaRPr lang="fr-FR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1" name="Connecteur en arc 30"/>
          <p:cNvCxnSpPr/>
          <p:nvPr/>
        </p:nvCxnSpPr>
        <p:spPr>
          <a:xfrm rot="5400000">
            <a:off x="4515725" y="1073012"/>
            <a:ext cx="53356" cy="6133493"/>
          </a:xfrm>
          <a:prstGeom prst="curvedConnector3">
            <a:avLst>
              <a:gd name="adj1" fmla="val 788106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4433060" y="4040619"/>
            <a:ext cx="597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400" b="1" baseline="30000" dirty="0" err="1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fr-FR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 à coins arrondis 36"/>
          <p:cNvSpPr/>
          <p:nvPr/>
        </p:nvSpPr>
        <p:spPr>
          <a:xfrm>
            <a:off x="3764950" y="4653136"/>
            <a:ext cx="1727321" cy="678728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Carl</a:t>
            </a:r>
            <a:r>
              <a:rPr lang="fr-F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intercepte</a:t>
            </a:r>
          </a:p>
          <a:p>
            <a:pPr algn="ctr"/>
            <a:r>
              <a:rPr lang="fr-FR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l’envoi </a:t>
            </a:r>
            <a:r>
              <a:rPr lang="fr-FR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</a:t>
            </a:r>
            <a:endParaRPr lang="fr-FR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6" name="Connecteur en arc 35"/>
          <p:cNvCxnSpPr>
            <a:stCxn id="8" idx="4"/>
          </p:cNvCxnSpPr>
          <p:nvPr/>
        </p:nvCxnSpPr>
        <p:spPr>
          <a:xfrm rot="5400000" flipH="1">
            <a:off x="6209010" y="2235911"/>
            <a:ext cx="54010" cy="3592315"/>
          </a:xfrm>
          <a:prstGeom prst="curvedConnector3">
            <a:avLst>
              <a:gd name="adj1" fmla="val -4232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/>
          <p:cNvSpPr txBox="1"/>
          <p:nvPr/>
        </p:nvSpPr>
        <p:spPr>
          <a:xfrm>
            <a:off x="5876876" y="3852097"/>
            <a:ext cx="597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400" b="1" baseline="30000" dirty="0" err="1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fr-FR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à coins arrondis 42"/>
          <p:cNvSpPr/>
          <p:nvPr/>
        </p:nvSpPr>
        <p:spPr>
          <a:xfrm>
            <a:off x="3696586" y="4647789"/>
            <a:ext cx="1965685" cy="678728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Carl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choisit</a:t>
            </a:r>
          </a:p>
          <a:p>
            <a:pPr algn="ctr"/>
            <a:r>
              <a:rPr lang="fr-FR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b1</a:t>
            </a:r>
            <a:r>
              <a:rPr lang="fr-FR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z-Cyrl-AZ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Є</a:t>
            </a:r>
            <a:r>
              <a:rPr lang="fr-FR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]0,p[ 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secret</a:t>
            </a:r>
            <a:endParaRPr lang="fr-FR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9" name="Connecteur en arc 38"/>
          <p:cNvCxnSpPr>
            <a:endCxn id="2" idx="4"/>
          </p:cNvCxnSpPr>
          <p:nvPr/>
        </p:nvCxnSpPr>
        <p:spPr>
          <a:xfrm rot="10800000" flipV="1">
            <a:off x="988835" y="4005063"/>
            <a:ext cx="3478003" cy="89430"/>
          </a:xfrm>
          <a:prstGeom prst="curvedConnector4">
            <a:avLst>
              <a:gd name="adj1" fmla="val 148"/>
              <a:gd name="adj2" fmla="val 250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2672406" y="3967889"/>
            <a:ext cx="597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400" b="1" baseline="30000" dirty="0" smtClean="0">
                <a:solidFill>
                  <a:srgbClr val="003D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b1</a:t>
            </a:r>
            <a:endParaRPr lang="fr-FR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à coins arrondis 44"/>
          <p:cNvSpPr/>
          <p:nvPr/>
        </p:nvSpPr>
        <p:spPr>
          <a:xfrm>
            <a:off x="3621299" y="5558480"/>
            <a:ext cx="2255577" cy="10388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Carl calcule </a:t>
            </a:r>
            <a:r>
              <a:rPr lang="fr-FR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SP1=(</a:t>
            </a:r>
            <a:r>
              <a:rPr lang="fr-FR" sz="20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000" b="1" baseline="30000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fr-FR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fr-FR" sz="2000" b="1" baseline="300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b1</a:t>
            </a:r>
            <a:r>
              <a:rPr lang="fr-FR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</a:t>
            </a:r>
            <a:r>
              <a:rPr lang="fr-FR" sz="20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SP2=(</a:t>
            </a:r>
            <a:r>
              <a:rPr lang="fr-FR" sz="2000" b="1" dirty="0" err="1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000" b="1" baseline="30000" dirty="0" err="1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fr-FR" sz="20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fr-FR" sz="2000" b="1" baseline="300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a1</a:t>
            </a:r>
            <a:endParaRPr lang="fr-FR" sz="2000" b="1" baseline="300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à coins arrondis 45"/>
          <p:cNvSpPr/>
          <p:nvPr/>
        </p:nvSpPr>
        <p:spPr>
          <a:xfrm>
            <a:off x="5188626" y="3499775"/>
            <a:ext cx="1732273" cy="305384"/>
          </a:xfrm>
          <a:prstGeom prst="roundRect">
            <a:avLst/>
          </a:prstGeom>
          <a:solidFill>
            <a:srgbClr val="FBE7CD"/>
          </a:solidFill>
          <a:ln>
            <a:solidFill>
              <a:srgbClr val="FBE7CD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secret </a:t>
            </a:r>
            <a:r>
              <a:rPr lang="fr-FR" b="1" dirty="0" smtClean="0"/>
              <a:t>g</a:t>
            </a:r>
            <a:r>
              <a:rPr lang="fr-FR" b="1" baseline="30000" dirty="0" smtClean="0"/>
              <a:t>a1b</a:t>
            </a:r>
            <a:endParaRPr lang="fr-FR" b="1" baseline="30000" dirty="0"/>
          </a:p>
        </p:txBody>
      </p:sp>
      <p:sp>
        <p:nvSpPr>
          <p:cNvPr id="47" name="Rectangle à coins arrondis 46"/>
          <p:cNvSpPr/>
          <p:nvPr/>
        </p:nvSpPr>
        <p:spPr>
          <a:xfrm>
            <a:off x="1952818" y="3492330"/>
            <a:ext cx="1732273" cy="305384"/>
          </a:xfrm>
          <a:prstGeom prst="roundRect">
            <a:avLst/>
          </a:prstGeom>
          <a:solidFill>
            <a:srgbClr val="FBE7CD"/>
          </a:solidFill>
          <a:ln>
            <a:solidFill>
              <a:srgbClr val="FBE7CD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secret </a:t>
            </a:r>
            <a:r>
              <a:rPr lang="fr-FR" b="1" dirty="0" smtClean="0"/>
              <a:t>g</a:t>
            </a:r>
            <a:r>
              <a:rPr lang="fr-FR" b="1" baseline="30000" dirty="0" smtClean="0"/>
              <a:t>ab1</a:t>
            </a:r>
            <a:endParaRPr lang="fr-FR" b="1" baseline="30000" dirty="0"/>
          </a:p>
        </p:txBody>
      </p:sp>
    </p:spTree>
    <p:extLst>
      <p:ext uri="{BB962C8B-B14F-4D97-AF65-F5344CB8AC3E}">
        <p14:creationId xmlns:p14="http://schemas.microsoft.com/office/powerpoint/2010/main" val="425777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5" grpId="0" animBg="1"/>
      <p:bldP spid="11" grpId="0" animBg="1"/>
      <p:bldP spid="13" grpId="0" animBg="1"/>
      <p:bldP spid="14" grpId="0" animBg="1"/>
      <p:bldP spid="15" grpId="0" animBg="1"/>
      <p:bldP spid="19" grpId="0"/>
      <p:bldP spid="40" grpId="0" animBg="1"/>
      <p:bldP spid="41" grpId="0" animBg="1"/>
      <p:bldP spid="18" grpId="0" animBg="1"/>
      <p:bldP spid="21" grpId="0" animBg="1"/>
      <p:bldP spid="22" grpId="0" animBg="1"/>
      <p:bldP spid="32" grpId="0"/>
      <p:bldP spid="35" grpId="0"/>
      <p:bldP spid="35" grpId="1"/>
      <p:bldP spid="37" grpId="0" animBg="1"/>
      <p:bldP spid="42" grpId="0"/>
      <p:bldP spid="43" grpId="0" animBg="1"/>
      <p:bldP spid="44" grpId="0"/>
      <p:bldP spid="45" grpId="0" animBg="1"/>
      <p:bldP spid="46" grpId="0" animBg="1"/>
      <p:bldP spid="4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000" dirty="0">
                <a:solidFill>
                  <a:srgbClr val="FF0000"/>
                </a:solidFill>
              </a:rPr>
              <a:t>Protocole de </a:t>
            </a:r>
            <a:r>
              <a:rPr lang="fr-FR" sz="2000" dirty="0" err="1" smtClean="0">
                <a:solidFill>
                  <a:srgbClr val="FF0000"/>
                </a:solidFill>
              </a:rPr>
              <a:t>Diffie-Hellman</a:t>
            </a:r>
            <a:r>
              <a:rPr lang="fr-FR" sz="2000" dirty="0" smtClean="0">
                <a:solidFill>
                  <a:srgbClr val="FF0000"/>
                </a:solidFill>
              </a:rPr>
              <a:t>: </a:t>
            </a:r>
            <a:r>
              <a:rPr lang="fr-FR" sz="2000" dirty="0" smtClean="0"/>
              <a:t>exemple</a:t>
            </a:r>
            <a:endParaRPr lang="fr-FR" sz="2000" dirty="0">
              <a:solidFill>
                <a:schemeClr val="accent6"/>
              </a:solidFill>
            </a:endParaRPr>
          </a:p>
        </p:txBody>
      </p:sp>
      <p:sp>
        <p:nvSpPr>
          <p:cNvPr id="2" name="Ellipse 1"/>
          <p:cNvSpPr/>
          <p:nvPr/>
        </p:nvSpPr>
        <p:spPr>
          <a:xfrm>
            <a:off x="971600" y="1974106"/>
            <a:ext cx="2160240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Alice</a:t>
            </a:r>
          </a:p>
        </p:txBody>
      </p:sp>
      <p:sp>
        <p:nvSpPr>
          <p:cNvPr id="8" name="Ellipse 7"/>
          <p:cNvSpPr/>
          <p:nvPr/>
        </p:nvSpPr>
        <p:spPr>
          <a:xfrm>
            <a:off x="5948192" y="1974106"/>
            <a:ext cx="2160240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2">
                    <a:lumMod val="75000"/>
                  </a:schemeClr>
                </a:solidFill>
              </a:rPr>
              <a:t>Bob</a:t>
            </a:r>
          </a:p>
        </p:txBody>
      </p:sp>
      <p:cxnSp>
        <p:nvCxnSpPr>
          <p:cNvPr id="9" name="Connecteur en arc 8"/>
          <p:cNvCxnSpPr>
            <a:stCxn id="2" idx="0"/>
            <a:endCxn id="8" idx="0"/>
          </p:cNvCxnSpPr>
          <p:nvPr/>
        </p:nvCxnSpPr>
        <p:spPr>
          <a:xfrm rot="5400000" flipH="1" flipV="1">
            <a:off x="4540016" y="-514190"/>
            <a:ext cx="12700" cy="497659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en arc 17"/>
          <p:cNvCxnSpPr>
            <a:stCxn id="8" idx="4"/>
            <a:endCxn id="2" idx="4"/>
          </p:cNvCxnSpPr>
          <p:nvPr/>
        </p:nvCxnSpPr>
        <p:spPr>
          <a:xfrm rot="5400000">
            <a:off x="4540016" y="349906"/>
            <a:ext cx="12700" cy="497659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3832576" y="311895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/>
              <a:t>g</a:t>
            </a:r>
            <a:r>
              <a:rPr lang="fr-FR" b="1" baseline="30000" dirty="0" err="1" smtClean="0"/>
              <a:t>b</a:t>
            </a:r>
            <a:r>
              <a:rPr lang="fr-FR" b="1" baseline="30000" dirty="0" smtClean="0"/>
              <a:t> </a:t>
            </a:r>
            <a:r>
              <a:rPr lang="fr-FR" b="1" dirty="0" err="1" smtClean="0"/>
              <a:t>mod</a:t>
            </a:r>
            <a:r>
              <a:rPr lang="fr-FR" b="1" dirty="0" smtClean="0"/>
              <a:t> p</a:t>
            </a:r>
            <a:endParaRPr lang="fr-FR" b="1" dirty="0"/>
          </a:p>
        </p:txBody>
      </p:sp>
      <p:sp>
        <p:nvSpPr>
          <p:cNvPr id="22" name="ZoneTexte 21"/>
          <p:cNvSpPr txBox="1"/>
          <p:nvPr/>
        </p:nvSpPr>
        <p:spPr>
          <a:xfrm>
            <a:off x="3500264" y="134076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g</a:t>
            </a:r>
            <a:r>
              <a:rPr lang="fr-FR" b="1" baseline="30000" dirty="0" err="1" smtClean="0"/>
              <a:t>a</a:t>
            </a:r>
            <a:r>
              <a:rPr lang="fr-FR" b="1" dirty="0" smtClean="0"/>
              <a:t> </a:t>
            </a:r>
            <a:r>
              <a:rPr lang="fr-FR" b="1" dirty="0" err="1" smtClean="0"/>
              <a:t>mod</a:t>
            </a:r>
            <a:r>
              <a:rPr lang="fr-FR" b="1" dirty="0" smtClean="0"/>
              <a:t> p</a:t>
            </a:r>
            <a:endParaRPr lang="fr-FR" b="1" dirty="0"/>
          </a:p>
        </p:txBody>
      </p:sp>
      <p:sp>
        <p:nvSpPr>
          <p:cNvPr id="23" name="Rectangle à coins arrondis 22"/>
          <p:cNvSpPr/>
          <p:nvPr/>
        </p:nvSpPr>
        <p:spPr>
          <a:xfrm>
            <a:off x="3500264" y="2124472"/>
            <a:ext cx="1935832" cy="535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Le secret partagé 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395536" y="3717032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000" dirty="0" smtClean="0"/>
              <a:t>Utiliser les valeurs initiales suivante: g=5, p=23, a=4, b=3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 smtClean="0"/>
              <a:t>Présenter les étapes de génération du secret </a:t>
            </a:r>
            <a:r>
              <a:rPr lang="fr-FR" sz="2000" dirty="0"/>
              <a:t>partagé</a:t>
            </a:r>
          </a:p>
        </p:txBody>
      </p:sp>
    </p:spTree>
    <p:extLst>
      <p:ext uri="{BB962C8B-B14F-4D97-AF65-F5344CB8AC3E}">
        <p14:creationId xmlns:p14="http://schemas.microsoft.com/office/powerpoint/2010/main" val="26377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rgbClr val="FF0000"/>
                </a:solidFill>
              </a:rPr>
              <a:t>Protocole </a:t>
            </a:r>
            <a:r>
              <a:rPr lang="fr-FR" sz="2000" dirty="0">
                <a:solidFill>
                  <a:srgbClr val="FF0000"/>
                </a:solidFill>
              </a:rPr>
              <a:t>de </a:t>
            </a:r>
            <a:r>
              <a:rPr lang="fr-FR" sz="2000" dirty="0" err="1" smtClean="0">
                <a:solidFill>
                  <a:srgbClr val="FF0000"/>
                </a:solidFill>
              </a:rPr>
              <a:t>Diffie-Hellman</a:t>
            </a:r>
            <a:r>
              <a:rPr lang="fr-FR" sz="2000" dirty="0" smtClean="0">
                <a:solidFill>
                  <a:srgbClr val="FF0000"/>
                </a:solidFill>
              </a:rPr>
              <a:t>: </a:t>
            </a:r>
            <a:r>
              <a:rPr lang="fr-FR" sz="2000" dirty="0" smtClean="0"/>
              <a:t>exemple: </a:t>
            </a:r>
            <a:r>
              <a:rPr lang="fr-FR" sz="2000" dirty="0" err="1" smtClean="0"/>
              <a:t>MiM</a:t>
            </a:r>
            <a:endParaRPr lang="fr-FR" sz="2000" dirty="0">
              <a:solidFill>
                <a:schemeClr val="accent6"/>
              </a:solidFill>
            </a:endParaRPr>
          </a:p>
        </p:txBody>
      </p:sp>
      <p:sp>
        <p:nvSpPr>
          <p:cNvPr id="2" name="Ellipse 1"/>
          <p:cNvSpPr/>
          <p:nvPr/>
        </p:nvSpPr>
        <p:spPr>
          <a:xfrm>
            <a:off x="55460" y="1369163"/>
            <a:ext cx="1512168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2">
                    <a:lumMod val="50000"/>
                  </a:schemeClr>
                </a:solidFill>
              </a:rPr>
              <a:t>Alice</a:t>
            </a:r>
          </a:p>
          <a:p>
            <a:pPr algn="ctr"/>
            <a:r>
              <a:rPr lang="fr-FR" b="1" dirty="0" smtClean="0">
                <a:solidFill>
                  <a:srgbClr val="C00000"/>
                </a:solidFill>
              </a:rPr>
              <a:t>a=4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7308304" y="1315953"/>
            <a:ext cx="1517640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 smtClean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fr-FR" b="1" dirty="0" smtClean="0">
                <a:solidFill>
                  <a:schemeClr val="bg2">
                    <a:lumMod val="75000"/>
                  </a:schemeClr>
                </a:solidFill>
              </a:rPr>
              <a:t>Bob</a:t>
            </a:r>
          </a:p>
          <a:p>
            <a:pPr algn="ctr"/>
            <a:r>
              <a:rPr lang="fr-FR" b="1" dirty="0">
                <a:solidFill>
                  <a:srgbClr val="C00000"/>
                </a:solidFill>
              </a:rPr>
              <a:t>b=3</a:t>
            </a:r>
          </a:p>
          <a:p>
            <a:pPr algn="ctr"/>
            <a:endParaRPr lang="fr-FR" b="1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7" name="Connecteur droit 6"/>
          <p:cNvCxnSpPr/>
          <p:nvPr/>
        </p:nvCxnSpPr>
        <p:spPr>
          <a:xfrm>
            <a:off x="271484" y="2144898"/>
            <a:ext cx="36004" cy="3860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7452320" y="2019206"/>
            <a:ext cx="36004" cy="3841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059832" y="980728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C00000"/>
                </a:solidFill>
              </a:rPr>
              <a:t>g=5, p=23</a:t>
            </a:r>
          </a:p>
        </p:txBody>
      </p:sp>
      <p:sp>
        <p:nvSpPr>
          <p:cNvPr id="22" name="Ellipse 21"/>
          <p:cNvSpPr/>
          <p:nvPr/>
        </p:nvSpPr>
        <p:spPr>
          <a:xfrm>
            <a:off x="2913556" y="1369163"/>
            <a:ext cx="1824684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2">
                    <a:lumMod val="50000"/>
                  </a:schemeClr>
                </a:solidFill>
              </a:rPr>
              <a:t>Intrus</a:t>
            </a:r>
          </a:p>
          <a:p>
            <a:pPr algn="ctr"/>
            <a:r>
              <a:rPr lang="fr-FR" b="1" dirty="0" smtClean="0">
                <a:solidFill>
                  <a:srgbClr val="C00000"/>
                </a:solidFill>
              </a:rPr>
              <a:t>b1=2 a1=5</a:t>
            </a:r>
            <a:endParaRPr lang="fr-FR" b="1" dirty="0">
              <a:solidFill>
                <a:srgbClr val="C00000"/>
              </a:solidFill>
            </a:endParaRPr>
          </a:p>
        </p:txBody>
      </p:sp>
      <p:cxnSp>
        <p:nvCxnSpPr>
          <p:cNvPr id="23" name="Connecteur droit 22"/>
          <p:cNvCxnSpPr/>
          <p:nvPr/>
        </p:nvCxnSpPr>
        <p:spPr>
          <a:xfrm>
            <a:off x="3129580" y="2144898"/>
            <a:ext cx="36004" cy="3860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>
            <a:off x="5241078" y="1961609"/>
            <a:ext cx="72008" cy="4248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40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rgbClr val="FF0000"/>
                </a:solidFill>
              </a:rPr>
              <a:t>Protocole </a:t>
            </a:r>
            <a:r>
              <a:rPr lang="fr-FR" sz="2000" dirty="0">
                <a:solidFill>
                  <a:srgbClr val="FF0000"/>
                </a:solidFill>
              </a:rPr>
              <a:t>de </a:t>
            </a:r>
            <a:r>
              <a:rPr lang="fr-FR" sz="2000" dirty="0" err="1" smtClean="0">
                <a:solidFill>
                  <a:srgbClr val="FF0000"/>
                </a:solidFill>
              </a:rPr>
              <a:t>Diffie-Hellman</a:t>
            </a:r>
            <a:r>
              <a:rPr lang="fr-FR" sz="2000" dirty="0" smtClean="0">
                <a:solidFill>
                  <a:srgbClr val="FF0000"/>
                </a:solidFill>
              </a:rPr>
              <a:t>: </a:t>
            </a:r>
            <a:r>
              <a:rPr lang="fr-FR" sz="2000" dirty="0" smtClean="0"/>
              <a:t>exemple: </a:t>
            </a:r>
            <a:r>
              <a:rPr lang="fr-FR" sz="2000" dirty="0" err="1" smtClean="0"/>
              <a:t>MiM</a:t>
            </a:r>
            <a:endParaRPr lang="fr-FR" sz="2000" dirty="0">
              <a:solidFill>
                <a:schemeClr val="accent6"/>
              </a:solidFill>
            </a:endParaRPr>
          </a:p>
        </p:txBody>
      </p:sp>
      <p:sp>
        <p:nvSpPr>
          <p:cNvPr id="2" name="Ellipse 1"/>
          <p:cNvSpPr/>
          <p:nvPr/>
        </p:nvSpPr>
        <p:spPr>
          <a:xfrm>
            <a:off x="55460" y="1369163"/>
            <a:ext cx="1512168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2">
                    <a:lumMod val="50000"/>
                  </a:schemeClr>
                </a:solidFill>
              </a:rPr>
              <a:t>Alice</a:t>
            </a:r>
          </a:p>
          <a:p>
            <a:pPr algn="ctr"/>
            <a:r>
              <a:rPr lang="fr-FR" b="1" dirty="0" smtClean="0">
                <a:solidFill>
                  <a:srgbClr val="C00000"/>
                </a:solidFill>
              </a:rPr>
              <a:t>a=4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7308304" y="1315953"/>
            <a:ext cx="1517640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 smtClean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fr-FR" b="1" dirty="0" smtClean="0">
                <a:solidFill>
                  <a:schemeClr val="bg2">
                    <a:lumMod val="75000"/>
                  </a:schemeClr>
                </a:solidFill>
              </a:rPr>
              <a:t>Bob</a:t>
            </a:r>
          </a:p>
          <a:p>
            <a:pPr algn="ctr"/>
            <a:r>
              <a:rPr lang="fr-FR" b="1" dirty="0">
                <a:solidFill>
                  <a:srgbClr val="C00000"/>
                </a:solidFill>
              </a:rPr>
              <a:t>b=3</a:t>
            </a:r>
          </a:p>
          <a:p>
            <a:pPr algn="ctr"/>
            <a:endParaRPr lang="fr-FR" b="1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7" name="Connecteur droit 6"/>
          <p:cNvCxnSpPr/>
          <p:nvPr/>
        </p:nvCxnSpPr>
        <p:spPr>
          <a:xfrm>
            <a:off x="271484" y="2144898"/>
            <a:ext cx="36004" cy="3860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7452320" y="2019206"/>
            <a:ext cx="36004" cy="3841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059832" y="980728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C00000"/>
                </a:solidFill>
              </a:rPr>
              <a:t>g=5, p=23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07488" y="2420888"/>
            <a:ext cx="14761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g</a:t>
            </a:r>
            <a:r>
              <a:rPr lang="fr-FR" b="1" baseline="30000" dirty="0" err="1"/>
              <a:t>a</a:t>
            </a:r>
            <a:r>
              <a:rPr lang="fr-FR" b="1" dirty="0"/>
              <a:t> </a:t>
            </a:r>
            <a:r>
              <a:rPr lang="fr-FR" b="1" dirty="0" err="1"/>
              <a:t>mod</a:t>
            </a:r>
            <a:r>
              <a:rPr lang="fr-FR" b="1" dirty="0"/>
              <a:t> </a:t>
            </a:r>
            <a:r>
              <a:rPr lang="fr-FR" b="1" dirty="0" smtClean="0"/>
              <a:t>p</a:t>
            </a:r>
          </a:p>
          <a:p>
            <a:endParaRPr lang="fr-FR" b="1" dirty="0"/>
          </a:p>
          <a:p>
            <a:r>
              <a:rPr lang="fr-FR" b="1" dirty="0" smtClean="0"/>
              <a:t>5</a:t>
            </a:r>
            <a:r>
              <a:rPr lang="fr-FR" b="1" baseline="30000" dirty="0" smtClean="0"/>
              <a:t>4</a:t>
            </a:r>
            <a:r>
              <a:rPr lang="fr-FR" b="1" dirty="0" smtClean="0"/>
              <a:t> </a:t>
            </a:r>
            <a:r>
              <a:rPr lang="fr-FR" b="1" dirty="0" err="1" smtClean="0"/>
              <a:t>mod</a:t>
            </a:r>
            <a:r>
              <a:rPr lang="fr-FR" b="1" dirty="0" smtClean="0"/>
              <a:t> 23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=4</a:t>
            </a:r>
            <a:endParaRPr lang="fr-FR" b="1" dirty="0">
              <a:solidFill>
                <a:srgbClr val="FF0000"/>
              </a:solidFill>
            </a:endParaRPr>
          </a:p>
          <a:p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7488324" y="2348880"/>
            <a:ext cx="16374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/>
              <a:t>g</a:t>
            </a:r>
            <a:r>
              <a:rPr lang="fr-FR" b="1" baseline="30000" dirty="0" err="1" smtClean="0"/>
              <a:t>b</a:t>
            </a:r>
            <a:r>
              <a:rPr lang="fr-FR" b="1" dirty="0" smtClean="0"/>
              <a:t> </a:t>
            </a:r>
            <a:r>
              <a:rPr lang="fr-FR" b="1" dirty="0" err="1"/>
              <a:t>mod</a:t>
            </a:r>
            <a:r>
              <a:rPr lang="fr-FR" b="1" dirty="0"/>
              <a:t> </a:t>
            </a:r>
            <a:r>
              <a:rPr lang="fr-FR" b="1" dirty="0" smtClean="0"/>
              <a:t>p</a:t>
            </a:r>
          </a:p>
          <a:p>
            <a:endParaRPr lang="fr-FR" b="1" dirty="0"/>
          </a:p>
          <a:p>
            <a:r>
              <a:rPr lang="fr-FR" b="1" dirty="0" smtClean="0"/>
              <a:t>5</a:t>
            </a:r>
            <a:r>
              <a:rPr lang="fr-FR" b="1" baseline="30000" dirty="0" smtClean="0"/>
              <a:t>3</a:t>
            </a:r>
            <a:r>
              <a:rPr lang="fr-FR" b="1" dirty="0" smtClean="0"/>
              <a:t> </a:t>
            </a:r>
            <a:r>
              <a:rPr lang="fr-FR" b="1" dirty="0" err="1" smtClean="0"/>
              <a:t>mod</a:t>
            </a:r>
            <a:r>
              <a:rPr lang="fr-FR" b="1" dirty="0" smtClean="0"/>
              <a:t> 23</a:t>
            </a:r>
            <a:endParaRPr lang="fr-FR" b="1" dirty="0"/>
          </a:p>
          <a:p>
            <a:r>
              <a:rPr lang="fr-FR" b="1" dirty="0" smtClean="0"/>
              <a:t>=10</a:t>
            </a:r>
            <a:endParaRPr lang="fr-FR" b="1" dirty="0"/>
          </a:p>
        </p:txBody>
      </p:sp>
      <p:cxnSp>
        <p:nvCxnSpPr>
          <p:cNvPr id="15" name="Connecteur droit avec flèche 14"/>
          <p:cNvCxnSpPr/>
          <p:nvPr/>
        </p:nvCxnSpPr>
        <p:spPr>
          <a:xfrm>
            <a:off x="693550" y="3445955"/>
            <a:ext cx="2652054" cy="452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H="1">
            <a:off x="1783652" y="3215359"/>
            <a:ext cx="2774060" cy="870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303150" y="4067780"/>
            <a:ext cx="1892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2</a:t>
            </a:r>
            <a:r>
              <a:rPr lang="fr-FR" b="1" baseline="30000" dirty="0" smtClean="0">
                <a:solidFill>
                  <a:srgbClr val="C00000"/>
                </a:solidFill>
              </a:rPr>
              <a:t>4</a:t>
            </a:r>
            <a:r>
              <a:rPr lang="fr-FR" b="1" dirty="0" smtClean="0">
                <a:solidFill>
                  <a:srgbClr val="C00000"/>
                </a:solidFill>
              </a:rPr>
              <a:t> </a:t>
            </a:r>
            <a:r>
              <a:rPr lang="fr-FR" b="1" dirty="0" err="1" smtClean="0">
                <a:solidFill>
                  <a:srgbClr val="C00000"/>
                </a:solidFill>
              </a:rPr>
              <a:t>mod</a:t>
            </a:r>
            <a:r>
              <a:rPr lang="fr-FR" b="1" dirty="0" smtClean="0">
                <a:solidFill>
                  <a:srgbClr val="C00000"/>
                </a:solidFill>
              </a:rPr>
              <a:t> 23=16 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7452320" y="3995772"/>
            <a:ext cx="1677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20</a:t>
            </a:r>
            <a:r>
              <a:rPr lang="fr-FR" b="1" baseline="30000" dirty="0" smtClean="0">
                <a:solidFill>
                  <a:srgbClr val="C00000"/>
                </a:solidFill>
              </a:rPr>
              <a:t>3</a:t>
            </a:r>
            <a:r>
              <a:rPr lang="fr-FR" b="1" dirty="0" smtClean="0">
                <a:solidFill>
                  <a:srgbClr val="C00000"/>
                </a:solidFill>
              </a:rPr>
              <a:t> </a:t>
            </a:r>
            <a:r>
              <a:rPr lang="fr-FR" b="1" dirty="0" err="1" smtClean="0">
                <a:solidFill>
                  <a:srgbClr val="C00000"/>
                </a:solidFill>
              </a:rPr>
              <a:t>mod</a:t>
            </a:r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b="1" dirty="0" smtClean="0">
                <a:solidFill>
                  <a:srgbClr val="C00000"/>
                </a:solidFill>
              </a:rPr>
              <a:t>23 =</a:t>
            </a:r>
            <a:r>
              <a:rPr lang="fr-FR" b="1" dirty="0" smtClean="0">
                <a:solidFill>
                  <a:srgbClr val="FF0000"/>
                </a:solidFill>
              </a:rPr>
              <a:t>19</a:t>
            </a:r>
            <a:r>
              <a:rPr lang="fr-FR" b="1" dirty="0" smtClean="0">
                <a:solidFill>
                  <a:srgbClr val="C00000"/>
                </a:solidFill>
              </a:rPr>
              <a:t> 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303151" y="4725144"/>
            <a:ext cx="1350265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SP1= 16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7458345" y="4687271"/>
            <a:ext cx="116301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</a:rPr>
              <a:t>SP2= 19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22" name="Ellipse 21"/>
          <p:cNvSpPr/>
          <p:nvPr/>
        </p:nvSpPr>
        <p:spPr>
          <a:xfrm>
            <a:off x="2913556" y="1369163"/>
            <a:ext cx="1824684" cy="86409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2">
                    <a:lumMod val="50000"/>
                  </a:schemeClr>
                </a:solidFill>
              </a:rPr>
              <a:t>Intrus</a:t>
            </a:r>
          </a:p>
          <a:p>
            <a:pPr algn="ctr"/>
            <a:r>
              <a:rPr lang="fr-FR" b="1" dirty="0" smtClean="0">
                <a:solidFill>
                  <a:srgbClr val="C00000"/>
                </a:solidFill>
              </a:rPr>
              <a:t>b1=2 a1=5</a:t>
            </a:r>
            <a:endParaRPr lang="fr-FR" b="1" dirty="0">
              <a:solidFill>
                <a:srgbClr val="C00000"/>
              </a:solidFill>
            </a:endParaRPr>
          </a:p>
        </p:txBody>
      </p:sp>
      <p:cxnSp>
        <p:nvCxnSpPr>
          <p:cNvPr id="23" name="Connecteur droit 22"/>
          <p:cNvCxnSpPr/>
          <p:nvPr/>
        </p:nvCxnSpPr>
        <p:spPr>
          <a:xfrm>
            <a:off x="3129580" y="2144898"/>
            <a:ext cx="36004" cy="3860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3165583" y="2420888"/>
            <a:ext cx="1814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b1=2</a:t>
            </a:r>
          </a:p>
          <a:p>
            <a:r>
              <a:rPr lang="fr-FR" b="1" dirty="0" err="1" smtClean="0"/>
              <a:t>g</a:t>
            </a:r>
            <a:r>
              <a:rPr lang="fr-FR" b="1" baseline="30000" dirty="0" err="1" smtClean="0"/>
              <a:t>b</a:t>
            </a:r>
            <a:r>
              <a:rPr lang="fr-FR" b="1" dirty="0" smtClean="0"/>
              <a:t> </a:t>
            </a:r>
            <a:r>
              <a:rPr lang="fr-FR" b="1" dirty="0" err="1"/>
              <a:t>mod</a:t>
            </a:r>
            <a:r>
              <a:rPr lang="fr-FR" b="1" dirty="0"/>
              <a:t> </a:t>
            </a:r>
            <a:r>
              <a:rPr lang="fr-FR" b="1" dirty="0" smtClean="0"/>
              <a:t>p</a:t>
            </a:r>
          </a:p>
          <a:p>
            <a:r>
              <a:rPr lang="fr-FR" b="1" dirty="0" smtClean="0"/>
              <a:t>5</a:t>
            </a:r>
            <a:r>
              <a:rPr lang="fr-FR" b="1" baseline="30000" dirty="0" smtClean="0"/>
              <a:t>2</a:t>
            </a:r>
            <a:r>
              <a:rPr lang="fr-FR" b="1" dirty="0" smtClean="0"/>
              <a:t> </a:t>
            </a:r>
            <a:r>
              <a:rPr lang="fr-FR" b="1" dirty="0" err="1" smtClean="0"/>
              <a:t>mod</a:t>
            </a:r>
            <a:r>
              <a:rPr lang="fr-FR" b="1" dirty="0" smtClean="0"/>
              <a:t> 23 </a:t>
            </a:r>
            <a:r>
              <a:rPr lang="fr-FR" b="1" dirty="0" smtClean="0">
                <a:solidFill>
                  <a:srgbClr val="FF0000"/>
                </a:solidFill>
              </a:rPr>
              <a:t>=2</a:t>
            </a:r>
            <a:endParaRPr lang="fr-FR" b="1" dirty="0">
              <a:solidFill>
                <a:srgbClr val="FF0000"/>
              </a:solidFill>
            </a:endParaRPr>
          </a:p>
          <a:p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5241078" y="1961609"/>
            <a:ext cx="72008" cy="4248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3345604" y="3672085"/>
            <a:ext cx="1730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4</a:t>
            </a:r>
            <a:r>
              <a:rPr lang="fr-FR" b="1" baseline="30000" dirty="0" smtClean="0">
                <a:solidFill>
                  <a:srgbClr val="C00000"/>
                </a:solidFill>
              </a:rPr>
              <a:t>2</a:t>
            </a:r>
            <a:r>
              <a:rPr lang="fr-FR" b="1" dirty="0" smtClean="0">
                <a:solidFill>
                  <a:srgbClr val="C00000"/>
                </a:solidFill>
              </a:rPr>
              <a:t> </a:t>
            </a:r>
            <a:r>
              <a:rPr lang="fr-FR" b="1" dirty="0" err="1" smtClean="0">
                <a:solidFill>
                  <a:srgbClr val="C00000"/>
                </a:solidFill>
              </a:rPr>
              <a:t>mod</a:t>
            </a:r>
            <a:r>
              <a:rPr lang="fr-FR" b="1" dirty="0" smtClean="0">
                <a:solidFill>
                  <a:srgbClr val="C00000"/>
                </a:solidFill>
              </a:rPr>
              <a:t> 23=16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3237506" y="4092285"/>
            <a:ext cx="1350265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SP1= 16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5349090" y="2420887"/>
            <a:ext cx="1814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a1=5</a:t>
            </a:r>
          </a:p>
          <a:p>
            <a:r>
              <a:rPr lang="fr-FR" b="1" dirty="0" smtClean="0"/>
              <a:t>g</a:t>
            </a:r>
            <a:r>
              <a:rPr lang="fr-FR" b="1" baseline="30000" dirty="0" smtClean="0"/>
              <a:t>a1</a:t>
            </a:r>
            <a:r>
              <a:rPr lang="fr-FR" b="1" dirty="0" smtClean="0"/>
              <a:t> </a:t>
            </a:r>
            <a:r>
              <a:rPr lang="fr-FR" b="1" dirty="0" err="1"/>
              <a:t>mod</a:t>
            </a:r>
            <a:r>
              <a:rPr lang="fr-FR" b="1" dirty="0"/>
              <a:t> </a:t>
            </a:r>
            <a:r>
              <a:rPr lang="fr-FR" b="1" dirty="0" smtClean="0"/>
              <a:t>p</a:t>
            </a:r>
          </a:p>
          <a:p>
            <a:r>
              <a:rPr lang="fr-FR" b="1" dirty="0" smtClean="0"/>
              <a:t>5</a:t>
            </a:r>
            <a:r>
              <a:rPr lang="fr-FR" b="1" baseline="30000" dirty="0" smtClean="0"/>
              <a:t>5</a:t>
            </a:r>
            <a:r>
              <a:rPr lang="fr-FR" b="1" dirty="0" smtClean="0"/>
              <a:t> </a:t>
            </a:r>
            <a:r>
              <a:rPr lang="fr-FR" b="1" dirty="0" err="1" smtClean="0"/>
              <a:t>mod</a:t>
            </a:r>
            <a:r>
              <a:rPr lang="fr-FR" b="1" dirty="0" smtClean="0"/>
              <a:t> 23 </a:t>
            </a:r>
            <a:r>
              <a:rPr lang="fr-FR" b="1" dirty="0" smtClean="0">
                <a:solidFill>
                  <a:srgbClr val="FF0000"/>
                </a:solidFill>
              </a:rPr>
              <a:t>=20</a:t>
            </a:r>
            <a:endParaRPr lang="fr-FR" b="1" dirty="0">
              <a:solidFill>
                <a:srgbClr val="FF0000"/>
              </a:solidFill>
            </a:endParaRPr>
          </a:p>
          <a:p>
            <a:endParaRPr lang="fr-FR" dirty="0"/>
          </a:p>
        </p:txBody>
      </p:sp>
      <p:cxnSp>
        <p:nvCxnSpPr>
          <p:cNvPr id="36" name="Connecteur droit avec flèche 35"/>
          <p:cNvCxnSpPr>
            <a:endCxn id="25" idx="1"/>
          </p:cNvCxnSpPr>
          <p:nvPr/>
        </p:nvCxnSpPr>
        <p:spPr>
          <a:xfrm>
            <a:off x="6696946" y="3215359"/>
            <a:ext cx="755374" cy="1103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/>
          <p:nvPr/>
        </p:nvCxnSpPr>
        <p:spPr>
          <a:xfrm flipH="1">
            <a:off x="5271137" y="3215359"/>
            <a:ext cx="2325199" cy="1674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/>
          <p:cNvSpPr txBox="1"/>
          <p:nvPr/>
        </p:nvSpPr>
        <p:spPr>
          <a:xfrm>
            <a:off x="3245860" y="4725144"/>
            <a:ext cx="1830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10</a:t>
            </a:r>
            <a:r>
              <a:rPr lang="fr-FR" b="1" baseline="30000" dirty="0" smtClean="0"/>
              <a:t>5 </a:t>
            </a:r>
            <a:r>
              <a:rPr lang="fr-FR" b="1" dirty="0" smtClean="0"/>
              <a:t> </a:t>
            </a:r>
            <a:r>
              <a:rPr lang="fr-FR" b="1" dirty="0" err="1" smtClean="0"/>
              <a:t>Mod</a:t>
            </a:r>
            <a:r>
              <a:rPr lang="fr-FR" b="1" dirty="0" smtClean="0"/>
              <a:t> 23=19 </a:t>
            </a:r>
            <a:endParaRPr lang="fr-FR" b="1" baseline="30000" dirty="0"/>
          </a:p>
        </p:txBody>
      </p:sp>
      <p:sp>
        <p:nvSpPr>
          <p:cNvPr id="43" name="ZoneTexte 42"/>
          <p:cNvSpPr txBox="1"/>
          <p:nvPr/>
        </p:nvSpPr>
        <p:spPr>
          <a:xfrm>
            <a:off x="3335136" y="5173337"/>
            <a:ext cx="116301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</a:rPr>
              <a:t>SP2= 19</a:t>
            </a:r>
            <a:endParaRPr lang="fr-FR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77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23528" y="1268760"/>
            <a:ext cx="871296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 smtClean="0"/>
              <a:t>Algorithme </a:t>
            </a:r>
            <a:r>
              <a:rPr lang="fr-FR" sz="2800" b="1" dirty="0"/>
              <a:t>asymétrique</a:t>
            </a:r>
            <a:r>
              <a:rPr lang="fr-FR" sz="2800" dirty="0"/>
              <a:t> basé sur </a:t>
            </a:r>
            <a:r>
              <a:rPr lang="fr-FR" sz="2800" b="1" dirty="0"/>
              <a:t>les logarithmes discrets</a:t>
            </a:r>
            <a:r>
              <a:rPr lang="fr-FR" sz="28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 smtClean="0"/>
              <a:t>Crée </a:t>
            </a:r>
            <a:r>
              <a:rPr lang="fr-FR" sz="2800" dirty="0"/>
              <a:t>par </a:t>
            </a:r>
            <a:r>
              <a:rPr lang="fr-FR" sz="2800" b="1" dirty="0"/>
              <a:t>Tahar </a:t>
            </a:r>
            <a:r>
              <a:rPr lang="fr-FR" sz="2800" b="1" dirty="0" err="1"/>
              <a:t>ElGamal</a:t>
            </a:r>
            <a:r>
              <a:rPr lang="fr-FR" sz="2800" b="1" dirty="0"/>
              <a:t> </a:t>
            </a:r>
            <a:r>
              <a:rPr lang="fr-FR" sz="2800" dirty="0"/>
              <a:t>en 1985.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 smtClean="0"/>
              <a:t>Il </a:t>
            </a:r>
            <a:r>
              <a:rPr lang="fr-FR" sz="2800" dirty="0"/>
              <a:t>utilise l’ensemble </a:t>
            </a:r>
            <a:r>
              <a:rPr lang="fr-FR" sz="2800" b="1" dirty="0"/>
              <a:t>(Z/</a:t>
            </a:r>
            <a:r>
              <a:rPr lang="fr-FR" sz="2800" b="1" dirty="0" err="1"/>
              <a:t>pZ</a:t>
            </a:r>
            <a:r>
              <a:rPr lang="fr-FR" sz="2800" b="1" dirty="0"/>
              <a:t>)* </a:t>
            </a:r>
            <a:r>
              <a:rPr lang="fr-FR" sz="2800" dirty="0"/>
              <a:t>comme groupe multiplicatif dans sa 1ere version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673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2000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892899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rgbClr val="FF0000"/>
                </a:solidFill>
              </a:rPr>
              <a:t>Logarithme </a:t>
            </a:r>
            <a:r>
              <a:rPr lang="fr-FR" sz="2800" dirty="0">
                <a:solidFill>
                  <a:srgbClr val="FF0000"/>
                </a:solidFill>
              </a:rPr>
              <a:t>discret (Rappel) </a:t>
            </a:r>
            <a:endParaRPr lang="fr-FR" sz="2800" dirty="0" smtClean="0">
              <a:solidFill>
                <a:srgbClr val="FF0000"/>
              </a:solidFill>
            </a:endParaRPr>
          </a:p>
          <a:p>
            <a:endParaRPr lang="fr-FR" sz="2800" dirty="0" smtClean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800" dirty="0" smtClean="0"/>
              <a:t>Considérons </a:t>
            </a:r>
            <a:r>
              <a:rPr lang="fr-FR" sz="2800" dirty="0"/>
              <a:t>l’ensemble G formé par les entiers naturels non nul modulo </a:t>
            </a:r>
            <a:r>
              <a:rPr lang="fr-FR" sz="2800" b="1" dirty="0"/>
              <a:t>un nombre premier p </a:t>
            </a:r>
            <a:r>
              <a:rPr lang="fr-FR" sz="2800" b="1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fr-FR" sz="2800" dirty="0" smtClean="0"/>
              <a:t>( </a:t>
            </a:r>
            <a:r>
              <a:rPr lang="fr-FR" sz="2800" dirty="0" err="1"/>
              <a:t>cad</a:t>
            </a:r>
            <a:r>
              <a:rPr lang="fr-FR" sz="2800" dirty="0"/>
              <a:t> </a:t>
            </a:r>
            <a:r>
              <a:rPr lang="fr-FR" sz="2800" b="1" dirty="0"/>
              <a:t>G= (Z/</a:t>
            </a:r>
            <a:r>
              <a:rPr lang="fr-FR" sz="2800" b="1" dirty="0" err="1"/>
              <a:t>pZ</a:t>
            </a:r>
            <a:r>
              <a:rPr lang="fr-FR" sz="2800" b="1" dirty="0"/>
              <a:t>)*</a:t>
            </a:r>
            <a:r>
              <a:rPr lang="fr-FR" sz="2800" dirty="0"/>
              <a:t> )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800" dirty="0" smtClean="0"/>
              <a:t>Cet </a:t>
            </a:r>
            <a:r>
              <a:rPr lang="fr-FR" sz="2800" dirty="0"/>
              <a:t>ensemble est muni de la loi de multiplication pour former un groupe (G,.) </a:t>
            </a:r>
          </a:p>
        </p:txBody>
      </p:sp>
    </p:spTree>
    <p:extLst>
      <p:ext uri="{BB962C8B-B14F-4D97-AF65-F5344CB8AC3E}">
        <p14:creationId xmlns:p14="http://schemas.microsoft.com/office/powerpoint/2010/main" val="279070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2000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892899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rgbClr val="FF0000"/>
                </a:solidFill>
              </a:rPr>
              <a:t>Logarithme </a:t>
            </a:r>
            <a:r>
              <a:rPr lang="fr-FR" sz="2800" dirty="0">
                <a:solidFill>
                  <a:srgbClr val="FF0000"/>
                </a:solidFill>
              </a:rPr>
              <a:t>discret (Rappel) </a:t>
            </a:r>
            <a:endParaRPr lang="fr-FR" sz="2800" dirty="0" smtClean="0">
              <a:solidFill>
                <a:srgbClr val="FF0000"/>
              </a:solidFill>
            </a:endParaRPr>
          </a:p>
          <a:p>
            <a:endParaRPr lang="fr-FR" sz="2800" dirty="0" smtClean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800" dirty="0" smtClean="0"/>
              <a:t>On </a:t>
            </a:r>
            <a:r>
              <a:rPr lang="fr-FR" sz="2800" dirty="0"/>
              <a:t>considère aussi </a:t>
            </a:r>
            <a:r>
              <a:rPr lang="fr-FR" sz="2800" b="1" dirty="0"/>
              <a:t>un générateur g </a:t>
            </a:r>
            <a:r>
              <a:rPr lang="fr-FR" sz="2800" dirty="0"/>
              <a:t>de G (nombre </a:t>
            </a:r>
            <a:r>
              <a:rPr lang="fr-FR" sz="2800" b="1" dirty="0"/>
              <a:t>primitif modulo p</a:t>
            </a:r>
            <a:r>
              <a:rPr lang="fr-FR" sz="2800" dirty="0"/>
              <a:t>). Alors chaque élément h de G peut être écrit sous la forme </a:t>
            </a:r>
            <a:r>
              <a:rPr lang="fr-FR" sz="2800" b="1" dirty="0"/>
              <a:t>h = </a:t>
            </a:r>
            <a:r>
              <a:rPr lang="fr-FR" sz="2800" b="1" dirty="0" err="1"/>
              <a:t>g</a:t>
            </a:r>
            <a:r>
              <a:rPr lang="fr-FR" sz="2800" b="1" baseline="30000" dirty="0" err="1"/>
              <a:t>k</a:t>
            </a:r>
            <a:r>
              <a:rPr lang="fr-FR" sz="2800" baseline="30000" dirty="0"/>
              <a:t> </a:t>
            </a:r>
            <a:r>
              <a:rPr lang="fr-FR" sz="2800" dirty="0"/>
              <a:t>pour un certain entier </a:t>
            </a:r>
            <a:r>
              <a:rPr lang="fr-FR" sz="2800" b="1" dirty="0"/>
              <a:t>k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800" b="1" dirty="0" smtClean="0"/>
              <a:t>k</a:t>
            </a:r>
            <a:r>
              <a:rPr lang="fr-FR" sz="2800" dirty="0" smtClean="0"/>
              <a:t> </a:t>
            </a:r>
            <a:r>
              <a:rPr lang="fr-FR" sz="2800" dirty="0"/>
              <a:t>est dit le </a:t>
            </a:r>
            <a:r>
              <a:rPr lang="fr-FR" sz="2800" b="1" dirty="0">
                <a:solidFill>
                  <a:srgbClr val="C00000"/>
                </a:solidFill>
              </a:rPr>
              <a:t>logarithme discret de h en base g</a:t>
            </a:r>
            <a:r>
              <a:rPr lang="fr-FR" sz="2800" dirty="0"/>
              <a:t> et est désigné par </a:t>
            </a:r>
            <a:r>
              <a:rPr lang="fr-FR" sz="2800" b="1" dirty="0" err="1">
                <a:solidFill>
                  <a:srgbClr val="C00000"/>
                </a:solidFill>
              </a:rPr>
              <a:t>log</a:t>
            </a:r>
            <a:r>
              <a:rPr lang="fr-FR" sz="2800" b="1" baseline="-25000" dirty="0" err="1">
                <a:solidFill>
                  <a:srgbClr val="C00000"/>
                </a:solidFill>
              </a:rPr>
              <a:t>g</a:t>
            </a:r>
            <a:r>
              <a:rPr lang="fr-FR" sz="2800" b="1" dirty="0">
                <a:solidFill>
                  <a:srgbClr val="C00000"/>
                </a:solidFill>
              </a:rPr>
              <a:t> (h)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026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dirty="0" smtClean="0">
                <a:solidFill>
                  <a:srgbClr val="FF0000"/>
                </a:solidFill>
              </a:rPr>
              <a:t>Problème </a:t>
            </a:r>
            <a:r>
              <a:rPr lang="fr-FR" sz="2400" dirty="0">
                <a:solidFill>
                  <a:srgbClr val="FF0000"/>
                </a:solidFill>
              </a:rPr>
              <a:t>du log discret </a:t>
            </a:r>
            <a:r>
              <a:rPr lang="fr-FR" sz="2400" dirty="0" smtClean="0">
                <a:solidFill>
                  <a:srgbClr val="FF0000"/>
                </a:solidFill>
              </a:rPr>
              <a:t>: exemple calcule des racines primitives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89289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Calculer </a:t>
            </a:r>
            <a:r>
              <a:rPr lang="fr-FR" sz="2400" dirty="0"/>
              <a:t>des racines </a:t>
            </a:r>
            <a:r>
              <a:rPr lang="fr-FR" sz="2400" dirty="0" smtClean="0"/>
              <a:t>primitives du nombre 5</a:t>
            </a:r>
          </a:p>
          <a:p>
            <a:r>
              <a:rPr lang="fr-FR" sz="2800" dirty="0" smtClean="0"/>
              <a:t>a</a:t>
            </a:r>
            <a:r>
              <a:rPr lang="fr-FR" sz="2800" baseline="30000" dirty="0" smtClean="0"/>
              <a:t>i</a:t>
            </a:r>
            <a:r>
              <a:rPr lang="fr-FR" sz="2800" dirty="0" smtClean="0"/>
              <a:t> </a:t>
            </a:r>
            <a:r>
              <a:rPr lang="fr-FR" sz="2800" dirty="0" err="1" smtClean="0"/>
              <a:t>mod</a:t>
            </a:r>
            <a:r>
              <a:rPr lang="fr-FR" sz="2800" dirty="0" smtClean="0"/>
              <a:t> 5  (p -1=4)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 i </a:t>
            </a:r>
            <a:r>
              <a:rPr lang="az-Cyrl-AZ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Є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[1,p-1]</a:t>
            </a:r>
            <a:endParaRPr lang="fr-FR" sz="2800" dirty="0"/>
          </a:p>
          <a:p>
            <a:endParaRPr lang="fr-FR" sz="2800" dirty="0"/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48072"/>
              </p:ext>
            </p:extLst>
          </p:nvPr>
        </p:nvGraphicFramePr>
        <p:xfrm>
          <a:off x="1524000" y="2650738"/>
          <a:ext cx="4876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a</a:t>
                      </a:r>
                      <a:r>
                        <a:rPr lang="fr-FR" sz="2000" baseline="30000" dirty="0" smtClean="0"/>
                        <a:t>1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a</a:t>
                      </a:r>
                      <a:r>
                        <a:rPr lang="fr-FR" sz="2000" baseline="30000" dirty="0" smtClean="0"/>
                        <a:t>2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a</a:t>
                      </a:r>
                      <a:r>
                        <a:rPr lang="fr-FR" sz="2000" baseline="30000" dirty="0" smtClean="0"/>
                        <a:t>3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a</a:t>
                      </a:r>
                      <a:r>
                        <a:rPr lang="fr-FR" sz="2000" baseline="30000" dirty="0" smtClean="0"/>
                        <a:t>4</a:t>
                      </a:r>
                      <a:endParaRPr lang="fr-FR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1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1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1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1</a:t>
                      </a:r>
                      <a:endParaRPr lang="fr-FR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fr-F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fr-F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fr-F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fr-F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fr-F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fr-F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4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1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4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1</a:t>
                      </a:r>
                      <a:endParaRPr lang="fr-FR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69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acine 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primitif</a:t>
            </a:r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exemple </a:t>
            </a:r>
            <a:endParaRPr lang="fr-FR" sz="2000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892899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300" b="1" dirty="0" smtClean="0">
                <a:solidFill>
                  <a:srgbClr val="FF0000"/>
                </a:solidFill>
              </a:rPr>
              <a:t>g </a:t>
            </a:r>
            <a:r>
              <a:rPr lang="fr-FR" sz="2300" b="1" dirty="0">
                <a:solidFill>
                  <a:srgbClr val="FF0000"/>
                </a:solidFill>
              </a:rPr>
              <a:t>est primitif </a:t>
            </a:r>
            <a:r>
              <a:rPr lang="fr-FR" sz="2300" dirty="0"/>
              <a:t>par rapport </a:t>
            </a:r>
            <a:r>
              <a:rPr lang="fr-FR" sz="2300" b="1" dirty="0"/>
              <a:t>à p</a:t>
            </a:r>
            <a:r>
              <a:rPr lang="fr-FR" sz="2300" dirty="0"/>
              <a:t> si tous les nombres entre </a:t>
            </a:r>
            <a:r>
              <a:rPr lang="fr-FR" sz="2300" b="1" dirty="0"/>
              <a:t>1 et p-1 peuvent être exprimés </a:t>
            </a:r>
            <a:r>
              <a:rPr lang="fr-FR" sz="2300" dirty="0"/>
              <a:t>sous la forme </a:t>
            </a:r>
            <a:r>
              <a:rPr lang="fr-FR" sz="2300" b="1" dirty="0"/>
              <a:t>g</a:t>
            </a:r>
            <a:r>
              <a:rPr lang="fr-FR" sz="2300" b="1" baseline="30000" dirty="0"/>
              <a:t>i</a:t>
            </a:r>
            <a:r>
              <a:rPr lang="fr-FR" sz="2300" b="1" dirty="0"/>
              <a:t> </a:t>
            </a:r>
            <a:r>
              <a:rPr lang="fr-FR" sz="2300" b="1" dirty="0" err="1"/>
              <a:t>mod</a:t>
            </a:r>
            <a:r>
              <a:rPr lang="fr-FR" sz="2300" b="1" dirty="0"/>
              <a:t> p</a:t>
            </a:r>
            <a:r>
              <a:rPr lang="fr-FR" sz="230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300" b="1" dirty="0" smtClean="0"/>
              <a:t>Exemple</a:t>
            </a:r>
            <a:r>
              <a:rPr lang="fr-FR" sz="2300" b="1" dirty="0"/>
              <a:t>: g=2 et p=11 </a:t>
            </a:r>
            <a:endParaRPr lang="fr-FR" sz="2300" dirty="0"/>
          </a:p>
          <a:p>
            <a:r>
              <a:rPr lang="da-DK" sz="2300" dirty="0" smtClean="0"/>
              <a:t>2</a:t>
            </a:r>
            <a:r>
              <a:rPr lang="da-DK" sz="2300" b="1" baseline="30000" dirty="0" smtClean="0"/>
              <a:t>10</a:t>
            </a:r>
            <a:r>
              <a:rPr lang="da-DK" sz="2300" dirty="0" smtClean="0"/>
              <a:t> </a:t>
            </a:r>
            <a:r>
              <a:rPr lang="da-DK" sz="2300" dirty="0"/>
              <a:t>= 1024 = </a:t>
            </a:r>
            <a:r>
              <a:rPr lang="da-DK" sz="2300" b="1" dirty="0">
                <a:solidFill>
                  <a:srgbClr val="C00000"/>
                </a:solidFill>
              </a:rPr>
              <a:t>1</a:t>
            </a:r>
            <a:r>
              <a:rPr lang="da-DK" sz="2300" dirty="0"/>
              <a:t> (mod 11) </a:t>
            </a:r>
          </a:p>
          <a:p>
            <a:r>
              <a:rPr lang="da-DK" sz="2300" dirty="0"/>
              <a:t>2</a:t>
            </a:r>
            <a:r>
              <a:rPr lang="da-DK" sz="2300" b="1" baseline="30000" dirty="0"/>
              <a:t>1</a:t>
            </a:r>
            <a:r>
              <a:rPr lang="da-DK" sz="2300" dirty="0"/>
              <a:t> = 2 = </a:t>
            </a:r>
            <a:r>
              <a:rPr lang="da-DK" sz="2300" b="1" dirty="0">
                <a:solidFill>
                  <a:srgbClr val="C00000"/>
                </a:solidFill>
              </a:rPr>
              <a:t>2</a:t>
            </a:r>
            <a:r>
              <a:rPr lang="da-DK" sz="2300" b="1" dirty="0"/>
              <a:t> </a:t>
            </a:r>
            <a:r>
              <a:rPr lang="da-DK" sz="2300" dirty="0"/>
              <a:t>(mod 11) </a:t>
            </a:r>
          </a:p>
          <a:p>
            <a:r>
              <a:rPr lang="da-DK" sz="2300" dirty="0"/>
              <a:t>2</a:t>
            </a:r>
            <a:r>
              <a:rPr lang="da-DK" sz="2300" b="1" baseline="30000" dirty="0"/>
              <a:t>8</a:t>
            </a:r>
            <a:r>
              <a:rPr lang="da-DK" sz="2300" baseline="30000" dirty="0"/>
              <a:t> </a:t>
            </a:r>
            <a:r>
              <a:rPr lang="da-DK" sz="2300" dirty="0"/>
              <a:t>= 256 = </a:t>
            </a:r>
            <a:r>
              <a:rPr lang="da-DK" sz="2300" b="1" dirty="0">
                <a:solidFill>
                  <a:srgbClr val="C00000"/>
                </a:solidFill>
              </a:rPr>
              <a:t>3</a:t>
            </a:r>
            <a:r>
              <a:rPr lang="da-DK" sz="2300" dirty="0"/>
              <a:t> (mod 11) </a:t>
            </a:r>
          </a:p>
          <a:p>
            <a:r>
              <a:rPr lang="da-DK" sz="2300" dirty="0"/>
              <a:t>2</a:t>
            </a:r>
            <a:r>
              <a:rPr lang="da-DK" sz="2300" b="1" baseline="30000" dirty="0"/>
              <a:t>2</a:t>
            </a:r>
            <a:r>
              <a:rPr lang="da-DK" sz="2300" dirty="0"/>
              <a:t> = 4 = </a:t>
            </a:r>
            <a:r>
              <a:rPr lang="da-DK" sz="2300" b="1" dirty="0">
                <a:solidFill>
                  <a:srgbClr val="C00000"/>
                </a:solidFill>
              </a:rPr>
              <a:t>4</a:t>
            </a:r>
            <a:r>
              <a:rPr lang="da-DK" sz="2300" dirty="0"/>
              <a:t> (mod 11) </a:t>
            </a:r>
          </a:p>
          <a:p>
            <a:r>
              <a:rPr lang="da-DK" sz="2300" dirty="0"/>
              <a:t>2</a:t>
            </a:r>
            <a:r>
              <a:rPr lang="da-DK" sz="2300" b="1" baseline="30000" dirty="0"/>
              <a:t>4</a:t>
            </a:r>
            <a:r>
              <a:rPr lang="da-DK" sz="2300" dirty="0"/>
              <a:t> =16 = </a:t>
            </a:r>
            <a:r>
              <a:rPr lang="da-DK" sz="2300" b="1" dirty="0">
                <a:solidFill>
                  <a:srgbClr val="C00000"/>
                </a:solidFill>
              </a:rPr>
              <a:t>5</a:t>
            </a:r>
            <a:r>
              <a:rPr lang="da-DK" sz="2300" dirty="0"/>
              <a:t> (mod 11) </a:t>
            </a:r>
          </a:p>
          <a:p>
            <a:r>
              <a:rPr lang="da-DK" sz="2300" dirty="0"/>
              <a:t>2</a:t>
            </a:r>
            <a:r>
              <a:rPr lang="da-DK" sz="2300" b="1" baseline="30000" dirty="0"/>
              <a:t>9</a:t>
            </a:r>
            <a:r>
              <a:rPr lang="da-DK" sz="2300" dirty="0"/>
              <a:t> = 512 = </a:t>
            </a:r>
            <a:r>
              <a:rPr lang="da-DK" sz="2300" b="1" dirty="0">
                <a:solidFill>
                  <a:srgbClr val="C00000"/>
                </a:solidFill>
              </a:rPr>
              <a:t>6</a:t>
            </a:r>
            <a:r>
              <a:rPr lang="da-DK" sz="2300" dirty="0"/>
              <a:t> (mod 11) </a:t>
            </a:r>
          </a:p>
          <a:p>
            <a:r>
              <a:rPr lang="da-DK" sz="2300" dirty="0"/>
              <a:t>2</a:t>
            </a:r>
            <a:r>
              <a:rPr lang="da-DK" sz="2300" b="1" baseline="30000" dirty="0"/>
              <a:t>7</a:t>
            </a:r>
            <a:r>
              <a:rPr lang="da-DK" sz="2300" dirty="0"/>
              <a:t> = 128 = </a:t>
            </a:r>
            <a:r>
              <a:rPr lang="da-DK" sz="2300" b="1" dirty="0">
                <a:solidFill>
                  <a:srgbClr val="C00000"/>
                </a:solidFill>
              </a:rPr>
              <a:t>7</a:t>
            </a:r>
            <a:r>
              <a:rPr lang="da-DK" sz="2300" dirty="0"/>
              <a:t> (mod 11) </a:t>
            </a:r>
          </a:p>
          <a:p>
            <a:r>
              <a:rPr lang="da-DK" sz="2300" dirty="0"/>
              <a:t>2</a:t>
            </a:r>
            <a:r>
              <a:rPr lang="da-DK" sz="2300" b="1" baseline="30000" dirty="0"/>
              <a:t>3</a:t>
            </a:r>
            <a:r>
              <a:rPr lang="da-DK" sz="2300" dirty="0"/>
              <a:t> = 8 = </a:t>
            </a:r>
            <a:r>
              <a:rPr lang="da-DK" sz="2300" b="1" dirty="0">
                <a:solidFill>
                  <a:srgbClr val="C00000"/>
                </a:solidFill>
              </a:rPr>
              <a:t>8</a:t>
            </a:r>
            <a:r>
              <a:rPr lang="da-DK" sz="2300" dirty="0"/>
              <a:t> (mod 11) </a:t>
            </a:r>
          </a:p>
          <a:p>
            <a:r>
              <a:rPr lang="da-DK" sz="2300" dirty="0"/>
              <a:t>2</a:t>
            </a:r>
            <a:r>
              <a:rPr lang="da-DK" sz="2300" b="1" baseline="30000" dirty="0"/>
              <a:t>6</a:t>
            </a:r>
            <a:r>
              <a:rPr lang="da-DK" sz="2300" dirty="0"/>
              <a:t> = 64 = </a:t>
            </a:r>
            <a:r>
              <a:rPr lang="da-DK" sz="2300" b="1" dirty="0">
                <a:solidFill>
                  <a:srgbClr val="C00000"/>
                </a:solidFill>
              </a:rPr>
              <a:t>9</a:t>
            </a:r>
            <a:r>
              <a:rPr lang="da-DK" sz="2300" dirty="0"/>
              <a:t> (mod 11) </a:t>
            </a:r>
          </a:p>
          <a:p>
            <a:r>
              <a:rPr lang="da-DK" sz="2300" dirty="0"/>
              <a:t>2</a:t>
            </a:r>
            <a:r>
              <a:rPr lang="da-DK" sz="2300" b="1" baseline="30000" dirty="0"/>
              <a:t>5</a:t>
            </a:r>
            <a:r>
              <a:rPr lang="da-DK" sz="2300" dirty="0"/>
              <a:t> = 32 = </a:t>
            </a:r>
            <a:r>
              <a:rPr lang="da-DK" sz="2300" b="1" dirty="0">
                <a:solidFill>
                  <a:srgbClr val="C00000"/>
                </a:solidFill>
              </a:rPr>
              <a:t>10</a:t>
            </a:r>
            <a:r>
              <a:rPr lang="da-DK" sz="2300" dirty="0"/>
              <a:t> (mod 11)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300" b="1" dirty="0" smtClean="0">
                <a:solidFill>
                  <a:srgbClr val="FF0000"/>
                </a:solidFill>
              </a:rPr>
              <a:t>g=2</a:t>
            </a:r>
            <a:r>
              <a:rPr lang="fr-FR" sz="2300" dirty="0" smtClean="0"/>
              <a:t> </a:t>
            </a:r>
            <a:r>
              <a:rPr lang="fr-FR" sz="2300" dirty="0"/>
              <a:t>est </a:t>
            </a:r>
            <a:r>
              <a:rPr lang="fr-FR" sz="2300" b="1" dirty="0">
                <a:solidFill>
                  <a:srgbClr val="FF0000"/>
                </a:solidFill>
              </a:rPr>
              <a:t>générateur</a:t>
            </a:r>
            <a:r>
              <a:rPr lang="fr-FR" sz="2300" dirty="0"/>
              <a:t> dans </a:t>
            </a:r>
            <a:r>
              <a:rPr lang="fr-FR" sz="2300" b="1" dirty="0"/>
              <a:t>G= (Z/11Z)* ) et 4=log</a:t>
            </a:r>
            <a:r>
              <a:rPr lang="fr-FR" sz="2300" b="1" baseline="-25000" dirty="0"/>
              <a:t>2</a:t>
            </a:r>
            <a:r>
              <a:rPr lang="fr-FR" sz="2300" b="1" dirty="0"/>
              <a:t>(5) </a:t>
            </a:r>
          </a:p>
        </p:txBody>
      </p:sp>
    </p:spTree>
    <p:extLst>
      <p:ext uri="{BB962C8B-B14F-4D97-AF65-F5344CB8AC3E}">
        <p14:creationId xmlns:p14="http://schemas.microsoft.com/office/powerpoint/2010/main" val="273020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dirty="0" smtClean="0">
                <a:solidFill>
                  <a:srgbClr val="FF0000"/>
                </a:solidFill>
              </a:rPr>
              <a:t>Problème </a:t>
            </a:r>
            <a:r>
              <a:rPr lang="fr-FR" sz="2400" dirty="0">
                <a:solidFill>
                  <a:srgbClr val="FF0000"/>
                </a:solidFill>
              </a:rPr>
              <a:t>du log discret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89289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dirty="0" smtClean="0"/>
              <a:t>Soit </a:t>
            </a:r>
            <a:r>
              <a:rPr lang="fr-FR" sz="2400" b="1" dirty="0"/>
              <a:t>h</a:t>
            </a:r>
            <a:r>
              <a:rPr lang="fr-FR" sz="2400" dirty="0"/>
              <a:t> dans </a:t>
            </a:r>
            <a:r>
              <a:rPr lang="fr-FR" sz="2400" b="1" dirty="0"/>
              <a:t>G groupe engendré </a:t>
            </a:r>
            <a:r>
              <a:rPr lang="fr-FR" sz="2400" dirty="0"/>
              <a:t>par un </a:t>
            </a:r>
            <a:r>
              <a:rPr lang="fr-FR" sz="2400" b="1" dirty="0"/>
              <a:t>élément g</a:t>
            </a:r>
            <a:r>
              <a:rPr lang="fr-FR" sz="2400" dirty="0"/>
              <a:t>,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dirty="0" smtClean="0"/>
              <a:t>Connaissant </a:t>
            </a:r>
            <a:r>
              <a:rPr lang="fr-FR" sz="2400" b="1" dirty="0" err="1">
                <a:solidFill>
                  <a:srgbClr val="C00000"/>
                </a:solidFill>
              </a:rPr>
              <a:t>G,g,h</a:t>
            </a:r>
            <a:r>
              <a:rPr lang="fr-FR" sz="2400" dirty="0"/>
              <a:t>, le problème est de trouver </a:t>
            </a:r>
            <a:r>
              <a:rPr lang="fr-FR" sz="2400" b="1" dirty="0"/>
              <a:t>x </a:t>
            </a:r>
            <a:r>
              <a:rPr lang="fr-FR" sz="2400" dirty="0"/>
              <a:t>dans Z tel que : </a:t>
            </a:r>
            <a:r>
              <a:rPr lang="fr-FR" sz="2400" dirty="0" smtClean="0"/>
              <a:t> </a:t>
            </a:r>
            <a:r>
              <a:rPr lang="fr-FR" sz="2400" b="1" dirty="0" smtClean="0">
                <a:solidFill>
                  <a:srgbClr val="C00000"/>
                </a:solidFill>
              </a:rPr>
              <a:t>h </a:t>
            </a:r>
            <a:r>
              <a:rPr lang="fr-FR" sz="2400" b="1" dirty="0">
                <a:solidFill>
                  <a:srgbClr val="C00000"/>
                </a:solidFill>
              </a:rPr>
              <a:t>= </a:t>
            </a:r>
            <a:r>
              <a:rPr lang="fr-FR" sz="2400" b="1" dirty="0" err="1">
                <a:solidFill>
                  <a:srgbClr val="C00000"/>
                </a:solidFill>
              </a:rPr>
              <a:t>g</a:t>
            </a:r>
            <a:r>
              <a:rPr lang="fr-FR" sz="2400" b="1" baseline="30000" dirty="0" err="1">
                <a:solidFill>
                  <a:srgbClr val="C00000"/>
                </a:solidFill>
              </a:rPr>
              <a:t>x</a:t>
            </a:r>
            <a:r>
              <a:rPr lang="fr-FR" sz="2400" b="1" dirty="0">
                <a:solidFill>
                  <a:srgbClr val="C00000"/>
                </a:solidFill>
              </a:rPr>
              <a:t>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dirty="0" smtClean="0"/>
              <a:t>Compte </a:t>
            </a:r>
            <a:r>
              <a:rPr lang="fr-FR" sz="2400" dirty="0"/>
              <a:t>tenu des méthodes actuelles de résolution du log discret, il est souhaitable d’utiliser </a:t>
            </a:r>
            <a:r>
              <a:rPr lang="fr-FR" sz="2400" b="1" dirty="0"/>
              <a:t>un nombre premier p </a:t>
            </a:r>
            <a:r>
              <a:rPr lang="fr-FR" sz="2400" dirty="0"/>
              <a:t>de 1024 bits (ou plus) choisi au hasard. </a:t>
            </a:r>
          </a:p>
        </p:txBody>
      </p:sp>
    </p:spTree>
    <p:extLst>
      <p:ext uri="{BB962C8B-B14F-4D97-AF65-F5344CB8AC3E}">
        <p14:creationId xmlns:p14="http://schemas.microsoft.com/office/powerpoint/2010/main" val="88477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Génération </a:t>
            </a:r>
            <a:r>
              <a:rPr lang="fr-FR" sz="2400" b="1" dirty="0">
                <a:solidFill>
                  <a:srgbClr val="FF0000"/>
                </a:solidFill>
              </a:rPr>
              <a:t>des clés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dirty="0" smtClean="0"/>
              <a:t>On </a:t>
            </a:r>
            <a:r>
              <a:rPr lang="fr-FR" sz="2400" dirty="0"/>
              <a:t>génère </a:t>
            </a:r>
            <a:r>
              <a:rPr lang="fr-FR" sz="2400" b="1" dirty="0"/>
              <a:t>un nombre </a:t>
            </a:r>
            <a:r>
              <a:rPr lang="fr-FR" sz="2400" b="1" dirty="0">
                <a:solidFill>
                  <a:srgbClr val="FF0000"/>
                </a:solidFill>
              </a:rPr>
              <a:t>premier p</a:t>
            </a:r>
            <a:r>
              <a:rPr lang="fr-FR" sz="2400" b="1" dirty="0"/>
              <a:t> de grande taille</a:t>
            </a:r>
            <a:r>
              <a:rPr lang="fr-FR" sz="2400" dirty="0"/>
              <a:t> et un </a:t>
            </a:r>
            <a:r>
              <a:rPr lang="fr-FR" sz="2400" b="1" dirty="0">
                <a:solidFill>
                  <a:srgbClr val="FF0000"/>
                </a:solidFill>
              </a:rPr>
              <a:t>générateur </a:t>
            </a:r>
            <a:r>
              <a:rPr lang="fr-FR" sz="2400" b="1" dirty="0" smtClean="0">
                <a:solidFill>
                  <a:srgbClr val="FF0000"/>
                </a:solidFill>
              </a:rPr>
              <a:t>g (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Racine primitif </a:t>
            </a:r>
            <a:r>
              <a:rPr lang="fr-FR" sz="2400" b="1" dirty="0" smtClean="0">
                <a:solidFill>
                  <a:srgbClr val="FF0000"/>
                </a:solidFill>
              </a:rPr>
              <a:t>) </a:t>
            </a:r>
            <a:r>
              <a:rPr lang="fr-FR" sz="2400" dirty="0"/>
              <a:t>du </a:t>
            </a:r>
            <a:r>
              <a:rPr lang="fr-FR" sz="2400" b="1" dirty="0"/>
              <a:t>groupe multiplicatif G=( Z/</a:t>
            </a:r>
            <a:r>
              <a:rPr lang="fr-FR" sz="2400" b="1" dirty="0" err="1"/>
              <a:t>pZ</a:t>
            </a:r>
            <a:r>
              <a:rPr lang="fr-FR" sz="2400" b="1" dirty="0"/>
              <a:t>)*</a:t>
            </a:r>
            <a:r>
              <a:rPr lang="fr-FR" sz="2400" dirty="0"/>
              <a:t> (Ces quantités sont </a:t>
            </a:r>
            <a:r>
              <a:rPr lang="fr-FR" sz="2400" b="1" dirty="0"/>
              <a:t>publiques</a:t>
            </a:r>
            <a:r>
              <a:rPr lang="fr-FR" sz="2400" dirty="0"/>
              <a:t>).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b="1" dirty="0" smtClean="0"/>
              <a:t>Alice </a:t>
            </a:r>
            <a:r>
              <a:rPr lang="fr-FR" sz="2400" b="1" dirty="0"/>
              <a:t>crée </a:t>
            </a:r>
            <a:r>
              <a:rPr lang="fr-FR" sz="2400" dirty="0"/>
              <a:t>une </a:t>
            </a:r>
            <a:r>
              <a:rPr lang="fr-FR" sz="2400" b="1" dirty="0"/>
              <a:t>paire de clés (</a:t>
            </a:r>
            <a:r>
              <a:rPr lang="fr-FR" sz="2400" b="1" dirty="0">
                <a:solidFill>
                  <a:srgbClr val="C00000"/>
                </a:solidFill>
              </a:rPr>
              <a:t>publique et privée</a:t>
            </a:r>
            <a:r>
              <a:rPr lang="fr-FR" sz="2400" b="1" dirty="0"/>
              <a:t>) </a:t>
            </a:r>
            <a:r>
              <a:rPr lang="fr-FR" sz="2400" dirty="0"/>
              <a:t>comme suit :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 </a:t>
            </a:r>
            <a:r>
              <a:rPr lang="fr-FR" sz="2400" dirty="0"/>
              <a:t>Elle </a:t>
            </a:r>
            <a:r>
              <a:rPr lang="fr-FR" sz="2400" b="1" dirty="0">
                <a:solidFill>
                  <a:srgbClr val="C00000"/>
                </a:solidFill>
              </a:rPr>
              <a:t>génère un nombre aléatoire </a:t>
            </a:r>
            <a:r>
              <a:rPr lang="fr-FR" sz="2400" b="1" dirty="0">
                <a:solidFill>
                  <a:srgbClr val="FF0000"/>
                </a:solidFill>
              </a:rPr>
              <a:t>a</a:t>
            </a:r>
            <a:r>
              <a:rPr lang="fr-FR" sz="2400" dirty="0"/>
              <a:t>, tel que: </a:t>
            </a:r>
            <a:r>
              <a:rPr lang="fr-FR" sz="2400" b="1" dirty="0"/>
              <a:t>1 ≤ a ≤ p-2 </a:t>
            </a:r>
            <a:r>
              <a:rPr lang="fr-FR" sz="2400" dirty="0"/>
              <a:t>et calcule </a:t>
            </a:r>
            <a:r>
              <a:rPr lang="fr-FR" sz="2400" b="1" dirty="0" err="1">
                <a:solidFill>
                  <a:srgbClr val="C00000"/>
                </a:solidFill>
              </a:rPr>
              <a:t>g</a:t>
            </a:r>
            <a:r>
              <a:rPr lang="fr-FR" sz="2400" b="1" baseline="30000" dirty="0" err="1">
                <a:solidFill>
                  <a:srgbClr val="C00000"/>
                </a:solidFill>
              </a:rPr>
              <a:t>a</a:t>
            </a:r>
            <a:r>
              <a:rPr lang="fr-FR" sz="2400" b="1" baseline="30000" dirty="0">
                <a:solidFill>
                  <a:srgbClr val="C00000"/>
                </a:solidFill>
              </a:rPr>
              <a:t> </a:t>
            </a:r>
            <a:r>
              <a:rPr lang="fr-FR" sz="2400" b="1" dirty="0" err="1">
                <a:solidFill>
                  <a:srgbClr val="C00000"/>
                </a:solidFill>
              </a:rPr>
              <a:t>mod</a:t>
            </a:r>
            <a:r>
              <a:rPr lang="fr-FR" sz="2400" b="1" dirty="0">
                <a:solidFill>
                  <a:srgbClr val="C00000"/>
                </a:solidFill>
              </a:rPr>
              <a:t> p</a:t>
            </a:r>
            <a:r>
              <a:rPr lang="fr-FR" sz="2400" dirty="0"/>
              <a:t>. </a:t>
            </a:r>
            <a:r>
              <a:rPr lang="fr-FR" sz="2400" dirty="0" smtClean="0"/>
              <a:t>(PGCD(</a:t>
            </a:r>
            <a:r>
              <a:rPr lang="fr-FR" sz="2400" dirty="0" err="1" smtClean="0"/>
              <a:t>a,p</a:t>
            </a:r>
            <a:r>
              <a:rPr lang="fr-FR" sz="2400" dirty="0" smtClean="0"/>
              <a:t>)=1)</a:t>
            </a:r>
            <a:endParaRPr lang="fr-FR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dirty="0" smtClean="0"/>
              <a:t> La </a:t>
            </a:r>
            <a:r>
              <a:rPr lang="fr-FR" sz="2400" b="1" dirty="0"/>
              <a:t>clé publique d’Alice </a:t>
            </a:r>
            <a:r>
              <a:rPr lang="fr-FR" sz="2400" dirty="0"/>
              <a:t>est (</a:t>
            </a:r>
            <a:r>
              <a:rPr lang="fr-FR" sz="2400" b="1" dirty="0">
                <a:solidFill>
                  <a:srgbClr val="C00000"/>
                </a:solidFill>
              </a:rPr>
              <a:t>p, g, </a:t>
            </a:r>
            <a:r>
              <a:rPr lang="fr-FR" sz="2400" b="1" dirty="0" err="1">
                <a:solidFill>
                  <a:srgbClr val="C00000"/>
                </a:solidFill>
              </a:rPr>
              <a:t>g</a:t>
            </a:r>
            <a:r>
              <a:rPr lang="fr-FR" sz="2400" b="1" baseline="30000" dirty="0" err="1">
                <a:solidFill>
                  <a:srgbClr val="C00000"/>
                </a:solidFill>
              </a:rPr>
              <a:t>a</a:t>
            </a:r>
            <a:r>
              <a:rPr lang="fr-FR" sz="2400" b="1" dirty="0">
                <a:solidFill>
                  <a:srgbClr val="C00000"/>
                </a:solidFill>
              </a:rPr>
              <a:t> </a:t>
            </a:r>
            <a:r>
              <a:rPr lang="fr-FR" sz="2400" b="1" dirty="0" err="1">
                <a:solidFill>
                  <a:srgbClr val="C00000"/>
                </a:solidFill>
              </a:rPr>
              <a:t>mod</a:t>
            </a:r>
            <a:r>
              <a:rPr lang="fr-FR" sz="2400" b="1" dirty="0">
                <a:solidFill>
                  <a:srgbClr val="C00000"/>
                </a:solidFill>
              </a:rPr>
              <a:t> p=</a:t>
            </a:r>
            <a:r>
              <a:rPr lang="fr-FR" sz="2400" b="1" dirty="0">
                <a:solidFill>
                  <a:srgbClr val="FF0000"/>
                </a:solidFill>
              </a:rPr>
              <a:t>A</a:t>
            </a:r>
            <a:r>
              <a:rPr lang="fr-FR" sz="2400" dirty="0"/>
              <a:t>), </a:t>
            </a:r>
            <a:r>
              <a:rPr lang="fr-FR" sz="2400" dirty="0" smtClean="0"/>
              <a:t>et </a:t>
            </a:r>
            <a:r>
              <a:rPr lang="fr-FR" sz="2400" dirty="0"/>
              <a:t>sa </a:t>
            </a:r>
            <a:r>
              <a:rPr lang="fr-FR" sz="2400" b="1" dirty="0"/>
              <a:t>clé privée est </a:t>
            </a:r>
            <a:r>
              <a:rPr lang="fr-FR" sz="2400" b="1" dirty="0">
                <a:solidFill>
                  <a:srgbClr val="FF0000"/>
                </a:solidFill>
              </a:rPr>
              <a:t>a</a:t>
            </a:r>
            <a:r>
              <a:rPr lang="fr-FR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6092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Chiffrement </a:t>
            </a:r>
            <a:r>
              <a:rPr lang="fr-FR" sz="2400" b="1" dirty="0" err="1">
                <a:solidFill>
                  <a:srgbClr val="FF0000"/>
                </a:solidFill>
              </a:rPr>
              <a:t>ElGamal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 Bob </a:t>
            </a:r>
            <a:r>
              <a:rPr lang="fr-FR" sz="2400" dirty="0"/>
              <a:t>obtient (</a:t>
            </a:r>
            <a:r>
              <a:rPr lang="fr-FR" sz="2400" b="1" dirty="0">
                <a:solidFill>
                  <a:srgbClr val="C00000"/>
                </a:solidFill>
              </a:rPr>
              <a:t>p, g, </a:t>
            </a:r>
            <a:r>
              <a:rPr lang="fr-FR" sz="2400" b="1" dirty="0" err="1">
                <a:solidFill>
                  <a:srgbClr val="C00000"/>
                </a:solidFill>
              </a:rPr>
              <a:t>g</a:t>
            </a:r>
            <a:r>
              <a:rPr lang="fr-FR" sz="2400" b="1" baseline="30000" dirty="0" err="1">
                <a:solidFill>
                  <a:srgbClr val="C00000"/>
                </a:solidFill>
              </a:rPr>
              <a:t>a</a:t>
            </a:r>
            <a:r>
              <a:rPr lang="fr-FR" sz="2400" b="1" dirty="0">
                <a:solidFill>
                  <a:srgbClr val="C00000"/>
                </a:solidFill>
              </a:rPr>
              <a:t> </a:t>
            </a:r>
            <a:r>
              <a:rPr lang="fr-FR" sz="2400" b="1" dirty="0" err="1">
                <a:solidFill>
                  <a:srgbClr val="C00000"/>
                </a:solidFill>
              </a:rPr>
              <a:t>mod</a:t>
            </a:r>
            <a:r>
              <a:rPr lang="fr-FR" sz="2400" b="1" dirty="0">
                <a:solidFill>
                  <a:srgbClr val="C00000"/>
                </a:solidFill>
              </a:rPr>
              <a:t> p=</a:t>
            </a:r>
            <a:r>
              <a:rPr lang="fr-FR" sz="2400" b="1" dirty="0">
                <a:solidFill>
                  <a:srgbClr val="FF0000"/>
                </a:solidFill>
              </a:rPr>
              <a:t>A</a:t>
            </a:r>
            <a:r>
              <a:rPr lang="fr-FR" sz="2400" dirty="0"/>
              <a:t>), la </a:t>
            </a:r>
            <a:r>
              <a:rPr lang="fr-FR" sz="2400" b="1" dirty="0"/>
              <a:t>clé publique authentique d’Alice</a:t>
            </a:r>
            <a:r>
              <a:rPr lang="fr-FR" sz="2400" dirty="0"/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dirty="0" smtClean="0"/>
              <a:t>Il </a:t>
            </a:r>
            <a:r>
              <a:rPr lang="fr-FR" sz="2400" dirty="0"/>
              <a:t>souhaite envoyer un message, représenté ici par </a:t>
            </a:r>
            <a:r>
              <a:rPr lang="fr-FR" sz="2400" b="1" dirty="0"/>
              <a:t>un entier m</a:t>
            </a:r>
            <a:r>
              <a:rPr lang="fr-FR" sz="2400" dirty="0"/>
              <a:t> de G </a:t>
            </a:r>
            <a:r>
              <a:rPr lang="fr-FR" sz="2400" dirty="0" smtClean="0"/>
              <a:t> (m &lt; p)</a:t>
            </a:r>
            <a:endParaRPr lang="fr-FR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</a:t>
            </a:r>
            <a:r>
              <a:rPr lang="fr-FR" sz="2400" dirty="0" smtClean="0"/>
              <a:t>Pour </a:t>
            </a:r>
            <a:r>
              <a:rPr lang="fr-FR" sz="2400" dirty="0"/>
              <a:t>chiffrer ce message, </a:t>
            </a:r>
            <a:r>
              <a:rPr lang="fr-FR" sz="2400" b="1" dirty="0"/>
              <a:t>Bob génère un nombre aléatoire unique k, tel que: 1 ≤ k ≤ p-2</a:t>
            </a:r>
            <a:r>
              <a:rPr lang="fr-FR" sz="2400" dirty="0"/>
              <a:t>. </a:t>
            </a:r>
            <a:r>
              <a:rPr lang="fr-FR" sz="2400" dirty="0" smtClean="0"/>
              <a:t>(PGCD(</a:t>
            </a:r>
            <a:r>
              <a:rPr lang="fr-FR" sz="2400" dirty="0" err="1" smtClean="0"/>
              <a:t>k,p</a:t>
            </a:r>
            <a:r>
              <a:rPr lang="fr-FR" sz="2400" dirty="0" smtClean="0"/>
              <a:t>)=1)</a:t>
            </a:r>
            <a:endParaRPr lang="fr-FR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da-DK" sz="2400" dirty="0" smtClean="0"/>
              <a:t> </a:t>
            </a:r>
            <a:r>
              <a:rPr lang="da-DK" sz="2400" b="1" dirty="0" smtClean="0"/>
              <a:t>Bob calcule </a:t>
            </a:r>
            <a:r>
              <a:rPr lang="da-DK" sz="2400" b="1" dirty="0" smtClean="0">
                <a:solidFill>
                  <a:srgbClr val="C00000"/>
                </a:solidFill>
              </a:rPr>
              <a:t>C1 = g</a:t>
            </a:r>
            <a:r>
              <a:rPr lang="da-DK" sz="2400" b="1" baseline="30000" dirty="0" smtClean="0">
                <a:solidFill>
                  <a:srgbClr val="C00000"/>
                </a:solidFill>
              </a:rPr>
              <a:t>k</a:t>
            </a:r>
            <a:r>
              <a:rPr lang="da-DK" sz="2400" b="1" dirty="0" smtClean="0">
                <a:solidFill>
                  <a:srgbClr val="C00000"/>
                </a:solidFill>
              </a:rPr>
              <a:t> mod </a:t>
            </a:r>
            <a:r>
              <a:rPr lang="da-DK" sz="2400" b="1" dirty="0">
                <a:solidFill>
                  <a:srgbClr val="C00000"/>
                </a:solidFill>
              </a:rPr>
              <a:t>p </a:t>
            </a:r>
            <a:r>
              <a:rPr lang="da-DK" sz="2400" b="1" dirty="0" smtClean="0">
                <a:solidFill>
                  <a:srgbClr val="C00000"/>
                </a:solidFill>
              </a:rPr>
              <a:t> </a:t>
            </a:r>
            <a:r>
              <a:rPr lang="da-DK" sz="2400" dirty="0" smtClean="0"/>
              <a:t>et </a:t>
            </a:r>
            <a:r>
              <a:rPr lang="da-DK" sz="2400" b="1" dirty="0">
                <a:solidFill>
                  <a:srgbClr val="C00000"/>
                </a:solidFill>
              </a:rPr>
              <a:t>C2 = m.A</a:t>
            </a:r>
            <a:r>
              <a:rPr lang="da-DK" sz="2400" b="1" baseline="30000" dirty="0">
                <a:solidFill>
                  <a:srgbClr val="C00000"/>
                </a:solidFill>
              </a:rPr>
              <a:t>k</a:t>
            </a:r>
            <a:r>
              <a:rPr lang="da-DK" sz="2400" b="1" dirty="0">
                <a:solidFill>
                  <a:srgbClr val="C00000"/>
                </a:solidFill>
              </a:rPr>
              <a:t> mod p 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et envoie le </a:t>
            </a:r>
            <a:r>
              <a:rPr lang="fr-FR" sz="2400" dirty="0" err="1"/>
              <a:t>ciphertext</a:t>
            </a:r>
            <a:r>
              <a:rPr lang="fr-FR" sz="2400" dirty="0"/>
              <a:t> </a:t>
            </a:r>
            <a:r>
              <a:rPr lang="fr-FR" sz="2400" b="1" dirty="0" smtClean="0">
                <a:solidFill>
                  <a:srgbClr val="C00000"/>
                </a:solidFill>
              </a:rPr>
              <a:t>C= </a:t>
            </a:r>
            <a:r>
              <a:rPr lang="fr-FR" sz="2400" b="1" dirty="0">
                <a:solidFill>
                  <a:srgbClr val="C00000"/>
                </a:solidFill>
              </a:rPr>
              <a:t>(C1,C2)</a:t>
            </a:r>
            <a:r>
              <a:rPr lang="fr-FR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5841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Déchiffrement </a:t>
            </a:r>
            <a:r>
              <a:rPr lang="fr-FR" sz="2400" b="1" dirty="0" err="1">
                <a:solidFill>
                  <a:srgbClr val="FF0000"/>
                </a:solidFill>
              </a:rPr>
              <a:t>ElGamal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Alice </a:t>
            </a:r>
            <a:r>
              <a:rPr lang="fr-FR" sz="2400" dirty="0"/>
              <a:t>utilise sa </a:t>
            </a:r>
            <a:r>
              <a:rPr lang="fr-FR" sz="2400" dirty="0">
                <a:solidFill>
                  <a:srgbClr val="FF0000"/>
                </a:solidFill>
              </a:rPr>
              <a:t>clé privée a </a:t>
            </a:r>
            <a:r>
              <a:rPr lang="fr-FR" sz="2400" dirty="0"/>
              <a:t>pour calculer:</a:t>
            </a:r>
          </a:p>
          <a:p>
            <a:pPr>
              <a:lnSpc>
                <a:spcPct val="200000"/>
              </a:lnSpc>
            </a:pPr>
            <a:r>
              <a:rPr lang="fr-FR" sz="2400" dirty="0" smtClean="0"/>
              <a:t>        D</a:t>
            </a:r>
            <a:r>
              <a:rPr lang="fr-FR" sz="2400" dirty="0"/>
              <a:t>= C1</a:t>
            </a:r>
            <a:r>
              <a:rPr lang="fr-FR" sz="2400" baseline="30000" dirty="0">
                <a:solidFill>
                  <a:srgbClr val="FF0000"/>
                </a:solidFill>
              </a:rPr>
              <a:t>a</a:t>
            </a:r>
            <a:r>
              <a:rPr lang="fr-FR" sz="2400" dirty="0"/>
              <a:t> </a:t>
            </a:r>
            <a:r>
              <a:rPr lang="fr-FR" sz="2400" dirty="0" err="1"/>
              <a:t>mod</a:t>
            </a:r>
            <a:r>
              <a:rPr lang="fr-FR" sz="2400" dirty="0"/>
              <a:t> p = </a:t>
            </a:r>
            <a:r>
              <a:rPr lang="fr-FR" sz="2400" dirty="0" err="1"/>
              <a:t>g</a:t>
            </a:r>
            <a:r>
              <a:rPr lang="fr-FR" sz="2400" baseline="30000" dirty="0" err="1"/>
              <a:t>ka</a:t>
            </a:r>
            <a:r>
              <a:rPr lang="fr-FR" sz="2400" dirty="0"/>
              <a:t> </a:t>
            </a:r>
            <a:r>
              <a:rPr lang="fr-FR" sz="2400" dirty="0" err="1"/>
              <a:t>mod</a:t>
            </a:r>
            <a:r>
              <a:rPr lang="fr-FR" sz="2400" dirty="0"/>
              <a:t> p = </a:t>
            </a:r>
            <a:r>
              <a:rPr lang="fr-FR" sz="2400" dirty="0" err="1"/>
              <a:t>A</a:t>
            </a:r>
            <a:r>
              <a:rPr lang="fr-FR" sz="2400" baseline="30000" dirty="0" err="1"/>
              <a:t>k</a:t>
            </a:r>
            <a:r>
              <a:rPr lang="fr-FR" sz="2400" baseline="30000" dirty="0"/>
              <a:t> </a:t>
            </a:r>
            <a:r>
              <a:rPr lang="fr-FR" sz="2400" dirty="0" err="1"/>
              <a:t>mod</a:t>
            </a:r>
            <a:r>
              <a:rPr lang="fr-FR" sz="2400" dirty="0"/>
              <a:t> p</a:t>
            </a:r>
          </a:p>
          <a:p>
            <a:pPr marL="685800" indent="-6858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Pour </a:t>
            </a:r>
            <a:r>
              <a:rPr lang="fr-FR" sz="2400" dirty="0"/>
              <a:t>déchiffrer le message m:</a:t>
            </a:r>
          </a:p>
          <a:p>
            <a:pPr>
              <a:lnSpc>
                <a:spcPct val="200000"/>
              </a:lnSpc>
            </a:pPr>
            <a:r>
              <a:rPr lang="fr-FR" sz="2400" dirty="0"/>
              <a:t>Alice calcule C2/D </a:t>
            </a:r>
            <a:r>
              <a:rPr lang="fr-FR" sz="2400" dirty="0" err="1"/>
              <a:t>mod</a:t>
            </a:r>
            <a:r>
              <a:rPr lang="fr-FR" sz="2400" dirty="0"/>
              <a:t> p = </a:t>
            </a:r>
            <a:r>
              <a:rPr lang="fr-FR" sz="2400" dirty="0" err="1"/>
              <a:t>m.A</a:t>
            </a:r>
            <a:r>
              <a:rPr lang="fr-FR" sz="2400" baseline="30000" dirty="0" err="1"/>
              <a:t>k</a:t>
            </a:r>
            <a:r>
              <a:rPr lang="fr-FR" sz="2400" dirty="0"/>
              <a:t>/</a:t>
            </a:r>
            <a:r>
              <a:rPr lang="fr-FR" sz="2400" dirty="0" err="1"/>
              <a:t>A</a:t>
            </a:r>
            <a:r>
              <a:rPr lang="fr-FR" sz="2400" baseline="30000" dirty="0" err="1"/>
              <a:t>k</a:t>
            </a:r>
            <a:r>
              <a:rPr lang="fr-FR" sz="2400" baseline="30000" dirty="0"/>
              <a:t> </a:t>
            </a:r>
            <a:r>
              <a:rPr lang="fr-FR" sz="2400" dirty="0" err="1"/>
              <a:t>mod</a:t>
            </a:r>
            <a:r>
              <a:rPr lang="fr-FR" sz="2400" dirty="0"/>
              <a:t> p = m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987824" y="4509120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m=c2​⋅(c1</a:t>
            </a:r>
            <a:r>
              <a:rPr lang="fr-FR" sz="2800" b="1" baseline="30000" dirty="0">
                <a:solidFill>
                  <a:srgbClr val="FF0000"/>
                </a:solidFill>
              </a:rPr>
              <a:t>a</a:t>
            </a:r>
            <a:r>
              <a:rPr lang="fr-FR" sz="2800" b="1" dirty="0">
                <a:solidFill>
                  <a:srgbClr val="FF0000"/>
                </a:solidFill>
              </a:rPr>
              <a:t>​)</a:t>
            </a:r>
            <a:r>
              <a:rPr lang="fr-FR" sz="2800" b="1" baseline="30000" dirty="0">
                <a:solidFill>
                  <a:srgbClr val="FF0000"/>
                </a:solidFill>
              </a:rPr>
              <a:t>−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1</a:t>
            </a:r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err="1" smtClean="0">
                <a:solidFill>
                  <a:srgbClr val="FF0000"/>
                </a:solidFill>
              </a:rPr>
              <a:t>mod</a:t>
            </a:r>
            <a:r>
              <a:rPr lang="fr-FR" sz="2800" b="1" dirty="0" smtClean="0">
                <a:solidFill>
                  <a:srgbClr val="FF0000"/>
                </a:solidFill>
              </a:rPr>
              <a:t> p</a:t>
            </a:r>
            <a:endParaRPr lang="fr-F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13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r>
              <a:rPr lang="fr-FR" sz="2800" dirty="0"/>
              <a:t>Exemple </a:t>
            </a:r>
          </a:p>
          <a:p>
            <a:r>
              <a:rPr lang="fr-FR" sz="2800" dirty="0"/>
              <a:t>•Un premier p=13 , un générateur g=2, a=3, message m=11 et </a:t>
            </a:r>
            <a:r>
              <a:rPr lang="fr-FR" sz="2800" dirty="0" err="1"/>
              <a:t>random</a:t>
            </a:r>
            <a:r>
              <a:rPr lang="fr-FR" sz="2800" dirty="0"/>
              <a:t> k=5. </a:t>
            </a:r>
            <a:r>
              <a:rPr lang="fr-FR" sz="2800" dirty="0" smtClean="0"/>
              <a:t> appliquer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endParaRPr lang="fr-FR" sz="28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037113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Exemple: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Un </a:t>
            </a:r>
            <a:r>
              <a:rPr lang="fr-FR" sz="2400" dirty="0"/>
              <a:t>premier p=13 , un générateur g=2, a=3, message m=11 et </a:t>
            </a:r>
            <a:r>
              <a:rPr lang="fr-FR" sz="2400" dirty="0" err="1"/>
              <a:t>random</a:t>
            </a:r>
            <a:r>
              <a:rPr lang="fr-FR" sz="2400" dirty="0"/>
              <a:t> k=5</a:t>
            </a:r>
            <a:r>
              <a:rPr lang="fr-FR" sz="2400" dirty="0" smtClean="0"/>
              <a:t>.</a:t>
            </a:r>
          </a:p>
          <a:p>
            <a:r>
              <a:rPr lang="fr-FR" sz="2400" b="1" dirty="0"/>
              <a:t>Clé secrète </a:t>
            </a:r>
          </a:p>
          <a:p>
            <a:r>
              <a:rPr lang="fr-FR" sz="2400" b="1" dirty="0"/>
              <a:t>Clé publique </a:t>
            </a:r>
          </a:p>
          <a:p>
            <a:r>
              <a:rPr lang="fr-FR" sz="2400" b="1" dirty="0"/>
              <a:t>Chiffrement </a:t>
            </a:r>
          </a:p>
          <a:p>
            <a:r>
              <a:rPr lang="fr-FR" sz="2400" b="1" dirty="0"/>
              <a:t>Déchiffrement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 smtClean="0"/>
              <a:t>Clé </a:t>
            </a:r>
            <a:r>
              <a:rPr lang="pt-BR" sz="2400" b="1" dirty="0"/>
              <a:t>secrète </a:t>
            </a:r>
            <a:r>
              <a:rPr lang="pt-BR" sz="2400" dirty="0"/>
              <a:t>: </a:t>
            </a:r>
            <a:r>
              <a:rPr lang="pt-BR" sz="2400" b="1" dirty="0">
                <a:solidFill>
                  <a:srgbClr val="C00000"/>
                </a:solidFill>
              </a:rPr>
              <a:t>a = 3 </a:t>
            </a:r>
            <a:r>
              <a:rPr lang="pt-BR" sz="2400" b="1" dirty="0" smtClean="0">
                <a:solidFill>
                  <a:srgbClr val="C00000"/>
                </a:solidFill>
              </a:rPr>
              <a:t>               A=2</a:t>
            </a:r>
            <a:r>
              <a:rPr lang="pt-BR" sz="2400" b="1" baseline="30000" dirty="0" smtClean="0">
                <a:solidFill>
                  <a:srgbClr val="C00000"/>
                </a:solidFill>
              </a:rPr>
              <a:t>3</a:t>
            </a:r>
            <a:r>
              <a:rPr lang="pt-BR" sz="2400" b="1" dirty="0" smtClean="0">
                <a:solidFill>
                  <a:srgbClr val="C00000"/>
                </a:solidFill>
              </a:rPr>
              <a:t> </a:t>
            </a:r>
            <a:r>
              <a:rPr lang="pt-BR" sz="2400" b="1" dirty="0">
                <a:solidFill>
                  <a:srgbClr val="C00000"/>
                </a:solidFill>
              </a:rPr>
              <a:t>mod 13= 8</a:t>
            </a:r>
            <a:r>
              <a:rPr lang="pt-BR" sz="2400" dirty="0"/>
              <a:t>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 smtClean="0"/>
              <a:t>Clé </a:t>
            </a:r>
            <a:r>
              <a:rPr lang="fr-FR" sz="2400" b="1" dirty="0"/>
              <a:t>publique : (p, g, A)= (13, 2, 8)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 smtClean="0"/>
              <a:t>message </a:t>
            </a:r>
            <a:r>
              <a:rPr lang="fr-FR" sz="2400" b="1" dirty="0"/>
              <a:t>m=11, </a:t>
            </a:r>
            <a:r>
              <a:rPr lang="fr-FR" sz="2400" b="1" dirty="0" err="1"/>
              <a:t>random</a:t>
            </a:r>
            <a:r>
              <a:rPr lang="fr-FR" sz="2400" b="1" dirty="0"/>
              <a:t> k=5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rgbClr val="FF0000"/>
                </a:solidFill>
              </a:rPr>
              <a:t>Chiffrement </a:t>
            </a:r>
            <a:r>
              <a:rPr lang="fr-FR" sz="2400" dirty="0">
                <a:solidFill>
                  <a:srgbClr val="FF0000"/>
                </a:solidFill>
              </a:rPr>
              <a:t>: </a:t>
            </a:r>
          </a:p>
          <a:p>
            <a:r>
              <a:rPr lang="da-DK" sz="2400" dirty="0" smtClean="0"/>
              <a:t>                    C1 </a:t>
            </a:r>
            <a:r>
              <a:rPr lang="da-DK" sz="2400" dirty="0"/>
              <a:t>= 2</a:t>
            </a:r>
            <a:r>
              <a:rPr lang="da-DK" sz="2400" b="1" baseline="30000" dirty="0">
                <a:solidFill>
                  <a:srgbClr val="FF0000"/>
                </a:solidFill>
              </a:rPr>
              <a:t>5</a:t>
            </a:r>
            <a:r>
              <a:rPr lang="da-DK" sz="2400" b="1" dirty="0">
                <a:solidFill>
                  <a:srgbClr val="FF0000"/>
                </a:solidFill>
              </a:rPr>
              <a:t> </a:t>
            </a:r>
            <a:r>
              <a:rPr lang="da-DK" sz="2400" dirty="0"/>
              <a:t>mod 13 =</a:t>
            </a:r>
            <a:r>
              <a:rPr lang="da-DK" sz="2400" b="1" dirty="0">
                <a:solidFill>
                  <a:srgbClr val="FF0000"/>
                </a:solidFill>
              </a:rPr>
              <a:t>6</a:t>
            </a:r>
            <a:r>
              <a:rPr lang="da-DK" sz="2400" dirty="0">
                <a:solidFill>
                  <a:srgbClr val="FF0000"/>
                </a:solidFill>
              </a:rPr>
              <a:t> </a:t>
            </a:r>
          </a:p>
          <a:p>
            <a:r>
              <a:rPr lang="fr-FR" sz="2400" dirty="0" smtClean="0"/>
              <a:t>                    C2 </a:t>
            </a:r>
            <a:r>
              <a:rPr lang="fr-FR" sz="2400" dirty="0"/>
              <a:t>= 11.</a:t>
            </a:r>
            <a:r>
              <a:rPr lang="fr-FR" sz="2400" b="1" dirty="0">
                <a:solidFill>
                  <a:srgbClr val="FF0000"/>
                </a:solidFill>
              </a:rPr>
              <a:t>8</a:t>
            </a:r>
            <a:r>
              <a:rPr lang="fr-FR" sz="2400" b="1" baseline="30000" dirty="0">
                <a:solidFill>
                  <a:srgbClr val="FF0000"/>
                </a:solidFill>
              </a:rPr>
              <a:t>5</a:t>
            </a:r>
            <a:r>
              <a:rPr lang="fr-FR" sz="2400" baseline="30000" dirty="0"/>
              <a:t> </a:t>
            </a:r>
            <a:r>
              <a:rPr lang="fr-FR" sz="2400" dirty="0" err="1"/>
              <a:t>mod</a:t>
            </a:r>
            <a:r>
              <a:rPr lang="fr-FR" sz="2400" dirty="0"/>
              <a:t> 13=</a:t>
            </a:r>
            <a:r>
              <a:rPr lang="fr-FR" sz="2400" b="1" dirty="0">
                <a:solidFill>
                  <a:srgbClr val="FF0000"/>
                </a:solidFill>
              </a:rPr>
              <a:t>10</a:t>
            </a:r>
            <a:r>
              <a:rPr lang="fr-FR" sz="2400" dirty="0"/>
              <a:t> </a:t>
            </a:r>
          </a:p>
          <a:p>
            <a:r>
              <a:rPr lang="fr-FR" sz="2400" dirty="0" smtClean="0"/>
              <a:t>            </a:t>
            </a:r>
            <a:r>
              <a:rPr lang="fr-FR" sz="2400" b="1" dirty="0" err="1" smtClean="0"/>
              <a:t>Ciphertext</a:t>
            </a:r>
            <a:r>
              <a:rPr lang="fr-FR" sz="2400" b="1" dirty="0" smtClean="0"/>
              <a:t> </a:t>
            </a:r>
            <a:r>
              <a:rPr lang="fr-FR" sz="2400" b="1" dirty="0"/>
              <a:t>(6,10)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rgbClr val="FF0000"/>
                </a:solidFill>
              </a:rPr>
              <a:t>Déchiffrement</a:t>
            </a:r>
            <a:r>
              <a:rPr lang="fr-FR" sz="2400" dirty="0" smtClean="0"/>
              <a:t> </a:t>
            </a:r>
            <a:r>
              <a:rPr lang="fr-FR" sz="2400" b="1" dirty="0"/>
              <a:t>m= 10/(6</a:t>
            </a:r>
            <a:r>
              <a:rPr lang="fr-FR" sz="2400" b="1" baseline="30000" dirty="0"/>
              <a:t>3</a:t>
            </a:r>
            <a:r>
              <a:rPr lang="fr-FR" sz="2400" b="1" dirty="0"/>
              <a:t>) </a:t>
            </a:r>
            <a:r>
              <a:rPr lang="fr-FR" sz="2400" b="1" dirty="0" err="1"/>
              <a:t>mod</a:t>
            </a:r>
            <a:r>
              <a:rPr lang="fr-FR" sz="2400" b="1" dirty="0"/>
              <a:t> 13 =11</a:t>
            </a:r>
            <a:r>
              <a:rPr lang="fr-FR" sz="2400" dirty="0"/>
              <a:t>. </a:t>
            </a:r>
          </a:p>
          <a:p>
            <a:r>
              <a:rPr lang="fr-FR" sz="2400" dirty="0" smtClean="0"/>
              <a:t>et </a:t>
            </a:r>
            <a:r>
              <a:rPr lang="fr-FR" sz="2400" dirty="0"/>
              <a:t>on retrouve bien le message émis m. </a:t>
            </a:r>
          </a:p>
        </p:txBody>
      </p:sp>
      <p:sp>
        <p:nvSpPr>
          <p:cNvPr id="2" name="Flèche droite 1"/>
          <p:cNvSpPr/>
          <p:nvPr/>
        </p:nvSpPr>
        <p:spPr>
          <a:xfrm>
            <a:off x="3577608" y="3645024"/>
            <a:ext cx="360040" cy="14401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droite 6"/>
          <p:cNvSpPr/>
          <p:nvPr/>
        </p:nvSpPr>
        <p:spPr>
          <a:xfrm>
            <a:off x="683568" y="5805264"/>
            <a:ext cx="360040" cy="14401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5905764" y="4941168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C00000"/>
                </a:solidFill>
              </a:rPr>
              <a:t>C1 = g</a:t>
            </a:r>
            <a:r>
              <a:rPr lang="da-DK" b="1" baseline="30000" dirty="0">
                <a:solidFill>
                  <a:srgbClr val="C00000"/>
                </a:solidFill>
              </a:rPr>
              <a:t>k</a:t>
            </a:r>
            <a:r>
              <a:rPr lang="da-DK" b="1" dirty="0">
                <a:solidFill>
                  <a:srgbClr val="C00000"/>
                </a:solidFill>
              </a:rPr>
              <a:t> mod p  </a:t>
            </a:r>
            <a:r>
              <a:rPr lang="da-DK" dirty="0"/>
              <a:t>et </a:t>
            </a:r>
            <a:r>
              <a:rPr lang="da-DK" b="1" dirty="0">
                <a:solidFill>
                  <a:srgbClr val="C00000"/>
                </a:solidFill>
              </a:rPr>
              <a:t>C2 = m.A</a:t>
            </a:r>
            <a:r>
              <a:rPr lang="da-DK" b="1" baseline="30000" dirty="0">
                <a:solidFill>
                  <a:srgbClr val="C00000"/>
                </a:solidFill>
              </a:rPr>
              <a:t>k</a:t>
            </a:r>
            <a:r>
              <a:rPr lang="da-DK" b="1" dirty="0">
                <a:solidFill>
                  <a:srgbClr val="C00000"/>
                </a:solidFill>
              </a:rPr>
              <a:t> mod p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6801237" y="5522258"/>
            <a:ext cx="2493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m=c2​⋅(c1</a:t>
            </a:r>
            <a:r>
              <a:rPr lang="fr-FR" baseline="30000" dirty="0">
                <a:solidFill>
                  <a:srgbClr val="C00000"/>
                </a:solidFill>
              </a:rPr>
              <a:t>a</a:t>
            </a:r>
            <a:r>
              <a:rPr lang="fr-FR" dirty="0">
                <a:solidFill>
                  <a:srgbClr val="C00000"/>
                </a:solidFill>
              </a:rPr>
              <a:t>​)</a:t>
            </a:r>
            <a:r>
              <a:rPr lang="fr-FR" baseline="30000" dirty="0">
                <a:solidFill>
                  <a:srgbClr val="C00000"/>
                </a:solidFill>
              </a:rPr>
              <a:t>−</a:t>
            </a:r>
            <a:r>
              <a:rPr lang="fr-FR" baseline="30000" dirty="0" smtClean="0">
                <a:solidFill>
                  <a:srgbClr val="C00000"/>
                </a:solidFill>
              </a:rPr>
              <a:t>1</a:t>
            </a:r>
            <a:r>
              <a:rPr lang="fr-FR" dirty="0" smtClean="0">
                <a:solidFill>
                  <a:srgbClr val="C00000"/>
                </a:solidFill>
              </a:rPr>
              <a:t> </a:t>
            </a:r>
            <a:r>
              <a:rPr lang="fr-FR" dirty="0" err="1" smtClean="0">
                <a:solidFill>
                  <a:srgbClr val="C00000"/>
                </a:solidFill>
              </a:rPr>
              <a:t>mod</a:t>
            </a:r>
            <a:r>
              <a:rPr lang="fr-FR" dirty="0" smtClean="0">
                <a:solidFill>
                  <a:srgbClr val="C00000"/>
                </a:solidFill>
              </a:rPr>
              <a:t> p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70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Exemple: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smtClean="0">
                <a:solidFill>
                  <a:srgbClr val="FF0000"/>
                </a:solidFill>
              </a:rPr>
              <a:t>Déchiffrement</a:t>
            </a:r>
            <a:r>
              <a:rPr lang="fr-FR" sz="2000" dirty="0" smtClean="0"/>
              <a:t> </a:t>
            </a:r>
            <a:r>
              <a:rPr lang="fr-FR" sz="2000" b="1" dirty="0"/>
              <a:t>m= 10/(6</a:t>
            </a:r>
            <a:r>
              <a:rPr lang="fr-FR" sz="2000" b="1" baseline="30000" dirty="0"/>
              <a:t>3</a:t>
            </a:r>
            <a:r>
              <a:rPr lang="fr-FR" sz="2000" b="1" dirty="0"/>
              <a:t>) </a:t>
            </a:r>
            <a:r>
              <a:rPr lang="fr-FR" sz="2000" b="1" dirty="0" err="1"/>
              <a:t>mod</a:t>
            </a:r>
            <a:r>
              <a:rPr lang="fr-FR" sz="2000" b="1" dirty="0"/>
              <a:t> 13 =11</a:t>
            </a:r>
            <a:r>
              <a:rPr lang="fr-FR" sz="2000" dirty="0"/>
              <a:t>. </a:t>
            </a:r>
          </a:p>
          <a:p>
            <a:r>
              <a:rPr lang="fr-FR" sz="2000" dirty="0" smtClean="0"/>
              <a:t>et </a:t>
            </a:r>
            <a:r>
              <a:rPr lang="fr-FR" sz="2000" dirty="0"/>
              <a:t>on retrouve bien le message émis m.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940152" y="858104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C00000"/>
                </a:solidFill>
              </a:rPr>
              <a:t>C1 = g</a:t>
            </a:r>
            <a:r>
              <a:rPr lang="da-DK" b="1" baseline="30000" dirty="0">
                <a:solidFill>
                  <a:srgbClr val="C00000"/>
                </a:solidFill>
              </a:rPr>
              <a:t>k</a:t>
            </a:r>
            <a:r>
              <a:rPr lang="da-DK" b="1" dirty="0">
                <a:solidFill>
                  <a:srgbClr val="C00000"/>
                </a:solidFill>
              </a:rPr>
              <a:t> mod p  </a:t>
            </a:r>
            <a:r>
              <a:rPr lang="da-DK" dirty="0"/>
              <a:t>et </a:t>
            </a:r>
            <a:r>
              <a:rPr lang="da-DK" b="1" dirty="0">
                <a:solidFill>
                  <a:srgbClr val="C00000"/>
                </a:solidFill>
              </a:rPr>
              <a:t>C2 = m.A</a:t>
            </a:r>
            <a:r>
              <a:rPr lang="da-DK" b="1" baseline="30000" dirty="0">
                <a:solidFill>
                  <a:srgbClr val="C00000"/>
                </a:solidFill>
              </a:rPr>
              <a:t>k</a:t>
            </a:r>
            <a:r>
              <a:rPr lang="da-DK" b="1" dirty="0">
                <a:solidFill>
                  <a:srgbClr val="C00000"/>
                </a:solidFill>
              </a:rPr>
              <a:t> mod p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6835625" y="1439194"/>
            <a:ext cx="2493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m=c2​⋅(c1</a:t>
            </a:r>
            <a:r>
              <a:rPr lang="fr-FR" baseline="30000" dirty="0">
                <a:solidFill>
                  <a:srgbClr val="C00000"/>
                </a:solidFill>
              </a:rPr>
              <a:t>a</a:t>
            </a:r>
            <a:r>
              <a:rPr lang="fr-FR" dirty="0">
                <a:solidFill>
                  <a:srgbClr val="C00000"/>
                </a:solidFill>
              </a:rPr>
              <a:t>​)</a:t>
            </a:r>
            <a:r>
              <a:rPr lang="fr-FR" baseline="30000" dirty="0">
                <a:solidFill>
                  <a:srgbClr val="C00000"/>
                </a:solidFill>
              </a:rPr>
              <a:t>−</a:t>
            </a:r>
            <a:r>
              <a:rPr lang="fr-FR" baseline="30000" dirty="0" smtClean="0">
                <a:solidFill>
                  <a:srgbClr val="C00000"/>
                </a:solidFill>
              </a:rPr>
              <a:t>1</a:t>
            </a:r>
            <a:r>
              <a:rPr lang="fr-FR" dirty="0" smtClean="0">
                <a:solidFill>
                  <a:srgbClr val="C00000"/>
                </a:solidFill>
              </a:rPr>
              <a:t> </a:t>
            </a:r>
            <a:r>
              <a:rPr lang="fr-FR" dirty="0" err="1" smtClean="0">
                <a:solidFill>
                  <a:srgbClr val="C00000"/>
                </a:solidFill>
              </a:rPr>
              <a:t>mod</a:t>
            </a:r>
            <a:r>
              <a:rPr lang="fr-FR" dirty="0" smtClean="0">
                <a:solidFill>
                  <a:srgbClr val="C00000"/>
                </a:solidFill>
              </a:rPr>
              <a:t> p</a:t>
            </a:r>
            <a:endParaRPr lang="fr-FR" dirty="0">
              <a:solidFill>
                <a:srgbClr val="C00000"/>
              </a:solidFill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81" y="1976646"/>
            <a:ext cx="7779951" cy="488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21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Exemple: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rgbClr val="FF0000"/>
                </a:solidFill>
              </a:rPr>
              <a:t>Déchiffrement</a:t>
            </a:r>
            <a:r>
              <a:rPr lang="fr-FR" sz="2400" dirty="0" smtClean="0"/>
              <a:t> </a:t>
            </a:r>
            <a:r>
              <a:rPr lang="fr-FR" sz="2400" b="1" dirty="0"/>
              <a:t>m= 10/(6</a:t>
            </a:r>
            <a:r>
              <a:rPr lang="fr-FR" sz="2400" b="1" baseline="30000" dirty="0"/>
              <a:t>3</a:t>
            </a:r>
            <a:r>
              <a:rPr lang="fr-FR" sz="2400" b="1" dirty="0"/>
              <a:t>) </a:t>
            </a:r>
            <a:r>
              <a:rPr lang="fr-FR" sz="2400" b="1" dirty="0" err="1"/>
              <a:t>mod</a:t>
            </a:r>
            <a:r>
              <a:rPr lang="fr-FR" sz="2400" b="1" dirty="0"/>
              <a:t> 13 =11</a:t>
            </a:r>
            <a:r>
              <a:rPr lang="fr-FR" sz="2400" dirty="0"/>
              <a:t>. </a:t>
            </a:r>
          </a:p>
          <a:p>
            <a:r>
              <a:rPr lang="fr-FR" sz="2400" dirty="0" smtClean="0"/>
              <a:t>et </a:t>
            </a:r>
            <a:r>
              <a:rPr lang="fr-FR" sz="2400" dirty="0"/>
              <a:t>on retrouve bien le message émis m.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940152" y="858104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C00000"/>
                </a:solidFill>
              </a:rPr>
              <a:t>C1 = g</a:t>
            </a:r>
            <a:r>
              <a:rPr lang="da-DK" b="1" baseline="30000" dirty="0">
                <a:solidFill>
                  <a:srgbClr val="C00000"/>
                </a:solidFill>
              </a:rPr>
              <a:t>k</a:t>
            </a:r>
            <a:r>
              <a:rPr lang="da-DK" b="1" dirty="0">
                <a:solidFill>
                  <a:srgbClr val="C00000"/>
                </a:solidFill>
              </a:rPr>
              <a:t> mod p  </a:t>
            </a:r>
            <a:r>
              <a:rPr lang="da-DK" dirty="0"/>
              <a:t>et </a:t>
            </a:r>
            <a:r>
              <a:rPr lang="da-DK" b="1" dirty="0">
                <a:solidFill>
                  <a:srgbClr val="C00000"/>
                </a:solidFill>
              </a:rPr>
              <a:t>C2 = m.A</a:t>
            </a:r>
            <a:r>
              <a:rPr lang="da-DK" b="1" baseline="30000" dirty="0">
                <a:solidFill>
                  <a:srgbClr val="C00000"/>
                </a:solidFill>
              </a:rPr>
              <a:t>k</a:t>
            </a:r>
            <a:r>
              <a:rPr lang="da-DK" b="1" dirty="0">
                <a:solidFill>
                  <a:srgbClr val="C00000"/>
                </a:solidFill>
              </a:rPr>
              <a:t> mod p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6835625" y="1439194"/>
            <a:ext cx="2493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m=c2​⋅(c1</a:t>
            </a:r>
            <a:r>
              <a:rPr lang="fr-FR" baseline="30000" dirty="0">
                <a:solidFill>
                  <a:srgbClr val="C00000"/>
                </a:solidFill>
              </a:rPr>
              <a:t>a</a:t>
            </a:r>
            <a:r>
              <a:rPr lang="fr-FR" dirty="0">
                <a:solidFill>
                  <a:srgbClr val="C00000"/>
                </a:solidFill>
              </a:rPr>
              <a:t>​)</a:t>
            </a:r>
            <a:r>
              <a:rPr lang="fr-FR" baseline="30000" dirty="0">
                <a:solidFill>
                  <a:srgbClr val="C00000"/>
                </a:solidFill>
              </a:rPr>
              <a:t>−</a:t>
            </a:r>
            <a:r>
              <a:rPr lang="fr-FR" baseline="30000" dirty="0" smtClean="0">
                <a:solidFill>
                  <a:srgbClr val="C00000"/>
                </a:solidFill>
              </a:rPr>
              <a:t>1</a:t>
            </a:r>
            <a:r>
              <a:rPr lang="fr-FR" dirty="0" smtClean="0">
                <a:solidFill>
                  <a:srgbClr val="C00000"/>
                </a:solidFill>
              </a:rPr>
              <a:t> </a:t>
            </a:r>
            <a:r>
              <a:rPr lang="fr-FR" dirty="0" err="1" smtClean="0">
                <a:solidFill>
                  <a:srgbClr val="C00000"/>
                </a:solidFill>
              </a:rPr>
              <a:t>mod</a:t>
            </a:r>
            <a:r>
              <a:rPr lang="fr-FR" dirty="0" smtClean="0">
                <a:solidFill>
                  <a:srgbClr val="C00000"/>
                </a:solidFill>
              </a:rPr>
              <a:t> p</a:t>
            </a:r>
            <a:endParaRPr lang="fr-FR" dirty="0">
              <a:solidFill>
                <a:srgbClr val="C00000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51" y="2138032"/>
            <a:ext cx="671512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4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r>
              <a:rPr lang="fr-FR" sz="2800" dirty="0"/>
              <a:t>Exemple </a:t>
            </a:r>
          </a:p>
          <a:p>
            <a:endParaRPr lang="fr-F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smtClean="0"/>
              <a:t>Un </a:t>
            </a:r>
            <a:r>
              <a:rPr lang="fr-FR" sz="2800" dirty="0"/>
              <a:t>premier p=41 et un générateur g=2, a=12, message m=32 et </a:t>
            </a:r>
            <a:r>
              <a:rPr lang="fr-FR" sz="2800" dirty="0" err="1"/>
              <a:t>random</a:t>
            </a:r>
            <a:r>
              <a:rPr lang="fr-FR" sz="2800" dirty="0"/>
              <a:t> k=18. 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1968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Exemple: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Un premier p=41 et un générateur g=2, a=12, message m=32 et </a:t>
            </a:r>
            <a:r>
              <a:rPr lang="fr-FR" sz="2400" dirty="0" err="1"/>
              <a:t>random</a:t>
            </a:r>
            <a:r>
              <a:rPr lang="fr-FR" sz="2400" dirty="0"/>
              <a:t> k=18. </a:t>
            </a:r>
            <a:endParaRPr lang="fr-FR" sz="2400" dirty="0" smtClean="0"/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smtClean="0"/>
              <a:t>Clé </a:t>
            </a:r>
            <a:r>
              <a:rPr lang="pt-BR" sz="2400" dirty="0"/>
              <a:t>secrète : </a:t>
            </a:r>
            <a:r>
              <a:rPr lang="pt-BR" sz="2400" dirty="0">
                <a:solidFill>
                  <a:srgbClr val="FF0000"/>
                </a:solidFill>
              </a:rPr>
              <a:t>a = 12</a:t>
            </a:r>
            <a:r>
              <a:rPr lang="pt-BR" sz="2400" dirty="0"/>
              <a:t> </a:t>
            </a:r>
            <a:r>
              <a:rPr lang="pt-BR" sz="2400" dirty="0" smtClean="0"/>
              <a:t>               A=2</a:t>
            </a:r>
            <a:r>
              <a:rPr lang="pt-BR" sz="2400" baseline="30000" dirty="0" smtClean="0">
                <a:solidFill>
                  <a:srgbClr val="FF0000"/>
                </a:solidFill>
              </a:rPr>
              <a:t>12</a:t>
            </a:r>
            <a:r>
              <a:rPr lang="pt-BR" sz="2400" dirty="0" smtClean="0"/>
              <a:t> </a:t>
            </a:r>
            <a:r>
              <a:rPr lang="pt-BR" sz="2400" dirty="0"/>
              <a:t>mod 41= </a:t>
            </a:r>
            <a:r>
              <a:rPr lang="pt-BR" sz="2400" dirty="0">
                <a:solidFill>
                  <a:srgbClr val="FF0000"/>
                </a:solidFill>
              </a:rPr>
              <a:t>37</a:t>
            </a:r>
            <a:r>
              <a:rPr lang="pt-BR" sz="2400" dirty="0"/>
              <a:t>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smtClean="0"/>
              <a:t>Clé </a:t>
            </a:r>
            <a:r>
              <a:rPr lang="fr-FR" sz="2400" dirty="0"/>
              <a:t>publique : (p, g, A)= (41, 2, </a:t>
            </a:r>
            <a:r>
              <a:rPr lang="fr-FR" sz="2400" dirty="0">
                <a:solidFill>
                  <a:srgbClr val="FF0000"/>
                </a:solidFill>
              </a:rPr>
              <a:t>37</a:t>
            </a:r>
            <a:r>
              <a:rPr lang="fr-FR" sz="2400" dirty="0"/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smtClean="0"/>
              <a:t>message </a:t>
            </a:r>
            <a:r>
              <a:rPr lang="fr-FR" sz="2400" dirty="0"/>
              <a:t>m=32, </a:t>
            </a:r>
            <a:r>
              <a:rPr lang="fr-FR" sz="2400" dirty="0" err="1"/>
              <a:t>random</a:t>
            </a:r>
            <a:r>
              <a:rPr lang="fr-FR" sz="2400" dirty="0"/>
              <a:t> </a:t>
            </a:r>
            <a:r>
              <a:rPr lang="fr-FR" sz="2400" dirty="0">
                <a:solidFill>
                  <a:srgbClr val="FF0000"/>
                </a:solidFill>
              </a:rPr>
              <a:t>k=18</a:t>
            </a:r>
            <a:r>
              <a:rPr lang="fr-FR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smtClean="0"/>
              <a:t>Chiffrement </a:t>
            </a:r>
            <a:r>
              <a:rPr lang="fr-FR" sz="2400" dirty="0"/>
              <a:t>: </a:t>
            </a:r>
          </a:p>
          <a:p>
            <a:r>
              <a:rPr lang="da-DK" sz="2400" dirty="0" smtClean="0"/>
              <a:t>                   </a:t>
            </a:r>
            <a:r>
              <a:rPr lang="da-DK" sz="2400" dirty="0" smtClean="0">
                <a:solidFill>
                  <a:srgbClr val="FF0000"/>
                </a:solidFill>
              </a:rPr>
              <a:t>C1</a:t>
            </a:r>
            <a:r>
              <a:rPr lang="da-DK" sz="2400" dirty="0" smtClean="0"/>
              <a:t> </a:t>
            </a:r>
            <a:r>
              <a:rPr lang="da-DK" sz="2400" dirty="0"/>
              <a:t>= 2</a:t>
            </a:r>
            <a:r>
              <a:rPr lang="da-DK" sz="2400" baseline="30000" dirty="0"/>
              <a:t>18</a:t>
            </a:r>
            <a:r>
              <a:rPr lang="da-DK" sz="2400" dirty="0"/>
              <a:t> mod 41 =</a:t>
            </a:r>
            <a:r>
              <a:rPr lang="da-DK" sz="2400" dirty="0">
                <a:solidFill>
                  <a:srgbClr val="FF0000"/>
                </a:solidFill>
              </a:rPr>
              <a:t>31</a:t>
            </a:r>
            <a:r>
              <a:rPr lang="da-DK" sz="2400" dirty="0"/>
              <a:t> </a:t>
            </a:r>
          </a:p>
          <a:p>
            <a:r>
              <a:rPr lang="fr-FR" sz="2400" dirty="0" smtClean="0"/>
              <a:t>                   </a:t>
            </a:r>
            <a:r>
              <a:rPr lang="fr-FR" sz="2400" dirty="0" smtClean="0">
                <a:solidFill>
                  <a:srgbClr val="FF0000"/>
                </a:solidFill>
              </a:rPr>
              <a:t>C2 </a:t>
            </a:r>
            <a:r>
              <a:rPr lang="fr-FR" sz="2400" dirty="0"/>
              <a:t>= 32.</a:t>
            </a:r>
            <a:r>
              <a:rPr lang="fr-FR" sz="2400" dirty="0">
                <a:solidFill>
                  <a:srgbClr val="FF0000"/>
                </a:solidFill>
              </a:rPr>
              <a:t>37</a:t>
            </a:r>
            <a:r>
              <a:rPr lang="fr-FR" sz="2400" baseline="30000" dirty="0"/>
              <a:t>18</a:t>
            </a:r>
            <a:r>
              <a:rPr lang="fr-FR" sz="2400" dirty="0"/>
              <a:t> </a:t>
            </a:r>
            <a:r>
              <a:rPr lang="fr-FR" sz="2400" dirty="0" err="1"/>
              <a:t>mod</a:t>
            </a:r>
            <a:r>
              <a:rPr lang="fr-FR" sz="2400" dirty="0"/>
              <a:t> 41=</a:t>
            </a:r>
            <a:r>
              <a:rPr lang="fr-FR" sz="2400" dirty="0">
                <a:solidFill>
                  <a:srgbClr val="FF0000"/>
                </a:solidFill>
              </a:rPr>
              <a:t>2 </a:t>
            </a:r>
          </a:p>
          <a:p>
            <a:r>
              <a:rPr lang="fr-FR" sz="2400" dirty="0" smtClean="0"/>
              <a:t>         </a:t>
            </a:r>
            <a:r>
              <a:rPr lang="fr-FR" sz="2400" dirty="0" err="1" smtClean="0"/>
              <a:t>Ciphertext</a:t>
            </a:r>
            <a:r>
              <a:rPr lang="fr-FR" sz="2400" dirty="0" smtClean="0"/>
              <a:t> (31,2)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smtClean="0"/>
              <a:t>Déchiffrement </a:t>
            </a:r>
            <a:r>
              <a:rPr lang="fr-FR" sz="2400" dirty="0"/>
              <a:t>m= 2/(31</a:t>
            </a:r>
            <a:r>
              <a:rPr lang="fr-FR" sz="2400" baseline="30000" dirty="0">
                <a:solidFill>
                  <a:srgbClr val="FF0000"/>
                </a:solidFill>
              </a:rPr>
              <a:t>12</a:t>
            </a:r>
            <a:r>
              <a:rPr lang="fr-FR" sz="2400" dirty="0"/>
              <a:t>) </a:t>
            </a:r>
            <a:r>
              <a:rPr lang="fr-FR" sz="2400" dirty="0" err="1"/>
              <a:t>mod</a:t>
            </a:r>
            <a:r>
              <a:rPr lang="fr-FR" sz="2400" dirty="0"/>
              <a:t> 41 =32. </a:t>
            </a:r>
          </a:p>
          <a:p>
            <a:r>
              <a:rPr lang="fr-FR" sz="2400" dirty="0" smtClean="0"/>
              <a:t>et </a:t>
            </a:r>
            <a:r>
              <a:rPr lang="fr-FR" sz="2400" dirty="0"/>
              <a:t>on retrouve bien le message émis m. </a:t>
            </a:r>
          </a:p>
        </p:txBody>
      </p:sp>
      <p:sp>
        <p:nvSpPr>
          <p:cNvPr id="2" name="Flèche droite 1"/>
          <p:cNvSpPr/>
          <p:nvPr/>
        </p:nvSpPr>
        <p:spPr>
          <a:xfrm>
            <a:off x="3757628" y="2493842"/>
            <a:ext cx="360040" cy="14401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droite 6"/>
          <p:cNvSpPr/>
          <p:nvPr/>
        </p:nvSpPr>
        <p:spPr>
          <a:xfrm>
            <a:off x="467544" y="4005064"/>
            <a:ext cx="360040" cy="14401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5881864" y="3825914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C00000"/>
                </a:solidFill>
              </a:rPr>
              <a:t>C1 = g</a:t>
            </a:r>
            <a:r>
              <a:rPr lang="da-DK" b="1" baseline="30000" dirty="0">
                <a:solidFill>
                  <a:srgbClr val="C00000"/>
                </a:solidFill>
              </a:rPr>
              <a:t>k</a:t>
            </a:r>
            <a:r>
              <a:rPr lang="da-DK" b="1" dirty="0">
                <a:solidFill>
                  <a:srgbClr val="C00000"/>
                </a:solidFill>
              </a:rPr>
              <a:t> mod p  </a:t>
            </a:r>
            <a:r>
              <a:rPr lang="da-DK" dirty="0"/>
              <a:t>et </a:t>
            </a:r>
            <a:r>
              <a:rPr lang="da-DK" b="1" dirty="0">
                <a:solidFill>
                  <a:srgbClr val="C00000"/>
                </a:solidFill>
              </a:rPr>
              <a:t>C2 = m.A</a:t>
            </a:r>
            <a:r>
              <a:rPr lang="da-DK" b="1" baseline="30000" dirty="0">
                <a:solidFill>
                  <a:srgbClr val="C00000"/>
                </a:solidFill>
              </a:rPr>
              <a:t>k</a:t>
            </a:r>
            <a:r>
              <a:rPr lang="da-DK" b="1" dirty="0">
                <a:solidFill>
                  <a:srgbClr val="C00000"/>
                </a:solidFill>
              </a:rPr>
              <a:t> mod 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270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Exemple: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Un premier p=41 et un générateur g=2, a=12, message m=32 et </a:t>
            </a:r>
            <a:r>
              <a:rPr lang="fr-FR" sz="2400" dirty="0" err="1"/>
              <a:t>random</a:t>
            </a:r>
            <a:r>
              <a:rPr lang="fr-FR" sz="2400" dirty="0"/>
              <a:t> k=18. </a:t>
            </a:r>
            <a:endParaRPr lang="fr-FR" sz="2400" dirty="0" smtClean="0"/>
          </a:p>
          <a:p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59" y="2146584"/>
            <a:ext cx="6677744" cy="467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2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Exemple: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Un premier p=41 et un générateur g=2, a=12, message m=32 et </a:t>
            </a:r>
            <a:r>
              <a:rPr lang="fr-FR" sz="2000" dirty="0" err="1"/>
              <a:t>random</a:t>
            </a:r>
            <a:r>
              <a:rPr lang="fr-FR" sz="2000" dirty="0"/>
              <a:t> k=18. </a:t>
            </a:r>
            <a:endParaRPr lang="fr-FR" sz="2000" dirty="0" smtClean="0"/>
          </a:p>
          <a:p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10" y="1628800"/>
            <a:ext cx="7416593" cy="519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9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Exemple: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Un premier p=41 et un générateur g=2, a=12, message m=32 et </a:t>
            </a:r>
            <a:r>
              <a:rPr lang="fr-FR" sz="2000" dirty="0" err="1"/>
              <a:t>random</a:t>
            </a:r>
            <a:r>
              <a:rPr lang="fr-FR" sz="2000" dirty="0"/>
              <a:t> k=18. </a:t>
            </a:r>
            <a:endParaRPr lang="fr-FR" sz="2000" dirty="0" smtClean="0"/>
          </a:p>
          <a:p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10" y="1628800"/>
            <a:ext cx="7416593" cy="519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8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Exemple: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Un premier p=41 et un générateur g=2, a=12, message m=32 et </a:t>
            </a:r>
            <a:r>
              <a:rPr lang="fr-FR" sz="2000" dirty="0" err="1"/>
              <a:t>random</a:t>
            </a:r>
            <a:r>
              <a:rPr lang="fr-FR" sz="2000" dirty="0"/>
              <a:t> k=18. </a:t>
            </a:r>
            <a:endParaRPr lang="fr-FR" sz="2000" dirty="0" smtClean="0"/>
          </a:p>
          <a:p>
            <a:endParaRPr lang="fr-FR" sz="24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700808"/>
            <a:ext cx="7456640" cy="508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07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Exemple: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68760"/>
            <a:ext cx="90364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Un premier p=41 et un générateur g=2, a=12, message m=32 et </a:t>
            </a:r>
            <a:r>
              <a:rPr lang="fr-FR" sz="2000" dirty="0" err="1"/>
              <a:t>random</a:t>
            </a:r>
            <a:r>
              <a:rPr lang="fr-FR" sz="2000" dirty="0"/>
              <a:t> k=18. </a:t>
            </a:r>
            <a:endParaRPr lang="fr-FR" sz="2000" dirty="0" smtClean="0"/>
          </a:p>
          <a:p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014537"/>
            <a:ext cx="8888317" cy="314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8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Exercice1: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395311"/>
            <a:ext cx="9036496" cy="465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On s’intéresse à l’algorithme cryptographique d’</a:t>
            </a:r>
            <a:r>
              <a:rPr lang="fr-FR" sz="2000" dirty="0" err="1"/>
              <a:t>ElGamal</a:t>
            </a:r>
            <a:r>
              <a:rPr lang="fr-F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1. Peut-on avoir pour un même message clair plusieurs messages chiffrés ? justifier votre.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2. Afin d’utiliser l’algorithme </a:t>
            </a:r>
            <a:r>
              <a:rPr lang="fr-FR" sz="2000" dirty="0" err="1"/>
              <a:t>ElGamal</a:t>
            </a:r>
            <a:r>
              <a:rPr lang="fr-FR" sz="2000" dirty="0"/>
              <a:t> , Alice et Bob s’entendent sur les valeurs de p; g. Soit g=3 montrer que g est générateur de Z7 ?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3. Soit a = 4 la clé secrète d’Alice, donner la clé publique d’Alice.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4. Supposons que Bob veut envoyer le message m=2 à Alice avec un aléa k=5; quel est le message chiffré correspondant à envoyer à Alice ?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5. Montrer comment Alice retrouve le message m à partir du message chiffré reçu.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9267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Exercice 1: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395311"/>
            <a:ext cx="903649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/>
              <a:t>1. Peut-on avoir pour un même message clair plusieurs messages chiffrés ? Justifiez.</a:t>
            </a:r>
          </a:p>
          <a:p>
            <a:pPr>
              <a:lnSpc>
                <a:spcPct val="150000"/>
              </a:lnSpc>
            </a:pPr>
            <a:r>
              <a:rPr lang="fr-FR" sz="2000" b="1" dirty="0">
                <a:solidFill>
                  <a:srgbClr val="2F6ACB"/>
                </a:solidFill>
              </a:rPr>
              <a:t>Oui</a:t>
            </a:r>
            <a:r>
              <a:rPr lang="fr-FR" sz="2000" dirty="0"/>
              <a:t>, pour un même message clair mmm, on peut obtenir </a:t>
            </a:r>
            <a:r>
              <a:rPr lang="fr-FR" sz="2000" b="1" dirty="0"/>
              <a:t>plusieurs messages chiffrés différents</a:t>
            </a:r>
            <a:r>
              <a:rPr lang="fr-F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➡️ 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Justification</a:t>
            </a:r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 :</a:t>
            </a:r>
            <a:r>
              <a:rPr lang="fr-FR" sz="2000" dirty="0"/>
              <a:t/>
            </a:r>
            <a:br>
              <a:rPr lang="fr-FR" sz="2000" dirty="0"/>
            </a:br>
            <a:r>
              <a:rPr lang="fr-FR" sz="2000" dirty="0"/>
              <a:t>Dans </a:t>
            </a:r>
            <a:r>
              <a:rPr lang="fr-FR" sz="2000" dirty="0" err="1"/>
              <a:t>ElGamal</a:t>
            </a:r>
            <a:r>
              <a:rPr lang="fr-FR" sz="2000" dirty="0"/>
              <a:t>, lors du chiffrement, on utilise un </a:t>
            </a:r>
            <a:r>
              <a:rPr lang="fr-FR" sz="2000" b="1" dirty="0"/>
              <a:t>aléa </a:t>
            </a:r>
            <a:r>
              <a:rPr lang="fr-FR" sz="2000" b="1" dirty="0" smtClean="0"/>
              <a:t>k</a:t>
            </a:r>
            <a:r>
              <a:rPr lang="fr-FR" sz="2000" dirty="0" smtClean="0"/>
              <a:t> </a:t>
            </a:r>
            <a:r>
              <a:rPr lang="fr-FR" sz="2000" dirty="0"/>
              <a:t>choisi aléatoirement. Le message chiffré dépend de ce </a:t>
            </a:r>
            <a:r>
              <a:rPr lang="fr-FR" sz="2000" dirty="0" smtClean="0"/>
              <a:t>k</a:t>
            </a:r>
            <a:r>
              <a:rPr lang="fr-FR" sz="2000" dirty="0"/>
              <a:t>.</a:t>
            </a:r>
            <a:br>
              <a:rPr lang="fr-FR" sz="2000" dirty="0"/>
            </a:br>
            <a:r>
              <a:rPr lang="fr-FR" sz="2000" dirty="0"/>
              <a:t>Donc, </a:t>
            </a:r>
            <a:r>
              <a:rPr lang="fr-FR" sz="2000" b="1" dirty="0"/>
              <a:t>à chaque nouveau </a:t>
            </a:r>
            <a:r>
              <a:rPr lang="fr-FR" sz="2000" b="1" dirty="0" smtClean="0"/>
              <a:t>k</a:t>
            </a:r>
            <a:r>
              <a:rPr lang="fr-FR" sz="2000" dirty="0" smtClean="0"/>
              <a:t>, </a:t>
            </a:r>
            <a:r>
              <a:rPr lang="fr-FR" sz="2000" dirty="0"/>
              <a:t>on obtient un </a:t>
            </a:r>
            <a:r>
              <a:rPr lang="fr-FR" sz="2000" b="1" dirty="0"/>
              <a:t>nouveau chiffré</a:t>
            </a:r>
            <a:r>
              <a:rPr lang="fr-FR" sz="2000" dirty="0"/>
              <a:t>, même si le message mmm reste le même.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46910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Exercice 1: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395311"/>
            <a:ext cx="903649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/>
              <a:t>2. Soit </a:t>
            </a:r>
            <a:r>
              <a:rPr lang="fr-FR" sz="2000" b="1" dirty="0" smtClean="0"/>
              <a:t>g=3. </a:t>
            </a:r>
            <a:r>
              <a:rPr lang="fr-FR" sz="2000" b="1" dirty="0"/>
              <a:t>Montrer que </a:t>
            </a:r>
            <a:r>
              <a:rPr lang="fr-FR" sz="2000" b="1" dirty="0" smtClean="0"/>
              <a:t>g </a:t>
            </a:r>
            <a:r>
              <a:rPr lang="fr-FR" sz="2000" b="1" dirty="0"/>
              <a:t>est générateur de Z</a:t>
            </a:r>
            <a:r>
              <a:rPr lang="fr-FR" sz="2000" b="1" baseline="-25000" dirty="0"/>
              <a:t>7</a:t>
            </a:r>
            <a:r>
              <a:rPr lang="fr-FR" sz="2000" b="1" baseline="30000" dirty="0" smtClean="0"/>
              <a:t>∗</a:t>
            </a:r>
            <a:r>
              <a:rPr lang="fr-FR" sz="2000" b="1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On </a:t>
            </a:r>
            <a:r>
              <a:rPr lang="fr-FR" sz="2000" dirty="0"/>
              <a:t>travaille dans le groupe multiplicatif </a:t>
            </a:r>
            <a:r>
              <a:rPr lang="fr-FR" sz="2000" dirty="0" smtClean="0"/>
              <a:t>Z7</a:t>
            </a:r>
            <a:r>
              <a:rPr lang="fr-FR" sz="2000" baseline="30000" dirty="0" smtClean="0"/>
              <a:t> * </a:t>
            </a:r>
            <a:r>
              <a:rPr lang="fr-FR" sz="2000" dirty="0" smtClean="0"/>
              <a:t>={</a:t>
            </a:r>
            <a:r>
              <a:rPr lang="fr-FR" sz="2000" dirty="0"/>
              <a:t>1,2,3,4,5,6</a:t>
            </a:r>
            <a:r>
              <a:rPr lang="fr-FR" sz="2000" dirty="0" smtClean="0"/>
              <a:t>}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On </a:t>
            </a:r>
            <a:r>
              <a:rPr lang="fr-FR" sz="2000" dirty="0"/>
              <a:t>calcule les puissances de </a:t>
            </a:r>
            <a:r>
              <a:rPr lang="fr-FR" sz="2000" dirty="0" smtClean="0"/>
              <a:t>3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 </a:t>
            </a:r>
            <a:r>
              <a:rPr lang="fr-FR" sz="2000" dirty="0"/>
              <a:t>: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3</a:t>
            </a:r>
            <a:r>
              <a:rPr lang="fr-FR" sz="2000" baseline="30000" dirty="0"/>
              <a:t>1</a:t>
            </a:r>
            <a:r>
              <a:rPr lang="fr-FR" sz="2000" dirty="0" smtClean="0"/>
              <a:t>≡ 3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smtClean="0"/>
              <a:t>3</a:t>
            </a:r>
            <a:r>
              <a:rPr lang="fr-FR" sz="2000" baseline="30000" dirty="0" smtClean="0"/>
              <a:t>2</a:t>
            </a:r>
            <a:r>
              <a:rPr lang="fr-FR" sz="2000" dirty="0" smtClean="0"/>
              <a:t>= 9 ≡ 2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3</a:t>
            </a:r>
            <a:r>
              <a:rPr lang="fr-FR" sz="2000" baseline="30000" dirty="0" smtClean="0"/>
              <a:t>3</a:t>
            </a:r>
            <a:r>
              <a:rPr lang="fr-FR" sz="2000" dirty="0" smtClean="0"/>
              <a:t>= 27 ≡ 6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3</a:t>
            </a:r>
            <a:r>
              <a:rPr lang="fr-FR" sz="2000" baseline="30000" dirty="0" smtClean="0"/>
              <a:t>4</a:t>
            </a:r>
            <a:r>
              <a:rPr lang="fr-FR" sz="2000" dirty="0" smtClean="0"/>
              <a:t>= 81≡ 4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3</a:t>
            </a:r>
            <a:r>
              <a:rPr lang="fr-FR" sz="2000" baseline="30000" dirty="0" smtClean="0"/>
              <a:t>5</a:t>
            </a:r>
            <a:r>
              <a:rPr lang="fr-FR" sz="2000" dirty="0" smtClean="0"/>
              <a:t>= 243 ≡ 5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3</a:t>
            </a:r>
            <a:r>
              <a:rPr lang="fr-FR" sz="2000" baseline="30000" dirty="0" smtClean="0"/>
              <a:t>6</a:t>
            </a:r>
            <a:r>
              <a:rPr lang="fr-FR" sz="2000" dirty="0" smtClean="0"/>
              <a:t>= 729 ≡1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On </a:t>
            </a:r>
            <a:r>
              <a:rPr lang="fr-FR" sz="2000" dirty="0"/>
              <a:t>a obtenu toutes les valeurs de </a:t>
            </a:r>
            <a:r>
              <a:rPr lang="fr-FR" sz="2000" b="1" dirty="0"/>
              <a:t>Z</a:t>
            </a:r>
            <a:r>
              <a:rPr lang="fr-FR" sz="2000" b="1" baseline="-25000" dirty="0"/>
              <a:t>7</a:t>
            </a:r>
            <a:r>
              <a:rPr lang="fr-FR" sz="2000" b="1" baseline="30000" dirty="0" smtClean="0"/>
              <a:t>∗</a:t>
            </a:r>
            <a:r>
              <a:rPr lang="fr-FR" sz="2000" dirty="0" smtClean="0"/>
              <a:t>, </a:t>
            </a:r>
            <a:r>
              <a:rPr lang="fr-FR" sz="2000" dirty="0"/>
              <a:t>donc </a:t>
            </a:r>
            <a:r>
              <a:rPr lang="fr-FR" sz="2000" b="1" dirty="0"/>
              <a:t>3 est un générateur</a:t>
            </a:r>
            <a:r>
              <a:rPr lang="fr-FR" sz="2000" dirty="0"/>
              <a:t> </a:t>
            </a:r>
            <a:r>
              <a:rPr lang="fr-FR" sz="2000" dirty="0" smtClean="0"/>
              <a:t>de</a:t>
            </a:r>
            <a:r>
              <a:rPr lang="fr-FR" sz="2000" b="1" dirty="0"/>
              <a:t> Z</a:t>
            </a:r>
            <a:r>
              <a:rPr lang="fr-FR" sz="2000" b="1" baseline="-25000" dirty="0"/>
              <a:t>7</a:t>
            </a:r>
            <a:r>
              <a:rPr lang="fr-FR" sz="2000" b="1" baseline="30000" dirty="0"/>
              <a:t>∗</a:t>
            </a:r>
            <a:r>
              <a:rPr lang="fr-FR" sz="2000" dirty="0" smtClean="0"/>
              <a:t>.</a:t>
            </a:r>
            <a:endParaRPr lang="fr-FR" sz="20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0275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Exercice1: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395311"/>
            <a:ext cx="90364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/>
              <a:t>3. Soit a=4a = 4a=4 la clé secrète d’Alice. Donner la clé publique d’Alice.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Rappel :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p=7, g=3</a:t>
            </a:r>
            <a:r>
              <a:rPr lang="fr-FR" sz="2000" dirty="0"/>
              <a:t>, </a:t>
            </a:r>
            <a:r>
              <a:rPr lang="fr-FR" sz="2000" dirty="0" smtClean="0"/>
              <a:t>a=4 </a:t>
            </a:r>
            <a:r>
              <a:rPr lang="fr-FR" sz="2000" dirty="0"/>
              <a:t>(clé secrète)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Clé publique = (</a:t>
            </a:r>
            <a:r>
              <a:rPr lang="fr-FR" sz="2000" dirty="0" err="1" smtClean="0"/>
              <a:t>p,g,A</a:t>
            </a:r>
            <a:r>
              <a:rPr lang="fr-FR" sz="2000" dirty="0" smtClean="0"/>
              <a:t>), </a:t>
            </a:r>
            <a:r>
              <a:rPr lang="fr-FR" sz="2000" dirty="0"/>
              <a:t>où </a:t>
            </a:r>
            <a:r>
              <a:rPr lang="fr-FR" sz="2000" dirty="0" smtClean="0"/>
              <a:t>A=</a:t>
            </a:r>
            <a:r>
              <a:rPr lang="fr-FR" sz="2000" dirty="0" err="1" smtClean="0"/>
              <a:t>g</a:t>
            </a:r>
            <a:r>
              <a:rPr lang="fr-FR" sz="2000" baseline="30000" dirty="0" err="1" smtClean="0"/>
              <a:t>a</a:t>
            </a:r>
            <a:r>
              <a:rPr lang="fr-FR" sz="2000" baseline="30000" dirty="0" smtClean="0"/>
              <a:t>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p 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Donc </a:t>
            </a:r>
            <a:r>
              <a:rPr lang="fr-FR" sz="2000" dirty="0"/>
              <a:t>: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A=3</a:t>
            </a:r>
            <a:r>
              <a:rPr lang="fr-FR" sz="2000" baseline="30000" dirty="0"/>
              <a:t>4</a:t>
            </a:r>
            <a:r>
              <a:rPr lang="fr-FR" sz="2000" dirty="0"/>
              <a:t>=81mod  </a:t>
            </a:r>
            <a:r>
              <a:rPr lang="fr-FR" sz="2000" dirty="0" smtClean="0"/>
              <a:t>7=4</a:t>
            </a: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✅ </a:t>
            </a:r>
            <a:r>
              <a:rPr lang="fr-FR" sz="2000" b="1" dirty="0"/>
              <a:t>Clé publique d’Alice</a:t>
            </a:r>
            <a:r>
              <a:rPr lang="fr-FR" sz="2000" dirty="0"/>
              <a:t> : (7,3,4</a:t>
            </a:r>
            <a:r>
              <a:rPr lang="fr-FR" sz="2000" dirty="0" smtClean="0"/>
              <a:t>)</a:t>
            </a:r>
            <a:endParaRPr lang="fr-FR" sz="20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231115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Exercice 1: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395311"/>
            <a:ext cx="90364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4. Bob veut envoyer le message m=2m = 2m=2 avec un aléa k=5k = 5k=5. Quel est le message chiffré ?</a:t>
            </a:r>
          </a:p>
          <a:p>
            <a:r>
              <a:rPr lang="fr-FR" sz="2000" dirty="0"/>
              <a:t>Rappel du chiffrement </a:t>
            </a:r>
            <a:r>
              <a:rPr lang="fr-FR" sz="2000" dirty="0" err="1"/>
              <a:t>ElGamal</a:t>
            </a:r>
            <a:r>
              <a:rPr lang="fr-FR" sz="2000" dirty="0"/>
              <a:t> :</a:t>
            </a:r>
            <a:br>
              <a:rPr lang="fr-FR" sz="2000" dirty="0"/>
            </a:br>
            <a:r>
              <a:rPr lang="fr-FR" sz="2000" dirty="0"/>
              <a:t>Clé publique d’Alice = (</a:t>
            </a:r>
            <a:r>
              <a:rPr lang="fr-FR" sz="2000" dirty="0" err="1"/>
              <a:t>p,g,A</a:t>
            </a:r>
            <a:r>
              <a:rPr lang="fr-FR" sz="2000" dirty="0"/>
              <a:t>)=(</a:t>
            </a:r>
            <a:r>
              <a:rPr lang="fr-FR" sz="2000" dirty="0" smtClean="0"/>
              <a:t>7,3,4)</a:t>
            </a:r>
          </a:p>
          <a:p>
            <a:r>
              <a:rPr lang="fr-FR" sz="2000" dirty="0" smtClean="0"/>
              <a:t>Bob </a:t>
            </a:r>
            <a:r>
              <a:rPr lang="fr-FR" sz="2000" dirty="0"/>
              <a:t>choisit </a:t>
            </a:r>
            <a:r>
              <a:rPr lang="fr-FR" sz="2000" dirty="0" smtClean="0"/>
              <a:t>: k=5</a:t>
            </a:r>
          </a:p>
          <a:p>
            <a:r>
              <a:rPr lang="fr-FR" sz="2000" dirty="0" smtClean="0"/>
              <a:t>Il </a:t>
            </a:r>
            <a:r>
              <a:rPr lang="fr-FR" sz="2000" dirty="0"/>
              <a:t>calcule :</a:t>
            </a:r>
          </a:p>
          <a:p>
            <a:r>
              <a:rPr lang="fr-FR" sz="2000" dirty="0" smtClean="0"/>
              <a:t>c1=</a:t>
            </a:r>
            <a:r>
              <a:rPr lang="fr-FR" sz="2000" dirty="0" err="1" smtClean="0"/>
              <a:t>g</a:t>
            </a:r>
            <a:r>
              <a:rPr lang="fr-FR" sz="2000" baseline="30000" dirty="0" err="1" smtClean="0"/>
              <a:t>k</a:t>
            </a:r>
            <a:r>
              <a:rPr lang="fr-FR" sz="2000" baseline="30000" dirty="0" smtClean="0"/>
              <a:t>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p = 3</a:t>
            </a:r>
            <a:r>
              <a:rPr lang="fr-FR" sz="2000" baseline="30000" dirty="0" smtClean="0"/>
              <a:t>5</a:t>
            </a:r>
            <a:r>
              <a:rPr lang="fr-FR" sz="2000" dirty="0" smtClean="0"/>
              <a:t>=243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7=5</a:t>
            </a:r>
          </a:p>
          <a:p>
            <a:r>
              <a:rPr lang="fr-FR" sz="2000" dirty="0" smtClean="0"/>
              <a:t>c2=</a:t>
            </a:r>
            <a:r>
              <a:rPr lang="fr-FR" sz="2000" dirty="0" err="1" smtClean="0"/>
              <a:t>m</a:t>
            </a:r>
            <a:r>
              <a:rPr lang="fr-FR" sz="2000" dirty="0" err="1"/>
              <a:t>⋅</a:t>
            </a:r>
            <a:r>
              <a:rPr lang="fr-FR" sz="2000" dirty="0" err="1" smtClean="0"/>
              <a:t>A</a:t>
            </a:r>
            <a:r>
              <a:rPr lang="fr-FR" sz="2000" baseline="30000" dirty="0" err="1" smtClean="0"/>
              <a:t>k</a:t>
            </a:r>
            <a:r>
              <a:rPr lang="fr-FR" sz="2000" baseline="30000" dirty="0" smtClean="0"/>
              <a:t> </a:t>
            </a:r>
            <a:r>
              <a:rPr lang="fr-FR" sz="2000" dirty="0" err="1" smtClean="0"/>
              <a:t>mod</a:t>
            </a:r>
            <a:r>
              <a:rPr lang="fr-FR" sz="2000" dirty="0"/>
              <a:t>  p=2⋅</a:t>
            </a:r>
            <a:r>
              <a:rPr lang="fr-FR" sz="2000" dirty="0" smtClean="0"/>
              <a:t>4</a:t>
            </a:r>
            <a:r>
              <a:rPr lang="fr-FR" sz="2000" baseline="30000" dirty="0" smtClean="0"/>
              <a:t>5</a:t>
            </a:r>
            <a:r>
              <a:rPr lang="fr-FR" sz="2000" dirty="0" smtClean="0"/>
              <a:t>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</a:p>
          <a:p>
            <a:r>
              <a:rPr lang="fr-FR" sz="2000" dirty="0" smtClean="0"/>
              <a:t>Calculons </a:t>
            </a:r>
            <a:r>
              <a:rPr lang="fr-FR" sz="2000" dirty="0"/>
              <a:t>4</a:t>
            </a:r>
            <a:r>
              <a:rPr lang="fr-FR" sz="2000" baseline="30000" dirty="0"/>
              <a:t>5</a:t>
            </a:r>
            <a:r>
              <a:rPr lang="fr-FR" sz="2000" dirty="0"/>
              <a:t>mod  </a:t>
            </a:r>
            <a:r>
              <a:rPr lang="fr-FR" sz="2000" dirty="0" smtClean="0"/>
              <a:t>7:</a:t>
            </a:r>
            <a:endParaRPr lang="fr-FR" sz="2000" dirty="0"/>
          </a:p>
          <a:p>
            <a:r>
              <a:rPr lang="fr-FR" sz="2000" dirty="0" smtClean="0"/>
              <a:t>4</a:t>
            </a:r>
            <a:r>
              <a:rPr lang="fr-FR" sz="2000" baseline="30000" dirty="0" smtClean="0"/>
              <a:t>1 </a:t>
            </a:r>
            <a:r>
              <a:rPr lang="fr-FR" sz="2000" dirty="0" smtClean="0"/>
              <a:t>= 4</a:t>
            </a:r>
          </a:p>
          <a:p>
            <a:r>
              <a:rPr lang="fr-FR" sz="2000" dirty="0" smtClean="0"/>
              <a:t>4</a:t>
            </a:r>
            <a:r>
              <a:rPr lang="fr-FR" sz="2000" baseline="30000" dirty="0" smtClean="0"/>
              <a:t>2 </a:t>
            </a:r>
            <a:r>
              <a:rPr lang="fr-FR" sz="2000" dirty="0" smtClean="0"/>
              <a:t>= 16 ≡ 2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</a:p>
          <a:p>
            <a:r>
              <a:rPr lang="fr-FR" sz="2000" dirty="0" smtClean="0"/>
              <a:t>4</a:t>
            </a:r>
            <a:r>
              <a:rPr lang="fr-FR" sz="2000" baseline="30000" dirty="0" smtClean="0"/>
              <a:t>3 </a:t>
            </a:r>
            <a:r>
              <a:rPr lang="fr-FR" sz="2000" dirty="0" smtClean="0"/>
              <a:t>= 4</a:t>
            </a:r>
            <a:r>
              <a:rPr lang="fr-FR" sz="2000" dirty="0"/>
              <a:t>⋅</a:t>
            </a:r>
            <a:r>
              <a:rPr lang="fr-FR" sz="2000" dirty="0" smtClean="0"/>
              <a:t>2 = 8 ≡1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</a:p>
          <a:p>
            <a:r>
              <a:rPr lang="fr-FR" sz="2000" dirty="0" smtClean="0"/>
              <a:t>4</a:t>
            </a:r>
            <a:r>
              <a:rPr lang="fr-FR" sz="2000" baseline="30000" dirty="0" smtClean="0"/>
              <a:t>4 </a:t>
            </a:r>
            <a:r>
              <a:rPr lang="fr-FR" sz="2000" dirty="0" smtClean="0"/>
              <a:t>= 4</a:t>
            </a:r>
            <a:r>
              <a:rPr lang="fr-FR" sz="2000" dirty="0"/>
              <a:t>⋅</a:t>
            </a:r>
            <a:r>
              <a:rPr lang="fr-FR" sz="2000" dirty="0" smtClean="0"/>
              <a:t>1=4</a:t>
            </a:r>
          </a:p>
          <a:p>
            <a:r>
              <a:rPr lang="fr-FR" sz="2000" dirty="0" smtClean="0"/>
              <a:t>4</a:t>
            </a:r>
            <a:r>
              <a:rPr lang="fr-FR" sz="2000" baseline="30000" dirty="0" smtClean="0"/>
              <a:t>5</a:t>
            </a:r>
            <a:r>
              <a:rPr lang="fr-FR" sz="2000" dirty="0" smtClean="0"/>
              <a:t> = 4</a:t>
            </a:r>
            <a:r>
              <a:rPr lang="fr-FR" sz="2000" dirty="0"/>
              <a:t>⋅</a:t>
            </a:r>
            <a:r>
              <a:rPr lang="fr-FR" sz="2000" dirty="0" smtClean="0"/>
              <a:t>4 = 16 ≡ 2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  <a:endParaRPr lang="fr-FR" sz="2000" dirty="0"/>
          </a:p>
          <a:p>
            <a:r>
              <a:rPr lang="fr-FR" sz="2000" dirty="0"/>
              <a:t>Donc :</a:t>
            </a:r>
          </a:p>
          <a:p>
            <a:r>
              <a:rPr lang="fr-FR" sz="2000" dirty="0"/>
              <a:t>c2=2⋅2=4mod  </a:t>
            </a:r>
            <a:r>
              <a:rPr lang="fr-FR" sz="2000" dirty="0" smtClean="0"/>
              <a:t>7</a:t>
            </a:r>
          </a:p>
          <a:p>
            <a:r>
              <a:rPr lang="fr-FR" sz="2000" dirty="0" smtClean="0"/>
              <a:t>✅ </a:t>
            </a:r>
            <a:r>
              <a:rPr lang="fr-FR" sz="2000" b="1" dirty="0"/>
              <a:t>Message chiffré envoyé à Alice :</a:t>
            </a:r>
            <a:r>
              <a:rPr lang="fr-FR" sz="2000" dirty="0"/>
              <a:t> (c1,c2)=(5,4</a:t>
            </a:r>
            <a:r>
              <a:rPr lang="fr-FR" sz="2000" dirty="0" smtClean="0"/>
              <a:t>)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15643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Exercice 1: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395311"/>
            <a:ext cx="9036496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5. Montrer comment Alice retrouve le message mmm à partir du message chiffré reçu (</a:t>
            </a:r>
            <a:r>
              <a:rPr lang="fr-FR" b="1" dirty="0" smtClean="0"/>
              <a:t>c1,c2)</a:t>
            </a:r>
          </a:p>
          <a:p>
            <a:r>
              <a:rPr lang="fr-FR" sz="2000" dirty="0" smtClean="0"/>
              <a:t>Alice </a:t>
            </a:r>
            <a:r>
              <a:rPr lang="fr-FR" sz="2000" dirty="0"/>
              <a:t>connaît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dirty="0" smtClean="0"/>
              <a:t>a=4 </a:t>
            </a:r>
            <a:r>
              <a:rPr lang="fr-FR" sz="2000" dirty="0"/>
              <a:t>(clé secrète)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dirty="0" smtClean="0"/>
              <a:t>c</a:t>
            </a:r>
            <a:r>
              <a:rPr lang="fr-FR" sz="2000" baseline="-25000" dirty="0" smtClean="0"/>
              <a:t>1</a:t>
            </a:r>
            <a:r>
              <a:rPr lang="fr-FR" sz="2000" dirty="0" smtClean="0"/>
              <a:t>=5, c</a:t>
            </a:r>
            <a:r>
              <a:rPr lang="fr-FR" sz="2000" baseline="-25000" dirty="0" smtClean="0"/>
              <a:t>2</a:t>
            </a:r>
            <a:r>
              <a:rPr lang="fr-FR" sz="2000" dirty="0" smtClean="0"/>
              <a:t>=4</a:t>
            </a:r>
            <a:endParaRPr lang="fr-FR" sz="2000" dirty="0"/>
          </a:p>
          <a:p>
            <a:r>
              <a:rPr lang="fr-FR" sz="2000" dirty="0"/>
              <a:t>Elle calcule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dirty="0" smtClean="0"/>
              <a:t>s=c</a:t>
            </a:r>
            <a:r>
              <a:rPr lang="fr-FR" sz="2000" baseline="-25000" dirty="0" smtClean="0"/>
              <a:t>1</a:t>
            </a:r>
            <a:r>
              <a:rPr lang="fr-FR" sz="2000" baseline="30000" dirty="0" smtClean="0"/>
              <a:t>a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p=5</a:t>
            </a:r>
            <a:r>
              <a:rPr lang="fr-FR" sz="2000" baseline="30000" dirty="0" smtClean="0"/>
              <a:t>4</a:t>
            </a:r>
            <a:endParaRPr lang="fr-FR" sz="2000" dirty="0"/>
          </a:p>
          <a:p>
            <a:r>
              <a:rPr lang="fr-FR" sz="2000" dirty="0" smtClean="0"/>
              <a:t>5</a:t>
            </a:r>
            <a:r>
              <a:rPr lang="fr-FR" sz="2000" baseline="30000" dirty="0" smtClean="0"/>
              <a:t>2 </a:t>
            </a:r>
            <a:r>
              <a:rPr lang="fr-FR" sz="2000" dirty="0" smtClean="0"/>
              <a:t>= 25 ≡ 4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  <a:r>
              <a:rPr lang="fr-FR" sz="2000" dirty="0"/>
              <a:t/>
            </a:r>
            <a:br>
              <a:rPr lang="fr-FR" sz="2000" dirty="0"/>
            </a:br>
            <a:r>
              <a:rPr lang="fr-FR" sz="2000" dirty="0" smtClean="0"/>
              <a:t>5</a:t>
            </a:r>
            <a:r>
              <a:rPr lang="fr-FR" sz="2000" baseline="30000" dirty="0" smtClean="0"/>
              <a:t>4 </a:t>
            </a:r>
            <a:r>
              <a:rPr lang="fr-FR" sz="2000" dirty="0" smtClean="0"/>
              <a:t>= (5</a:t>
            </a:r>
            <a:r>
              <a:rPr lang="fr-FR" sz="2000" baseline="30000" dirty="0" smtClean="0"/>
              <a:t>2</a:t>
            </a:r>
            <a:r>
              <a:rPr lang="fr-FR" sz="2000" dirty="0" smtClean="0"/>
              <a:t>)</a:t>
            </a:r>
            <a:r>
              <a:rPr lang="fr-FR" sz="2000" baseline="30000" dirty="0" smtClean="0"/>
              <a:t>2 </a:t>
            </a:r>
            <a:r>
              <a:rPr lang="fr-FR" sz="2000" dirty="0" smtClean="0"/>
              <a:t>= 4</a:t>
            </a:r>
            <a:r>
              <a:rPr lang="fr-FR" sz="2000" baseline="30000" dirty="0" smtClean="0"/>
              <a:t>2 </a:t>
            </a:r>
            <a:r>
              <a:rPr lang="fr-FR" sz="2000" dirty="0" smtClean="0"/>
              <a:t>= 16 ≡ 2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</a:p>
          <a:p>
            <a:r>
              <a:rPr lang="fr-FR" sz="2000" dirty="0" smtClean="0"/>
              <a:t>5</a:t>
            </a:r>
            <a:r>
              <a:rPr lang="fr-FR" sz="2000" baseline="30000" dirty="0" smtClean="0"/>
              <a:t>4 </a:t>
            </a:r>
            <a:r>
              <a:rPr lang="fr-FR" sz="2000" dirty="0" smtClean="0"/>
              <a:t>= (5</a:t>
            </a:r>
            <a:r>
              <a:rPr lang="fr-FR" sz="2000" baseline="30000" dirty="0" smtClean="0"/>
              <a:t>2</a:t>
            </a:r>
            <a:r>
              <a:rPr lang="fr-FR" sz="2000" dirty="0" smtClean="0"/>
              <a:t>)</a:t>
            </a:r>
            <a:r>
              <a:rPr lang="fr-FR" sz="2000" baseline="30000" dirty="0" smtClean="0"/>
              <a:t>2 </a:t>
            </a:r>
            <a:r>
              <a:rPr lang="fr-FR" sz="2000" dirty="0" smtClean="0"/>
              <a:t>= 4</a:t>
            </a:r>
            <a:r>
              <a:rPr lang="fr-FR" sz="2000" baseline="30000" dirty="0" smtClean="0"/>
              <a:t>2 </a:t>
            </a:r>
            <a:r>
              <a:rPr lang="fr-FR" sz="2000" dirty="0" smtClean="0"/>
              <a:t>= 16 ≡ 2 </a:t>
            </a:r>
            <a:r>
              <a:rPr lang="fr-FR" sz="2000" dirty="0" err="1" smtClean="0"/>
              <a:t>mod</a:t>
            </a:r>
            <a:r>
              <a:rPr lang="fr-FR" sz="2000" dirty="0" smtClean="0"/>
              <a:t> 7</a:t>
            </a:r>
            <a:r>
              <a:rPr lang="fr-FR" sz="2000" dirty="0"/>
              <a:t/>
            </a:r>
            <a:br>
              <a:rPr lang="fr-FR" sz="2000" dirty="0"/>
            </a:br>
            <a:r>
              <a:rPr lang="fr-FR" sz="2000" dirty="0"/>
              <a:t>Donc </a:t>
            </a:r>
            <a:r>
              <a:rPr lang="fr-FR" sz="2000" dirty="0" smtClean="0"/>
              <a:t>s=2</a:t>
            </a:r>
          </a:p>
          <a:p>
            <a:r>
              <a:rPr lang="fr-FR" sz="2000" dirty="0" smtClean="0"/>
              <a:t>Elle </a:t>
            </a:r>
            <a:r>
              <a:rPr lang="fr-FR" sz="2000" dirty="0"/>
              <a:t>calcule ensuite s</a:t>
            </a:r>
            <a:r>
              <a:rPr lang="fr-FR" sz="2000" baseline="30000" dirty="0"/>
              <a:t>−</a:t>
            </a:r>
            <a:r>
              <a:rPr lang="fr-FR" sz="2000" baseline="30000" dirty="0" smtClean="0"/>
              <a:t>1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 </a:t>
            </a:r>
            <a:r>
              <a:rPr lang="fr-FR" sz="2000" dirty="0"/>
              <a:t>(inverse modulaire de 2 </a:t>
            </a:r>
            <a:r>
              <a:rPr lang="fr-FR" sz="2000" dirty="0" err="1"/>
              <a:t>mod</a:t>
            </a:r>
            <a:r>
              <a:rPr lang="fr-FR" sz="2000" dirty="0"/>
              <a:t> 7).</a:t>
            </a:r>
          </a:p>
          <a:p>
            <a:r>
              <a:rPr lang="fr-FR" sz="2000" dirty="0"/>
              <a:t>2⋅</a:t>
            </a:r>
            <a:r>
              <a:rPr lang="fr-FR" sz="2000" dirty="0" smtClean="0"/>
              <a:t>4=8 ≡ 1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7</a:t>
            </a:r>
            <a:r>
              <a:rPr lang="fr-FR" sz="2000" dirty="0"/>
              <a:t/>
            </a:r>
            <a:br>
              <a:rPr lang="fr-FR" sz="2000" dirty="0"/>
            </a:br>
            <a:r>
              <a:rPr lang="fr-FR" sz="2000" dirty="0"/>
              <a:t>Donc s</a:t>
            </a:r>
            <a:r>
              <a:rPr lang="fr-FR" sz="2000" baseline="30000" dirty="0"/>
              <a:t>−</a:t>
            </a:r>
            <a:r>
              <a:rPr lang="fr-FR" sz="2000" baseline="30000" dirty="0" smtClean="0"/>
              <a:t>1</a:t>
            </a:r>
            <a:r>
              <a:rPr lang="fr-FR" sz="2000" dirty="0" smtClean="0"/>
              <a:t>=4</a:t>
            </a:r>
          </a:p>
          <a:p>
            <a:r>
              <a:rPr lang="fr-FR" sz="2000" dirty="0" smtClean="0"/>
              <a:t>Enfin</a:t>
            </a:r>
            <a:r>
              <a:rPr lang="fr-FR" sz="2000" dirty="0"/>
              <a:t>, elle retrouve </a:t>
            </a:r>
            <a:r>
              <a:rPr lang="fr-FR" sz="2000" dirty="0" smtClean="0"/>
              <a:t>m par :</a:t>
            </a:r>
          </a:p>
          <a:p>
            <a:r>
              <a:rPr lang="fr-FR" sz="2000" dirty="0"/>
              <a:t>m=c</a:t>
            </a:r>
            <a:r>
              <a:rPr lang="fr-FR" sz="2000" baseline="-25000" dirty="0"/>
              <a:t>2</a:t>
            </a:r>
            <a:r>
              <a:rPr lang="fr-FR" sz="2000" dirty="0"/>
              <a:t>​⋅s</a:t>
            </a:r>
            <a:r>
              <a:rPr lang="fr-FR" sz="2000" baseline="30000" dirty="0"/>
              <a:t>−</a:t>
            </a:r>
            <a:r>
              <a:rPr lang="fr-FR" sz="2000" baseline="30000" dirty="0" smtClean="0"/>
              <a:t>1 </a:t>
            </a:r>
            <a:r>
              <a:rPr lang="fr-FR" sz="2000" dirty="0" err="1" smtClean="0"/>
              <a:t>mod</a:t>
            </a:r>
            <a:r>
              <a:rPr lang="fr-FR" sz="2000" dirty="0" smtClean="0"/>
              <a:t> 7= 4</a:t>
            </a:r>
            <a:r>
              <a:rPr lang="fr-FR" sz="2000" dirty="0"/>
              <a:t>⋅</a:t>
            </a:r>
            <a:r>
              <a:rPr lang="fr-FR" sz="2000" dirty="0" smtClean="0"/>
              <a:t>4 = 16 ≡ 2 </a:t>
            </a:r>
            <a:r>
              <a:rPr lang="fr-FR" sz="2000" dirty="0" err="1" smtClean="0"/>
              <a:t>mod</a:t>
            </a:r>
            <a:r>
              <a:rPr lang="fr-FR" sz="2000" dirty="0" smtClean="0"/>
              <a:t> 7 </a:t>
            </a:r>
            <a:endParaRPr lang="fr-FR" sz="2000" dirty="0"/>
          </a:p>
          <a:p>
            <a:r>
              <a:rPr lang="fr-FR" sz="2000" dirty="0" smtClean="0"/>
              <a:t>✅ </a:t>
            </a:r>
            <a:r>
              <a:rPr lang="fr-FR" sz="2000" b="1" dirty="0"/>
              <a:t>Message récupéré par Alice :</a:t>
            </a:r>
            <a:r>
              <a:rPr lang="fr-FR" sz="2000" dirty="0"/>
              <a:t> </a:t>
            </a:r>
            <a:r>
              <a:rPr lang="fr-FR" sz="2000" dirty="0" smtClean="0"/>
              <a:t>m = 2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39054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Exercice 2 :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395311"/>
            <a:ext cx="90364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smtClean="0"/>
              <a:t>a</a:t>
            </a:r>
            <a:r>
              <a:rPr lang="fr-FR" sz="2000" dirty="0"/>
              <a:t>) En prenant p = 13 et g = 2, faites les calculs et vérifications suivantes :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000" dirty="0"/>
              <a:t>• g est un élément générateur de Z/</a:t>
            </a:r>
            <a:r>
              <a:rPr lang="fr-FR" sz="2000" dirty="0" err="1"/>
              <a:t>pZ</a:t>
            </a:r>
            <a:r>
              <a:rPr lang="fr-FR" sz="2000" dirty="0"/>
              <a:t>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000" dirty="0"/>
              <a:t>• Quelle est la clé publique de Bob si sa clé privée est a = 9 ?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000" dirty="0"/>
              <a:t>• Comment Alice code t’elle le message M=10 si elle choisit une clé temporaire k = 6 ?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000" dirty="0"/>
              <a:t>• Comment Bob décode t’il le message ? Est-ce que ça a marché ? 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b) Supposons qu’Alice utilise tout le temps </a:t>
            </a:r>
            <a:r>
              <a:rPr lang="fr-FR" sz="2000" b="1" dirty="0"/>
              <a:t>la même clé k</a:t>
            </a:r>
            <a:r>
              <a:rPr lang="fr-FR" sz="2000" dirty="0"/>
              <a:t> pour coder ses messages. Un </a:t>
            </a:r>
            <a:r>
              <a:rPr lang="fr-FR" sz="2000" b="1" dirty="0"/>
              <a:t>observateur malveillant Eve </a:t>
            </a:r>
            <a:r>
              <a:rPr lang="fr-FR" sz="2000" dirty="0"/>
              <a:t>peut alors obtenir des informations précieuses. 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Si Alice code M1 et M2 avec k et Eve parvient à écouter les communications, elle pourra connaître la valeur de M1/M2. Comment ?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9019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Exercice2: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395311"/>
            <a:ext cx="9036496" cy="1808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a) Avec </a:t>
            </a:r>
            <a:r>
              <a:rPr lang="fr-FR" sz="2000" b="1" dirty="0" smtClean="0"/>
              <a:t>p=13 et g=2</a:t>
            </a:r>
            <a:endParaRPr lang="fr-FR" sz="2000" b="1" dirty="0"/>
          </a:p>
          <a:p>
            <a:r>
              <a:rPr lang="fr-FR" sz="2000" b="1" dirty="0"/>
              <a:t>• Vérifions que </a:t>
            </a:r>
            <a:r>
              <a:rPr lang="fr-FR" sz="2000" b="1" dirty="0" smtClean="0"/>
              <a:t>g=2 </a:t>
            </a:r>
            <a:r>
              <a:rPr lang="fr-FR" sz="2000" b="1" dirty="0"/>
              <a:t>est un générateur </a:t>
            </a:r>
            <a:r>
              <a:rPr lang="fr-FR" sz="2000" b="1" dirty="0" smtClean="0"/>
              <a:t>de </a:t>
            </a:r>
            <a:r>
              <a:rPr lang="fr-FR" sz="2000" b="1" dirty="0"/>
              <a:t>(</a:t>
            </a:r>
            <a:r>
              <a:rPr lang="fr-FR" sz="2000" b="1" dirty="0" smtClean="0"/>
              <a:t>Z/13Z)*</a:t>
            </a:r>
            <a:endParaRPr lang="fr-FR" sz="2000" b="1" dirty="0"/>
          </a:p>
          <a:p>
            <a:r>
              <a:rPr lang="fr-FR" sz="2000" dirty="0"/>
              <a:t>On doit s’assurer que </a:t>
            </a:r>
            <a:r>
              <a:rPr lang="fr-FR" sz="2000" dirty="0" smtClean="0"/>
              <a:t>2</a:t>
            </a:r>
            <a:r>
              <a:rPr lang="fr-FR" sz="2000" baseline="30000" dirty="0" smtClean="0"/>
              <a:t>k</a:t>
            </a:r>
            <a:r>
              <a:rPr lang="fr-FR" sz="2000" dirty="0" smtClean="0"/>
              <a:t>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13 </a:t>
            </a:r>
            <a:r>
              <a:rPr lang="fr-FR" sz="2000" dirty="0"/>
              <a:t>prend toutes les valeurs de </a:t>
            </a:r>
            <a:r>
              <a:rPr lang="fr-FR" sz="2000" dirty="0" smtClean="0"/>
              <a:t>1 </a:t>
            </a:r>
            <a:r>
              <a:rPr lang="fr-FR" sz="2000" dirty="0"/>
              <a:t>à </a:t>
            </a:r>
            <a:r>
              <a:rPr lang="fr-FR" sz="2000" dirty="0" smtClean="0"/>
              <a:t>12 </a:t>
            </a:r>
            <a:r>
              <a:rPr lang="fr-FR" sz="2000" dirty="0"/>
              <a:t>quand </a:t>
            </a:r>
            <a:r>
              <a:rPr lang="fr-FR" sz="2000" dirty="0" smtClean="0"/>
              <a:t>k=1 à 12</a:t>
            </a:r>
            <a:r>
              <a:rPr lang="fr-FR" sz="2000" dirty="0"/>
              <a:t>. Faisons les puissances :</a:t>
            </a:r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852936"/>
            <a:ext cx="3969618" cy="3831143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4557712" y="4020843"/>
            <a:ext cx="446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✅ Toutes les valeurs de </a:t>
            </a:r>
            <a:r>
              <a:rPr lang="fr-FR" b="1" dirty="0" smtClean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fr-FR" dirty="0" smtClean="0"/>
              <a:t>Z/13Z)* </a:t>
            </a:r>
            <a:r>
              <a:rPr lang="fr-FR" dirty="0"/>
              <a:t>sont couvertes → </a:t>
            </a:r>
            <a:r>
              <a:rPr lang="fr-FR" b="1" dirty="0"/>
              <a:t>2 est un générateur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114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Exercice2: Solution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395311"/>
            <a:ext cx="90364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• Clé publique de Bob si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a=9</a:t>
            </a:r>
            <a:endParaRPr lang="fr-FR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Y = </a:t>
            </a:r>
            <a:r>
              <a:rPr lang="fr-FR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fr-FR" sz="2800" baseline="30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mod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  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p = 2</a:t>
            </a:r>
            <a:r>
              <a:rPr lang="fr-FR" sz="2800" baseline="30000" dirty="0" smtClean="0">
                <a:latin typeface="Calibri" panose="020F0502020204030204" pitchFamily="34" charset="0"/>
                <a:cs typeface="Calibri" panose="020F0502020204030204" pitchFamily="34" charset="0"/>
              </a:rPr>
              <a:t>9 </a:t>
            </a:r>
            <a:r>
              <a:rPr lang="fr-FR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mod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  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13</a:t>
            </a:r>
          </a:p>
          <a:p>
            <a:pPr>
              <a:lnSpc>
                <a:spcPct val="150000"/>
              </a:lnSpc>
            </a:pP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fr-FR" sz="2800" baseline="30000" dirty="0" smtClean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=512</a:t>
            </a:r>
            <a:endParaRPr lang="fr-FR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512 </a:t>
            </a:r>
            <a:r>
              <a:rPr lang="fr-FR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mod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  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13 =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6</a:t>
            </a:r>
            <a:endParaRPr lang="fr-FR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Donc :</a:t>
            </a:r>
          </a:p>
          <a:p>
            <a:pPr>
              <a:lnSpc>
                <a:spcPct val="150000"/>
              </a:lnSpc>
            </a:pP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Clé publique de Bob : </a:t>
            </a:r>
            <a:r>
              <a:rPr lang="fr-FR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p=13,g=2,A=6)</a:t>
            </a:r>
            <a:endParaRPr lang="fr-FR" sz="2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Clé privée : </a:t>
            </a:r>
            <a:r>
              <a:rPr lang="fr-FR" sz="28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a=9</a:t>
            </a:r>
            <a:endParaRPr lang="fr-FR" sz="2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47944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000" b="1" dirty="0" smtClean="0">
                <a:solidFill>
                  <a:srgbClr val="FF0000"/>
                </a:solidFill>
              </a:rPr>
              <a:t>Exercice2: Solution</a:t>
            </a:r>
            <a:endParaRPr lang="fr-FR" sz="20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304756"/>
            <a:ext cx="90364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/>
              <a:t>• Codage par Alice du message </a:t>
            </a:r>
            <a:r>
              <a:rPr lang="fr-FR" sz="2000" b="1" dirty="0" smtClean="0"/>
              <a:t>M=10 </a:t>
            </a:r>
            <a:r>
              <a:rPr lang="fr-FR" sz="2000" b="1" dirty="0"/>
              <a:t>avec </a:t>
            </a:r>
            <a:r>
              <a:rPr lang="fr-FR" sz="2000" b="1" dirty="0" smtClean="0"/>
              <a:t>k=6 </a:t>
            </a:r>
            <a:endParaRPr lang="fr-FR" sz="2000" b="1" dirty="0"/>
          </a:p>
          <a:p>
            <a:pPr>
              <a:lnSpc>
                <a:spcPct val="150000"/>
              </a:lnSpc>
            </a:pPr>
            <a:r>
              <a:rPr lang="fr-FR" sz="2000" dirty="0"/>
              <a:t>Chiffrement </a:t>
            </a:r>
            <a:r>
              <a:rPr lang="fr-FR" sz="2000" dirty="0" err="1"/>
              <a:t>ElGamal</a:t>
            </a:r>
            <a:r>
              <a:rPr lang="fr-FR" sz="2000" dirty="0"/>
              <a:t> : Alice envoie le couple (c1,c2</a:t>
            </a:r>
            <a:r>
              <a:rPr lang="fr-FR" sz="2000" dirty="0" smtClean="0"/>
              <a:t>) </a:t>
            </a:r>
            <a:r>
              <a:rPr lang="fr-FR" sz="2000" dirty="0"/>
              <a:t>: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C</a:t>
            </a:r>
            <a:r>
              <a:rPr lang="fr-FR" sz="2000" baseline="30000" dirty="0" smtClean="0"/>
              <a:t>1 </a:t>
            </a:r>
            <a:r>
              <a:rPr lang="fr-FR" sz="2000" dirty="0" smtClean="0"/>
              <a:t>= </a:t>
            </a:r>
            <a:r>
              <a:rPr lang="fr-FR" sz="2000" b="1" dirty="0" err="1" smtClean="0">
                <a:solidFill>
                  <a:srgbClr val="C00000"/>
                </a:solidFill>
              </a:rPr>
              <a:t>g</a:t>
            </a:r>
            <a:r>
              <a:rPr lang="fr-FR" sz="2000" b="1" baseline="30000" dirty="0" err="1" smtClean="0">
                <a:solidFill>
                  <a:srgbClr val="C00000"/>
                </a:solidFill>
              </a:rPr>
              <a:t>k</a:t>
            </a:r>
            <a:r>
              <a:rPr lang="fr-FR" sz="2000" b="1" baseline="30000" dirty="0" smtClean="0">
                <a:solidFill>
                  <a:srgbClr val="C00000"/>
                </a:solidFill>
              </a:rPr>
              <a:t> </a:t>
            </a:r>
            <a:r>
              <a:rPr lang="fr-FR" sz="2000" b="1" dirty="0" err="1" smtClean="0">
                <a:solidFill>
                  <a:srgbClr val="C00000"/>
                </a:solidFill>
              </a:rPr>
              <a:t>mod</a:t>
            </a:r>
            <a:r>
              <a:rPr lang="fr-FR" sz="2000" b="1" dirty="0">
                <a:solidFill>
                  <a:srgbClr val="C00000"/>
                </a:solidFill>
              </a:rPr>
              <a:t>  </a:t>
            </a:r>
            <a:r>
              <a:rPr lang="fr-FR" sz="2000" b="1" dirty="0" smtClean="0">
                <a:solidFill>
                  <a:srgbClr val="C00000"/>
                </a:solidFill>
              </a:rPr>
              <a:t>p</a:t>
            </a:r>
            <a:r>
              <a:rPr lang="fr-FR" sz="2000" dirty="0" smtClean="0"/>
              <a:t>=2</a:t>
            </a:r>
            <a:r>
              <a:rPr lang="fr-FR" sz="2000" baseline="30000" dirty="0" smtClean="0"/>
              <a:t>6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13= 64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13=12</a:t>
            </a: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smtClean="0"/>
              <a:t>C</a:t>
            </a:r>
            <a:r>
              <a:rPr lang="fr-FR" sz="2000" baseline="30000" dirty="0" smtClean="0"/>
              <a:t>2 </a:t>
            </a:r>
            <a:r>
              <a:rPr lang="fr-FR" sz="2000" dirty="0" smtClean="0"/>
              <a:t>= </a:t>
            </a:r>
            <a:r>
              <a:rPr lang="fr-FR" sz="2000" b="1" dirty="0" smtClean="0">
                <a:solidFill>
                  <a:srgbClr val="C00000"/>
                </a:solidFill>
              </a:rPr>
              <a:t>M ⋅ </a:t>
            </a:r>
            <a:r>
              <a:rPr lang="fr-FR" sz="2000" b="1" dirty="0" err="1" smtClean="0">
                <a:solidFill>
                  <a:srgbClr val="C00000"/>
                </a:solidFill>
              </a:rPr>
              <a:t>A</a:t>
            </a:r>
            <a:r>
              <a:rPr lang="fr-FR" sz="2000" b="1" baseline="30000" dirty="0" err="1" smtClean="0">
                <a:solidFill>
                  <a:srgbClr val="C00000"/>
                </a:solidFill>
              </a:rPr>
              <a:t>k</a:t>
            </a:r>
            <a:r>
              <a:rPr lang="fr-FR" sz="2000" b="1" baseline="30000" dirty="0" smtClean="0">
                <a:solidFill>
                  <a:srgbClr val="C00000"/>
                </a:solidFill>
              </a:rPr>
              <a:t> </a:t>
            </a:r>
            <a:r>
              <a:rPr lang="fr-FR" sz="2000" b="1" dirty="0" err="1" smtClean="0">
                <a:solidFill>
                  <a:srgbClr val="C00000"/>
                </a:solidFill>
              </a:rPr>
              <a:t>mod</a:t>
            </a:r>
            <a:r>
              <a:rPr lang="fr-FR" sz="2000" b="1" dirty="0">
                <a:solidFill>
                  <a:srgbClr val="C00000"/>
                </a:solidFill>
              </a:rPr>
              <a:t>  </a:t>
            </a:r>
            <a:r>
              <a:rPr lang="fr-FR" sz="2000" b="1" dirty="0" smtClean="0">
                <a:solidFill>
                  <a:srgbClr val="C00000"/>
                </a:solidFill>
              </a:rPr>
              <a:t>p </a:t>
            </a:r>
            <a:r>
              <a:rPr lang="fr-FR" sz="2000" dirty="0" smtClean="0"/>
              <a:t>=10 ⋅ 6</a:t>
            </a:r>
            <a:r>
              <a:rPr lang="fr-FR" sz="2000" baseline="30000" dirty="0" smtClean="0"/>
              <a:t>6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13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Calculons 6</a:t>
            </a:r>
            <a:r>
              <a:rPr lang="fr-FR" sz="2000" baseline="30000" dirty="0" smtClean="0"/>
              <a:t>6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13:</a:t>
            </a: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smtClean="0"/>
              <a:t>6</a:t>
            </a:r>
            <a:r>
              <a:rPr lang="fr-FR" sz="2000" baseline="30000" dirty="0" smtClean="0"/>
              <a:t>2 </a:t>
            </a:r>
            <a:r>
              <a:rPr lang="fr-FR" sz="2000" dirty="0" smtClean="0"/>
              <a:t>= 36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13=10</a:t>
            </a: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smtClean="0"/>
              <a:t>6</a:t>
            </a:r>
            <a:r>
              <a:rPr lang="fr-FR" sz="2000" baseline="30000" dirty="0" smtClean="0"/>
              <a:t>4 </a:t>
            </a:r>
            <a:r>
              <a:rPr lang="fr-FR" sz="2000" dirty="0" smtClean="0"/>
              <a:t>= (</a:t>
            </a:r>
            <a:r>
              <a:rPr lang="fr-FR" sz="2000" dirty="0"/>
              <a:t>62)2=100mod  </a:t>
            </a:r>
            <a:r>
              <a:rPr lang="fr-FR" sz="2000" dirty="0" smtClean="0"/>
              <a:t>13= 9</a:t>
            </a: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smtClean="0"/>
              <a:t>6</a:t>
            </a:r>
            <a:r>
              <a:rPr lang="fr-FR" sz="2000" baseline="30000" dirty="0" smtClean="0"/>
              <a:t>6 </a:t>
            </a:r>
            <a:r>
              <a:rPr lang="fr-FR" sz="2000" dirty="0" smtClean="0"/>
              <a:t>= 6</a:t>
            </a:r>
            <a:r>
              <a:rPr lang="fr-FR" sz="2000" baseline="30000" dirty="0" smtClean="0"/>
              <a:t>4</a:t>
            </a:r>
            <a:r>
              <a:rPr lang="fr-FR" sz="2000" dirty="0"/>
              <a:t>⋅</a:t>
            </a:r>
            <a:r>
              <a:rPr lang="fr-FR" sz="2000" dirty="0" smtClean="0"/>
              <a:t>6</a:t>
            </a:r>
            <a:r>
              <a:rPr lang="fr-FR" sz="2000" baseline="30000" dirty="0" smtClean="0"/>
              <a:t>2 </a:t>
            </a:r>
            <a:r>
              <a:rPr lang="fr-FR" sz="2000" dirty="0" smtClean="0"/>
              <a:t>= 9</a:t>
            </a:r>
            <a:r>
              <a:rPr lang="fr-FR" sz="2000" dirty="0"/>
              <a:t>⋅</a:t>
            </a:r>
            <a:r>
              <a:rPr lang="fr-FR" sz="2000" dirty="0" smtClean="0"/>
              <a:t>10= 90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13=</a:t>
            </a:r>
            <a:r>
              <a:rPr lang="fr-FR" sz="2000" b="1" dirty="0" smtClean="0">
                <a:solidFill>
                  <a:srgbClr val="C00000"/>
                </a:solidFill>
              </a:rPr>
              <a:t>12</a:t>
            </a:r>
          </a:p>
          <a:p>
            <a:pPr>
              <a:lnSpc>
                <a:spcPct val="150000"/>
              </a:lnSpc>
            </a:pPr>
            <a:r>
              <a:rPr lang="fr-FR" sz="2000" dirty="0" smtClean="0"/>
              <a:t>Donc </a:t>
            </a:r>
            <a:r>
              <a:rPr lang="fr-FR" sz="2000" dirty="0"/>
              <a:t>: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c</a:t>
            </a:r>
            <a:r>
              <a:rPr lang="fr-FR" sz="2000" baseline="-25000" dirty="0"/>
              <a:t>2</a:t>
            </a:r>
            <a:r>
              <a:rPr lang="fr-FR" sz="2000" dirty="0"/>
              <a:t>=10⋅</a:t>
            </a:r>
            <a:r>
              <a:rPr lang="fr-FR" sz="2000" dirty="0" smtClean="0"/>
              <a:t>12=120 </a:t>
            </a:r>
            <a:r>
              <a:rPr lang="fr-FR" sz="2000" dirty="0" err="1" smtClean="0"/>
              <a:t>mod</a:t>
            </a:r>
            <a:r>
              <a:rPr lang="fr-FR" sz="2000" dirty="0"/>
              <a:t>  </a:t>
            </a:r>
            <a:r>
              <a:rPr lang="fr-FR" sz="2000" dirty="0" smtClean="0"/>
              <a:t>13=</a:t>
            </a:r>
            <a:r>
              <a:rPr lang="fr-FR" sz="2000" b="1" dirty="0" smtClean="0"/>
              <a:t>3</a:t>
            </a:r>
            <a:endParaRPr lang="fr-FR" sz="2000" b="1" dirty="0"/>
          </a:p>
          <a:p>
            <a:pPr>
              <a:lnSpc>
                <a:spcPct val="150000"/>
              </a:lnSpc>
            </a:pPr>
            <a:r>
              <a:rPr lang="fr-FR" sz="2000" dirty="0" smtClean="0"/>
              <a:t> </a:t>
            </a:r>
            <a:r>
              <a:rPr lang="fr-FR" sz="2000" dirty="0"/>
              <a:t>Alice envoie </a:t>
            </a:r>
            <a:r>
              <a:rPr lang="fr-FR" sz="2000" b="1" dirty="0">
                <a:solidFill>
                  <a:srgbClr val="C00000"/>
                </a:solidFill>
              </a:rPr>
              <a:t>(c</a:t>
            </a:r>
            <a:r>
              <a:rPr lang="fr-FR" sz="2000" b="1" baseline="-25000" dirty="0">
                <a:solidFill>
                  <a:srgbClr val="C00000"/>
                </a:solidFill>
              </a:rPr>
              <a:t>1</a:t>
            </a:r>
            <a:r>
              <a:rPr lang="fr-FR" sz="2000" b="1" dirty="0">
                <a:solidFill>
                  <a:srgbClr val="C00000"/>
                </a:solidFill>
              </a:rPr>
              <a:t>=12,c</a:t>
            </a:r>
            <a:r>
              <a:rPr lang="fr-FR" sz="2000" b="1" baseline="-25000" dirty="0">
                <a:solidFill>
                  <a:srgbClr val="C00000"/>
                </a:solidFill>
              </a:rPr>
              <a:t>2</a:t>
            </a:r>
            <a:r>
              <a:rPr lang="fr-FR" sz="2000" b="1" dirty="0">
                <a:solidFill>
                  <a:srgbClr val="C00000"/>
                </a:solidFill>
              </a:rPr>
              <a:t>=3</a:t>
            </a:r>
            <a:r>
              <a:rPr lang="fr-FR" sz="2000" b="1" dirty="0" smtClean="0">
                <a:solidFill>
                  <a:srgbClr val="C00000"/>
                </a:solidFill>
              </a:rPr>
              <a:t>) = </a:t>
            </a:r>
            <a:r>
              <a:rPr lang="fr-FR" sz="2000" b="1" dirty="0">
                <a:solidFill>
                  <a:srgbClr val="C00000"/>
                </a:solidFill>
              </a:rPr>
              <a:t>(</a:t>
            </a:r>
            <a:r>
              <a:rPr lang="fr-FR" sz="2000" b="1" dirty="0" smtClean="0">
                <a:solidFill>
                  <a:srgbClr val="C00000"/>
                </a:solidFill>
              </a:rPr>
              <a:t>c</a:t>
            </a:r>
            <a:r>
              <a:rPr lang="fr-FR" sz="2000" b="1" baseline="-25000" dirty="0" smtClean="0">
                <a:solidFill>
                  <a:srgbClr val="C00000"/>
                </a:solidFill>
              </a:rPr>
              <a:t>1</a:t>
            </a:r>
            <a:r>
              <a:rPr lang="fr-FR" sz="2000" b="1" dirty="0" smtClean="0">
                <a:solidFill>
                  <a:srgbClr val="C00000"/>
                </a:solidFill>
              </a:rPr>
              <a:t>,c</a:t>
            </a:r>
            <a:r>
              <a:rPr lang="fr-FR" sz="2000" b="1" baseline="-25000" dirty="0" smtClean="0">
                <a:solidFill>
                  <a:srgbClr val="C00000"/>
                </a:solidFill>
              </a:rPr>
              <a:t>2</a:t>
            </a:r>
            <a:r>
              <a:rPr lang="fr-FR" sz="2000" b="1" dirty="0" smtClean="0">
                <a:solidFill>
                  <a:srgbClr val="C00000"/>
                </a:solidFill>
              </a:rPr>
              <a:t>) = (12,3</a:t>
            </a:r>
            <a:r>
              <a:rPr lang="fr-FR" sz="2000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5850233" y="2392415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C00000"/>
                </a:solidFill>
              </a:rPr>
              <a:t>C1 = g</a:t>
            </a:r>
            <a:r>
              <a:rPr lang="da-DK" b="1" baseline="30000" dirty="0">
                <a:solidFill>
                  <a:srgbClr val="C00000"/>
                </a:solidFill>
              </a:rPr>
              <a:t>k</a:t>
            </a:r>
            <a:r>
              <a:rPr lang="da-DK" b="1" dirty="0">
                <a:solidFill>
                  <a:srgbClr val="C00000"/>
                </a:solidFill>
              </a:rPr>
              <a:t> mod p  </a:t>
            </a:r>
            <a:r>
              <a:rPr lang="da-DK" dirty="0"/>
              <a:t>et </a:t>
            </a:r>
            <a:r>
              <a:rPr lang="da-DK" b="1" dirty="0">
                <a:solidFill>
                  <a:srgbClr val="C00000"/>
                </a:solidFill>
              </a:rPr>
              <a:t>C2 = m.A</a:t>
            </a:r>
            <a:r>
              <a:rPr lang="da-DK" b="1" baseline="30000" dirty="0">
                <a:solidFill>
                  <a:srgbClr val="C00000"/>
                </a:solidFill>
              </a:rPr>
              <a:t>k</a:t>
            </a:r>
            <a:r>
              <a:rPr lang="da-DK" b="1" dirty="0">
                <a:solidFill>
                  <a:srgbClr val="C00000"/>
                </a:solidFill>
              </a:rPr>
              <a:t> mod p</a:t>
            </a:r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4860032" y="2982567"/>
            <a:ext cx="369222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Clé publique de Bob : </a:t>
            </a:r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(p=13,g=2,A=6)</a:t>
            </a:r>
          </a:p>
        </p:txBody>
      </p:sp>
    </p:spTree>
    <p:extLst>
      <p:ext uri="{BB962C8B-B14F-4D97-AF65-F5344CB8AC3E}">
        <p14:creationId xmlns:p14="http://schemas.microsoft.com/office/powerpoint/2010/main" val="1503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000" b="1" dirty="0" smtClean="0">
                <a:solidFill>
                  <a:srgbClr val="FF0000"/>
                </a:solidFill>
              </a:rPr>
              <a:t>Exercice2: Solution</a:t>
            </a:r>
            <a:endParaRPr lang="fr-FR" sz="20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247556"/>
            <a:ext cx="9036496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/>
              <a:t>• Décodage par Bob</a:t>
            </a:r>
          </a:p>
          <a:p>
            <a:pPr>
              <a:lnSpc>
                <a:spcPct val="150000"/>
              </a:lnSpc>
            </a:pPr>
            <a:r>
              <a:rPr lang="fr-FR" dirty="0"/>
              <a:t>Bob connaît </a:t>
            </a:r>
            <a:r>
              <a:rPr lang="fr-FR" b="1" dirty="0" smtClean="0"/>
              <a:t>a=9</a:t>
            </a:r>
            <a:r>
              <a:rPr lang="fr-FR" b="1" dirty="0"/>
              <a:t>, </a:t>
            </a:r>
            <a:r>
              <a:rPr lang="fr-FR" b="1" dirty="0" smtClean="0"/>
              <a:t>c1</a:t>
            </a:r>
            <a:r>
              <a:rPr lang="fr-FR" b="1" dirty="0"/>
              <a:t>​=12, </a:t>
            </a:r>
            <a:r>
              <a:rPr lang="fr-FR" b="1" dirty="0" smtClean="0"/>
              <a:t>c2</a:t>
            </a:r>
            <a:r>
              <a:rPr lang="fr-FR" b="1" dirty="0"/>
              <a:t>​=3</a:t>
            </a:r>
          </a:p>
          <a:p>
            <a:pPr>
              <a:lnSpc>
                <a:spcPct val="150000"/>
              </a:lnSpc>
            </a:pPr>
            <a:r>
              <a:rPr lang="fr-FR" dirty="0"/>
              <a:t>Il calcule :</a:t>
            </a:r>
          </a:p>
          <a:p>
            <a:pPr>
              <a:lnSpc>
                <a:spcPct val="150000"/>
              </a:lnSpc>
            </a:pPr>
            <a:r>
              <a:rPr lang="fr-FR" b="1" dirty="0" smtClean="0">
                <a:solidFill>
                  <a:srgbClr val="C00000"/>
                </a:solidFill>
              </a:rPr>
              <a:t>s=c</a:t>
            </a:r>
            <a:r>
              <a:rPr lang="fr-FR" b="1" baseline="-25000" dirty="0" smtClean="0">
                <a:solidFill>
                  <a:srgbClr val="C00000"/>
                </a:solidFill>
              </a:rPr>
              <a:t>1</a:t>
            </a:r>
            <a:r>
              <a:rPr lang="fr-FR" b="1" baseline="30000" dirty="0" smtClean="0">
                <a:solidFill>
                  <a:srgbClr val="C00000"/>
                </a:solidFill>
              </a:rPr>
              <a:t>a </a:t>
            </a:r>
            <a:r>
              <a:rPr lang="fr-FR" b="1" dirty="0" err="1" smtClean="0">
                <a:solidFill>
                  <a:srgbClr val="C00000"/>
                </a:solidFill>
              </a:rPr>
              <a:t>mod</a:t>
            </a:r>
            <a:r>
              <a:rPr lang="fr-FR" b="1" dirty="0">
                <a:solidFill>
                  <a:srgbClr val="C00000"/>
                </a:solidFill>
              </a:rPr>
              <a:t>  </a:t>
            </a:r>
            <a:r>
              <a:rPr lang="fr-FR" b="1" dirty="0" smtClean="0">
                <a:solidFill>
                  <a:srgbClr val="C00000"/>
                </a:solidFill>
              </a:rPr>
              <a:t>p</a:t>
            </a:r>
            <a:r>
              <a:rPr lang="fr-FR" dirty="0" smtClean="0"/>
              <a:t>=12</a:t>
            </a:r>
            <a:r>
              <a:rPr lang="fr-FR" baseline="30000" dirty="0" smtClean="0"/>
              <a:t>9</a:t>
            </a:r>
            <a:r>
              <a:rPr lang="fr-FR" dirty="0" smtClean="0"/>
              <a:t> </a:t>
            </a:r>
            <a:r>
              <a:rPr lang="fr-FR" dirty="0" err="1" smtClean="0"/>
              <a:t>mod</a:t>
            </a:r>
            <a:r>
              <a:rPr lang="fr-FR" dirty="0"/>
              <a:t>  </a:t>
            </a:r>
            <a:r>
              <a:rPr lang="fr-FR" dirty="0" smtClean="0"/>
              <a:t>13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Observons :</a:t>
            </a:r>
          </a:p>
          <a:p>
            <a:pPr>
              <a:lnSpc>
                <a:spcPct val="150000"/>
              </a:lnSpc>
            </a:pPr>
            <a:r>
              <a:rPr lang="fr-FR" b="1" dirty="0" smtClean="0"/>
              <a:t>12</a:t>
            </a:r>
            <a:r>
              <a:rPr lang="fr-FR" b="1" baseline="30000" dirty="0" smtClean="0"/>
              <a:t>2</a:t>
            </a:r>
            <a:r>
              <a:rPr lang="fr-FR" b="1" dirty="0" smtClean="0"/>
              <a:t>=144 </a:t>
            </a:r>
            <a:r>
              <a:rPr lang="fr-FR" b="1" dirty="0" err="1" smtClean="0"/>
              <a:t>mod</a:t>
            </a:r>
            <a:r>
              <a:rPr lang="fr-FR" b="1" dirty="0"/>
              <a:t>  </a:t>
            </a:r>
            <a:r>
              <a:rPr lang="fr-FR" b="1" dirty="0" smtClean="0"/>
              <a:t>13=1 </a:t>
            </a:r>
            <a:r>
              <a:rPr lang="fr-FR" b="1" dirty="0"/>
              <a:t>→ Donc </a:t>
            </a:r>
            <a:r>
              <a:rPr lang="fr-FR" b="1" dirty="0" smtClean="0"/>
              <a:t>12</a:t>
            </a:r>
            <a:r>
              <a:rPr lang="fr-FR" b="1" baseline="30000" dirty="0" smtClean="0"/>
              <a:t>2 </a:t>
            </a:r>
            <a:r>
              <a:rPr lang="fr-FR" b="1" dirty="0" smtClean="0"/>
              <a:t>≡ 1 et 12</a:t>
            </a:r>
            <a:r>
              <a:rPr lang="fr-FR" b="1" baseline="30000" dirty="0" smtClean="0"/>
              <a:t>9 </a:t>
            </a:r>
            <a:r>
              <a:rPr lang="fr-FR" b="1" dirty="0" smtClean="0"/>
              <a:t>= 12</a:t>
            </a:r>
            <a:r>
              <a:rPr lang="fr-FR" b="1" dirty="0"/>
              <a:t>⋅(12</a:t>
            </a:r>
            <a:r>
              <a:rPr lang="fr-FR" b="1" baseline="30000" dirty="0"/>
              <a:t>2</a:t>
            </a:r>
            <a:r>
              <a:rPr lang="fr-FR" b="1" dirty="0"/>
              <a:t>)</a:t>
            </a:r>
            <a:r>
              <a:rPr lang="fr-FR" b="1" baseline="30000" dirty="0"/>
              <a:t>4</a:t>
            </a:r>
            <a:r>
              <a:rPr lang="fr-FR" b="1" dirty="0"/>
              <a:t>=12⋅</a:t>
            </a:r>
            <a:r>
              <a:rPr lang="fr-FR" b="1" dirty="0" smtClean="0"/>
              <a:t>1</a:t>
            </a:r>
            <a:r>
              <a:rPr lang="fr-FR" b="1" baseline="30000" dirty="0" smtClean="0"/>
              <a:t>4</a:t>
            </a:r>
            <a:r>
              <a:rPr lang="fr-FR" b="1" dirty="0" smtClean="0"/>
              <a:t>=12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Ensuite</a:t>
            </a:r>
            <a:r>
              <a:rPr lang="fr-FR" dirty="0"/>
              <a:t>, </a:t>
            </a:r>
            <a:r>
              <a:rPr lang="fr-FR" b="1" dirty="0"/>
              <a:t>s</a:t>
            </a:r>
            <a:r>
              <a:rPr lang="fr-FR" b="1" baseline="30000" dirty="0"/>
              <a:t>−</a:t>
            </a:r>
            <a:r>
              <a:rPr lang="fr-FR" b="1" baseline="30000" dirty="0" smtClean="0"/>
              <a:t>1 </a:t>
            </a:r>
            <a:r>
              <a:rPr lang="fr-FR" b="1" dirty="0" err="1" smtClean="0"/>
              <a:t>mod</a:t>
            </a:r>
            <a:r>
              <a:rPr lang="fr-FR" b="1" dirty="0"/>
              <a:t>  </a:t>
            </a:r>
            <a:r>
              <a:rPr lang="fr-FR" b="1" dirty="0" smtClean="0"/>
              <a:t>13 </a:t>
            </a:r>
            <a:r>
              <a:rPr lang="fr-FR" dirty="0" smtClean="0"/>
              <a:t>, </a:t>
            </a:r>
            <a:r>
              <a:rPr lang="fr-FR" dirty="0"/>
              <a:t>inverse modulaire de 12 :</a:t>
            </a:r>
          </a:p>
          <a:p>
            <a:pPr>
              <a:lnSpc>
                <a:spcPct val="150000"/>
              </a:lnSpc>
            </a:pPr>
            <a:r>
              <a:rPr lang="fr-FR" dirty="0"/>
              <a:t>On veut </a:t>
            </a:r>
            <a:r>
              <a:rPr lang="fr-FR" dirty="0" smtClean="0"/>
              <a:t>x </a:t>
            </a:r>
            <a:r>
              <a:rPr lang="fr-FR" dirty="0"/>
              <a:t>tel que </a:t>
            </a:r>
            <a:r>
              <a:rPr lang="fr-FR" dirty="0" smtClean="0"/>
              <a:t>12x ≡ 1 </a:t>
            </a:r>
            <a:r>
              <a:rPr lang="fr-FR" dirty="0" err="1" smtClean="0"/>
              <a:t>mod</a:t>
            </a:r>
            <a:r>
              <a:rPr lang="fr-FR" dirty="0"/>
              <a:t>  </a:t>
            </a:r>
            <a:r>
              <a:rPr lang="fr-FR" dirty="0" smtClean="0"/>
              <a:t>13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→ </a:t>
            </a:r>
            <a:r>
              <a:rPr lang="fr-FR" b="1" dirty="0"/>
              <a:t>12⋅</a:t>
            </a:r>
            <a:r>
              <a:rPr lang="fr-FR" b="1" dirty="0" smtClean="0"/>
              <a:t>12=144 </a:t>
            </a:r>
            <a:r>
              <a:rPr lang="fr-FR" dirty="0" smtClean="0"/>
              <a:t>≡ 1 </a:t>
            </a:r>
            <a:r>
              <a:rPr lang="fr-FR" dirty="0" err="1" smtClean="0"/>
              <a:t>mod</a:t>
            </a:r>
            <a:r>
              <a:rPr lang="fr-FR" dirty="0"/>
              <a:t>  </a:t>
            </a:r>
            <a:r>
              <a:rPr lang="fr-FR" dirty="0" smtClean="0"/>
              <a:t>13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Donc </a:t>
            </a:r>
            <a:r>
              <a:rPr lang="fr-FR" b="1" dirty="0"/>
              <a:t>s</a:t>
            </a:r>
            <a:r>
              <a:rPr lang="fr-FR" b="1" baseline="30000" dirty="0"/>
              <a:t>−</a:t>
            </a:r>
            <a:r>
              <a:rPr lang="fr-FR" b="1" baseline="30000" dirty="0" smtClean="0"/>
              <a:t>1</a:t>
            </a:r>
            <a:r>
              <a:rPr lang="fr-FR" b="1" dirty="0" smtClean="0"/>
              <a:t>=12</a:t>
            </a:r>
            <a:endParaRPr lang="fr-FR" b="1" dirty="0"/>
          </a:p>
          <a:p>
            <a:pPr>
              <a:lnSpc>
                <a:spcPct val="150000"/>
              </a:lnSpc>
            </a:pPr>
            <a:r>
              <a:rPr lang="fr-FR" dirty="0"/>
              <a:t>Enfin :</a:t>
            </a:r>
          </a:p>
          <a:p>
            <a:pPr>
              <a:lnSpc>
                <a:spcPct val="150000"/>
              </a:lnSpc>
            </a:pPr>
            <a:r>
              <a:rPr lang="fr-FR" b="1" dirty="0" smtClean="0">
                <a:solidFill>
                  <a:srgbClr val="C00000"/>
                </a:solidFill>
              </a:rPr>
              <a:t>M = c</a:t>
            </a:r>
            <a:r>
              <a:rPr lang="fr-FR" b="1" baseline="-25000" dirty="0" smtClean="0">
                <a:solidFill>
                  <a:srgbClr val="C00000"/>
                </a:solidFill>
              </a:rPr>
              <a:t>2</a:t>
            </a:r>
            <a:r>
              <a:rPr lang="fr-FR" b="1" dirty="0">
                <a:solidFill>
                  <a:srgbClr val="C00000"/>
                </a:solidFill>
              </a:rPr>
              <a:t>⋅s</a:t>
            </a:r>
            <a:r>
              <a:rPr lang="fr-FR" b="1" baseline="30000" dirty="0">
                <a:solidFill>
                  <a:srgbClr val="C00000"/>
                </a:solidFill>
              </a:rPr>
              <a:t>−1</a:t>
            </a:r>
            <a:r>
              <a:rPr lang="fr-FR" b="1" dirty="0">
                <a:solidFill>
                  <a:srgbClr val="C00000"/>
                </a:solidFill>
              </a:rPr>
              <a:t>mod</a:t>
            </a:r>
            <a:r>
              <a:rPr lang="fr-FR" dirty="0">
                <a:solidFill>
                  <a:srgbClr val="C00000"/>
                </a:solidFill>
              </a:rPr>
              <a:t> </a:t>
            </a:r>
            <a:r>
              <a:rPr lang="fr-FR" b="1" dirty="0" smtClean="0">
                <a:solidFill>
                  <a:srgbClr val="C00000"/>
                </a:solidFill>
              </a:rPr>
              <a:t>p</a:t>
            </a:r>
            <a:r>
              <a:rPr lang="fr-FR" dirty="0" smtClean="0">
                <a:solidFill>
                  <a:srgbClr val="C00000"/>
                </a:solidFill>
              </a:rPr>
              <a:t> </a:t>
            </a:r>
            <a:r>
              <a:rPr lang="fr-FR" dirty="0" smtClean="0"/>
              <a:t>=</a:t>
            </a:r>
            <a:r>
              <a:rPr lang="fr-FR" dirty="0"/>
              <a:t>3⋅</a:t>
            </a:r>
            <a:r>
              <a:rPr lang="fr-FR" dirty="0" smtClean="0"/>
              <a:t>12 = 36 </a:t>
            </a:r>
            <a:r>
              <a:rPr lang="fr-FR" dirty="0" err="1" smtClean="0"/>
              <a:t>mod</a:t>
            </a:r>
            <a:r>
              <a:rPr lang="fr-FR" dirty="0"/>
              <a:t>  </a:t>
            </a:r>
            <a:r>
              <a:rPr lang="fr-FR" dirty="0" smtClean="0"/>
              <a:t>13 = 10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✅ </a:t>
            </a:r>
            <a:r>
              <a:rPr lang="fr-FR" b="1" dirty="0">
                <a:solidFill>
                  <a:srgbClr val="C00000"/>
                </a:solidFill>
              </a:rPr>
              <a:t>Bob retrouve bien </a:t>
            </a:r>
            <a:r>
              <a:rPr lang="fr-FR" b="1" dirty="0" smtClean="0">
                <a:solidFill>
                  <a:srgbClr val="C00000"/>
                </a:solidFill>
              </a:rPr>
              <a:t>M=10</a:t>
            </a:r>
            <a:r>
              <a:rPr lang="fr-FR" dirty="0" smtClean="0">
                <a:solidFill>
                  <a:srgbClr val="C00000"/>
                </a:solidFill>
              </a:rPr>
              <a:t>→ </a:t>
            </a:r>
            <a:r>
              <a:rPr lang="fr-FR" dirty="0">
                <a:solidFill>
                  <a:srgbClr val="C00000"/>
                </a:solidFill>
              </a:rPr>
              <a:t>le chiffrement a </a:t>
            </a:r>
            <a:r>
              <a:rPr lang="fr-FR" dirty="0" smtClean="0">
                <a:solidFill>
                  <a:srgbClr val="C00000"/>
                </a:solidFill>
              </a:rPr>
              <a:t>fonctionné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5292080" y="3933056"/>
            <a:ext cx="36724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 </a:t>
            </a:r>
            <a:r>
              <a:rPr lang="fr-FR" sz="1200" dirty="0"/>
              <a:t>D= C1</a:t>
            </a:r>
            <a:r>
              <a:rPr lang="fr-FR" sz="1200" baseline="30000" dirty="0">
                <a:solidFill>
                  <a:srgbClr val="FF0000"/>
                </a:solidFill>
              </a:rPr>
              <a:t>a</a:t>
            </a:r>
            <a:r>
              <a:rPr lang="fr-FR" sz="1200" dirty="0"/>
              <a:t> </a:t>
            </a:r>
            <a:r>
              <a:rPr lang="fr-FR" sz="1200" dirty="0" err="1"/>
              <a:t>mod</a:t>
            </a:r>
            <a:r>
              <a:rPr lang="fr-FR" sz="1200" dirty="0"/>
              <a:t> p = </a:t>
            </a:r>
            <a:r>
              <a:rPr lang="fr-FR" sz="1200" dirty="0" err="1"/>
              <a:t>g</a:t>
            </a:r>
            <a:r>
              <a:rPr lang="fr-FR" sz="1200" baseline="30000" dirty="0" err="1"/>
              <a:t>ka</a:t>
            </a:r>
            <a:r>
              <a:rPr lang="fr-FR" sz="1200" dirty="0"/>
              <a:t> </a:t>
            </a:r>
            <a:r>
              <a:rPr lang="fr-FR" sz="1200" dirty="0" err="1"/>
              <a:t>mod</a:t>
            </a:r>
            <a:r>
              <a:rPr lang="fr-FR" sz="1200" dirty="0"/>
              <a:t> p = </a:t>
            </a:r>
            <a:r>
              <a:rPr lang="fr-FR" sz="1200" dirty="0" err="1"/>
              <a:t>A</a:t>
            </a:r>
            <a:r>
              <a:rPr lang="fr-FR" sz="1200" baseline="30000" dirty="0" err="1"/>
              <a:t>k</a:t>
            </a:r>
            <a:r>
              <a:rPr lang="fr-FR" sz="1200" baseline="30000" dirty="0"/>
              <a:t> </a:t>
            </a:r>
            <a:r>
              <a:rPr lang="fr-FR" sz="1200" dirty="0" err="1"/>
              <a:t>mod</a:t>
            </a:r>
            <a:r>
              <a:rPr lang="fr-FR" sz="1200" dirty="0"/>
              <a:t> p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200" dirty="0"/>
              <a:t>Pour déchiffrer le message m:</a:t>
            </a:r>
          </a:p>
          <a:p>
            <a:pPr>
              <a:lnSpc>
                <a:spcPct val="200000"/>
              </a:lnSpc>
            </a:pPr>
            <a:r>
              <a:rPr lang="fr-FR" sz="1200" dirty="0"/>
              <a:t>Alice calcule C2/D </a:t>
            </a:r>
            <a:r>
              <a:rPr lang="fr-FR" sz="1200" dirty="0" err="1"/>
              <a:t>mod</a:t>
            </a:r>
            <a:r>
              <a:rPr lang="fr-FR" sz="1200" dirty="0"/>
              <a:t> p = </a:t>
            </a:r>
            <a:r>
              <a:rPr lang="fr-FR" sz="1200" dirty="0" err="1"/>
              <a:t>m.A</a:t>
            </a:r>
            <a:r>
              <a:rPr lang="fr-FR" sz="1200" baseline="30000" dirty="0" err="1"/>
              <a:t>k</a:t>
            </a:r>
            <a:r>
              <a:rPr lang="fr-FR" sz="1200" dirty="0"/>
              <a:t>/</a:t>
            </a:r>
            <a:r>
              <a:rPr lang="fr-FR" sz="1200" dirty="0" err="1"/>
              <a:t>A</a:t>
            </a:r>
            <a:r>
              <a:rPr lang="fr-FR" sz="1200" baseline="30000" dirty="0" err="1"/>
              <a:t>k</a:t>
            </a:r>
            <a:r>
              <a:rPr lang="fr-FR" sz="1200" baseline="30000" dirty="0"/>
              <a:t> </a:t>
            </a:r>
            <a:r>
              <a:rPr lang="fr-FR" sz="1200" dirty="0" err="1"/>
              <a:t>mod</a:t>
            </a:r>
            <a:r>
              <a:rPr lang="fr-FR" sz="1200" dirty="0"/>
              <a:t> p = m</a:t>
            </a:r>
          </a:p>
        </p:txBody>
      </p:sp>
    </p:spTree>
    <p:extLst>
      <p:ext uri="{BB962C8B-B14F-4D97-AF65-F5344CB8AC3E}">
        <p14:creationId xmlns:p14="http://schemas.microsoft.com/office/powerpoint/2010/main" val="233313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asymétrique: </a:t>
            </a:r>
            <a:r>
              <a:rPr lang="fr-FR" sz="2000" dirty="0"/>
              <a:t>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Algorithme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ElGamal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fr-FR" sz="2000" b="1" dirty="0" smtClean="0">
                <a:solidFill>
                  <a:srgbClr val="FF0000"/>
                </a:solidFill>
              </a:rPr>
              <a:t>Exercice2: Solution</a:t>
            </a:r>
            <a:endParaRPr lang="fr-FR" sz="20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93216" y="1283853"/>
            <a:ext cx="90364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/>
              <a:t>b) Problème si Alice réutilise la même </a:t>
            </a:r>
            <a:r>
              <a:rPr lang="fr-FR" b="1" dirty="0" smtClean="0"/>
              <a:t>k</a:t>
            </a:r>
            <a:endParaRPr lang="fr-FR" b="1" dirty="0"/>
          </a:p>
          <a:p>
            <a:pPr>
              <a:lnSpc>
                <a:spcPct val="150000"/>
              </a:lnSpc>
            </a:pPr>
            <a:r>
              <a:rPr lang="fr-FR" dirty="0"/>
              <a:t>Supposons qu’Alice envoie deux messages </a:t>
            </a:r>
            <a:r>
              <a:rPr lang="fr-FR" dirty="0" smtClean="0"/>
              <a:t>M1 et M2</a:t>
            </a:r>
            <a:r>
              <a:rPr lang="fr-FR" dirty="0"/>
              <a:t>​ avec la </a:t>
            </a:r>
            <a:r>
              <a:rPr lang="fr-FR" b="1" dirty="0"/>
              <a:t>même </a:t>
            </a:r>
            <a:r>
              <a:rPr lang="fr-FR" b="1" dirty="0" smtClean="0"/>
              <a:t>k</a:t>
            </a:r>
            <a:r>
              <a:rPr lang="fr-FR" dirty="0" smtClean="0"/>
              <a:t>.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Les couples envoyés :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 (</a:t>
            </a:r>
            <a:r>
              <a:rPr lang="fr-FR" dirty="0"/>
              <a:t>c1,c2</a:t>
            </a:r>
            <a:r>
              <a:rPr lang="fr-FR" baseline="30000" dirty="0"/>
              <a:t>(1)</a:t>
            </a:r>
            <a:r>
              <a:rPr lang="fr-FR" dirty="0"/>
              <a:t>)=(g</a:t>
            </a:r>
            <a:r>
              <a:rPr lang="fr-FR" baseline="30000" dirty="0"/>
              <a:t>k</a:t>
            </a:r>
            <a:r>
              <a:rPr lang="fr-FR" dirty="0"/>
              <a:t>,M</a:t>
            </a:r>
            <a:r>
              <a:rPr lang="fr-FR" baseline="-25000" dirty="0"/>
              <a:t>1</a:t>
            </a:r>
            <a:r>
              <a:rPr lang="fr-FR" dirty="0"/>
              <a:t>⋅y</a:t>
            </a:r>
            <a:r>
              <a:rPr lang="fr-FR" baseline="30000" dirty="0"/>
              <a:t>k</a:t>
            </a:r>
            <a:r>
              <a:rPr lang="fr-FR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 (</a:t>
            </a:r>
            <a:r>
              <a:rPr lang="fr-FR" dirty="0"/>
              <a:t>c1,c2</a:t>
            </a:r>
            <a:r>
              <a:rPr lang="fr-FR" baseline="30000" dirty="0"/>
              <a:t>(2)</a:t>
            </a:r>
            <a:r>
              <a:rPr lang="fr-FR" dirty="0"/>
              <a:t>)=(g</a:t>
            </a:r>
            <a:r>
              <a:rPr lang="fr-FR" baseline="30000" dirty="0"/>
              <a:t>k</a:t>
            </a:r>
            <a:r>
              <a:rPr lang="fr-FR" dirty="0"/>
              <a:t>,M</a:t>
            </a:r>
            <a:r>
              <a:rPr lang="fr-FR" baseline="-25000" dirty="0"/>
              <a:t>2</a:t>
            </a:r>
            <a:r>
              <a:rPr lang="fr-FR" dirty="0"/>
              <a:t>⋅</a:t>
            </a:r>
            <a:r>
              <a:rPr lang="fr-FR" dirty="0" smtClean="0"/>
              <a:t>y</a:t>
            </a:r>
            <a:r>
              <a:rPr lang="fr-FR" baseline="30000" dirty="0" smtClean="0"/>
              <a:t>k</a:t>
            </a:r>
            <a:r>
              <a:rPr lang="fr-FR" dirty="0" smtClean="0"/>
              <a:t>)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L'observateur Eve voit :</a:t>
            </a:r>
          </a:p>
          <a:p>
            <a:pPr>
              <a:lnSpc>
                <a:spcPct val="150000"/>
              </a:lnSpc>
            </a:pPr>
            <a:r>
              <a:rPr lang="fr-FR" dirty="0"/>
              <a:t>Les deux messages chiffrés partagent le </a:t>
            </a:r>
            <a:r>
              <a:rPr lang="fr-FR" b="1" dirty="0"/>
              <a:t>même </a:t>
            </a:r>
            <a:r>
              <a:rPr lang="fr-FR" b="1" dirty="0" smtClean="0"/>
              <a:t>c1</a:t>
            </a:r>
            <a:r>
              <a:rPr lang="fr-FR" dirty="0" smtClean="0"/>
              <a:t>(car </a:t>
            </a:r>
            <a:r>
              <a:rPr lang="fr-FR" dirty="0"/>
              <a:t>même </a:t>
            </a:r>
            <a:r>
              <a:rPr lang="fr-FR" dirty="0" smtClean="0"/>
              <a:t>k)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Elle peut alors calculer :</a:t>
            </a:r>
          </a:p>
          <a:p>
            <a:endParaRPr lang="fr-FR" b="1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880" y="4437112"/>
            <a:ext cx="3481663" cy="108012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07014" y="5494276"/>
            <a:ext cx="7502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⚠ </a:t>
            </a:r>
            <a:r>
              <a:rPr lang="fr-FR" dirty="0"/>
              <a:t>Eve ne connaît pas les messages, </a:t>
            </a:r>
            <a:r>
              <a:rPr lang="fr-FR" b="1" dirty="0"/>
              <a:t>mais connaît leur ratio</a:t>
            </a:r>
            <a:r>
              <a:rPr lang="fr-FR" dirty="0"/>
              <a:t> !</a:t>
            </a:r>
          </a:p>
          <a:p>
            <a:r>
              <a:rPr lang="fr-FR" dirty="0"/>
              <a:t>→ Cela peut révéler des infos sensibles si l’un des deux messages est connu ou deviné.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7616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clé publique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14288" y="54651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Cryptage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</a:t>
            </a:r>
          </a:p>
          <a:p>
            <a:r>
              <a:rPr lang="fr-F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Echange </a:t>
            </a:r>
            <a:r>
              <a:rPr lang="fr-F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</a:t>
            </a:r>
            <a:r>
              <a:rPr lang="fr-F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clés: </a:t>
            </a:r>
            <a:r>
              <a:rPr lang="fr-F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Principaux algorithmes à clef publique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35440"/>
            <a:ext cx="8806546" cy="444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8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412776"/>
            <a:ext cx="7308304" cy="4446994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757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" y="5589240"/>
            <a:ext cx="9144000" cy="1243608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179512" y="802442"/>
            <a:ext cx="89644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Hash:</a:t>
            </a:r>
          </a:p>
          <a:p>
            <a:r>
              <a:rPr lang="fr-FR" sz="2400" dirty="0"/>
              <a:t>Un algorithme de hachage est une fonction mathématique qui convertit une chaîne </a:t>
            </a:r>
            <a:r>
              <a:rPr lang="fr-FR" sz="2400" dirty="0" smtClean="0"/>
              <a:t>de caractères </a:t>
            </a:r>
            <a:r>
              <a:rPr lang="fr-FR" sz="2400" dirty="0"/>
              <a:t>d'une longueur quelconque en une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chaîne de caractères </a:t>
            </a:r>
            <a:r>
              <a:rPr lang="fr-FR" sz="2400" dirty="0"/>
              <a:t>de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taille fixe </a:t>
            </a:r>
            <a:r>
              <a:rPr lang="fr-FR" sz="2400" dirty="0" smtClean="0"/>
              <a:t>appelée </a:t>
            </a:r>
            <a:r>
              <a:rPr lang="fr-FR" sz="2400" b="1" dirty="0" smtClean="0">
                <a:solidFill>
                  <a:schemeClr val="accent1">
                    <a:lumMod val="75000"/>
                  </a:schemeClr>
                </a:solidFill>
              </a:rPr>
              <a:t>empreinte</a:t>
            </a:r>
            <a:r>
              <a:rPr lang="fr-FR" sz="2400" dirty="0" smtClean="0"/>
              <a:t> </a:t>
            </a:r>
            <a:r>
              <a:rPr lang="fr-FR" sz="2400" dirty="0"/>
              <a:t>ou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hash</a:t>
            </a:r>
            <a:r>
              <a:rPr lang="fr-FR" sz="2400" dirty="0"/>
              <a:t> ou encore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digest</a:t>
            </a:r>
            <a:r>
              <a:rPr lang="fr-FR" sz="2400" dirty="0"/>
              <a:t>.</a:t>
            </a:r>
            <a:endParaRPr lang="fr-FR" sz="2400" b="1" dirty="0">
              <a:solidFill>
                <a:srgbClr val="FF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73" y="2753175"/>
            <a:ext cx="7154898" cy="248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6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" y="3160440"/>
            <a:ext cx="9144000" cy="3672408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179512" y="802442"/>
            <a:ext cx="89644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Deux propriétés essentielles 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/>
              <a:t> elle est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irréversible</a:t>
            </a:r>
            <a:r>
              <a:rPr lang="fr-FR" sz="2400" dirty="0"/>
              <a:t> : impossible de retrouver le </a:t>
            </a:r>
            <a:r>
              <a:rPr lang="fr-FR" sz="2400" dirty="0" smtClean="0"/>
              <a:t>message lorsqu'on </a:t>
            </a:r>
            <a:r>
              <a:rPr lang="fr-FR" sz="2400" dirty="0"/>
              <a:t>connaît le hash </a:t>
            </a:r>
            <a:r>
              <a:rPr lang="fr-FR" sz="2400" dirty="0" smtClean="0"/>
              <a:t>;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 smtClean="0"/>
              <a:t>elle </a:t>
            </a:r>
            <a:r>
              <a:rPr lang="fr-FR" sz="2400" dirty="0"/>
              <a:t>est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résistante aux collisions </a:t>
            </a:r>
            <a:r>
              <a:rPr lang="fr-FR" sz="2400" dirty="0"/>
              <a:t>: deux messages différents ne produiront jamais (en théorie) </a:t>
            </a:r>
            <a:r>
              <a:rPr lang="fr-FR" sz="2400" dirty="0" smtClean="0"/>
              <a:t>le même </a:t>
            </a:r>
            <a:r>
              <a:rPr lang="fr-FR" sz="2400" dirty="0"/>
              <a:t>hash.</a:t>
            </a:r>
            <a:endParaRPr lang="fr-F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9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179512" y="802442"/>
            <a:ext cx="8964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/>
              <a:t>Ce </a:t>
            </a:r>
            <a:r>
              <a:rPr lang="fr-FR" sz="2400" dirty="0"/>
              <a:t>type de fonction cryptographique est donc conçu de façon qu'une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modification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dirty="0" smtClean="0"/>
              <a:t>même infime </a:t>
            </a:r>
            <a:r>
              <a:rPr lang="fr-FR" sz="2400" dirty="0"/>
              <a:t>du </a:t>
            </a:r>
            <a:r>
              <a:rPr lang="fr-FR" sz="2400" b="1" dirty="0"/>
              <a:t>message initial </a:t>
            </a:r>
            <a:r>
              <a:rPr lang="fr-FR" sz="2400" dirty="0"/>
              <a:t>entraîne une modification du hash.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/>
              <a:t>Si </a:t>
            </a:r>
            <a:r>
              <a:rPr lang="fr-FR" sz="2400" dirty="0"/>
              <a:t>un message est transmis avec son hash, le destinataire peut vérifier son intégrité </a:t>
            </a:r>
            <a:r>
              <a:rPr lang="fr-FR" sz="2400" dirty="0" smtClean="0"/>
              <a:t>en recalculant </a:t>
            </a:r>
            <a:r>
              <a:rPr lang="fr-FR" sz="2400" dirty="0"/>
              <a:t>son hash et en le comparant avec le hash reçu.</a:t>
            </a:r>
            <a:endParaRPr lang="fr-FR" sz="2400" b="1" dirty="0">
              <a:solidFill>
                <a:srgbClr val="FF000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3386808"/>
            <a:ext cx="8208913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0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179512" y="802442"/>
            <a:ext cx="51125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 smtClean="0"/>
              <a:t>Dans </a:t>
            </a:r>
            <a:r>
              <a:rPr lang="fr-FR" sz="2400" b="1" dirty="0"/>
              <a:t>le </a:t>
            </a:r>
            <a:r>
              <a:rPr lang="fr-FR" sz="2400" b="1" dirty="0">
                <a:solidFill>
                  <a:srgbClr val="FF0000"/>
                </a:solidFill>
              </a:rPr>
              <a:t>chiffrement,</a:t>
            </a:r>
            <a:r>
              <a:rPr lang="fr-FR" sz="2400" b="1" dirty="0"/>
              <a:t> </a:t>
            </a:r>
            <a:endParaRPr lang="ar-SA" sz="2400" b="1" dirty="0" smtClean="0"/>
          </a:p>
          <a:p>
            <a:pPr>
              <a:lnSpc>
                <a:spcPct val="150000"/>
              </a:lnSpc>
            </a:pPr>
            <a:r>
              <a:rPr lang="fr-FR" sz="2400" b="1" dirty="0" smtClean="0"/>
              <a:t>les </a:t>
            </a:r>
            <a:r>
              <a:rPr lang="fr-FR" sz="2400" b="1" dirty="0"/>
              <a:t>données sont converties en un format sécurisé illisible, sauf si le destinataire possède la clé privée pour déchiffrer le fichier et le restituer à son état original</a:t>
            </a:r>
            <a:r>
              <a:rPr lang="fr-FR" sz="2400" b="1" dirty="0" smtClean="0"/>
              <a:t>.</a:t>
            </a:r>
            <a:endParaRPr lang="ar-SA" sz="2400" b="1" dirty="0" smtClean="0"/>
          </a:p>
          <a:p>
            <a:pPr>
              <a:lnSpc>
                <a:spcPct val="150000"/>
              </a:lnSpc>
            </a:pPr>
            <a:endParaRPr lang="ar-SA" sz="2400" b="1" dirty="0"/>
          </a:p>
          <a:p>
            <a:pPr>
              <a:lnSpc>
                <a:spcPct val="150000"/>
              </a:lnSpc>
            </a:pPr>
            <a:endParaRPr lang="fr-FR" sz="2400" b="1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466" y="802442"/>
            <a:ext cx="3595384" cy="418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4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51" y="980729"/>
            <a:ext cx="8901987" cy="518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7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71500" y="526400"/>
            <a:ext cx="89649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</a:t>
            </a:r>
            <a:r>
              <a:rPr lang="fr-FR" sz="2000" b="1" dirty="0"/>
              <a:t>Exemple :</a:t>
            </a:r>
          </a:p>
          <a:p>
            <a:r>
              <a:rPr lang="fr-FR" sz="2000" dirty="0"/>
              <a:t> Les algorithmes de hachage les plus utilisés sont :</a:t>
            </a:r>
          </a:p>
          <a:p>
            <a:r>
              <a:rPr lang="fr-FR" sz="2000" dirty="0"/>
              <a:t> MD5 (</a:t>
            </a:r>
            <a:r>
              <a:rPr lang="fr-FR" sz="2000" i="1" dirty="0"/>
              <a:t>Message Digest</a:t>
            </a:r>
            <a:r>
              <a:rPr lang="fr-FR" sz="2000" dirty="0"/>
              <a:t>) sur 128 bits </a:t>
            </a:r>
            <a:r>
              <a:rPr lang="fr-FR" sz="2000" dirty="0" smtClean="0"/>
              <a:t>et SHA-1 </a:t>
            </a:r>
            <a:r>
              <a:rPr lang="fr-FR" sz="2000" dirty="0"/>
              <a:t>(</a:t>
            </a:r>
            <a:r>
              <a:rPr lang="fr-FR" sz="2000" i="1" dirty="0"/>
              <a:t>Secure Hash </a:t>
            </a:r>
            <a:r>
              <a:rPr lang="fr-FR" sz="2000" i="1" dirty="0" err="1"/>
              <a:t>Algorithm</a:t>
            </a:r>
            <a:r>
              <a:rPr lang="fr-FR" sz="2000" dirty="0"/>
              <a:t>) par le NIST Input message 264 octets (au max), output sur </a:t>
            </a:r>
            <a:r>
              <a:rPr lang="fr-FR" sz="2000" dirty="0" smtClean="0"/>
              <a:t>160 bits</a:t>
            </a:r>
            <a:r>
              <a:rPr lang="fr-FR" sz="2000" dirty="0"/>
              <a:t>.</a:t>
            </a:r>
          </a:p>
          <a:p>
            <a:r>
              <a:rPr lang="fr-FR" sz="2000" dirty="0"/>
              <a:t> </a:t>
            </a:r>
            <a:r>
              <a:rPr lang="fr-FR" sz="2000" b="1" dirty="0"/>
              <a:t>D’autres fonctions de </a:t>
            </a:r>
            <a:r>
              <a:rPr lang="fr-FR" sz="2000" b="1" dirty="0" err="1"/>
              <a:t>hashage</a:t>
            </a:r>
            <a:r>
              <a:rPr lang="fr-FR" sz="2000" b="1" dirty="0"/>
              <a:t> :</a:t>
            </a:r>
          </a:p>
          <a:p>
            <a:r>
              <a:rPr lang="fr-FR" sz="2000" dirty="0"/>
              <a:t> MD2 (Message Digest 2) : opère sur des bloques de 16 octets, manipule des mots de 8 </a:t>
            </a:r>
            <a:r>
              <a:rPr lang="fr-FR" sz="2000" dirty="0" smtClean="0"/>
              <a:t>bits output </a:t>
            </a:r>
            <a:r>
              <a:rPr lang="fr-FR" sz="2000" dirty="0"/>
              <a:t>128 bits.</a:t>
            </a:r>
          </a:p>
          <a:p>
            <a:r>
              <a:rPr lang="fr-FR" sz="2000" dirty="0"/>
              <a:t> MD4 (Message Digest 4) : manipule des mots de 32 bits, plus performant sur des processeurs </a:t>
            </a:r>
            <a:r>
              <a:rPr lang="fr-FR" sz="2000" dirty="0" smtClean="0"/>
              <a:t>32 bits</a:t>
            </a:r>
            <a:r>
              <a:rPr lang="fr-FR" sz="2000" dirty="0"/>
              <a:t>.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98" y="3645024"/>
            <a:ext cx="769620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2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9103"/>
            <a:ext cx="9144000" cy="465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6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449" y="526400"/>
            <a:ext cx="4551226" cy="5873804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79512" y="968738"/>
            <a:ext cx="41044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Qu'est-ce que l'algorithme SHA-256 ?</a:t>
            </a:r>
          </a:p>
          <a:p>
            <a:pPr algn="just"/>
            <a:r>
              <a:rPr lang="fr-FR" sz="2400" dirty="0"/>
              <a:t>SHA-256, qui signifie Secure Hash </a:t>
            </a:r>
            <a:r>
              <a:rPr lang="fr-FR" sz="2400" dirty="0" err="1"/>
              <a:t>Algorithm</a:t>
            </a:r>
            <a:r>
              <a:rPr lang="fr-FR" sz="2400" dirty="0"/>
              <a:t> (algorithme de hachage sécurisé) 256 bits, est utilisé dans les applications de sécurité cryptographique</a:t>
            </a:r>
            <a:r>
              <a:rPr lang="fr-FR" sz="2400" dirty="0" smtClean="0"/>
              <a:t>.</a:t>
            </a:r>
          </a:p>
          <a:p>
            <a:pPr algn="just"/>
            <a:r>
              <a:rPr lang="fr-FR" sz="2400" dirty="0" smtClean="0"/>
              <a:t>Les </a:t>
            </a:r>
            <a:r>
              <a:rPr lang="fr-FR" sz="2400" dirty="0"/>
              <a:t>algorithmes de hachage cryptographique génèrent des hachages irréversibles et uniques.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476402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449" y="526400"/>
            <a:ext cx="4551226" cy="5873804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07504" y="801535"/>
            <a:ext cx="422219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Qu'est-ce que l'algorithme SHA-256 ?</a:t>
            </a:r>
          </a:p>
          <a:p>
            <a:pPr algn="just"/>
            <a:r>
              <a:rPr lang="fr-FR" sz="2300" dirty="0" smtClean="0"/>
              <a:t>SHA-256 </a:t>
            </a:r>
            <a:r>
              <a:rPr lang="fr-FR" sz="2300" dirty="0"/>
              <a:t>est un algorithme de </a:t>
            </a:r>
            <a:r>
              <a:rPr lang="fr-FR" sz="2300" dirty="0" smtClean="0"/>
              <a:t>hachage cryptographique</a:t>
            </a:r>
            <a:r>
              <a:rPr lang="fr-FR" sz="2300" dirty="0"/>
              <a:t> qui est utilisé dans de nombreuses applications, y compris dans la technologie de la </a:t>
            </a:r>
            <a:r>
              <a:rPr lang="fr-FR" sz="2300" dirty="0" err="1"/>
              <a:t>blockchain</a:t>
            </a:r>
            <a:r>
              <a:rPr lang="fr-FR" sz="2300" dirty="0"/>
              <a:t>. Dans la </a:t>
            </a:r>
            <a:r>
              <a:rPr lang="fr-FR" sz="2300" dirty="0" err="1"/>
              <a:t>blockchain</a:t>
            </a:r>
            <a:r>
              <a:rPr lang="fr-FR" sz="2300" dirty="0"/>
              <a:t>, SHA-256 est utilisé pour créer des empreintes de hachage uniques pour chaque bloc de données</a:t>
            </a:r>
            <a:r>
              <a:rPr lang="fr-FR" sz="2300" dirty="0" smtClean="0"/>
              <a:t>.</a:t>
            </a:r>
            <a:endParaRPr lang="fr-FR" sz="2300" dirty="0"/>
          </a:p>
        </p:txBody>
      </p:sp>
    </p:spTree>
    <p:extLst>
      <p:ext uri="{BB962C8B-B14F-4D97-AF65-F5344CB8AC3E}">
        <p14:creationId xmlns:p14="http://schemas.microsoft.com/office/powerpoint/2010/main" val="30607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4" y="1008530"/>
            <a:ext cx="8999938" cy="5122556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79512" y="526400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C00000"/>
                </a:solidFill>
              </a:rPr>
              <a:t>Caractéristique</a:t>
            </a:r>
            <a:r>
              <a:rPr lang="en-GB" sz="2000" b="1" dirty="0" smtClean="0">
                <a:solidFill>
                  <a:srgbClr val="C00000"/>
                </a:solidFill>
              </a:rPr>
              <a:t> d’algorithme SHA-256</a:t>
            </a:r>
            <a:endParaRPr lang="fr-F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60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179512" y="526400"/>
            <a:ext cx="604867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endParaRPr lang="fr-FR" sz="2000" b="1" dirty="0">
              <a:solidFill>
                <a:srgbClr val="C0000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0240"/>
            <a:ext cx="9144000" cy="385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5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067944" y="63778"/>
            <a:ext cx="3744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d’hachage </a:t>
            </a:r>
          </a:p>
          <a:p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179512" y="526400"/>
            <a:ext cx="604867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Hachage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Chiffrement </a:t>
            </a:r>
            <a:endParaRPr lang="fr-FR" sz="2400" b="1" dirty="0">
              <a:solidFill>
                <a:srgbClr val="FF0000"/>
              </a:solidFill>
            </a:endParaRPr>
          </a:p>
          <a:p>
            <a:endParaRPr lang="fr-FR" sz="2000" b="1" dirty="0">
              <a:solidFill>
                <a:srgbClr val="C0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9176"/>
            <a:ext cx="9144000" cy="375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0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/>
          <p:cNvSpPr txBox="1"/>
          <p:nvPr/>
        </p:nvSpPr>
        <p:spPr>
          <a:xfrm>
            <a:off x="179512" y="526400"/>
            <a:ext cx="88569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/>
              <a:t> </a:t>
            </a:r>
            <a:r>
              <a:rPr lang="fr-FR" sz="2000" b="1" dirty="0"/>
              <a:t>Equivalent électronique de la signature physique </a:t>
            </a:r>
            <a:r>
              <a:rPr lang="fr-FR" sz="2000" dirty="0"/>
              <a:t>des documents papiers.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/>
              <a:t> Elle garantit </a:t>
            </a:r>
            <a:r>
              <a:rPr lang="fr-FR" sz="2000" b="1" dirty="0">
                <a:solidFill>
                  <a:srgbClr val="FF0000"/>
                </a:solidFill>
              </a:rPr>
              <a:t>l'authenticité</a:t>
            </a:r>
            <a:r>
              <a:rPr lang="fr-FR" sz="2000" dirty="0"/>
              <a:t> de l'expéditeur et </a:t>
            </a:r>
            <a:r>
              <a:rPr lang="fr-FR" sz="2000" b="1" dirty="0">
                <a:solidFill>
                  <a:srgbClr val="FF0000"/>
                </a:solidFill>
              </a:rPr>
              <a:t>l'intégrité</a:t>
            </a:r>
            <a:r>
              <a:rPr lang="fr-FR" sz="2000" dirty="0"/>
              <a:t> du message reçu.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/>
              <a:t> Pour </a:t>
            </a:r>
            <a:r>
              <a:rPr lang="fr-FR" sz="2000" b="1" dirty="0">
                <a:solidFill>
                  <a:srgbClr val="FF0000"/>
                </a:solidFill>
              </a:rPr>
              <a:t>signer</a:t>
            </a:r>
            <a:r>
              <a:rPr lang="fr-FR" sz="2000" dirty="0"/>
              <a:t> électroniquement un message, il suffit de le </a:t>
            </a:r>
            <a:r>
              <a:rPr lang="fr-F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chiffrer</a:t>
            </a:r>
            <a:r>
              <a:rPr lang="fr-FR" sz="2000" dirty="0"/>
              <a:t> avec la </a:t>
            </a:r>
            <a:r>
              <a:rPr lang="fr-F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clé privée</a:t>
            </a:r>
            <a:r>
              <a:rPr lang="fr-FR" sz="20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/>
              <a:t> Le </a:t>
            </a:r>
            <a:r>
              <a:rPr lang="fr-F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déchiffrement avec la clé publique </a:t>
            </a:r>
            <a:r>
              <a:rPr lang="fr-FR" sz="2000" dirty="0"/>
              <a:t>correspondante prouve que seul le détenteur de </a:t>
            </a:r>
            <a:r>
              <a:rPr lang="fr-FR" sz="2000" dirty="0" smtClean="0"/>
              <a:t>la clé </a:t>
            </a:r>
            <a:r>
              <a:rPr lang="fr-FR" sz="2000" dirty="0"/>
              <a:t>privée a pu créer la signature.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/>
              <a:t> </a:t>
            </a:r>
            <a:r>
              <a:rPr lang="fr-FR" sz="2000" dirty="0">
                <a:solidFill>
                  <a:srgbClr val="FF0000"/>
                </a:solidFill>
              </a:rPr>
              <a:t>Pas nécessaire </a:t>
            </a:r>
            <a:r>
              <a:rPr lang="fr-FR" sz="2000" dirty="0"/>
              <a:t>de </a:t>
            </a:r>
            <a:r>
              <a:rPr lang="fr-FR" sz="2000" dirty="0">
                <a:solidFill>
                  <a:srgbClr val="FF0000"/>
                </a:solidFill>
              </a:rPr>
              <a:t>chiffrer tout </a:t>
            </a:r>
            <a:r>
              <a:rPr lang="fr-FR" sz="2000" dirty="0"/>
              <a:t>un </a:t>
            </a:r>
            <a:r>
              <a:rPr lang="fr-FR" sz="2000" dirty="0">
                <a:solidFill>
                  <a:srgbClr val="FF0000"/>
                </a:solidFill>
              </a:rPr>
              <a:t>document</a:t>
            </a:r>
            <a:r>
              <a:rPr lang="fr-FR" sz="2000" dirty="0"/>
              <a:t> pour le </a:t>
            </a:r>
            <a:r>
              <a:rPr lang="fr-F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signer</a:t>
            </a:r>
            <a:r>
              <a:rPr lang="fr-FR" sz="2000" dirty="0"/>
              <a:t>, il suffit de </a:t>
            </a:r>
            <a:r>
              <a:rPr lang="fr-FR" sz="2000" dirty="0">
                <a:solidFill>
                  <a:schemeClr val="accent2">
                    <a:lumMod val="50000"/>
                  </a:schemeClr>
                </a:solidFill>
              </a:rPr>
              <a:t>chiffrer son hash</a:t>
            </a:r>
            <a:r>
              <a:rPr lang="fr-FR" sz="20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/>
              <a:t> Le destinataire pourra </a:t>
            </a:r>
            <a:r>
              <a:rPr lang="fr-FR" sz="2000" dirty="0">
                <a:solidFill>
                  <a:srgbClr val="FF0000"/>
                </a:solidFill>
              </a:rPr>
              <a:t>calculer</a:t>
            </a:r>
            <a:r>
              <a:rPr lang="fr-FR" sz="2000" dirty="0"/>
              <a:t> à son tour le </a:t>
            </a:r>
            <a:r>
              <a:rPr lang="fr-FR" sz="2000" dirty="0">
                <a:solidFill>
                  <a:srgbClr val="FF0000"/>
                </a:solidFill>
              </a:rPr>
              <a:t>hash</a:t>
            </a:r>
            <a:r>
              <a:rPr lang="fr-FR" sz="2000" dirty="0"/>
              <a:t> avec le </a:t>
            </a:r>
            <a:r>
              <a:rPr lang="fr-F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même algorithme</a:t>
            </a:r>
            <a:r>
              <a:rPr lang="fr-FR" sz="2000" dirty="0"/>
              <a:t> (le </a:t>
            </a:r>
            <a:r>
              <a:rPr lang="fr-FR" sz="2000" dirty="0" smtClean="0"/>
              <a:t>document aura </a:t>
            </a:r>
            <a:r>
              <a:rPr lang="fr-FR" sz="2000" dirty="0"/>
              <a:t>aussi été transmis) et </a:t>
            </a:r>
            <a:r>
              <a:rPr lang="fr-FR" sz="2000" dirty="0">
                <a:solidFill>
                  <a:schemeClr val="accent2">
                    <a:lumMod val="50000"/>
                  </a:schemeClr>
                </a:solidFill>
              </a:rPr>
              <a:t>comparer avec le hash reçu et déchiffré</a:t>
            </a:r>
            <a:r>
              <a:rPr lang="fr-FR" sz="2000" dirty="0" smtClean="0"/>
              <a:t>.</a:t>
            </a:r>
            <a:endParaRPr lang="fr-FR" sz="2000" dirty="0"/>
          </a:p>
        </p:txBody>
      </p:sp>
      <p:sp>
        <p:nvSpPr>
          <p:cNvPr id="2" name="ZoneTexte 1"/>
          <p:cNvSpPr txBox="1"/>
          <p:nvPr/>
        </p:nvSpPr>
        <p:spPr>
          <a:xfrm>
            <a:off x="971600" y="121786"/>
            <a:ext cx="64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556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/>
          <p:cNvSpPr txBox="1"/>
          <p:nvPr/>
        </p:nvSpPr>
        <p:spPr>
          <a:xfrm>
            <a:off x="179512" y="526400"/>
            <a:ext cx="88569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 smtClean="0"/>
              <a:t>La </a:t>
            </a:r>
            <a:r>
              <a:rPr lang="fr-FR" dirty="0"/>
              <a:t>résistance aux collisions de la fonction de hachage permet de garantir que c'est bien </a:t>
            </a:r>
            <a:r>
              <a:rPr lang="fr-FR" dirty="0" smtClean="0"/>
              <a:t>ce document </a:t>
            </a:r>
            <a:r>
              <a:rPr lang="fr-FR" dirty="0"/>
              <a:t>qui a été signé.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 L'algorithme </a:t>
            </a:r>
            <a:r>
              <a:rPr lang="fr-FR" i="1" dirty="0"/>
              <a:t>DSA </a:t>
            </a:r>
            <a:r>
              <a:rPr lang="fr-FR" dirty="0"/>
              <a:t>(</a:t>
            </a:r>
            <a:r>
              <a:rPr lang="fr-FR" i="1" dirty="0"/>
              <a:t>Digital Signature </a:t>
            </a:r>
            <a:r>
              <a:rPr lang="fr-FR" i="1" dirty="0" err="1"/>
              <a:t>Algorithm</a:t>
            </a:r>
            <a:r>
              <a:rPr lang="fr-FR" dirty="0"/>
              <a:t>) proche de RSA est souvent utilisé </a:t>
            </a:r>
            <a:r>
              <a:rPr lang="fr-FR" dirty="0" smtClean="0"/>
              <a:t>pour générer </a:t>
            </a:r>
            <a:r>
              <a:rPr lang="fr-FR" dirty="0"/>
              <a:t>une signature.</a:t>
            </a:r>
            <a:endParaRPr lang="fr-FR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971600" y="121786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46" y="2685340"/>
            <a:ext cx="8856050" cy="2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3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772816"/>
            <a:ext cx="6938278" cy="406581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39552" y="1074259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: idée générale</a:t>
            </a:r>
          </a:p>
        </p:txBody>
      </p:sp>
    </p:spTree>
    <p:extLst>
      <p:ext uri="{BB962C8B-B14F-4D97-AF65-F5344CB8AC3E}">
        <p14:creationId xmlns:p14="http://schemas.microsoft.com/office/powerpoint/2010/main" val="192056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39552" y="1074259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différents acteurs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40" y="1805390"/>
            <a:ext cx="7146202" cy="359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0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39552" y="1074259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Fonctionnement d’une signature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20" y="1988840"/>
            <a:ext cx="71932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39552" y="1074259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Mécanisme cryptographique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805390"/>
            <a:ext cx="7964244" cy="421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9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39552" y="1074259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RSA(1/3)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59" y="1791108"/>
            <a:ext cx="7720015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32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7544" y="85145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RSA(2/3)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17" y="1821450"/>
            <a:ext cx="73723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4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7544" y="85145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RSA(3/3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5" y="1587599"/>
            <a:ext cx="729615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6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7544" y="85145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47" y="1628800"/>
            <a:ext cx="7760400" cy="4392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76565" y="4706924"/>
            <a:ext cx="493258" cy="317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24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86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7544" y="85145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RSA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523206"/>
            <a:ext cx="723900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66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7544" y="85145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El Gamal(1/3)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556792"/>
            <a:ext cx="7052623" cy="404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9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7544" y="85145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El Gamal(2/3)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45" y="1628800"/>
            <a:ext cx="7204323" cy="385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8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7544" y="85145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El Gamal(2/3)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45" y="1628800"/>
            <a:ext cx="7204323" cy="385041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88024" y="4653136"/>
            <a:ext cx="1944216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9433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7544" y="85145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El Gamal(3/3)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76" y="1484784"/>
            <a:ext cx="71913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6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7544" y="85145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El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Gamal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75" y="1484784"/>
            <a:ext cx="671512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9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7544" y="85145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El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Gamal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1362075"/>
            <a:ext cx="6848475" cy="413385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915816" y="5877272"/>
            <a:ext cx="38164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K</a:t>
            </a:r>
            <a:r>
              <a:rPr lang="fr-FR" baseline="30000" dirty="0"/>
              <a:t> -1 </a:t>
            </a:r>
            <a:r>
              <a:rPr lang="fr-FR" baseline="-25000" dirty="0" smtClean="0"/>
              <a:t>=</a:t>
            </a:r>
            <a:r>
              <a:rPr lang="fr-FR" dirty="0" smtClean="0"/>
              <a:t> 5 </a:t>
            </a:r>
            <a:r>
              <a:rPr lang="el-GR" dirty="0" smtClean="0"/>
              <a:t>Ξ</a:t>
            </a:r>
            <a:r>
              <a:rPr lang="fr-FR" dirty="0" smtClean="0"/>
              <a:t> 17 </a:t>
            </a:r>
            <a:r>
              <a:rPr lang="fr-FR" dirty="0" err="1" smtClean="0"/>
              <a:t>mod</a:t>
            </a:r>
            <a:r>
              <a:rPr lang="fr-FR" dirty="0" smtClean="0"/>
              <a:t> 28</a:t>
            </a:r>
          </a:p>
          <a:p>
            <a:endParaRPr lang="fr-FR" baseline="30000" dirty="0"/>
          </a:p>
          <a:p>
            <a:r>
              <a:rPr lang="fr-FR" b="1" baseline="30000" dirty="0" smtClean="0">
                <a:solidFill>
                  <a:srgbClr val="FF0000"/>
                </a:solidFill>
              </a:rPr>
              <a:t>-170+168(28*6)= -2 +28= 26</a:t>
            </a:r>
            <a:endParaRPr lang="fr-FR" b="1" baseline="3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21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7544" y="85145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El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Gamal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604962"/>
            <a:ext cx="674370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2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35352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 numérique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7544" y="85145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Exercice: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98" y="1556792"/>
            <a:ext cx="7862833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1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/>
          <p:cNvSpPr txBox="1"/>
          <p:nvPr/>
        </p:nvSpPr>
        <p:spPr>
          <a:xfrm>
            <a:off x="179512" y="526400"/>
            <a:ext cx="885698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b="1" dirty="0">
                <a:solidFill>
                  <a:srgbClr val="FF0000"/>
                </a:solidFill>
              </a:rPr>
              <a:t>Signature RSA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rgbClr val="FF0000"/>
                </a:solidFill>
              </a:rPr>
              <a:t> Echange de clé RSA </a:t>
            </a:r>
            <a:r>
              <a:rPr lang="fr-FR" dirty="0"/>
              <a:t>: </a:t>
            </a:r>
            <a:r>
              <a:rPr lang="fr-FR" b="1" dirty="0"/>
              <a:t>Algorithme RSA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Initialisation:</a:t>
            </a:r>
          </a:p>
          <a:p>
            <a:pPr marL="457200" indent="-2286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/>
              <a:t> Choisir deux nombres premiers  et ^, les deux étant plus grands que </a:t>
            </a:r>
            <a:r>
              <a:rPr lang="fr-FR" dirty="0" smtClean="0"/>
              <a:t>10</a:t>
            </a:r>
            <a:r>
              <a:rPr lang="fr-FR" baseline="30000" dirty="0" smtClean="0"/>
              <a:t>100</a:t>
            </a:r>
            <a:r>
              <a:rPr lang="fr-FR" dirty="0" smtClean="0"/>
              <a:t>.</a:t>
            </a:r>
            <a:endParaRPr lang="fr-FR" dirty="0"/>
          </a:p>
          <a:p>
            <a:pPr marL="457200" indent="-2286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000000"/>
                </a:solidFill>
              </a:rPr>
              <a:t>Calculer </a:t>
            </a:r>
            <a:r>
              <a:rPr lang="fr-FR" b="1" dirty="0">
                <a:solidFill>
                  <a:srgbClr val="FF0000"/>
                </a:solidFill>
              </a:rPr>
              <a:t>n = p . q </a:t>
            </a:r>
            <a:r>
              <a:rPr lang="fr-FR" dirty="0">
                <a:solidFill>
                  <a:srgbClr val="000000"/>
                </a:solidFill>
              </a:rPr>
              <a:t>(n est le </a:t>
            </a:r>
            <a:r>
              <a:rPr lang="fr-FR" dirty="0" err="1">
                <a:solidFill>
                  <a:srgbClr val="000000"/>
                </a:solidFill>
              </a:rPr>
              <a:t>modulus</a:t>
            </a:r>
            <a:r>
              <a:rPr lang="fr-FR" dirty="0">
                <a:solidFill>
                  <a:srgbClr val="000000"/>
                </a:solidFill>
              </a:rPr>
              <a:t>) et </a:t>
            </a:r>
            <a:r>
              <a:rPr lang="el-GR" b="1" dirty="0">
                <a:solidFill>
                  <a:srgbClr val="FF0000"/>
                </a:solidFill>
              </a:rPr>
              <a:t>φ</a:t>
            </a:r>
            <a:r>
              <a:rPr lang="fr-FR" b="1" dirty="0">
                <a:solidFill>
                  <a:srgbClr val="FF0000"/>
                </a:solidFill>
              </a:rPr>
              <a:t>(n) = (p - 1) · (q - 1) </a:t>
            </a:r>
            <a:r>
              <a:rPr lang="fr-FR" dirty="0">
                <a:solidFill>
                  <a:srgbClr val="000000"/>
                </a:solidFill>
              </a:rPr>
              <a:t>(fonction d’Euler</a:t>
            </a:r>
            <a:r>
              <a:rPr lang="fr-FR" dirty="0" smtClean="0">
                <a:solidFill>
                  <a:srgbClr val="000000"/>
                </a:solidFill>
              </a:rPr>
              <a:t>)</a:t>
            </a:r>
          </a:p>
          <a:p>
            <a:pPr marL="457200" indent="-2286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000000"/>
                </a:solidFill>
              </a:rPr>
              <a:t>Choisir </a:t>
            </a:r>
            <a:r>
              <a:rPr lang="fr-FR" b="1" i="1" dirty="0">
                <a:solidFill>
                  <a:srgbClr val="000000"/>
                </a:solidFill>
              </a:rPr>
              <a:t>e</a:t>
            </a:r>
            <a:r>
              <a:rPr lang="fr-FR" dirty="0">
                <a:solidFill>
                  <a:srgbClr val="000000"/>
                </a:solidFill>
              </a:rPr>
              <a:t> aléatoire premier avec </a:t>
            </a:r>
            <a:r>
              <a:rPr lang="el-GR" b="1" dirty="0">
                <a:solidFill>
                  <a:srgbClr val="FF0000"/>
                </a:solidFill>
              </a:rPr>
              <a:t>φ</a:t>
            </a:r>
            <a:r>
              <a:rPr lang="fr-FR" b="1" dirty="0">
                <a:solidFill>
                  <a:srgbClr val="FF0000"/>
                </a:solidFill>
              </a:rPr>
              <a:t>(n)</a:t>
            </a:r>
            <a:r>
              <a:rPr lang="fr-FR" dirty="0">
                <a:solidFill>
                  <a:srgbClr val="000000"/>
                </a:solidFill>
              </a:rPr>
              <a:t> (pgcd(e,</a:t>
            </a:r>
            <a:r>
              <a:rPr lang="el-GR" b="1" dirty="0">
                <a:solidFill>
                  <a:srgbClr val="FF0000"/>
                </a:solidFill>
              </a:rPr>
              <a:t> φ</a:t>
            </a:r>
            <a:r>
              <a:rPr lang="fr-FR" b="1" dirty="0">
                <a:solidFill>
                  <a:srgbClr val="FF0000"/>
                </a:solidFill>
              </a:rPr>
              <a:t>(n)</a:t>
            </a:r>
            <a:r>
              <a:rPr lang="fr-FR" dirty="0">
                <a:solidFill>
                  <a:srgbClr val="000000"/>
                </a:solidFill>
              </a:rPr>
              <a:t>) = 1</a:t>
            </a:r>
            <a:r>
              <a:rPr lang="fr-FR" dirty="0" smtClean="0">
                <a:solidFill>
                  <a:srgbClr val="000000"/>
                </a:solidFill>
              </a:rPr>
              <a:t>).</a:t>
            </a:r>
          </a:p>
          <a:p>
            <a:pPr marL="457200" indent="-2286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solidFill>
                  <a:srgbClr val="000000"/>
                </a:solidFill>
              </a:rPr>
              <a:t>Trouver </a:t>
            </a:r>
            <a:r>
              <a:rPr lang="pt-BR" b="1" i="1" dirty="0">
                <a:solidFill>
                  <a:srgbClr val="000000"/>
                </a:solidFill>
              </a:rPr>
              <a:t>d</a:t>
            </a:r>
            <a:r>
              <a:rPr lang="pt-BR" dirty="0">
                <a:solidFill>
                  <a:srgbClr val="000000"/>
                </a:solidFill>
              </a:rPr>
              <a:t> tel que :</a:t>
            </a:r>
            <a:r>
              <a:rPr lang="pt-BR" dirty="0">
                <a:solidFill>
                  <a:srgbClr val="FF0000"/>
                </a:solidFill>
              </a:rPr>
              <a:t> d = e</a:t>
            </a:r>
            <a:r>
              <a:rPr lang="pt-BR" baseline="30000" dirty="0">
                <a:solidFill>
                  <a:srgbClr val="FF0000"/>
                </a:solidFill>
              </a:rPr>
              <a:t>-1</a:t>
            </a:r>
            <a:r>
              <a:rPr lang="pt-BR" dirty="0">
                <a:solidFill>
                  <a:srgbClr val="FF0000"/>
                </a:solidFill>
              </a:rPr>
              <a:t> mod (</a:t>
            </a:r>
            <a:r>
              <a:rPr lang="el-GR" dirty="0">
                <a:solidFill>
                  <a:srgbClr val="FF0000"/>
                </a:solidFill>
              </a:rPr>
              <a:t>φ(</a:t>
            </a:r>
            <a:r>
              <a:rPr lang="pt-BR" dirty="0">
                <a:solidFill>
                  <a:srgbClr val="FF0000"/>
                </a:solidFill>
              </a:rPr>
              <a:t>n))</a:t>
            </a:r>
            <a:r>
              <a:rPr lang="pt-BR" dirty="0">
                <a:solidFill>
                  <a:srgbClr val="000000"/>
                </a:solidFill>
              </a:rPr>
              <a:t> ( </a:t>
            </a:r>
            <a:r>
              <a:rPr lang="fr-FR" dirty="0" err="1">
                <a:solidFill>
                  <a:srgbClr val="000000"/>
                </a:solidFill>
              </a:rPr>
              <a:t>c-à-d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e ∗ d = 1 mod (</a:t>
            </a:r>
            <a:r>
              <a:rPr lang="el-GR" dirty="0">
                <a:solidFill>
                  <a:srgbClr val="FF0000"/>
                </a:solidFill>
              </a:rPr>
              <a:t>φ(</a:t>
            </a:r>
            <a:r>
              <a:rPr lang="pt-BR" dirty="0">
                <a:solidFill>
                  <a:srgbClr val="FF0000"/>
                </a:solidFill>
              </a:rPr>
              <a:t>n)) </a:t>
            </a:r>
            <a:r>
              <a:rPr lang="pt-BR" dirty="0">
                <a:solidFill>
                  <a:srgbClr val="000000"/>
                </a:solidFill>
              </a:rPr>
              <a:t>) (1&lt;e&lt; </a:t>
            </a:r>
            <a:r>
              <a:rPr lang="el-GR" dirty="0">
                <a:solidFill>
                  <a:srgbClr val="FF0000"/>
                </a:solidFill>
              </a:rPr>
              <a:t>φ(</a:t>
            </a:r>
            <a:r>
              <a:rPr lang="pt-BR" dirty="0">
                <a:solidFill>
                  <a:srgbClr val="FF0000"/>
                </a:solidFill>
              </a:rPr>
              <a:t>n)</a:t>
            </a:r>
            <a:r>
              <a:rPr lang="pt-BR" dirty="0">
                <a:solidFill>
                  <a:srgbClr val="000000"/>
                </a:solidFill>
              </a:rPr>
              <a:t>)</a:t>
            </a:r>
          </a:p>
          <a:p>
            <a:pPr marL="457200" indent="-2286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 smtClean="0">
                <a:solidFill>
                  <a:srgbClr val="4B93D5">
                    <a:lumMod val="75000"/>
                  </a:srgbClr>
                </a:solidFill>
              </a:rPr>
              <a:t>Clé </a:t>
            </a:r>
            <a:r>
              <a:rPr lang="fr-FR" b="1" dirty="0">
                <a:solidFill>
                  <a:srgbClr val="4B93D5">
                    <a:lumMod val="75000"/>
                  </a:srgbClr>
                </a:solidFill>
              </a:rPr>
              <a:t>publique : (n, e</a:t>
            </a:r>
            <a:r>
              <a:rPr lang="fr-FR" b="1" dirty="0" smtClean="0">
                <a:solidFill>
                  <a:srgbClr val="4B93D5">
                    <a:lumMod val="75000"/>
                  </a:srgbClr>
                </a:solidFill>
              </a:rPr>
              <a:t>)</a:t>
            </a:r>
            <a:r>
              <a:rPr lang="fr-FR" dirty="0" smtClean="0">
                <a:solidFill>
                  <a:srgbClr val="000000"/>
                </a:solidFill>
              </a:rPr>
              <a:t>.</a:t>
            </a:r>
          </a:p>
          <a:p>
            <a:pPr marL="457200" indent="-2286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65B737">
                    <a:lumMod val="75000"/>
                  </a:srgbClr>
                </a:solidFill>
              </a:rPr>
              <a:t>Clé privée : (n, d) </a:t>
            </a:r>
            <a:r>
              <a:rPr lang="fr-FR" dirty="0">
                <a:solidFill>
                  <a:srgbClr val="000000"/>
                </a:solidFill>
              </a:rPr>
              <a:t>ou</a:t>
            </a:r>
            <a:r>
              <a:rPr lang="fr-FR" dirty="0">
                <a:solidFill>
                  <a:srgbClr val="65B737">
                    <a:lumMod val="75000"/>
                  </a:srgbClr>
                </a:solidFill>
              </a:rPr>
              <a:t> (p, q, d )) </a:t>
            </a:r>
            <a:r>
              <a:rPr lang="fr-FR" dirty="0">
                <a:solidFill>
                  <a:srgbClr val="000000"/>
                </a:solidFill>
              </a:rPr>
              <a:t>si on désire garder p et q</a:t>
            </a:r>
            <a:r>
              <a:rPr lang="fr-FR" dirty="0" smtClean="0">
                <a:solidFill>
                  <a:srgbClr val="000000"/>
                </a:solidFill>
              </a:rPr>
              <a:t>.</a:t>
            </a:r>
            <a:endParaRPr lang="fr-FR" dirty="0">
              <a:solidFill>
                <a:srgbClr val="0000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u="sng" dirty="0">
                <a:solidFill>
                  <a:srgbClr val="000000"/>
                </a:solidFill>
              </a:rPr>
              <a:t>Chiffrement: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rgbClr val="000000"/>
                </a:solidFill>
              </a:rPr>
              <a:t> L'expéditeur crée le texte chiffré c à partir du message m  </a:t>
            </a:r>
            <a:r>
              <a:rPr lang="fr-FR" dirty="0" smtClean="0">
                <a:solidFill>
                  <a:srgbClr val="000000"/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endParaRPr lang="fr-FR" dirty="0">
              <a:solidFill>
                <a:srgbClr val="0000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u="sng" dirty="0">
                <a:solidFill>
                  <a:srgbClr val="000000"/>
                </a:solidFill>
              </a:rPr>
              <a:t>Déchiffrement: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rgbClr val="000000"/>
                </a:solidFill>
              </a:rPr>
              <a:t> Le destinataire reçoit c et effectue le déchiffrement : </a:t>
            </a:r>
          </a:p>
          <a:p>
            <a:pPr marL="228600"/>
            <a:endParaRPr lang="fr-FR" dirty="0">
              <a:solidFill>
                <a:srgbClr val="000000"/>
              </a:solidFill>
            </a:endParaRPr>
          </a:p>
          <a:p>
            <a:pPr marL="228600"/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971600" y="121786"/>
            <a:ext cx="64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</a:t>
            </a:r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32240" y="4653136"/>
            <a:ext cx="1800200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FF0000"/>
                </a:solidFill>
              </a:rPr>
              <a:t>S=m</a:t>
            </a:r>
            <a:r>
              <a:rPr lang="fr-FR" baseline="30000" dirty="0" smtClean="0">
                <a:solidFill>
                  <a:srgbClr val="FF0000"/>
                </a:solidFill>
              </a:rPr>
              <a:t>d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mod</a:t>
            </a:r>
            <a:r>
              <a:rPr lang="fr-FR" dirty="0" smtClean="0">
                <a:solidFill>
                  <a:srgbClr val="FF0000"/>
                </a:solidFill>
              </a:rPr>
              <a:t> (n)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84168" y="5821422"/>
            <a:ext cx="1800200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rgbClr val="FF0000"/>
                </a:solidFill>
              </a:rPr>
              <a:t>sd</a:t>
            </a:r>
            <a:r>
              <a:rPr lang="fr-FR" dirty="0" smtClean="0">
                <a:solidFill>
                  <a:srgbClr val="FF0000"/>
                </a:solidFill>
              </a:rPr>
              <a:t>=s</a:t>
            </a:r>
            <a:r>
              <a:rPr lang="fr-FR" baseline="30000" dirty="0" smtClean="0">
                <a:solidFill>
                  <a:srgbClr val="FF0000"/>
                </a:solidFill>
              </a:rPr>
              <a:t>e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mod</a:t>
            </a:r>
            <a:r>
              <a:rPr lang="fr-FR" dirty="0" smtClean="0">
                <a:solidFill>
                  <a:srgbClr val="FF0000"/>
                </a:solidFill>
              </a:rPr>
              <a:t> (n)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54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71600" y="121786"/>
            <a:ext cx="64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</a:t>
            </a:r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836712"/>
            <a:ext cx="8617803" cy="54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3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/>
          <p:cNvSpPr txBox="1"/>
          <p:nvPr/>
        </p:nvSpPr>
        <p:spPr>
          <a:xfrm>
            <a:off x="179512" y="526400"/>
            <a:ext cx="885698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fr-FR" dirty="0" smtClean="0">
              <a:solidFill>
                <a:srgbClr val="000000"/>
              </a:solidFill>
            </a:endParaRPr>
          </a:p>
          <a:p>
            <a:pPr marL="228600"/>
            <a:endParaRPr lang="fr-FR" dirty="0">
              <a:solidFill>
                <a:srgbClr val="000000"/>
              </a:solidFill>
            </a:endParaRPr>
          </a:p>
          <a:p>
            <a:pPr marL="228600"/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971600" y="121786"/>
            <a:ext cx="64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</a:t>
            </a:r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9012351" cy="565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7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/>
          <p:cNvSpPr txBox="1"/>
          <p:nvPr/>
        </p:nvSpPr>
        <p:spPr>
          <a:xfrm>
            <a:off x="0" y="677009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Une </a:t>
            </a:r>
            <a:r>
              <a:rPr lang="fr-FR" sz="2400" dirty="0"/>
              <a:t>autre méthode pour s'assurer de l'</a:t>
            </a:r>
            <a:r>
              <a:rPr lang="fr-FR" sz="2400" dirty="0">
                <a:solidFill>
                  <a:srgbClr val="FF0000"/>
                </a:solidFill>
              </a:rPr>
              <a:t>identité</a:t>
            </a:r>
            <a:r>
              <a:rPr lang="fr-FR" sz="2400" dirty="0"/>
              <a:t> de l'expéditeur est d'utiliser </a:t>
            </a:r>
            <a:r>
              <a:rPr lang="fr-FR" sz="2400" dirty="0" smtClean="0"/>
              <a:t>un </a:t>
            </a:r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chiffrement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symétrique </a:t>
            </a:r>
            <a:r>
              <a:rPr lang="fr-FR" sz="2400" dirty="0"/>
              <a:t>pour 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chiffrer le hash</a:t>
            </a:r>
            <a:r>
              <a:rPr lang="fr-FR" sz="24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Dans ce cas, il s'agit d'une </a:t>
            </a:r>
            <a:r>
              <a:rPr lang="fr-FR" sz="2400" dirty="0">
                <a:solidFill>
                  <a:srgbClr val="FF0000"/>
                </a:solidFill>
              </a:rPr>
              <a:t>authentification</a:t>
            </a:r>
            <a:r>
              <a:rPr lang="fr-FR" sz="2400" dirty="0"/>
              <a:t> et non d'une signature.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La </a:t>
            </a:r>
            <a:r>
              <a:rPr lang="fr-FR" sz="2400" dirty="0">
                <a:solidFill>
                  <a:srgbClr val="2F6ACB"/>
                </a:solidFill>
              </a:rPr>
              <a:t>clé symétrique </a:t>
            </a:r>
            <a:r>
              <a:rPr lang="fr-FR" sz="2400" dirty="0"/>
              <a:t>utilisée pour vérifier le hash permet aussi de le créer.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Si cette clé n'est connue que par les deux partenaires, alors elle permet </a:t>
            </a:r>
            <a:r>
              <a:rPr lang="fr-FR" sz="2400" dirty="0" smtClean="0"/>
              <a:t>d'authentifier l'expéditeur </a:t>
            </a:r>
            <a:r>
              <a:rPr lang="fr-FR" sz="2400" dirty="0"/>
              <a:t>du message.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NB: la clé n'est pas utilisée directement pour chiffrer le hash mais elle </a:t>
            </a:r>
            <a:r>
              <a:rPr lang="fr-FR" sz="2400" dirty="0">
                <a:solidFill>
                  <a:srgbClr val="2F6ACB"/>
                </a:solidFill>
              </a:rPr>
              <a:t>intervient</a:t>
            </a:r>
            <a:r>
              <a:rPr lang="fr-FR" sz="2400" dirty="0"/>
              <a:t> lors </a:t>
            </a:r>
            <a:r>
              <a:rPr lang="fr-FR" sz="2400" dirty="0" smtClean="0"/>
              <a:t>du </a:t>
            </a:r>
            <a:r>
              <a:rPr lang="fr-FR" sz="2400" dirty="0" smtClean="0">
                <a:solidFill>
                  <a:schemeClr val="accent2">
                    <a:lumMod val="75000"/>
                  </a:schemeClr>
                </a:solidFill>
              </a:rPr>
              <a:t>calcul 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du hash</a:t>
            </a:r>
            <a:r>
              <a:rPr lang="fr-FR" sz="2400" dirty="0" smtClean="0"/>
              <a:t>.</a:t>
            </a:r>
            <a:endParaRPr lang="fr-FR" sz="2400" dirty="0"/>
          </a:p>
        </p:txBody>
      </p:sp>
      <p:sp>
        <p:nvSpPr>
          <p:cNvPr id="2" name="ZoneTexte 1"/>
          <p:cNvSpPr txBox="1"/>
          <p:nvPr/>
        </p:nvSpPr>
        <p:spPr>
          <a:xfrm>
            <a:off x="971600" y="121786"/>
            <a:ext cx="64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Authentification</a:t>
            </a:r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1599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/>
          <p:cNvSpPr txBox="1"/>
          <p:nvPr/>
        </p:nvSpPr>
        <p:spPr>
          <a:xfrm>
            <a:off x="0" y="526400"/>
            <a:ext cx="914400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Un </a:t>
            </a:r>
            <a:r>
              <a:rPr lang="fr-FR" sz="2400" dirty="0"/>
              <a:t>hash ainsi généré est appelé un </a:t>
            </a:r>
            <a:r>
              <a:rPr lang="fr-FR" sz="2400" dirty="0">
                <a:solidFill>
                  <a:srgbClr val="FF6600"/>
                </a:solidFill>
              </a:rPr>
              <a:t>MAC</a:t>
            </a:r>
            <a:r>
              <a:rPr lang="fr-FR" sz="2400" dirty="0"/>
              <a:t> (</a:t>
            </a:r>
            <a:r>
              <a:rPr lang="fr-FR" sz="2400" i="1" dirty="0"/>
              <a:t>Message </a:t>
            </a:r>
            <a:r>
              <a:rPr lang="fr-FR" sz="2400" i="1" dirty="0" err="1"/>
              <a:t>Authentication</a:t>
            </a:r>
            <a:r>
              <a:rPr lang="fr-FR" sz="2400" i="1" dirty="0"/>
              <a:t> Code</a:t>
            </a:r>
            <a:r>
              <a:rPr lang="fr-FR" sz="2400" dirty="0"/>
              <a:t>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Les algorithmes de hachage classiques sont utilisés : </a:t>
            </a:r>
            <a:r>
              <a:rPr lang="fr-FR" sz="2400" dirty="0">
                <a:solidFill>
                  <a:srgbClr val="FF6600"/>
                </a:solidFill>
              </a:rPr>
              <a:t>HMAC-SHA</a:t>
            </a:r>
            <a:r>
              <a:rPr lang="fr-FR" sz="2400" dirty="0"/>
              <a:t> et </a:t>
            </a:r>
            <a:r>
              <a:rPr lang="fr-FR" sz="2400" dirty="0">
                <a:solidFill>
                  <a:srgbClr val="FF6600"/>
                </a:solidFill>
              </a:rPr>
              <a:t>HMAC-MD5</a:t>
            </a:r>
            <a:r>
              <a:rPr lang="fr-FR" sz="2400" dirty="0"/>
              <a:t>.</a:t>
            </a:r>
            <a:endParaRPr lang="fr-FR" sz="2400" dirty="0">
              <a:solidFill>
                <a:srgbClr val="000000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971600" y="121786"/>
            <a:ext cx="64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Authentification</a:t>
            </a:r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36" y="2636912"/>
            <a:ext cx="8766155" cy="305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8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/>
          <p:cNvSpPr txBox="1"/>
          <p:nvPr/>
        </p:nvSpPr>
        <p:spPr>
          <a:xfrm>
            <a:off x="0" y="526400"/>
            <a:ext cx="914400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Un </a:t>
            </a:r>
            <a:r>
              <a:rPr lang="fr-FR" sz="2400" dirty="0"/>
              <a:t>hash ainsi généré est appelé un </a:t>
            </a:r>
            <a:r>
              <a:rPr lang="fr-FR" sz="2400" dirty="0">
                <a:solidFill>
                  <a:srgbClr val="FF6600"/>
                </a:solidFill>
              </a:rPr>
              <a:t>MAC</a:t>
            </a:r>
            <a:r>
              <a:rPr lang="fr-FR" sz="2400" dirty="0"/>
              <a:t> (</a:t>
            </a:r>
            <a:r>
              <a:rPr lang="fr-FR" sz="2400" i="1" dirty="0"/>
              <a:t>Message </a:t>
            </a:r>
            <a:r>
              <a:rPr lang="fr-FR" sz="2400" i="1" dirty="0" err="1"/>
              <a:t>Authentication</a:t>
            </a:r>
            <a:r>
              <a:rPr lang="fr-FR" sz="2400" i="1" dirty="0"/>
              <a:t> Code</a:t>
            </a:r>
            <a:r>
              <a:rPr lang="fr-FR" sz="2400" dirty="0"/>
              <a:t>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/>
              <a:t> Les algorithmes de hachage classiques sont utilisés : </a:t>
            </a:r>
            <a:r>
              <a:rPr lang="fr-FR" sz="2400" dirty="0">
                <a:solidFill>
                  <a:srgbClr val="FF6600"/>
                </a:solidFill>
              </a:rPr>
              <a:t>HMAC-SHA</a:t>
            </a:r>
            <a:r>
              <a:rPr lang="fr-FR" sz="2400" dirty="0"/>
              <a:t> et </a:t>
            </a:r>
            <a:r>
              <a:rPr lang="fr-FR" sz="2400" dirty="0">
                <a:solidFill>
                  <a:srgbClr val="FF6600"/>
                </a:solidFill>
              </a:rPr>
              <a:t>HMAC-MD5</a:t>
            </a:r>
            <a:r>
              <a:rPr lang="fr-FR" sz="2400" dirty="0"/>
              <a:t>.</a:t>
            </a:r>
            <a:endParaRPr lang="fr-FR" sz="2400" dirty="0">
              <a:solidFill>
                <a:srgbClr val="000000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971600" y="121786"/>
            <a:ext cx="64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Authentification</a:t>
            </a:r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36" y="2636912"/>
            <a:ext cx="8766155" cy="305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4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2377" y="836712"/>
            <a:ext cx="9036496" cy="4321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accent1"/>
                </a:solidFill>
              </a:rPr>
              <a:t>Objectifs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 smtClean="0"/>
              <a:t>Comprendre </a:t>
            </a:r>
            <a:r>
              <a:rPr lang="fr-FR" sz="2800" dirty="0"/>
              <a:t>le fonctionnement de </a:t>
            </a:r>
            <a:r>
              <a:rPr lang="fr-FR" sz="2800" b="1" dirty="0"/>
              <a:t>l'authentification des messages </a:t>
            </a:r>
            <a:r>
              <a:rPr lang="fr-FR" sz="2800" dirty="0"/>
              <a:t>et son utilité pour </a:t>
            </a:r>
            <a:r>
              <a:rPr lang="fr-FR" sz="2800" b="1" dirty="0" smtClean="0"/>
              <a:t>l'intégrité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 smtClean="0"/>
              <a:t>Expliquer </a:t>
            </a:r>
            <a:r>
              <a:rPr lang="fr-FR" sz="2800" dirty="0"/>
              <a:t>ce qu'est une </a:t>
            </a:r>
            <a:r>
              <a:rPr lang="fr-FR" sz="2800" b="1" dirty="0"/>
              <a:t>fonction de </a:t>
            </a:r>
            <a:r>
              <a:rPr lang="fr-FR" sz="2800" b="1" dirty="0" smtClean="0"/>
              <a:t>hachage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 smtClean="0"/>
              <a:t>Comprendre </a:t>
            </a:r>
            <a:r>
              <a:rPr lang="fr-FR" sz="2800" dirty="0"/>
              <a:t>comment différentes 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fonctions de hachage</a:t>
            </a:r>
            <a:r>
              <a:rPr lang="fr-FR" sz="2800" dirty="0">
                <a:solidFill>
                  <a:schemeClr val="accent2">
                    <a:lumMod val="75000"/>
                  </a:schemeClr>
                </a:solidFill>
              </a:rPr>
              <a:t> peuvent être plus ou moins puissantes que d'autres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763688" y="21183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Authentification des messages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40916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836712"/>
            <a:ext cx="9118873" cy="5183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b="1" dirty="0">
                <a:solidFill>
                  <a:srgbClr val="FF0000"/>
                </a:solidFill>
              </a:rPr>
              <a:t>Intégrité</a:t>
            </a:r>
          </a:p>
          <a:p>
            <a:pPr>
              <a:lnSpc>
                <a:spcPct val="150000"/>
              </a:lnSpc>
            </a:pPr>
            <a:r>
              <a:rPr lang="fr-FR" sz="2800" dirty="0"/>
              <a:t>Dans la triade de la </a:t>
            </a:r>
            <a:r>
              <a:rPr lang="fr-FR" sz="2800" b="1" dirty="0"/>
              <a:t>CIA</a:t>
            </a:r>
            <a:r>
              <a:rPr lang="fr-FR" sz="2800" dirty="0"/>
              <a:t>, l'intégrité signifie que les données </a:t>
            </a:r>
            <a:r>
              <a:rPr lang="fr-FR" sz="2800" b="1" dirty="0"/>
              <a:t>sont exactes</a:t>
            </a:r>
            <a:r>
              <a:rPr lang="fr-FR" sz="2800" dirty="0"/>
              <a:t>, </a:t>
            </a:r>
            <a:r>
              <a:rPr lang="fr-FR" sz="2800" b="1" dirty="0"/>
              <a:t>complètes</a:t>
            </a:r>
            <a:r>
              <a:rPr lang="fr-FR" sz="2800" dirty="0"/>
              <a:t> et </a:t>
            </a:r>
            <a:r>
              <a:rPr lang="fr-FR" sz="2800" b="1" dirty="0"/>
              <a:t>intactes</a:t>
            </a:r>
            <a:r>
              <a:rPr lang="fr-FR" sz="2800" dirty="0"/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 smtClean="0"/>
              <a:t>L'intégrité </a:t>
            </a:r>
            <a:r>
              <a:rPr lang="fr-FR" sz="2800" dirty="0"/>
              <a:t>est importante en cas de </a:t>
            </a:r>
            <a:r>
              <a:rPr lang="fr-FR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modification</a:t>
            </a:r>
            <a:r>
              <a:rPr lang="fr-FR" sz="2800" dirty="0"/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 smtClean="0"/>
              <a:t>Imaginez </a:t>
            </a:r>
            <a:r>
              <a:rPr lang="fr-FR" sz="2800" dirty="0"/>
              <a:t>un e-mail envoyé par votre banque. Comment pouvez-vous le vérifier ? Pouvez-vous appeler et vérifier ? Existe-t-il un moyen de vérifier </a:t>
            </a:r>
            <a:r>
              <a:rPr lang="fr-FR" sz="2800" b="1" dirty="0"/>
              <a:t>l'identité de l'expéditeur </a:t>
            </a:r>
            <a:r>
              <a:rPr lang="fr-FR" sz="2800" dirty="0"/>
              <a:t>sans appeler ?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763688" y="21183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Authentification des messages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50620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2377" y="836712"/>
            <a:ext cx="903649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/>
              <a:t>Triade </a:t>
            </a:r>
            <a:r>
              <a:rPr lang="fr-FR" sz="3000" dirty="0" smtClean="0"/>
              <a:t>CIA</a:t>
            </a:r>
            <a:endParaRPr lang="fr-FR" sz="3000" b="1" dirty="0" smtClean="0"/>
          </a:p>
          <a:p>
            <a:r>
              <a:rPr lang="fr-FR" sz="3000" b="1" dirty="0" smtClean="0"/>
              <a:t>• </a:t>
            </a:r>
            <a:r>
              <a:rPr lang="fr-FR" sz="3000" b="1" dirty="0" smtClean="0">
                <a:solidFill>
                  <a:srgbClr val="FF0000"/>
                </a:solidFill>
              </a:rPr>
              <a:t>Chiffrement</a:t>
            </a:r>
          </a:p>
          <a:p>
            <a:pPr marL="914400" indent="-400050">
              <a:buFont typeface="Wingdings" panose="05000000000000000000" pitchFamily="2" charset="2"/>
              <a:buChar char="§"/>
            </a:pPr>
            <a:r>
              <a:rPr lang="fr-FR" sz="3000" dirty="0" smtClean="0"/>
              <a:t>Protection </a:t>
            </a:r>
            <a:r>
              <a:rPr lang="fr-FR" sz="3000" dirty="0"/>
              <a:t>contre </a:t>
            </a:r>
            <a:r>
              <a:rPr lang="fr-FR" sz="3000" b="1" dirty="0"/>
              <a:t>les attaques </a:t>
            </a:r>
            <a:r>
              <a:rPr lang="fr-FR" sz="3000" b="1" dirty="0" smtClean="0"/>
              <a:t>passives</a:t>
            </a:r>
          </a:p>
          <a:p>
            <a:pPr marL="914400" indent="-400050">
              <a:buFont typeface="Wingdings" panose="05000000000000000000" pitchFamily="2" charset="2"/>
              <a:buChar char="§"/>
            </a:pPr>
            <a:r>
              <a:rPr lang="fr-FR" sz="3000" dirty="0" smtClean="0"/>
              <a:t>Préservation </a:t>
            </a:r>
            <a:r>
              <a:rPr lang="fr-FR" sz="3000" dirty="0"/>
              <a:t>de la </a:t>
            </a:r>
            <a:r>
              <a:rPr lang="fr-FR" sz="3000" b="1" dirty="0" smtClean="0">
                <a:solidFill>
                  <a:schemeClr val="accent1">
                    <a:lumMod val="75000"/>
                  </a:schemeClr>
                </a:solidFill>
              </a:rPr>
              <a:t>confidentialité</a:t>
            </a:r>
          </a:p>
          <a:p>
            <a:pPr marL="914400" indent="-400050">
              <a:buFont typeface="Wingdings" panose="05000000000000000000" pitchFamily="2" charset="2"/>
              <a:buChar char="§"/>
            </a:pPr>
            <a:r>
              <a:rPr lang="fr-FR" sz="3000" dirty="0" smtClean="0"/>
              <a:t>Exemple</a:t>
            </a:r>
            <a:r>
              <a:rPr lang="fr-FR" sz="3000" dirty="0"/>
              <a:t> : </a:t>
            </a:r>
            <a:r>
              <a:rPr lang="fr-FR" sz="3000" b="1" dirty="0"/>
              <a:t>écoute active </a:t>
            </a:r>
            <a:r>
              <a:rPr lang="fr-FR" sz="3000" dirty="0"/>
              <a:t>d'une connexion réseau (espionnage) </a:t>
            </a:r>
            <a:endParaRPr lang="fr-FR" sz="3000" dirty="0" smtClean="0"/>
          </a:p>
          <a:p>
            <a:r>
              <a:rPr lang="fr-FR" sz="3000" b="1" dirty="0" smtClean="0"/>
              <a:t>• </a:t>
            </a:r>
            <a:r>
              <a:rPr lang="fr-FR" sz="3000" b="1" dirty="0">
                <a:solidFill>
                  <a:srgbClr val="FF0000"/>
                </a:solidFill>
              </a:rPr>
              <a:t>Authentification des </a:t>
            </a:r>
            <a:r>
              <a:rPr lang="fr-FR" sz="3000" b="1" dirty="0" smtClean="0">
                <a:solidFill>
                  <a:srgbClr val="FF0000"/>
                </a:solidFill>
              </a:rPr>
              <a:t>messages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fr-FR" sz="3000" dirty="0" smtClean="0"/>
              <a:t> </a:t>
            </a:r>
            <a:r>
              <a:rPr lang="fr-FR" sz="3000" dirty="0"/>
              <a:t>Protection contre les </a:t>
            </a:r>
            <a:r>
              <a:rPr lang="fr-FR" sz="3000" b="1" dirty="0"/>
              <a:t>attaques actives </a:t>
            </a:r>
            <a:endParaRPr lang="fr-FR" sz="3000" b="1" dirty="0" smtClean="0"/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fr-FR" sz="3000" dirty="0" smtClean="0"/>
              <a:t> </a:t>
            </a:r>
            <a:r>
              <a:rPr lang="fr-FR" sz="3000" dirty="0"/>
              <a:t>Préservation </a:t>
            </a:r>
            <a:r>
              <a:rPr lang="fr-FR" sz="3000" b="1" dirty="0"/>
              <a:t>de </a:t>
            </a:r>
            <a:r>
              <a:rPr lang="fr-FR" sz="3000" b="1" dirty="0" smtClean="0">
                <a:solidFill>
                  <a:schemeClr val="accent1">
                    <a:lumMod val="75000"/>
                  </a:schemeClr>
                </a:solidFill>
              </a:rPr>
              <a:t>l'intégrité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fr-FR" sz="3000" dirty="0" smtClean="0"/>
              <a:t> </a:t>
            </a:r>
            <a:r>
              <a:rPr lang="fr-FR" sz="3000" dirty="0"/>
              <a:t>Exemple : </a:t>
            </a:r>
            <a:r>
              <a:rPr lang="fr-FR" sz="3000" b="1" dirty="0"/>
              <a:t>usurpation d'identité </a:t>
            </a:r>
            <a:r>
              <a:rPr lang="fr-FR" sz="3000" dirty="0"/>
              <a:t>(</a:t>
            </a:r>
            <a:r>
              <a:rPr lang="fr-FR" sz="3000" dirty="0" err="1"/>
              <a:t>spoofing</a:t>
            </a:r>
            <a:r>
              <a:rPr lang="fr-FR" sz="3000" dirty="0"/>
              <a:t>)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763688" y="21183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Authentification des messages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38234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2377" y="836712"/>
            <a:ext cx="903649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3000" dirty="0"/>
              <a:t> </a:t>
            </a:r>
            <a:r>
              <a:rPr lang="fr-FR" sz="3000" dirty="0" smtClean="0"/>
              <a:t>Vérification </a:t>
            </a:r>
            <a:r>
              <a:rPr lang="fr-FR" sz="3000" dirty="0"/>
              <a:t>de l</a:t>
            </a:r>
            <a:r>
              <a:rPr lang="fr-FR" sz="3000" b="1" dirty="0"/>
              <a:t>'authenticité</a:t>
            </a:r>
            <a:r>
              <a:rPr lang="fr-FR" sz="3000" dirty="0"/>
              <a:t> </a:t>
            </a:r>
            <a:r>
              <a:rPr lang="fr-FR" sz="3000" b="1" dirty="0"/>
              <a:t>des messages </a:t>
            </a:r>
            <a:r>
              <a:rPr lang="fr-FR" sz="3000" b="1" dirty="0" smtClean="0"/>
              <a:t>reçus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fr-FR" sz="3000" b="1" dirty="0" smtClean="0"/>
              <a:t>Contenu </a:t>
            </a:r>
            <a:r>
              <a:rPr lang="fr-FR" sz="3000" b="1" dirty="0"/>
              <a:t>non </a:t>
            </a:r>
            <a:r>
              <a:rPr lang="fr-FR" sz="3000" b="1" dirty="0" smtClean="0"/>
              <a:t>altéré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fr-FR" sz="3000" b="1" dirty="0" smtClean="0"/>
              <a:t>Identité</a:t>
            </a:r>
            <a:r>
              <a:rPr lang="fr-FR" sz="3000" dirty="0" smtClean="0"/>
              <a:t> </a:t>
            </a:r>
            <a:r>
              <a:rPr lang="fr-FR" sz="3000" dirty="0"/>
              <a:t>de l'expéditeur </a:t>
            </a:r>
            <a:r>
              <a:rPr lang="fr-FR" sz="3000" dirty="0" smtClean="0"/>
              <a:t>validée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fr-FR" sz="3000" dirty="0" smtClean="0"/>
              <a:t>Vérification </a:t>
            </a:r>
            <a:r>
              <a:rPr lang="fr-FR" sz="3000" b="1" dirty="0"/>
              <a:t>de l'heure et de la </a:t>
            </a:r>
            <a:r>
              <a:rPr lang="fr-FR" sz="3000" b="1" dirty="0" smtClean="0"/>
              <a:t>séquence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3000" dirty="0" smtClean="0"/>
              <a:t> </a:t>
            </a:r>
            <a:r>
              <a:rPr lang="fr-FR" sz="3000" dirty="0"/>
              <a:t>Possibilité d'utiliser </a:t>
            </a:r>
            <a:r>
              <a:rPr lang="fr-FR" sz="3000" b="1" dirty="0"/>
              <a:t>le chiffrement </a:t>
            </a:r>
            <a:r>
              <a:rPr lang="fr-FR" sz="3000" b="1" dirty="0" smtClean="0"/>
              <a:t>traditionnel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fr-FR" sz="3000" dirty="0" smtClean="0"/>
              <a:t>L'expéditeur </a:t>
            </a:r>
            <a:r>
              <a:rPr lang="fr-FR" sz="3000" dirty="0"/>
              <a:t>et le destinataire doivent </a:t>
            </a:r>
            <a:r>
              <a:rPr lang="fr-FR" sz="3000" b="1" dirty="0"/>
              <a:t>connaître la </a:t>
            </a:r>
            <a:r>
              <a:rPr lang="fr-FR" sz="3000" b="1" dirty="0" smtClean="0"/>
              <a:t>clé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fr-FR" sz="3000" dirty="0" smtClean="0"/>
              <a:t>Cependant</a:t>
            </a:r>
            <a:r>
              <a:rPr lang="fr-FR" sz="3000" dirty="0"/>
              <a:t>, seule l'authentification est autorisée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763688" y="21183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Authentification des messages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37495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153" y="405903"/>
            <a:ext cx="9036496" cy="5624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700" b="1" dirty="0">
                <a:solidFill>
                  <a:srgbClr val="C00000"/>
                </a:solidFill>
              </a:rPr>
              <a:t>Étapes d'authentification du </a:t>
            </a:r>
            <a:r>
              <a:rPr lang="fr-FR" sz="2700" b="1" dirty="0" smtClean="0">
                <a:solidFill>
                  <a:srgbClr val="C00000"/>
                </a:solidFill>
              </a:rPr>
              <a:t>message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fr-FR" sz="2700" dirty="0" smtClean="0"/>
              <a:t>L'expéditeur </a:t>
            </a:r>
            <a:r>
              <a:rPr lang="fr-FR" sz="2700" dirty="0"/>
              <a:t>génère un </a:t>
            </a:r>
            <a:r>
              <a:rPr lang="fr-FR" sz="2700" b="1" dirty="0"/>
              <a:t>code d'authentification du message </a:t>
            </a:r>
            <a:r>
              <a:rPr lang="fr-FR" sz="2700" dirty="0"/>
              <a:t>(MAC) via </a:t>
            </a:r>
            <a:r>
              <a:rPr lang="fr-FR" sz="2700" b="1" dirty="0"/>
              <a:t>un algorithme MAC </a:t>
            </a:r>
            <a:r>
              <a:rPr lang="fr-FR" sz="2700" dirty="0"/>
              <a:t>et </a:t>
            </a:r>
            <a:r>
              <a:rPr lang="fr-FR" sz="2700" b="1" dirty="0">
                <a:solidFill>
                  <a:srgbClr val="2F6ACB"/>
                </a:solidFill>
              </a:rPr>
              <a:t>l'ajoute au message</a:t>
            </a:r>
            <a:r>
              <a:rPr lang="fr-FR" sz="2700" dirty="0" smtClean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fr-FR" sz="2700" dirty="0" smtClean="0"/>
              <a:t> </a:t>
            </a:r>
            <a:r>
              <a:rPr lang="fr-FR" sz="2700" dirty="0"/>
              <a:t>Le </a:t>
            </a:r>
            <a:r>
              <a:rPr lang="fr-FR" sz="2700" b="1" dirty="0"/>
              <a:t>destinataire</a:t>
            </a:r>
            <a:r>
              <a:rPr lang="fr-FR" sz="2700" dirty="0"/>
              <a:t> </a:t>
            </a:r>
            <a:r>
              <a:rPr lang="fr-FR" sz="2700" b="1" dirty="0"/>
              <a:t>vérifie le MAC </a:t>
            </a:r>
            <a:r>
              <a:rPr lang="fr-FR" sz="2700" dirty="0"/>
              <a:t>en le calculant avec le </a:t>
            </a:r>
            <a:r>
              <a:rPr lang="fr-FR" sz="2700" b="1" dirty="0"/>
              <a:t>même algorithme</a:t>
            </a:r>
            <a:r>
              <a:rPr lang="fr-FR" sz="2700" dirty="0" smtClean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fr-FR" sz="2700" dirty="0" smtClean="0"/>
              <a:t> </a:t>
            </a:r>
            <a:r>
              <a:rPr lang="fr-FR" sz="2700" dirty="0"/>
              <a:t>L'expéditeur et le destinataire doivent avoir </a:t>
            </a:r>
            <a:r>
              <a:rPr lang="fr-FR" sz="2700" b="1" dirty="0"/>
              <a:t>généré leurs paires de clés publique et privée </a:t>
            </a:r>
            <a:r>
              <a:rPr lang="fr-FR" sz="2700" dirty="0"/>
              <a:t>et </a:t>
            </a:r>
            <a:r>
              <a:rPr lang="fr-FR" sz="2700" b="1" dirty="0"/>
              <a:t>échangé</a:t>
            </a:r>
            <a:r>
              <a:rPr lang="fr-FR" sz="2700" dirty="0"/>
              <a:t> leurs clés publiques.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763688" y="21183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Authentification des messages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45576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2377" y="836712"/>
            <a:ext cx="903649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700" b="1" dirty="0"/>
              <a:t>Fonctions de </a:t>
            </a:r>
            <a:r>
              <a:rPr lang="fr-FR" sz="2700" b="1" dirty="0" smtClean="0"/>
              <a:t>hachage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700" dirty="0" smtClean="0"/>
              <a:t>Une </a:t>
            </a:r>
            <a:r>
              <a:rPr lang="fr-FR" sz="2700" dirty="0"/>
              <a:t>fonction de hachage </a:t>
            </a:r>
            <a:r>
              <a:rPr lang="fr-FR" sz="2700" b="1" dirty="0"/>
              <a:t>produit l'identité </a:t>
            </a:r>
            <a:r>
              <a:rPr lang="fr-FR" sz="2700" dirty="0"/>
              <a:t>du fichier ou du bloc de données</a:t>
            </a:r>
            <a:r>
              <a:rPr lang="fr-FR" sz="2700" dirty="0" smtClean="0"/>
              <a:t>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700" dirty="0" smtClean="0"/>
              <a:t>Pour </a:t>
            </a:r>
            <a:r>
              <a:rPr lang="fr-FR" sz="2700" dirty="0"/>
              <a:t>être considérée comme une fonction de hachage, elle doit </a:t>
            </a:r>
            <a:r>
              <a:rPr lang="fr-FR" sz="2700" dirty="0" smtClean="0"/>
              <a:t>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fr-FR" sz="2700" dirty="0" smtClean="0"/>
              <a:t>Être </a:t>
            </a:r>
            <a:r>
              <a:rPr lang="fr-FR" sz="2700" dirty="0"/>
              <a:t>utilisée avec </a:t>
            </a:r>
            <a:r>
              <a:rPr lang="fr-FR" sz="2700" b="1" dirty="0"/>
              <a:t>n'importe quelle taille de bloc</a:t>
            </a:r>
            <a:r>
              <a:rPr lang="fr-FR" sz="2700" dirty="0" smtClean="0"/>
              <a:t>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fr-FR" sz="2700" dirty="0" smtClean="0"/>
              <a:t>Produire </a:t>
            </a:r>
            <a:r>
              <a:rPr lang="fr-FR" sz="2700" dirty="0"/>
              <a:t>une chaîne de données de longueur fixe représentant ce bloc</a:t>
            </a:r>
            <a:r>
              <a:rPr lang="fr-FR" sz="2700" dirty="0" smtClean="0"/>
              <a:t>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fr-FR" sz="2700" dirty="0" smtClean="0"/>
              <a:t>Facile </a:t>
            </a:r>
            <a:r>
              <a:rPr lang="fr-FR" sz="2700" dirty="0"/>
              <a:t>à calculer</a:t>
            </a:r>
            <a:r>
              <a:rPr lang="fr-FR" sz="2700" dirty="0" smtClean="0"/>
              <a:t>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fr-FR" sz="2700" dirty="0" smtClean="0"/>
              <a:t>Impossible </a:t>
            </a:r>
            <a:r>
              <a:rPr lang="fr-FR" sz="2700" dirty="0"/>
              <a:t>d'inverser le bloc de données d'origine</a:t>
            </a:r>
            <a:r>
              <a:rPr lang="fr-FR" sz="2700" dirty="0" smtClean="0"/>
              <a:t>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fr-FR" sz="2700" dirty="0" smtClean="0"/>
              <a:t>Résistante </a:t>
            </a:r>
            <a:r>
              <a:rPr lang="fr-FR" sz="2700" dirty="0"/>
              <a:t>aux collisions : des collisions ont déjà eu lieu, rendant les fonctions de hachage obsolètes.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763688" y="21183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Authentification des messages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35128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2377" y="836712"/>
            <a:ext cx="90364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b="1" dirty="0"/>
              <a:t>Exemples </a:t>
            </a:r>
            <a:r>
              <a:rPr lang="fr-FR" sz="2800" b="1" dirty="0" smtClean="0"/>
              <a:t>concrets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 smtClean="0"/>
              <a:t>L'utilisateur </a:t>
            </a:r>
            <a:r>
              <a:rPr lang="fr-FR" sz="2800" dirty="0"/>
              <a:t>souhaite envoyer un message signé à un autre </a:t>
            </a:r>
            <a:r>
              <a:rPr lang="fr-FR" sz="2800" dirty="0" smtClean="0"/>
              <a:t>utilisateur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 smtClean="0"/>
              <a:t> </a:t>
            </a:r>
            <a:r>
              <a:rPr lang="fr-FR" sz="2800" dirty="0"/>
              <a:t>Vérification du mot de </a:t>
            </a:r>
            <a:r>
              <a:rPr lang="fr-FR" sz="2800" dirty="0" smtClean="0"/>
              <a:t>passe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 smtClean="0"/>
              <a:t> </a:t>
            </a:r>
            <a:r>
              <a:rPr lang="fr-FR" sz="2800" dirty="0"/>
              <a:t>Détection d'intrusion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763688" y="21183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Authentification des messages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3583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2377" y="620688"/>
            <a:ext cx="9036496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>
                <a:solidFill>
                  <a:schemeClr val="bg2">
                    <a:lumMod val="75000"/>
                  </a:schemeClr>
                </a:solidFill>
              </a:rPr>
              <a:t>Algorithmes et techniques </a:t>
            </a:r>
            <a:r>
              <a:rPr lang="fr-FR" sz="2000" b="1" dirty="0" smtClean="0">
                <a:solidFill>
                  <a:schemeClr val="bg2">
                    <a:lumMod val="75000"/>
                  </a:schemeClr>
                </a:solidFill>
              </a:rPr>
              <a:t>courants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/>
              <a:t>MD5 </a:t>
            </a:r>
            <a:r>
              <a:rPr lang="fr-FR" sz="2000" dirty="0"/>
              <a:t>- algorithme simple, produit un hachage de 128 bits, </a:t>
            </a:r>
            <a:r>
              <a:rPr lang="fr-FR" sz="2000" b="1" dirty="0">
                <a:solidFill>
                  <a:schemeClr val="bg2">
                    <a:lumMod val="75000"/>
                  </a:schemeClr>
                </a:solidFill>
              </a:rPr>
              <a:t>peut entraîner des </a:t>
            </a:r>
            <a:r>
              <a:rPr lang="fr-FR" sz="2000" b="1" dirty="0" smtClean="0">
                <a:solidFill>
                  <a:schemeClr val="bg2">
                    <a:lumMod val="75000"/>
                  </a:schemeClr>
                </a:solidFill>
              </a:rPr>
              <a:t>collisions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/>
              <a:t>SHA </a:t>
            </a:r>
            <a:r>
              <a:rPr lang="fr-FR" sz="2000" dirty="0"/>
              <a:t>- algorithme original de 1993, </a:t>
            </a:r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produit un hachage de 160 bits</a:t>
            </a:r>
            <a:r>
              <a:rPr lang="fr-FR" sz="2000" dirty="0"/>
              <a:t>, peut </a:t>
            </a:r>
            <a:r>
              <a:rPr lang="fr-FR" sz="2000" b="1" dirty="0">
                <a:solidFill>
                  <a:schemeClr val="bg2">
                    <a:lumMod val="75000"/>
                  </a:schemeClr>
                </a:solidFill>
              </a:rPr>
              <a:t>entraîner des </a:t>
            </a:r>
            <a:r>
              <a:rPr lang="fr-FR" sz="2000" b="1" dirty="0" smtClean="0">
                <a:solidFill>
                  <a:schemeClr val="bg2">
                    <a:lumMod val="75000"/>
                  </a:schemeClr>
                </a:solidFill>
              </a:rPr>
              <a:t>collisions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/>
              <a:t>SHA-1 </a:t>
            </a:r>
            <a:r>
              <a:rPr lang="fr-FR" sz="2000" dirty="0"/>
              <a:t>révisé en 1995, </a:t>
            </a:r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produit un hachage de 160 bits</a:t>
            </a:r>
            <a:r>
              <a:rPr lang="fr-FR" sz="2000" dirty="0"/>
              <a:t>, peut </a:t>
            </a:r>
            <a:r>
              <a:rPr lang="fr-FR" sz="2000" b="1" dirty="0">
                <a:solidFill>
                  <a:schemeClr val="bg2">
                    <a:lumMod val="75000"/>
                  </a:schemeClr>
                </a:solidFill>
              </a:rPr>
              <a:t>entraîner des </a:t>
            </a:r>
            <a:r>
              <a:rPr lang="fr-FR" sz="2000" b="1" dirty="0" smtClean="0">
                <a:solidFill>
                  <a:schemeClr val="bg2">
                    <a:lumMod val="75000"/>
                  </a:schemeClr>
                </a:solidFill>
              </a:rPr>
              <a:t>collisions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/>
              <a:t>SHA-256 </a:t>
            </a:r>
            <a:r>
              <a:rPr lang="fr-FR" sz="2000" dirty="0"/>
              <a:t>révisé en 2001, </a:t>
            </a:r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produit un hachage de 256 bits</a:t>
            </a:r>
            <a:r>
              <a:rPr lang="fr-FR" sz="2000" dirty="0"/>
              <a:t>, taille de bloc : </a:t>
            </a:r>
            <a:r>
              <a:rPr lang="fr-FR" sz="2000" dirty="0" smtClean="0"/>
              <a:t>1024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/>
              <a:t>SHA-512 </a:t>
            </a:r>
            <a:r>
              <a:rPr lang="fr-FR" sz="2000" dirty="0"/>
              <a:t>révisé en 2001</a:t>
            </a:r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, produit un hachage de 512 bits</a:t>
            </a:r>
            <a:r>
              <a:rPr lang="fr-FR" sz="2000" dirty="0"/>
              <a:t>, taille de bloc : </a:t>
            </a:r>
            <a:r>
              <a:rPr lang="fr-FR" sz="2000" dirty="0" smtClean="0"/>
              <a:t>1024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/>
              <a:t>HMAC </a:t>
            </a:r>
            <a:r>
              <a:rPr lang="fr-FR" sz="2000" dirty="0"/>
              <a:t>- Le hachage est envoyé avec le </a:t>
            </a:r>
            <a:r>
              <a:rPr lang="fr-FR" sz="2000" dirty="0" smtClean="0"/>
              <a:t>message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/>
              <a:t> </a:t>
            </a:r>
            <a:r>
              <a:rPr lang="fr-FR" sz="2000" dirty="0"/>
              <a:t>x.509 - Certificat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763688" y="21183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Authentification des messages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16536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763688" y="21183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C00000"/>
                </a:solidFill>
              </a:rPr>
              <a:t>Résumé</a:t>
            </a:r>
            <a:endParaRPr lang="fr-FR" sz="2400" b="1" dirty="0">
              <a:solidFill>
                <a:srgbClr val="C00000"/>
              </a:solidFill>
            </a:endParaRPr>
          </a:p>
          <a:p>
            <a:endParaRPr lang="fr-FR" sz="20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4691"/>
            <a:ext cx="9144000" cy="496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4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WordArt 2"/>
          <p:cNvSpPr>
            <a:spLocks noChangeArrowheads="1" noChangeShapeType="1" noTextEdit="1"/>
          </p:cNvSpPr>
          <p:nvPr/>
        </p:nvSpPr>
        <p:spPr bwMode="gray">
          <a:xfrm>
            <a:off x="304800" y="2371725"/>
            <a:ext cx="5181600" cy="6858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fr-FR" sz="5400" b="1" kern="10">
                <a:ln w="25400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50000">
                      <a:schemeClr val="tx2">
                        <a:gamma/>
                        <a:tint val="57255"/>
                        <a:invGamma/>
                      </a:schemeClr>
                    </a:gs>
                    <a:gs pos="100000">
                      <a:schemeClr val="tx2"/>
                    </a:gs>
                  </a:gsLst>
                  <a:lin ang="0" scaled="1"/>
                </a:gradFill>
                <a:effectLst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Thank You!</a:t>
            </a:r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28600" y="3200400"/>
            <a:ext cx="5289550" cy="457200"/>
          </a:xfrm>
        </p:spPr>
        <p:txBody>
          <a:bodyPr/>
          <a:lstStyle/>
          <a:p>
            <a:endParaRPr lang="en-US" alt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C1D0DD"/>
      </a:lt1>
      <a:dk2>
        <a:srgbClr val="335175"/>
      </a:dk2>
      <a:lt2>
        <a:srgbClr val="7C92B6"/>
      </a:lt2>
      <a:accent1>
        <a:srgbClr val="4B93D5"/>
      </a:accent1>
      <a:accent2>
        <a:srgbClr val="65B737"/>
      </a:accent2>
      <a:accent3>
        <a:srgbClr val="DDE4EB"/>
      </a:accent3>
      <a:accent4>
        <a:srgbClr val="000000"/>
      </a:accent4>
      <a:accent5>
        <a:srgbClr val="B1C8E7"/>
      </a:accent5>
      <a:accent6>
        <a:srgbClr val="5BA631"/>
      </a:accent6>
      <a:hlink>
        <a:srgbClr val="CF9F49"/>
      </a:hlink>
      <a:folHlink>
        <a:srgbClr val="C382D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CAD4CF"/>
        </a:lt1>
        <a:dk2>
          <a:srgbClr val="425462"/>
        </a:dk2>
        <a:lt2>
          <a:srgbClr val="768A7B"/>
        </a:lt2>
        <a:accent1>
          <a:srgbClr val="DE608D"/>
        </a:accent1>
        <a:accent2>
          <a:srgbClr val="35ADE3"/>
        </a:accent2>
        <a:accent3>
          <a:srgbClr val="E1E6E4"/>
        </a:accent3>
        <a:accent4>
          <a:srgbClr val="000000"/>
        </a:accent4>
        <a:accent5>
          <a:srgbClr val="ECB6C5"/>
        </a:accent5>
        <a:accent6>
          <a:srgbClr val="2F9CCE"/>
        </a:accent6>
        <a:hlink>
          <a:srgbClr val="F6AE44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C1D0DD"/>
        </a:lt1>
        <a:dk2>
          <a:srgbClr val="335175"/>
        </a:dk2>
        <a:lt2>
          <a:srgbClr val="7C92B6"/>
        </a:lt2>
        <a:accent1>
          <a:srgbClr val="4B93D5"/>
        </a:accent1>
        <a:accent2>
          <a:srgbClr val="65B737"/>
        </a:accent2>
        <a:accent3>
          <a:srgbClr val="DDE4EB"/>
        </a:accent3>
        <a:accent4>
          <a:srgbClr val="000000"/>
        </a:accent4>
        <a:accent5>
          <a:srgbClr val="B1C8E7"/>
        </a:accent5>
        <a:accent6>
          <a:srgbClr val="5BA631"/>
        </a:accent6>
        <a:hlink>
          <a:srgbClr val="CF9F49"/>
        </a:hlink>
        <a:folHlink>
          <a:srgbClr val="C382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DDD3C9"/>
        </a:lt1>
        <a:dk2>
          <a:srgbClr val="514639"/>
        </a:dk2>
        <a:lt2>
          <a:srgbClr val="A7938B"/>
        </a:lt2>
        <a:accent1>
          <a:srgbClr val="BF9733"/>
        </a:accent1>
        <a:accent2>
          <a:srgbClr val="7FB22C"/>
        </a:accent2>
        <a:accent3>
          <a:srgbClr val="EBE6E1"/>
        </a:accent3>
        <a:accent4>
          <a:srgbClr val="000000"/>
        </a:accent4>
        <a:accent5>
          <a:srgbClr val="DCC9AD"/>
        </a:accent5>
        <a:accent6>
          <a:srgbClr val="72A127"/>
        </a:accent6>
        <a:hlink>
          <a:srgbClr val="D56575"/>
        </a:hlink>
        <a:folHlink>
          <a:srgbClr val="4E8FC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571TGp_business_light</Template>
  <TotalTime>28193</TotalTime>
  <Words>7666</Words>
  <Application>Microsoft Office PowerPoint</Application>
  <PresentationFormat>Affichage à l'écran (4:3)</PresentationFormat>
  <Paragraphs>1203</Paragraphs>
  <Slides>146</Slides>
  <Notes>0</Notes>
  <HiddenSlides>1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146</vt:i4>
      </vt:variant>
    </vt:vector>
  </HeadingPairs>
  <TitlesOfParts>
    <vt:vector size="153" baseType="lpstr">
      <vt:lpstr>Arial</vt:lpstr>
      <vt:lpstr>Arial Black</vt:lpstr>
      <vt:lpstr>Calibri</vt:lpstr>
      <vt:lpstr>Times New Roman</vt:lpstr>
      <vt:lpstr>Verdana</vt:lpstr>
      <vt:lpstr>Wingdings</vt:lpstr>
      <vt:lpstr>Default Design</vt:lpstr>
      <vt:lpstr>Chapitre 2: Cryptographie asymétrique</vt:lpstr>
      <vt:lpstr>Contenu du cours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PowerTemplate</dc:title>
  <dc:creator>lenovo</dc:creator>
  <cp:lastModifiedBy>lenovo</cp:lastModifiedBy>
  <cp:revision>2020</cp:revision>
  <dcterms:created xsi:type="dcterms:W3CDTF">2025-01-23T13:30:53Z</dcterms:created>
  <dcterms:modified xsi:type="dcterms:W3CDTF">2025-05-12T22:27:28Z</dcterms:modified>
</cp:coreProperties>
</file>