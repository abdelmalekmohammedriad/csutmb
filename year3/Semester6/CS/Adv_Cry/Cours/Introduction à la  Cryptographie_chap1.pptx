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416" r:id="rId3"/>
    <p:sldId id="317" r:id="rId4"/>
    <p:sldId id="321" r:id="rId5"/>
    <p:sldId id="322" r:id="rId6"/>
    <p:sldId id="326" r:id="rId7"/>
    <p:sldId id="339" r:id="rId8"/>
    <p:sldId id="340" r:id="rId9"/>
    <p:sldId id="342" r:id="rId10"/>
    <p:sldId id="341" r:id="rId11"/>
    <p:sldId id="343" r:id="rId12"/>
    <p:sldId id="325" r:id="rId13"/>
    <p:sldId id="347" r:id="rId14"/>
    <p:sldId id="345" r:id="rId15"/>
    <p:sldId id="351" r:id="rId16"/>
    <p:sldId id="352" r:id="rId17"/>
    <p:sldId id="353" r:id="rId18"/>
    <p:sldId id="354" r:id="rId19"/>
    <p:sldId id="355" r:id="rId20"/>
    <p:sldId id="357" r:id="rId21"/>
    <p:sldId id="358" r:id="rId22"/>
    <p:sldId id="360" r:id="rId23"/>
    <p:sldId id="361" r:id="rId24"/>
    <p:sldId id="362" r:id="rId25"/>
    <p:sldId id="363" r:id="rId26"/>
    <p:sldId id="364" r:id="rId27"/>
    <p:sldId id="366" r:id="rId28"/>
    <p:sldId id="365" r:id="rId29"/>
    <p:sldId id="382" r:id="rId30"/>
    <p:sldId id="367" r:id="rId31"/>
    <p:sldId id="372" r:id="rId32"/>
    <p:sldId id="368" r:id="rId33"/>
    <p:sldId id="369" r:id="rId34"/>
    <p:sldId id="371" r:id="rId35"/>
    <p:sldId id="373" r:id="rId36"/>
    <p:sldId id="374" r:id="rId37"/>
    <p:sldId id="375" r:id="rId38"/>
    <p:sldId id="376" r:id="rId39"/>
    <p:sldId id="377" r:id="rId40"/>
    <p:sldId id="378" r:id="rId41"/>
    <p:sldId id="379" r:id="rId42"/>
    <p:sldId id="383" r:id="rId43"/>
    <p:sldId id="384" r:id="rId44"/>
    <p:sldId id="385" r:id="rId45"/>
    <p:sldId id="387" r:id="rId46"/>
    <p:sldId id="388" r:id="rId47"/>
    <p:sldId id="402" r:id="rId48"/>
    <p:sldId id="391" r:id="rId49"/>
    <p:sldId id="392" r:id="rId50"/>
    <p:sldId id="401" r:id="rId51"/>
    <p:sldId id="404" r:id="rId52"/>
    <p:sldId id="405" r:id="rId53"/>
    <p:sldId id="406" r:id="rId54"/>
    <p:sldId id="407" r:id="rId55"/>
    <p:sldId id="408" r:id="rId56"/>
    <p:sldId id="409" r:id="rId57"/>
    <p:sldId id="410" r:id="rId58"/>
    <p:sldId id="413" r:id="rId59"/>
    <p:sldId id="414" r:id="rId60"/>
    <p:sldId id="415" r:id="rId61"/>
    <p:sldId id="411" r:id="rId62"/>
    <p:sldId id="287" r:id="rId6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CC3399"/>
    <a:srgbClr val="FF6600"/>
    <a:srgbClr val="FFFFFF"/>
    <a:srgbClr val="3376C7"/>
    <a:srgbClr val="003366"/>
    <a:srgbClr val="2F6ACB"/>
    <a:srgbClr val="B6E7F6"/>
    <a:srgbClr val="E56D0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>
      <p:cViewPr varScale="1">
        <p:scale>
          <a:sx n="71" d="100"/>
          <a:sy n="71" d="100"/>
        </p:scale>
        <p:origin x="73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fr-F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fr-F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 smtClean="0"/>
              <a:t>Click to edit Master text styles</a:t>
            </a:r>
          </a:p>
          <a:p>
            <a:pPr lvl="1"/>
            <a:r>
              <a:rPr lang="en-US" altLang="fr-FR" smtClean="0"/>
              <a:t>Second level</a:t>
            </a:r>
          </a:p>
          <a:p>
            <a:pPr lvl="2"/>
            <a:r>
              <a:rPr lang="en-US" altLang="fr-FR" smtClean="0"/>
              <a:t>Third level</a:t>
            </a:r>
          </a:p>
          <a:p>
            <a:pPr lvl="3"/>
            <a:r>
              <a:rPr lang="en-US" altLang="fr-FR" smtClean="0"/>
              <a:t>Fourth level</a:t>
            </a:r>
          </a:p>
          <a:p>
            <a:pPr lvl="4"/>
            <a:r>
              <a:rPr lang="en-US" altLang="fr-FR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fr-F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CEC8A5C-69C6-441B-952C-86476333BE9C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2327581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gradFill rotWithShape="0">
          <a:gsLst>
            <a:gs pos="0">
              <a:srgbClr val="FFFFFF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" name="Freeform 39"/>
          <p:cNvSpPr>
            <a:spLocks/>
          </p:cNvSpPr>
          <p:nvPr/>
        </p:nvSpPr>
        <p:spPr bwMode="gray">
          <a:xfrm>
            <a:off x="3175" y="6346825"/>
            <a:ext cx="9131300" cy="511175"/>
          </a:xfrm>
          <a:custGeom>
            <a:avLst/>
            <a:gdLst>
              <a:gd name="T0" fmla="*/ 5745 w 5752"/>
              <a:gd name="T1" fmla="*/ 9 h 444"/>
              <a:gd name="T2" fmla="*/ 2449 w 5752"/>
              <a:gd name="T3" fmla="*/ 8 h 444"/>
              <a:gd name="T4" fmla="*/ 2347 w 5752"/>
              <a:gd name="T5" fmla="*/ 14 h 444"/>
              <a:gd name="T6" fmla="*/ 2174 w 5752"/>
              <a:gd name="T7" fmla="*/ 93 h 444"/>
              <a:gd name="T8" fmla="*/ 2046 w 5752"/>
              <a:gd name="T9" fmla="*/ 127 h 444"/>
              <a:gd name="T10" fmla="*/ 0 w 5752"/>
              <a:gd name="T11" fmla="*/ 119 h 444"/>
              <a:gd name="T12" fmla="*/ 0 w 5752"/>
              <a:gd name="T13" fmla="*/ 444 h 444"/>
              <a:gd name="T14" fmla="*/ 3601 w 5752"/>
              <a:gd name="T15" fmla="*/ 444 h 444"/>
              <a:gd name="T16" fmla="*/ 3672 w 5752"/>
              <a:gd name="T17" fmla="*/ 424 h 444"/>
              <a:gd name="T18" fmla="*/ 3883 w 5752"/>
              <a:gd name="T19" fmla="*/ 331 h 444"/>
              <a:gd name="T20" fmla="*/ 3985 w 5752"/>
              <a:gd name="T21" fmla="*/ 325 h 444"/>
              <a:gd name="T22" fmla="*/ 5752 w 5752"/>
              <a:gd name="T23" fmla="*/ 325 h 444"/>
              <a:gd name="T24" fmla="*/ 5745 w 5752"/>
              <a:gd name="T25" fmla="*/ 9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2" h="444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01" name="Freeform 29"/>
          <p:cNvSpPr>
            <a:spLocks/>
          </p:cNvSpPr>
          <p:nvPr/>
        </p:nvSpPr>
        <p:spPr bwMode="gray">
          <a:xfrm>
            <a:off x="-1588" y="-1588"/>
            <a:ext cx="9155113" cy="4940301"/>
          </a:xfrm>
          <a:custGeom>
            <a:avLst/>
            <a:gdLst>
              <a:gd name="T0" fmla="*/ 8 w 5767"/>
              <a:gd name="T1" fmla="*/ 3103 h 3128"/>
              <a:gd name="T2" fmla="*/ 2913 w 5767"/>
              <a:gd name="T3" fmla="*/ 3102 h 3128"/>
              <a:gd name="T4" fmla="*/ 3143 w 5767"/>
              <a:gd name="T5" fmla="*/ 3022 h 3128"/>
              <a:gd name="T6" fmla="*/ 3668 w 5767"/>
              <a:gd name="T7" fmla="*/ 2460 h 3128"/>
              <a:gd name="T8" fmla="*/ 4129 w 5767"/>
              <a:gd name="T9" fmla="*/ 2235 h 3128"/>
              <a:gd name="T10" fmla="*/ 5761 w 5767"/>
              <a:gd name="T11" fmla="*/ 2235 h 3128"/>
              <a:gd name="T12" fmla="*/ 5767 w 5767"/>
              <a:gd name="T13" fmla="*/ 0 h 3128"/>
              <a:gd name="T14" fmla="*/ 0 w 5767"/>
              <a:gd name="T15" fmla="*/ 1 h 3128"/>
              <a:gd name="T16" fmla="*/ 8 w 5767"/>
              <a:gd name="T17" fmla="*/ 3103 h 3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67" h="3128">
                <a:moveTo>
                  <a:pt x="8" y="3103"/>
                </a:moveTo>
                <a:lnTo>
                  <a:pt x="2913" y="3102"/>
                </a:lnTo>
                <a:cubicBezTo>
                  <a:pt x="3054" y="3102"/>
                  <a:pt x="3012" y="3128"/>
                  <a:pt x="3143" y="3022"/>
                </a:cubicBezTo>
                <a:lnTo>
                  <a:pt x="3668" y="2460"/>
                </a:lnTo>
                <a:cubicBezTo>
                  <a:pt x="3832" y="2329"/>
                  <a:pt x="3809" y="2215"/>
                  <a:pt x="4129" y="2235"/>
                </a:cubicBezTo>
                <a:lnTo>
                  <a:pt x="5761" y="2235"/>
                </a:lnTo>
                <a:lnTo>
                  <a:pt x="5767" y="0"/>
                </a:lnTo>
                <a:lnTo>
                  <a:pt x="0" y="1"/>
                </a:lnTo>
                <a:lnTo>
                  <a:pt x="8" y="3103"/>
                </a:lnTo>
                <a:close/>
              </a:path>
            </a:pathLst>
          </a:custGeom>
          <a:solidFill>
            <a:schemeClr val="bg2">
              <a:alpha val="8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00" name="Freeform 28"/>
          <p:cNvSpPr>
            <a:spLocks/>
          </p:cNvSpPr>
          <p:nvPr/>
        </p:nvSpPr>
        <p:spPr bwMode="gray">
          <a:xfrm>
            <a:off x="0" y="0"/>
            <a:ext cx="9155113" cy="4333875"/>
          </a:xfrm>
          <a:custGeom>
            <a:avLst/>
            <a:gdLst>
              <a:gd name="T0" fmla="*/ 8 w 5767"/>
              <a:gd name="T1" fmla="*/ 2730 h 2730"/>
              <a:gd name="T2" fmla="*/ 3040 w 5767"/>
              <a:gd name="T3" fmla="*/ 2726 h 2730"/>
              <a:gd name="T4" fmla="*/ 3347 w 5767"/>
              <a:gd name="T5" fmla="*/ 2630 h 2730"/>
              <a:gd name="T6" fmla="*/ 3795 w 5767"/>
              <a:gd name="T7" fmla="*/ 2170 h 2730"/>
              <a:gd name="T8" fmla="*/ 4115 w 5767"/>
              <a:gd name="T9" fmla="*/ 2080 h 2730"/>
              <a:gd name="T10" fmla="*/ 5760 w 5767"/>
              <a:gd name="T11" fmla="*/ 2093 h 2730"/>
              <a:gd name="T12" fmla="*/ 5767 w 5767"/>
              <a:gd name="T13" fmla="*/ 0 h 2730"/>
              <a:gd name="T14" fmla="*/ 0 w 5767"/>
              <a:gd name="T15" fmla="*/ 1 h 2730"/>
              <a:gd name="T16" fmla="*/ 8 w 5767"/>
              <a:gd name="T17" fmla="*/ 2730 h 27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67" h="2730">
                <a:moveTo>
                  <a:pt x="8" y="2730"/>
                </a:moveTo>
                <a:lnTo>
                  <a:pt x="3040" y="2726"/>
                </a:lnTo>
                <a:cubicBezTo>
                  <a:pt x="3181" y="2726"/>
                  <a:pt x="3224" y="2728"/>
                  <a:pt x="3347" y="2630"/>
                </a:cubicBezTo>
                <a:lnTo>
                  <a:pt x="3795" y="2170"/>
                </a:lnTo>
                <a:cubicBezTo>
                  <a:pt x="3923" y="2078"/>
                  <a:pt x="3942" y="2074"/>
                  <a:pt x="4115" y="2080"/>
                </a:cubicBezTo>
                <a:lnTo>
                  <a:pt x="5760" y="2093"/>
                </a:lnTo>
                <a:lnTo>
                  <a:pt x="5767" y="0"/>
                </a:lnTo>
                <a:lnTo>
                  <a:pt x="0" y="1"/>
                </a:lnTo>
                <a:lnTo>
                  <a:pt x="8" y="2730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</a:schemeClr>
              </a:gs>
              <a:gs pos="100000">
                <a:schemeClr val="bg1">
                  <a:alpha val="89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02" name="Freeform 30"/>
          <p:cNvSpPr>
            <a:spLocks/>
          </p:cNvSpPr>
          <p:nvPr/>
        </p:nvSpPr>
        <p:spPr bwMode="gray">
          <a:xfrm>
            <a:off x="0" y="0"/>
            <a:ext cx="9153525" cy="1600200"/>
          </a:xfrm>
          <a:custGeom>
            <a:avLst/>
            <a:gdLst>
              <a:gd name="T0" fmla="*/ 0 w 5766"/>
              <a:gd name="T1" fmla="*/ 1008 h 1008"/>
              <a:gd name="T2" fmla="*/ 1884 w 5766"/>
              <a:gd name="T3" fmla="*/ 1008 h 1008"/>
              <a:gd name="T4" fmla="*/ 2152 w 5766"/>
              <a:gd name="T5" fmla="*/ 921 h 1008"/>
              <a:gd name="T6" fmla="*/ 2560 w 5766"/>
              <a:gd name="T7" fmla="*/ 531 h 1008"/>
              <a:gd name="T8" fmla="*/ 2892 w 5766"/>
              <a:gd name="T9" fmla="*/ 448 h 1008"/>
              <a:gd name="T10" fmla="*/ 5766 w 5766"/>
              <a:gd name="T11" fmla="*/ 461 h 1008"/>
              <a:gd name="T12" fmla="*/ 5758 w 5766"/>
              <a:gd name="T13" fmla="*/ 0 h 1008"/>
              <a:gd name="T14" fmla="*/ 0 w 5766"/>
              <a:gd name="T15" fmla="*/ 2 h 1008"/>
              <a:gd name="T16" fmla="*/ 0 w 5766"/>
              <a:gd name="T17" fmla="*/ 1008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66" h="1008">
                <a:moveTo>
                  <a:pt x="0" y="1008"/>
                </a:moveTo>
                <a:lnTo>
                  <a:pt x="1884" y="1008"/>
                </a:lnTo>
                <a:cubicBezTo>
                  <a:pt x="2088" y="990"/>
                  <a:pt x="2034" y="1005"/>
                  <a:pt x="2152" y="921"/>
                </a:cubicBezTo>
                <a:lnTo>
                  <a:pt x="2560" y="531"/>
                </a:lnTo>
                <a:cubicBezTo>
                  <a:pt x="2683" y="452"/>
                  <a:pt x="2611" y="454"/>
                  <a:pt x="2892" y="448"/>
                </a:cubicBezTo>
                <a:lnTo>
                  <a:pt x="5766" y="461"/>
                </a:lnTo>
                <a:lnTo>
                  <a:pt x="5758" y="0"/>
                </a:lnTo>
                <a:lnTo>
                  <a:pt x="0" y="2"/>
                </a:lnTo>
                <a:lnTo>
                  <a:pt x="0" y="1008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bg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dt" sz="half" idx="2"/>
          </p:nvPr>
        </p:nvSpPr>
        <p:spPr>
          <a:xfrm>
            <a:off x="762000" y="6477000"/>
            <a:ext cx="2133600" cy="247650"/>
          </a:xfrm>
        </p:spPr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228600" y="1828800"/>
            <a:ext cx="5486400" cy="1470025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altLang="fr-FR" noProof="0" smtClean="0"/>
              <a:t>Modifiez le style du titre</a:t>
            </a:r>
            <a:endParaRPr lang="en-US" altLang="fr-FR" noProof="0" smtClean="0"/>
          </a:p>
        </p:txBody>
      </p:sp>
      <p:sp>
        <p:nvSpPr>
          <p:cNvPr id="3088" name="Rectangle 16"/>
          <p:cNvSpPr>
            <a:spLocks noGrp="1" noChangeArrowheads="1"/>
          </p:cNvSpPr>
          <p:nvPr>
            <p:ph type="subTitle" idx="1"/>
          </p:nvPr>
        </p:nvSpPr>
        <p:spPr>
          <a:xfrm>
            <a:off x="228600" y="3200400"/>
            <a:ext cx="5472113" cy="457200"/>
          </a:xfrm>
        </p:spPr>
        <p:txBody>
          <a:bodyPr/>
          <a:lstStyle>
            <a:lvl1pPr marL="0" indent="0" algn="dist">
              <a:buFontTx/>
              <a:buNone/>
              <a:defRPr sz="1600" i="1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fr-FR" altLang="fr-FR" noProof="0" smtClean="0"/>
              <a:t>Modifiez le style des sous-titres du masque</a:t>
            </a:r>
            <a:endParaRPr lang="en-US" altLang="fr-FR" noProof="0" smtClean="0"/>
          </a:p>
        </p:txBody>
      </p:sp>
      <p:sp>
        <p:nvSpPr>
          <p:cNvPr id="3090" name="Rectangle 18"/>
          <p:cNvSpPr>
            <a:spLocks noGrp="1" noChangeArrowheads="1"/>
          </p:cNvSpPr>
          <p:nvPr>
            <p:ph type="ftr" sz="quarter" idx="3"/>
          </p:nvPr>
        </p:nvSpPr>
        <p:spPr>
          <a:xfrm>
            <a:off x="3048000" y="6477000"/>
            <a:ext cx="3276600" cy="247650"/>
          </a:xfrm>
        </p:spPr>
        <p:txBody>
          <a:bodyPr/>
          <a:lstStyle>
            <a:lvl1pPr algn="l">
              <a:defRPr/>
            </a:lvl1pPr>
          </a:lstStyle>
          <a:p>
            <a:endParaRPr lang="en-US" altLang="fr-FR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sldNum" sz="quarter" idx="4"/>
          </p:nvPr>
        </p:nvSpPr>
        <p:spPr>
          <a:xfrm>
            <a:off x="304800" y="6477000"/>
            <a:ext cx="381000" cy="247650"/>
          </a:xfrm>
        </p:spPr>
        <p:txBody>
          <a:bodyPr/>
          <a:lstStyle>
            <a:lvl1pPr>
              <a:defRPr/>
            </a:lvl1pPr>
          </a:lstStyle>
          <a:p>
            <a:fld id="{37839852-D5BA-40BB-9A9A-E5F4F7FE9941}" type="slidenum">
              <a:rPr lang="en-US" altLang="fr-FR"/>
              <a:pPr/>
              <a:t>‹N°›</a:t>
            </a:fld>
            <a:endParaRPr lang="en-US" altLang="fr-FR"/>
          </a:p>
        </p:txBody>
      </p:sp>
      <p:sp>
        <p:nvSpPr>
          <p:cNvPr id="3108" name="Text Box 36"/>
          <p:cNvSpPr txBox="1">
            <a:spLocks noChangeArrowheads="1"/>
          </p:cNvSpPr>
          <p:nvPr/>
        </p:nvSpPr>
        <p:spPr bwMode="gray">
          <a:xfrm>
            <a:off x="7391400" y="7620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fr-FR" sz="2400" b="1" dirty="0">
                <a:solidFill>
                  <a:schemeClr val="tx2"/>
                </a:solidFill>
                <a:latin typeface="Arial Black" panose="020B0A04020102020204" pitchFamily="34" charset="0"/>
              </a:rPr>
              <a:t>L/O/G/O</a:t>
            </a:r>
          </a:p>
        </p:txBody>
      </p:sp>
      <p:sp>
        <p:nvSpPr>
          <p:cNvPr id="3109" name="Freeform 37"/>
          <p:cNvSpPr>
            <a:spLocks/>
          </p:cNvSpPr>
          <p:nvPr/>
        </p:nvSpPr>
        <p:spPr bwMode="gray">
          <a:xfrm>
            <a:off x="3175" y="4562475"/>
            <a:ext cx="9131300" cy="511175"/>
          </a:xfrm>
          <a:custGeom>
            <a:avLst/>
            <a:gdLst>
              <a:gd name="T0" fmla="*/ 5745 w 5752"/>
              <a:gd name="T1" fmla="*/ 9 h 444"/>
              <a:gd name="T2" fmla="*/ 2449 w 5752"/>
              <a:gd name="T3" fmla="*/ 8 h 444"/>
              <a:gd name="T4" fmla="*/ 2347 w 5752"/>
              <a:gd name="T5" fmla="*/ 14 h 444"/>
              <a:gd name="T6" fmla="*/ 2174 w 5752"/>
              <a:gd name="T7" fmla="*/ 93 h 444"/>
              <a:gd name="T8" fmla="*/ 2046 w 5752"/>
              <a:gd name="T9" fmla="*/ 127 h 444"/>
              <a:gd name="T10" fmla="*/ 0 w 5752"/>
              <a:gd name="T11" fmla="*/ 119 h 444"/>
              <a:gd name="T12" fmla="*/ 0 w 5752"/>
              <a:gd name="T13" fmla="*/ 444 h 444"/>
              <a:gd name="T14" fmla="*/ 3601 w 5752"/>
              <a:gd name="T15" fmla="*/ 444 h 444"/>
              <a:gd name="T16" fmla="*/ 3672 w 5752"/>
              <a:gd name="T17" fmla="*/ 424 h 444"/>
              <a:gd name="T18" fmla="*/ 3883 w 5752"/>
              <a:gd name="T19" fmla="*/ 331 h 444"/>
              <a:gd name="T20" fmla="*/ 3985 w 5752"/>
              <a:gd name="T21" fmla="*/ 325 h 444"/>
              <a:gd name="T22" fmla="*/ 5752 w 5752"/>
              <a:gd name="T23" fmla="*/ 325 h 444"/>
              <a:gd name="T24" fmla="*/ 5745 w 5752"/>
              <a:gd name="T25" fmla="*/ 9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2" h="444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" y="14921"/>
            <a:ext cx="3562621" cy="158527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383" y="12372"/>
            <a:ext cx="2302034" cy="158837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1" y="12372"/>
            <a:ext cx="1981802" cy="159165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802" y="-2623"/>
            <a:ext cx="1456723" cy="16066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0398" y="1617939"/>
            <a:ext cx="8401050" cy="67468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130541-4B5B-4E6A-847F-0EF85A58EDE9}" type="slidenum">
              <a:rPr lang="en-US" altLang="fr-FR"/>
              <a:pPr/>
              <a:t>‹N°›</a:t>
            </a:fld>
            <a:endParaRPr lang="en-US" altLang="fr-FR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443" y="2297"/>
            <a:ext cx="1840418" cy="1040364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7" y="3314"/>
            <a:ext cx="2848277" cy="1041347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506" y="2297"/>
            <a:ext cx="1840417" cy="1043382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840" y="2297"/>
            <a:ext cx="1507686" cy="1045533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121" y="-12698"/>
            <a:ext cx="1152385" cy="105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039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DA7691-521A-418A-B50F-3A4EAFBCAFB4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154406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50838" y="1600200"/>
            <a:ext cx="4141787" cy="4754563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5025" y="1600200"/>
            <a:ext cx="4143375" cy="4754563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D654A6-546E-4093-96CC-D13E1FF6233E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408693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5518FB-4A73-4E81-BED6-B9418EDDDDC6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088019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C3CF3C-FA04-46BC-A6A4-9FB142BA74C1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915890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474F65-A7B1-44A5-A874-C186773F0A19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993639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83BF65-4B7E-4752-8FF4-F2AAF8D793D1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535832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39CD0B-58F7-4A90-BD9E-DF9DD16BC0E1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855546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650BEE-BEFF-48E5-AF1D-BA8D1DAB71E2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105281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80200" y="773113"/>
            <a:ext cx="2108200" cy="558165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50838" y="773113"/>
            <a:ext cx="6176962" cy="55816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5FA651-3485-4AD1-9FF8-E7DADAEAF867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315677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2133600" cy="168275"/>
          </a:xfrm>
        </p:spPr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6629400"/>
            <a:ext cx="2895600" cy="168275"/>
          </a:xfrm>
        </p:spPr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6629400"/>
            <a:ext cx="2133600" cy="168275"/>
          </a:xfrm>
        </p:spPr>
        <p:txBody>
          <a:bodyPr/>
          <a:lstStyle>
            <a:lvl1pPr>
              <a:defRPr/>
            </a:lvl1pPr>
          </a:lstStyle>
          <a:p>
            <a:fld id="{F73C5C55-1092-463A-BA4A-D3E9CE85DCED}" type="slidenum">
              <a:rPr lang="en-US" altLang="fr-FR"/>
              <a:pPr/>
              <a:t>‹N°›</a:t>
            </a:fld>
            <a:endParaRPr lang="en-US" altLang="fr-FR"/>
          </a:p>
        </p:txBody>
      </p:sp>
      <p:sp>
        <p:nvSpPr>
          <p:cNvPr id="3" name="Rectangle 2"/>
          <p:cNvSpPr/>
          <p:nvPr userDrawn="1"/>
        </p:nvSpPr>
        <p:spPr>
          <a:xfrm>
            <a:off x="0" y="28575"/>
            <a:ext cx="9144000" cy="11247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 userDrawn="1"/>
        </p:nvSpPr>
        <p:spPr>
          <a:xfrm>
            <a:off x="-22704" y="-23962"/>
            <a:ext cx="9128788" cy="57264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-9674"/>
            <a:ext cx="1114944" cy="55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6476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1950" y="773113"/>
            <a:ext cx="8401050" cy="67468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350838" y="1600200"/>
            <a:ext cx="8437562" cy="4754563"/>
          </a:xfrm>
        </p:spPr>
        <p:txBody>
          <a:bodyPr/>
          <a:lstStyle/>
          <a:p>
            <a:r>
              <a:rPr lang="fr-FR" smtClean="0"/>
              <a:t>Cliquez sur l'icône pour ajouter un tableau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2133600" cy="168275"/>
          </a:xfrm>
        </p:spPr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6629400"/>
            <a:ext cx="2895600" cy="168275"/>
          </a:xfrm>
        </p:spPr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6629400"/>
            <a:ext cx="2133600" cy="168275"/>
          </a:xfrm>
        </p:spPr>
        <p:txBody>
          <a:bodyPr/>
          <a:lstStyle>
            <a:lvl1pPr>
              <a:defRPr/>
            </a:lvl1pPr>
          </a:lstStyle>
          <a:p>
            <a:fld id="{38F2979B-F4F5-4F7D-AB69-AFE4B6E70206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743842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re et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1950" y="773113"/>
            <a:ext cx="8401050" cy="67468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graphique 2"/>
          <p:cNvSpPr>
            <a:spLocks noGrp="1"/>
          </p:cNvSpPr>
          <p:nvPr>
            <p:ph type="chart" idx="1"/>
          </p:nvPr>
        </p:nvSpPr>
        <p:spPr>
          <a:xfrm>
            <a:off x="350838" y="1600200"/>
            <a:ext cx="8437562" cy="4754563"/>
          </a:xfrm>
        </p:spPr>
        <p:txBody>
          <a:bodyPr/>
          <a:lstStyle/>
          <a:p>
            <a:r>
              <a:rPr lang="fr-FR" smtClean="0"/>
              <a:t>Cliquez sur l'icône pour ajouter un graphique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2133600" cy="168275"/>
          </a:xfrm>
        </p:spPr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6629400"/>
            <a:ext cx="2895600" cy="168275"/>
          </a:xfrm>
        </p:spPr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6629400"/>
            <a:ext cx="2133600" cy="168275"/>
          </a:xfrm>
        </p:spPr>
        <p:txBody>
          <a:bodyPr/>
          <a:lstStyle>
            <a:lvl1pPr>
              <a:defRPr/>
            </a:lvl1pPr>
          </a:lstStyle>
          <a:p>
            <a:fld id="{C8E1645B-A33A-40F1-BF24-D98298D8C496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718797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re et diagramme ou organi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1950" y="773113"/>
            <a:ext cx="8401050" cy="67468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graphique SmartArt 2"/>
          <p:cNvSpPr>
            <a:spLocks noGrp="1"/>
          </p:cNvSpPr>
          <p:nvPr>
            <p:ph type="dgm" idx="1"/>
          </p:nvPr>
        </p:nvSpPr>
        <p:spPr>
          <a:xfrm>
            <a:off x="350838" y="1600200"/>
            <a:ext cx="8437562" cy="4754563"/>
          </a:xfrm>
        </p:spPr>
        <p:txBody>
          <a:bodyPr/>
          <a:lstStyle/>
          <a:p>
            <a:r>
              <a:rPr lang="fr-FR" smtClean="0"/>
              <a:t>Cliquez sur l'icône pour ajouter un graphique SmartArt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629400"/>
            <a:ext cx="2133600" cy="168275"/>
          </a:xfrm>
        </p:spPr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6629400"/>
            <a:ext cx="2895600" cy="168275"/>
          </a:xfrm>
        </p:spPr>
        <p:txBody>
          <a:bodyPr/>
          <a:lstStyle>
            <a:lvl1pPr>
              <a:defRPr/>
            </a:lvl1pPr>
          </a:lstStyle>
          <a:p>
            <a:endParaRPr lang="en-US" alt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6629400"/>
            <a:ext cx="2133600" cy="168275"/>
          </a:xfrm>
        </p:spPr>
        <p:txBody>
          <a:bodyPr/>
          <a:lstStyle>
            <a:lvl1pPr>
              <a:defRPr/>
            </a:lvl1pPr>
          </a:lstStyle>
          <a:p>
            <a:fld id="{A6ABB503-D1AB-4470-92B1-1636400F913E}" type="slidenum">
              <a:rPr lang="en-US" altLang="fr-FR"/>
              <a:pPr/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929593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0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Freeform 46"/>
          <p:cNvSpPr>
            <a:spLocks/>
          </p:cNvSpPr>
          <p:nvPr userDrawn="1"/>
        </p:nvSpPr>
        <p:spPr bwMode="gray">
          <a:xfrm>
            <a:off x="0" y="1108075"/>
            <a:ext cx="9175751" cy="5749925"/>
          </a:xfrm>
          <a:custGeom>
            <a:avLst/>
            <a:gdLst>
              <a:gd name="T0" fmla="*/ 7 w 5780"/>
              <a:gd name="T1" fmla="*/ 3616 h 3622"/>
              <a:gd name="T2" fmla="*/ 5780 w 5780"/>
              <a:gd name="T3" fmla="*/ 3622 h 3622"/>
              <a:gd name="T4" fmla="*/ 5760 w 5780"/>
              <a:gd name="T5" fmla="*/ 0 h 3622"/>
              <a:gd name="T6" fmla="*/ 0 w 5780"/>
              <a:gd name="T7" fmla="*/ 0 h 3622"/>
              <a:gd name="T8" fmla="*/ 7 w 5780"/>
              <a:gd name="T9" fmla="*/ 3616 h 36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80" h="3622">
                <a:moveTo>
                  <a:pt x="7" y="3616"/>
                </a:moveTo>
                <a:lnTo>
                  <a:pt x="5780" y="3622"/>
                </a:lnTo>
                <a:lnTo>
                  <a:pt x="5760" y="0"/>
                </a:lnTo>
                <a:lnTo>
                  <a:pt x="0" y="0"/>
                </a:lnTo>
                <a:lnTo>
                  <a:pt x="7" y="3616"/>
                </a:lnTo>
                <a:close/>
              </a:path>
            </a:pathLst>
          </a:custGeom>
          <a:solidFill>
            <a:srgbClr val="FFFFFF"/>
          </a:solidFill>
          <a:ln/>
          <a:ex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fr-FR"/>
          </a:p>
        </p:txBody>
      </p:sp>
      <p:sp>
        <p:nvSpPr>
          <p:cNvPr id="1092" name="Rectangle 68"/>
          <p:cNvSpPr>
            <a:spLocks noGrp="1" noChangeArrowheads="1"/>
          </p:cNvSpPr>
          <p:nvPr>
            <p:ph type="body" idx="1"/>
          </p:nvPr>
        </p:nvSpPr>
        <p:spPr bwMode="gray">
          <a:xfrm>
            <a:off x="350838" y="1600200"/>
            <a:ext cx="8437562" cy="475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Modifiez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  <a:endParaRPr lang="en-US" altLang="fr-FR" smtClean="0"/>
          </a:p>
        </p:txBody>
      </p:sp>
      <p:sp>
        <p:nvSpPr>
          <p:cNvPr id="1093" name="Rectangle 69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6629400"/>
            <a:ext cx="2133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endParaRPr lang="en-US" altLang="fr-FR"/>
          </a:p>
        </p:txBody>
      </p:sp>
      <p:sp>
        <p:nvSpPr>
          <p:cNvPr id="1094" name="Rectangle 70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6629400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 altLang="fr-FR"/>
          </a:p>
        </p:txBody>
      </p:sp>
      <p:sp>
        <p:nvSpPr>
          <p:cNvPr id="1095" name="Rectangle 71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6553200" y="6629400"/>
            <a:ext cx="2133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8B6FA04B-B156-496B-B776-4620B9F0E678}" type="slidenum">
              <a:rPr lang="en-US" altLang="fr-FR"/>
              <a:pPr/>
              <a:t>‹N°›</a:t>
            </a:fld>
            <a:endParaRPr lang="en-US" altLang="fr-FR"/>
          </a:p>
        </p:txBody>
      </p:sp>
      <p:sp>
        <p:nvSpPr>
          <p:cNvPr id="1097" name="Freeform 73"/>
          <p:cNvSpPr>
            <a:spLocks/>
          </p:cNvSpPr>
          <p:nvPr/>
        </p:nvSpPr>
        <p:spPr bwMode="gray">
          <a:xfrm>
            <a:off x="3175" y="685800"/>
            <a:ext cx="9131300" cy="685800"/>
          </a:xfrm>
          <a:custGeom>
            <a:avLst/>
            <a:gdLst>
              <a:gd name="T0" fmla="*/ 5745 w 5752"/>
              <a:gd name="T1" fmla="*/ 9 h 444"/>
              <a:gd name="T2" fmla="*/ 2449 w 5752"/>
              <a:gd name="T3" fmla="*/ 8 h 444"/>
              <a:gd name="T4" fmla="*/ 2347 w 5752"/>
              <a:gd name="T5" fmla="*/ 14 h 444"/>
              <a:gd name="T6" fmla="*/ 2174 w 5752"/>
              <a:gd name="T7" fmla="*/ 93 h 444"/>
              <a:gd name="T8" fmla="*/ 2046 w 5752"/>
              <a:gd name="T9" fmla="*/ 127 h 444"/>
              <a:gd name="T10" fmla="*/ 0 w 5752"/>
              <a:gd name="T11" fmla="*/ 119 h 444"/>
              <a:gd name="T12" fmla="*/ 0 w 5752"/>
              <a:gd name="T13" fmla="*/ 444 h 444"/>
              <a:gd name="T14" fmla="*/ 3601 w 5752"/>
              <a:gd name="T15" fmla="*/ 444 h 444"/>
              <a:gd name="T16" fmla="*/ 3672 w 5752"/>
              <a:gd name="T17" fmla="*/ 424 h 444"/>
              <a:gd name="T18" fmla="*/ 3883 w 5752"/>
              <a:gd name="T19" fmla="*/ 331 h 444"/>
              <a:gd name="T20" fmla="*/ 3985 w 5752"/>
              <a:gd name="T21" fmla="*/ 325 h 444"/>
              <a:gd name="T22" fmla="*/ 5752 w 5752"/>
              <a:gd name="T23" fmla="*/ 325 h 444"/>
              <a:gd name="T24" fmla="*/ 5745 w 5752"/>
              <a:gd name="T25" fmla="*/ 9 h 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2" h="444">
                <a:moveTo>
                  <a:pt x="5745" y="9"/>
                </a:moveTo>
                <a:lnTo>
                  <a:pt x="2449" y="8"/>
                </a:lnTo>
                <a:cubicBezTo>
                  <a:pt x="2309" y="8"/>
                  <a:pt x="2404" y="0"/>
                  <a:pt x="2347" y="14"/>
                </a:cubicBezTo>
                <a:lnTo>
                  <a:pt x="2174" y="93"/>
                </a:lnTo>
                <a:cubicBezTo>
                  <a:pt x="2124" y="112"/>
                  <a:pt x="2142" y="120"/>
                  <a:pt x="2046" y="127"/>
                </a:cubicBezTo>
                <a:cubicBezTo>
                  <a:pt x="1076" y="125"/>
                  <a:pt x="0" y="119"/>
                  <a:pt x="0" y="119"/>
                </a:cubicBezTo>
                <a:lnTo>
                  <a:pt x="0" y="444"/>
                </a:lnTo>
                <a:lnTo>
                  <a:pt x="3601" y="444"/>
                </a:lnTo>
                <a:lnTo>
                  <a:pt x="3672" y="424"/>
                </a:lnTo>
                <a:lnTo>
                  <a:pt x="3883" y="331"/>
                </a:lnTo>
                <a:lnTo>
                  <a:pt x="3985" y="325"/>
                </a:lnTo>
                <a:lnTo>
                  <a:pt x="5752" y="325"/>
                </a:lnTo>
                <a:lnTo>
                  <a:pt x="5745" y="9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91" name="Rectangle 67"/>
          <p:cNvSpPr>
            <a:spLocks noGrp="1" noChangeArrowheads="1"/>
          </p:cNvSpPr>
          <p:nvPr>
            <p:ph type="title"/>
          </p:nvPr>
        </p:nvSpPr>
        <p:spPr bwMode="gray">
          <a:xfrm>
            <a:off x="361950" y="773113"/>
            <a:ext cx="8401050" cy="67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Modifiez le style du titre</a:t>
            </a:r>
            <a:endParaRPr lang="en-US" altLang="fr-FR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1752600"/>
            <a:ext cx="8587680" cy="1576388"/>
          </a:xfrm>
        </p:spPr>
        <p:txBody>
          <a:bodyPr/>
          <a:lstStyle/>
          <a:p>
            <a:r>
              <a:rPr lang="fr-FR" altLang="fr-FR" sz="3200" dirty="0" smtClean="0">
                <a:solidFill>
                  <a:schemeClr val="tx2"/>
                </a:solidFill>
              </a:rPr>
              <a:t>Chapitre</a:t>
            </a:r>
            <a:r>
              <a:rPr lang="en-US" altLang="fr-FR" sz="3200" dirty="0" smtClean="0">
                <a:solidFill>
                  <a:schemeClr val="tx2"/>
                </a:solidFill>
              </a:rPr>
              <a:t> 2</a:t>
            </a:r>
            <a:r>
              <a:rPr lang="en-US" altLang="fr-FR" sz="3200" dirty="0">
                <a:solidFill>
                  <a:schemeClr val="tx2"/>
                </a:solidFill>
              </a:rPr>
              <a:t>: </a:t>
            </a:r>
            <a:r>
              <a:rPr lang="fr-FR" altLang="fr-FR" sz="3200" dirty="0" smtClean="0">
                <a:solidFill>
                  <a:schemeClr val="tx2"/>
                </a:solidFill>
              </a:rPr>
              <a:t>Cryptographie</a:t>
            </a:r>
            <a:r>
              <a:rPr lang="en-US" altLang="fr-FR" sz="3200" dirty="0" smtClean="0">
                <a:solidFill>
                  <a:schemeClr val="tx2"/>
                </a:solidFill>
              </a:rPr>
              <a:t> </a:t>
            </a:r>
            <a:r>
              <a:rPr lang="fr-FR" altLang="fr-FR" sz="3200" dirty="0" smtClean="0">
                <a:solidFill>
                  <a:schemeClr val="tx2"/>
                </a:solidFill>
              </a:rPr>
              <a:t>asymétrique</a:t>
            </a:r>
            <a:endParaRPr lang="fr-FR" altLang="fr-FR" sz="600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124200"/>
            <a:ext cx="4572000" cy="381000"/>
          </a:xfrm>
          <a:noFill/>
          <a:ln/>
        </p:spPr>
        <p:txBody>
          <a:bodyPr/>
          <a:lstStyle/>
          <a:p>
            <a:r>
              <a:rPr lang="en-US" altLang="fr-FR" b="1" dirty="0" smtClean="0">
                <a:solidFill>
                  <a:schemeClr val="tx2"/>
                </a:solidFill>
              </a:rPr>
              <a:t>Module:  </a:t>
            </a:r>
            <a:r>
              <a:rPr lang="fr-FR" altLang="fr-FR" b="1" dirty="0">
                <a:solidFill>
                  <a:schemeClr val="tx2"/>
                </a:solidFill>
              </a:rPr>
              <a:t>Cryptographie</a:t>
            </a:r>
            <a:r>
              <a:rPr lang="en-US" altLang="fr-FR" b="1" dirty="0">
                <a:solidFill>
                  <a:schemeClr val="tx2"/>
                </a:solidFill>
              </a:rPr>
              <a:t> </a:t>
            </a:r>
            <a:r>
              <a:rPr lang="en-US" altLang="fr-FR" b="1" dirty="0" smtClean="0">
                <a:solidFill>
                  <a:schemeClr val="tx2"/>
                </a:solidFill>
              </a:rPr>
              <a:t> </a:t>
            </a:r>
            <a:r>
              <a:rPr lang="fr-FR" altLang="fr-FR" b="1" dirty="0" smtClean="0">
                <a:solidFill>
                  <a:schemeClr val="tx2"/>
                </a:solidFill>
              </a:rPr>
              <a:t>avancée</a:t>
            </a:r>
            <a:endParaRPr lang="fr-FR" alt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230852"/>
            <a:ext cx="8401050" cy="674687"/>
          </a:xfrm>
        </p:spPr>
        <p:txBody>
          <a:bodyPr/>
          <a:lstStyle/>
          <a:p>
            <a:r>
              <a:rPr lang="fr-FR" altLang="fr-FR" dirty="0" smtClean="0"/>
              <a:t>Contenu</a:t>
            </a:r>
            <a:r>
              <a:rPr lang="en-US" altLang="fr-FR" dirty="0" smtClean="0"/>
              <a:t> </a:t>
            </a:r>
            <a:r>
              <a:rPr lang="en-US" altLang="fr-FR" dirty="0"/>
              <a:t>du </a:t>
            </a:r>
            <a:r>
              <a:rPr lang="fr-FR" altLang="fr-FR" dirty="0" smtClean="0"/>
              <a:t>cours</a:t>
            </a:r>
            <a:r>
              <a:rPr lang="en-US" altLang="fr-FR" dirty="0" smtClean="0"/>
              <a:t> </a:t>
            </a:r>
            <a:r>
              <a:rPr lang="en-US" altLang="fr-FR" dirty="0"/>
              <a:t>:</a:t>
            </a:r>
            <a:endParaRPr lang="en-US" altLang="fr-FR" dirty="0">
              <a:solidFill>
                <a:schemeClr val="accent1"/>
              </a:solidFill>
            </a:endParaRPr>
          </a:p>
        </p:txBody>
      </p:sp>
      <p:grpSp>
        <p:nvGrpSpPr>
          <p:cNvPr id="10289" name="Group 49"/>
          <p:cNvGrpSpPr>
            <a:grpSpLocks/>
          </p:cNvGrpSpPr>
          <p:nvPr/>
        </p:nvGrpSpPr>
        <p:grpSpPr bwMode="auto">
          <a:xfrm>
            <a:off x="1981201" y="2774950"/>
            <a:ext cx="5311775" cy="469900"/>
            <a:chOff x="1213" y="1748"/>
            <a:chExt cx="3346" cy="296"/>
          </a:xfrm>
        </p:grpSpPr>
        <p:grpSp>
          <p:nvGrpSpPr>
            <p:cNvPr id="10244" name="Group 4"/>
            <p:cNvGrpSpPr>
              <a:grpSpLocks/>
            </p:cNvGrpSpPr>
            <p:nvPr/>
          </p:nvGrpSpPr>
          <p:grpSpPr bwMode="auto">
            <a:xfrm>
              <a:off x="1213" y="1756"/>
              <a:ext cx="3346" cy="288"/>
              <a:chOff x="1117" y="1455"/>
              <a:chExt cx="3346" cy="288"/>
            </a:xfrm>
          </p:grpSpPr>
          <p:sp>
            <p:nvSpPr>
              <p:cNvPr id="10245" name="AutoShape 5"/>
              <p:cNvSpPr>
                <a:spLocks noChangeArrowheads="1"/>
              </p:cNvSpPr>
              <p:nvPr/>
            </p:nvSpPr>
            <p:spPr bwMode="gray">
              <a:xfrm>
                <a:off x="1117" y="1455"/>
                <a:ext cx="3346" cy="288"/>
              </a:xfrm>
              <a:prstGeom prst="roundRect">
                <a:avLst>
                  <a:gd name="adj" fmla="val 7292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7451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solidFill>
                  <a:srgbClr val="FFFFFF">
                    <a:alpha val="70000"/>
                  </a:srgb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46" name="AutoShape 6"/>
              <p:cNvSpPr>
                <a:spLocks noChangeArrowheads="1"/>
              </p:cNvSpPr>
              <p:nvPr/>
            </p:nvSpPr>
            <p:spPr bwMode="gray">
              <a:xfrm>
                <a:off x="1117" y="1455"/>
                <a:ext cx="3346" cy="95"/>
              </a:xfrm>
              <a:prstGeom prst="roundRect">
                <a:avLst>
                  <a:gd name="adj" fmla="val 26389"/>
                </a:avLst>
              </a:prstGeom>
              <a:solidFill>
                <a:schemeClr val="accent2">
                  <a:alpha val="3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0247" name="Text Box 7"/>
            <p:cNvSpPr txBox="1">
              <a:spLocks noChangeArrowheads="1"/>
            </p:cNvSpPr>
            <p:nvPr/>
          </p:nvSpPr>
          <p:spPr bwMode="white">
            <a:xfrm>
              <a:off x="1680" y="1755"/>
              <a:ext cx="258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292929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9144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3716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8288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fr-FR" sz="2400" b="1" dirty="0" smtClean="0">
                  <a:solidFill>
                    <a:srgbClr val="FFFFFF"/>
                  </a:solidFill>
                </a:rPr>
                <a:t>Les </a:t>
              </a:r>
              <a:r>
                <a:rPr lang="fr-FR" altLang="fr-FR" sz="2400" b="1" dirty="0" smtClean="0">
                  <a:solidFill>
                    <a:srgbClr val="FFFFFF"/>
                  </a:solidFill>
                </a:rPr>
                <a:t>Besoins</a:t>
              </a:r>
              <a:r>
                <a:rPr lang="en-US" altLang="fr-FR" sz="2400" b="1" dirty="0" smtClean="0">
                  <a:solidFill>
                    <a:srgbClr val="FFFFFF"/>
                  </a:solidFill>
                </a:rPr>
                <a:t> de </a:t>
              </a:r>
              <a:r>
                <a:rPr lang="fr-FR" altLang="fr-FR" sz="2400" b="1" dirty="0" smtClean="0">
                  <a:solidFill>
                    <a:srgbClr val="FFFFFF"/>
                  </a:solidFill>
                </a:rPr>
                <a:t>sécurité</a:t>
              </a:r>
              <a:r>
                <a:rPr lang="en-US" altLang="fr-FR" sz="2400" b="1" dirty="0" smtClean="0">
                  <a:solidFill>
                    <a:srgbClr val="FFFFFF"/>
                  </a:solidFill>
                </a:rPr>
                <a:t> </a:t>
              </a:r>
              <a:endParaRPr lang="en-US" altLang="fr-FR" sz="2400" b="1" dirty="0">
                <a:solidFill>
                  <a:srgbClr val="FFFFFF"/>
                </a:solidFill>
              </a:endParaRPr>
            </a:p>
          </p:txBody>
        </p:sp>
        <p:grpSp>
          <p:nvGrpSpPr>
            <p:cNvPr id="10248" name="Group 8"/>
            <p:cNvGrpSpPr>
              <a:grpSpLocks/>
            </p:cNvGrpSpPr>
            <p:nvPr/>
          </p:nvGrpSpPr>
          <p:grpSpPr bwMode="auto">
            <a:xfrm>
              <a:off x="1355" y="1758"/>
              <a:ext cx="270" cy="270"/>
              <a:chOff x="4166" y="1706"/>
              <a:chExt cx="1252" cy="1252"/>
            </a:xfrm>
          </p:grpSpPr>
          <p:sp>
            <p:nvSpPr>
              <p:cNvPr id="10249" name="Oval 9"/>
              <p:cNvSpPr>
                <a:spLocks noChangeArrowheads="1"/>
              </p:cNvSpPr>
              <p:nvPr/>
            </p:nvSpPr>
            <p:spPr bwMode="gray">
              <a:xfrm>
                <a:off x="4166" y="1706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46275"/>
                      <a:invGamma/>
                    </a:srgbClr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10250" name="Oval 10"/>
              <p:cNvSpPr>
                <a:spLocks noChangeArrowheads="1"/>
              </p:cNvSpPr>
              <p:nvPr/>
            </p:nvSpPr>
            <p:spPr bwMode="gray">
              <a:xfrm>
                <a:off x="4182" y="1713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D6E1E2">
                      <a:gamma/>
                      <a:tint val="34902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10251" name="Oval 11"/>
              <p:cNvSpPr>
                <a:spLocks noChangeArrowheads="1"/>
              </p:cNvSpPr>
              <p:nvPr/>
            </p:nvSpPr>
            <p:spPr bwMode="gray">
              <a:xfrm>
                <a:off x="4195" y="1725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79216"/>
                      <a:invGamma/>
                    </a:srgbClr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10252" name="Oval 12"/>
              <p:cNvSpPr>
                <a:spLocks noChangeArrowheads="1"/>
              </p:cNvSpPr>
              <p:nvPr/>
            </p:nvSpPr>
            <p:spPr bwMode="gray">
              <a:xfrm>
                <a:off x="4263" y="1757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tint val="0"/>
                      <a:invGamma/>
                    </a:srgbClr>
                  </a:gs>
                  <a:gs pos="100000">
                    <a:srgbClr val="D6E1E2">
                      <a:alpha val="3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</p:grpSp>
        <p:sp>
          <p:nvSpPr>
            <p:cNvPr id="10253" name="Text Box 13"/>
            <p:cNvSpPr txBox="1">
              <a:spLocks noChangeArrowheads="1"/>
            </p:cNvSpPr>
            <p:nvPr/>
          </p:nvSpPr>
          <p:spPr bwMode="auto">
            <a:xfrm>
              <a:off x="1364" y="1748"/>
              <a:ext cx="2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fr-FR" sz="2400" b="1">
                  <a:solidFill>
                    <a:srgbClr val="000000"/>
                  </a:solidFill>
                </a:rPr>
                <a:t>1</a:t>
              </a:r>
            </a:p>
          </p:txBody>
        </p:sp>
      </p:grpSp>
      <p:grpSp>
        <p:nvGrpSpPr>
          <p:cNvPr id="10288" name="Group 48"/>
          <p:cNvGrpSpPr>
            <a:grpSpLocks/>
          </p:cNvGrpSpPr>
          <p:nvPr/>
        </p:nvGrpSpPr>
        <p:grpSpPr bwMode="auto">
          <a:xfrm>
            <a:off x="1981200" y="3501432"/>
            <a:ext cx="5311775" cy="469900"/>
            <a:chOff x="1214" y="2241"/>
            <a:chExt cx="4898" cy="296"/>
          </a:xfrm>
        </p:grpSpPr>
        <p:grpSp>
          <p:nvGrpSpPr>
            <p:cNvPr id="10254" name="Group 14"/>
            <p:cNvGrpSpPr>
              <a:grpSpLocks/>
            </p:cNvGrpSpPr>
            <p:nvPr/>
          </p:nvGrpSpPr>
          <p:grpSpPr bwMode="auto">
            <a:xfrm>
              <a:off x="1214" y="2249"/>
              <a:ext cx="4898" cy="288"/>
              <a:chOff x="1118" y="1948"/>
              <a:chExt cx="4898" cy="288"/>
            </a:xfrm>
          </p:grpSpPr>
          <p:sp>
            <p:nvSpPr>
              <p:cNvPr id="10255" name="AutoShape 15"/>
              <p:cNvSpPr>
                <a:spLocks noChangeArrowheads="1"/>
              </p:cNvSpPr>
              <p:nvPr/>
            </p:nvSpPr>
            <p:spPr bwMode="gray">
              <a:xfrm>
                <a:off x="1118" y="1948"/>
                <a:ext cx="4898" cy="288"/>
              </a:xfrm>
              <a:prstGeom prst="roundRect">
                <a:avLst>
                  <a:gd name="adj" fmla="val 7292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4314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solidFill>
                  <a:srgbClr val="FFFFFF">
                    <a:alpha val="70000"/>
                  </a:srgb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6" name="AutoShape 16"/>
              <p:cNvSpPr>
                <a:spLocks noChangeArrowheads="1"/>
              </p:cNvSpPr>
              <p:nvPr/>
            </p:nvSpPr>
            <p:spPr bwMode="gray">
              <a:xfrm>
                <a:off x="1118" y="1948"/>
                <a:ext cx="3346" cy="95"/>
              </a:xfrm>
              <a:prstGeom prst="roundRect">
                <a:avLst>
                  <a:gd name="adj" fmla="val 26389"/>
                </a:avLst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0257" name="Text Box 17"/>
            <p:cNvSpPr txBox="1">
              <a:spLocks noChangeArrowheads="1"/>
            </p:cNvSpPr>
            <p:nvPr/>
          </p:nvSpPr>
          <p:spPr bwMode="white">
            <a:xfrm>
              <a:off x="1667" y="2248"/>
              <a:ext cx="39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292929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9144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3716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8288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tx1"/>
                </a:buClr>
              </a:pPr>
              <a:r>
                <a:rPr lang="fr-FR" altLang="fr-FR" sz="2000" b="1" dirty="0" smtClean="0">
                  <a:solidFill>
                    <a:srgbClr val="FFFFFF"/>
                  </a:solidFill>
                </a:rPr>
                <a:t>Définitions</a:t>
              </a:r>
              <a:r>
                <a:rPr lang="en-US" altLang="fr-FR" sz="2000" b="1" dirty="0" smtClean="0">
                  <a:solidFill>
                    <a:srgbClr val="FFFFFF"/>
                  </a:solidFill>
                </a:rPr>
                <a:t> </a:t>
              </a:r>
              <a:r>
                <a:rPr lang="en-US" altLang="fr-FR" sz="2000" b="1" dirty="0">
                  <a:solidFill>
                    <a:srgbClr val="FFFFFF"/>
                  </a:solidFill>
                </a:rPr>
                <a:t>et Terminologies</a:t>
              </a:r>
            </a:p>
          </p:txBody>
        </p:sp>
        <p:grpSp>
          <p:nvGrpSpPr>
            <p:cNvPr id="10258" name="Group 18"/>
            <p:cNvGrpSpPr>
              <a:grpSpLocks/>
            </p:cNvGrpSpPr>
            <p:nvPr/>
          </p:nvGrpSpPr>
          <p:grpSpPr bwMode="auto">
            <a:xfrm>
              <a:off x="1342" y="2251"/>
              <a:ext cx="270" cy="270"/>
              <a:chOff x="4166" y="1706"/>
              <a:chExt cx="1252" cy="1252"/>
            </a:xfrm>
          </p:grpSpPr>
          <p:sp>
            <p:nvSpPr>
              <p:cNvPr id="10259" name="Oval 19"/>
              <p:cNvSpPr>
                <a:spLocks noChangeArrowheads="1"/>
              </p:cNvSpPr>
              <p:nvPr/>
            </p:nvSpPr>
            <p:spPr bwMode="gray">
              <a:xfrm>
                <a:off x="4166" y="1706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46275"/>
                      <a:invGamma/>
                    </a:srgbClr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10260" name="Oval 20"/>
              <p:cNvSpPr>
                <a:spLocks noChangeArrowheads="1"/>
              </p:cNvSpPr>
              <p:nvPr/>
            </p:nvSpPr>
            <p:spPr bwMode="gray">
              <a:xfrm>
                <a:off x="4182" y="1713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D6E1E2">
                      <a:gamma/>
                      <a:tint val="34902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10261" name="Oval 21"/>
              <p:cNvSpPr>
                <a:spLocks noChangeArrowheads="1"/>
              </p:cNvSpPr>
              <p:nvPr/>
            </p:nvSpPr>
            <p:spPr bwMode="gray">
              <a:xfrm>
                <a:off x="4195" y="1725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79216"/>
                      <a:invGamma/>
                    </a:srgbClr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10262" name="Oval 22"/>
              <p:cNvSpPr>
                <a:spLocks noChangeArrowheads="1"/>
              </p:cNvSpPr>
              <p:nvPr/>
            </p:nvSpPr>
            <p:spPr bwMode="gray">
              <a:xfrm>
                <a:off x="4263" y="1757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tint val="0"/>
                      <a:invGamma/>
                    </a:srgbClr>
                  </a:gs>
                  <a:gs pos="100000">
                    <a:srgbClr val="D6E1E2">
                      <a:alpha val="3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</p:grpSp>
        <p:sp>
          <p:nvSpPr>
            <p:cNvPr id="10263" name="Text Box 23"/>
            <p:cNvSpPr txBox="1">
              <a:spLocks noChangeArrowheads="1"/>
            </p:cNvSpPr>
            <p:nvPr/>
          </p:nvSpPr>
          <p:spPr bwMode="auto">
            <a:xfrm>
              <a:off x="1351" y="2241"/>
              <a:ext cx="2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fr-FR" sz="2400" b="1" dirty="0">
                  <a:solidFill>
                    <a:srgbClr val="000000"/>
                  </a:solidFill>
                </a:rPr>
                <a:t>2</a:t>
              </a:r>
            </a:p>
          </p:txBody>
        </p:sp>
      </p:grpSp>
      <p:grpSp>
        <p:nvGrpSpPr>
          <p:cNvPr id="10286" name="Group 46"/>
          <p:cNvGrpSpPr>
            <a:grpSpLocks/>
          </p:cNvGrpSpPr>
          <p:nvPr/>
        </p:nvGrpSpPr>
        <p:grpSpPr bwMode="auto">
          <a:xfrm>
            <a:off x="1472135" y="4213143"/>
            <a:ext cx="6610895" cy="469900"/>
            <a:chOff x="1255" y="3256"/>
            <a:chExt cx="3355" cy="296"/>
          </a:xfrm>
        </p:grpSpPr>
        <p:grpSp>
          <p:nvGrpSpPr>
            <p:cNvPr id="10274" name="Group 34"/>
            <p:cNvGrpSpPr>
              <a:grpSpLocks/>
            </p:cNvGrpSpPr>
            <p:nvPr/>
          </p:nvGrpSpPr>
          <p:grpSpPr bwMode="auto">
            <a:xfrm>
              <a:off x="1255" y="3264"/>
              <a:ext cx="3346" cy="288"/>
              <a:chOff x="1118" y="2963"/>
              <a:chExt cx="3346" cy="288"/>
            </a:xfrm>
          </p:grpSpPr>
          <p:sp>
            <p:nvSpPr>
              <p:cNvPr id="10275" name="AutoShape 35"/>
              <p:cNvSpPr>
                <a:spLocks noChangeArrowheads="1"/>
              </p:cNvSpPr>
              <p:nvPr/>
            </p:nvSpPr>
            <p:spPr bwMode="gray">
              <a:xfrm>
                <a:off x="1118" y="2963"/>
                <a:ext cx="3346" cy="288"/>
              </a:xfrm>
              <a:prstGeom prst="roundRect">
                <a:avLst>
                  <a:gd name="adj" fmla="val 7292"/>
                </a:avLst>
              </a:prstGeom>
              <a:gradFill rotWithShape="1">
                <a:gsLst>
                  <a:gs pos="0">
                    <a:schemeClr val="hlink">
                      <a:gamma/>
                      <a:shade val="50980"/>
                      <a:invGamma/>
                    </a:schemeClr>
                  </a:gs>
                  <a:gs pos="100000">
                    <a:schemeClr val="hlink"/>
                  </a:gs>
                </a:gsLst>
                <a:lin ang="5400000" scaled="1"/>
              </a:gradFill>
              <a:ln w="9525">
                <a:solidFill>
                  <a:srgbClr val="FFFFFF">
                    <a:alpha val="39999"/>
                  </a:srgb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76" name="AutoShape 36"/>
              <p:cNvSpPr>
                <a:spLocks noChangeArrowheads="1"/>
              </p:cNvSpPr>
              <p:nvPr/>
            </p:nvSpPr>
            <p:spPr bwMode="gray">
              <a:xfrm>
                <a:off x="1118" y="2963"/>
                <a:ext cx="3346" cy="95"/>
              </a:xfrm>
              <a:prstGeom prst="roundRect">
                <a:avLst>
                  <a:gd name="adj" fmla="val 26389"/>
                </a:avLst>
              </a:prstGeom>
              <a:solidFill>
                <a:schemeClr val="hlink">
                  <a:alpha val="3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0277" name="Text Box 37"/>
            <p:cNvSpPr txBox="1">
              <a:spLocks noChangeArrowheads="1"/>
            </p:cNvSpPr>
            <p:nvPr/>
          </p:nvSpPr>
          <p:spPr bwMode="white">
            <a:xfrm>
              <a:off x="1708" y="3256"/>
              <a:ext cx="29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292929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9144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3716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8288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>
                  <a:schemeClr val="tx1"/>
                </a:buClr>
              </a:pPr>
              <a:r>
                <a:rPr lang="en-US" altLang="fr-FR" sz="2400" b="1" dirty="0" smtClean="0">
                  <a:solidFill>
                    <a:srgbClr val="FFFFFF"/>
                  </a:solidFill>
                </a:rPr>
                <a:t>Catégorisation de la </a:t>
              </a:r>
              <a:r>
                <a:rPr lang="fr-FR" altLang="fr-FR" sz="2400" b="1" dirty="0" smtClean="0">
                  <a:solidFill>
                    <a:srgbClr val="FFFFFF"/>
                  </a:solidFill>
                </a:rPr>
                <a:t>cryptographie</a:t>
              </a:r>
              <a:endParaRPr lang="fr-FR" altLang="fr-FR" sz="2400" b="1" dirty="0">
                <a:solidFill>
                  <a:srgbClr val="FFFFFF"/>
                </a:solidFill>
              </a:endParaRPr>
            </a:p>
          </p:txBody>
        </p:sp>
        <p:grpSp>
          <p:nvGrpSpPr>
            <p:cNvPr id="10278" name="Group 38"/>
            <p:cNvGrpSpPr>
              <a:grpSpLocks/>
            </p:cNvGrpSpPr>
            <p:nvPr/>
          </p:nvGrpSpPr>
          <p:grpSpPr bwMode="auto">
            <a:xfrm>
              <a:off x="1383" y="3266"/>
              <a:ext cx="270" cy="270"/>
              <a:chOff x="4166" y="1706"/>
              <a:chExt cx="1252" cy="1252"/>
            </a:xfrm>
          </p:grpSpPr>
          <p:sp>
            <p:nvSpPr>
              <p:cNvPr id="10279" name="Oval 39"/>
              <p:cNvSpPr>
                <a:spLocks noChangeArrowheads="1"/>
              </p:cNvSpPr>
              <p:nvPr/>
            </p:nvSpPr>
            <p:spPr bwMode="gray">
              <a:xfrm>
                <a:off x="4166" y="1706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46275"/>
                      <a:invGamma/>
                    </a:srgbClr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10280" name="Oval 40"/>
              <p:cNvSpPr>
                <a:spLocks noChangeArrowheads="1"/>
              </p:cNvSpPr>
              <p:nvPr/>
            </p:nvSpPr>
            <p:spPr bwMode="gray">
              <a:xfrm>
                <a:off x="4182" y="1713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D6E1E2">
                      <a:gamma/>
                      <a:tint val="34902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10281" name="Oval 41"/>
              <p:cNvSpPr>
                <a:spLocks noChangeArrowheads="1"/>
              </p:cNvSpPr>
              <p:nvPr/>
            </p:nvSpPr>
            <p:spPr bwMode="gray">
              <a:xfrm>
                <a:off x="4195" y="1725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79216"/>
                      <a:invGamma/>
                    </a:srgbClr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10282" name="Oval 42"/>
              <p:cNvSpPr>
                <a:spLocks noChangeArrowheads="1"/>
              </p:cNvSpPr>
              <p:nvPr/>
            </p:nvSpPr>
            <p:spPr bwMode="gray">
              <a:xfrm>
                <a:off x="4263" y="1757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tint val="0"/>
                      <a:invGamma/>
                    </a:srgbClr>
                  </a:gs>
                  <a:gs pos="100000">
                    <a:srgbClr val="D6E1E2">
                      <a:alpha val="3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</p:grpSp>
        <p:sp>
          <p:nvSpPr>
            <p:cNvPr id="10283" name="Text Box 43"/>
            <p:cNvSpPr txBox="1">
              <a:spLocks noChangeArrowheads="1"/>
            </p:cNvSpPr>
            <p:nvPr/>
          </p:nvSpPr>
          <p:spPr bwMode="auto">
            <a:xfrm>
              <a:off x="1392" y="3256"/>
              <a:ext cx="2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fr-FR" sz="2400" b="1" dirty="0" smtClean="0">
                  <a:solidFill>
                    <a:srgbClr val="000000"/>
                  </a:solidFill>
                </a:rPr>
                <a:t>3</a:t>
              </a:r>
              <a:endParaRPr lang="en-US" altLang="fr-FR" sz="24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7" name="Group 48"/>
          <p:cNvGrpSpPr>
            <a:grpSpLocks/>
          </p:cNvGrpSpPr>
          <p:nvPr/>
        </p:nvGrpSpPr>
        <p:grpSpPr bwMode="auto">
          <a:xfrm>
            <a:off x="2023423" y="4903316"/>
            <a:ext cx="5311775" cy="469900"/>
            <a:chOff x="1214" y="2241"/>
            <a:chExt cx="4898" cy="296"/>
          </a:xfrm>
        </p:grpSpPr>
        <p:grpSp>
          <p:nvGrpSpPr>
            <p:cNvPr id="48" name="Group 14"/>
            <p:cNvGrpSpPr>
              <a:grpSpLocks/>
            </p:cNvGrpSpPr>
            <p:nvPr/>
          </p:nvGrpSpPr>
          <p:grpSpPr bwMode="auto">
            <a:xfrm>
              <a:off x="1214" y="2249"/>
              <a:ext cx="4898" cy="288"/>
              <a:chOff x="1118" y="1948"/>
              <a:chExt cx="4898" cy="288"/>
            </a:xfrm>
          </p:grpSpPr>
          <p:sp>
            <p:nvSpPr>
              <p:cNvPr id="56" name="AutoShape 15"/>
              <p:cNvSpPr>
                <a:spLocks noChangeArrowheads="1"/>
              </p:cNvSpPr>
              <p:nvPr/>
            </p:nvSpPr>
            <p:spPr bwMode="gray">
              <a:xfrm>
                <a:off x="1118" y="1948"/>
                <a:ext cx="4898" cy="288"/>
              </a:xfrm>
              <a:prstGeom prst="roundRect">
                <a:avLst>
                  <a:gd name="adj" fmla="val 7292"/>
                </a:avLst>
              </a:prstGeom>
              <a:solidFill>
                <a:srgbClr val="FFC000"/>
              </a:solidFill>
              <a:ln w="9525">
                <a:solidFill>
                  <a:srgbClr val="FFFFFF">
                    <a:alpha val="70000"/>
                  </a:srgb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57" name="AutoShape 16"/>
              <p:cNvSpPr>
                <a:spLocks noChangeArrowheads="1"/>
              </p:cNvSpPr>
              <p:nvPr/>
            </p:nvSpPr>
            <p:spPr bwMode="gray">
              <a:xfrm>
                <a:off x="1118" y="1948"/>
                <a:ext cx="3346" cy="95"/>
              </a:xfrm>
              <a:prstGeom prst="roundRect">
                <a:avLst>
                  <a:gd name="adj" fmla="val 26389"/>
                </a:avLst>
              </a:prstGeom>
              <a:solidFill>
                <a:srgbClr val="FFC000">
                  <a:alpha val="3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49" name="Text Box 17"/>
            <p:cNvSpPr txBox="1">
              <a:spLocks noChangeArrowheads="1"/>
            </p:cNvSpPr>
            <p:nvPr/>
          </p:nvSpPr>
          <p:spPr bwMode="white">
            <a:xfrm>
              <a:off x="1667" y="2248"/>
              <a:ext cx="39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292929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9144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3716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8288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2860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>
                  <a:schemeClr val="tx1"/>
                </a:buClr>
              </a:pPr>
              <a:r>
                <a:rPr lang="fr-FR" altLang="fr-FR" sz="2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Cryptographie classique</a:t>
              </a:r>
            </a:p>
          </p:txBody>
        </p:sp>
        <p:grpSp>
          <p:nvGrpSpPr>
            <p:cNvPr id="50" name="Group 18"/>
            <p:cNvGrpSpPr>
              <a:grpSpLocks/>
            </p:cNvGrpSpPr>
            <p:nvPr/>
          </p:nvGrpSpPr>
          <p:grpSpPr bwMode="auto">
            <a:xfrm>
              <a:off x="1342" y="2251"/>
              <a:ext cx="270" cy="270"/>
              <a:chOff x="4166" y="1706"/>
              <a:chExt cx="1252" cy="1252"/>
            </a:xfrm>
          </p:grpSpPr>
          <p:sp>
            <p:nvSpPr>
              <p:cNvPr id="52" name="Oval 19"/>
              <p:cNvSpPr>
                <a:spLocks noChangeArrowheads="1"/>
              </p:cNvSpPr>
              <p:nvPr/>
            </p:nvSpPr>
            <p:spPr bwMode="gray">
              <a:xfrm>
                <a:off x="4166" y="1706"/>
                <a:ext cx="1252" cy="1252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46275"/>
                      <a:invGamma/>
                    </a:srgbClr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53" name="Oval 20"/>
              <p:cNvSpPr>
                <a:spLocks noChangeArrowheads="1"/>
              </p:cNvSpPr>
              <p:nvPr/>
            </p:nvSpPr>
            <p:spPr bwMode="gray">
              <a:xfrm>
                <a:off x="4182" y="1713"/>
                <a:ext cx="1222" cy="122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D6E1E2">
                      <a:gamma/>
                      <a:tint val="34902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54" name="Oval 21"/>
              <p:cNvSpPr>
                <a:spLocks noChangeArrowheads="1"/>
              </p:cNvSpPr>
              <p:nvPr/>
            </p:nvSpPr>
            <p:spPr bwMode="gray">
              <a:xfrm>
                <a:off x="4195" y="1725"/>
                <a:ext cx="1162" cy="114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shade val="79216"/>
                      <a:invGamma/>
                    </a:srgbClr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  <p:sp>
            <p:nvSpPr>
              <p:cNvPr id="55" name="Oval 22"/>
              <p:cNvSpPr>
                <a:spLocks noChangeArrowheads="1"/>
              </p:cNvSpPr>
              <p:nvPr/>
            </p:nvSpPr>
            <p:spPr bwMode="gray">
              <a:xfrm>
                <a:off x="4263" y="1757"/>
                <a:ext cx="1033" cy="926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gamma/>
                      <a:tint val="0"/>
                      <a:invGamma/>
                    </a:srgbClr>
                  </a:gs>
                  <a:gs pos="100000">
                    <a:srgbClr val="D6E1E2">
                      <a:alpha val="3800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fr-FR"/>
              </a:p>
            </p:txBody>
          </p:sp>
        </p:grpSp>
        <p:sp>
          <p:nvSpPr>
            <p:cNvPr id="51" name="Text Box 23"/>
            <p:cNvSpPr txBox="1">
              <a:spLocks noChangeArrowheads="1"/>
            </p:cNvSpPr>
            <p:nvPr/>
          </p:nvSpPr>
          <p:spPr bwMode="auto">
            <a:xfrm>
              <a:off x="1351" y="2241"/>
              <a:ext cx="2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fr-FR" sz="2400" b="1" dirty="0" smtClean="0">
                  <a:solidFill>
                    <a:srgbClr val="000000"/>
                  </a:solidFill>
                </a:rPr>
                <a:t>2</a:t>
              </a:r>
              <a:endParaRPr lang="en-US" altLang="fr-FR" sz="24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24124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4625752" y="103566"/>
            <a:ext cx="3240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421196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asymétrique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20650" y="1360682"/>
            <a:ext cx="903649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000" dirty="0"/>
              <a:t>la </a:t>
            </a:r>
            <a:r>
              <a:rPr lang="fr-FR" sz="2000" b="1" dirty="0">
                <a:solidFill>
                  <a:srgbClr val="C00000"/>
                </a:solidFill>
              </a:rPr>
              <a:t>sécurité</a:t>
            </a:r>
            <a:r>
              <a:rPr lang="fr-FR" sz="2000" dirty="0">
                <a:solidFill>
                  <a:srgbClr val="C00000"/>
                </a:solidFill>
              </a:rPr>
              <a:t> de </a:t>
            </a:r>
            <a:r>
              <a:rPr lang="fr-FR" sz="2000" b="1" dirty="0">
                <a:solidFill>
                  <a:srgbClr val="C00000"/>
                </a:solidFill>
              </a:rPr>
              <a:t>l’information</a:t>
            </a:r>
            <a:r>
              <a:rPr lang="fr-FR" sz="2000" dirty="0">
                <a:solidFill>
                  <a:srgbClr val="C00000"/>
                </a:solidFill>
              </a:rPr>
              <a:t> </a:t>
            </a:r>
            <a:r>
              <a:rPr lang="fr-FR" sz="2000" dirty="0"/>
              <a:t>est l’un </a:t>
            </a:r>
            <a:r>
              <a:rPr lang="fr-FR" sz="2000" b="1" dirty="0"/>
              <a:t>pilier majeur </a:t>
            </a:r>
            <a:r>
              <a:rPr lang="fr-FR" sz="2000" dirty="0"/>
              <a:t>lors de la mise en place de tout </a:t>
            </a: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système d’information</a:t>
            </a:r>
            <a:r>
              <a:rPr lang="fr-FR" sz="2000" b="1" dirty="0"/>
              <a:t> </a:t>
            </a:r>
            <a:r>
              <a:rPr lang="fr-FR" sz="2000" dirty="0"/>
              <a:t>afin de préserver la ce dernier et d’éviter tout type </a:t>
            </a:r>
            <a:r>
              <a:rPr lang="fr-FR" sz="2000" b="1" dirty="0"/>
              <a:t>de pertes</a:t>
            </a:r>
            <a:r>
              <a:rPr lang="fr-FR" sz="2000" dirty="0"/>
              <a:t>, qu’elles </a:t>
            </a:r>
            <a:r>
              <a:rPr lang="fr-FR" sz="2000" b="1" dirty="0"/>
              <a:t>soient matérielles</a:t>
            </a:r>
            <a:r>
              <a:rPr lang="fr-FR" sz="2000" dirty="0"/>
              <a:t>, </a:t>
            </a:r>
            <a:r>
              <a:rPr lang="fr-FR" sz="2000" b="1" dirty="0"/>
              <a:t>immatérielles</a:t>
            </a:r>
            <a:r>
              <a:rPr lang="fr-FR" sz="2000" dirty="0"/>
              <a:t>, </a:t>
            </a:r>
            <a:r>
              <a:rPr lang="fr-FR" sz="2000" b="1" dirty="0"/>
              <a:t>financières</a:t>
            </a:r>
            <a:r>
              <a:rPr lang="fr-FR" sz="2000" dirty="0"/>
              <a:t> ou même </a:t>
            </a:r>
            <a:r>
              <a:rPr lang="fr-FR" sz="2000" b="1" dirty="0"/>
              <a:t>humaines</a:t>
            </a:r>
            <a:r>
              <a:rPr lang="fr-FR" sz="2000" dirty="0"/>
              <a:t>. </a:t>
            </a:r>
          </a:p>
          <a:p>
            <a:pPr algn="just"/>
            <a:r>
              <a:rPr lang="fr-FR" sz="2000" dirty="0"/>
              <a:t>Pour cela, et depuis très longtemps, des </a:t>
            </a:r>
            <a:r>
              <a:rPr lang="fr-FR" sz="2000" b="1" dirty="0"/>
              <a:t>mécanismes</a:t>
            </a:r>
            <a:r>
              <a:rPr lang="fr-FR" sz="2000" dirty="0"/>
              <a:t> et des </a:t>
            </a:r>
            <a:r>
              <a:rPr lang="fr-FR" sz="2000" b="1" dirty="0"/>
              <a:t>techniques</a:t>
            </a:r>
            <a:r>
              <a:rPr lang="fr-FR" sz="2000" dirty="0"/>
              <a:t> ont été mis en place ; parmi elles, les </a:t>
            </a:r>
            <a:r>
              <a:rPr lang="fr-FR" sz="2000" b="1" dirty="0"/>
              <a:t>techniques cryptographiques</a:t>
            </a:r>
            <a:r>
              <a:rPr lang="fr-FR" sz="2000" dirty="0"/>
              <a:t>. </a:t>
            </a:r>
          </a:p>
          <a:p>
            <a:pPr algn="just"/>
            <a:r>
              <a:rPr lang="fr-FR" sz="2000" b="1" dirty="0">
                <a:solidFill>
                  <a:srgbClr val="C00000"/>
                </a:solidFill>
              </a:rPr>
              <a:t>La cryptographie</a:t>
            </a:r>
            <a:r>
              <a:rPr lang="fr-FR" sz="2000" dirty="0"/>
              <a:t>, aussi appelée </a:t>
            </a:r>
            <a:r>
              <a:rPr lang="fr-FR" sz="2000" b="1" dirty="0"/>
              <a:t>science du secret</a:t>
            </a:r>
            <a:r>
              <a:rPr lang="fr-FR" sz="2000" dirty="0"/>
              <a:t>, ou </a:t>
            </a:r>
            <a:r>
              <a:rPr lang="fr-FR" sz="2000" b="1" dirty="0"/>
              <a:t>l’art de cacher</a:t>
            </a:r>
            <a:r>
              <a:rPr lang="fr-FR" sz="2000" dirty="0"/>
              <a:t>, est une </a:t>
            </a:r>
            <a:r>
              <a:rPr lang="fr-FR" sz="2000" b="1" dirty="0"/>
              <a:t>branche</a:t>
            </a:r>
            <a:r>
              <a:rPr lang="fr-FR" sz="2000" dirty="0"/>
              <a:t> d’une science plus large : </a:t>
            </a:r>
            <a:r>
              <a:rPr lang="fr-FR" sz="2000" b="1" dirty="0">
                <a:solidFill>
                  <a:srgbClr val="C00000"/>
                </a:solidFill>
              </a:rPr>
              <a:t>la cryptologie</a:t>
            </a:r>
            <a:r>
              <a:rPr lang="fr-FR" sz="2000" dirty="0"/>
              <a:t>. </a:t>
            </a:r>
            <a:endParaRPr lang="fr-FR" sz="2000" dirty="0" smtClean="0"/>
          </a:p>
          <a:p>
            <a:pPr algn="just"/>
            <a:r>
              <a:rPr lang="fr-FR" sz="2000" dirty="0" smtClean="0"/>
              <a:t>Elle </a:t>
            </a:r>
            <a:r>
              <a:rPr lang="fr-FR" sz="2000" dirty="0"/>
              <a:t>permet, la </a:t>
            </a:r>
            <a:r>
              <a:rPr lang="fr-FR" sz="2000" b="1" dirty="0">
                <a:solidFill>
                  <a:srgbClr val="C00000"/>
                </a:solidFill>
              </a:rPr>
              <a:t>cryptographie</a:t>
            </a:r>
            <a:r>
              <a:rPr lang="fr-FR" sz="2000" dirty="0"/>
              <a:t>, de réaliser </a:t>
            </a:r>
            <a:r>
              <a:rPr lang="fr-FR" sz="2000" b="1" dirty="0"/>
              <a:t>des transformations sur un message </a:t>
            </a:r>
            <a:r>
              <a:rPr lang="fr-FR" sz="2000" dirty="0"/>
              <a:t>de telle sorte qu’il devienne « </a:t>
            </a:r>
            <a:r>
              <a:rPr lang="fr-FR" sz="2000" b="1" dirty="0"/>
              <a:t>illisible</a:t>
            </a:r>
            <a:r>
              <a:rPr lang="fr-FR" sz="2000" dirty="0"/>
              <a:t> » pour les entités </a:t>
            </a:r>
            <a:r>
              <a:rPr lang="fr-FR" sz="2000" b="1" dirty="0"/>
              <a:t>non autorisées</a:t>
            </a:r>
            <a:r>
              <a:rPr lang="fr-FR" sz="2000" dirty="0"/>
              <a:t>. </a:t>
            </a:r>
          </a:p>
          <a:p>
            <a:pPr algn="just"/>
            <a:r>
              <a:rPr lang="fr-FR" sz="2000" b="1" dirty="0">
                <a:solidFill>
                  <a:srgbClr val="FF0000"/>
                </a:solidFill>
              </a:rPr>
              <a:t>Le présent document</a:t>
            </a:r>
            <a:r>
              <a:rPr lang="fr-FR" sz="2000" dirty="0"/>
              <a:t>, et sans prétende une complétude, aspire à présenter pour les étudiants de troisième année </a:t>
            </a:r>
            <a:r>
              <a:rPr lang="fr-FR" sz="2000" dirty="0" smtClean="0"/>
              <a:t>ingéniorat, </a:t>
            </a:r>
            <a:r>
              <a:rPr lang="fr-FR" sz="2000" dirty="0"/>
              <a:t>un support de cours leur permettant de mieux aborder les notions de la cryptographie et de comprendre certains mécanismes de base sur lesquels reposent les techniques de chiffrement. 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3146" y="73945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</a:t>
            </a:r>
            <a:r>
              <a:rPr lang="fr-FR" sz="2400" b="1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asymétrique ou cryptographie à clé publique</a:t>
            </a:r>
            <a:endParaRPr lang="fr-FR" sz="24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8374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3937648" y="58912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Besoin </a:t>
            </a:r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la sécurité </a:t>
            </a: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386620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au Cryptographie 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20650" y="1360682"/>
            <a:ext cx="903649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Le </a:t>
            </a:r>
            <a:r>
              <a:rPr lang="fr-FR" sz="2400" b="1" dirty="0"/>
              <a:t>besoin</a:t>
            </a:r>
            <a:r>
              <a:rPr lang="fr-FR" sz="2400" dirty="0"/>
              <a:t> de sécuriser l’information c’est fait sentir de plus en plus à force que de nouvelles applications liées au développement technologique apparaissaient : </a:t>
            </a:r>
            <a:r>
              <a:rPr lang="fr-FR" sz="2400" dirty="0">
                <a:solidFill>
                  <a:schemeClr val="accent5">
                    <a:lumMod val="50000"/>
                  </a:schemeClr>
                </a:solidFill>
              </a:rPr>
              <a:t>e-learning, e-commerce, e-</a:t>
            </a:r>
            <a:r>
              <a:rPr lang="fr-FR" sz="2400" dirty="0" err="1">
                <a:solidFill>
                  <a:schemeClr val="accent5">
                    <a:lumMod val="50000"/>
                  </a:schemeClr>
                </a:solidFill>
              </a:rPr>
              <a:t>health</a:t>
            </a:r>
            <a:r>
              <a:rPr lang="fr-FR" sz="2400" dirty="0"/>
              <a:t>…sans oublier la protection de la propriété </a:t>
            </a:r>
            <a:r>
              <a:rPr lang="fr-FR" sz="2400" dirty="0">
                <a:solidFill>
                  <a:srgbClr val="C00000"/>
                </a:solidFill>
              </a:rPr>
              <a:t>intellectuelle</a:t>
            </a:r>
            <a:r>
              <a:rPr lang="fr-FR" sz="2400" dirty="0"/>
              <a:t>, la </a:t>
            </a:r>
            <a:r>
              <a:rPr lang="fr-FR" sz="2400" dirty="0">
                <a:solidFill>
                  <a:srgbClr val="C00000"/>
                </a:solidFill>
              </a:rPr>
              <a:t>politique</a:t>
            </a:r>
            <a:r>
              <a:rPr lang="fr-FR" sz="2400" dirty="0"/>
              <a:t>, l</a:t>
            </a:r>
            <a:r>
              <a:rPr lang="fr-FR" sz="2400" dirty="0">
                <a:solidFill>
                  <a:srgbClr val="C00000"/>
                </a:solidFill>
              </a:rPr>
              <a:t>’armement</a:t>
            </a:r>
            <a:r>
              <a:rPr lang="fr-FR" sz="2400" dirty="0"/>
              <a:t> …tout cette panoplie d’applications et la diversité d’information qui y est manipulée a fait qu’un groupe de participants à une communication veulent maintenir les </a:t>
            </a: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informations</a:t>
            </a:r>
            <a:r>
              <a:rPr lang="fr-FR" sz="2400" dirty="0"/>
              <a:t> qui </a:t>
            </a: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circulent au sein du groupe </a:t>
            </a:r>
            <a:r>
              <a:rPr lang="fr-FR" sz="2400" dirty="0"/>
              <a:t>à l’abri de </a:t>
            </a: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tout intrus </a:t>
            </a:r>
            <a:r>
              <a:rPr lang="fr-FR" sz="2400" dirty="0"/>
              <a:t>pouvant représenter une éventuelle </a:t>
            </a: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menaces</a:t>
            </a:r>
            <a:r>
              <a:rPr lang="fr-FR" sz="2400" dirty="0"/>
              <a:t>. Une menace qui se traduirait par un </a:t>
            </a:r>
            <a:r>
              <a:rPr lang="fr-FR" sz="2400" dirty="0">
                <a:solidFill>
                  <a:srgbClr val="C00000"/>
                </a:solidFill>
              </a:rPr>
              <a:t>vol</a:t>
            </a:r>
            <a:r>
              <a:rPr lang="fr-FR" sz="2400" dirty="0"/>
              <a:t> ou un </a:t>
            </a:r>
            <a:r>
              <a:rPr lang="fr-FR" sz="2400" dirty="0">
                <a:solidFill>
                  <a:srgbClr val="C00000"/>
                </a:solidFill>
              </a:rPr>
              <a:t>espionnage</a:t>
            </a:r>
            <a:r>
              <a:rPr lang="fr-FR" sz="2400" dirty="0"/>
              <a:t>, </a:t>
            </a:r>
            <a:r>
              <a:rPr lang="fr-FR" sz="2400" dirty="0">
                <a:solidFill>
                  <a:srgbClr val="C00000"/>
                </a:solidFill>
              </a:rPr>
              <a:t>modification</a:t>
            </a:r>
            <a:r>
              <a:rPr lang="fr-FR" sz="2400" dirty="0"/>
              <a:t> et/ou </a:t>
            </a:r>
            <a:r>
              <a:rPr lang="fr-FR" sz="2400" dirty="0">
                <a:solidFill>
                  <a:srgbClr val="C00000"/>
                </a:solidFill>
              </a:rPr>
              <a:t>falsification</a:t>
            </a:r>
            <a:r>
              <a:rPr lang="fr-FR" sz="2400" dirty="0"/>
              <a:t> de </a:t>
            </a:r>
            <a:r>
              <a:rPr lang="fr-FR" sz="2400" dirty="0">
                <a:solidFill>
                  <a:srgbClr val="C00000"/>
                </a:solidFill>
              </a:rPr>
              <a:t>l’information</a:t>
            </a:r>
            <a:r>
              <a:rPr lang="fr-FR" sz="2400" dirty="0"/>
              <a:t>,…les </a:t>
            </a:r>
            <a:r>
              <a:rPr lang="fr-FR" sz="2400" dirty="0">
                <a:solidFill>
                  <a:srgbClr val="C00000"/>
                </a:solidFill>
              </a:rPr>
              <a:t>conséquences</a:t>
            </a:r>
            <a:r>
              <a:rPr lang="fr-FR" sz="2400" dirty="0"/>
              <a:t>, </a:t>
            </a:r>
            <a:r>
              <a:rPr lang="fr-FR" sz="2400" dirty="0">
                <a:solidFill>
                  <a:srgbClr val="C00000"/>
                </a:solidFill>
              </a:rPr>
              <a:t>humaines</a:t>
            </a:r>
            <a:r>
              <a:rPr lang="fr-FR" sz="2400" dirty="0"/>
              <a:t> et/ou </a:t>
            </a:r>
            <a:r>
              <a:rPr lang="fr-FR" sz="2400" dirty="0">
                <a:solidFill>
                  <a:srgbClr val="C00000"/>
                </a:solidFill>
              </a:rPr>
              <a:t>matérielles</a:t>
            </a:r>
            <a:r>
              <a:rPr lang="fr-FR" sz="2400" dirty="0"/>
              <a:t>, peuvent être alors très lourdes. 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3146" y="73945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5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Sécurité et le besoin de la sécurité </a:t>
            </a:r>
          </a:p>
        </p:txBody>
      </p:sp>
    </p:spTree>
    <p:extLst>
      <p:ext uri="{BB962C8B-B14F-4D97-AF65-F5344CB8AC3E}">
        <p14:creationId xmlns:p14="http://schemas.microsoft.com/office/powerpoint/2010/main" val="310123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4788024" y="64476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Besoin </a:t>
            </a:r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la sécurité 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2" y="-153"/>
            <a:ext cx="4226248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au Cryptographie </a:t>
            </a:r>
            <a:endParaRPr lang="fr-F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5496" y="1111384"/>
            <a:ext cx="903649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/>
              <a:t>Par le terme « </a:t>
            </a:r>
            <a:r>
              <a:rPr lang="fr-FR" sz="2400" b="1" dirty="0">
                <a:solidFill>
                  <a:srgbClr val="C00000"/>
                </a:solidFill>
              </a:rPr>
              <a:t>mesures techniques </a:t>
            </a:r>
            <a:r>
              <a:rPr lang="fr-FR" sz="2400" dirty="0"/>
              <a:t>» on fait référence aux mesures où l’homme n’intervient nullement ou presque, car c’est bien l’homme qui mettra en place ces mesures là. 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Ces </a:t>
            </a:r>
            <a:r>
              <a:rPr lang="fr-FR" sz="2400" b="1" dirty="0"/>
              <a:t>mesures</a:t>
            </a:r>
            <a:r>
              <a:rPr lang="fr-FR" sz="2400" dirty="0"/>
              <a:t> sont mises en place dans le but d’assurer </a:t>
            </a:r>
            <a:r>
              <a:rPr lang="fr-FR" sz="2400" b="1" dirty="0"/>
              <a:t>les quatre piliers de la sécurité</a:t>
            </a:r>
            <a:r>
              <a:rPr lang="fr-FR" sz="2400" dirty="0"/>
              <a:t>, reconnus dans la littérature du domaine, en l’occurrence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confidentialité ; l’intégrité ;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l’authentification; la non-répudiation et la disponibilité .</a:t>
            </a:r>
            <a:r>
              <a:rPr lang="fr-FR" sz="2400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fr-FR" sz="2400" b="1" dirty="0"/>
              <a:t>Pour sécurisé les échanges et réponde à ces besoins utiliser la cryptographie .</a:t>
            </a:r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  <p:sp>
        <p:nvSpPr>
          <p:cNvPr id="6" name="ZoneTexte 5"/>
          <p:cNvSpPr txBox="1"/>
          <p:nvPr/>
        </p:nvSpPr>
        <p:spPr>
          <a:xfrm>
            <a:off x="13146" y="62068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5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Objectifs de la sécurité</a:t>
            </a:r>
          </a:p>
        </p:txBody>
      </p:sp>
    </p:spTree>
    <p:extLst>
      <p:ext uri="{BB962C8B-B14F-4D97-AF65-F5344CB8AC3E}">
        <p14:creationId xmlns:p14="http://schemas.microsoft.com/office/powerpoint/2010/main" val="242237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4644008" y="44624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Besoins </a:t>
            </a:r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la sécurité </a:t>
            </a: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4658296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 Cryptographie</a:t>
            </a:r>
            <a:endParaRPr lang="fr-FR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5496" y="1111384"/>
            <a:ext cx="90364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200" dirty="0"/>
              <a:t>Pourquoi la </a:t>
            </a:r>
            <a:r>
              <a:rPr lang="fr-FR" sz="2200" b="1" dirty="0"/>
              <a:t>cryptographie</a:t>
            </a:r>
            <a:r>
              <a:rPr lang="fr-FR" sz="2200" dirty="0"/>
              <a:t> est-elle </a:t>
            </a:r>
            <a:r>
              <a:rPr lang="fr-FR" sz="2200" b="1" dirty="0">
                <a:solidFill>
                  <a:schemeClr val="accent2">
                    <a:lumMod val="75000"/>
                  </a:schemeClr>
                </a:solidFill>
              </a:rPr>
              <a:t>un </a:t>
            </a:r>
            <a:r>
              <a:rPr lang="fr-FR" sz="2200" b="1" dirty="0" smtClean="0">
                <a:solidFill>
                  <a:schemeClr val="accent2">
                    <a:lumMod val="75000"/>
                  </a:schemeClr>
                </a:solidFill>
              </a:rPr>
              <a:t>élément clé</a:t>
            </a:r>
            <a:r>
              <a:rPr lang="fr-FR" sz="22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2200" dirty="0"/>
              <a:t>dans </a:t>
            </a:r>
            <a:r>
              <a:rPr lang="fr-FR" sz="2200" dirty="0" smtClean="0"/>
              <a:t>la </a:t>
            </a:r>
            <a:r>
              <a:rPr lang="fr-FR" sz="2200" b="1" dirty="0" smtClean="0">
                <a:solidFill>
                  <a:schemeClr val="accent2">
                    <a:lumMod val="75000"/>
                  </a:schemeClr>
                </a:solidFill>
              </a:rPr>
              <a:t>Sécurité</a:t>
            </a:r>
            <a:r>
              <a:rPr lang="fr-FR" sz="2200" dirty="0" smtClean="0"/>
              <a:t> ?</a:t>
            </a:r>
            <a:endParaRPr lang="fr-FR" sz="2200" dirty="0"/>
          </a:p>
          <a:p>
            <a:pPr>
              <a:lnSpc>
                <a:spcPct val="150000"/>
              </a:lnSpc>
            </a:pPr>
            <a:r>
              <a:rPr lang="fr-FR" sz="2200" dirty="0"/>
              <a:t>→ Elle permet d’assurer 4 des 5 objectifs de la </a:t>
            </a:r>
            <a:r>
              <a:rPr lang="fr-FR" sz="2200" dirty="0" smtClean="0"/>
              <a:t>sécurité:</a:t>
            </a:r>
            <a:endParaRPr lang="fr-FR" sz="2200" dirty="0"/>
          </a:p>
          <a:p>
            <a:pPr marL="714375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b="1" dirty="0"/>
              <a:t>La </a:t>
            </a:r>
            <a:r>
              <a:rPr lang="fr-FR" sz="2200" b="1" dirty="0" smtClean="0"/>
              <a:t>confidentialité.</a:t>
            </a:r>
            <a:endParaRPr lang="fr-FR" sz="2200" b="1" dirty="0"/>
          </a:p>
          <a:p>
            <a:pPr marL="714375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b="1" dirty="0" smtClean="0"/>
              <a:t>L’intégrité.</a:t>
            </a:r>
            <a:endParaRPr lang="fr-FR" sz="2200" b="1" dirty="0"/>
          </a:p>
          <a:p>
            <a:pPr marL="714375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b="1" dirty="0" smtClean="0"/>
              <a:t>L’authenticité.</a:t>
            </a:r>
            <a:endParaRPr lang="fr-FR" sz="2200" b="1" dirty="0"/>
          </a:p>
          <a:p>
            <a:pPr marL="714375" indent="-35718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b="1" dirty="0" smtClean="0"/>
              <a:t>Responsabilité </a:t>
            </a:r>
            <a:r>
              <a:rPr lang="fr-FR" sz="2200" b="1" dirty="0"/>
              <a:t>(</a:t>
            </a:r>
            <a:r>
              <a:rPr lang="fr-FR" sz="2200" b="1" dirty="0" smtClean="0"/>
              <a:t>non-répudiation</a:t>
            </a:r>
            <a:r>
              <a:rPr lang="fr-FR" sz="2200" b="1" dirty="0"/>
              <a:t>).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3146" y="62068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</a:rPr>
              <a:t>Objectifs de la sécurité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2492896"/>
            <a:ext cx="2989865" cy="282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63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/>
          <p:cNvSpPr txBox="1"/>
          <p:nvPr/>
        </p:nvSpPr>
        <p:spPr>
          <a:xfrm>
            <a:off x="362544" y="764704"/>
            <a:ext cx="8784976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Confidentialité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Il </a:t>
            </a:r>
            <a:r>
              <a:rPr lang="fr-FR" sz="2800" dirty="0"/>
              <a:t>s’agit de garantir </a:t>
            </a:r>
            <a:r>
              <a:rPr lang="fr-FR" sz="2800" b="1" dirty="0"/>
              <a:t>le secret de l’information </a:t>
            </a:r>
            <a:r>
              <a:rPr lang="fr-FR" sz="2800" dirty="0"/>
              <a:t>transmise ou archivée.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Seuls </a:t>
            </a:r>
            <a:r>
              <a:rPr lang="fr-FR" sz="2800" dirty="0"/>
              <a:t>les utilisateurs autorisés doivent y avoir accès.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b="1" dirty="0" smtClean="0">
                <a:solidFill>
                  <a:srgbClr val="C00000"/>
                </a:solidFill>
              </a:rPr>
              <a:t>Solution </a:t>
            </a:r>
            <a:r>
              <a:rPr lang="fr-FR" sz="2800" b="1" dirty="0">
                <a:solidFill>
                  <a:srgbClr val="C00000"/>
                </a:solidFill>
              </a:rPr>
              <a:t>dans le monde réel</a:t>
            </a:r>
            <a:r>
              <a:rPr lang="fr-FR" sz="2800" b="1" dirty="0"/>
              <a:t> </a:t>
            </a:r>
          </a:p>
          <a:p>
            <a:pPr marL="363538"/>
            <a:r>
              <a:rPr lang="fr-FR" sz="2800" dirty="0"/>
              <a:t>◦ Utilisation </a:t>
            </a:r>
            <a:r>
              <a:rPr lang="fr-FR" sz="2800" b="1" dirty="0"/>
              <a:t>d'enveloppes scellées </a:t>
            </a:r>
          </a:p>
          <a:p>
            <a:pPr marL="363538"/>
            <a:r>
              <a:rPr lang="fr-FR" sz="2800" dirty="0"/>
              <a:t>◦ </a:t>
            </a:r>
            <a:r>
              <a:rPr lang="fr-FR" sz="2800" b="1" dirty="0"/>
              <a:t>Verrouillage avec clés </a:t>
            </a:r>
          </a:p>
          <a:p>
            <a:pPr marL="363538">
              <a:tabLst>
                <a:tab pos="444500" algn="l"/>
              </a:tabLst>
            </a:pPr>
            <a:r>
              <a:rPr lang="fr-FR" sz="2800" dirty="0"/>
              <a:t>◦ Mesures de </a:t>
            </a:r>
            <a:r>
              <a:rPr lang="fr-FR" sz="2800" b="1" dirty="0"/>
              <a:t>Sécurité physique</a:t>
            </a:r>
            <a:r>
              <a:rPr lang="fr-FR" sz="2800" dirty="0"/>
              <a:t> </a:t>
            </a:r>
          </a:p>
          <a:p>
            <a:pPr marL="363538"/>
            <a:r>
              <a:rPr lang="fr-FR" sz="2800" dirty="0"/>
              <a:t>◦ Utilisation de </a:t>
            </a:r>
            <a:r>
              <a:rPr lang="fr-FR" sz="2800" b="1" dirty="0"/>
              <a:t>l'encre invisible </a:t>
            </a:r>
          </a:p>
          <a:p>
            <a:pPr marL="363538"/>
            <a:r>
              <a:rPr lang="fr-FR" sz="2800" dirty="0"/>
              <a:t>◦ </a:t>
            </a:r>
            <a:r>
              <a:rPr lang="fr-FR" sz="2800" dirty="0" err="1" smtClean="0"/>
              <a:t>etc</a:t>
            </a:r>
            <a:endParaRPr lang="fr-FR" sz="2800" dirty="0" smtClean="0"/>
          </a:p>
          <a:p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4716016" y="44624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Besoins de la sécurité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-14288" y="-13600"/>
            <a:ext cx="4514280" cy="562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au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Cryptographie</a:t>
            </a:r>
          </a:p>
          <a:p>
            <a:pPr algn="ctr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8510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/>
          <p:cNvSpPr/>
          <p:nvPr/>
        </p:nvSpPr>
        <p:spPr>
          <a:xfrm>
            <a:off x="107504" y="980728"/>
            <a:ext cx="8784976" cy="543379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L’authentification: </a:t>
            </a:r>
          </a:p>
          <a:p>
            <a:pPr marL="363538" indent="-3635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 smtClean="0"/>
              <a:t>L’</a:t>
            </a:r>
            <a:r>
              <a:rPr lang="fr-FR" sz="2400" b="1" dirty="0" smtClean="0"/>
              <a:t>émetteur</a:t>
            </a:r>
            <a:r>
              <a:rPr lang="fr-FR" sz="2400" dirty="0" smtClean="0"/>
              <a:t> </a:t>
            </a:r>
            <a:r>
              <a:rPr lang="fr-FR" sz="2400" dirty="0"/>
              <a:t>est sûr de l’</a:t>
            </a:r>
            <a:r>
              <a:rPr lang="fr-FR" sz="2400" b="1" dirty="0"/>
              <a:t>identité</a:t>
            </a:r>
            <a:r>
              <a:rPr lang="fr-FR" sz="2400" dirty="0"/>
              <a:t> du </a:t>
            </a:r>
            <a:r>
              <a:rPr lang="fr-FR" sz="2400" b="1" dirty="0"/>
              <a:t>destinataire</a:t>
            </a:r>
            <a:r>
              <a:rPr lang="fr-FR" sz="2400" dirty="0"/>
              <a:t> c’est à dire que seul le </a:t>
            </a:r>
            <a:r>
              <a:rPr lang="fr-FR" sz="2400" b="1" dirty="0"/>
              <a:t>destinataire</a:t>
            </a:r>
            <a:r>
              <a:rPr lang="fr-FR" sz="2400" dirty="0"/>
              <a:t> pourra </a:t>
            </a:r>
            <a:r>
              <a:rPr lang="fr-FR" sz="2400" b="1" dirty="0"/>
              <a:t>prendre connaissance </a:t>
            </a:r>
            <a:r>
              <a:rPr lang="fr-FR" sz="2400" dirty="0"/>
              <a:t>du message car il est </a:t>
            </a:r>
            <a:r>
              <a:rPr lang="fr-FR" sz="2400" b="1" dirty="0"/>
              <a:t>le seul à disposer de la clef de déchiffrement</a:t>
            </a:r>
            <a:r>
              <a:rPr lang="fr-FR" sz="2400" dirty="0"/>
              <a:t>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 smtClean="0"/>
              <a:t>Le </a:t>
            </a:r>
            <a:r>
              <a:rPr lang="fr-FR" sz="2400" b="1" dirty="0"/>
              <a:t>destinataire</a:t>
            </a:r>
            <a:r>
              <a:rPr lang="fr-FR" sz="2400" dirty="0"/>
              <a:t> est sûr de l’</a:t>
            </a:r>
            <a:r>
              <a:rPr lang="fr-FR" sz="2400" b="1" dirty="0"/>
              <a:t>identité</a:t>
            </a:r>
            <a:r>
              <a:rPr lang="fr-FR" sz="2400" dirty="0"/>
              <a:t> de l’</a:t>
            </a:r>
            <a:r>
              <a:rPr lang="fr-FR" sz="2400" b="1" dirty="0"/>
              <a:t>émetteur</a:t>
            </a:r>
            <a:r>
              <a:rPr lang="fr-FR" sz="2400" dirty="0"/>
              <a:t>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 smtClean="0"/>
              <a:t>Techniques </a:t>
            </a:r>
            <a:r>
              <a:rPr lang="fr-FR" sz="2400" b="1" dirty="0"/>
              <a:t>traditionnelles:</a:t>
            </a:r>
            <a:r>
              <a:rPr lang="fr-FR" sz="2400" dirty="0"/>
              <a:t> 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◦ </a:t>
            </a:r>
            <a:r>
              <a:rPr lang="fr-FR" sz="2400" dirty="0" err="1"/>
              <a:t>Some</a:t>
            </a:r>
            <a:r>
              <a:rPr lang="fr-FR" sz="2400" dirty="0"/>
              <a:t> </a:t>
            </a:r>
            <a:r>
              <a:rPr lang="fr-FR" sz="2400" dirty="0" err="1"/>
              <a:t>Thing</a:t>
            </a:r>
            <a:r>
              <a:rPr lang="fr-FR" sz="2400" dirty="0"/>
              <a:t> </a:t>
            </a:r>
            <a:r>
              <a:rPr lang="fr-FR" sz="2400" dirty="0" err="1"/>
              <a:t>you</a:t>
            </a:r>
            <a:r>
              <a:rPr lang="fr-FR" sz="2400" dirty="0"/>
              <a:t> Know </a:t>
            </a:r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Mot de passe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◦ </a:t>
            </a:r>
            <a:r>
              <a:rPr lang="fr-FR" sz="2400" dirty="0" err="1"/>
              <a:t>Some</a:t>
            </a:r>
            <a:r>
              <a:rPr lang="fr-FR" sz="2400" dirty="0"/>
              <a:t> </a:t>
            </a:r>
            <a:r>
              <a:rPr lang="fr-FR" sz="2400" dirty="0" err="1"/>
              <a:t>Thing</a:t>
            </a:r>
            <a:r>
              <a:rPr lang="fr-FR" sz="2400" dirty="0"/>
              <a:t> </a:t>
            </a:r>
            <a:r>
              <a:rPr lang="fr-FR" sz="2400" dirty="0" err="1"/>
              <a:t>you</a:t>
            </a:r>
            <a:r>
              <a:rPr lang="fr-FR" sz="2400" dirty="0"/>
              <a:t> Have </a:t>
            </a:r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Carte à puce</a:t>
            </a:r>
          </a:p>
          <a:p>
            <a:pPr>
              <a:lnSpc>
                <a:spcPct val="150000"/>
              </a:lnSpc>
            </a:pPr>
            <a:r>
              <a:rPr lang="fr-FR" sz="2400" dirty="0"/>
              <a:t>◦ </a:t>
            </a:r>
            <a:r>
              <a:rPr lang="fr-FR" sz="2400" dirty="0" err="1"/>
              <a:t>Some</a:t>
            </a:r>
            <a:r>
              <a:rPr lang="fr-FR" sz="2400" dirty="0"/>
              <a:t> </a:t>
            </a:r>
            <a:r>
              <a:rPr lang="fr-FR" sz="2400" dirty="0" err="1"/>
              <a:t>Thing</a:t>
            </a:r>
            <a:r>
              <a:rPr lang="fr-FR" sz="2400" dirty="0"/>
              <a:t> </a:t>
            </a:r>
            <a:r>
              <a:rPr lang="fr-FR" sz="2400" dirty="0" err="1"/>
              <a:t>you</a:t>
            </a:r>
            <a:r>
              <a:rPr lang="fr-FR" sz="2400" dirty="0"/>
              <a:t> Are </a:t>
            </a:r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empreinte </a:t>
            </a:r>
            <a:r>
              <a:rPr lang="fr-FR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digitale</a:t>
            </a:r>
          </a:p>
          <a:p>
            <a:pPr>
              <a:lnSpc>
                <a:spcPct val="150000"/>
              </a:lnSpc>
            </a:pPr>
            <a:endParaRPr lang="fr-FR" sz="24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716016" y="44624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Besoins de la sécurité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-14288" y="-13600"/>
            <a:ext cx="4514280" cy="562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au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Cryptographie</a:t>
            </a:r>
          </a:p>
          <a:p>
            <a:pPr algn="ctr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3976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/>
          <p:cNvSpPr/>
          <p:nvPr/>
        </p:nvSpPr>
        <p:spPr>
          <a:xfrm>
            <a:off x="179512" y="1196752"/>
            <a:ext cx="8784976" cy="547260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L’Intégrité</a:t>
            </a:r>
            <a:endParaRPr lang="fr-FR" sz="2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 smtClean="0"/>
              <a:t>Ensemble </a:t>
            </a:r>
            <a:r>
              <a:rPr lang="fr-FR" sz="2400" dirty="0"/>
              <a:t>de moyens et techniques permettant de 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restreindre la modification des données</a:t>
            </a:r>
            <a:r>
              <a:rPr lang="fr-FR" sz="2400" b="1" dirty="0"/>
              <a:t> </a:t>
            </a:r>
            <a:r>
              <a:rPr lang="fr-FR" sz="2400" dirty="0"/>
              <a:t>aux personnes </a:t>
            </a:r>
            <a:r>
              <a:rPr lang="fr-FR" sz="2400" dirty="0" smtClean="0"/>
              <a:t>autorisées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 smtClean="0"/>
              <a:t>Il </a:t>
            </a:r>
            <a:r>
              <a:rPr lang="fr-FR" sz="2400" dirty="0"/>
              <a:t>s’agit de </a:t>
            </a:r>
            <a:r>
              <a:rPr lang="fr-FR" sz="2400" b="1" dirty="0"/>
              <a:t>préserver</a:t>
            </a:r>
            <a:r>
              <a:rPr lang="fr-FR" sz="2400" dirty="0"/>
              <a:t> les </a:t>
            </a:r>
            <a:r>
              <a:rPr lang="fr-FR" sz="2400" b="1" dirty="0"/>
              <a:t>informations</a:t>
            </a:r>
            <a:r>
              <a:rPr lang="fr-FR" sz="2400" dirty="0"/>
              <a:t> contre les </a:t>
            </a:r>
            <a:r>
              <a:rPr lang="fr-FR" sz="2400" b="1" dirty="0"/>
              <a:t>modifications</a:t>
            </a:r>
            <a:r>
              <a:rPr lang="fr-FR" sz="2400" dirty="0"/>
              <a:t>. </a:t>
            </a:r>
            <a:endParaRPr lang="fr-FR" sz="24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 smtClean="0"/>
              <a:t>"</a:t>
            </a:r>
            <a:r>
              <a:rPr lang="fr-FR" sz="2400" dirty="0"/>
              <a:t>L’</a:t>
            </a:r>
            <a:r>
              <a:rPr lang="fr-FR" sz="2400" b="1" dirty="0"/>
              <a:t>intégrité</a:t>
            </a:r>
            <a:r>
              <a:rPr lang="fr-FR" sz="2400" dirty="0"/>
              <a:t> est la </a:t>
            </a:r>
            <a:r>
              <a:rPr lang="fr-FR" sz="2400" b="1" dirty="0"/>
              <a:t>prévention</a:t>
            </a:r>
            <a:r>
              <a:rPr lang="fr-FR" sz="2400" dirty="0"/>
              <a:t> d’une </a:t>
            </a:r>
            <a:r>
              <a:rPr lang="fr-FR" sz="2400" b="1" dirty="0"/>
              <a:t>modification</a:t>
            </a:r>
            <a:r>
              <a:rPr lang="fr-FR" sz="2400" dirty="0"/>
              <a:t> </a:t>
            </a:r>
            <a:r>
              <a:rPr lang="fr-FR" sz="2400" b="1" dirty="0"/>
              <a:t>non autorisée de l’information"</a:t>
            </a:r>
            <a:r>
              <a:rPr lang="fr-FR" sz="2400" dirty="0"/>
              <a:t> </a:t>
            </a:r>
            <a:endParaRPr lang="fr-FR" sz="24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 smtClean="0"/>
              <a:t>Avec </a:t>
            </a:r>
            <a:r>
              <a:rPr lang="fr-FR" sz="2400" dirty="0"/>
              <a:t>les techniques actuelles, cette fonction est réalisée par </a:t>
            </a:r>
            <a:r>
              <a:rPr lang="fr-FR" sz="2400" b="1" dirty="0"/>
              <a:t>la signature numérique. </a:t>
            </a:r>
          </a:p>
          <a:p>
            <a:pPr>
              <a:lnSpc>
                <a:spcPct val="150000"/>
              </a:lnSpc>
            </a:pPr>
            <a:endParaRPr lang="fr-FR" sz="2400" dirty="0" smtClean="0"/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  <p:sp>
        <p:nvSpPr>
          <p:cNvPr id="10" name="ZoneTexte 9"/>
          <p:cNvSpPr txBox="1"/>
          <p:nvPr/>
        </p:nvSpPr>
        <p:spPr>
          <a:xfrm>
            <a:off x="4716016" y="44624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Besoins de la sécurité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-14288" y="-13600"/>
            <a:ext cx="4514280" cy="562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au Cryptographie</a:t>
            </a:r>
            <a:endParaRPr lang="fr-FR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3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/>
          <p:cNvSpPr/>
          <p:nvPr/>
        </p:nvSpPr>
        <p:spPr>
          <a:xfrm>
            <a:off x="251520" y="548680"/>
            <a:ext cx="7992888" cy="554461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fr-FR" sz="2400" b="1" dirty="0">
                <a:solidFill>
                  <a:srgbClr val="C00000"/>
                </a:solidFill>
              </a:rPr>
              <a:t>Non-Répudiation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dirty="0" smtClean="0"/>
              <a:t>Ensemble </a:t>
            </a:r>
            <a:r>
              <a:rPr lang="fr-FR" sz="2400" dirty="0"/>
              <a:t>de moyens et techniques permettant de prouver la participation </a:t>
            </a:r>
            <a:r>
              <a:rPr lang="fr-FR" sz="2400" dirty="0" smtClean="0"/>
              <a:t>d'une </a:t>
            </a:r>
            <a:r>
              <a:rPr lang="fr-FR" sz="2400" dirty="0"/>
              <a:t>entité dans un échange de données </a:t>
            </a:r>
            <a:endParaRPr lang="fr-FR" sz="24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 smtClean="0"/>
              <a:t>Technique </a:t>
            </a:r>
            <a:r>
              <a:rPr lang="fr-FR" sz="2400" b="1" dirty="0"/>
              <a:t>traditionnelle </a:t>
            </a:r>
            <a:r>
              <a:rPr lang="fr-FR" sz="2400" dirty="0"/>
              <a:t>: </a:t>
            </a:r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la signature </a:t>
            </a:r>
            <a:r>
              <a:rPr lang="fr-FR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légalisée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1" dirty="0" smtClean="0"/>
              <a:t>Non </a:t>
            </a:r>
            <a:r>
              <a:rPr lang="fr-FR" sz="2400" b="1" dirty="0"/>
              <a:t>répudiation</a:t>
            </a:r>
            <a:r>
              <a:rPr lang="fr-FR" sz="2400" dirty="0"/>
              <a:t> : consiste à garantir qu’un correspondant ne puisse nier qu’un message lui a été envoyé ou il a envoyer lui-même un message</a:t>
            </a:r>
            <a:r>
              <a:rPr lang="fr-FR" sz="2400" dirty="0" smtClean="0"/>
              <a:t>.</a:t>
            </a:r>
          </a:p>
          <a:p>
            <a:endParaRPr lang="fr-FR" sz="2400" dirty="0"/>
          </a:p>
          <a:p>
            <a:endParaRPr lang="fr-FR" sz="2400" dirty="0"/>
          </a:p>
        </p:txBody>
      </p:sp>
      <p:sp>
        <p:nvSpPr>
          <p:cNvPr id="9" name="ZoneTexte 8"/>
          <p:cNvSpPr txBox="1"/>
          <p:nvPr/>
        </p:nvSpPr>
        <p:spPr>
          <a:xfrm>
            <a:off x="4716016" y="44624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Besoins de la sécurité 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-14288" y="-13600"/>
            <a:ext cx="4514280" cy="562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au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Cryptographie</a:t>
            </a:r>
          </a:p>
          <a:p>
            <a:pPr algn="ctr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50770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836712"/>
            <a:ext cx="91440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800" dirty="0" smtClean="0"/>
              <a:t>• </a:t>
            </a:r>
            <a:r>
              <a:rPr lang="fr-FR" sz="2800" dirty="0"/>
              <a:t>Problèmes dus à des failles notamment dans les protocoles de communication </a:t>
            </a:r>
            <a:endParaRPr lang="fr-FR" sz="2800" dirty="0" smtClean="0"/>
          </a:p>
          <a:p>
            <a:pPr algn="just"/>
            <a:r>
              <a:rPr lang="fr-FR" sz="2800" dirty="0" smtClean="0"/>
              <a:t>◦ </a:t>
            </a:r>
            <a:r>
              <a:rPr lang="fr-FR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Toute </a:t>
            </a:r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information</a:t>
            </a:r>
            <a:r>
              <a:rPr lang="fr-FR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circulant sur </a:t>
            </a:r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Internet</a:t>
            </a:r>
            <a:r>
              <a:rPr lang="fr-FR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peut être </a:t>
            </a:r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capturée</a:t>
            </a:r>
            <a:r>
              <a:rPr lang="fr-FR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et </a:t>
            </a:r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enregistrée et/ou modifiée </a:t>
            </a:r>
            <a:endParaRPr lang="fr-FR" sz="28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fr-FR" sz="2400" dirty="0" smtClean="0">
                <a:solidFill>
                  <a:srgbClr val="C00000"/>
                </a:solidFill>
              </a:rPr>
              <a:t>Problème </a:t>
            </a:r>
            <a:r>
              <a:rPr lang="fr-FR" sz="2400" dirty="0">
                <a:solidFill>
                  <a:srgbClr val="C00000"/>
                </a:solidFill>
              </a:rPr>
              <a:t>de confidentialité et </a:t>
            </a:r>
            <a:r>
              <a:rPr lang="fr-FR" sz="2400" dirty="0" smtClean="0">
                <a:solidFill>
                  <a:srgbClr val="C00000"/>
                </a:solidFill>
              </a:rPr>
              <a:t>d'intégrité</a:t>
            </a:r>
          </a:p>
          <a:p>
            <a:pPr algn="just"/>
            <a:endParaRPr lang="fr-FR" sz="2400" dirty="0" smtClean="0">
              <a:solidFill>
                <a:srgbClr val="C00000"/>
              </a:solidFill>
            </a:endParaRPr>
          </a:p>
          <a:p>
            <a:pPr algn="just"/>
            <a:r>
              <a:rPr lang="fr-FR" sz="2800" dirty="0" smtClean="0"/>
              <a:t> </a:t>
            </a:r>
            <a:r>
              <a:rPr lang="fr-FR" sz="2800" dirty="0"/>
              <a:t>◦ </a:t>
            </a:r>
            <a:r>
              <a:rPr lang="fr-FR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Toute personne peut </a:t>
            </a:r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falsifier son adresse IP</a:t>
            </a:r>
            <a:r>
              <a:rPr lang="fr-FR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(</a:t>
            </a:r>
            <a:r>
              <a:rPr lang="fr-FR" sz="2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spoofing</a:t>
            </a:r>
            <a:r>
              <a:rPr lang="fr-FR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 ce qui engendre </a:t>
            </a:r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une fausse identification </a:t>
            </a:r>
          </a:p>
          <a:p>
            <a:pPr algn="just"/>
            <a:r>
              <a:rPr lang="fr-FR" sz="2400" dirty="0" smtClean="0">
                <a:solidFill>
                  <a:srgbClr val="C00000"/>
                </a:solidFill>
              </a:rPr>
              <a:t>Problème </a:t>
            </a:r>
            <a:r>
              <a:rPr lang="fr-FR" sz="2400" dirty="0">
                <a:solidFill>
                  <a:srgbClr val="C00000"/>
                </a:solidFill>
              </a:rPr>
              <a:t>d'authentification </a:t>
            </a:r>
            <a:endParaRPr lang="fr-FR" sz="2400" dirty="0" smtClean="0">
              <a:solidFill>
                <a:srgbClr val="C00000"/>
              </a:solidFill>
            </a:endParaRPr>
          </a:p>
          <a:p>
            <a:pPr algn="just"/>
            <a:endParaRPr lang="fr-FR" sz="2400" dirty="0" smtClean="0">
              <a:solidFill>
                <a:srgbClr val="C00000"/>
              </a:solidFill>
            </a:endParaRPr>
          </a:p>
          <a:p>
            <a:pPr algn="just"/>
            <a:r>
              <a:rPr lang="fr-FR" sz="2400" dirty="0"/>
              <a:t>◦ </a:t>
            </a:r>
            <a:r>
              <a:rPr lang="fr-FR" sz="2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Aucune </a:t>
            </a:r>
            <a:r>
              <a:rPr lang="fr-FR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preuve n'est fournie par Internet quant à la </a:t>
            </a:r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participation</a:t>
            </a:r>
            <a:r>
              <a:rPr lang="fr-FR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dans un </a:t>
            </a:r>
            <a:r>
              <a:rPr lang="fr-FR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échange électronique </a:t>
            </a:r>
            <a:endParaRPr lang="fr-FR" sz="2400" b="1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fr-FR" sz="2400" dirty="0" smtClean="0">
                <a:solidFill>
                  <a:srgbClr val="C00000"/>
                </a:solidFill>
              </a:rPr>
              <a:t>Problème </a:t>
            </a:r>
            <a:r>
              <a:rPr lang="fr-FR" sz="2400" dirty="0">
                <a:solidFill>
                  <a:srgbClr val="C00000"/>
                </a:solidFill>
              </a:rPr>
              <a:t>d'absence de </a:t>
            </a:r>
            <a:r>
              <a:rPr lang="fr-FR" sz="2400" dirty="0" smtClean="0">
                <a:solidFill>
                  <a:srgbClr val="C00000"/>
                </a:solidFill>
              </a:rPr>
              <a:t>traçabilité</a:t>
            </a:r>
            <a:endParaRPr lang="fr-FR" sz="2400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1619672" y="116632"/>
            <a:ext cx="5760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Problèmes </a:t>
            </a:r>
            <a:r>
              <a:rPr lang="fr-FR" sz="24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Sécurité sur </a:t>
            </a:r>
            <a:r>
              <a:rPr lang="fr-FR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Internet</a:t>
            </a:r>
          </a:p>
          <a:p>
            <a:endParaRPr lang="fr-F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0041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4427984" y="56345"/>
            <a:ext cx="3816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Définitions </a:t>
            </a:r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fr-FR" sz="2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 Terminologies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53"/>
            <a:ext cx="4370264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au Cryptographie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5496" y="980728"/>
            <a:ext cx="903649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1825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dirty="0" smtClean="0"/>
              <a:t>La </a:t>
            </a:r>
            <a:r>
              <a:rPr lang="fr-FR" sz="2200" dirty="0"/>
              <a:t>cryptographie vient du </a:t>
            </a:r>
            <a:r>
              <a:rPr lang="fr-FR" sz="2200" b="1" dirty="0"/>
              <a:t>grec </a:t>
            </a:r>
            <a:r>
              <a:rPr lang="fr-FR" sz="2200" b="1" dirty="0" err="1">
                <a:solidFill>
                  <a:srgbClr val="C00000"/>
                </a:solidFill>
              </a:rPr>
              <a:t>kryptos</a:t>
            </a:r>
            <a:r>
              <a:rPr lang="fr-FR" sz="2200" dirty="0"/>
              <a:t> qui </a:t>
            </a:r>
            <a:r>
              <a:rPr lang="fr-FR" sz="2200" dirty="0" smtClean="0"/>
              <a:t>veut dire </a:t>
            </a:r>
            <a:r>
              <a:rPr lang="fr-FR" sz="2200" b="1" dirty="0">
                <a:solidFill>
                  <a:schemeClr val="accent2">
                    <a:lumMod val="75000"/>
                  </a:schemeClr>
                </a:solidFill>
              </a:rPr>
              <a:t>cacher</a:t>
            </a:r>
            <a:r>
              <a:rPr lang="fr-FR" sz="2200" b="1" dirty="0"/>
              <a:t> </a:t>
            </a:r>
            <a:r>
              <a:rPr lang="fr-FR" sz="2200" dirty="0"/>
              <a:t>et </a:t>
            </a:r>
            <a:r>
              <a:rPr lang="fr-FR" sz="2200" b="1" dirty="0" err="1">
                <a:solidFill>
                  <a:srgbClr val="C00000"/>
                </a:solidFill>
              </a:rPr>
              <a:t>graphein</a:t>
            </a:r>
            <a:r>
              <a:rPr lang="fr-FR" sz="2200" dirty="0"/>
              <a:t> qui signifie </a:t>
            </a:r>
            <a:r>
              <a:rPr lang="fr-FR" sz="2200" b="1" dirty="0">
                <a:solidFill>
                  <a:schemeClr val="accent2">
                    <a:lumMod val="75000"/>
                  </a:schemeClr>
                </a:solidFill>
              </a:rPr>
              <a:t>écrire</a:t>
            </a:r>
            <a:r>
              <a:rPr lang="fr-FR" sz="2200" dirty="0"/>
              <a:t>, </a:t>
            </a:r>
            <a:r>
              <a:rPr lang="fr-FR" sz="2200" dirty="0" smtClean="0"/>
              <a:t>état donné </a:t>
            </a:r>
            <a:r>
              <a:rPr lang="fr-FR" sz="2200" dirty="0"/>
              <a:t>qu’une lettre ou une </a:t>
            </a:r>
            <a:r>
              <a:rPr lang="fr-FR" sz="2200" dirty="0" smtClean="0"/>
              <a:t>communication peuvent </a:t>
            </a:r>
            <a:r>
              <a:rPr lang="fr-FR" sz="2200" dirty="0"/>
              <a:t>être interceptées par un individu </a:t>
            </a:r>
            <a:r>
              <a:rPr lang="fr-FR" sz="2200" dirty="0" smtClean="0"/>
              <a:t>mal intentionné</a:t>
            </a:r>
            <a:r>
              <a:rPr lang="fr-FR" sz="2200" dirty="0"/>
              <a:t>, il est prudent de rendre le </a:t>
            </a:r>
            <a:r>
              <a:rPr lang="fr-FR" sz="2200" dirty="0" smtClean="0"/>
              <a:t>message </a:t>
            </a:r>
            <a:r>
              <a:rPr lang="fr-FR" sz="2200" b="1" dirty="0" smtClean="0"/>
              <a:t>incompréhensible</a:t>
            </a:r>
            <a:r>
              <a:rPr lang="fr-FR" sz="2200" dirty="0" smtClean="0"/>
              <a:t>.</a:t>
            </a:r>
          </a:p>
          <a:p>
            <a:pPr marL="538163" indent="-3635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dirty="0" smtClean="0"/>
              <a:t>La </a:t>
            </a:r>
            <a:r>
              <a:rPr lang="fr-FR" sz="2200" b="1" dirty="0"/>
              <a:t>cryptographie</a:t>
            </a:r>
            <a:r>
              <a:rPr lang="fr-FR" sz="2200" dirty="0"/>
              <a:t> est donc un ensemble </a:t>
            </a:r>
            <a:r>
              <a:rPr lang="fr-FR" sz="2200" dirty="0" smtClean="0"/>
              <a:t>de </a:t>
            </a:r>
            <a:r>
              <a:rPr lang="fr-FR" sz="2200" b="1" dirty="0" smtClean="0"/>
              <a:t>techniques </a:t>
            </a:r>
            <a:r>
              <a:rPr lang="fr-FR" sz="2200" dirty="0"/>
              <a:t>permettant de protéger </a:t>
            </a:r>
            <a:r>
              <a:rPr lang="fr-FR" sz="2200" dirty="0" smtClean="0"/>
              <a:t>une communication </a:t>
            </a:r>
            <a:r>
              <a:rPr lang="fr-FR" sz="2200" dirty="0"/>
              <a:t>au moyen d’un </a:t>
            </a:r>
            <a:r>
              <a:rPr lang="fr-FR" sz="2200" b="1" dirty="0">
                <a:solidFill>
                  <a:srgbClr val="C00000"/>
                </a:solidFill>
              </a:rPr>
              <a:t>code secret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3146" y="62068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Définitions</a:t>
            </a:r>
            <a:endParaRPr lang="fr-FR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161256" y="4940929"/>
            <a:ext cx="8784976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b="1" dirty="0" smtClean="0"/>
              <a:t>Science </a:t>
            </a:r>
            <a:r>
              <a:rPr lang="fr-FR" sz="2200" b="1" dirty="0"/>
              <a:t>mathématique </a:t>
            </a:r>
            <a:r>
              <a:rPr lang="fr-FR" sz="2200" dirty="0"/>
              <a:t>permettant d’effectuer des </a:t>
            </a:r>
            <a:r>
              <a:rPr lang="fr-FR" sz="2200" b="1" dirty="0">
                <a:solidFill>
                  <a:srgbClr val="C00000"/>
                </a:solidFill>
              </a:rPr>
              <a:t>opérations</a:t>
            </a:r>
            <a:r>
              <a:rPr lang="fr-FR" sz="2200" dirty="0">
                <a:solidFill>
                  <a:srgbClr val="C00000"/>
                </a:solidFill>
              </a:rPr>
              <a:t> </a:t>
            </a:r>
            <a:r>
              <a:rPr lang="fr-FR" sz="2200" dirty="0"/>
              <a:t>sur un </a:t>
            </a:r>
            <a:r>
              <a:rPr lang="fr-FR" sz="2200" b="1" dirty="0">
                <a:solidFill>
                  <a:srgbClr val="C00000"/>
                </a:solidFill>
              </a:rPr>
              <a:t>texte intelligible </a:t>
            </a:r>
            <a:r>
              <a:rPr lang="fr-FR" sz="2200" dirty="0"/>
              <a:t>afin d’assurer une ou </a:t>
            </a:r>
            <a:r>
              <a:rPr lang="fr-FR" sz="2200" b="1" dirty="0">
                <a:solidFill>
                  <a:schemeClr val="accent6">
                    <a:lumMod val="75000"/>
                  </a:schemeClr>
                </a:solidFill>
              </a:rPr>
              <a:t>plusieurs propriétés de la sécurité de l’information</a:t>
            </a:r>
            <a:r>
              <a:rPr lang="fr-FR" sz="2200" dirty="0"/>
              <a:t>.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004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Définitions </a:t>
            </a:r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fr-FR" sz="2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 Terminologies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au Cryptographie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3146" y="62068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Définitions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 </a:t>
            </a:r>
            <a:r>
              <a:rPr lang="fr-FR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Terminologies</a:t>
            </a:r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44778" y="1226369"/>
            <a:ext cx="89644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Lorsque </a:t>
            </a:r>
            <a:r>
              <a:rPr lang="fr-FR" dirty="0"/>
              <a:t>on parle de </a:t>
            </a:r>
            <a:r>
              <a:rPr lang="fr-FR" dirty="0" smtClean="0"/>
              <a:t>cryptographie on </a:t>
            </a:r>
            <a:r>
              <a:rPr lang="fr-FR" dirty="0"/>
              <a:t>parle </a:t>
            </a:r>
            <a:r>
              <a:rPr lang="fr-FR" b="1" dirty="0"/>
              <a:t>de trois termes</a:t>
            </a:r>
            <a:r>
              <a:rPr lang="fr-FR" dirty="0"/>
              <a:t>: </a:t>
            </a:r>
            <a:r>
              <a:rPr lang="fr-FR" b="1" dirty="0"/>
              <a:t>Cryptologie, Cryptographie </a:t>
            </a:r>
            <a:r>
              <a:rPr lang="fr-FR" b="1" dirty="0" smtClean="0"/>
              <a:t>et Cryptanalyse</a:t>
            </a:r>
            <a:r>
              <a:rPr lang="fr-FR" dirty="0" smtClean="0"/>
              <a:t>.</a:t>
            </a:r>
          </a:p>
          <a:p>
            <a:endParaRPr lang="fr-FR" dirty="0" smtClean="0"/>
          </a:p>
          <a:p>
            <a:r>
              <a:rPr lang="fr-FR" b="1" dirty="0">
                <a:solidFill>
                  <a:srgbClr val="C00000"/>
                </a:solidFill>
              </a:rPr>
              <a:t>Cryptologie</a:t>
            </a:r>
            <a:r>
              <a:rPr lang="fr-FR" b="1" dirty="0"/>
              <a:t> : </a:t>
            </a:r>
            <a:r>
              <a:rPr lang="fr-FR" dirty="0"/>
              <a:t>La </a:t>
            </a:r>
            <a:r>
              <a:rPr lang="fr-FR" b="1" dirty="0"/>
              <a:t>science du secret</a:t>
            </a:r>
            <a:r>
              <a:rPr lang="fr-FR" dirty="0"/>
              <a:t>, il s’agit d’une scène englobant </a:t>
            </a:r>
            <a:r>
              <a:rPr lang="fr-FR" b="1" dirty="0"/>
              <a:t>deux branches</a:t>
            </a:r>
            <a:r>
              <a:rPr lang="fr-FR" dirty="0"/>
              <a:t>: </a:t>
            </a:r>
            <a:r>
              <a:rPr lang="fr-FR" dirty="0" smtClean="0"/>
              <a:t>la </a:t>
            </a:r>
            <a:r>
              <a:rPr lang="fr-FR" b="1" dirty="0" smtClean="0"/>
              <a:t>cryptographie</a:t>
            </a:r>
            <a:r>
              <a:rPr lang="fr-FR" dirty="0" smtClean="0"/>
              <a:t> </a:t>
            </a:r>
            <a:r>
              <a:rPr lang="fr-FR" dirty="0" err="1"/>
              <a:t>i.e</a:t>
            </a:r>
            <a:r>
              <a:rPr lang="fr-FR" dirty="0"/>
              <a:t> </a:t>
            </a:r>
            <a:r>
              <a:rPr lang="fr-FR" b="1" dirty="0"/>
              <a:t>l’écriture secrète </a:t>
            </a:r>
            <a:r>
              <a:rPr lang="fr-FR" dirty="0"/>
              <a:t>et la </a:t>
            </a:r>
            <a:r>
              <a:rPr lang="fr-FR" b="1" dirty="0"/>
              <a:t>cryptanalyse</a:t>
            </a:r>
            <a:r>
              <a:rPr lang="fr-FR" dirty="0"/>
              <a:t> </a:t>
            </a:r>
            <a:r>
              <a:rPr lang="fr-FR" dirty="0" err="1"/>
              <a:t>i.e</a:t>
            </a:r>
            <a:r>
              <a:rPr lang="fr-FR" dirty="0"/>
              <a:t> l</a:t>
            </a:r>
            <a:r>
              <a:rPr lang="fr-FR" b="1" dirty="0"/>
              <a:t>’analyse</a:t>
            </a:r>
            <a:r>
              <a:rPr lang="fr-FR" dirty="0"/>
              <a:t> de cette dernière</a:t>
            </a:r>
            <a:r>
              <a:rPr lang="fr-FR" dirty="0" smtClean="0"/>
              <a:t>.</a:t>
            </a:r>
          </a:p>
          <a:p>
            <a:endParaRPr lang="fr-FR" dirty="0"/>
          </a:p>
          <a:p>
            <a:r>
              <a:rPr lang="fr-FR" b="1" dirty="0" smtClean="0"/>
              <a:t>Cryptographie </a:t>
            </a:r>
            <a:r>
              <a:rPr lang="fr-FR" b="1" dirty="0"/>
              <a:t>: </a:t>
            </a:r>
            <a:r>
              <a:rPr lang="fr-FR" dirty="0"/>
              <a:t>C’est l’étude des méthodes et techniques servant à crypter du texte</a:t>
            </a:r>
          </a:p>
          <a:p>
            <a:r>
              <a:rPr lang="fr-FR" dirty="0"/>
              <a:t>pour le protéger et assurer </a:t>
            </a:r>
            <a:r>
              <a:rPr lang="fr-F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sa confidentialité, authenticité et intégrité en s’aidant </a:t>
            </a:r>
            <a:r>
              <a:rPr lang="fr-F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de données </a:t>
            </a:r>
            <a:r>
              <a:rPr lang="fr-F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secrètes ou clés.</a:t>
            </a:r>
          </a:p>
          <a:p>
            <a:endParaRPr lang="fr-FR" b="1" dirty="0" smtClean="0"/>
          </a:p>
          <a:p>
            <a:r>
              <a:rPr lang="fr-FR" b="1" dirty="0" smtClean="0"/>
              <a:t>Cryptanalyse </a:t>
            </a:r>
            <a:r>
              <a:rPr lang="fr-FR" b="1" dirty="0"/>
              <a:t>: </a:t>
            </a:r>
            <a:r>
              <a:rPr lang="fr-FR" b="1" dirty="0">
                <a:solidFill>
                  <a:schemeClr val="bg1">
                    <a:lumMod val="50000"/>
                  </a:schemeClr>
                </a:solidFill>
              </a:rPr>
              <a:t>Opposée</a:t>
            </a:r>
            <a:r>
              <a:rPr lang="fr-FR" dirty="0">
                <a:solidFill>
                  <a:srgbClr val="FFC000"/>
                </a:solidFill>
              </a:rPr>
              <a:t> </a:t>
            </a:r>
            <a:r>
              <a:rPr lang="fr-FR" b="1" dirty="0">
                <a:solidFill>
                  <a:schemeClr val="bg1">
                    <a:lumMod val="50000"/>
                  </a:schemeClr>
                </a:solidFill>
              </a:rPr>
              <a:t>à la Cryptographie</a:t>
            </a:r>
            <a:r>
              <a:rPr lang="fr-FR" dirty="0">
                <a:solidFill>
                  <a:srgbClr val="FFC000"/>
                </a:solidFill>
              </a:rPr>
              <a:t>, elle a pour but de </a:t>
            </a:r>
            <a:r>
              <a:rPr lang="fr-FR" b="1" dirty="0">
                <a:solidFill>
                  <a:schemeClr val="bg1">
                    <a:lumMod val="50000"/>
                  </a:schemeClr>
                </a:solidFill>
              </a:rPr>
              <a:t>déchiffrer le texte</a:t>
            </a:r>
          </a:p>
          <a:p>
            <a:r>
              <a:rPr lang="fr-FR" b="1" dirty="0" smtClean="0">
                <a:solidFill>
                  <a:schemeClr val="bg1">
                    <a:lumMod val="50000"/>
                  </a:schemeClr>
                </a:solidFill>
              </a:rPr>
              <a:t>chiffrer</a:t>
            </a:r>
            <a:r>
              <a:rPr lang="fr-FR" dirty="0" smtClean="0">
                <a:solidFill>
                  <a:srgbClr val="FFC000"/>
                </a:solidFill>
              </a:rPr>
              <a:t>. C’</a:t>
            </a:r>
            <a:r>
              <a:rPr lang="fr-FR" dirty="0" smtClean="0"/>
              <a:t>est </a:t>
            </a:r>
            <a:r>
              <a:rPr lang="fr-FR" dirty="0"/>
              <a:t>l’art pour une personne non habilitée, </a:t>
            </a:r>
            <a:r>
              <a:rPr lang="fr-FR" b="1" dirty="0"/>
              <a:t>de décrypter, de décoder</a:t>
            </a:r>
            <a:r>
              <a:rPr lang="fr-FR" dirty="0"/>
              <a:t>, de </a:t>
            </a:r>
            <a:r>
              <a:rPr lang="fr-FR" b="1" dirty="0"/>
              <a:t>déchiffrer</a:t>
            </a:r>
            <a:r>
              <a:rPr lang="fr-FR" dirty="0"/>
              <a:t>, un </a:t>
            </a:r>
            <a:r>
              <a:rPr lang="fr-FR" b="1" dirty="0"/>
              <a:t>message</a:t>
            </a:r>
            <a:r>
              <a:rPr lang="fr-FR" dirty="0"/>
              <a:t>. C’est donc l’ensemble </a:t>
            </a:r>
            <a:r>
              <a:rPr lang="fr-FR" b="1" dirty="0"/>
              <a:t>des procèdes d’attaques </a:t>
            </a:r>
            <a:r>
              <a:rPr lang="fr-FR" dirty="0"/>
              <a:t>d’un système </a:t>
            </a:r>
            <a:r>
              <a:rPr lang="fr-FR" b="1" dirty="0"/>
              <a:t>cryptographique</a:t>
            </a:r>
            <a:r>
              <a:rPr lang="fr-FR" dirty="0"/>
              <a:t>. elle a pour but de </a:t>
            </a:r>
            <a:r>
              <a:rPr lang="fr-FR" b="1" dirty="0"/>
              <a:t>retrouver le texte clair </a:t>
            </a:r>
            <a:r>
              <a:rPr lang="fr-FR" dirty="0"/>
              <a:t>à partir de </a:t>
            </a:r>
            <a:r>
              <a:rPr lang="fr-FR" b="1" dirty="0"/>
              <a:t>textes chiffrés</a:t>
            </a:r>
            <a:r>
              <a:rPr lang="fr-FR" dirty="0"/>
              <a:t> en déterminant les </a:t>
            </a:r>
            <a:r>
              <a:rPr lang="fr-FR" b="1" dirty="0"/>
              <a:t>failles</a:t>
            </a:r>
            <a:r>
              <a:rPr lang="fr-FR" dirty="0"/>
              <a:t> des </a:t>
            </a:r>
            <a:r>
              <a:rPr lang="fr-FR" b="1" dirty="0"/>
              <a:t>algorithmes</a:t>
            </a:r>
            <a:r>
              <a:rPr lang="fr-FR" dirty="0"/>
              <a:t> </a:t>
            </a:r>
            <a:r>
              <a:rPr lang="fr-FR" b="1" dirty="0"/>
              <a:t>utilisés</a:t>
            </a:r>
            <a:r>
              <a:rPr lang="fr-F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5791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Définitions </a:t>
            </a:r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fr-FR" sz="2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 Terminologies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au Cryptographie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3146" y="1176641"/>
            <a:ext cx="9036496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1900" b="1" dirty="0" smtClean="0">
                <a:solidFill>
                  <a:schemeClr val="bg2">
                    <a:lumMod val="75000"/>
                  </a:schemeClr>
                </a:solidFill>
              </a:rPr>
              <a:t>Chiffrement</a:t>
            </a:r>
            <a:r>
              <a:rPr lang="fr-FR" sz="1900" dirty="0" smtClean="0"/>
              <a:t> </a:t>
            </a:r>
            <a:r>
              <a:rPr lang="fr-FR" sz="1900" b="1" dirty="0"/>
              <a:t>: </a:t>
            </a:r>
            <a:r>
              <a:rPr lang="fr-FR" sz="1900" dirty="0"/>
              <a:t>algorithme utilisé pour transformer un </a:t>
            </a:r>
            <a:r>
              <a:rPr lang="fr-FR" sz="1900" b="1" dirty="0">
                <a:solidFill>
                  <a:schemeClr val="bg2">
                    <a:lumMod val="75000"/>
                  </a:schemeClr>
                </a:solidFill>
              </a:rPr>
              <a:t>texte en clair </a:t>
            </a:r>
            <a:r>
              <a:rPr lang="fr-FR" sz="1900" dirty="0"/>
              <a:t>en texte </a:t>
            </a:r>
            <a:r>
              <a:rPr lang="fr-FR" sz="1900" b="1" dirty="0">
                <a:solidFill>
                  <a:schemeClr val="bg2">
                    <a:lumMod val="75000"/>
                  </a:schemeClr>
                </a:solidFill>
              </a:rPr>
              <a:t>chiffré</a:t>
            </a:r>
            <a:r>
              <a:rPr lang="fr-FR" sz="19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1900" dirty="0"/>
              <a:t> </a:t>
            </a:r>
            <a:r>
              <a:rPr lang="fr-FR" sz="1900" b="1" dirty="0">
                <a:solidFill>
                  <a:schemeClr val="bg2">
                    <a:lumMod val="75000"/>
                  </a:schemeClr>
                </a:solidFill>
              </a:rPr>
              <a:t>Déchiffrement</a:t>
            </a:r>
            <a:r>
              <a:rPr lang="fr-FR" sz="1900" dirty="0"/>
              <a:t> </a:t>
            </a:r>
            <a:r>
              <a:rPr lang="fr-FR" sz="1900" b="1" dirty="0"/>
              <a:t>: </a:t>
            </a:r>
            <a:r>
              <a:rPr lang="fr-FR" sz="1900" dirty="0"/>
              <a:t>inverse du chiffrement (transformer </a:t>
            </a:r>
            <a:r>
              <a:rPr lang="fr-FR" sz="1900" b="1" dirty="0"/>
              <a:t>texte chiffré </a:t>
            </a:r>
            <a:r>
              <a:rPr lang="fr-FR" sz="1900" dirty="0"/>
              <a:t>en </a:t>
            </a:r>
            <a:r>
              <a:rPr lang="fr-FR" sz="1900" b="1" dirty="0"/>
              <a:t>texte en clair</a:t>
            </a:r>
            <a:r>
              <a:rPr lang="fr-FR" sz="1900" dirty="0"/>
              <a:t>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19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fr-FR" sz="1900" b="1" dirty="0">
                <a:solidFill>
                  <a:schemeClr val="bg2">
                    <a:lumMod val="75000"/>
                  </a:schemeClr>
                </a:solidFill>
              </a:rPr>
              <a:t>Clé</a:t>
            </a:r>
            <a:r>
              <a:rPr lang="fr-FR" sz="19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fr-FR" sz="1900" b="1" dirty="0"/>
              <a:t>: </a:t>
            </a:r>
            <a:r>
              <a:rPr lang="fr-FR" sz="1900" dirty="0"/>
              <a:t>secret partagé utilisé pour </a:t>
            </a:r>
            <a:r>
              <a:rPr lang="fr-FR" sz="1900" b="1" dirty="0">
                <a:solidFill>
                  <a:schemeClr val="bg2">
                    <a:lumMod val="75000"/>
                  </a:schemeClr>
                </a:solidFill>
              </a:rPr>
              <a:t>chiffrer </a:t>
            </a:r>
            <a:r>
              <a:rPr lang="fr-FR" sz="1900" dirty="0"/>
              <a:t>le texte </a:t>
            </a:r>
            <a:r>
              <a:rPr lang="fr-FR" sz="1900" b="1" dirty="0"/>
              <a:t>en clair </a:t>
            </a:r>
            <a:r>
              <a:rPr lang="fr-FR" sz="1900" dirty="0"/>
              <a:t>en </a:t>
            </a:r>
            <a:r>
              <a:rPr lang="fr-FR" sz="1900" b="1" dirty="0"/>
              <a:t>texte chiffré </a:t>
            </a:r>
            <a:r>
              <a:rPr lang="fr-FR" sz="1900" dirty="0"/>
              <a:t>et </a:t>
            </a:r>
            <a:r>
              <a:rPr lang="fr-FR" sz="1900" dirty="0" smtClean="0"/>
              <a:t>pour </a:t>
            </a:r>
            <a:r>
              <a:rPr lang="fr-FR" sz="1900" b="1" dirty="0" smtClean="0">
                <a:solidFill>
                  <a:schemeClr val="bg2">
                    <a:lumMod val="75000"/>
                  </a:schemeClr>
                </a:solidFill>
              </a:rPr>
              <a:t>déchiffrer </a:t>
            </a:r>
            <a:r>
              <a:rPr lang="fr-FR" sz="1900" dirty="0"/>
              <a:t>le </a:t>
            </a:r>
            <a:r>
              <a:rPr lang="fr-FR" sz="1900" b="1" dirty="0"/>
              <a:t>texte chiffré </a:t>
            </a:r>
            <a:r>
              <a:rPr lang="fr-FR" sz="1900" dirty="0"/>
              <a:t>en </a:t>
            </a:r>
            <a:r>
              <a:rPr lang="fr-FR" sz="1900" b="1" dirty="0"/>
              <a:t>texte en clair</a:t>
            </a:r>
            <a:r>
              <a:rPr lang="fr-FR" sz="19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fr-FR" sz="1900" b="1" dirty="0" smtClean="0">
              <a:solidFill>
                <a:schemeClr val="bg2">
                  <a:lumMod val="7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1900" b="1" dirty="0" smtClean="0">
                <a:solidFill>
                  <a:schemeClr val="bg2">
                    <a:lumMod val="75000"/>
                  </a:schemeClr>
                </a:solidFill>
              </a:rPr>
              <a:t>Un </a:t>
            </a:r>
            <a:r>
              <a:rPr lang="fr-FR" sz="1900" b="1" dirty="0">
                <a:solidFill>
                  <a:schemeClr val="bg2">
                    <a:lumMod val="75000"/>
                  </a:schemeClr>
                </a:solidFill>
              </a:rPr>
              <a:t>crypto-système </a:t>
            </a:r>
            <a:r>
              <a:rPr lang="fr-FR" sz="1900" dirty="0"/>
              <a:t>est </a:t>
            </a:r>
            <a:r>
              <a:rPr lang="fr-FR" sz="1900" dirty="0" smtClean="0"/>
              <a:t>constitué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FR" sz="1900" dirty="0" smtClean="0"/>
              <a:t>des </a:t>
            </a:r>
            <a:r>
              <a:rPr lang="fr-FR" sz="1900" dirty="0"/>
              <a:t>ensembles finis </a:t>
            </a:r>
            <a:r>
              <a:rPr lang="fr-FR" sz="19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fr-FR" sz="1900" dirty="0" smtClean="0"/>
              <a:t> de </a:t>
            </a:r>
            <a:r>
              <a:rPr lang="fr-FR" sz="1900" b="1" dirty="0">
                <a:solidFill>
                  <a:schemeClr val="bg2">
                    <a:lumMod val="75000"/>
                  </a:schemeClr>
                </a:solidFill>
              </a:rPr>
              <a:t>messages</a:t>
            </a:r>
            <a:r>
              <a:rPr lang="fr-FR" sz="1900" dirty="0"/>
              <a:t>,  </a:t>
            </a:r>
            <a:r>
              <a:rPr lang="fr-FR" sz="19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sz="1900" dirty="0" smtClean="0"/>
              <a:t> de </a:t>
            </a:r>
            <a:r>
              <a:rPr lang="fr-FR" sz="1900" b="1" dirty="0">
                <a:solidFill>
                  <a:schemeClr val="bg2">
                    <a:lumMod val="75000"/>
                  </a:schemeClr>
                </a:solidFill>
              </a:rPr>
              <a:t>cryptogrammes</a:t>
            </a:r>
            <a:r>
              <a:rPr lang="fr-FR" sz="1900" dirty="0"/>
              <a:t> et  </a:t>
            </a:r>
            <a:r>
              <a:rPr lang="fr-FR" sz="19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</a:t>
            </a:r>
            <a:r>
              <a:rPr lang="fr-FR" sz="1900" dirty="0" smtClean="0"/>
              <a:t> de </a:t>
            </a:r>
            <a:r>
              <a:rPr lang="fr-FR" sz="1900" b="1" dirty="0" smtClean="0">
                <a:solidFill>
                  <a:schemeClr val="bg2">
                    <a:lumMod val="75000"/>
                  </a:schemeClr>
                </a:solidFill>
              </a:rPr>
              <a:t>clés</a:t>
            </a:r>
            <a:r>
              <a:rPr lang="fr-FR" sz="1900" dirty="0" smtClean="0"/>
              <a:t>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FR" sz="1900" dirty="0" smtClean="0"/>
              <a:t>d'une </a:t>
            </a:r>
            <a:r>
              <a:rPr lang="fr-FR" sz="1900" b="1" dirty="0">
                <a:solidFill>
                  <a:schemeClr val="bg2">
                    <a:lumMod val="75000"/>
                  </a:schemeClr>
                </a:solidFill>
              </a:rPr>
              <a:t>application d'encryptage</a:t>
            </a:r>
          </a:p>
          <a:p>
            <a:r>
              <a:rPr lang="fr-FR" sz="1900" dirty="0"/>
              <a:t> </a:t>
            </a:r>
            <a:r>
              <a:rPr lang="fr-FR" sz="1900" dirty="0" smtClean="0"/>
              <a:t>                                 </a:t>
            </a:r>
            <a:r>
              <a:rPr lang="fr-FR" sz="1900" b="1" dirty="0" smtClean="0">
                <a:solidFill>
                  <a:srgbClr val="C00000"/>
                </a:solidFill>
              </a:rPr>
              <a:t>E</a:t>
            </a:r>
            <a:r>
              <a:rPr lang="fr-FR" sz="1900" dirty="0" smtClean="0"/>
              <a:t>∶ M × K  </a:t>
            </a:r>
            <a:r>
              <a:rPr lang="fr-FR" sz="1900" dirty="0"/>
              <a:t>→ </a:t>
            </a:r>
            <a:r>
              <a:rPr lang="fr-FR" sz="1900" dirty="0" smtClean="0"/>
              <a:t>C</a:t>
            </a:r>
          </a:p>
          <a:p>
            <a:pPr marL="712788" indent="-268288">
              <a:buFont typeface="Wingdings" panose="05000000000000000000" pitchFamily="2" charset="2"/>
              <a:buChar char="§"/>
            </a:pPr>
            <a:r>
              <a:rPr lang="fr-FR" sz="1900" dirty="0" smtClean="0"/>
              <a:t> </a:t>
            </a:r>
            <a:r>
              <a:rPr lang="fr-FR" sz="1900" dirty="0"/>
              <a:t>et d'une </a:t>
            </a:r>
            <a:r>
              <a:rPr lang="fr-FR" sz="1900" b="1" dirty="0">
                <a:solidFill>
                  <a:schemeClr val="bg2">
                    <a:lumMod val="75000"/>
                  </a:schemeClr>
                </a:solidFill>
              </a:rPr>
              <a:t>application de décryptage</a:t>
            </a:r>
          </a:p>
          <a:p>
            <a:r>
              <a:rPr lang="fr-FR" sz="1900" dirty="0" smtClean="0"/>
              <a:t>                                  </a:t>
            </a:r>
            <a:r>
              <a:rPr lang="fr-FR" sz="1900" b="1" dirty="0" smtClean="0">
                <a:solidFill>
                  <a:srgbClr val="C00000"/>
                </a:solidFill>
              </a:rPr>
              <a:t>D</a:t>
            </a:r>
            <a:r>
              <a:rPr lang="fr-FR" sz="1900" dirty="0" smtClean="0"/>
              <a:t> ∶  C × K  </a:t>
            </a:r>
            <a:r>
              <a:rPr lang="fr-FR" sz="1900" dirty="0"/>
              <a:t>→ </a:t>
            </a:r>
            <a:r>
              <a:rPr lang="fr-FR" sz="1900" dirty="0" smtClean="0"/>
              <a:t>M</a:t>
            </a:r>
            <a:endParaRPr lang="fr-FR" sz="1900" dirty="0"/>
          </a:p>
          <a:p>
            <a:pPr marL="712788" indent="-268288">
              <a:buFont typeface="Wingdings" panose="05000000000000000000" pitchFamily="2" charset="2"/>
              <a:buChar char="§"/>
            </a:pPr>
            <a:r>
              <a:rPr lang="fr-FR" sz="1900" dirty="0"/>
              <a:t> telles que, pour tout </a:t>
            </a:r>
            <a:r>
              <a:rPr lang="fr-FR" sz="1900" dirty="0" smtClean="0"/>
              <a:t>m ∈ M  </a:t>
            </a:r>
            <a:r>
              <a:rPr lang="fr-FR" sz="1900" dirty="0"/>
              <a:t>et  </a:t>
            </a:r>
            <a:r>
              <a:rPr lang="fr-FR" sz="1900" dirty="0" smtClean="0"/>
              <a:t>k ∈ K</a:t>
            </a:r>
            <a:endParaRPr lang="fr-FR" sz="1900" dirty="0"/>
          </a:p>
          <a:p>
            <a:r>
              <a:rPr lang="fr-FR" sz="1900" dirty="0" smtClean="0"/>
              <a:t>                                         D</a:t>
            </a:r>
            <a:r>
              <a:rPr lang="fr-FR" sz="1900" dirty="0" smtClean="0">
                <a:solidFill>
                  <a:schemeClr val="bg2">
                    <a:lumMod val="75000"/>
                  </a:schemeClr>
                </a:solidFill>
              </a:rPr>
              <a:t>(E (m ,k),</a:t>
            </a:r>
            <a:r>
              <a:rPr lang="fr-FR" sz="1900" dirty="0" smtClean="0"/>
              <a:t>k) </a:t>
            </a:r>
            <a:r>
              <a:rPr lang="fr-FR" sz="1900" dirty="0"/>
              <a:t>= </a:t>
            </a:r>
            <a:r>
              <a:rPr lang="fr-FR" sz="1900" dirty="0" smtClean="0"/>
              <a:t>m</a:t>
            </a:r>
            <a:endParaRPr lang="fr-FR" sz="1900" dirty="0"/>
          </a:p>
        </p:txBody>
      </p:sp>
      <p:sp>
        <p:nvSpPr>
          <p:cNvPr id="6" name="ZoneTexte 5"/>
          <p:cNvSpPr txBox="1"/>
          <p:nvPr/>
        </p:nvSpPr>
        <p:spPr>
          <a:xfrm>
            <a:off x="13146" y="62068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Définitions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et </a:t>
            </a:r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Terminologies</a:t>
            </a:r>
          </a:p>
        </p:txBody>
      </p:sp>
    </p:spTree>
    <p:extLst>
      <p:ext uri="{BB962C8B-B14F-4D97-AF65-F5344CB8AC3E}">
        <p14:creationId xmlns:p14="http://schemas.microsoft.com/office/powerpoint/2010/main" val="191141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2"/>
          <p:cNvSpPr>
            <a:spLocks noChangeArrowheads="1"/>
          </p:cNvSpPr>
          <p:nvPr/>
        </p:nvSpPr>
        <p:spPr bwMode="gray">
          <a:xfrm>
            <a:off x="139551" y="1703062"/>
            <a:ext cx="8432801" cy="2484852"/>
          </a:xfrm>
          <a:prstGeom prst="flowChartAlternateProcess">
            <a:avLst/>
          </a:prstGeom>
          <a:gradFill rotWithShape="1">
            <a:gsLst>
              <a:gs pos="0">
                <a:schemeClr val="bg2">
                  <a:lumMod val="20000"/>
                  <a:lumOff val="80000"/>
                </a:schemeClr>
              </a:gs>
              <a:gs pos="50000">
                <a:srgbClr val="FFFFFF"/>
              </a:gs>
              <a:gs pos="100000">
                <a:srgbClr val="FFFFFF">
                  <a:gamma/>
                  <a:shade val="89020"/>
                  <a:invGamma/>
                </a:srgbClr>
              </a:gs>
            </a:gsLst>
            <a:lin ang="5400000" scaled="1"/>
          </a:gradFill>
          <a:ln w="38100" algn="ctr">
            <a:solidFill>
              <a:srgbClr val="FFFFFF"/>
            </a:solidFill>
            <a:miter lim="800000"/>
            <a:headEnd/>
            <a:tailEnd/>
          </a:ln>
          <a:effectLst>
            <a:outerShdw dist="81320" dir="3080412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363538"/>
            <a:endParaRPr lang="fr-FR" sz="1900" b="1" dirty="0" smtClean="0"/>
          </a:p>
          <a:p>
            <a:pPr marL="363538"/>
            <a:r>
              <a:rPr lang="fr-FR" sz="1900" b="1" dirty="0" smtClean="0"/>
              <a:t>P</a:t>
            </a:r>
            <a:r>
              <a:rPr lang="fr-FR" sz="1900" dirty="0" smtClean="0"/>
              <a:t>: </a:t>
            </a:r>
            <a:r>
              <a:rPr lang="fr-FR" sz="1900" dirty="0"/>
              <a:t>est l’ensemble des message clairs (</a:t>
            </a:r>
            <a:r>
              <a:rPr lang="fr-FR" sz="1900" b="1" dirty="0"/>
              <a:t>plain </a:t>
            </a:r>
            <a:r>
              <a:rPr lang="fr-FR" sz="1900" b="1" dirty="0" err="1" smtClean="0"/>
              <a:t>text</a:t>
            </a:r>
            <a:r>
              <a:rPr lang="fr-FR" sz="1900" dirty="0" smtClean="0"/>
              <a:t>)</a:t>
            </a:r>
          </a:p>
          <a:p>
            <a:pPr marL="363538"/>
            <a:r>
              <a:rPr lang="fr-FR" sz="1900" b="1" dirty="0" smtClean="0"/>
              <a:t>C</a:t>
            </a:r>
            <a:r>
              <a:rPr lang="fr-FR" sz="1900" dirty="0"/>
              <a:t>: est l’ensemble des messages cryptés ou chiffrés (</a:t>
            </a:r>
            <a:r>
              <a:rPr lang="fr-FR" sz="1900" b="1" dirty="0" err="1" smtClean="0"/>
              <a:t>ciphertext</a:t>
            </a:r>
            <a:r>
              <a:rPr lang="fr-FR" sz="1900" dirty="0" smtClean="0"/>
              <a:t>)</a:t>
            </a:r>
          </a:p>
          <a:p>
            <a:pPr marL="363538"/>
            <a:r>
              <a:rPr lang="fr-FR" sz="1900" b="1" dirty="0" smtClean="0"/>
              <a:t>K</a:t>
            </a:r>
            <a:r>
              <a:rPr lang="fr-FR" sz="1900" dirty="0"/>
              <a:t>: est l’ensemble des clés (</a:t>
            </a:r>
            <a:r>
              <a:rPr lang="fr-FR" sz="1900" b="1" dirty="0"/>
              <a:t>key</a:t>
            </a:r>
            <a:r>
              <a:rPr lang="fr-FR" sz="1900" dirty="0" smtClean="0"/>
              <a:t>).</a:t>
            </a:r>
          </a:p>
          <a:p>
            <a:pPr marL="363538"/>
            <a:r>
              <a:rPr lang="fr-FR" sz="1900" b="1" dirty="0" smtClean="0"/>
              <a:t>E</a:t>
            </a:r>
            <a:r>
              <a:rPr lang="fr-FR" sz="1900" dirty="0"/>
              <a:t>: {</a:t>
            </a:r>
            <a:r>
              <a:rPr lang="fr-FR" sz="1900" i="1" dirty="0" err="1"/>
              <a:t>E</a:t>
            </a:r>
            <a:r>
              <a:rPr lang="fr-FR" sz="1900" i="1" baseline="-25000" dirty="0" err="1"/>
              <a:t>e</a:t>
            </a:r>
            <a:r>
              <a:rPr lang="fr-FR" sz="1900" i="1" dirty="0"/>
              <a:t> </a:t>
            </a:r>
            <a:r>
              <a:rPr lang="fr-FR" sz="1900" dirty="0"/>
              <a:t>: </a:t>
            </a:r>
            <a:r>
              <a:rPr lang="fr-FR" sz="1900" i="1" dirty="0"/>
              <a:t>P </a:t>
            </a:r>
            <a:r>
              <a:rPr lang="fr-FR" sz="1900" dirty="0"/>
              <a:t>→ </a:t>
            </a:r>
            <a:r>
              <a:rPr lang="fr-FR" sz="1900" i="1" dirty="0" smtClean="0"/>
              <a:t>C</a:t>
            </a:r>
            <a:r>
              <a:rPr lang="fr-FR" sz="1900" dirty="0" smtClean="0"/>
              <a:t>}</a:t>
            </a:r>
          </a:p>
          <a:p>
            <a:pPr marL="363538"/>
            <a:r>
              <a:rPr lang="fr-FR" sz="1900" b="1" i="1" dirty="0" err="1" smtClean="0"/>
              <a:t>E</a:t>
            </a:r>
            <a:r>
              <a:rPr lang="fr-FR" sz="1900" b="1" i="1" baseline="-25000" dirty="0" err="1" smtClean="0"/>
              <a:t>e</a:t>
            </a:r>
            <a:r>
              <a:rPr lang="fr-FR" sz="1900" i="1" dirty="0" smtClean="0"/>
              <a:t> </a:t>
            </a:r>
            <a:r>
              <a:rPr lang="fr-FR" sz="1900" dirty="0"/>
              <a:t>fonction de </a:t>
            </a:r>
            <a:r>
              <a:rPr lang="fr-FR" sz="1900" dirty="0" smtClean="0"/>
              <a:t>chiffrement.</a:t>
            </a:r>
          </a:p>
          <a:p>
            <a:pPr marL="363538"/>
            <a:r>
              <a:rPr lang="fr-FR" sz="1900" b="1" dirty="0" smtClean="0"/>
              <a:t>D</a:t>
            </a:r>
            <a:r>
              <a:rPr lang="fr-FR" sz="1900" dirty="0"/>
              <a:t>: {</a:t>
            </a:r>
            <a:r>
              <a:rPr lang="fr-FR" sz="1900" i="1" dirty="0" smtClean="0"/>
              <a:t>D</a:t>
            </a:r>
            <a:r>
              <a:rPr lang="fr-FR" sz="1900" i="1" baseline="-25000" dirty="0" smtClean="0"/>
              <a:t>d</a:t>
            </a:r>
            <a:r>
              <a:rPr lang="fr-FR" sz="1900" i="1" dirty="0" smtClean="0"/>
              <a:t> </a:t>
            </a:r>
            <a:r>
              <a:rPr lang="fr-FR" sz="1900" dirty="0"/>
              <a:t>: </a:t>
            </a:r>
            <a:r>
              <a:rPr lang="fr-FR" sz="1900" i="1" dirty="0"/>
              <a:t>C </a:t>
            </a:r>
            <a:r>
              <a:rPr lang="fr-FR" sz="1900" dirty="0"/>
              <a:t>→ </a:t>
            </a:r>
            <a:r>
              <a:rPr lang="fr-FR" sz="1900" i="1" dirty="0" smtClean="0"/>
              <a:t>P</a:t>
            </a:r>
            <a:r>
              <a:rPr lang="fr-FR" sz="1900" dirty="0" smtClean="0"/>
              <a:t>}</a:t>
            </a:r>
          </a:p>
          <a:p>
            <a:pPr marL="363538"/>
            <a:r>
              <a:rPr lang="fr-FR" sz="1900" b="1" i="1" dirty="0" smtClean="0"/>
              <a:t>D</a:t>
            </a:r>
            <a:r>
              <a:rPr lang="fr-FR" sz="1900" b="1" i="1" baseline="-25000" dirty="0" smtClean="0"/>
              <a:t>d</a:t>
            </a:r>
            <a:r>
              <a:rPr lang="fr-FR" sz="1900" i="1" dirty="0" smtClean="0"/>
              <a:t> </a:t>
            </a:r>
            <a:r>
              <a:rPr lang="fr-FR" sz="1900" dirty="0"/>
              <a:t>fonction de déchiffrement.</a:t>
            </a:r>
          </a:p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Définitions </a:t>
            </a:r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fr-FR" sz="2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 Terminologies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au Cryptographie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3146" y="62068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Définitions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 </a:t>
            </a:r>
            <a:r>
              <a:rPr lang="fr-FR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Terminologies</a:t>
            </a:r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16595" y="1111752"/>
            <a:ext cx="896448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 smtClean="0"/>
              <a:t> Un </a:t>
            </a:r>
            <a:r>
              <a:rPr lang="fr-FR" b="1" dirty="0" smtClean="0"/>
              <a:t>crypto-système</a:t>
            </a:r>
            <a:r>
              <a:rPr lang="fr-FR" dirty="0" smtClean="0"/>
              <a:t> </a:t>
            </a:r>
            <a:r>
              <a:rPr lang="fr-FR" dirty="0"/>
              <a:t>est un </a:t>
            </a:r>
            <a:r>
              <a:rPr lang="fr-FR" b="1" dirty="0"/>
              <a:t>5-uplet (P,C,K,E,D) </a:t>
            </a:r>
            <a:r>
              <a:rPr lang="fr-FR" dirty="0"/>
              <a:t>ou</a:t>
            </a:r>
            <a:r>
              <a:rPr lang="fr-FR" dirty="0" smtClean="0"/>
              <a:t>:</a:t>
            </a:r>
            <a:endParaRPr lang="fr-FR" dirty="0"/>
          </a:p>
        </p:txBody>
      </p:sp>
      <p:sp>
        <p:nvSpPr>
          <p:cNvPr id="2" name="ZoneTexte 1"/>
          <p:cNvSpPr txBox="1"/>
          <p:nvPr/>
        </p:nvSpPr>
        <p:spPr>
          <a:xfrm>
            <a:off x="241974" y="4437112"/>
            <a:ext cx="871373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A chaque clés </a:t>
            </a:r>
            <a:r>
              <a:rPr lang="fr-FR" b="1" i="1" dirty="0"/>
              <a:t>e</a:t>
            </a:r>
            <a:r>
              <a:rPr lang="fr-FR" i="1" dirty="0"/>
              <a:t> </a:t>
            </a:r>
            <a:r>
              <a:rPr lang="fr-FR" dirty="0"/>
              <a:t>∈ </a:t>
            </a:r>
            <a:r>
              <a:rPr lang="fr-FR" b="1" i="1" dirty="0"/>
              <a:t>K</a:t>
            </a:r>
            <a:r>
              <a:rPr lang="fr-FR" i="1" dirty="0"/>
              <a:t> </a:t>
            </a:r>
            <a:r>
              <a:rPr lang="fr-FR" dirty="0"/>
              <a:t>est associée une clé </a:t>
            </a:r>
            <a:r>
              <a:rPr lang="fr-FR" b="1" i="1" dirty="0"/>
              <a:t>d </a:t>
            </a:r>
            <a:r>
              <a:rPr lang="fr-FR" dirty="0"/>
              <a:t>∈ </a:t>
            </a:r>
            <a:r>
              <a:rPr lang="fr-FR" b="1" i="1" dirty="0"/>
              <a:t>K</a:t>
            </a:r>
            <a:r>
              <a:rPr lang="fr-FR" i="1" dirty="0"/>
              <a:t> </a:t>
            </a:r>
            <a:r>
              <a:rPr lang="fr-FR" dirty="0"/>
              <a:t>telle que: </a:t>
            </a:r>
            <a:r>
              <a:rPr lang="fr-FR" b="1" i="1" dirty="0"/>
              <a:t>D</a:t>
            </a:r>
            <a:r>
              <a:rPr lang="fr-FR" b="1" i="1" baseline="-25000" dirty="0"/>
              <a:t>d </a:t>
            </a:r>
            <a:r>
              <a:rPr lang="fr-FR" b="1" dirty="0"/>
              <a:t>(</a:t>
            </a:r>
            <a:r>
              <a:rPr lang="fr-FR" b="1" i="1" dirty="0" err="1"/>
              <a:t>E</a:t>
            </a:r>
            <a:r>
              <a:rPr lang="fr-FR" b="1" i="1" baseline="-25000" dirty="0" err="1"/>
              <a:t>e</a:t>
            </a:r>
            <a:r>
              <a:rPr lang="fr-FR" b="1" dirty="0"/>
              <a:t>(</a:t>
            </a:r>
            <a:r>
              <a:rPr lang="fr-FR" b="1" i="1" dirty="0"/>
              <a:t>p</a:t>
            </a:r>
            <a:r>
              <a:rPr lang="fr-FR" b="1" dirty="0"/>
              <a:t>)) = </a:t>
            </a:r>
            <a:r>
              <a:rPr lang="fr-FR" b="1" i="1" dirty="0"/>
              <a:t>p </a:t>
            </a:r>
            <a:r>
              <a:rPr lang="fr-FR" dirty="0"/>
              <a:t>et</a:t>
            </a:r>
          </a:p>
          <a:p>
            <a:pPr>
              <a:lnSpc>
                <a:spcPct val="150000"/>
              </a:lnSpc>
            </a:pPr>
            <a:r>
              <a:rPr lang="fr-FR" b="1" i="1" dirty="0" err="1"/>
              <a:t>E</a:t>
            </a:r>
            <a:r>
              <a:rPr lang="fr-FR" b="1" i="1" baseline="-25000" dirty="0" err="1"/>
              <a:t>e</a:t>
            </a:r>
            <a:r>
              <a:rPr lang="fr-FR" b="1" dirty="0"/>
              <a:t>(</a:t>
            </a:r>
            <a:r>
              <a:rPr lang="fr-FR" b="1" i="1" dirty="0"/>
              <a:t>D</a:t>
            </a:r>
            <a:r>
              <a:rPr lang="fr-FR" b="1" i="1" baseline="-25000" dirty="0"/>
              <a:t>d</a:t>
            </a:r>
            <a:r>
              <a:rPr lang="fr-FR" b="1" i="1" dirty="0"/>
              <a:t> </a:t>
            </a:r>
            <a:r>
              <a:rPr lang="fr-FR" b="1" dirty="0"/>
              <a:t>(</a:t>
            </a:r>
            <a:r>
              <a:rPr lang="fr-FR" b="1" i="1" dirty="0"/>
              <a:t>x</a:t>
            </a:r>
            <a:r>
              <a:rPr lang="fr-FR" b="1" dirty="0"/>
              <a:t>)) = </a:t>
            </a:r>
            <a:r>
              <a:rPr lang="fr-FR" b="1" i="1" dirty="0" smtClean="0"/>
              <a:t>x.</a:t>
            </a:r>
          </a:p>
          <a:p>
            <a:pPr>
              <a:lnSpc>
                <a:spcPct val="150000"/>
              </a:lnSpc>
            </a:pPr>
            <a:r>
              <a:rPr lang="fr-FR" b="1" i="1" dirty="0" smtClean="0"/>
              <a:t> </a:t>
            </a:r>
            <a:r>
              <a:rPr lang="fr-FR" dirty="0"/>
              <a:t>Le chiffrement d’un message </a:t>
            </a:r>
            <a:r>
              <a:rPr lang="fr-FR" b="1" dirty="0" smtClean="0"/>
              <a:t>en clair </a:t>
            </a:r>
            <a:r>
              <a:rPr lang="fr-FR" b="1" i="1" dirty="0" smtClean="0"/>
              <a:t>m</a:t>
            </a:r>
            <a:r>
              <a:rPr lang="fr-FR" i="1" dirty="0" smtClean="0"/>
              <a:t> </a:t>
            </a:r>
            <a:r>
              <a:rPr lang="fr-FR" dirty="0"/>
              <a:t>se fait par un algorithme </a:t>
            </a:r>
            <a:r>
              <a:rPr lang="fr-FR" dirty="0" smtClean="0"/>
              <a:t>de chiffrement </a:t>
            </a:r>
            <a:r>
              <a:rPr lang="fr-FR" dirty="0"/>
              <a:t>ou une fonction de chiffrement noté </a:t>
            </a:r>
            <a:r>
              <a:rPr lang="fr-FR" b="1" i="1" dirty="0" err="1"/>
              <a:t>E</a:t>
            </a:r>
            <a:r>
              <a:rPr lang="fr-FR" b="1" i="1" baseline="-25000" dirty="0" err="1"/>
              <a:t>k</a:t>
            </a:r>
            <a:r>
              <a:rPr lang="fr-FR" i="1" dirty="0"/>
              <a:t> </a:t>
            </a:r>
            <a:r>
              <a:rPr lang="fr-FR" dirty="0"/>
              <a:t>, l’entrée de cet algorithme est </a:t>
            </a:r>
            <a:r>
              <a:rPr lang="fr-FR" i="1" dirty="0" smtClean="0"/>
              <a:t>m </a:t>
            </a:r>
            <a:r>
              <a:rPr lang="fr-FR" dirty="0" smtClean="0"/>
              <a:t>(</a:t>
            </a:r>
            <a:r>
              <a:rPr lang="fr-FR" b="1" dirty="0" smtClean="0"/>
              <a:t>plain </a:t>
            </a:r>
            <a:r>
              <a:rPr lang="fr-FR" b="1" dirty="0" err="1"/>
              <a:t>text</a:t>
            </a:r>
            <a:r>
              <a:rPr lang="fr-FR" dirty="0"/>
              <a:t>) et on obtient comme sortie le </a:t>
            </a:r>
            <a:r>
              <a:rPr lang="fr-FR" b="1" dirty="0"/>
              <a:t>message chiffré </a:t>
            </a:r>
            <a:r>
              <a:rPr lang="fr-FR" b="1" i="1" dirty="0"/>
              <a:t>c </a:t>
            </a:r>
            <a:r>
              <a:rPr lang="fr-FR" b="1" dirty="0"/>
              <a:t>= </a:t>
            </a:r>
            <a:r>
              <a:rPr lang="fr-FR" b="1" i="1" dirty="0" err="1"/>
              <a:t>E</a:t>
            </a:r>
            <a:r>
              <a:rPr lang="fr-FR" b="1" i="1" baseline="-25000" dirty="0" err="1"/>
              <a:t>k</a:t>
            </a:r>
            <a:r>
              <a:rPr lang="fr-FR" b="1" i="1" dirty="0"/>
              <a:t> </a:t>
            </a:r>
            <a:r>
              <a:rPr lang="fr-FR" b="1" dirty="0"/>
              <a:t>(</a:t>
            </a:r>
            <a:r>
              <a:rPr lang="fr-FR" b="1" i="1" dirty="0"/>
              <a:t>m</a:t>
            </a:r>
            <a:r>
              <a:rPr lang="fr-FR" b="1" dirty="0"/>
              <a:t>) </a:t>
            </a:r>
            <a:r>
              <a:rPr lang="fr-FR" dirty="0"/>
              <a:t>(</a:t>
            </a:r>
            <a:r>
              <a:rPr lang="fr-FR" b="1" dirty="0" err="1"/>
              <a:t>ciphertext</a:t>
            </a:r>
            <a:r>
              <a:rPr lang="fr-FR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6226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/>
      <p:bldP spid="5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Définitions </a:t>
            </a:r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fr-FR" sz="2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 Terminologies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au Cryptographie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3146" y="62068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Définitions</a:t>
            </a:r>
            <a:r>
              <a:rPr lang="fr-FR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 </a:t>
            </a:r>
            <a:r>
              <a:rPr lang="fr-FR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Terminologies</a:t>
            </a:r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44778" y="1226369"/>
            <a:ext cx="8964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déchiffrement à partir du chiffré ou cryptogramme se fait en utilisant un algorithme</a:t>
            </a:r>
          </a:p>
          <a:p>
            <a:r>
              <a:rPr lang="fr-FR" dirty="0"/>
              <a:t>de déchiffrement </a:t>
            </a:r>
            <a:r>
              <a:rPr lang="fr-FR" i="1" dirty="0" err="1"/>
              <a:t>Dk</a:t>
            </a:r>
            <a:r>
              <a:rPr lang="fr-FR" i="1" dirty="0"/>
              <a:t> </a:t>
            </a:r>
            <a:r>
              <a:rPr lang="fr-FR" dirty="0"/>
              <a:t>, prenant en entrée le message chiffré </a:t>
            </a:r>
            <a:r>
              <a:rPr lang="fr-FR" i="1" dirty="0"/>
              <a:t>c </a:t>
            </a:r>
            <a:r>
              <a:rPr lang="fr-FR" dirty="0"/>
              <a:t>et la même clé </a:t>
            </a:r>
            <a:r>
              <a:rPr lang="fr-FR" i="1" dirty="0"/>
              <a:t>k</a:t>
            </a:r>
            <a:r>
              <a:rPr lang="fr-FR" dirty="0"/>
              <a:t>;</a:t>
            </a:r>
          </a:p>
          <a:p>
            <a:r>
              <a:rPr lang="nb-NO" i="1" dirty="0"/>
              <a:t>Dk </a:t>
            </a:r>
            <a:r>
              <a:rPr lang="nb-NO" dirty="0"/>
              <a:t>(</a:t>
            </a:r>
            <a:r>
              <a:rPr lang="nb-NO" i="1" dirty="0"/>
              <a:t>Ek </a:t>
            </a:r>
            <a:r>
              <a:rPr lang="nb-NO" dirty="0"/>
              <a:t>(</a:t>
            </a:r>
            <a:r>
              <a:rPr lang="nb-NO" i="1" dirty="0"/>
              <a:t>m</a:t>
            </a:r>
            <a:r>
              <a:rPr lang="nb-NO" dirty="0"/>
              <a:t>)) = </a:t>
            </a:r>
            <a:r>
              <a:rPr lang="nb-NO" i="1" dirty="0"/>
              <a:t>m </a:t>
            </a:r>
            <a:r>
              <a:rPr lang="nb-NO" dirty="0"/>
              <a:t>et </a:t>
            </a:r>
            <a:r>
              <a:rPr lang="nb-NO" i="1" dirty="0"/>
              <a:t>Ek </a:t>
            </a:r>
            <a:r>
              <a:rPr lang="nb-NO" dirty="0"/>
              <a:t>(</a:t>
            </a:r>
            <a:r>
              <a:rPr lang="nb-NO" i="1" dirty="0"/>
              <a:t>Dk </a:t>
            </a:r>
            <a:r>
              <a:rPr lang="nb-NO" dirty="0"/>
              <a:t>(</a:t>
            </a:r>
            <a:r>
              <a:rPr lang="nb-NO" i="1" dirty="0"/>
              <a:t>c</a:t>
            </a:r>
            <a:r>
              <a:rPr lang="nb-NO" dirty="0"/>
              <a:t>)) = </a:t>
            </a:r>
            <a:r>
              <a:rPr lang="nb-NO" i="1" dirty="0"/>
              <a:t>c</a:t>
            </a:r>
            <a:r>
              <a:rPr lang="nb-NO" dirty="0"/>
              <a:t>.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293715"/>
            <a:ext cx="5434714" cy="2575445"/>
          </a:xfrm>
          <a:prstGeom prst="rect">
            <a:avLst/>
          </a:prstGeom>
        </p:spPr>
      </p:pic>
      <p:grpSp>
        <p:nvGrpSpPr>
          <p:cNvPr id="8" name="Groupe 7"/>
          <p:cNvGrpSpPr/>
          <p:nvPr/>
        </p:nvGrpSpPr>
        <p:grpSpPr>
          <a:xfrm>
            <a:off x="111514" y="4749800"/>
            <a:ext cx="8997752" cy="1937216"/>
            <a:chOff x="111514" y="4749800"/>
            <a:chExt cx="8997752" cy="1937216"/>
          </a:xfrm>
        </p:grpSpPr>
        <p:grpSp>
          <p:nvGrpSpPr>
            <p:cNvPr id="2" name="Groupe 1"/>
            <p:cNvGrpSpPr/>
            <p:nvPr/>
          </p:nvGrpSpPr>
          <p:grpSpPr>
            <a:xfrm>
              <a:off x="111514" y="4749800"/>
              <a:ext cx="8997752" cy="1937216"/>
              <a:chOff x="111514" y="4749800"/>
              <a:chExt cx="8997752" cy="1937216"/>
            </a:xfrm>
          </p:grpSpPr>
          <p:sp>
            <p:nvSpPr>
              <p:cNvPr id="13" name="Rectangle 29"/>
              <p:cNvSpPr>
                <a:spLocks noChangeArrowheads="1"/>
              </p:cNvSpPr>
              <p:nvPr/>
            </p:nvSpPr>
            <p:spPr bwMode="black">
              <a:xfrm>
                <a:off x="144778" y="5363577"/>
                <a:ext cx="8964488" cy="1200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fr-FR" dirty="0"/>
                  <a:t>On parle de la cryptographie à </a:t>
                </a:r>
                <a:r>
                  <a:rPr lang="fr-FR" b="1" dirty="0"/>
                  <a:t>clé secrète </a:t>
                </a:r>
                <a:r>
                  <a:rPr lang="fr-FR" dirty="0"/>
                  <a:t>ou </a:t>
                </a:r>
                <a:r>
                  <a:rPr lang="fr-FR" b="1" dirty="0"/>
                  <a:t>symétrique</a:t>
                </a:r>
                <a:r>
                  <a:rPr lang="fr-FR" dirty="0"/>
                  <a:t> si les clés de chiffrement et </a:t>
                </a:r>
                <a:r>
                  <a:rPr lang="fr-FR" dirty="0" smtClean="0"/>
                  <a:t>les clés </a:t>
                </a:r>
                <a:r>
                  <a:rPr lang="fr-FR" dirty="0"/>
                  <a:t>de déchiffrement sont égaux, on se déduit l’une à l’autre;</a:t>
                </a:r>
              </a:p>
              <a:p>
                <a:r>
                  <a:rPr lang="fr-FR" i="1" dirty="0"/>
                  <a:t>k </a:t>
                </a:r>
                <a:r>
                  <a:rPr lang="fr-FR" dirty="0"/>
                  <a:t>= </a:t>
                </a:r>
                <a:r>
                  <a:rPr lang="fr-FR" i="1" dirty="0"/>
                  <a:t>e </a:t>
                </a:r>
                <a:r>
                  <a:rPr lang="fr-FR" dirty="0"/>
                  <a:t>Cryptographie </a:t>
                </a:r>
                <a:r>
                  <a:rPr lang="fr-FR" b="1" dirty="0">
                    <a:solidFill>
                      <a:schemeClr val="accent2">
                        <a:lumMod val="75000"/>
                      </a:schemeClr>
                    </a:solidFill>
                  </a:rPr>
                  <a:t>symétrique</a:t>
                </a:r>
                <a:r>
                  <a:rPr lang="fr-FR" dirty="0"/>
                  <a:t> où à </a:t>
                </a:r>
                <a:r>
                  <a:rPr lang="fr-FR" b="1" dirty="0">
                    <a:solidFill>
                      <a:schemeClr val="accent2">
                        <a:lumMod val="75000"/>
                      </a:schemeClr>
                    </a:solidFill>
                  </a:rPr>
                  <a:t>clé secrète</a:t>
                </a:r>
                <a:r>
                  <a:rPr lang="fr-FR" dirty="0"/>
                  <a:t>.</a:t>
                </a:r>
              </a:p>
              <a:p>
                <a:r>
                  <a:rPr lang="fr-FR" i="1" dirty="0" smtClean="0"/>
                  <a:t>K ≠ e </a:t>
                </a:r>
                <a:r>
                  <a:rPr lang="fr-FR" dirty="0"/>
                  <a:t>Cryptographie </a:t>
                </a:r>
                <a:r>
                  <a:rPr lang="fr-FR" b="1" dirty="0">
                    <a:solidFill>
                      <a:schemeClr val="accent2">
                        <a:lumMod val="75000"/>
                      </a:schemeClr>
                    </a:solidFill>
                  </a:rPr>
                  <a:t>asymétrique</a:t>
                </a:r>
                <a:r>
                  <a:rPr lang="fr-FR" dirty="0"/>
                  <a:t> où à </a:t>
                </a:r>
                <a:r>
                  <a:rPr lang="fr-FR" b="1" dirty="0">
                    <a:solidFill>
                      <a:schemeClr val="accent2">
                        <a:lumMod val="75000"/>
                      </a:schemeClr>
                    </a:solidFill>
                  </a:rPr>
                  <a:t>clé publique</a:t>
                </a:r>
                <a:r>
                  <a:rPr lang="fr-FR" dirty="0"/>
                  <a:t>.</a:t>
                </a:r>
              </a:p>
            </p:txBody>
          </p:sp>
          <p:sp>
            <p:nvSpPr>
              <p:cNvPr id="14" name="AutoShape 33"/>
              <p:cNvSpPr>
                <a:spLocks noChangeArrowheads="1"/>
              </p:cNvSpPr>
              <p:nvPr/>
            </p:nvSpPr>
            <p:spPr bwMode="auto">
              <a:xfrm>
                <a:off x="111514" y="5127288"/>
                <a:ext cx="8852974" cy="1559728"/>
              </a:xfrm>
              <a:prstGeom prst="roundRect">
                <a:avLst>
                  <a:gd name="adj" fmla="val 8856"/>
                </a:avLst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grpSp>
            <p:nvGrpSpPr>
              <p:cNvPr id="9" name="Group 6"/>
              <p:cNvGrpSpPr>
                <a:grpSpLocks/>
              </p:cNvGrpSpPr>
              <p:nvPr/>
            </p:nvGrpSpPr>
            <p:grpSpPr bwMode="auto">
              <a:xfrm>
                <a:off x="320650" y="4749800"/>
                <a:ext cx="2886075" cy="444500"/>
                <a:chOff x="624" y="672"/>
                <a:chExt cx="1773" cy="240"/>
              </a:xfrm>
            </p:grpSpPr>
            <p:sp>
              <p:nvSpPr>
                <p:cNvPr id="10" name="AutoShape 7"/>
                <p:cNvSpPr>
                  <a:spLocks noChangeArrowheads="1"/>
                </p:cNvSpPr>
                <p:nvPr/>
              </p:nvSpPr>
              <p:spPr bwMode="gray">
                <a:xfrm>
                  <a:off x="624" y="672"/>
                  <a:ext cx="1773" cy="240"/>
                </a:xfrm>
                <a:prstGeom prst="roundRect">
                  <a:avLst>
                    <a:gd name="adj" fmla="val 27917"/>
                  </a:avLst>
                </a:prstGeom>
                <a:solidFill>
                  <a:srgbClr val="FF7C80"/>
                </a:solidFill>
                <a:ln>
                  <a:noFill/>
                </a:ln>
                <a:effectLst>
                  <a:outerShdw dist="25400" dir="5400000" algn="ctr" rotWithShape="0">
                    <a:srgbClr val="1C1C1C">
                      <a:alpha val="50000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1" name="AutoShape 8"/>
                <p:cNvSpPr>
                  <a:spLocks noChangeArrowheads="1"/>
                </p:cNvSpPr>
                <p:nvPr/>
              </p:nvSpPr>
              <p:spPr bwMode="gray">
                <a:xfrm>
                  <a:off x="636" y="674"/>
                  <a:ext cx="1748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FF7C80">
                        <a:gamma/>
                        <a:tint val="0"/>
                        <a:invGamma/>
                        <a:alpha val="30000"/>
                      </a:srgbClr>
                    </a:gs>
                    <a:gs pos="100000">
                      <a:srgbClr val="FF7C80">
                        <a:alpha val="30000"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</p:grpSp>
        <p:sp>
          <p:nvSpPr>
            <p:cNvPr id="15" name="Rectangle 27"/>
            <p:cNvSpPr>
              <a:spLocks noChangeArrowheads="1"/>
            </p:cNvSpPr>
            <p:nvPr/>
          </p:nvSpPr>
          <p:spPr bwMode="white">
            <a:xfrm>
              <a:off x="601066" y="4820269"/>
              <a:ext cx="118654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600" b="1" dirty="0">
                  <a:solidFill>
                    <a:srgbClr val="C00000"/>
                  </a:solidFill>
                </a:rPr>
                <a:t>Remarque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321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Définitions </a:t>
            </a:r>
            <a:r>
              <a:rPr lang="fr-FR" sz="2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 Terminologies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au Cryptographie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3146" y="62068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44778" y="1226369"/>
            <a:ext cx="89644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Il existe 2 types de chiffrement:</a:t>
            </a:r>
          </a:p>
          <a:p>
            <a:pPr>
              <a:lnSpc>
                <a:spcPct val="150000"/>
              </a:lnSpc>
            </a:pPr>
            <a:r>
              <a:rPr lang="fr-FR" sz="2000" dirty="0"/>
              <a:t>–Le </a:t>
            </a:r>
            <a:r>
              <a:rPr lang="fr-FR" sz="2000" b="1" dirty="0"/>
              <a:t>chiffrement symétrique</a:t>
            </a:r>
            <a:r>
              <a:rPr lang="fr-FR" sz="2000" dirty="0"/>
              <a:t> (ou chiffrement à </a:t>
            </a:r>
            <a:r>
              <a:rPr lang="fr-FR" sz="2000" b="1" dirty="0">
                <a:solidFill>
                  <a:schemeClr val="bg1">
                    <a:lumMod val="75000"/>
                  </a:schemeClr>
                </a:solidFill>
              </a:rPr>
              <a:t>clé privée</a:t>
            </a:r>
            <a:r>
              <a:rPr lang="fr-FR" sz="2000" dirty="0"/>
              <a:t>) consiste à utiliser </a:t>
            </a:r>
            <a:r>
              <a:rPr lang="fr-FR" sz="2000" b="1" dirty="0"/>
              <a:t>la même clé pour le chiffrement et le déchiffrement</a:t>
            </a:r>
            <a:r>
              <a:rPr lang="fr-FR" sz="2000" dirty="0"/>
              <a:t>..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504" y="2996952"/>
            <a:ext cx="6781283" cy="2126016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79512" y="620688"/>
            <a:ext cx="37444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FF0000"/>
                </a:solidFill>
              </a:rPr>
              <a:t>Chiffrement </a:t>
            </a:r>
            <a:r>
              <a:rPr lang="fr-FR" sz="2000" b="1" dirty="0">
                <a:solidFill>
                  <a:srgbClr val="FF0000"/>
                </a:solidFill>
              </a:rPr>
              <a:t>symétrique </a:t>
            </a:r>
          </a:p>
        </p:txBody>
      </p:sp>
    </p:spTree>
    <p:extLst>
      <p:ext uri="{BB962C8B-B14F-4D97-AF65-F5344CB8AC3E}">
        <p14:creationId xmlns:p14="http://schemas.microsoft.com/office/powerpoint/2010/main" val="261463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Définitions </a:t>
            </a:r>
            <a:r>
              <a:rPr lang="fr-FR" sz="20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 Terminologies</a:t>
            </a:r>
            <a:endParaRPr lang="fr-FR" sz="20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au Cryptographie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3146" y="62068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3146" y="1226369"/>
            <a:ext cx="914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–Le </a:t>
            </a:r>
            <a:r>
              <a:rPr lang="fr-FR" sz="2000" b="1" dirty="0" smtClean="0">
                <a:solidFill>
                  <a:schemeClr val="bg1">
                    <a:lumMod val="75000"/>
                  </a:schemeClr>
                </a:solidFill>
              </a:rPr>
              <a:t>chiffrement asymétrique </a:t>
            </a:r>
            <a:r>
              <a:rPr lang="fr-FR" sz="2000" dirty="0" smtClean="0"/>
              <a:t>(</a:t>
            </a:r>
            <a:r>
              <a:rPr lang="fr-FR" sz="2000" dirty="0"/>
              <a:t>ou chiffrement à </a:t>
            </a:r>
            <a:r>
              <a:rPr lang="fr-FR" sz="2000" b="1" dirty="0"/>
              <a:t>clés publiques</a:t>
            </a:r>
            <a:r>
              <a:rPr lang="fr-FR" sz="2000" dirty="0"/>
              <a:t>) consiste à utiliser </a:t>
            </a:r>
            <a:r>
              <a:rPr lang="fr-FR" sz="2000" b="1" dirty="0">
                <a:solidFill>
                  <a:schemeClr val="bg1">
                    <a:lumMod val="75000"/>
                  </a:schemeClr>
                </a:solidFill>
              </a:rPr>
              <a:t>une clé publique </a:t>
            </a:r>
            <a:r>
              <a:rPr lang="fr-FR" sz="2000" dirty="0"/>
              <a:t>pour </a:t>
            </a:r>
            <a:r>
              <a:rPr lang="fr-FR" sz="2000" b="1" dirty="0"/>
              <a:t>le chiffrement </a:t>
            </a:r>
            <a:r>
              <a:rPr lang="fr-FR" sz="2000" dirty="0"/>
              <a:t>et </a:t>
            </a:r>
            <a:r>
              <a:rPr lang="fr-FR" sz="2000" dirty="0">
                <a:solidFill>
                  <a:schemeClr val="bg1">
                    <a:lumMod val="75000"/>
                  </a:schemeClr>
                </a:solidFill>
              </a:rPr>
              <a:t>une clé privée </a:t>
            </a:r>
            <a:r>
              <a:rPr lang="fr-FR" sz="2000" dirty="0"/>
              <a:t>pour le </a:t>
            </a:r>
            <a:r>
              <a:rPr lang="fr-FR" sz="2000" b="1" dirty="0"/>
              <a:t>déchiffrement</a:t>
            </a:r>
            <a:r>
              <a:rPr lang="fr-FR" sz="2000" dirty="0"/>
              <a:t>.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51520" y="620688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Chiffrement </a:t>
            </a:r>
            <a:r>
              <a:rPr lang="fr-FR" b="1" dirty="0">
                <a:solidFill>
                  <a:srgbClr val="FF0000"/>
                </a:solidFill>
              </a:rPr>
              <a:t>asymétrique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51" y="3140968"/>
            <a:ext cx="7869190" cy="165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03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/>
          <p:cNvGrpSpPr/>
          <p:nvPr/>
        </p:nvGrpSpPr>
        <p:grpSpPr>
          <a:xfrm>
            <a:off x="323528" y="1601017"/>
            <a:ext cx="8496944" cy="3311575"/>
            <a:chOff x="323528" y="1601017"/>
            <a:chExt cx="8496944" cy="3311575"/>
          </a:xfrm>
        </p:grpSpPr>
        <p:grpSp>
          <p:nvGrpSpPr>
            <p:cNvPr id="82" name="Groupe 81"/>
            <p:cNvGrpSpPr/>
            <p:nvPr/>
          </p:nvGrpSpPr>
          <p:grpSpPr>
            <a:xfrm>
              <a:off x="3372172" y="1601017"/>
              <a:ext cx="2395959" cy="536575"/>
              <a:chOff x="3372172" y="1601017"/>
              <a:chExt cx="2395959" cy="536575"/>
            </a:xfrm>
          </p:grpSpPr>
          <p:grpSp>
            <p:nvGrpSpPr>
              <p:cNvPr id="19" name="Group 20"/>
              <p:cNvGrpSpPr>
                <a:grpSpLocks/>
              </p:cNvGrpSpPr>
              <p:nvPr/>
            </p:nvGrpSpPr>
            <p:grpSpPr bwMode="auto">
              <a:xfrm>
                <a:off x="3372172" y="1601017"/>
                <a:ext cx="2395959" cy="536575"/>
                <a:chOff x="3964" y="2071"/>
                <a:chExt cx="1484" cy="330"/>
              </a:xfrm>
            </p:grpSpPr>
            <p:sp>
              <p:nvSpPr>
                <p:cNvPr id="20" name="AutoShape 21"/>
                <p:cNvSpPr>
                  <a:spLocks noChangeArrowheads="1"/>
                </p:cNvSpPr>
                <p:nvPr/>
              </p:nvSpPr>
              <p:spPr bwMode="gray">
                <a:xfrm>
                  <a:off x="3964" y="2071"/>
                  <a:ext cx="1484" cy="33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DDDDD"/>
                </a:solidFill>
                <a:ln w="12700" algn="ctr">
                  <a:solidFill>
                    <a:srgbClr val="80808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21" name="AutoShape 22"/>
                <p:cNvSpPr>
                  <a:spLocks noChangeArrowheads="1"/>
                </p:cNvSpPr>
                <p:nvPr/>
              </p:nvSpPr>
              <p:spPr bwMode="gray">
                <a:xfrm>
                  <a:off x="3987" y="2091"/>
                  <a:ext cx="1432" cy="134"/>
                </a:xfrm>
                <a:prstGeom prst="roundRect">
                  <a:avLst>
                    <a:gd name="adj" fmla="val 28356"/>
                  </a:avLst>
                </a:prstGeom>
                <a:gradFill rotWithShape="1">
                  <a:gsLst>
                    <a:gs pos="0">
                      <a:srgbClr val="FFFFFF">
                        <a:alpha val="70000"/>
                      </a:srgbClr>
                    </a:gs>
                    <a:gs pos="100000">
                      <a:srgbClr val="DDDDDD">
                        <a:alpha val="70000"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7961" dir="13500000" algn="ctr" rotWithShape="0">
                          <a:srgbClr val="FFFFFF">
                            <a:gamma/>
                            <a:shade val="60000"/>
                            <a:invGamma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7" name="Text Box 28"/>
              <p:cNvSpPr txBox="1">
                <a:spLocks noChangeArrowheads="1"/>
              </p:cNvSpPr>
              <p:nvPr/>
            </p:nvSpPr>
            <p:spPr bwMode="black">
              <a:xfrm>
                <a:off x="3430375" y="1697596"/>
                <a:ext cx="2237011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2"/>
                        </a:gs>
                        <a:gs pos="100000">
                          <a:schemeClr val="accent2">
                            <a:gamma/>
                            <a:tint val="73725"/>
                            <a:invGamma/>
                          </a:schemeClr>
                        </a:gs>
                      </a:gsLst>
                      <a:lin ang="5400000" scaled="1"/>
                    </a:gra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00172E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fr-FR" altLang="fr-FR" sz="2000" dirty="0" smtClean="0">
                    <a:solidFill>
                      <a:srgbClr val="003366"/>
                    </a:solidFill>
                    <a:latin typeface="Arial Black" panose="020B0A04020102020204" pitchFamily="34" charset="0"/>
                  </a:rPr>
                  <a:t>Cryptographie</a:t>
                </a:r>
                <a:endParaRPr lang="fr-FR" altLang="fr-FR" sz="2000" dirty="0">
                  <a:solidFill>
                    <a:srgbClr val="003366"/>
                  </a:solidFill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84" name="Groupe 83"/>
            <p:cNvGrpSpPr/>
            <p:nvPr/>
          </p:nvGrpSpPr>
          <p:grpSpPr>
            <a:xfrm>
              <a:off x="5829300" y="2857500"/>
              <a:ext cx="1711325" cy="536575"/>
              <a:chOff x="5829300" y="2857500"/>
              <a:chExt cx="1711325" cy="536575"/>
            </a:xfrm>
          </p:grpSpPr>
          <p:grpSp>
            <p:nvGrpSpPr>
              <p:cNvPr id="2" name="Group 3"/>
              <p:cNvGrpSpPr>
                <a:grpSpLocks/>
              </p:cNvGrpSpPr>
              <p:nvPr/>
            </p:nvGrpSpPr>
            <p:grpSpPr bwMode="auto">
              <a:xfrm>
                <a:off x="5829300" y="2857500"/>
                <a:ext cx="1711325" cy="536575"/>
                <a:chOff x="3964" y="2071"/>
                <a:chExt cx="1484" cy="330"/>
              </a:xfrm>
            </p:grpSpPr>
            <p:sp>
              <p:nvSpPr>
                <p:cNvPr id="3" name="AutoShape 4"/>
                <p:cNvSpPr>
                  <a:spLocks noChangeArrowheads="1"/>
                </p:cNvSpPr>
                <p:nvPr/>
              </p:nvSpPr>
              <p:spPr bwMode="gray">
                <a:xfrm>
                  <a:off x="3964" y="2071"/>
                  <a:ext cx="1484" cy="33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DDDDD"/>
                </a:solidFill>
                <a:ln w="12700" algn="ctr">
                  <a:solidFill>
                    <a:srgbClr val="80808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" name="AutoShape 5"/>
                <p:cNvSpPr>
                  <a:spLocks noChangeArrowheads="1"/>
                </p:cNvSpPr>
                <p:nvPr/>
              </p:nvSpPr>
              <p:spPr bwMode="gray">
                <a:xfrm>
                  <a:off x="3987" y="2091"/>
                  <a:ext cx="1432" cy="134"/>
                </a:xfrm>
                <a:prstGeom prst="roundRect">
                  <a:avLst>
                    <a:gd name="adj" fmla="val 28356"/>
                  </a:avLst>
                </a:prstGeom>
                <a:gradFill rotWithShape="1">
                  <a:gsLst>
                    <a:gs pos="0">
                      <a:srgbClr val="FFFFFF">
                        <a:alpha val="70000"/>
                      </a:srgbClr>
                    </a:gs>
                    <a:gs pos="100000">
                      <a:srgbClr val="DDDDDD">
                        <a:alpha val="70000"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7961" dir="13500000" algn="ctr" rotWithShape="0">
                          <a:srgbClr val="FFFFFF">
                            <a:gamma/>
                            <a:shade val="60000"/>
                            <a:invGamma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8" name="Text Box 29"/>
              <p:cNvSpPr txBox="1">
                <a:spLocks noChangeArrowheads="1"/>
              </p:cNvSpPr>
              <p:nvPr/>
            </p:nvSpPr>
            <p:spPr bwMode="black">
              <a:xfrm>
                <a:off x="5838825" y="2957513"/>
                <a:ext cx="16891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2"/>
                        </a:gs>
                        <a:gs pos="100000">
                          <a:schemeClr val="accent2">
                            <a:gamma/>
                            <a:tint val="73725"/>
                            <a:invGamma/>
                          </a:schemeClr>
                        </a:gs>
                      </a:gsLst>
                      <a:lin ang="5400000" scaled="1"/>
                    </a:gra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fr-FR" altLang="fr-FR" b="1" dirty="0" smtClean="0">
                    <a:solidFill>
                      <a:srgbClr val="000000"/>
                    </a:solidFill>
                  </a:rPr>
                  <a:t>Moderne</a:t>
                </a:r>
                <a:endParaRPr lang="fr-FR" altLang="fr-FR" sz="1600" b="1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8" name="Groupe 87"/>
            <p:cNvGrpSpPr/>
            <p:nvPr/>
          </p:nvGrpSpPr>
          <p:grpSpPr>
            <a:xfrm>
              <a:off x="4788024" y="4053332"/>
              <a:ext cx="1695556" cy="536575"/>
              <a:chOff x="5845070" y="4102100"/>
              <a:chExt cx="1695556" cy="536575"/>
            </a:xfrm>
          </p:grpSpPr>
          <p:grpSp>
            <p:nvGrpSpPr>
              <p:cNvPr id="10" name="Group 11"/>
              <p:cNvGrpSpPr>
                <a:grpSpLocks/>
              </p:cNvGrpSpPr>
              <p:nvPr/>
            </p:nvGrpSpPr>
            <p:grpSpPr bwMode="auto">
              <a:xfrm>
                <a:off x="5899150" y="4102100"/>
                <a:ext cx="1641475" cy="536575"/>
                <a:chOff x="3964" y="2071"/>
                <a:chExt cx="1484" cy="330"/>
              </a:xfrm>
            </p:grpSpPr>
            <p:sp>
              <p:nvSpPr>
                <p:cNvPr id="11" name="AutoShape 12"/>
                <p:cNvSpPr>
                  <a:spLocks noChangeArrowheads="1"/>
                </p:cNvSpPr>
                <p:nvPr/>
              </p:nvSpPr>
              <p:spPr bwMode="gray">
                <a:xfrm>
                  <a:off x="3964" y="2071"/>
                  <a:ext cx="1484" cy="33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2"/>
                </a:solidFill>
                <a:ln w="12700" algn="ctr">
                  <a:solidFill>
                    <a:srgbClr val="80808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2" name="AutoShape 13"/>
                <p:cNvSpPr>
                  <a:spLocks noChangeArrowheads="1"/>
                </p:cNvSpPr>
                <p:nvPr/>
              </p:nvSpPr>
              <p:spPr bwMode="gray">
                <a:xfrm>
                  <a:off x="3987" y="2091"/>
                  <a:ext cx="1432" cy="134"/>
                </a:xfrm>
                <a:prstGeom prst="roundRect">
                  <a:avLst>
                    <a:gd name="adj" fmla="val 28356"/>
                  </a:avLst>
                </a:prstGeom>
                <a:gradFill rotWithShape="1">
                  <a:gsLst>
                    <a:gs pos="0">
                      <a:srgbClr val="FFFFFF">
                        <a:alpha val="70000"/>
                      </a:srgbClr>
                    </a:gs>
                    <a:gs pos="100000">
                      <a:schemeClr val="accent2">
                        <a:alpha val="70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7961" dir="13500000" algn="ctr" rotWithShape="0">
                          <a:srgbClr val="FFFFFF">
                            <a:gamma/>
                            <a:shade val="60000"/>
                            <a:invGamma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29" name="Text Box 30"/>
              <p:cNvSpPr txBox="1">
                <a:spLocks noChangeArrowheads="1"/>
              </p:cNvSpPr>
              <p:nvPr/>
            </p:nvSpPr>
            <p:spPr bwMode="white">
              <a:xfrm>
                <a:off x="5845070" y="4177084"/>
                <a:ext cx="1695556" cy="36671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17961" dir="2700000" algn="ctr" rotWithShape="0">
                  <a:srgbClr val="1C1C1C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2"/>
                        </a:gs>
                        <a:gs pos="100000">
                          <a:schemeClr val="accent2">
                            <a:gamma/>
                            <a:tint val="73725"/>
                            <a:invGamma/>
                          </a:schemeClr>
                        </a:gs>
                      </a:gsLst>
                      <a:lin ang="5400000" scaled="1"/>
                    </a:gra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fr-FR" altLang="fr-FR" b="1" dirty="0" smtClean="0">
                    <a:solidFill>
                      <a:srgbClr val="F8F8F8"/>
                    </a:solidFill>
                  </a:rPr>
                  <a:t>Symétrique</a:t>
                </a:r>
                <a:r>
                  <a:rPr lang="en-US" altLang="fr-FR" b="1" dirty="0" smtClean="0">
                    <a:solidFill>
                      <a:srgbClr val="F8F8F8"/>
                    </a:solidFill>
                  </a:rPr>
                  <a:t> </a:t>
                </a:r>
                <a:endParaRPr lang="en-US" altLang="fr-FR" b="1" dirty="0">
                  <a:solidFill>
                    <a:srgbClr val="F8F8F8"/>
                  </a:solidFill>
                </a:endParaRPr>
              </a:p>
            </p:txBody>
          </p:sp>
        </p:grpSp>
        <p:grpSp>
          <p:nvGrpSpPr>
            <p:cNvPr id="71" name="Groupe 70"/>
            <p:cNvGrpSpPr/>
            <p:nvPr/>
          </p:nvGrpSpPr>
          <p:grpSpPr>
            <a:xfrm>
              <a:off x="323528" y="4091360"/>
              <a:ext cx="1953872" cy="504055"/>
              <a:chOff x="323528" y="4077072"/>
              <a:chExt cx="1953872" cy="504055"/>
            </a:xfrm>
          </p:grpSpPr>
          <p:grpSp>
            <p:nvGrpSpPr>
              <p:cNvPr id="7" name="Group 8"/>
              <p:cNvGrpSpPr>
                <a:grpSpLocks/>
              </p:cNvGrpSpPr>
              <p:nvPr/>
            </p:nvGrpSpPr>
            <p:grpSpPr bwMode="auto">
              <a:xfrm>
                <a:off x="323528" y="4077072"/>
                <a:ext cx="1953872" cy="504055"/>
                <a:chOff x="3964" y="2071"/>
                <a:chExt cx="1484" cy="330"/>
              </a:xfrm>
            </p:grpSpPr>
            <p:sp>
              <p:nvSpPr>
                <p:cNvPr id="8" name="AutoShape 9"/>
                <p:cNvSpPr>
                  <a:spLocks noChangeArrowheads="1"/>
                </p:cNvSpPr>
                <p:nvPr/>
              </p:nvSpPr>
              <p:spPr bwMode="gray">
                <a:xfrm>
                  <a:off x="3964" y="2071"/>
                  <a:ext cx="1484" cy="33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folHlink"/>
                </a:solidFill>
                <a:ln w="12700" algn="ctr">
                  <a:solidFill>
                    <a:srgbClr val="80808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9" name="AutoShape 10"/>
                <p:cNvSpPr>
                  <a:spLocks noChangeArrowheads="1"/>
                </p:cNvSpPr>
                <p:nvPr/>
              </p:nvSpPr>
              <p:spPr bwMode="gray">
                <a:xfrm>
                  <a:off x="3987" y="2091"/>
                  <a:ext cx="1432" cy="134"/>
                </a:xfrm>
                <a:prstGeom prst="roundRect">
                  <a:avLst>
                    <a:gd name="adj" fmla="val 28356"/>
                  </a:avLst>
                </a:prstGeom>
                <a:gradFill rotWithShape="1">
                  <a:gsLst>
                    <a:gs pos="0">
                      <a:srgbClr val="FFFFFF">
                        <a:alpha val="70000"/>
                      </a:srgbClr>
                    </a:gs>
                    <a:gs pos="100000">
                      <a:schemeClr val="folHlink">
                        <a:alpha val="70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7961" dir="13500000" algn="ctr" rotWithShape="0">
                          <a:srgbClr val="FFFFFF">
                            <a:gamma/>
                            <a:shade val="60000"/>
                            <a:invGamma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0" name="Text Box 31"/>
              <p:cNvSpPr txBox="1">
                <a:spLocks noChangeArrowheads="1"/>
              </p:cNvSpPr>
              <p:nvPr/>
            </p:nvSpPr>
            <p:spPr bwMode="white">
              <a:xfrm>
                <a:off x="353809" y="4149080"/>
                <a:ext cx="1870592" cy="36671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17961" dir="2700000" algn="ctr" rotWithShape="0">
                  <a:srgbClr val="1C1C1C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2"/>
                        </a:gs>
                        <a:gs pos="100000">
                          <a:schemeClr val="accent2">
                            <a:gamma/>
                            <a:tint val="73725"/>
                            <a:invGamma/>
                          </a:schemeClr>
                        </a:gs>
                      </a:gsLst>
                      <a:lin ang="5400000" scaled="1"/>
                    </a:gra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fr-FR" b="1" dirty="0" smtClean="0">
                    <a:solidFill>
                      <a:srgbClr val="F8F8F8"/>
                    </a:solidFill>
                  </a:rPr>
                  <a:t>Substitution</a:t>
                </a:r>
                <a:endParaRPr lang="en-US" altLang="fr-FR" b="1" dirty="0">
                  <a:solidFill>
                    <a:srgbClr val="F8F8F8"/>
                  </a:solidFill>
                </a:endParaRPr>
              </a:p>
            </p:txBody>
          </p:sp>
        </p:grpSp>
        <p:grpSp>
          <p:nvGrpSpPr>
            <p:cNvPr id="69" name="Groupe 68"/>
            <p:cNvGrpSpPr/>
            <p:nvPr/>
          </p:nvGrpSpPr>
          <p:grpSpPr>
            <a:xfrm>
              <a:off x="2483768" y="4076504"/>
              <a:ext cx="1998001" cy="525250"/>
              <a:chOff x="2777488" y="4111625"/>
              <a:chExt cx="2313699" cy="536575"/>
            </a:xfrm>
          </p:grpSpPr>
          <p:grpSp>
            <p:nvGrpSpPr>
              <p:cNvPr id="13" name="Group 14"/>
              <p:cNvGrpSpPr>
                <a:grpSpLocks/>
              </p:cNvGrpSpPr>
              <p:nvPr/>
            </p:nvGrpSpPr>
            <p:grpSpPr bwMode="auto">
              <a:xfrm>
                <a:off x="2777488" y="4111625"/>
                <a:ext cx="2273300" cy="536575"/>
                <a:chOff x="3964" y="2071"/>
                <a:chExt cx="1484" cy="330"/>
              </a:xfrm>
            </p:grpSpPr>
            <p:sp>
              <p:nvSpPr>
                <p:cNvPr id="14" name="AutoShape 15"/>
                <p:cNvSpPr>
                  <a:spLocks noChangeArrowheads="1"/>
                </p:cNvSpPr>
                <p:nvPr/>
              </p:nvSpPr>
              <p:spPr bwMode="gray">
                <a:xfrm>
                  <a:off x="3964" y="2071"/>
                  <a:ext cx="1484" cy="33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1"/>
                </a:solidFill>
                <a:ln w="12700" algn="ctr">
                  <a:solidFill>
                    <a:srgbClr val="80808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5" name="AutoShape 16"/>
                <p:cNvSpPr>
                  <a:spLocks noChangeArrowheads="1"/>
                </p:cNvSpPr>
                <p:nvPr/>
              </p:nvSpPr>
              <p:spPr bwMode="gray">
                <a:xfrm>
                  <a:off x="3987" y="2091"/>
                  <a:ext cx="1432" cy="134"/>
                </a:xfrm>
                <a:prstGeom prst="roundRect">
                  <a:avLst>
                    <a:gd name="adj" fmla="val 28356"/>
                  </a:avLst>
                </a:prstGeom>
                <a:gradFill rotWithShape="1">
                  <a:gsLst>
                    <a:gs pos="0">
                      <a:srgbClr val="FFFFFF">
                        <a:alpha val="70000"/>
                      </a:srgb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7961" dir="13500000" algn="ctr" rotWithShape="0">
                          <a:srgbClr val="FFFFFF">
                            <a:gamma/>
                            <a:shade val="60000"/>
                            <a:invGamma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2" name="Text Box 34"/>
              <p:cNvSpPr txBox="1">
                <a:spLocks noChangeArrowheads="1"/>
              </p:cNvSpPr>
              <p:nvPr/>
            </p:nvSpPr>
            <p:spPr bwMode="white">
              <a:xfrm>
                <a:off x="2890912" y="4187031"/>
                <a:ext cx="2200275" cy="36671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17961" dir="2700000" algn="ctr" rotWithShape="0">
                  <a:srgbClr val="1C1C1C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2"/>
                        </a:gs>
                        <a:gs pos="100000">
                          <a:schemeClr val="accent2">
                            <a:gamma/>
                            <a:tint val="73725"/>
                            <a:invGamma/>
                          </a:schemeClr>
                        </a:gs>
                      </a:gsLst>
                      <a:lin ang="5400000" scaled="1"/>
                    </a:gra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fr-FR" b="1" dirty="0" smtClean="0">
                    <a:solidFill>
                      <a:srgbClr val="F8F8F8"/>
                    </a:solidFill>
                  </a:rPr>
                  <a:t>Transposition</a:t>
                </a:r>
                <a:endParaRPr lang="en-US" altLang="fr-FR" b="1" dirty="0">
                  <a:solidFill>
                    <a:srgbClr val="F8F8F8"/>
                  </a:solidFill>
                </a:endParaRPr>
              </a:p>
            </p:txBody>
          </p:sp>
        </p:grpSp>
        <p:grpSp>
          <p:nvGrpSpPr>
            <p:cNvPr id="83" name="Groupe 82"/>
            <p:cNvGrpSpPr/>
            <p:nvPr/>
          </p:nvGrpSpPr>
          <p:grpSpPr>
            <a:xfrm>
              <a:off x="1656746" y="2872065"/>
              <a:ext cx="1711325" cy="536575"/>
              <a:chOff x="1656746" y="2872065"/>
              <a:chExt cx="1711325" cy="536575"/>
            </a:xfrm>
          </p:grpSpPr>
          <p:grpSp>
            <p:nvGrpSpPr>
              <p:cNvPr id="16" name="Group 17"/>
              <p:cNvGrpSpPr>
                <a:grpSpLocks/>
              </p:cNvGrpSpPr>
              <p:nvPr/>
            </p:nvGrpSpPr>
            <p:grpSpPr bwMode="auto">
              <a:xfrm>
                <a:off x="1656746" y="2872065"/>
                <a:ext cx="1711325" cy="536575"/>
                <a:chOff x="3964" y="2071"/>
                <a:chExt cx="1484" cy="330"/>
              </a:xfrm>
            </p:grpSpPr>
            <p:sp>
              <p:nvSpPr>
                <p:cNvPr id="17" name="AutoShape 18"/>
                <p:cNvSpPr>
                  <a:spLocks noChangeArrowheads="1"/>
                </p:cNvSpPr>
                <p:nvPr/>
              </p:nvSpPr>
              <p:spPr bwMode="gray">
                <a:xfrm>
                  <a:off x="3964" y="2071"/>
                  <a:ext cx="1484" cy="33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DDDDDD"/>
                </a:solidFill>
                <a:ln w="12700" algn="ctr">
                  <a:solidFill>
                    <a:srgbClr val="80808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8" name="AutoShape 19"/>
                <p:cNvSpPr>
                  <a:spLocks noChangeArrowheads="1"/>
                </p:cNvSpPr>
                <p:nvPr/>
              </p:nvSpPr>
              <p:spPr bwMode="gray">
                <a:xfrm>
                  <a:off x="3987" y="2091"/>
                  <a:ext cx="1432" cy="134"/>
                </a:xfrm>
                <a:prstGeom prst="roundRect">
                  <a:avLst>
                    <a:gd name="adj" fmla="val 28356"/>
                  </a:avLst>
                </a:prstGeom>
                <a:gradFill rotWithShape="1">
                  <a:gsLst>
                    <a:gs pos="0">
                      <a:srgbClr val="FFFFFF">
                        <a:alpha val="70000"/>
                      </a:srgbClr>
                    </a:gs>
                    <a:gs pos="100000">
                      <a:srgbClr val="DDDDDD">
                        <a:alpha val="70000"/>
                      </a:srgb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7961" dir="13500000" algn="ctr" rotWithShape="0">
                          <a:srgbClr val="FFFFFF">
                            <a:gamma/>
                            <a:shade val="60000"/>
                            <a:invGamma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39" name="Text Box 41"/>
              <p:cNvSpPr txBox="1">
                <a:spLocks noChangeArrowheads="1"/>
              </p:cNvSpPr>
              <p:nvPr/>
            </p:nvSpPr>
            <p:spPr bwMode="black">
              <a:xfrm>
                <a:off x="1829803" y="2979285"/>
                <a:ext cx="1460500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2"/>
                        </a:gs>
                        <a:gs pos="100000">
                          <a:schemeClr val="accent2">
                            <a:gamma/>
                            <a:tint val="73725"/>
                            <a:invGamma/>
                          </a:schemeClr>
                        </a:gs>
                      </a:gsLst>
                      <a:lin ang="5400000" scaled="1"/>
                    </a:gra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00000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fr-FR" altLang="fr-FR" sz="2000" b="1" dirty="0" smtClean="0">
                    <a:solidFill>
                      <a:srgbClr val="000000"/>
                    </a:solidFill>
                  </a:rPr>
                  <a:t>Classique</a:t>
                </a:r>
                <a:endParaRPr lang="fr-FR" altLang="fr-FR" b="1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89" name="Groupe 88"/>
            <p:cNvGrpSpPr/>
            <p:nvPr/>
          </p:nvGrpSpPr>
          <p:grpSpPr>
            <a:xfrm>
              <a:off x="6866600" y="4055754"/>
              <a:ext cx="1953872" cy="856838"/>
              <a:chOff x="323528" y="4077072"/>
              <a:chExt cx="1953872" cy="856838"/>
            </a:xfrm>
          </p:grpSpPr>
          <p:grpSp>
            <p:nvGrpSpPr>
              <p:cNvPr id="90" name="Group 8"/>
              <p:cNvGrpSpPr>
                <a:grpSpLocks/>
              </p:cNvGrpSpPr>
              <p:nvPr/>
            </p:nvGrpSpPr>
            <p:grpSpPr bwMode="auto">
              <a:xfrm>
                <a:off x="323528" y="4077072"/>
                <a:ext cx="1953872" cy="504055"/>
                <a:chOff x="3964" y="2071"/>
                <a:chExt cx="1484" cy="330"/>
              </a:xfrm>
            </p:grpSpPr>
            <p:sp>
              <p:nvSpPr>
                <p:cNvPr id="92" name="AutoShape 9"/>
                <p:cNvSpPr>
                  <a:spLocks noChangeArrowheads="1"/>
                </p:cNvSpPr>
                <p:nvPr/>
              </p:nvSpPr>
              <p:spPr bwMode="gray">
                <a:xfrm>
                  <a:off x="3964" y="2071"/>
                  <a:ext cx="1484" cy="33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folHlink"/>
                </a:solidFill>
                <a:ln w="12700" algn="ctr">
                  <a:solidFill>
                    <a:srgbClr val="80808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tx2">
                            <a:alpha val="50000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93" name="AutoShape 10"/>
                <p:cNvSpPr>
                  <a:spLocks noChangeArrowheads="1"/>
                </p:cNvSpPr>
                <p:nvPr/>
              </p:nvSpPr>
              <p:spPr bwMode="gray">
                <a:xfrm>
                  <a:off x="3987" y="2091"/>
                  <a:ext cx="1432" cy="134"/>
                </a:xfrm>
                <a:prstGeom prst="roundRect">
                  <a:avLst>
                    <a:gd name="adj" fmla="val 28356"/>
                  </a:avLst>
                </a:prstGeom>
                <a:gradFill rotWithShape="1">
                  <a:gsLst>
                    <a:gs pos="0">
                      <a:srgbClr val="FFFFFF">
                        <a:alpha val="70000"/>
                      </a:srgbClr>
                    </a:gs>
                    <a:gs pos="100000">
                      <a:schemeClr val="folHlink">
                        <a:alpha val="70000"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17961" dir="13500000" algn="ctr" rotWithShape="0">
                          <a:srgbClr val="FFFFFF">
                            <a:gamma/>
                            <a:shade val="60000"/>
                            <a:invGamma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91" name="Text Box 31"/>
              <p:cNvSpPr txBox="1">
                <a:spLocks noChangeArrowheads="1"/>
              </p:cNvSpPr>
              <p:nvPr/>
            </p:nvSpPr>
            <p:spPr bwMode="white">
              <a:xfrm>
                <a:off x="353809" y="4149080"/>
                <a:ext cx="1870592" cy="784830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17961" dir="2700000" algn="ctr" rotWithShape="0">
                  <a:srgbClr val="1C1C1C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gradFill rotWithShape="1">
                      <a:gsLst>
                        <a:gs pos="0">
                          <a:schemeClr val="accent2"/>
                        </a:gs>
                        <a:gs pos="100000">
                          <a:schemeClr val="accent2">
                            <a:gamma/>
                            <a:tint val="73725"/>
                            <a:invGamma/>
                          </a:schemeClr>
                        </a:gs>
                      </a:gsLst>
                      <a:lin ang="5400000" scaled="1"/>
                    </a:gra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fr-FR" altLang="fr-FR" b="1" dirty="0" smtClean="0">
                    <a:solidFill>
                      <a:srgbClr val="F8F8F8"/>
                    </a:solidFill>
                  </a:rPr>
                  <a:t>Asymétrique</a:t>
                </a:r>
                <a:r>
                  <a:rPr lang="en-US" altLang="fr-FR" b="1" dirty="0" smtClean="0">
                    <a:solidFill>
                      <a:srgbClr val="F8F8F8"/>
                    </a:solidFill>
                  </a:rPr>
                  <a:t> </a:t>
                </a:r>
                <a:endParaRPr lang="en-US" altLang="fr-FR" b="1" dirty="0">
                  <a:solidFill>
                    <a:srgbClr val="F8F8F8"/>
                  </a:solidFill>
                </a:endParaRPr>
              </a:p>
              <a:p>
                <a:pPr algn="ctr">
                  <a:spcBef>
                    <a:spcPct val="50000"/>
                  </a:spcBef>
                </a:pPr>
                <a:endParaRPr lang="en-US" altLang="fr-FR" b="1" dirty="0">
                  <a:solidFill>
                    <a:srgbClr val="F8F8F8"/>
                  </a:solidFill>
                </a:endParaRPr>
              </a:p>
            </p:txBody>
          </p:sp>
        </p:grpSp>
        <p:cxnSp>
          <p:nvCxnSpPr>
            <p:cNvPr id="95" name="Connecteur en angle 94"/>
            <p:cNvCxnSpPr>
              <a:stCxn id="20" idx="2"/>
              <a:endCxn id="17" idx="0"/>
            </p:cNvCxnSpPr>
            <p:nvPr/>
          </p:nvCxnSpPr>
          <p:spPr>
            <a:xfrm rot="5400000">
              <a:off x="3174045" y="1475957"/>
              <a:ext cx="734473" cy="205774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eur en angle 98"/>
            <p:cNvCxnSpPr/>
            <p:nvPr/>
          </p:nvCxnSpPr>
          <p:spPr>
            <a:xfrm rot="16200000" flipH="1">
              <a:off x="5267604" y="1440141"/>
              <a:ext cx="719908" cy="211481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eur en angle 103"/>
            <p:cNvCxnSpPr>
              <a:stCxn id="17" idx="2"/>
              <a:endCxn id="8" idx="0"/>
            </p:cNvCxnSpPr>
            <p:nvPr/>
          </p:nvCxnSpPr>
          <p:spPr>
            <a:xfrm rot="5400000">
              <a:off x="1565077" y="3144028"/>
              <a:ext cx="682720" cy="121194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eur en angle 106"/>
            <p:cNvCxnSpPr>
              <a:stCxn id="17" idx="2"/>
              <a:endCxn id="14" idx="0"/>
            </p:cNvCxnSpPr>
            <p:nvPr/>
          </p:nvCxnSpPr>
          <p:spPr>
            <a:xfrm rot="16200000" flipH="1">
              <a:off x="2654935" y="3266114"/>
              <a:ext cx="667864" cy="95291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en angle 110"/>
            <p:cNvCxnSpPr>
              <a:stCxn id="3" idx="2"/>
              <a:endCxn id="11" idx="0"/>
            </p:cNvCxnSpPr>
            <p:nvPr/>
          </p:nvCxnSpPr>
          <p:spPr>
            <a:xfrm rot="5400000">
              <a:off x="5844275" y="3212643"/>
              <a:ext cx="659257" cy="102212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cteur en angle 113"/>
            <p:cNvCxnSpPr>
              <a:stCxn id="3" idx="2"/>
              <a:endCxn id="93" idx="0"/>
            </p:cNvCxnSpPr>
            <p:nvPr/>
          </p:nvCxnSpPr>
          <p:spPr>
            <a:xfrm rot="16200000" flipH="1">
              <a:off x="6916160" y="3162877"/>
              <a:ext cx="692228" cy="1154623"/>
            </a:xfrm>
            <a:prstGeom prst="bentConnector3">
              <a:avLst>
                <a:gd name="adj1" fmla="val 4587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Catégories de Cryptographie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323527" y="836712"/>
            <a:ext cx="6984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CATEGORISATION </a:t>
            </a:r>
            <a:r>
              <a:rPr lang="fr-FR" sz="2400" b="1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LA CRYPTOGRAPHIE</a:t>
            </a:r>
            <a:endParaRPr lang="fr-FR" sz="2400" b="1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158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Catégories de </a:t>
            </a:r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251520" y="707978"/>
            <a:ext cx="6984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467544" y="1412776"/>
            <a:ext cx="784887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b="1" dirty="0" smtClean="0"/>
              <a:t>Chiffrement </a:t>
            </a:r>
            <a:r>
              <a:rPr lang="fr-FR" sz="2800" b="1" dirty="0"/>
              <a:t>par substitution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rgbClr val="C00000"/>
                </a:solidFill>
              </a:rPr>
              <a:t>Substitution mono alphabétique</a:t>
            </a:r>
          </a:p>
          <a:p>
            <a:pPr marL="1076325" indent="-363538">
              <a:buFont typeface="Arial" panose="020B0604020202020204" pitchFamily="34" charset="0"/>
              <a:buChar char="•"/>
            </a:pPr>
            <a:r>
              <a:rPr lang="fr-FR" sz="2800" dirty="0" smtClean="0"/>
              <a:t>Chiffre </a:t>
            </a:r>
            <a:r>
              <a:rPr lang="fr-FR" sz="2800" b="1" dirty="0"/>
              <a:t>de </a:t>
            </a:r>
            <a:r>
              <a:rPr lang="fr-FR" sz="2800" b="1" dirty="0" smtClean="0"/>
              <a:t>César</a:t>
            </a:r>
          </a:p>
          <a:p>
            <a:pPr marL="1076325" indent="-363538">
              <a:buFont typeface="Arial" panose="020B0604020202020204" pitchFamily="34" charset="0"/>
              <a:buChar char="•"/>
            </a:pPr>
            <a:r>
              <a:rPr lang="fr-FR" sz="2800" dirty="0" smtClean="0"/>
              <a:t>Chiffre </a:t>
            </a:r>
            <a:r>
              <a:rPr lang="fr-FR" sz="2800" b="1" dirty="0"/>
              <a:t>affine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b="1" dirty="0" smtClean="0">
                <a:solidFill>
                  <a:srgbClr val="C00000"/>
                </a:solidFill>
              </a:rPr>
              <a:t>Substitution </a:t>
            </a:r>
            <a:r>
              <a:rPr lang="fr-FR" sz="2800" b="1" dirty="0">
                <a:solidFill>
                  <a:srgbClr val="C00000"/>
                </a:solidFill>
              </a:rPr>
              <a:t>poly alphabétique</a:t>
            </a:r>
          </a:p>
          <a:p>
            <a:pPr marL="1076325" indent="-363538">
              <a:buFont typeface="Arial" panose="020B0604020202020204" pitchFamily="34" charset="0"/>
              <a:buChar char="•"/>
            </a:pPr>
            <a:r>
              <a:rPr lang="fr-FR" sz="2800" dirty="0"/>
              <a:t>Chiffre de </a:t>
            </a:r>
            <a:r>
              <a:rPr lang="fr-FR" sz="2800" b="1" dirty="0"/>
              <a:t>Vigenère</a:t>
            </a:r>
          </a:p>
          <a:p>
            <a:pPr marL="1076325" indent="-363538">
              <a:buFont typeface="Arial" panose="020B0604020202020204" pitchFamily="34" charset="0"/>
              <a:buChar char="•"/>
            </a:pPr>
            <a:r>
              <a:rPr lang="fr-FR" sz="2800" dirty="0"/>
              <a:t>Chiffre de </a:t>
            </a:r>
            <a:r>
              <a:rPr lang="fr-FR" sz="2800" b="1" dirty="0" err="1" smtClean="0"/>
              <a:t>Vernam</a:t>
            </a:r>
            <a:endParaRPr lang="fr-FR" sz="2800" b="1" dirty="0" smtClean="0"/>
          </a:p>
          <a:p>
            <a:pPr marL="1076325" indent="-363538">
              <a:buFont typeface="Arial" panose="020B0604020202020204" pitchFamily="34" charset="0"/>
              <a:buChar char="•"/>
            </a:pPr>
            <a:r>
              <a:rPr lang="fr-FR" sz="2800" dirty="0"/>
              <a:t>Chiffre de </a:t>
            </a:r>
            <a:r>
              <a:rPr lang="fr-FR" sz="2800" b="1" dirty="0" smtClean="0"/>
              <a:t>Hill</a:t>
            </a:r>
            <a:endParaRPr lang="fr-FR" sz="2800" b="1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b="1" dirty="0" smtClean="0"/>
              <a:t>Chiffrement </a:t>
            </a:r>
            <a:r>
              <a:rPr lang="fr-FR" sz="2800" b="1" dirty="0"/>
              <a:t>par transposition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Transposition </a:t>
            </a:r>
            <a:r>
              <a:rPr lang="fr-FR" sz="2800" dirty="0"/>
              <a:t>simple par colonnes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/>
              <a:t>Transposition </a:t>
            </a:r>
            <a:r>
              <a:rPr lang="fr-FR" sz="2800" dirty="0"/>
              <a:t>complexe par colonnes</a:t>
            </a:r>
          </a:p>
        </p:txBody>
      </p:sp>
    </p:spTree>
    <p:extLst>
      <p:ext uri="{BB962C8B-B14F-4D97-AF65-F5344CB8AC3E}">
        <p14:creationId xmlns:p14="http://schemas.microsoft.com/office/powerpoint/2010/main" val="206413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41176" y="889556"/>
            <a:ext cx="6984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par substitution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72008" y="1412776"/>
            <a:ext cx="903649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r>
              <a:rPr lang="fr-FR" sz="2800" b="1" dirty="0"/>
              <a:t>Définition: </a:t>
            </a:r>
            <a:endParaRPr lang="fr-FR" sz="28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 smtClean="0"/>
              <a:t>Le </a:t>
            </a:r>
            <a:r>
              <a:rPr lang="fr-F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chiffrement par substitution </a:t>
            </a:r>
            <a:r>
              <a:rPr lang="fr-FR" sz="2800" dirty="0"/>
              <a:t>consiste </a:t>
            </a:r>
            <a:r>
              <a:rPr lang="fr-FR" sz="2800" dirty="0" smtClean="0"/>
              <a:t>à remplacer </a:t>
            </a:r>
            <a:r>
              <a:rPr lang="fr-FR" sz="2800" dirty="0"/>
              <a:t>dans un message une ou plusieurs entités (généralement des lettres) par une ou plusieurs autres entités. </a:t>
            </a:r>
          </a:p>
          <a:p>
            <a:endParaRPr lang="fr-FR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 smtClean="0"/>
              <a:t>Toutes </a:t>
            </a:r>
            <a:r>
              <a:rPr lang="fr-FR" sz="2800" dirty="0"/>
              <a:t>les substitutions simples sont vulnérables à une </a:t>
            </a:r>
            <a:r>
              <a:rPr lang="fr-FR" sz="2800" dirty="0">
                <a:solidFill>
                  <a:srgbClr val="FF0000"/>
                </a:solidFill>
              </a:rPr>
              <a:t>analyse des fréquences </a:t>
            </a:r>
            <a:r>
              <a:rPr lang="fr-FR" sz="2800" dirty="0"/>
              <a:t>d'apparition des lettres. </a:t>
            </a:r>
          </a:p>
        </p:txBody>
      </p:sp>
    </p:spTree>
    <p:extLst>
      <p:ext uri="{BB962C8B-B14F-4D97-AF65-F5344CB8AC3E}">
        <p14:creationId xmlns:p14="http://schemas.microsoft.com/office/powerpoint/2010/main" val="3079595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683114"/>
            <a:ext cx="9108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i="1" dirty="0">
                <a:solidFill>
                  <a:srgbClr val="FF0000"/>
                </a:solidFill>
              </a:rPr>
              <a:t>Substitution mono-alphabétique : </a:t>
            </a:r>
            <a:r>
              <a:rPr lang="fr-FR" sz="2400" i="1" dirty="0">
                <a:solidFill>
                  <a:srgbClr val="FF0000"/>
                </a:solidFill>
              </a:rPr>
              <a:t>Chiffre de César </a:t>
            </a:r>
            <a:endParaRPr lang="fr-FR" sz="2400" i="1" dirty="0" smtClean="0">
              <a:solidFill>
                <a:srgbClr val="FF0000"/>
              </a:solidFill>
            </a:endParaRPr>
          </a:p>
          <a:p>
            <a:pPr algn="ctr"/>
            <a:r>
              <a:rPr lang="fr-FR" sz="2400" i="1" dirty="0" smtClean="0">
                <a:solidFill>
                  <a:srgbClr val="FF0000"/>
                </a:solidFill>
              </a:rPr>
              <a:t>(</a:t>
            </a:r>
            <a:r>
              <a:rPr lang="fr-FR" sz="2400" i="1" dirty="0">
                <a:solidFill>
                  <a:srgbClr val="FF0000"/>
                </a:solidFill>
              </a:rPr>
              <a:t>ou chiffrement par décalage)</a:t>
            </a:r>
            <a:endParaRPr lang="fr-FR" sz="2800" i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-36512" y="1449358"/>
            <a:ext cx="918051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200" dirty="0" smtClean="0"/>
              <a:t>Une </a:t>
            </a:r>
            <a:r>
              <a:rPr lang="fr-FR" sz="2200" dirty="0"/>
              <a:t>des premières techniques de cryptographie alphabétique proposé par </a:t>
            </a:r>
            <a:r>
              <a:rPr lang="fr-FR" sz="2200" dirty="0" smtClean="0"/>
              <a:t>Jules César.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200" dirty="0" smtClean="0"/>
              <a:t>Chiffre </a:t>
            </a:r>
            <a:r>
              <a:rPr lang="fr-FR" sz="2200" dirty="0"/>
              <a:t>avec un algorithme (substitution) et une </a:t>
            </a:r>
            <a:r>
              <a:rPr lang="fr-FR" sz="2200" dirty="0" smtClean="0"/>
              <a:t>clé Rang </a:t>
            </a:r>
            <a:r>
              <a:rPr lang="fr-FR" sz="2200" dirty="0"/>
              <a:t>du décalage alphabétique = 3 : la lettre A est remplacée par D, B par E…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200" dirty="0"/>
              <a:t> Le Chiffre de César est considéré comme le plus ancien algorithme de chiffrage </a:t>
            </a:r>
            <a:r>
              <a:rPr lang="fr-FR" sz="2200" dirty="0" smtClean="0"/>
              <a:t>par substitution</a:t>
            </a:r>
            <a:r>
              <a:rPr lang="fr-FR" sz="2200" dirty="0"/>
              <a:t>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472364"/>
            <a:ext cx="6087325" cy="173379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323528" y="5206156"/>
            <a:ext cx="9073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dirty="0"/>
              <a:t> </a:t>
            </a:r>
            <a:r>
              <a:rPr lang="fr-FR" b="1" dirty="0">
                <a:solidFill>
                  <a:srgbClr val="FF0000"/>
                </a:solidFill>
              </a:rPr>
              <a:t>Exemple 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 Ici le message </a:t>
            </a:r>
            <a:r>
              <a:rPr lang="fr-FR" dirty="0" smtClean="0"/>
              <a:t>:           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CECI EST UN MESSAGE A CRYPTER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 est crypté en </a:t>
            </a:r>
            <a:r>
              <a:rPr lang="fr-FR" dirty="0" smtClean="0"/>
              <a:t>                </a:t>
            </a:r>
            <a:r>
              <a:rPr lang="fr-FR" dirty="0" smtClean="0">
                <a:solidFill>
                  <a:srgbClr val="7030A0"/>
                </a:solidFill>
              </a:rPr>
              <a:t>FHFL </a:t>
            </a:r>
            <a:r>
              <a:rPr lang="fr-FR" dirty="0">
                <a:solidFill>
                  <a:srgbClr val="7030A0"/>
                </a:solidFill>
              </a:rPr>
              <a:t>HVW XQ PHVVDJH DUBSWHU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 puis décrypté en : </a:t>
            </a:r>
            <a:r>
              <a:rPr lang="fr-FR" dirty="0" smtClean="0"/>
              <a:t>        </a:t>
            </a:r>
            <a:r>
              <a:rPr lang="fr-FR" dirty="0" smtClean="0">
                <a:solidFill>
                  <a:schemeClr val="accent2">
                    <a:lumMod val="75000"/>
                  </a:schemeClr>
                </a:solidFill>
              </a:rPr>
              <a:t>CECI 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EST UN MESSAGE A CRYPTER</a:t>
            </a:r>
          </a:p>
        </p:txBody>
      </p:sp>
    </p:spTree>
    <p:extLst>
      <p:ext uri="{BB962C8B-B14F-4D97-AF65-F5344CB8AC3E}">
        <p14:creationId xmlns:p14="http://schemas.microsoft.com/office/powerpoint/2010/main" val="3828849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683114"/>
            <a:ext cx="9108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i="1" dirty="0">
                <a:solidFill>
                  <a:srgbClr val="FF0000"/>
                </a:solidFill>
              </a:rPr>
              <a:t>Substitution mono-alphabétique : </a:t>
            </a:r>
            <a:r>
              <a:rPr lang="fr-FR" sz="2400" i="1" dirty="0">
                <a:solidFill>
                  <a:srgbClr val="FF0000"/>
                </a:solidFill>
              </a:rPr>
              <a:t>Chiffre de César </a:t>
            </a:r>
            <a:endParaRPr lang="fr-FR" sz="2400" i="1" dirty="0" smtClean="0">
              <a:solidFill>
                <a:srgbClr val="FF0000"/>
              </a:solidFill>
            </a:endParaRPr>
          </a:p>
          <a:p>
            <a:pPr algn="ctr"/>
            <a:r>
              <a:rPr lang="fr-FR" sz="2400" i="1" dirty="0" smtClean="0">
                <a:solidFill>
                  <a:srgbClr val="FF0000"/>
                </a:solidFill>
              </a:rPr>
              <a:t>(</a:t>
            </a:r>
            <a:r>
              <a:rPr lang="fr-FR" sz="2400" i="1" dirty="0">
                <a:solidFill>
                  <a:srgbClr val="FF0000"/>
                </a:solidFill>
              </a:rPr>
              <a:t>ou chiffrement par décalage)</a:t>
            </a:r>
            <a:endParaRPr lang="fr-FR" sz="2800" i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-36512" y="1449358"/>
            <a:ext cx="918051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200" dirty="0"/>
              <a:t>Nombreuses variantes : exemples :</a:t>
            </a:r>
          </a:p>
          <a:p>
            <a:pPr marL="712788" indent="-349250">
              <a:buFont typeface="Wingdings" panose="05000000000000000000" pitchFamily="2" charset="2"/>
              <a:buChar char="§"/>
            </a:pPr>
            <a:r>
              <a:rPr lang="fr-FR" sz="2200" dirty="0" smtClean="0"/>
              <a:t>remplacer </a:t>
            </a:r>
            <a:r>
              <a:rPr lang="fr-FR" sz="2200" dirty="0"/>
              <a:t>chacune des lettres du message par un nombre correspondant à </a:t>
            </a:r>
            <a:r>
              <a:rPr lang="fr-FR" sz="2200" dirty="0" smtClean="0"/>
              <a:t>sa position </a:t>
            </a:r>
            <a:r>
              <a:rPr lang="fr-FR" sz="2200" dirty="0"/>
              <a:t>dans l'alphabet (A par 0, le B par 1, …, Z par 25).</a:t>
            </a:r>
          </a:p>
          <a:p>
            <a:pPr marL="712788" indent="-342900">
              <a:buFont typeface="Wingdings" panose="05000000000000000000" pitchFamily="2" charset="2"/>
              <a:buChar char="§"/>
            </a:pPr>
            <a:r>
              <a:rPr lang="fr-FR" sz="2200" dirty="0" smtClean="0"/>
              <a:t>Ou </a:t>
            </a:r>
            <a:r>
              <a:rPr lang="fr-FR" sz="2200" dirty="0"/>
              <a:t>changer de rang : exemple utilisé sur Internet </a:t>
            </a:r>
            <a:r>
              <a:rPr lang="fr-FR" sz="2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algorithme ROT13</a:t>
            </a:r>
          </a:p>
          <a:p>
            <a:pPr marL="806450" indent="-342900">
              <a:buFont typeface="Courier New" panose="02070309020205020404" pitchFamily="49" charset="0"/>
              <a:buChar char="o"/>
              <a:tabLst>
                <a:tab pos="1169988" algn="l"/>
              </a:tabLst>
            </a:pPr>
            <a:r>
              <a:rPr lang="fr-FR" sz="2000" dirty="0" smtClean="0"/>
              <a:t>décale </a:t>
            </a:r>
            <a:r>
              <a:rPr lang="fr-FR" sz="2000" dirty="0"/>
              <a:t>les lettres d’un </a:t>
            </a:r>
            <a:r>
              <a:rPr lang="fr-FR" sz="2000" dirty="0">
                <a:solidFill>
                  <a:schemeClr val="accent2">
                    <a:lumMod val="75000"/>
                  </a:schemeClr>
                </a:solidFill>
              </a:rPr>
              <a:t>rang de 13</a:t>
            </a:r>
            <a:r>
              <a:rPr lang="fr-FR" sz="2000" dirty="0"/>
              <a:t>.</a:t>
            </a:r>
          </a:p>
          <a:p>
            <a:pPr marL="806450" indent="-342900">
              <a:buFont typeface="Courier New" panose="02070309020205020404" pitchFamily="49" charset="0"/>
              <a:buChar char="o"/>
              <a:tabLst>
                <a:tab pos="1169988" algn="l"/>
              </a:tabLst>
            </a:pPr>
            <a:r>
              <a:rPr lang="fr-FR" sz="2000" dirty="0" smtClean="0"/>
              <a:t>Son </a:t>
            </a:r>
            <a:r>
              <a:rPr lang="fr-FR" sz="2000" dirty="0"/>
              <a:t>rôle : dissimuler l’information claire à une détection de clair simple (</a:t>
            </a:r>
            <a:r>
              <a:rPr lang="fr-FR" sz="2000" dirty="0" err="1"/>
              <a:t>oeil</a:t>
            </a:r>
            <a:r>
              <a:rPr lang="fr-FR" sz="2000" dirty="0"/>
              <a:t>, </a:t>
            </a:r>
            <a:r>
              <a:rPr lang="fr-FR" sz="2000" dirty="0" smtClean="0"/>
              <a:t>logiciel de </a:t>
            </a:r>
            <a:r>
              <a:rPr lang="fr-FR" sz="2000" dirty="0"/>
              <a:t>recherche de mots clés, filtrage de proxy…).</a:t>
            </a:r>
          </a:p>
          <a:p>
            <a:pPr marL="806450" indent="-342900">
              <a:buFont typeface="Courier New" panose="02070309020205020404" pitchFamily="49" charset="0"/>
              <a:buChar char="o"/>
              <a:tabLst>
                <a:tab pos="1169988" algn="l"/>
              </a:tabLst>
            </a:pPr>
            <a:r>
              <a:rPr lang="fr-FR" sz="2000" dirty="0" smtClean="0"/>
              <a:t>déchiffrement </a:t>
            </a:r>
            <a:r>
              <a:rPr lang="fr-FR" sz="2000" dirty="0"/>
              <a:t>: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même algorithme </a:t>
            </a:r>
            <a:r>
              <a:rPr lang="fr-FR" sz="2000" dirty="0"/>
              <a:t>que </a:t>
            </a:r>
            <a:r>
              <a:rPr lang="fr-FR" sz="2000" dirty="0" smtClean="0"/>
              <a:t>chiffrement [</a:t>
            </a:r>
            <a:r>
              <a:rPr lang="fr-FR" sz="2000" dirty="0" smtClean="0">
                <a:solidFill>
                  <a:schemeClr val="accent2">
                    <a:lumMod val="75000"/>
                  </a:schemeClr>
                </a:solidFill>
              </a:rPr>
              <a:t>M=ROT13</a:t>
            </a:r>
            <a:r>
              <a:rPr lang="fr-FR" sz="2000" dirty="0" smtClean="0"/>
              <a:t>(</a:t>
            </a:r>
            <a:r>
              <a:rPr lang="fr-FR" sz="2000" dirty="0" smtClean="0">
                <a:solidFill>
                  <a:schemeClr val="accent1">
                    <a:lumMod val="75000"/>
                  </a:schemeClr>
                </a:solidFill>
              </a:rPr>
              <a:t>ROT13(M</a:t>
            </a:r>
            <a:r>
              <a:rPr lang="fr-FR" sz="2000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r>
              <a:rPr lang="fr-FR" sz="2000" dirty="0"/>
              <a:t>)].</a:t>
            </a:r>
          </a:p>
          <a:p>
            <a:pPr marL="712788" indent="-342900">
              <a:buFont typeface="Wingdings" panose="05000000000000000000" pitchFamily="2" charset="2"/>
              <a:buChar char="§"/>
            </a:pPr>
            <a:r>
              <a:rPr lang="fr-FR" sz="2200" dirty="0" smtClean="0"/>
              <a:t>Remplacer </a:t>
            </a:r>
            <a:r>
              <a:rPr lang="fr-FR" sz="2200" dirty="0"/>
              <a:t>une lettre par n'importe quelle autre lettre de l'alphabet.</a:t>
            </a:r>
          </a:p>
        </p:txBody>
      </p:sp>
    </p:spTree>
    <p:extLst>
      <p:ext uri="{BB962C8B-B14F-4D97-AF65-F5344CB8AC3E}">
        <p14:creationId xmlns:p14="http://schemas.microsoft.com/office/powerpoint/2010/main" val="2508885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683114"/>
            <a:ext cx="9108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i="1" dirty="0">
                <a:solidFill>
                  <a:srgbClr val="FF0000"/>
                </a:solidFill>
              </a:rPr>
              <a:t>Substitution mono-alphabétique : </a:t>
            </a:r>
            <a:r>
              <a:rPr lang="fr-FR" sz="2400" i="1" dirty="0">
                <a:solidFill>
                  <a:srgbClr val="FF0000"/>
                </a:solidFill>
              </a:rPr>
              <a:t>Chiffre de César </a:t>
            </a:r>
            <a:endParaRPr lang="fr-FR" sz="2400" i="1" dirty="0" smtClean="0">
              <a:solidFill>
                <a:srgbClr val="FF0000"/>
              </a:solidFill>
            </a:endParaRPr>
          </a:p>
          <a:p>
            <a:pPr algn="ctr"/>
            <a:r>
              <a:rPr lang="fr-FR" sz="2400" i="1" dirty="0" smtClean="0">
                <a:solidFill>
                  <a:srgbClr val="FF0000"/>
                </a:solidFill>
              </a:rPr>
              <a:t>(</a:t>
            </a:r>
            <a:r>
              <a:rPr lang="fr-FR" sz="2400" i="1" dirty="0">
                <a:solidFill>
                  <a:srgbClr val="FF0000"/>
                </a:solidFill>
              </a:rPr>
              <a:t>ou chiffrement par décalage)</a:t>
            </a:r>
            <a:endParaRPr lang="fr-FR" sz="2800" i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-36512" y="1449358"/>
            <a:ext cx="918051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 </a:t>
            </a:r>
            <a:r>
              <a:rPr lang="fr-FR" sz="2400" b="1" i="1" dirty="0"/>
              <a:t>Exercice d’application:</a:t>
            </a:r>
          </a:p>
          <a:p>
            <a:pPr marL="457200" indent="-457200">
              <a:buFont typeface="+mj-lt"/>
              <a:buAutoNum type="alphaLcParenR"/>
            </a:pPr>
            <a:r>
              <a:rPr lang="fr-FR" sz="2200" dirty="0" smtClean="0"/>
              <a:t>Par </a:t>
            </a:r>
            <a:r>
              <a:rPr lang="fr-FR" sz="2200" dirty="0"/>
              <a:t>exemple, avec une </a:t>
            </a:r>
            <a:r>
              <a:rPr lang="fr-FR" sz="2200" b="1" dirty="0"/>
              <a:t>clé de cryptage égale à 3 </a:t>
            </a:r>
            <a:r>
              <a:rPr lang="fr-FR" sz="2200" dirty="0"/>
              <a:t>le mot </a:t>
            </a:r>
            <a:r>
              <a:rPr lang="fr-FR" sz="2200" dirty="0">
                <a:solidFill>
                  <a:schemeClr val="accent1">
                    <a:lumMod val="75000"/>
                  </a:schemeClr>
                </a:solidFill>
              </a:rPr>
              <a:t>CHAMPION</a:t>
            </a:r>
            <a:r>
              <a:rPr lang="fr-FR" sz="2200" dirty="0"/>
              <a:t> est codé par </a:t>
            </a:r>
            <a:r>
              <a:rPr lang="fr-FR" sz="2200" dirty="0" smtClean="0">
                <a:solidFill>
                  <a:srgbClr val="7030A0"/>
                </a:solidFill>
              </a:rPr>
              <a:t>FKDPSLRQ</a:t>
            </a:r>
            <a:r>
              <a:rPr lang="fr-FR" sz="2200" dirty="0" smtClean="0"/>
              <a:t>.</a:t>
            </a:r>
          </a:p>
          <a:p>
            <a:pPr marL="457200" indent="-457200">
              <a:buFont typeface="+mj-lt"/>
              <a:buAutoNum type="alphaLcParenR"/>
            </a:pPr>
            <a:r>
              <a:rPr lang="fr-FR" sz="2200" dirty="0" smtClean="0"/>
              <a:t>Avec </a:t>
            </a:r>
            <a:r>
              <a:rPr lang="fr-FR" sz="2200" dirty="0"/>
              <a:t>la même clé de cryptage, crypter votre prénom et décrypter le mot</a:t>
            </a:r>
            <a:r>
              <a:rPr lang="fr-FR" sz="2200" dirty="0">
                <a:solidFill>
                  <a:srgbClr val="7030A0"/>
                </a:solidFill>
              </a:rPr>
              <a:t> </a:t>
            </a:r>
            <a:r>
              <a:rPr lang="fr-FR" sz="2200" dirty="0" smtClean="0">
                <a:solidFill>
                  <a:srgbClr val="7030A0"/>
                </a:solidFill>
              </a:rPr>
              <a:t>WURXYH</a:t>
            </a:r>
            <a:r>
              <a:rPr lang="fr-FR" sz="2200" dirty="0" smtClean="0"/>
              <a:t>.</a:t>
            </a:r>
          </a:p>
          <a:p>
            <a:pPr marL="457200" indent="-457200">
              <a:buFont typeface="+mj-lt"/>
              <a:buAutoNum type="alphaLcParenR"/>
            </a:pPr>
            <a:r>
              <a:rPr lang="fr-FR" sz="2200" dirty="0" smtClean="0"/>
              <a:t>Décrypter </a:t>
            </a:r>
            <a:r>
              <a:rPr lang="fr-FR" sz="2200" dirty="0"/>
              <a:t>le texte suivant sachant que la clé de codage est 10 :</a:t>
            </a:r>
          </a:p>
          <a:p>
            <a:pPr marL="712788"/>
            <a:r>
              <a:rPr lang="fr-FR" sz="2200" dirty="0">
                <a:solidFill>
                  <a:srgbClr val="7030A0"/>
                </a:solidFill>
              </a:rPr>
              <a:t>EBQOXD OVSWSXOB VK </a:t>
            </a:r>
            <a:r>
              <a:rPr lang="fr-FR" sz="2200" dirty="0" smtClean="0">
                <a:solidFill>
                  <a:srgbClr val="7030A0"/>
                </a:solidFill>
              </a:rPr>
              <a:t>MSLVO</a:t>
            </a:r>
            <a:r>
              <a:rPr lang="fr-FR" sz="2200" dirty="0" smtClean="0"/>
              <a:t>.</a:t>
            </a:r>
          </a:p>
          <a:p>
            <a:pPr marL="457200" indent="-457200">
              <a:buFont typeface="+mj-lt"/>
              <a:buAutoNum type="alphaLcParenR" startAt="4"/>
            </a:pPr>
            <a:r>
              <a:rPr lang="fr-FR" sz="2200" dirty="0" smtClean="0"/>
              <a:t>Sachant </a:t>
            </a:r>
            <a:r>
              <a:rPr lang="fr-FR" sz="2200" dirty="0"/>
              <a:t>que le texte en clair suivant : </a:t>
            </a:r>
            <a:r>
              <a:rPr lang="fr-FR" sz="2200" dirty="0">
                <a:solidFill>
                  <a:srgbClr val="3376C7"/>
                </a:solidFill>
              </a:rPr>
              <a:t>RENDEZ VOUS RUE DE LA PAIX</a:t>
            </a:r>
            <a:r>
              <a:rPr lang="fr-FR" sz="2200" dirty="0"/>
              <a:t> donne :</a:t>
            </a:r>
          </a:p>
          <a:p>
            <a:pPr marL="712788"/>
            <a:r>
              <a:rPr lang="fr-FR" sz="2200" dirty="0">
                <a:solidFill>
                  <a:srgbClr val="7030A0"/>
                </a:solidFill>
              </a:rPr>
              <a:t>MZIYZU QJPN MPZ YZ GV KVDS</a:t>
            </a:r>
            <a:r>
              <a:rPr lang="fr-FR" sz="2200" dirty="0"/>
              <a:t>, déterminer la clé de </a:t>
            </a:r>
            <a:r>
              <a:rPr lang="fr-FR" sz="2200" dirty="0" smtClean="0"/>
              <a:t>cryptage.</a:t>
            </a:r>
          </a:p>
          <a:p>
            <a:pPr marL="457200" indent="-457200">
              <a:buFont typeface="+mj-lt"/>
              <a:buAutoNum type="alphaLcParenR" startAt="5"/>
            </a:pPr>
            <a:r>
              <a:rPr lang="fr-FR" sz="2200" dirty="0" smtClean="0"/>
              <a:t>Décrypter </a:t>
            </a:r>
            <a:r>
              <a:rPr lang="fr-FR" sz="2200" dirty="0"/>
              <a:t>le texte suivant en supposant que le mot "</a:t>
            </a:r>
            <a:r>
              <a:rPr lang="fr-FR" sz="2200" dirty="0">
                <a:solidFill>
                  <a:srgbClr val="0070C0"/>
                </a:solidFill>
              </a:rPr>
              <a:t>ENNEMI</a:t>
            </a:r>
            <a:r>
              <a:rPr lang="fr-FR" sz="2200" dirty="0"/>
              <a:t>" y figure </a:t>
            </a:r>
            <a:r>
              <a:rPr lang="fr-FR" sz="2200" dirty="0" smtClean="0"/>
              <a:t>: </a:t>
            </a:r>
            <a:r>
              <a:rPr lang="fr-FR" sz="2200" dirty="0" smtClean="0">
                <a:solidFill>
                  <a:srgbClr val="7030A0"/>
                </a:solidFill>
              </a:rPr>
              <a:t>STYWJ </a:t>
            </a:r>
            <a:r>
              <a:rPr lang="fr-FR" sz="2200" dirty="0">
                <a:solidFill>
                  <a:srgbClr val="7030A0"/>
                </a:solidFill>
              </a:rPr>
              <a:t>JSSJRN IJ YTZOTZWX JXY IJ </a:t>
            </a:r>
            <a:r>
              <a:rPr lang="fr-FR" sz="2200" dirty="0" smtClean="0">
                <a:solidFill>
                  <a:srgbClr val="7030A0"/>
                </a:solidFill>
              </a:rPr>
              <a:t>WJYTZW</a:t>
            </a:r>
            <a:endParaRPr lang="fr-FR" sz="22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034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683114"/>
            <a:ext cx="9108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>
                <a:solidFill>
                  <a:srgbClr val="FF0000"/>
                </a:solidFill>
              </a:rPr>
              <a:t>Substitution mono-alphabétique : </a:t>
            </a:r>
            <a:r>
              <a:rPr lang="fr-FR" sz="2000" i="1" dirty="0">
                <a:solidFill>
                  <a:srgbClr val="FF0000"/>
                </a:solidFill>
              </a:rPr>
              <a:t>Chiffre de César </a:t>
            </a:r>
            <a:endParaRPr lang="fr-FR" sz="2000" i="1" dirty="0" smtClean="0">
              <a:solidFill>
                <a:srgbClr val="FF0000"/>
              </a:solidFill>
            </a:endParaRPr>
          </a:p>
          <a:p>
            <a:pPr algn="ctr"/>
            <a:r>
              <a:rPr lang="fr-FR" sz="2000" i="1" dirty="0" smtClean="0">
                <a:solidFill>
                  <a:srgbClr val="FF0000"/>
                </a:solidFill>
              </a:rPr>
              <a:t>(</a:t>
            </a:r>
            <a:r>
              <a:rPr lang="fr-FR" sz="2000" i="1" dirty="0">
                <a:solidFill>
                  <a:srgbClr val="FF0000"/>
                </a:solidFill>
              </a:rPr>
              <a:t>ou chiffrement par décalage)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-52464" y="1370059"/>
            <a:ext cx="9180512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 </a:t>
            </a:r>
            <a:r>
              <a:rPr lang="fr-FR" sz="2000" b="1" dirty="0" smtClean="0">
                <a:solidFill>
                  <a:srgbClr val="C00000"/>
                </a:solidFill>
              </a:rPr>
              <a:t>Solution d’e</a:t>
            </a:r>
            <a:r>
              <a:rPr lang="fr-FR" sz="2000" b="1" i="1" dirty="0" smtClean="0">
                <a:solidFill>
                  <a:srgbClr val="C00000"/>
                </a:solidFill>
              </a:rPr>
              <a:t>xercice </a:t>
            </a:r>
            <a:r>
              <a:rPr lang="fr-FR" sz="2000" b="1" i="1" dirty="0">
                <a:solidFill>
                  <a:srgbClr val="C00000"/>
                </a:solidFill>
              </a:rPr>
              <a:t>d’application</a:t>
            </a:r>
            <a:r>
              <a:rPr lang="fr-FR" sz="2000" b="1" i="1" dirty="0" smtClean="0">
                <a:solidFill>
                  <a:srgbClr val="C00000"/>
                </a:solidFill>
              </a:rPr>
              <a:t>:</a:t>
            </a:r>
          </a:p>
          <a:p>
            <a:r>
              <a:rPr lang="fr-FR" b="1" dirty="0"/>
              <a:t>a)</a:t>
            </a:r>
            <a:r>
              <a:rPr lang="fr-FR" dirty="0"/>
              <a:t> Avec une clé de 3, CHAMPION devient FKDPSLRQ.</a:t>
            </a:r>
            <a:br>
              <a:rPr lang="fr-FR" dirty="0"/>
            </a:br>
            <a:r>
              <a:rPr lang="fr-FR" b="1" dirty="0" smtClean="0"/>
              <a:t>b)</a:t>
            </a:r>
            <a:r>
              <a:rPr lang="fr-FR" dirty="0" smtClean="0"/>
              <a:t> Décryptage </a:t>
            </a:r>
            <a:r>
              <a:rPr lang="fr-FR" dirty="0"/>
              <a:t>de "WURXYH" avec clé 3 : </a:t>
            </a:r>
            <a:r>
              <a:rPr lang="fr-FR" b="1" dirty="0"/>
              <a:t>TROUVE</a:t>
            </a:r>
            <a:endParaRPr lang="fr-FR" dirty="0"/>
          </a:p>
          <a:p>
            <a:r>
              <a:rPr lang="fr-FR" b="1" dirty="0"/>
              <a:t>c)</a:t>
            </a:r>
            <a:r>
              <a:rPr lang="fr-FR" dirty="0"/>
              <a:t> Décryptage avec clé 10 :</a:t>
            </a:r>
            <a:br>
              <a:rPr lang="fr-FR" dirty="0"/>
            </a:br>
            <a:r>
              <a:rPr lang="fr-FR" b="1" dirty="0">
                <a:solidFill>
                  <a:schemeClr val="bg2">
                    <a:lumMod val="75000"/>
                  </a:schemeClr>
                </a:solidFill>
              </a:rPr>
              <a:t>Texte chiffré </a:t>
            </a:r>
            <a:r>
              <a:rPr lang="fr-FR" dirty="0"/>
              <a:t>: EBQOXD OVSWSXOB VK MSLVO</a:t>
            </a:r>
            <a:br>
              <a:rPr lang="fr-FR" dirty="0"/>
            </a:br>
            <a:r>
              <a:rPr lang="fr-FR" b="1" dirty="0">
                <a:solidFill>
                  <a:schemeClr val="bg2">
                    <a:lumMod val="75000"/>
                  </a:schemeClr>
                </a:solidFill>
              </a:rPr>
              <a:t>Texte clair </a:t>
            </a:r>
            <a:r>
              <a:rPr lang="fr-FR" dirty="0"/>
              <a:t>: </a:t>
            </a:r>
            <a:r>
              <a:rPr lang="fr-FR" b="1" dirty="0">
                <a:solidFill>
                  <a:srgbClr val="FF0000"/>
                </a:solidFill>
              </a:rPr>
              <a:t>URGENT ELIMINER LA CIBLE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b="1" dirty="0" smtClean="0"/>
              <a:t>d)</a:t>
            </a:r>
            <a:r>
              <a:rPr lang="fr-FR" dirty="0" smtClean="0"/>
              <a:t> </a:t>
            </a:r>
            <a:r>
              <a:rPr lang="fr-FR" b="1" dirty="0" smtClean="0">
                <a:solidFill>
                  <a:schemeClr val="bg2">
                    <a:lumMod val="75000"/>
                  </a:schemeClr>
                </a:solidFill>
              </a:rPr>
              <a:t>Clé </a:t>
            </a:r>
            <a:r>
              <a:rPr lang="fr-FR" b="1" dirty="0">
                <a:solidFill>
                  <a:schemeClr val="bg2">
                    <a:lumMod val="75000"/>
                  </a:schemeClr>
                </a:solidFill>
              </a:rPr>
              <a:t>de cryptage déterminée </a:t>
            </a:r>
            <a:r>
              <a:rPr lang="fr-FR" dirty="0"/>
              <a:t>: </a:t>
            </a:r>
            <a:r>
              <a:rPr lang="fr-FR" b="1" dirty="0"/>
              <a:t>21</a:t>
            </a:r>
            <a:r>
              <a:rPr lang="fr-FR" dirty="0"/>
              <a:t> (car chaque lettre est décalée de 21 positions vers l'avant, soit </a:t>
            </a:r>
            <a:r>
              <a:rPr lang="fr-FR" b="1" dirty="0"/>
              <a:t>-5</a:t>
            </a:r>
            <a:r>
              <a:rPr lang="fr-FR" dirty="0"/>
              <a:t> modulo 26).</a:t>
            </a:r>
          </a:p>
          <a:p>
            <a:r>
              <a:rPr lang="fr-FR" b="1" dirty="0">
                <a:solidFill>
                  <a:schemeClr val="bg2">
                    <a:lumMod val="75000"/>
                  </a:schemeClr>
                </a:solidFill>
              </a:rPr>
              <a:t>Décryptage du texte STYWJ JSSJRN IJ YTZOTZWX JXY IJ WJYTZW avec la clé 5 </a:t>
            </a:r>
            <a:r>
              <a:rPr lang="fr-FR" dirty="0"/>
              <a:t>(trouvée grâce à la présence de "</a:t>
            </a:r>
            <a:r>
              <a:rPr lang="fr-FR" b="1" dirty="0"/>
              <a:t>ENNEMI</a:t>
            </a:r>
            <a:r>
              <a:rPr lang="fr-FR" dirty="0"/>
              <a:t>") :</a:t>
            </a:r>
            <a:br>
              <a:rPr lang="fr-FR" dirty="0"/>
            </a:br>
            <a:r>
              <a:rPr lang="fr-FR" b="1" dirty="0"/>
              <a:t>NOTRE ENNEMI DE [UOVJOVRS] EST DE RETOUR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(Remarque : "UOVJOVRS" pourrait être une erreur de transcription, mais la clé valide est bien 5.)</a:t>
            </a:r>
          </a:p>
          <a:p>
            <a:r>
              <a:rPr lang="fr-FR" b="1" dirty="0"/>
              <a:t>Réponses finales :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a) </a:t>
            </a:r>
            <a:r>
              <a:rPr lang="fr-FR" b="1" dirty="0">
                <a:solidFill>
                  <a:schemeClr val="bg2">
                    <a:lumMod val="75000"/>
                  </a:schemeClr>
                </a:solidFill>
              </a:rPr>
              <a:t>Confirmé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b) </a:t>
            </a:r>
            <a:r>
              <a:rPr lang="fr-FR" dirty="0" smtClean="0"/>
              <a:t> </a:t>
            </a:r>
            <a:r>
              <a:rPr lang="fr-FR" dirty="0"/>
              <a:t>WURXYH → </a:t>
            </a:r>
            <a:r>
              <a:rPr lang="fr-FR" b="1" dirty="0">
                <a:solidFill>
                  <a:schemeClr val="bg2">
                    <a:lumMod val="75000"/>
                  </a:schemeClr>
                </a:solidFill>
              </a:rPr>
              <a:t>TROUVE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c) EBQOXD OVSWSXOB VK MSLVO → </a:t>
            </a:r>
            <a:r>
              <a:rPr lang="fr-FR" b="1" dirty="0">
                <a:solidFill>
                  <a:schemeClr val="bg2">
                    <a:lumMod val="75000"/>
                  </a:schemeClr>
                </a:solidFill>
              </a:rPr>
              <a:t>URGENT ELIMINER LA CIBLE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d) </a:t>
            </a:r>
            <a:r>
              <a:rPr lang="fr-FR" b="1" dirty="0"/>
              <a:t>Clé : 21 </a:t>
            </a:r>
            <a:r>
              <a:rPr lang="fr-FR" dirty="0"/>
              <a:t>; Texte décrypté : </a:t>
            </a:r>
            <a:r>
              <a:rPr lang="fr-FR" b="1" dirty="0">
                <a:solidFill>
                  <a:schemeClr val="bg2">
                    <a:lumMod val="75000"/>
                  </a:schemeClr>
                </a:solidFill>
              </a:rPr>
              <a:t>NOTRE ENNEMI DE [UOVJOVRS] EST DE RETOUR</a:t>
            </a:r>
            <a:r>
              <a:rPr lang="fr-FR" b="1" dirty="0" smtClean="0">
                <a:solidFill>
                  <a:schemeClr val="bg2">
                    <a:lumMod val="75000"/>
                  </a:schemeClr>
                </a:solidFill>
              </a:rPr>
              <a:t>.</a:t>
            </a:r>
            <a:endParaRPr lang="fr-FR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74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-180528" y="1268760"/>
            <a:ext cx="9108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i="1" dirty="0">
                <a:solidFill>
                  <a:srgbClr val="FF0000"/>
                </a:solidFill>
              </a:rPr>
              <a:t>Substitution mono-alphabétique : Cryptage </a:t>
            </a:r>
            <a:r>
              <a:rPr lang="fr-FR" sz="2400" b="1" i="1" dirty="0" smtClean="0">
                <a:solidFill>
                  <a:srgbClr val="FF0000"/>
                </a:solidFill>
              </a:rPr>
              <a:t>affine</a:t>
            </a:r>
            <a:endParaRPr lang="fr-FR" sz="2400" b="1" i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0" y="2060848"/>
            <a:ext cx="9180512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b="1" dirty="0"/>
              <a:t>Chiffrement </a:t>
            </a:r>
            <a:r>
              <a:rPr lang="fr-FR" sz="2400" dirty="0"/>
              <a:t>: à chiffrer chaque lettre, remplacer le nombre initial </a:t>
            </a:r>
            <a:r>
              <a:rPr lang="fr-FR" sz="2400" dirty="0" smtClean="0"/>
              <a:t>x par nombre y  : </a:t>
            </a:r>
            <a:r>
              <a:rPr lang="fr-FR" sz="2400" b="1" dirty="0" smtClean="0">
                <a:solidFill>
                  <a:srgbClr val="FF0000"/>
                </a:solidFill>
              </a:rPr>
              <a:t>y </a:t>
            </a:r>
            <a:r>
              <a:rPr lang="fr-FR" sz="2400" b="1" dirty="0">
                <a:solidFill>
                  <a:srgbClr val="FF0000"/>
                </a:solidFill>
              </a:rPr>
              <a:t>= </a:t>
            </a:r>
            <a:r>
              <a:rPr lang="fr-FR" sz="2400" b="1" dirty="0" smtClean="0">
                <a:solidFill>
                  <a:srgbClr val="FF0000"/>
                </a:solidFill>
              </a:rPr>
              <a:t>(</a:t>
            </a:r>
            <a:r>
              <a:rPr lang="fr-FR" sz="2400" b="1" dirty="0" err="1" smtClean="0">
                <a:solidFill>
                  <a:srgbClr val="FF0000"/>
                </a:solidFill>
              </a:rPr>
              <a:t>ax</a:t>
            </a:r>
            <a:r>
              <a:rPr lang="fr-FR" sz="2400" b="1" dirty="0" smtClean="0">
                <a:solidFill>
                  <a:srgbClr val="FF0000"/>
                </a:solidFill>
              </a:rPr>
              <a:t> + b) </a:t>
            </a:r>
            <a:r>
              <a:rPr lang="fr-FR" sz="2400" b="1" dirty="0" err="1" smtClean="0">
                <a:solidFill>
                  <a:srgbClr val="FF0000"/>
                </a:solidFill>
              </a:rPr>
              <a:t>mod</a:t>
            </a:r>
            <a:r>
              <a:rPr lang="fr-FR" sz="2400" b="1" dirty="0" smtClean="0">
                <a:solidFill>
                  <a:srgbClr val="FF0000"/>
                </a:solidFill>
              </a:rPr>
              <a:t> 26  </a:t>
            </a:r>
            <a:r>
              <a:rPr lang="fr-FR" sz="2400" dirty="0"/>
              <a:t>, avec </a:t>
            </a:r>
            <a:r>
              <a:rPr lang="fr-FR" sz="2400" b="1" dirty="0" err="1" smtClean="0">
                <a:solidFill>
                  <a:srgbClr val="FF0000"/>
                </a:solidFill>
              </a:rPr>
              <a:t>a,b</a:t>
            </a:r>
            <a:r>
              <a:rPr lang="fr-FR" sz="2400" b="1" dirty="0" smtClean="0">
                <a:solidFill>
                  <a:srgbClr val="FF0000"/>
                </a:solidFill>
              </a:rPr>
              <a:t> ∈ [0,25]  </a:t>
            </a:r>
            <a:r>
              <a:rPr lang="fr-FR" sz="2400" dirty="0"/>
              <a:t>et  </a:t>
            </a:r>
            <a:r>
              <a:rPr lang="fr-FR" sz="2400" b="1" dirty="0" smtClean="0">
                <a:solidFill>
                  <a:srgbClr val="FF0000"/>
                </a:solidFill>
              </a:rPr>
              <a:t>PGCD(a,26)=1 </a:t>
            </a:r>
            <a:endParaRPr lang="fr-FR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 smtClean="0"/>
              <a:t>Clé = (</a:t>
            </a:r>
            <a:r>
              <a:rPr lang="fr-FR" sz="2400" dirty="0" err="1" smtClean="0"/>
              <a:t>a,b</a:t>
            </a:r>
            <a:r>
              <a:rPr lang="fr-FR" sz="2400" dirty="0" smtClean="0"/>
              <a:t>)</a:t>
            </a:r>
            <a:endParaRPr lang="fr-FR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b="1" dirty="0" smtClean="0"/>
              <a:t>Déchiffrement </a:t>
            </a:r>
            <a:r>
              <a:rPr lang="fr-FR" sz="2400" dirty="0"/>
              <a:t>: remplacer </a:t>
            </a:r>
            <a:r>
              <a:rPr lang="fr-FR" sz="2400" b="1" dirty="0" smtClean="0"/>
              <a:t>y</a:t>
            </a:r>
            <a:r>
              <a:rPr lang="fr-FR" sz="2400" dirty="0" smtClean="0"/>
              <a:t> </a:t>
            </a:r>
            <a:r>
              <a:rPr lang="fr-FR" sz="2400" dirty="0"/>
              <a:t>par </a:t>
            </a:r>
            <a:r>
              <a:rPr lang="fr-FR" sz="2400" dirty="0" smtClean="0"/>
              <a:t>nombre </a:t>
            </a:r>
            <a:r>
              <a:rPr lang="fr-FR" sz="2400" b="1" dirty="0" smtClean="0"/>
              <a:t>x</a:t>
            </a:r>
            <a:r>
              <a:rPr lang="fr-FR" sz="2400" dirty="0" smtClean="0"/>
              <a:t>  :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solidFill>
                  <a:srgbClr val="C00000"/>
                </a:solidFill>
              </a:rPr>
              <a:t> </a:t>
            </a:r>
            <a:r>
              <a:rPr lang="fr-FR" sz="2400" dirty="0" smtClean="0">
                <a:solidFill>
                  <a:srgbClr val="C00000"/>
                </a:solidFill>
              </a:rPr>
              <a:t>         </a:t>
            </a:r>
            <a:r>
              <a:rPr lang="fr-FR" sz="2400" b="1" dirty="0" smtClean="0">
                <a:solidFill>
                  <a:srgbClr val="C00000"/>
                </a:solidFill>
              </a:rPr>
              <a:t>x= a</a:t>
            </a:r>
            <a:r>
              <a:rPr lang="fr-FR" sz="2400" b="1" baseline="30000" dirty="0" smtClean="0">
                <a:solidFill>
                  <a:srgbClr val="C00000"/>
                </a:solidFill>
              </a:rPr>
              <a:t>-1</a:t>
            </a:r>
            <a:r>
              <a:rPr lang="fr-FR" sz="2400" b="1" dirty="0" smtClean="0">
                <a:solidFill>
                  <a:srgbClr val="C00000"/>
                </a:solidFill>
              </a:rPr>
              <a:t> (y- b) </a:t>
            </a:r>
            <a:r>
              <a:rPr lang="fr-FR" sz="2400" b="1" dirty="0" err="1" smtClean="0">
                <a:solidFill>
                  <a:srgbClr val="C00000"/>
                </a:solidFill>
              </a:rPr>
              <a:t>mod</a:t>
            </a:r>
            <a:r>
              <a:rPr lang="fr-FR" sz="2400" b="1" dirty="0" smtClean="0">
                <a:solidFill>
                  <a:srgbClr val="C00000"/>
                </a:solidFill>
              </a:rPr>
              <a:t> 26</a:t>
            </a:r>
            <a:r>
              <a:rPr lang="fr-FR" sz="2400" dirty="0" smtClean="0"/>
              <a:t>, </a:t>
            </a:r>
            <a:r>
              <a:rPr lang="fr-FR" sz="2400" dirty="0"/>
              <a:t>avec </a:t>
            </a:r>
            <a:r>
              <a:rPr lang="fr-FR" sz="2400" dirty="0" smtClean="0"/>
              <a:t>a</a:t>
            </a:r>
            <a:r>
              <a:rPr lang="fr-FR" sz="2400" b="1" baseline="30000" dirty="0" smtClean="0"/>
              <a:t>-1</a:t>
            </a:r>
            <a:r>
              <a:rPr lang="fr-FR" sz="2400" dirty="0" smtClean="0"/>
              <a:t> </a:t>
            </a:r>
            <a:r>
              <a:rPr lang="fr-FR" sz="2400" dirty="0"/>
              <a:t>inverse de </a:t>
            </a:r>
            <a:r>
              <a:rPr lang="fr-FR" sz="2400" dirty="0" smtClean="0"/>
              <a:t>a </a:t>
            </a:r>
            <a:r>
              <a:rPr lang="fr-FR" sz="2400" dirty="0"/>
              <a:t>modulo 26.</a:t>
            </a:r>
          </a:p>
        </p:txBody>
      </p:sp>
    </p:spTree>
    <p:extLst>
      <p:ext uri="{BB962C8B-B14F-4D97-AF65-F5344CB8AC3E}">
        <p14:creationId xmlns:p14="http://schemas.microsoft.com/office/powerpoint/2010/main" val="282400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683114"/>
            <a:ext cx="9108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i="1" dirty="0">
                <a:solidFill>
                  <a:srgbClr val="FF0000"/>
                </a:solidFill>
              </a:rPr>
              <a:t>Substitution mono-alphabétique : Cryptage </a:t>
            </a:r>
            <a:r>
              <a:rPr lang="fr-FR" sz="2400" b="1" i="1" dirty="0" smtClean="0">
                <a:solidFill>
                  <a:srgbClr val="FF0000"/>
                </a:solidFill>
              </a:rPr>
              <a:t>affine</a:t>
            </a:r>
            <a:endParaRPr lang="fr-FR" sz="2400" b="1" i="1" dirty="0">
              <a:solidFill>
                <a:srgbClr val="FF0000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143000" y="1301493"/>
            <a:ext cx="9001000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200" dirty="0"/>
              <a:t>Le chiffrement </a:t>
            </a:r>
            <a:r>
              <a:rPr lang="fr-FR" sz="2200" b="1" dirty="0"/>
              <a:t>affine</a:t>
            </a:r>
            <a:r>
              <a:rPr lang="fr-FR" sz="2200" dirty="0"/>
              <a:t> est une généralisation naturelle </a:t>
            </a:r>
            <a:r>
              <a:rPr lang="fr-FR" sz="2200" dirty="0" smtClean="0"/>
              <a:t>du chiffrement </a:t>
            </a:r>
            <a:r>
              <a:rPr lang="fr-FR" sz="2200" dirty="0"/>
              <a:t>de César.</a:t>
            </a:r>
          </a:p>
          <a:p>
            <a:pPr>
              <a:lnSpc>
                <a:spcPct val="150000"/>
              </a:lnSpc>
            </a:pPr>
            <a:r>
              <a:rPr lang="fr-FR" sz="2400" b="1" dirty="0"/>
              <a:t>Fonction de chiffrement:</a:t>
            </a:r>
          </a:p>
          <a:p>
            <a:pPr>
              <a:lnSpc>
                <a:spcPct val="150000"/>
              </a:lnSpc>
            </a:pPr>
            <a:r>
              <a:rPr lang="fr-FR" sz="2400" i="1" dirty="0" smtClean="0"/>
              <a:t>                      E</a:t>
            </a:r>
            <a:r>
              <a:rPr lang="fr-FR" sz="2400" baseline="-25000" dirty="0" smtClean="0"/>
              <a:t>(</a:t>
            </a:r>
            <a:r>
              <a:rPr lang="fr-FR" sz="2400" i="1" baseline="-25000" dirty="0" err="1" smtClean="0"/>
              <a:t>a,b</a:t>
            </a:r>
            <a:r>
              <a:rPr lang="fr-FR" sz="2400" baseline="-25000" dirty="0"/>
              <a:t>)</a:t>
            </a:r>
            <a:r>
              <a:rPr lang="fr-FR" sz="2400" dirty="0"/>
              <a:t> : Z</a:t>
            </a:r>
            <a:r>
              <a:rPr lang="fr-FR" sz="2400" baseline="-25000" dirty="0"/>
              <a:t>26</a:t>
            </a:r>
            <a:r>
              <a:rPr lang="fr-FR" sz="2400" dirty="0"/>
              <a:t> → Z</a:t>
            </a:r>
            <a:r>
              <a:rPr lang="fr-FR" sz="2400" baseline="-25000" dirty="0"/>
              <a:t>26</a:t>
            </a:r>
          </a:p>
          <a:p>
            <a:pPr>
              <a:lnSpc>
                <a:spcPct val="150000"/>
              </a:lnSpc>
            </a:pPr>
            <a:r>
              <a:rPr lang="fr-FR" sz="2400" dirty="0" smtClean="0"/>
              <a:t>                             </a:t>
            </a:r>
            <a:r>
              <a:rPr lang="fr-FR" sz="2400" i="1" dirty="0" smtClean="0"/>
              <a:t>x </a:t>
            </a:r>
            <a:r>
              <a:rPr lang="fr-FR" sz="2400" dirty="0" smtClean="0"/>
              <a:t>→ </a:t>
            </a:r>
            <a:r>
              <a:rPr lang="fr-FR" sz="2400" i="1" dirty="0" err="1"/>
              <a:t>ax</a:t>
            </a:r>
            <a:r>
              <a:rPr lang="fr-FR" sz="2400" i="1" dirty="0"/>
              <a:t> </a:t>
            </a:r>
            <a:r>
              <a:rPr lang="fr-FR" sz="2400" dirty="0"/>
              <a:t>+ </a:t>
            </a:r>
            <a:r>
              <a:rPr lang="fr-FR" sz="2400" i="1" dirty="0"/>
              <a:t>b</a:t>
            </a:r>
            <a:r>
              <a:rPr lang="fr-FR" sz="2400" dirty="0"/>
              <a:t>[26</a:t>
            </a:r>
            <a:r>
              <a:rPr lang="fr-FR" sz="2400" dirty="0" smtClean="0"/>
              <a:t>]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cs typeface="Arial" panose="020B0604020202020204" pitchFamily="34" charset="0"/>
              </a:rPr>
              <a:t>Si </a:t>
            </a:r>
            <a:r>
              <a:rPr lang="fr-FR" sz="24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a </a:t>
            </a:r>
            <a:r>
              <a:rPr lang="fr-FR" sz="2400" b="1" dirty="0">
                <a:solidFill>
                  <a:schemeClr val="tx2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est inversible </a:t>
            </a:r>
            <a:r>
              <a:rPr lang="fr-FR" sz="2400" dirty="0">
                <a:cs typeface="Arial" panose="020B0604020202020204" pitchFamily="34" charset="0"/>
              </a:rPr>
              <a:t>dans Z</a:t>
            </a:r>
            <a:r>
              <a:rPr lang="fr-FR" sz="2400" baseline="-25000" dirty="0">
                <a:cs typeface="Arial" panose="020B0604020202020204" pitchFamily="34" charset="0"/>
              </a:rPr>
              <a:t>26</a:t>
            </a:r>
            <a:r>
              <a:rPr lang="fr-FR" sz="2400" dirty="0">
                <a:cs typeface="Arial" panose="020B0604020202020204" pitchFamily="34" charset="0"/>
              </a:rPr>
              <a:t> </a:t>
            </a:r>
            <a:r>
              <a:rPr lang="fr-FR" sz="2400" dirty="0" err="1">
                <a:cs typeface="Arial" panose="020B0604020202020204" pitchFamily="34" charset="0"/>
              </a:rPr>
              <a:t>càd</a:t>
            </a:r>
            <a:r>
              <a:rPr lang="fr-FR" sz="2400" dirty="0">
                <a:cs typeface="Arial" panose="020B0604020202020204" pitchFamily="34" charset="0"/>
              </a:rPr>
              <a:t> </a:t>
            </a:r>
            <a:r>
              <a:rPr lang="fr-FR" sz="2400" dirty="0" smtClean="0">
                <a:cs typeface="Arial" panose="020B0604020202020204" pitchFamily="34" charset="0"/>
              </a:rPr>
              <a:t>PGCD(</a:t>
            </a:r>
            <a:r>
              <a:rPr lang="fr-FR" sz="2400" i="1" dirty="0" smtClean="0">
                <a:cs typeface="Arial" panose="020B0604020202020204" pitchFamily="34" charset="0"/>
              </a:rPr>
              <a:t>a</a:t>
            </a:r>
            <a:r>
              <a:rPr lang="fr-FR" sz="2400" i="1" dirty="0">
                <a:cs typeface="Arial" panose="020B0604020202020204" pitchFamily="34" charset="0"/>
              </a:rPr>
              <a:t>, </a:t>
            </a:r>
            <a:r>
              <a:rPr lang="fr-FR" sz="2400" dirty="0">
                <a:cs typeface="Arial" panose="020B0604020202020204" pitchFamily="34" charset="0"/>
              </a:rPr>
              <a:t>26) = 1</a:t>
            </a:r>
            <a:r>
              <a:rPr lang="fr-FR" sz="2400" i="1" dirty="0">
                <a:cs typeface="Arial" panose="020B0604020202020204" pitchFamily="34" charset="0"/>
              </a:rPr>
              <a:t>, </a:t>
            </a:r>
            <a:r>
              <a:rPr lang="fr-FR" sz="2400" dirty="0">
                <a:cs typeface="Arial" panose="020B0604020202020204" pitchFamily="34" charset="0"/>
              </a:rPr>
              <a:t>alors:</a:t>
            </a:r>
          </a:p>
          <a:p>
            <a:pPr>
              <a:lnSpc>
                <a:spcPct val="150000"/>
              </a:lnSpc>
            </a:pPr>
            <a:r>
              <a:rPr lang="pt-BR" sz="2400" i="1" dirty="0">
                <a:cs typeface="Arial" panose="020B0604020202020204" pitchFamily="34" charset="0"/>
              </a:rPr>
              <a:t>a </a:t>
            </a:r>
            <a:r>
              <a:rPr lang="pt-BR" sz="2400" dirty="0">
                <a:cs typeface="Arial" panose="020B0604020202020204" pitchFamily="34" charset="0"/>
              </a:rPr>
              <a:t>∈ {</a:t>
            </a:r>
            <a:r>
              <a:rPr lang="pt-BR" sz="2400" b="1" dirty="0">
                <a:solidFill>
                  <a:srgbClr val="C00000"/>
                </a:solidFill>
                <a:cs typeface="Arial" panose="020B0604020202020204" pitchFamily="34" charset="0"/>
              </a:rPr>
              <a:t>1</a:t>
            </a:r>
            <a:r>
              <a:rPr lang="pt-BR" sz="2400" b="1" i="1" dirty="0">
                <a:solidFill>
                  <a:srgbClr val="C00000"/>
                </a:solidFill>
                <a:cs typeface="Arial" panose="020B0604020202020204" pitchFamily="34" charset="0"/>
              </a:rPr>
              <a:t>, </a:t>
            </a:r>
            <a:r>
              <a:rPr lang="pt-BR" sz="2400" b="1" dirty="0">
                <a:solidFill>
                  <a:srgbClr val="C00000"/>
                </a:solidFill>
                <a:cs typeface="Arial" panose="020B0604020202020204" pitchFamily="34" charset="0"/>
              </a:rPr>
              <a:t>3</a:t>
            </a:r>
            <a:r>
              <a:rPr lang="pt-BR" sz="2400" b="1" i="1" dirty="0">
                <a:solidFill>
                  <a:srgbClr val="C00000"/>
                </a:solidFill>
                <a:cs typeface="Arial" panose="020B0604020202020204" pitchFamily="34" charset="0"/>
              </a:rPr>
              <a:t>, </a:t>
            </a:r>
            <a:r>
              <a:rPr lang="pt-BR" sz="2400" b="1" dirty="0">
                <a:solidFill>
                  <a:srgbClr val="C00000"/>
                </a:solidFill>
                <a:cs typeface="Arial" panose="020B0604020202020204" pitchFamily="34" charset="0"/>
              </a:rPr>
              <a:t>5</a:t>
            </a:r>
            <a:r>
              <a:rPr lang="pt-BR" sz="2400" b="1" i="1" dirty="0">
                <a:solidFill>
                  <a:srgbClr val="C00000"/>
                </a:solidFill>
                <a:cs typeface="Arial" panose="020B0604020202020204" pitchFamily="34" charset="0"/>
              </a:rPr>
              <a:t>, </a:t>
            </a:r>
            <a:r>
              <a:rPr lang="pt-BR" sz="2400" b="1" dirty="0">
                <a:solidFill>
                  <a:srgbClr val="C00000"/>
                </a:solidFill>
                <a:cs typeface="Arial" panose="020B0604020202020204" pitchFamily="34" charset="0"/>
              </a:rPr>
              <a:t>7</a:t>
            </a:r>
            <a:r>
              <a:rPr lang="pt-BR" sz="2400" b="1" i="1" dirty="0">
                <a:solidFill>
                  <a:srgbClr val="C00000"/>
                </a:solidFill>
                <a:cs typeface="Arial" panose="020B0604020202020204" pitchFamily="34" charset="0"/>
              </a:rPr>
              <a:t>, </a:t>
            </a:r>
            <a:r>
              <a:rPr lang="pt-BR" sz="2400" b="1" dirty="0">
                <a:solidFill>
                  <a:srgbClr val="C00000"/>
                </a:solidFill>
                <a:cs typeface="Arial" panose="020B0604020202020204" pitchFamily="34" charset="0"/>
              </a:rPr>
              <a:t>9</a:t>
            </a:r>
            <a:r>
              <a:rPr lang="pt-BR" sz="2400" b="1" i="1" dirty="0">
                <a:solidFill>
                  <a:srgbClr val="C00000"/>
                </a:solidFill>
                <a:cs typeface="Arial" panose="020B0604020202020204" pitchFamily="34" charset="0"/>
              </a:rPr>
              <a:t>, </a:t>
            </a:r>
            <a:r>
              <a:rPr lang="pt-BR" sz="2400" b="1" dirty="0">
                <a:solidFill>
                  <a:srgbClr val="C00000"/>
                </a:solidFill>
                <a:cs typeface="Arial" panose="020B0604020202020204" pitchFamily="34" charset="0"/>
              </a:rPr>
              <a:t>11</a:t>
            </a:r>
            <a:r>
              <a:rPr lang="pt-BR" sz="2400" b="1" i="1" dirty="0">
                <a:solidFill>
                  <a:srgbClr val="C00000"/>
                </a:solidFill>
                <a:cs typeface="Arial" panose="020B0604020202020204" pitchFamily="34" charset="0"/>
              </a:rPr>
              <a:t>, </a:t>
            </a:r>
            <a:r>
              <a:rPr lang="pt-BR" sz="2400" b="1" dirty="0">
                <a:solidFill>
                  <a:srgbClr val="C00000"/>
                </a:solidFill>
                <a:cs typeface="Arial" panose="020B0604020202020204" pitchFamily="34" charset="0"/>
              </a:rPr>
              <a:t>15</a:t>
            </a:r>
            <a:r>
              <a:rPr lang="pt-BR" sz="2400" b="1" i="1" dirty="0">
                <a:solidFill>
                  <a:srgbClr val="C00000"/>
                </a:solidFill>
                <a:cs typeface="Arial" panose="020B0604020202020204" pitchFamily="34" charset="0"/>
              </a:rPr>
              <a:t>, </a:t>
            </a:r>
            <a:r>
              <a:rPr lang="pt-BR" sz="2400" b="1" dirty="0">
                <a:solidFill>
                  <a:srgbClr val="C00000"/>
                </a:solidFill>
                <a:cs typeface="Arial" panose="020B0604020202020204" pitchFamily="34" charset="0"/>
              </a:rPr>
              <a:t>17</a:t>
            </a:r>
            <a:r>
              <a:rPr lang="pt-BR" sz="2400" b="1" i="1" dirty="0">
                <a:solidFill>
                  <a:srgbClr val="C00000"/>
                </a:solidFill>
                <a:cs typeface="Arial" panose="020B0604020202020204" pitchFamily="34" charset="0"/>
              </a:rPr>
              <a:t>, </a:t>
            </a:r>
            <a:r>
              <a:rPr lang="pt-BR" sz="2400" b="1" dirty="0">
                <a:solidFill>
                  <a:srgbClr val="C00000"/>
                </a:solidFill>
                <a:cs typeface="Arial" panose="020B0604020202020204" pitchFamily="34" charset="0"/>
              </a:rPr>
              <a:t>19</a:t>
            </a:r>
            <a:r>
              <a:rPr lang="pt-BR" sz="2400" b="1" i="1" dirty="0">
                <a:solidFill>
                  <a:srgbClr val="C00000"/>
                </a:solidFill>
                <a:cs typeface="Arial" panose="020B0604020202020204" pitchFamily="34" charset="0"/>
              </a:rPr>
              <a:t>, </a:t>
            </a:r>
            <a:r>
              <a:rPr lang="pt-BR" sz="2400" b="1" dirty="0">
                <a:solidFill>
                  <a:srgbClr val="C00000"/>
                </a:solidFill>
                <a:cs typeface="Arial" panose="020B0604020202020204" pitchFamily="34" charset="0"/>
              </a:rPr>
              <a:t>21</a:t>
            </a:r>
            <a:r>
              <a:rPr lang="pt-BR" sz="2400" b="1" i="1" dirty="0">
                <a:solidFill>
                  <a:srgbClr val="C00000"/>
                </a:solidFill>
                <a:cs typeface="Arial" panose="020B0604020202020204" pitchFamily="34" charset="0"/>
              </a:rPr>
              <a:t>, </a:t>
            </a:r>
            <a:r>
              <a:rPr lang="pt-BR" sz="2400" b="1" dirty="0">
                <a:solidFill>
                  <a:srgbClr val="C00000"/>
                </a:solidFill>
                <a:cs typeface="Arial" panose="020B0604020202020204" pitchFamily="34" charset="0"/>
              </a:rPr>
              <a:t>23</a:t>
            </a:r>
            <a:r>
              <a:rPr lang="pt-BR" sz="2400" b="1" i="1" dirty="0">
                <a:solidFill>
                  <a:srgbClr val="C00000"/>
                </a:solidFill>
                <a:cs typeface="Arial" panose="020B0604020202020204" pitchFamily="34" charset="0"/>
              </a:rPr>
              <a:t>, </a:t>
            </a:r>
            <a:r>
              <a:rPr lang="pt-BR" sz="2400" b="1" dirty="0">
                <a:solidFill>
                  <a:srgbClr val="C00000"/>
                </a:solidFill>
                <a:cs typeface="Arial" panose="020B0604020202020204" pitchFamily="34" charset="0"/>
              </a:rPr>
              <a:t>25</a:t>
            </a:r>
            <a:r>
              <a:rPr lang="pt-BR" sz="2400" dirty="0">
                <a:cs typeface="Arial" panose="020B0604020202020204" pitchFamily="34" charset="0"/>
              </a:rPr>
              <a:t>} = </a:t>
            </a:r>
            <a:r>
              <a:rPr lang="pt-BR" sz="2400" dirty="0" smtClean="0">
                <a:cs typeface="Arial" panose="020B0604020202020204" pitchFamily="34" charset="0"/>
              </a:rPr>
              <a:t>Z</a:t>
            </a:r>
            <a:r>
              <a:rPr lang="pt-BR" sz="2400" baseline="30000" dirty="0" smtClean="0">
                <a:cs typeface="Arial" panose="020B0604020202020204" pitchFamily="34" charset="0"/>
              </a:rPr>
              <a:t>X</a:t>
            </a:r>
            <a:r>
              <a:rPr lang="fr-FR" sz="2400" baseline="-25000" dirty="0" smtClean="0">
                <a:cs typeface="Arial" panose="020B0604020202020204" pitchFamily="34" charset="0"/>
              </a:rPr>
              <a:t>26</a:t>
            </a:r>
            <a:r>
              <a:rPr lang="fr-FR" sz="2400" i="1" dirty="0"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pl-PL" sz="2400" dirty="0" smtClean="0">
                <a:cs typeface="Arial" panose="020B0604020202020204" pitchFamily="34" charset="0"/>
              </a:rPr>
              <a:t>Z</a:t>
            </a:r>
            <a:r>
              <a:rPr lang="fr-FR" sz="2400" baseline="30000" dirty="0" smtClean="0">
                <a:cs typeface="Arial" panose="020B0604020202020204" pitchFamily="34" charset="0"/>
              </a:rPr>
              <a:t>X</a:t>
            </a:r>
            <a:r>
              <a:rPr lang="pl-PL" sz="2400" baseline="-25000" dirty="0" smtClean="0">
                <a:cs typeface="Arial" panose="020B0604020202020204" pitchFamily="34" charset="0"/>
              </a:rPr>
              <a:t>26</a:t>
            </a:r>
            <a:r>
              <a:rPr lang="pl-PL" sz="2400" dirty="0" smtClean="0">
                <a:cs typeface="Arial" panose="020B0604020202020204" pitchFamily="34" charset="0"/>
              </a:rPr>
              <a:t> </a:t>
            </a:r>
            <a:r>
              <a:rPr lang="pl-PL" sz="2400" dirty="0">
                <a:cs typeface="Arial" panose="020B0604020202020204" pitchFamily="34" charset="0"/>
              </a:rPr>
              <a:t>≠</a:t>
            </a:r>
            <a:r>
              <a:rPr lang="pl-PL" sz="2400" dirty="0" smtClean="0">
                <a:cs typeface="Arial" panose="020B0604020202020204" pitchFamily="34" charset="0"/>
              </a:rPr>
              <a:t> </a:t>
            </a:r>
            <a:r>
              <a:rPr lang="pl-PL" sz="2400" dirty="0">
                <a:cs typeface="Arial" panose="020B0604020202020204" pitchFamily="34" charset="0"/>
              </a:rPr>
              <a:t>Z</a:t>
            </a:r>
            <a:r>
              <a:rPr lang="pl-PL" sz="2400" baseline="-25000" dirty="0">
                <a:cs typeface="Arial" panose="020B0604020202020204" pitchFamily="34" charset="0"/>
              </a:rPr>
              <a:t>26</a:t>
            </a:r>
            <a:r>
              <a:rPr lang="pl-PL" sz="2400" dirty="0">
                <a:cs typeface="Arial" panose="020B0604020202020204" pitchFamily="34" charset="0"/>
              </a:rPr>
              <a:t>\ {0}, on a:</a:t>
            </a:r>
          </a:p>
          <a:p>
            <a:pPr>
              <a:lnSpc>
                <a:spcPct val="150000"/>
              </a:lnSpc>
            </a:pPr>
            <a:r>
              <a:rPr lang="fr-FR" sz="2400" i="1" dirty="0">
                <a:cs typeface="Arial" panose="020B0604020202020204" pitchFamily="34" charset="0"/>
              </a:rPr>
              <a:t>a </a:t>
            </a:r>
            <a:r>
              <a:rPr lang="fr-FR" sz="2400" dirty="0">
                <a:cs typeface="Arial" panose="020B0604020202020204" pitchFamily="34" charset="0"/>
              </a:rPr>
              <a:t>∈ </a:t>
            </a:r>
            <a:r>
              <a:rPr lang="fr-FR" sz="2400" dirty="0" smtClean="0">
                <a:cs typeface="Arial" panose="020B0604020202020204" pitchFamily="34" charset="0"/>
              </a:rPr>
              <a:t>Z</a:t>
            </a:r>
            <a:r>
              <a:rPr lang="fr-FR" sz="2400" baseline="30000" dirty="0" smtClean="0">
                <a:cs typeface="Arial" panose="020B0604020202020204" pitchFamily="34" charset="0"/>
              </a:rPr>
              <a:t>X</a:t>
            </a:r>
            <a:r>
              <a:rPr lang="fr-FR" sz="2400" baseline="-25000" dirty="0" smtClean="0">
                <a:cs typeface="Arial" panose="020B0604020202020204" pitchFamily="34" charset="0"/>
              </a:rPr>
              <a:t>26</a:t>
            </a:r>
            <a:r>
              <a:rPr lang="fr-FR" sz="2400" dirty="0" smtClean="0">
                <a:cs typeface="Arial" panose="020B0604020202020204" pitchFamily="34" charset="0"/>
              </a:rPr>
              <a:t> </a:t>
            </a:r>
            <a:r>
              <a:rPr lang="fr-FR" sz="2400" dirty="0">
                <a:cs typeface="Arial" panose="020B0604020202020204" pitchFamily="34" charset="0"/>
              </a:rPr>
              <a:t>⇒ </a:t>
            </a:r>
            <a:r>
              <a:rPr lang="fr-FR" sz="24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a est inversible</a:t>
            </a:r>
            <a:r>
              <a:rPr lang="fr-FR" sz="2400" i="1" dirty="0" smtClean="0">
                <a:cs typeface="Arial" panose="020B0604020202020204" pitchFamily="34" charset="0"/>
              </a:rPr>
              <a:t>.</a:t>
            </a:r>
            <a:endParaRPr lang="fr-FR" sz="2400" i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84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683114"/>
            <a:ext cx="9108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i="1" dirty="0">
                <a:solidFill>
                  <a:srgbClr val="FF0000"/>
                </a:solidFill>
              </a:rPr>
              <a:t>Substitution mono-alphabétique : Cryptage </a:t>
            </a:r>
            <a:r>
              <a:rPr lang="fr-FR" sz="2400" b="1" i="1" dirty="0" smtClean="0">
                <a:solidFill>
                  <a:srgbClr val="FF0000"/>
                </a:solidFill>
              </a:rPr>
              <a:t>affine</a:t>
            </a:r>
            <a:endParaRPr lang="fr-FR" sz="2400" b="1" i="1" dirty="0">
              <a:solidFill>
                <a:srgbClr val="FF000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31539" y="1276305"/>
            <a:ext cx="79208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Exercice d’application : </a:t>
            </a:r>
            <a:r>
              <a:rPr lang="fr-FR" sz="2000" dirty="0"/>
              <a:t>Cryptage affine</a:t>
            </a:r>
          </a:p>
          <a:p>
            <a:r>
              <a:rPr lang="fr-FR" sz="2000" dirty="0"/>
              <a:t>La clé (</a:t>
            </a:r>
            <a:r>
              <a:rPr lang="fr-FR" sz="2000" dirty="0" err="1"/>
              <a:t>a;b</a:t>
            </a:r>
            <a:r>
              <a:rPr lang="fr-FR" sz="2000" dirty="0"/>
              <a:t>) = (3;7)</a:t>
            </a:r>
          </a:p>
          <a:p>
            <a:r>
              <a:rPr lang="fr-FR" sz="2000" dirty="0"/>
              <a:t>a)Coder votre prénom avec la clé (3;7)</a:t>
            </a:r>
          </a:p>
          <a:p>
            <a:r>
              <a:rPr lang="fr-FR" sz="2000" dirty="0"/>
              <a:t>b) </a:t>
            </a:r>
            <a:r>
              <a:rPr lang="fr-FR" sz="2000" b="1" dirty="0"/>
              <a:t>Décrypter</a:t>
            </a:r>
            <a:r>
              <a:rPr lang="fr-FR" sz="2000" dirty="0"/>
              <a:t> la phrase RXF HPJJF avec la clé (3;7)</a:t>
            </a:r>
          </a:p>
          <a:p>
            <a:r>
              <a:rPr lang="fr-FR" sz="2000" dirty="0"/>
              <a:t>c) On prend maintenant pour clé (5;7). Coder alors le mot ENTIER</a:t>
            </a:r>
            <a:r>
              <a:rPr lang="fr-FR" dirty="0" smtClean="0"/>
              <a:t>.</a:t>
            </a:r>
            <a:endParaRPr lang="fr-FR" dirty="0"/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087242"/>
              </p:ext>
            </p:extLst>
          </p:nvPr>
        </p:nvGraphicFramePr>
        <p:xfrm>
          <a:off x="400253" y="3284984"/>
          <a:ext cx="8280921" cy="13046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2129"/>
                <a:gridCol w="389584"/>
                <a:gridCol w="622631"/>
                <a:gridCol w="466976"/>
                <a:gridCol w="558191"/>
                <a:gridCol w="630567"/>
                <a:gridCol w="589915"/>
                <a:gridCol w="696993"/>
                <a:gridCol w="484821"/>
                <a:gridCol w="456866"/>
                <a:gridCol w="504056"/>
                <a:gridCol w="576064"/>
                <a:gridCol w="504056"/>
                <a:gridCol w="648072"/>
              </a:tblGrid>
              <a:tr h="17970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 smtClean="0">
                          <a:solidFill>
                            <a:srgbClr val="FFFFFF"/>
                          </a:solidFill>
                          <a:effectLst/>
                        </a:rPr>
                        <a:t>En claire </a:t>
                      </a:r>
                      <a:endParaRPr lang="fr-FR" sz="16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A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B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C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D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E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F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G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H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I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J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K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L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M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17970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solidFill>
                            <a:srgbClr val="FFFFFF"/>
                          </a:solidFill>
                          <a:effectLst/>
                        </a:rPr>
                        <a:t>Rang x</a:t>
                      </a:r>
                      <a:endParaRPr lang="fr-FR" sz="16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     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1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 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 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 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 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 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10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 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 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17970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 err="1">
                          <a:solidFill>
                            <a:srgbClr val="FFFFFF"/>
                          </a:solidFill>
                          <a:effectLst/>
                        </a:rPr>
                        <a:t>ax</a:t>
                      </a:r>
                      <a:r>
                        <a:rPr lang="fr-FR" sz="1600" dirty="0">
                          <a:solidFill>
                            <a:srgbClr val="FFFFFF"/>
                          </a:solidFill>
                          <a:effectLst/>
                        </a:rPr>
                        <a:t> + b</a:t>
                      </a:r>
                      <a:endParaRPr lang="fr-FR" sz="16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10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 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 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 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 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37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 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 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17970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solidFill>
                            <a:srgbClr val="FFFFFF"/>
                          </a:solidFill>
                          <a:effectLst/>
                        </a:rPr>
                        <a:t>Rang y </a:t>
                      </a:r>
                      <a:endParaRPr lang="fr-FR" sz="16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10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 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 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11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 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>
                          <a:effectLst/>
                        </a:rPr>
                        <a:t> </a:t>
                      </a:r>
                      <a:endParaRPr lang="fr-F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17970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solidFill>
                            <a:srgbClr val="FFFFFF"/>
                          </a:solidFill>
                          <a:effectLst/>
                        </a:rPr>
                        <a:t>Encrypté</a:t>
                      </a:r>
                      <a:endParaRPr lang="fr-FR" sz="16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K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>
                          <a:effectLst/>
                        </a:rPr>
                        <a:t> </a:t>
                      </a:r>
                      <a:endParaRPr lang="fr-FR" sz="16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 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effectLst/>
                        </a:rPr>
                        <a:t>L</a:t>
                      </a:r>
                      <a:endParaRPr lang="fr-FR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 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600" dirty="0">
                          <a:effectLst/>
                        </a:rPr>
                        <a:t> 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26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 smtClean="0">
                <a:solidFill>
                  <a:srgbClr val="FF0000"/>
                </a:solidFill>
              </a:rPr>
              <a:t>exercices</a:t>
            </a:r>
            <a:endParaRPr lang="fr-FR" sz="2400" b="1" i="1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228491" y="2307282"/>
          <a:ext cx="8568970" cy="16660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1535"/>
                <a:gridCol w="253397"/>
                <a:gridCol w="314957"/>
                <a:gridCol w="239080"/>
                <a:gridCol w="251964"/>
                <a:gridCol w="234785"/>
                <a:gridCol w="314957"/>
                <a:gridCol w="254112"/>
                <a:gridCol w="314957"/>
                <a:gridCol w="314957"/>
                <a:gridCol w="314957"/>
                <a:gridCol w="314957"/>
                <a:gridCol w="314957"/>
                <a:gridCol w="314957"/>
                <a:gridCol w="314957"/>
                <a:gridCol w="314957"/>
                <a:gridCol w="314957"/>
                <a:gridCol w="314957"/>
                <a:gridCol w="314957"/>
                <a:gridCol w="314957"/>
                <a:gridCol w="314957"/>
                <a:gridCol w="314957"/>
                <a:gridCol w="314957"/>
                <a:gridCol w="314957"/>
                <a:gridCol w="314957"/>
                <a:gridCol w="314957"/>
                <a:gridCol w="314957"/>
              </a:tblGrid>
              <a:tr h="29828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>
                          <a:effectLst/>
                        </a:rPr>
                        <a:t>En claire 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A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B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C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D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E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F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G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H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I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J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K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L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O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P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Q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R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T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U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V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W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</a:rPr>
                        <a:t>X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 b="1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Z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29828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Rang x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0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1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2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3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4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5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6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7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8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9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10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11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12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13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14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15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16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17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18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19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20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21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22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23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24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25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29828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ax + b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7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10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1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22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28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31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34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37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52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55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58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61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76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29828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Rang y 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7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10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22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2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5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8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11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0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3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>
                          <a:effectLst/>
                        </a:rPr>
                        <a:t>6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9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>
                          <a:effectLst/>
                        </a:rPr>
                        <a:t>24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29828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Encrypté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H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K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W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C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F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I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L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A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D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G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j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Y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>
                          <a:effectLst/>
                        </a:rPr>
                        <a:t> </a:t>
                      </a:r>
                      <a:endParaRPr lang="fr-F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900" b="1" dirty="0">
                          <a:effectLst/>
                        </a:rPr>
                        <a:t> </a:t>
                      </a:r>
                      <a:endParaRPr lang="fr-F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251520" y="1118661"/>
            <a:ext cx="8352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Exercice d’application : </a:t>
            </a:r>
            <a:r>
              <a:rPr lang="fr-FR" dirty="0"/>
              <a:t>Cryptage affine</a:t>
            </a:r>
          </a:p>
          <a:p>
            <a:pPr lvl="0"/>
            <a:r>
              <a:rPr lang="fr-FR" dirty="0"/>
              <a:t>La clé (</a:t>
            </a:r>
            <a:r>
              <a:rPr lang="fr-FR" dirty="0" err="1"/>
              <a:t>a;b</a:t>
            </a:r>
            <a:r>
              <a:rPr lang="fr-FR" dirty="0"/>
              <a:t>) = (3;7)</a:t>
            </a:r>
          </a:p>
          <a:p>
            <a:r>
              <a:rPr lang="fr-FR" dirty="0"/>
              <a:t>a) Coder votre prénom </a:t>
            </a:r>
            <a:r>
              <a:rPr lang="fr-FR" dirty="0" smtClean="0"/>
              <a:t>avec </a:t>
            </a:r>
            <a:r>
              <a:rPr lang="fr-FR" dirty="0"/>
              <a:t>la clé (3;7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359541" y="4245562"/>
            <a:ext cx="83529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b) </a:t>
            </a:r>
            <a:r>
              <a:rPr lang="fr-FR" b="1" dirty="0"/>
              <a:t>Décrypter</a:t>
            </a:r>
            <a:r>
              <a:rPr lang="fr-FR" dirty="0"/>
              <a:t> la phrase RXF HPJJF </a:t>
            </a:r>
            <a:r>
              <a:rPr lang="fr-FR" dirty="0" smtClean="0"/>
              <a:t> avec </a:t>
            </a:r>
            <a:r>
              <a:rPr lang="fr-FR" dirty="0"/>
              <a:t>la clé (3;7) </a:t>
            </a:r>
            <a:endParaRPr lang="fr-FR" dirty="0" smtClean="0"/>
          </a:p>
          <a:p>
            <a:r>
              <a:rPr lang="fr-FR" dirty="0"/>
              <a:t>RXF HPJJF (</a:t>
            </a:r>
            <a:r>
              <a:rPr lang="fr-FR" b="1" dirty="0"/>
              <a:t>17, 23 , 5 ; 7,15,9,9,5</a:t>
            </a:r>
            <a:r>
              <a:rPr lang="fr-FR" dirty="0" smtClean="0"/>
              <a:t>) → ( </a:t>
            </a:r>
            <a:r>
              <a:rPr lang="fr-FR" b="1" dirty="0" smtClean="0"/>
              <a:t>12,14,8  0,20,18,18,8</a:t>
            </a:r>
            <a:r>
              <a:rPr lang="fr-FR" dirty="0" smtClean="0"/>
              <a:t>) </a:t>
            </a:r>
            <a:r>
              <a:rPr lang="fr-FR" dirty="0" smtClean="0"/>
              <a:t>→ </a:t>
            </a:r>
            <a:r>
              <a:rPr lang="fr-FR" b="1" dirty="0" smtClean="0"/>
              <a:t>MOI  AUSSI</a:t>
            </a:r>
            <a:endParaRPr lang="fr-FR" b="1" dirty="0"/>
          </a:p>
          <a:p>
            <a:endParaRPr lang="fr-FR" dirty="0"/>
          </a:p>
          <a:p>
            <a:r>
              <a:rPr lang="fr-FR" dirty="0" smtClean="0"/>
              <a:t>c</a:t>
            </a:r>
            <a:r>
              <a:rPr lang="fr-FR" dirty="0"/>
              <a:t>) On prend maintenant pour clé (5;7). Coder alors le mot ENTIER. </a:t>
            </a:r>
          </a:p>
          <a:p>
            <a:r>
              <a:rPr lang="fr-FR" dirty="0" smtClean="0"/>
              <a:t>(</a:t>
            </a:r>
            <a:r>
              <a:rPr lang="fr-FR" b="1" dirty="0" smtClean="0"/>
              <a:t>4 </a:t>
            </a:r>
            <a:r>
              <a:rPr lang="fr-FR" b="1" dirty="0"/>
              <a:t>13 19 8 4 </a:t>
            </a:r>
            <a:r>
              <a:rPr lang="fr-FR" b="1" dirty="0" smtClean="0"/>
              <a:t>17</a:t>
            </a:r>
            <a:r>
              <a:rPr lang="fr-FR" dirty="0" smtClean="0"/>
              <a:t>) →</a:t>
            </a:r>
            <a:r>
              <a:rPr lang="fr-FR" dirty="0"/>
              <a:t> </a:t>
            </a:r>
            <a:r>
              <a:rPr lang="fr-FR" dirty="0" smtClean="0"/>
              <a:t>(</a:t>
            </a:r>
            <a:r>
              <a:rPr lang="fr-FR" b="1" dirty="0" smtClean="0"/>
              <a:t>1 </a:t>
            </a:r>
            <a:r>
              <a:rPr lang="fr-FR" b="1" dirty="0"/>
              <a:t>20 24 21 1 </a:t>
            </a:r>
            <a:r>
              <a:rPr lang="fr-FR" b="1" dirty="0" smtClean="0"/>
              <a:t>14</a:t>
            </a:r>
            <a:r>
              <a:rPr lang="fr-FR" dirty="0" smtClean="0"/>
              <a:t>) → (</a:t>
            </a:r>
            <a:r>
              <a:rPr lang="fr-FR" b="1" dirty="0" smtClean="0"/>
              <a:t>B </a:t>
            </a:r>
            <a:r>
              <a:rPr lang="fr-FR" b="1" dirty="0"/>
              <a:t>u </a:t>
            </a:r>
            <a:r>
              <a:rPr lang="fr-FR" b="1" dirty="0" smtClean="0"/>
              <a:t>y  </a:t>
            </a:r>
            <a:r>
              <a:rPr lang="fr-FR" b="1" dirty="0"/>
              <a:t>v </a:t>
            </a:r>
            <a:r>
              <a:rPr lang="fr-FR" b="1" dirty="0" smtClean="0"/>
              <a:t>b  o</a:t>
            </a:r>
            <a:r>
              <a:rPr lang="fr-FR" dirty="0" smtClean="0"/>
              <a:t>)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9377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683114"/>
            <a:ext cx="91085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b="1" i="1" dirty="0">
                <a:solidFill>
                  <a:srgbClr val="FF0000"/>
                </a:solidFill>
              </a:rPr>
              <a:t>Analyse fréquentielle: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431539" y="1276305"/>
            <a:ext cx="7920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400" dirty="0"/>
              <a:t>Le principe de cette cryptanalyse consiste à deviner les lettres d’un texte clair sur la base de leur fréquence d’apparition</a:t>
            </a:r>
            <a:endParaRPr lang="fr-FR" sz="2000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251518" y="2547879"/>
            <a:ext cx="8712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Fréquences </a:t>
            </a:r>
            <a:r>
              <a:rPr lang="fr-FR" sz="2000" b="1" dirty="0"/>
              <a:t>d'apparition des lettres(français) 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593304" y="4509120"/>
            <a:ext cx="802889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• </a:t>
            </a:r>
            <a:r>
              <a:rPr lang="fr-FR" sz="2400" b="1" dirty="0"/>
              <a:t>Analyse des fréquences des lettres</a:t>
            </a:r>
            <a:r>
              <a:rPr lang="fr-FR" sz="2400" dirty="0"/>
              <a:t> : E et A sont les plus fréquentes en français, le moins fréquent: W. </a:t>
            </a:r>
          </a:p>
          <a:p>
            <a:r>
              <a:rPr lang="fr-FR" sz="2400" dirty="0"/>
              <a:t>• Cette technique ne fonctionne bien que si le message chiffré est suffisamment long. </a:t>
            </a:r>
          </a:p>
          <a:p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44" y="3171342"/>
            <a:ext cx="765810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775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683114"/>
            <a:ext cx="91085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b="1" i="1" dirty="0">
                <a:solidFill>
                  <a:srgbClr val="FF0000"/>
                </a:solidFill>
              </a:rPr>
              <a:t>Substitution mono-alphabétique </a:t>
            </a:r>
            <a:r>
              <a:rPr lang="fr-FR" sz="2200" b="1" i="1" dirty="0" smtClean="0">
                <a:solidFill>
                  <a:srgbClr val="FF0000"/>
                </a:solidFill>
              </a:rPr>
              <a:t>:</a:t>
            </a:r>
            <a:endParaRPr lang="fr-FR" sz="2200" b="1" i="1" dirty="0">
              <a:solidFill>
                <a:srgbClr val="FF000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31539" y="1276305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fr-FR" sz="2000" b="1" dirty="0">
                <a:solidFill>
                  <a:schemeClr val="accent1">
                    <a:lumMod val="50000"/>
                  </a:schemeClr>
                </a:solidFill>
              </a:rPr>
              <a:t>Méthodes de cryptanalyse</a:t>
            </a:r>
            <a:r>
              <a:rPr lang="fr-FR" sz="2000" b="1" dirty="0"/>
              <a:t> : </a:t>
            </a:r>
            <a:r>
              <a:rPr lang="fr-FR" sz="2000" b="1" dirty="0">
                <a:solidFill>
                  <a:srgbClr val="FF0000"/>
                </a:solidFill>
              </a:rPr>
              <a:t>occurrence des lettres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755576" y="1659937"/>
            <a:ext cx="64807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BQPSNRSJXJNJXLDPCLDLPQBE_QRKJXHNKPKS</a:t>
            </a:r>
          </a:p>
          <a:p>
            <a:r>
              <a:rPr lang="fr-FR" b="1" dirty="0"/>
              <a:t>JPJIKSPUNBDKIQRBKPQPBQPZITEJQDQBTSKPEL</a:t>
            </a:r>
          </a:p>
          <a:p>
            <a:r>
              <a:rPr lang="fr-FR" b="1" dirty="0"/>
              <a:t>NIUNPHNKPBKPCKSSQWKPSLXJPSNVVXSQCCKD</a:t>
            </a:r>
          </a:p>
          <a:p>
            <a:r>
              <a:rPr lang="fr-FR" b="1" dirty="0"/>
              <a:t>JPBLDWPXBPSNWXJPGKPJKDXIPZLCEJKPGKSP</a:t>
            </a:r>
          </a:p>
          <a:p>
            <a:r>
              <a:rPr lang="fr-FR" b="1" dirty="0"/>
              <a:t>SJQJXSJXHNKSPGPLZZNIIKDZKPGKSPGXVVKIKD</a:t>
            </a:r>
          </a:p>
          <a:p>
            <a:r>
              <a:rPr lang="fr-FR" b="1" dirty="0"/>
              <a:t>JKSPBKJJIKS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179512" y="3645024"/>
            <a:ext cx="47964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Comment déchiffrer ce message</a:t>
            </a:r>
            <a:r>
              <a:rPr lang="fr-FR" dirty="0" smtClean="0"/>
              <a:t>?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i="1" dirty="0"/>
              <a:t>Hypothèses: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 Chaque lettre est chiffrée de </a:t>
            </a:r>
            <a:r>
              <a:rPr lang="fr-FR" dirty="0" smtClean="0"/>
              <a:t>la même </a:t>
            </a:r>
          </a:p>
          <a:p>
            <a:r>
              <a:rPr lang="fr-FR" dirty="0" smtClean="0"/>
              <a:t>façon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/>
              <a:t>Certaines </a:t>
            </a:r>
            <a:r>
              <a:rPr lang="fr-FR" dirty="0"/>
              <a:t>lettres sont </a:t>
            </a:r>
            <a:r>
              <a:rPr lang="fr-FR" dirty="0" smtClean="0"/>
              <a:t>utilisées plus souvent </a:t>
            </a:r>
            <a:r>
              <a:rPr lang="fr-FR" dirty="0"/>
              <a:t>dans une </a:t>
            </a:r>
            <a:r>
              <a:rPr lang="fr-FR" dirty="0" smtClean="0"/>
              <a:t>langue donnée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950" y="3414263"/>
            <a:ext cx="4168050" cy="274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58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683114"/>
            <a:ext cx="910850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b="1" i="1" dirty="0" smtClean="0">
                <a:solidFill>
                  <a:srgbClr val="FF0000"/>
                </a:solidFill>
              </a:rPr>
              <a:t>Substitution mono-alphabétique :</a:t>
            </a:r>
            <a:endParaRPr lang="fr-FR" sz="2200" b="1" i="1" dirty="0">
              <a:solidFill>
                <a:srgbClr val="FF000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114001"/>
            <a:ext cx="4963218" cy="1886213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772" y="3033392"/>
            <a:ext cx="4963218" cy="160995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4697130"/>
            <a:ext cx="6068272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651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08610"/>
            <a:ext cx="9108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i="1" dirty="0">
                <a:solidFill>
                  <a:srgbClr val="FF0000"/>
                </a:solidFill>
              </a:rPr>
              <a:t>Substitution mono-alphabétique </a:t>
            </a:r>
            <a:r>
              <a:rPr lang="fr-FR" sz="2000" b="1" i="1" dirty="0" smtClean="0">
                <a:solidFill>
                  <a:srgbClr val="FF0000"/>
                </a:solidFill>
              </a:rPr>
              <a:t>:</a:t>
            </a:r>
            <a:endParaRPr lang="fr-FR" sz="2000" b="1" i="1" dirty="0">
              <a:solidFill>
                <a:srgbClr val="FF0000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211" y="846650"/>
            <a:ext cx="5752692" cy="2185481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211" y="3018684"/>
            <a:ext cx="5867568" cy="192558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4890476"/>
            <a:ext cx="5725055" cy="195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52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>
                <a:solidFill>
                  <a:srgbClr val="FF0000"/>
                </a:solidFill>
              </a:rPr>
              <a:t>Substitution mono-alphabétique </a:t>
            </a:r>
            <a:r>
              <a:rPr lang="fr-FR" sz="2400" b="1" i="1" dirty="0" smtClean="0">
                <a:solidFill>
                  <a:srgbClr val="FF0000"/>
                </a:solidFill>
              </a:rPr>
              <a:t>:</a:t>
            </a:r>
            <a:endParaRPr lang="fr-FR" sz="2400" b="1" i="1" dirty="0">
              <a:solidFill>
                <a:srgbClr val="FF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7504" y="4505052"/>
            <a:ext cx="9001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Exercice : </a:t>
            </a:r>
            <a:r>
              <a:rPr lang="fr-FR" dirty="0"/>
              <a:t>Décrypter le message</a:t>
            </a:r>
          </a:p>
          <a:p>
            <a:r>
              <a:rPr lang="fr-FR" dirty="0">
                <a:solidFill>
                  <a:srgbClr val="CC3399"/>
                </a:solidFill>
              </a:rPr>
              <a:t>BKSMAMZCZMTFY KF OKATOCFZ ZHKY CYZIAMKIYKUKFZ AK UKYYCLK ATOK RTIY CRKP BHCFADM</a:t>
            </a:r>
          </a:p>
          <a:p>
            <a:r>
              <a:rPr lang="fr-FR" dirty="0">
                <a:solidFill>
                  <a:srgbClr val="CC3399"/>
                </a:solidFill>
              </a:rPr>
              <a:t>IF XCY OKAMYMB RKHY SC YTSIZMTF BMFCSK OCFY AKZZK CAZMRMZK UCZDKUCZMGIK CI SCX</a:t>
            </a:r>
            <a:r>
              <a:rPr lang="fr-FR" dirty="0" smtClean="0">
                <a:solidFill>
                  <a:srgbClr val="CC3399"/>
                </a:solidFill>
              </a:rPr>
              <a:t>.</a:t>
            </a:r>
          </a:p>
          <a:p>
            <a:endParaRPr lang="fr-FR" dirty="0" smtClean="0">
              <a:solidFill>
                <a:srgbClr val="CC3399"/>
              </a:solidFill>
            </a:endParaRPr>
          </a:p>
          <a:p>
            <a:r>
              <a:rPr lang="fr-FR" dirty="0"/>
              <a:t>Analyse fréquentielle d'un texte simple : http://</a:t>
            </a:r>
            <a:r>
              <a:rPr lang="fr-FR" dirty="0" smtClean="0"/>
              <a:t>www.cryptage.org/outil-crypto-frequences.html</a:t>
            </a:r>
            <a:endParaRPr lang="fr-FR" dirty="0">
              <a:solidFill>
                <a:srgbClr val="CC3399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773" y="1113017"/>
            <a:ext cx="5910958" cy="1483688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2062832" y="2596705"/>
            <a:ext cx="5101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Finalement </a:t>
            </a:r>
            <a:endParaRPr lang="fr-FR" b="1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66" y="2978613"/>
            <a:ext cx="5910958" cy="139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60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>
                <a:solidFill>
                  <a:srgbClr val="FF0000"/>
                </a:solidFill>
              </a:rPr>
              <a:t>Substitution mono-alphabétique </a:t>
            </a:r>
            <a:r>
              <a:rPr lang="fr-FR" sz="2400" b="1" i="1" dirty="0" smtClean="0">
                <a:solidFill>
                  <a:srgbClr val="FF0000"/>
                </a:solidFill>
              </a:rPr>
              <a:t>:</a:t>
            </a:r>
            <a:endParaRPr lang="fr-FR" sz="2400" b="1" i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7504" y="1118661"/>
            <a:ext cx="8640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Autre cryptanalyse : </a:t>
            </a:r>
            <a:r>
              <a:rPr lang="fr-FR" dirty="0"/>
              <a:t>fréquence des </a:t>
            </a:r>
            <a:r>
              <a:rPr lang="fr-FR" dirty="0" err="1"/>
              <a:t>bigrammes</a:t>
            </a:r>
            <a:endParaRPr lang="fr-FR" dirty="0"/>
          </a:p>
          <a:p>
            <a:r>
              <a:rPr lang="fr-FR" dirty="0"/>
              <a:t> les plus fréquents en français : </a:t>
            </a:r>
            <a:r>
              <a:rPr lang="fr-FR" b="1" dirty="0"/>
              <a:t>es le en de </a:t>
            </a:r>
            <a:r>
              <a:rPr lang="fr-FR" b="1" dirty="0" err="1"/>
              <a:t>re</a:t>
            </a:r>
            <a:r>
              <a:rPr lang="fr-FR" b="1" dirty="0"/>
              <a:t> nt on er te se et el </a:t>
            </a:r>
            <a:r>
              <a:rPr lang="fr-FR" b="1" dirty="0" err="1"/>
              <a:t>qu</a:t>
            </a:r>
            <a:r>
              <a:rPr lang="fr-FR" b="1" dirty="0"/>
              <a:t> an ne ou ai</a:t>
            </a:r>
          </a:p>
          <a:p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Analyse fréquentielle(di/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tri-grammes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): </a:t>
            </a:r>
          </a:p>
          <a:p>
            <a:r>
              <a:rPr lang="fr-FR" dirty="0"/>
              <a:t>•</a:t>
            </a:r>
            <a:r>
              <a:rPr lang="fr-FR" b="1" dirty="0"/>
              <a:t>Digrammes</a:t>
            </a:r>
            <a:r>
              <a:rPr lang="fr-FR" dirty="0"/>
              <a:t> les plus utilisés en langue française : </a:t>
            </a:r>
            <a:r>
              <a:rPr lang="fr-FR" b="1" dirty="0"/>
              <a:t>ES, LE, EN </a:t>
            </a:r>
            <a:r>
              <a:rPr lang="fr-FR" dirty="0"/>
              <a:t>… </a:t>
            </a:r>
          </a:p>
          <a:p>
            <a:r>
              <a:rPr lang="fr-FR" dirty="0"/>
              <a:t>•</a:t>
            </a:r>
            <a:r>
              <a:rPr lang="fr-FR" b="1" dirty="0"/>
              <a:t>Trigrammes</a:t>
            </a:r>
            <a:r>
              <a:rPr lang="fr-FR" dirty="0"/>
              <a:t> : </a:t>
            </a:r>
            <a:r>
              <a:rPr lang="fr-FR" b="1" dirty="0"/>
              <a:t>ENT, LES, EDE</a:t>
            </a:r>
            <a:r>
              <a:rPr lang="fr-FR" dirty="0"/>
              <a:t>… </a:t>
            </a:r>
          </a:p>
          <a:p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2745303"/>
            <a:ext cx="3146673" cy="393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974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>
                <a:solidFill>
                  <a:srgbClr val="FF0000"/>
                </a:solidFill>
              </a:rPr>
              <a:t>Substitution mono-alphabétique </a:t>
            </a:r>
            <a:r>
              <a:rPr lang="fr-FR" sz="2400" b="1" i="1" dirty="0" smtClean="0">
                <a:solidFill>
                  <a:srgbClr val="FF0000"/>
                </a:solidFill>
              </a:rPr>
              <a:t>:</a:t>
            </a:r>
            <a:endParaRPr lang="fr-FR" sz="2400" b="1" i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0" y="1118661"/>
            <a:ext cx="90364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i="1" dirty="0" smtClean="0"/>
              <a:t>Exemple </a:t>
            </a:r>
            <a:r>
              <a:rPr lang="fr-FR" sz="1600" b="1" i="1" dirty="0"/>
              <a:t>: cryptanalyse du chiffre affine</a:t>
            </a:r>
          </a:p>
          <a:p>
            <a:r>
              <a:rPr lang="fr-FR" sz="1600" dirty="0">
                <a:solidFill>
                  <a:schemeClr val="accent1">
                    <a:lumMod val="75000"/>
                  </a:schemeClr>
                </a:solidFill>
              </a:rPr>
              <a:t>1. </a:t>
            </a:r>
            <a:r>
              <a:rPr lang="fr-FR" sz="1600" dirty="0"/>
              <a:t>Etablir la fréquence de chaque lettre du texte chiffré, par analyse de fréquence.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/>
              <a:t> </a:t>
            </a:r>
            <a:r>
              <a:rPr lang="fr-FR" sz="1500" b="1" dirty="0"/>
              <a:t>HGAHY RAEFT GAGRH DGAGM OEHIY RAAOT ZGAGJ GKFDG AZGSB INNTG KGRHE </a:t>
            </a:r>
            <a:r>
              <a:rPr lang="fr-FR" sz="1500" b="1" dirty="0" smtClean="0"/>
              <a:t>NNIRG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 smtClean="0"/>
              <a:t>On </a:t>
            </a:r>
            <a:r>
              <a:rPr lang="fr-FR" sz="1600" dirty="0"/>
              <a:t>dénombre </a:t>
            </a:r>
            <a:r>
              <a:rPr lang="fr-FR" sz="1600" b="1" dirty="0"/>
              <a:t>12 fois G </a:t>
            </a:r>
            <a:r>
              <a:rPr lang="fr-FR" sz="1600" dirty="0"/>
              <a:t>et </a:t>
            </a:r>
            <a:r>
              <a:rPr lang="fr-FR" sz="1600" b="1" dirty="0"/>
              <a:t>8 fois A</a:t>
            </a:r>
            <a:r>
              <a:rPr lang="fr-FR" sz="1600" dirty="0"/>
              <a:t>.</a:t>
            </a:r>
          </a:p>
          <a:p>
            <a:r>
              <a:rPr lang="fr-FR" sz="1600" dirty="0">
                <a:solidFill>
                  <a:schemeClr val="accent1">
                    <a:lumMod val="75000"/>
                  </a:schemeClr>
                </a:solidFill>
              </a:rPr>
              <a:t>2. </a:t>
            </a:r>
            <a:r>
              <a:rPr lang="fr-FR" sz="1600" dirty="0"/>
              <a:t>Ensuite dériver les équations correspondantes.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/>
              <a:t> hypothèse : E, A, S, I, N: lettres plus fréquentes et </a:t>
            </a:r>
            <a:r>
              <a:rPr lang="fr-FR" sz="1600" dirty="0" err="1"/>
              <a:t>bigramme</a:t>
            </a:r>
            <a:r>
              <a:rPr lang="fr-FR" sz="1600" dirty="0"/>
              <a:t> ES est plus fréquent que </a:t>
            </a:r>
            <a:r>
              <a:rPr lang="fr-FR" sz="1600" dirty="0" smtClean="0"/>
              <a:t>EA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-14288" y="3880572"/>
            <a:ext cx="943304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dirty="0">
                <a:solidFill>
                  <a:schemeClr val="accent1">
                    <a:lumMod val="75000"/>
                  </a:schemeClr>
                </a:solidFill>
              </a:rPr>
              <a:t>3. </a:t>
            </a:r>
            <a:r>
              <a:rPr lang="fr-FR" sz="1700" dirty="0"/>
              <a:t>On peut maintenant </a:t>
            </a:r>
            <a:r>
              <a:rPr lang="fr-FR" sz="1700" b="1" dirty="0">
                <a:solidFill>
                  <a:schemeClr val="accent1">
                    <a:lumMod val="75000"/>
                  </a:schemeClr>
                </a:solidFill>
              </a:rPr>
              <a:t>résoudre les équations </a:t>
            </a:r>
            <a:r>
              <a:rPr lang="fr-FR" sz="1700" dirty="0"/>
              <a:t>pour retrouver </a:t>
            </a:r>
            <a:r>
              <a:rPr lang="fr-FR" sz="1700" dirty="0" smtClean="0"/>
              <a:t>a et b (</a:t>
            </a:r>
            <a:r>
              <a:rPr lang="fr-FR" sz="1700" b="1" dirty="0"/>
              <a:t>y = (</a:t>
            </a:r>
            <a:r>
              <a:rPr lang="fr-FR" sz="1700" b="1" dirty="0" err="1"/>
              <a:t>ax</a:t>
            </a:r>
            <a:r>
              <a:rPr lang="fr-FR" sz="1700" b="1" dirty="0"/>
              <a:t> + b) </a:t>
            </a:r>
            <a:r>
              <a:rPr lang="fr-FR" sz="1700" b="1" dirty="0" err="1"/>
              <a:t>mod</a:t>
            </a:r>
            <a:r>
              <a:rPr lang="fr-FR" sz="1700" b="1" dirty="0"/>
              <a:t> 26</a:t>
            </a:r>
            <a:r>
              <a:rPr lang="fr-FR" sz="1700" dirty="0" smtClean="0"/>
              <a:t>)</a:t>
            </a:r>
            <a:endParaRPr lang="fr-FR" sz="17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01" y="3068246"/>
            <a:ext cx="2099898" cy="699966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2787137" y="3248952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Il en découle que :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018" y="3068246"/>
            <a:ext cx="1963796" cy="627958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4614142"/>
            <a:ext cx="7810700" cy="556162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107504" y="5426766"/>
            <a:ext cx="9001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4. </a:t>
            </a:r>
            <a:r>
              <a:rPr lang="fr-FR" dirty="0"/>
              <a:t>La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fonction de déchiffrement </a:t>
            </a:r>
            <a:r>
              <a:rPr lang="fr-FR" dirty="0"/>
              <a:t>est donc la suivante :  </a:t>
            </a:r>
            <a:r>
              <a:rPr lang="fr-FR" dirty="0" smtClean="0"/>
              <a:t>x= </a:t>
            </a:r>
            <a:r>
              <a:rPr lang="fr-FR" dirty="0"/>
              <a:t>15 </a:t>
            </a:r>
            <a:r>
              <a:rPr lang="fr-FR" dirty="0" smtClean="0"/>
              <a:t>∗(y-4) </a:t>
            </a:r>
            <a:r>
              <a:rPr lang="fr-FR" dirty="0" err="1" smtClean="0"/>
              <a:t>mod</a:t>
            </a:r>
            <a:r>
              <a:rPr lang="fr-FR" dirty="0" smtClean="0"/>
              <a:t> </a:t>
            </a:r>
            <a:r>
              <a:rPr lang="fr-FR" dirty="0"/>
              <a:t>26.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 Et donc le message est :</a:t>
            </a:r>
          </a:p>
          <a:p>
            <a:r>
              <a:rPr lang="fr-FR" sz="1600" dirty="0">
                <a:solidFill>
                  <a:schemeClr val="accent1">
                    <a:lumMod val="75000"/>
                  </a:schemeClr>
                </a:solidFill>
              </a:rPr>
              <a:t> TESTONS A PRESENT LES EQUATIONS SUR DES EXEMPLES DE CHIFFREMENT </a:t>
            </a:r>
            <a:r>
              <a:rPr lang="fr-FR" sz="1600" dirty="0" smtClean="0">
                <a:solidFill>
                  <a:schemeClr val="accent1">
                    <a:lumMod val="75000"/>
                  </a:schemeClr>
                </a:solidFill>
              </a:rPr>
              <a:t>AFFINE</a:t>
            </a:r>
            <a:endParaRPr lang="fr-FR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548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 smtClean="0">
                <a:solidFill>
                  <a:srgbClr val="FF0000"/>
                </a:solidFill>
              </a:rPr>
              <a:t>Substitution </a:t>
            </a:r>
            <a:r>
              <a:rPr lang="fr-FR" sz="2400" b="1" i="1" dirty="0">
                <a:solidFill>
                  <a:srgbClr val="FF0000"/>
                </a:solidFill>
              </a:rPr>
              <a:t>poly-alphabétique : Chiffre de Vigenère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4244" y="1196752"/>
            <a:ext cx="864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 Idée : appliquer un 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César à décalage variable </a:t>
            </a:r>
            <a:r>
              <a:rPr lang="fr-FR" dirty="0"/>
              <a:t>dépendant d’une clé </a:t>
            </a:r>
            <a:r>
              <a:rPr lang="fr-FR" dirty="0" smtClean="0"/>
              <a:t>numérique.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i="1" dirty="0" smtClean="0"/>
              <a:t>Table </a:t>
            </a:r>
            <a:r>
              <a:rPr lang="fr-FR" i="1" dirty="0"/>
              <a:t>de Vigenère : </a:t>
            </a:r>
            <a:r>
              <a:rPr lang="fr-FR" dirty="0"/>
              <a:t>chiffrement se déroule en deux étapes.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107504" y="1916832"/>
            <a:ext cx="547260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dirty="0"/>
              <a:t>Dans un </a:t>
            </a:r>
            <a:r>
              <a:rPr lang="fr-FR" sz="1600" b="1" dirty="0"/>
              <a:t>premier temps</a:t>
            </a:r>
            <a:r>
              <a:rPr lang="fr-FR" sz="1600" dirty="0"/>
              <a:t>, on choisit un message, par</a:t>
            </a:r>
          </a:p>
          <a:p>
            <a:r>
              <a:rPr lang="fr-FR" sz="1600" dirty="0"/>
              <a:t>exemple «</a:t>
            </a:r>
            <a:r>
              <a:rPr lang="fr-FR" sz="1600" dirty="0">
                <a:solidFill>
                  <a:schemeClr val="accent1">
                    <a:lumMod val="75000"/>
                  </a:schemeClr>
                </a:solidFill>
              </a:rPr>
              <a:t>BONNE ANNEE</a:t>
            </a:r>
            <a:r>
              <a:rPr lang="fr-FR" sz="1600" dirty="0"/>
              <a:t>» et une clé, par exemple</a:t>
            </a:r>
          </a:p>
          <a:p>
            <a:r>
              <a:rPr lang="fr-FR" sz="1600" dirty="0"/>
              <a:t>« </a:t>
            </a:r>
            <a:r>
              <a:rPr lang="fr-FR" sz="1600" dirty="0">
                <a:solidFill>
                  <a:srgbClr val="FF0000"/>
                </a:solidFill>
              </a:rPr>
              <a:t>AMRT</a:t>
            </a:r>
            <a:r>
              <a:rPr lang="fr-FR" sz="1600" dirty="0"/>
              <a:t> »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fr-FR" sz="1600" dirty="0"/>
              <a:t> En-dessous de chaque lettre du message, on écrit </a:t>
            </a:r>
            <a:r>
              <a:rPr lang="fr-FR" sz="1600" dirty="0" smtClean="0"/>
              <a:t>chaque lettre </a:t>
            </a:r>
            <a:r>
              <a:rPr lang="fr-FR" sz="1600" dirty="0"/>
              <a:t>de la clé, en répétant le motif autant de fois </a:t>
            </a:r>
            <a:r>
              <a:rPr lang="fr-FR" sz="1600" dirty="0" smtClean="0"/>
              <a:t>que nécessaire</a:t>
            </a:r>
            <a:r>
              <a:rPr lang="fr-FR" sz="1600" dirty="0"/>
              <a:t>.</a:t>
            </a:r>
          </a:p>
          <a:p>
            <a:r>
              <a:rPr lang="fr-FR" sz="1600" dirty="0" err="1"/>
              <a:t>Plaintext</a:t>
            </a:r>
            <a:r>
              <a:rPr lang="fr-FR" sz="1600" dirty="0" smtClean="0"/>
              <a:t>:     </a:t>
            </a:r>
            <a:r>
              <a:rPr lang="fr-FR" sz="1600" dirty="0" smtClean="0">
                <a:solidFill>
                  <a:schemeClr val="accent1">
                    <a:lumMod val="75000"/>
                  </a:schemeClr>
                </a:solidFill>
              </a:rPr>
              <a:t>BONNE </a:t>
            </a:r>
            <a:r>
              <a:rPr lang="fr-FR" sz="1600" dirty="0">
                <a:solidFill>
                  <a:schemeClr val="accent1">
                    <a:lumMod val="75000"/>
                  </a:schemeClr>
                </a:solidFill>
              </a:rPr>
              <a:t>ANNEE</a:t>
            </a:r>
          </a:p>
          <a:p>
            <a:r>
              <a:rPr lang="fr-FR" sz="1600" dirty="0"/>
              <a:t>Keyword</a:t>
            </a:r>
            <a:r>
              <a:rPr lang="fr-FR" sz="1600" dirty="0" smtClean="0"/>
              <a:t>:     </a:t>
            </a:r>
            <a:r>
              <a:rPr lang="fr-FR" sz="1600" dirty="0">
                <a:solidFill>
                  <a:srgbClr val="FF0000"/>
                </a:solidFill>
              </a:rPr>
              <a:t>AMRTA MRTAM</a:t>
            </a:r>
          </a:p>
          <a:p>
            <a:pPr marL="174625" indent="-174625">
              <a:buFont typeface="Arial" panose="020B0604020202020204" pitchFamily="34" charset="0"/>
              <a:buChar char="•"/>
            </a:pPr>
            <a:r>
              <a:rPr lang="fr-FR" sz="1600" dirty="0"/>
              <a:t> Dans un </a:t>
            </a:r>
            <a:r>
              <a:rPr lang="fr-FR" sz="1600" b="1" dirty="0"/>
              <a:t>second temps</a:t>
            </a:r>
            <a:r>
              <a:rPr lang="fr-FR" sz="1600" dirty="0"/>
              <a:t>, </a:t>
            </a:r>
            <a:r>
              <a:rPr lang="fr-FR" sz="1600" b="1" dirty="0">
                <a:solidFill>
                  <a:srgbClr val="FF0000"/>
                </a:solidFill>
              </a:rPr>
              <a:t>le message correspondant </a:t>
            </a:r>
            <a:r>
              <a:rPr lang="fr-FR" sz="1600" b="1" dirty="0" smtClean="0">
                <a:solidFill>
                  <a:srgbClr val="FF0000"/>
                </a:solidFill>
              </a:rPr>
              <a:t>aux colonnes </a:t>
            </a:r>
            <a:r>
              <a:rPr lang="fr-FR" sz="1600" dirty="0"/>
              <a:t>de la table, et la </a:t>
            </a:r>
            <a:r>
              <a:rPr lang="fr-FR" sz="1600" b="1" dirty="0">
                <a:solidFill>
                  <a:srgbClr val="FF0000"/>
                </a:solidFill>
              </a:rPr>
              <a:t>clé aux lignes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fr-FR" sz="1600" dirty="0"/>
              <a:t> Lettre </a:t>
            </a:r>
            <a:r>
              <a:rPr lang="fr-FR" sz="1600" b="1" dirty="0">
                <a:solidFill>
                  <a:srgbClr val="FF6600"/>
                </a:solidFill>
              </a:rPr>
              <a:t>chiffrée</a:t>
            </a:r>
            <a:r>
              <a:rPr lang="fr-FR" sz="1600" dirty="0"/>
              <a:t> = </a:t>
            </a:r>
            <a:r>
              <a:rPr lang="fr-FR" sz="1600" b="1" dirty="0"/>
              <a:t>croisement colonne lettre du message </a:t>
            </a:r>
            <a:r>
              <a:rPr lang="fr-FR" sz="1600" b="1" dirty="0" smtClean="0"/>
              <a:t>et ligne </a:t>
            </a:r>
            <a:r>
              <a:rPr lang="fr-FR" sz="1600" b="1" dirty="0"/>
              <a:t>lettre de la clé</a:t>
            </a:r>
            <a:r>
              <a:rPr lang="fr-FR" sz="1600" dirty="0"/>
              <a:t>.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fr-FR" sz="1600" dirty="0"/>
              <a:t> Par exemple: ‘A’= croisement colonne ’O’ et ligne ‘M’, …</a:t>
            </a:r>
          </a:p>
          <a:p>
            <a:r>
              <a:rPr lang="fr-FR" sz="1600" dirty="0" err="1"/>
              <a:t>Ciphertext</a:t>
            </a:r>
            <a:r>
              <a:rPr lang="fr-FR" sz="1600" dirty="0"/>
              <a:t> : </a:t>
            </a:r>
            <a:r>
              <a:rPr lang="fr-FR" sz="1600" dirty="0">
                <a:solidFill>
                  <a:srgbClr val="CC3399"/>
                </a:solidFill>
              </a:rPr>
              <a:t>BAEGE MEGEQ</a:t>
            </a:r>
          </a:p>
          <a:p>
            <a:r>
              <a:rPr lang="fr-FR" sz="1600" dirty="0"/>
              <a:t>Keyword: </a:t>
            </a:r>
            <a:r>
              <a:rPr lang="fr-FR" sz="1600" dirty="0">
                <a:solidFill>
                  <a:srgbClr val="FF6600"/>
                </a:solidFill>
              </a:rPr>
              <a:t>AMRTA MRTAM</a:t>
            </a:r>
          </a:p>
          <a:p>
            <a:r>
              <a:rPr lang="fr-FR" sz="1600" dirty="0" err="1" smtClean="0"/>
              <a:t>Decryptedtext</a:t>
            </a:r>
            <a:r>
              <a:rPr lang="fr-FR" sz="1600" dirty="0" smtClean="0"/>
              <a:t> </a:t>
            </a:r>
            <a:r>
              <a:rPr lang="fr-FR" sz="1600" dirty="0"/>
              <a:t>: </a:t>
            </a:r>
            <a:r>
              <a:rPr lang="fr-FR" sz="1600" dirty="0">
                <a:solidFill>
                  <a:srgbClr val="00B050"/>
                </a:solidFill>
              </a:rPr>
              <a:t>BONNE ANNEE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2015274"/>
            <a:ext cx="3642906" cy="4078022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6876256" y="1695292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351978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 smtClean="0">
                <a:solidFill>
                  <a:srgbClr val="FF0000"/>
                </a:solidFill>
              </a:rPr>
              <a:t>Substitution </a:t>
            </a:r>
            <a:r>
              <a:rPr lang="fr-FR" sz="2400" b="1" i="1" dirty="0">
                <a:solidFill>
                  <a:srgbClr val="FF0000"/>
                </a:solidFill>
              </a:rPr>
              <a:t>poly-alphabétique : </a:t>
            </a:r>
            <a:r>
              <a:rPr lang="fr-FR" sz="2400" b="1" i="1" dirty="0" smtClean="0">
                <a:solidFill>
                  <a:srgbClr val="FF0000"/>
                </a:solidFill>
              </a:rPr>
              <a:t>Chiffre de Vigenère</a:t>
            </a:r>
            <a:endParaRPr lang="fr-FR" sz="2400" b="1" i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4244" y="1196752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 smtClean="0"/>
              <a:t>Le </a:t>
            </a:r>
            <a:r>
              <a:rPr lang="fr-FR" sz="2000" b="1" dirty="0"/>
              <a:t>chiffre de Vigenère </a:t>
            </a:r>
            <a:r>
              <a:rPr lang="fr-FR" sz="2000" dirty="0"/>
              <a:t>est une amélioration décisive du chiffre de César.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000" dirty="0" smtClean="0"/>
              <a:t>Sa </a:t>
            </a:r>
            <a:r>
              <a:rPr lang="fr-FR" sz="2000" dirty="0"/>
              <a:t>force réside dans le fait que ce chiffre </a:t>
            </a:r>
            <a:r>
              <a:rPr lang="fr-FR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utilise une </a:t>
            </a:r>
            <a:r>
              <a:rPr lang="fr-FR" sz="2000" b="1" dirty="0">
                <a:solidFill>
                  <a:srgbClr val="C00000"/>
                </a:solidFill>
              </a:rPr>
              <a:t>clef</a:t>
            </a:r>
            <a:r>
              <a:rPr lang="fr-FR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fr-FR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qui définit le décalage pour chaque lettre du message</a:t>
            </a:r>
            <a:r>
              <a:rPr lang="fr-F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51520" y="3135744"/>
            <a:ext cx="88569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/>
              <a:t>Exemple </a:t>
            </a:r>
            <a:r>
              <a:rPr lang="fr-FR" sz="2000" dirty="0"/>
              <a:t>: Chiffrement de Vigenère </a:t>
            </a:r>
          </a:p>
          <a:p>
            <a:r>
              <a:rPr lang="fr-FR" sz="2000" dirty="0"/>
              <a:t>chiffrons le texte "CHIFFRE DE VIGENERE" avec la clef "FPBM" (cette clef est éventuellement répétée plusieurs fois pour être aussi longue que le texte en clair).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624" y="4614338"/>
            <a:ext cx="7362402" cy="133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54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 smtClean="0">
                <a:solidFill>
                  <a:srgbClr val="FF0000"/>
                </a:solidFill>
              </a:rPr>
              <a:t>Substitution </a:t>
            </a:r>
            <a:r>
              <a:rPr lang="fr-FR" sz="2400" b="1" i="1" dirty="0">
                <a:solidFill>
                  <a:srgbClr val="FF0000"/>
                </a:solidFill>
              </a:rPr>
              <a:t>poly-alphabétique : Chiffre de Vigenère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4244" y="1196752"/>
            <a:ext cx="90022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Exercice </a:t>
            </a:r>
            <a:r>
              <a:rPr lang="fr-FR" sz="2400" dirty="0"/>
              <a:t>: Chiffrement de Vigenère 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 smtClean="0"/>
              <a:t>Chiffrer </a:t>
            </a:r>
            <a:r>
              <a:rPr lang="fr-FR" sz="2400" dirty="0"/>
              <a:t>le texte "CRYPTOGRAPHIE DE VIGENERE" avec la clé "MATHWEB" 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 smtClean="0"/>
              <a:t>Déchiffrer </a:t>
            </a:r>
            <a:r>
              <a:rPr lang="fr-FR" sz="2400" dirty="0"/>
              <a:t>le texte "DHKMJCMHVWIILRPZI" avec la clé "BACHELIER"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214890" y="3501008"/>
            <a:ext cx="8640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Solution </a:t>
            </a:r>
            <a:r>
              <a:rPr lang="fr-FR" sz="2400" b="1" dirty="0"/>
              <a:t>: </a:t>
            </a:r>
            <a:endParaRPr lang="fr-FR" sz="2400" dirty="0"/>
          </a:p>
          <a:p>
            <a:r>
              <a:rPr lang="fr-FR" sz="2400" b="1" dirty="0"/>
              <a:t>1- </a:t>
            </a:r>
            <a:r>
              <a:rPr lang="fr-FR" sz="2400" dirty="0"/>
              <a:t>ORRWPSHDAIOEI EQ VBNARFDE </a:t>
            </a:r>
          </a:p>
          <a:p>
            <a:r>
              <a:rPr lang="fr-FR" sz="2400" b="1" dirty="0"/>
              <a:t>2- </a:t>
            </a:r>
            <a:r>
              <a:rPr lang="fr-FR" sz="2400" dirty="0"/>
              <a:t>CHIFFRE DE VIGENERE</a:t>
            </a:r>
          </a:p>
        </p:txBody>
      </p:sp>
    </p:spTree>
    <p:extLst>
      <p:ext uri="{BB962C8B-B14F-4D97-AF65-F5344CB8AC3E}">
        <p14:creationId xmlns:p14="http://schemas.microsoft.com/office/powerpoint/2010/main" val="208693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 smtClean="0">
                <a:solidFill>
                  <a:srgbClr val="FF0000"/>
                </a:solidFill>
              </a:rPr>
              <a:t>Substitution </a:t>
            </a:r>
            <a:r>
              <a:rPr lang="fr-FR" sz="2400" b="1" i="1" dirty="0">
                <a:solidFill>
                  <a:srgbClr val="FF0000"/>
                </a:solidFill>
              </a:rPr>
              <a:t>poly-alphabétique : Chiffre de Vigenère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75" y="1068933"/>
            <a:ext cx="6520953" cy="3858883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160" y="5445224"/>
            <a:ext cx="3733800" cy="1266825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2574032" y="5045114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 smtClean="0">
                <a:solidFill>
                  <a:schemeClr val="accent1">
                    <a:lumMod val="75000"/>
                  </a:schemeClr>
                </a:solidFill>
              </a:rPr>
              <a:t>Carré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de Vigenère</a:t>
            </a:r>
            <a:endParaRPr lang="fr-FR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54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 smtClean="0">
                <a:solidFill>
                  <a:srgbClr val="FF0000"/>
                </a:solidFill>
              </a:rPr>
              <a:t>Substitution </a:t>
            </a:r>
            <a:r>
              <a:rPr lang="fr-FR" sz="2400" b="1" i="1" dirty="0">
                <a:solidFill>
                  <a:srgbClr val="FF0000"/>
                </a:solidFill>
              </a:rPr>
              <a:t>poly-alphabétique : Chiffre de Vigenère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179512" y="1484784"/>
            <a:ext cx="79208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b="1" dirty="0" smtClean="0"/>
              <a:t>Exemple </a:t>
            </a:r>
            <a:r>
              <a:rPr lang="fr-FR" sz="2400" dirty="0"/>
              <a:t>Chiffrement de Vigenère </a:t>
            </a:r>
          </a:p>
          <a:p>
            <a:r>
              <a:rPr lang="fr-FR" sz="2400" dirty="0"/>
              <a:t>Clef : MACLEFMACL </a:t>
            </a:r>
          </a:p>
          <a:p>
            <a:r>
              <a:rPr lang="fr-FR" sz="2400" dirty="0"/>
              <a:t>Chiffré : YOPXIXEAIP </a:t>
            </a:r>
          </a:p>
          <a:p>
            <a:r>
              <a:rPr lang="fr-FR" sz="2400" dirty="0"/>
              <a:t>Clair : MONMESSAGE </a:t>
            </a:r>
          </a:p>
          <a:p>
            <a:r>
              <a:rPr lang="fr-FR" sz="2400" dirty="0"/>
              <a:t>Chiffré : SIAAA IYAIQ IJHEF ZEUNJ NSAXE F </a:t>
            </a:r>
          </a:p>
          <a:p>
            <a:r>
              <a:rPr lang="fr-FR" sz="2400" dirty="0"/>
              <a:t>Clef : JEANNEMARIE </a:t>
            </a:r>
          </a:p>
          <a:p>
            <a:r>
              <a:rPr lang="fr-FR" sz="2400" dirty="0"/>
              <a:t>Clair : JEANNE MARIE A DES MAINS FORTES</a:t>
            </a:r>
          </a:p>
        </p:txBody>
      </p:sp>
    </p:spTree>
    <p:extLst>
      <p:ext uri="{BB962C8B-B14F-4D97-AF65-F5344CB8AC3E}">
        <p14:creationId xmlns:p14="http://schemas.microsoft.com/office/powerpoint/2010/main" val="2825780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 smtClean="0">
                <a:solidFill>
                  <a:srgbClr val="FF0000"/>
                </a:solidFill>
              </a:rPr>
              <a:t>Substitution </a:t>
            </a:r>
            <a:r>
              <a:rPr lang="fr-FR" sz="2400" b="1" i="1" dirty="0">
                <a:solidFill>
                  <a:srgbClr val="FF0000"/>
                </a:solidFill>
              </a:rPr>
              <a:t>poly-alphabétique : Chiffre de Vigenère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179512" y="1484784"/>
            <a:ext cx="79208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b="1" dirty="0" smtClean="0"/>
              <a:t>Exemple </a:t>
            </a:r>
            <a:r>
              <a:rPr lang="fr-FR" sz="2400" dirty="0"/>
              <a:t>Chiffrement de Vigenère </a:t>
            </a:r>
          </a:p>
          <a:p>
            <a:r>
              <a:rPr lang="fr-FR" sz="2400" dirty="0"/>
              <a:t>Clef : MACLEFMACL </a:t>
            </a:r>
          </a:p>
          <a:p>
            <a:r>
              <a:rPr lang="fr-FR" sz="2400" dirty="0"/>
              <a:t>Chiffré : YOPXIXEAIP </a:t>
            </a:r>
          </a:p>
          <a:p>
            <a:r>
              <a:rPr lang="fr-FR" sz="2400" dirty="0"/>
              <a:t>Clair : MONMESSAGE </a:t>
            </a:r>
          </a:p>
          <a:p>
            <a:r>
              <a:rPr lang="fr-FR" sz="2400" dirty="0"/>
              <a:t>Chiffré : SIAAA IYAIQ IJHEF ZEUNJ NSAXE F </a:t>
            </a:r>
          </a:p>
          <a:p>
            <a:r>
              <a:rPr lang="fr-FR" sz="2400" dirty="0"/>
              <a:t>Clef : JEANNEMARIE </a:t>
            </a:r>
          </a:p>
          <a:p>
            <a:r>
              <a:rPr lang="fr-FR" sz="2400" dirty="0"/>
              <a:t>Clair : JEANNE MARIE A DES MAINS FORTES</a:t>
            </a:r>
          </a:p>
        </p:txBody>
      </p:sp>
    </p:spTree>
    <p:extLst>
      <p:ext uri="{BB962C8B-B14F-4D97-AF65-F5344CB8AC3E}">
        <p14:creationId xmlns:p14="http://schemas.microsoft.com/office/powerpoint/2010/main" val="1022579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 smtClean="0">
                <a:solidFill>
                  <a:srgbClr val="FF0000"/>
                </a:solidFill>
              </a:rPr>
              <a:t>Substitution </a:t>
            </a:r>
            <a:r>
              <a:rPr lang="fr-FR" sz="2000" b="1" i="1" dirty="0">
                <a:solidFill>
                  <a:srgbClr val="FF0000"/>
                </a:solidFill>
              </a:rPr>
              <a:t>poly-alphabétique : </a:t>
            </a:r>
            <a:r>
              <a:rPr lang="fr-FR" sz="2000" b="1" i="1" dirty="0" smtClean="0">
                <a:solidFill>
                  <a:srgbClr val="FF0000"/>
                </a:solidFill>
              </a:rPr>
              <a:t>Masque </a:t>
            </a:r>
            <a:r>
              <a:rPr lang="fr-FR" sz="2000" b="1" i="1" dirty="0">
                <a:solidFill>
                  <a:srgbClr val="FF0000"/>
                </a:solidFill>
              </a:rPr>
              <a:t>jetable (chiffre de </a:t>
            </a:r>
            <a:r>
              <a:rPr lang="fr-FR" sz="2000" b="1" i="1" dirty="0" err="1">
                <a:solidFill>
                  <a:srgbClr val="FF0000"/>
                </a:solidFill>
              </a:rPr>
              <a:t>Vernam</a:t>
            </a:r>
            <a:r>
              <a:rPr lang="fr-FR" sz="2000" b="1" i="1" dirty="0">
                <a:solidFill>
                  <a:srgbClr val="FF0000"/>
                </a:solidFill>
              </a:rPr>
              <a:t> ou One Time Pad)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4244" y="1196752"/>
            <a:ext cx="91097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fr-FR" dirty="0"/>
              <a:t> </a:t>
            </a:r>
            <a:r>
              <a:rPr lang="fr-FR" b="1" dirty="0"/>
              <a:t>Propriétés de la clé pour garantir une sécurité optimale (incassable).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 </a:t>
            </a:r>
            <a:r>
              <a:rPr lang="fr-FR" b="1" dirty="0"/>
              <a:t>le nombre de caractères </a:t>
            </a:r>
            <a:r>
              <a:rPr lang="fr-FR" dirty="0"/>
              <a:t>de la clé </a:t>
            </a:r>
            <a:r>
              <a:rPr lang="fr-FR" b="1" dirty="0">
                <a:solidFill>
                  <a:srgbClr val="C00000"/>
                </a:solidFill>
              </a:rPr>
              <a:t>doit être supérieur </a:t>
            </a:r>
            <a:r>
              <a:rPr lang="fr-FR" dirty="0"/>
              <a:t>ou </a:t>
            </a:r>
            <a:r>
              <a:rPr lang="fr-FR" b="1" dirty="0">
                <a:solidFill>
                  <a:srgbClr val="C00000"/>
                </a:solidFill>
              </a:rPr>
              <a:t>égal à celui du </a:t>
            </a:r>
            <a:r>
              <a:rPr lang="fr-FR" b="1" dirty="0" smtClean="0">
                <a:solidFill>
                  <a:srgbClr val="C00000"/>
                </a:solidFill>
              </a:rPr>
              <a:t>  message </a:t>
            </a:r>
            <a:r>
              <a:rPr lang="fr-FR" dirty="0"/>
              <a:t>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 </a:t>
            </a:r>
            <a:r>
              <a:rPr lang="fr-FR" b="1" dirty="0"/>
              <a:t>les caractères de la clé doivent avoir été choisis de manière aléatoire </a:t>
            </a:r>
            <a:r>
              <a:rPr lang="fr-FR" dirty="0"/>
              <a:t>;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 chaque clé ne doit être utilisée qu'une seule fois.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 Si elles sont respectées à la lettre, la sécurité garantie est </a:t>
            </a:r>
            <a:r>
              <a:rPr lang="fr-FR" i="1" dirty="0"/>
              <a:t>absolue</a:t>
            </a:r>
            <a:r>
              <a:rPr lang="fr-FR" dirty="0"/>
              <a:t>.</a:t>
            </a:r>
            <a:endParaRPr lang="fr-FR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4244" y="3135744"/>
            <a:ext cx="907426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225" indent="-349250">
              <a:buFont typeface="Wingdings" panose="05000000000000000000" pitchFamily="2" charset="2"/>
              <a:buChar char="q"/>
            </a:pPr>
            <a:r>
              <a:rPr lang="fr-FR" sz="2000" b="1" dirty="0"/>
              <a:t>Exemple :</a:t>
            </a:r>
          </a:p>
          <a:p>
            <a:pPr marL="685800" indent="-282575">
              <a:buFont typeface="Wingdings" panose="05000000000000000000" pitchFamily="2" charset="2"/>
              <a:buChar char="§"/>
            </a:pPr>
            <a:r>
              <a:rPr lang="fr-FR" sz="2000" dirty="0" smtClean="0"/>
              <a:t>Message </a:t>
            </a:r>
            <a:r>
              <a:rPr lang="fr-FR" sz="2000" dirty="0"/>
              <a:t>de 4 lettres : </a:t>
            </a:r>
            <a:r>
              <a:rPr lang="fr-FR" sz="2000" b="1" dirty="0">
                <a:solidFill>
                  <a:srgbClr val="C00000"/>
                </a:solidFill>
              </a:rPr>
              <a:t>ZERO</a:t>
            </a:r>
            <a:r>
              <a:rPr lang="fr-FR" sz="2000" dirty="0" smtClean="0"/>
              <a:t>.</a:t>
            </a:r>
          </a:p>
          <a:p>
            <a:pPr marL="685800" indent="-282575">
              <a:buFont typeface="Wingdings" panose="05000000000000000000" pitchFamily="2" charset="2"/>
              <a:buChar char="§"/>
            </a:pPr>
            <a:r>
              <a:rPr lang="fr-FR" sz="2000" dirty="0" smtClean="0"/>
              <a:t>Une </a:t>
            </a:r>
            <a:r>
              <a:rPr lang="fr-FR" sz="2000" dirty="0"/>
              <a:t>clé de 4 lettres au hasard : </a:t>
            </a:r>
            <a:r>
              <a:rPr lang="fr-FR" sz="2000" b="1" dirty="0">
                <a:solidFill>
                  <a:schemeClr val="accent2">
                    <a:lumMod val="75000"/>
                  </a:schemeClr>
                </a:solidFill>
              </a:rPr>
              <a:t>JRVG</a:t>
            </a:r>
            <a:r>
              <a:rPr lang="fr-FR" sz="2000" dirty="0" smtClean="0"/>
              <a:t>.</a:t>
            </a:r>
          </a:p>
          <a:p>
            <a:pPr marL="685800" indent="-282575">
              <a:buFont typeface="Wingdings" panose="05000000000000000000" pitchFamily="2" charset="2"/>
              <a:buChar char="§"/>
            </a:pPr>
            <a:r>
              <a:rPr lang="fr-FR" sz="2000" dirty="0" smtClean="0"/>
              <a:t>On </a:t>
            </a:r>
            <a:r>
              <a:rPr lang="fr-FR" sz="2000" dirty="0"/>
              <a:t>attribue ensuite une valeur différente à chaque lettre de l'alphabet </a:t>
            </a:r>
            <a:r>
              <a:rPr lang="fr-FR" sz="2000" dirty="0" smtClean="0"/>
              <a:t>'A</a:t>
            </a:r>
            <a:r>
              <a:rPr lang="fr-FR" sz="2000" dirty="0"/>
              <a:t>' vaut 0, 'B' vaut 1</a:t>
            </a:r>
            <a:r>
              <a:rPr lang="fr-FR" sz="2000" dirty="0" smtClean="0"/>
              <a:t>,</a:t>
            </a:r>
          </a:p>
          <a:p>
            <a:pPr marL="685800" indent="-282575">
              <a:buFont typeface="Wingdings" panose="05000000000000000000" pitchFamily="2" charset="2"/>
              <a:buChar char="§"/>
            </a:pPr>
            <a:r>
              <a:rPr lang="fr-FR" sz="2000" dirty="0" smtClean="0"/>
              <a:t>'C</a:t>
            </a:r>
            <a:r>
              <a:rPr lang="fr-FR" sz="2000" dirty="0"/>
              <a:t>' vaut 2, etc. jusqu'à 'Z'=25</a:t>
            </a:r>
            <a:r>
              <a:rPr lang="fr-FR" sz="2000" dirty="0" smtClean="0"/>
              <a:t>.</a:t>
            </a:r>
          </a:p>
          <a:p>
            <a:pPr marL="685800" indent="-282575">
              <a:buFont typeface="Wingdings" panose="05000000000000000000" pitchFamily="2" charset="2"/>
              <a:buChar char="§"/>
            </a:pPr>
            <a:r>
              <a:rPr lang="fr-FR" sz="1900" b="1" dirty="0"/>
              <a:t>Chiffrement : </a:t>
            </a:r>
            <a:r>
              <a:rPr lang="fr-FR" sz="1900" b="1" dirty="0" err="1"/>
              <a:t>LettreChiffrée</a:t>
            </a:r>
            <a:r>
              <a:rPr lang="fr-FR" sz="1900" b="1" dirty="0"/>
              <a:t>  =  ( </a:t>
            </a:r>
            <a:r>
              <a:rPr lang="fr-FR" sz="1900" b="1" dirty="0" err="1"/>
              <a:t>LettreMessage</a:t>
            </a:r>
            <a:r>
              <a:rPr lang="fr-FR" sz="1900" b="1" dirty="0"/>
              <a:t> + </a:t>
            </a:r>
            <a:r>
              <a:rPr lang="fr-FR" sz="1900" b="1" dirty="0" err="1"/>
              <a:t>LettreClé</a:t>
            </a:r>
            <a:r>
              <a:rPr lang="fr-FR" sz="1900" b="1" dirty="0"/>
              <a:t> ) </a:t>
            </a:r>
            <a:r>
              <a:rPr lang="fr-FR" sz="1900" b="1" dirty="0" err="1"/>
              <a:t>mod</a:t>
            </a:r>
            <a:r>
              <a:rPr lang="fr-FR" sz="1900" b="1" dirty="0"/>
              <a:t> 26</a:t>
            </a:r>
          </a:p>
          <a:p>
            <a:pPr marL="685800" indent="-282575">
              <a:buFont typeface="Wingdings" panose="05000000000000000000" pitchFamily="2" charset="2"/>
              <a:buChar char="§"/>
            </a:pPr>
            <a:r>
              <a:rPr lang="fr-FR" sz="1900" b="1" dirty="0"/>
              <a:t>Déchiffrement : </a:t>
            </a:r>
            <a:r>
              <a:rPr lang="fr-FR" sz="1900" b="1" dirty="0" err="1"/>
              <a:t>LettreDéchiffrée</a:t>
            </a:r>
            <a:r>
              <a:rPr lang="fr-FR" sz="1900" b="1" dirty="0"/>
              <a:t> = ( </a:t>
            </a:r>
            <a:r>
              <a:rPr lang="fr-FR" sz="1900" b="1" dirty="0" err="1"/>
              <a:t>LettreChiffrée</a:t>
            </a:r>
            <a:r>
              <a:rPr lang="fr-FR" sz="1900" b="1" dirty="0"/>
              <a:t> – </a:t>
            </a:r>
            <a:r>
              <a:rPr lang="fr-FR" sz="1900" b="1" dirty="0" err="1"/>
              <a:t>LettreClé</a:t>
            </a:r>
            <a:r>
              <a:rPr lang="fr-FR" sz="1900" b="1" dirty="0"/>
              <a:t> ) </a:t>
            </a:r>
            <a:r>
              <a:rPr lang="fr-FR" sz="1900" b="1" dirty="0" err="1"/>
              <a:t>mod</a:t>
            </a:r>
            <a:r>
              <a:rPr lang="fr-FR" sz="1900" b="1" dirty="0"/>
              <a:t> 26</a:t>
            </a:r>
          </a:p>
          <a:p>
            <a:pPr marL="685800" indent="-282575">
              <a:buFont typeface="Wingdings" panose="05000000000000000000" pitchFamily="2" charset="2"/>
              <a:buChar char="§"/>
            </a:pPr>
            <a:endParaRPr lang="fr-FR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184239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 smtClean="0">
                <a:solidFill>
                  <a:srgbClr val="FF0000"/>
                </a:solidFill>
              </a:rPr>
              <a:t>Substitution </a:t>
            </a:r>
            <a:r>
              <a:rPr lang="fr-FR" sz="2000" b="1" i="1" dirty="0">
                <a:solidFill>
                  <a:srgbClr val="FF0000"/>
                </a:solidFill>
              </a:rPr>
              <a:t>poly-alphabétique : </a:t>
            </a:r>
            <a:r>
              <a:rPr lang="fr-FR" sz="2000" b="1" i="1" dirty="0" smtClean="0">
                <a:solidFill>
                  <a:srgbClr val="FF0000"/>
                </a:solidFill>
              </a:rPr>
              <a:t>Masque </a:t>
            </a:r>
            <a:r>
              <a:rPr lang="fr-FR" sz="2000" b="1" i="1" dirty="0">
                <a:solidFill>
                  <a:srgbClr val="FF0000"/>
                </a:solidFill>
              </a:rPr>
              <a:t>jetable (chiffre de </a:t>
            </a:r>
            <a:r>
              <a:rPr lang="fr-FR" sz="2000" b="1" i="1" dirty="0" err="1">
                <a:solidFill>
                  <a:srgbClr val="FF0000"/>
                </a:solidFill>
              </a:rPr>
              <a:t>Vernam</a:t>
            </a:r>
            <a:r>
              <a:rPr lang="fr-FR" sz="2000" b="1" i="1" dirty="0">
                <a:solidFill>
                  <a:srgbClr val="FF0000"/>
                </a:solidFill>
              </a:rPr>
              <a:t> ou One Time Pad)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4244" y="1196752"/>
            <a:ext cx="46097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i="1" dirty="0"/>
              <a:t>Chiffrement 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l-PL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pl-PL" sz="2000" dirty="0"/>
              <a:t>Z + J = 25 + 9 = 34 - 26 = </a:t>
            </a:r>
            <a:r>
              <a:rPr lang="pl-PL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 = I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pt-BR" sz="2000" dirty="0"/>
              <a:t>E + R = 4 + 17 = </a:t>
            </a:r>
            <a:r>
              <a:rPr lang="pt-B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 = V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pt-BR" sz="2000" dirty="0"/>
              <a:t>R + V= 17 + 21 = 38 – 26 = </a:t>
            </a:r>
            <a:r>
              <a:rPr lang="pt-B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 = M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l-PL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pl-PL" sz="2000" dirty="0"/>
              <a:t>0 + G= 14 + 6 = </a:t>
            </a:r>
            <a:r>
              <a:rPr lang="pl-PL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 = </a:t>
            </a:r>
            <a:r>
              <a:rPr lang="pl-PL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endParaRPr lang="fr-FR" sz="20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4244" y="3135744"/>
            <a:ext cx="2809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225"/>
            <a:r>
              <a:rPr lang="fr-FR" sz="2000" dirty="0"/>
              <a:t>Texte chiffré : </a:t>
            </a:r>
            <a:r>
              <a:rPr lang="fr-FR" sz="2000" b="1" dirty="0" smtClean="0">
                <a:solidFill>
                  <a:srgbClr val="CC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IVMU</a:t>
            </a:r>
            <a:endParaRPr lang="fr-FR" sz="2000" b="1" dirty="0">
              <a:solidFill>
                <a:srgbClr val="CC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644008" y="1274720"/>
            <a:ext cx="44644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i="1" dirty="0"/>
              <a:t>Déchiffrement 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l-PL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pl-PL" sz="2000" dirty="0"/>
              <a:t>I - J = 8 - 9 = -1 + 26 = </a:t>
            </a:r>
            <a:r>
              <a:rPr lang="pl-PL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 = Z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pt-BR" sz="2000" dirty="0"/>
              <a:t>V - R = 21 - 17 = </a:t>
            </a:r>
            <a:r>
              <a:rPr lang="pt-B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= 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pt-BR" sz="2000" dirty="0"/>
              <a:t>M - V = 12 - 21 = -9 + 26 = </a:t>
            </a:r>
            <a:r>
              <a:rPr lang="pt-B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 = 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l-PL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pl-PL" sz="2000" dirty="0"/>
              <a:t>U - G = 20 - 6 = </a:t>
            </a:r>
            <a:r>
              <a:rPr lang="pl-PL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 = </a:t>
            </a:r>
            <a:r>
              <a:rPr lang="pl-PL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endParaRPr lang="fr-FR" sz="20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5220072" y="3136615"/>
            <a:ext cx="2809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Texte déchiffré : </a:t>
            </a:r>
            <a:r>
              <a:rPr lang="fr-FR" sz="20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ZERO</a:t>
            </a:r>
          </a:p>
        </p:txBody>
      </p:sp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33791" y="3843630"/>
          <a:ext cx="9074714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84"/>
                <a:gridCol w="215084"/>
                <a:gridCol w="215084"/>
                <a:gridCol w="215084"/>
                <a:gridCol w="215084"/>
                <a:gridCol w="215084"/>
                <a:gridCol w="215084"/>
                <a:gridCol w="215084"/>
                <a:gridCol w="215084"/>
                <a:gridCol w="298197"/>
                <a:gridCol w="432048"/>
                <a:gridCol w="432048"/>
                <a:gridCol w="504056"/>
                <a:gridCol w="432048"/>
                <a:gridCol w="432048"/>
                <a:gridCol w="432048"/>
                <a:gridCol w="432048"/>
                <a:gridCol w="461521"/>
                <a:gridCol w="411421"/>
                <a:gridCol w="411421"/>
                <a:gridCol w="411421"/>
                <a:gridCol w="411421"/>
                <a:gridCol w="411421"/>
                <a:gridCol w="432471"/>
                <a:gridCol w="411421"/>
                <a:gridCol w="381899"/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A   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B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C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D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E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F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G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H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I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J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K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L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M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N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O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P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Q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R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S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T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U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V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W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X  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Y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Z</a:t>
                      </a:r>
                      <a:endParaRPr lang="fr-FR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0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2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3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4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5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6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7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8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9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10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11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12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13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14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15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16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17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18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19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20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21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22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23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24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25</a:t>
                      </a:r>
                      <a:endParaRPr lang="fr-FR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323528" y="5013176"/>
            <a:ext cx="8496944" cy="648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Masque jetable </a:t>
            </a:r>
            <a:r>
              <a:rPr lang="fr-FR" dirty="0"/>
              <a:t>=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chiffre de Vigenère </a:t>
            </a:r>
            <a:r>
              <a:rPr lang="fr-FR" dirty="0"/>
              <a:t>avec </a:t>
            </a:r>
            <a:r>
              <a:rPr lang="fr-FR" b="1" dirty="0"/>
              <a:t>comme caractéristique </a:t>
            </a:r>
            <a:r>
              <a:rPr lang="fr-FR" dirty="0"/>
              <a:t>que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la clef de chiffrement a la même longueur que le message en clair.</a:t>
            </a:r>
          </a:p>
        </p:txBody>
      </p:sp>
    </p:spTree>
    <p:extLst>
      <p:ext uri="{BB962C8B-B14F-4D97-AF65-F5344CB8AC3E}">
        <p14:creationId xmlns:p14="http://schemas.microsoft.com/office/powerpoint/2010/main" val="344251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 smtClean="0">
                <a:solidFill>
                  <a:srgbClr val="FF0000"/>
                </a:solidFill>
              </a:rPr>
              <a:t>Substitution </a:t>
            </a:r>
            <a:r>
              <a:rPr lang="fr-FR" sz="2000" b="1" i="1" dirty="0">
                <a:solidFill>
                  <a:srgbClr val="FF0000"/>
                </a:solidFill>
              </a:rPr>
              <a:t>poly-alphabétique : </a:t>
            </a:r>
            <a:r>
              <a:rPr lang="fr-FR" sz="2000" b="1" i="1" dirty="0" smtClean="0">
                <a:solidFill>
                  <a:srgbClr val="FF0000"/>
                </a:solidFill>
              </a:rPr>
              <a:t>Masque </a:t>
            </a:r>
            <a:r>
              <a:rPr lang="fr-FR" sz="2000" b="1" i="1" dirty="0">
                <a:solidFill>
                  <a:srgbClr val="FF0000"/>
                </a:solidFill>
              </a:rPr>
              <a:t>jetable (chiffre de </a:t>
            </a:r>
            <a:r>
              <a:rPr lang="fr-FR" sz="2000" b="1" i="1" dirty="0" err="1">
                <a:solidFill>
                  <a:srgbClr val="FF0000"/>
                </a:solidFill>
              </a:rPr>
              <a:t>Vernam</a:t>
            </a:r>
            <a:r>
              <a:rPr lang="fr-FR" sz="2000" b="1" i="1" dirty="0">
                <a:solidFill>
                  <a:srgbClr val="FF0000"/>
                </a:solidFill>
              </a:rPr>
              <a:t> ou One Time Pad)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4244" y="1196752"/>
            <a:ext cx="91097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Chiffre de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</a:rPr>
              <a:t>Vernam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 ( One-Time Pad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pPr>
              <a:tabLst>
                <a:tab pos="457200" algn="l"/>
              </a:tabLst>
            </a:pPr>
            <a:r>
              <a:rPr lang="fr-FR" b="1" dirty="0" smtClean="0"/>
              <a:t>Exercice</a:t>
            </a:r>
            <a:endParaRPr lang="fr-FR" b="1" dirty="0"/>
          </a:p>
          <a:p>
            <a:pPr>
              <a:tabLst>
                <a:tab pos="457200" algn="l"/>
              </a:tabLst>
            </a:pPr>
            <a:r>
              <a:rPr lang="fr-FR" dirty="0" smtClean="0"/>
              <a:t>Clair </a:t>
            </a:r>
            <a:r>
              <a:rPr lang="fr-FR" dirty="0"/>
              <a:t>: MASQUEJETABLE</a:t>
            </a:r>
          </a:p>
          <a:p>
            <a:pPr>
              <a:tabLst>
                <a:tab pos="457200" algn="l"/>
              </a:tabLst>
            </a:pPr>
            <a:r>
              <a:rPr lang="fr-FR" dirty="0" smtClean="0"/>
              <a:t>Clef </a:t>
            </a:r>
            <a:r>
              <a:rPr lang="fr-FR" dirty="0"/>
              <a:t>: </a:t>
            </a:r>
            <a:r>
              <a:rPr lang="fr-FR" dirty="0" smtClean="0"/>
              <a:t>XCAATELPRVGZC</a:t>
            </a:r>
          </a:p>
          <a:p>
            <a:pPr>
              <a:tabLst>
                <a:tab pos="457200" algn="l"/>
              </a:tabLst>
            </a:pPr>
            <a:r>
              <a:rPr lang="fr-FR" dirty="0" smtClean="0"/>
              <a:t>Chiffré </a:t>
            </a:r>
            <a:r>
              <a:rPr lang="fr-FR" dirty="0"/>
              <a:t>:</a:t>
            </a:r>
            <a:endParaRPr lang="fr-FR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54061" y="2780388"/>
            <a:ext cx="9074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3225" indent="-349250">
              <a:buFont typeface="Wingdings" panose="05000000000000000000" pitchFamily="2" charset="2"/>
              <a:buChar char="q"/>
            </a:pPr>
            <a:r>
              <a:rPr lang="fr-FR" sz="2000" b="1" dirty="0"/>
              <a:t>Solution :</a:t>
            </a:r>
          </a:p>
          <a:p>
            <a:pPr marL="403225"/>
            <a:endParaRPr lang="fr-FR" sz="2000" b="1" dirty="0" smtClean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488274"/>
            <a:ext cx="6591428" cy="1728192"/>
          </a:xfrm>
          <a:prstGeom prst="rect">
            <a:avLst/>
          </a:prstGeom>
        </p:spPr>
      </p:pic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268014"/>
              </p:ext>
            </p:extLst>
          </p:nvPr>
        </p:nvGraphicFramePr>
        <p:xfrm>
          <a:off x="69286" y="5551532"/>
          <a:ext cx="9074714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84"/>
                <a:gridCol w="215084"/>
                <a:gridCol w="215084"/>
                <a:gridCol w="215084"/>
                <a:gridCol w="215084"/>
                <a:gridCol w="215084"/>
                <a:gridCol w="215084"/>
                <a:gridCol w="215084"/>
                <a:gridCol w="215084"/>
                <a:gridCol w="298197"/>
                <a:gridCol w="432048"/>
                <a:gridCol w="432048"/>
                <a:gridCol w="504056"/>
                <a:gridCol w="432048"/>
                <a:gridCol w="432048"/>
                <a:gridCol w="432048"/>
                <a:gridCol w="432048"/>
                <a:gridCol w="461521"/>
                <a:gridCol w="411421"/>
                <a:gridCol w="411421"/>
                <a:gridCol w="411421"/>
                <a:gridCol w="411421"/>
                <a:gridCol w="411421"/>
                <a:gridCol w="432471"/>
                <a:gridCol w="411421"/>
                <a:gridCol w="381899"/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A   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B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C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D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E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F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G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H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I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J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K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L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M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N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O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P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Q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R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S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T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U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V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W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X  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Y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Z</a:t>
                      </a:r>
                      <a:endParaRPr lang="fr-FR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0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2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3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4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5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6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7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8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9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10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11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12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13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14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15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16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17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18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19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20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21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22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23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24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25</a:t>
                      </a:r>
                      <a:endParaRPr lang="fr-FR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02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>
                <a:solidFill>
                  <a:srgbClr val="FF0000"/>
                </a:solidFill>
              </a:rPr>
              <a:t>Substitution poly-alphabétique : </a:t>
            </a:r>
            <a:endParaRPr lang="fr-FR" sz="2000" b="1" i="1" dirty="0" smtClean="0">
              <a:solidFill>
                <a:srgbClr val="FF0000"/>
              </a:solidFill>
            </a:endParaRPr>
          </a:p>
          <a:p>
            <a:pPr algn="ctr"/>
            <a:r>
              <a:rPr lang="fr-FR" sz="2000" b="1" i="1" dirty="0" smtClean="0">
                <a:solidFill>
                  <a:srgbClr val="FF0000"/>
                </a:solidFill>
              </a:rPr>
              <a:t>Chiffrement </a:t>
            </a:r>
            <a:r>
              <a:rPr lang="fr-FR" sz="2000" b="1" i="1" dirty="0">
                <a:solidFill>
                  <a:srgbClr val="FF0000"/>
                </a:solidFill>
              </a:rPr>
              <a:t>par substitution </a:t>
            </a:r>
            <a:r>
              <a:rPr lang="fr-FR" sz="2000" b="1" i="1" dirty="0" err="1">
                <a:solidFill>
                  <a:srgbClr val="FF0000"/>
                </a:solidFill>
              </a:rPr>
              <a:t>polygramme</a:t>
            </a:r>
            <a:endParaRPr lang="fr-FR" sz="2000" b="1" i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4244" y="1196752"/>
            <a:ext cx="91097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 smtClean="0"/>
              <a:t> Chiffrer </a:t>
            </a:r>
            <a:r>
              <a:rPr lang="fr-FR" dirty="0"/>
              <a:t>par groupe de </a:t>
            </a:r>
            <a:r>
              <a:rPr lang="fr-F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</a:t>
            </a:r>
            <a:r>
              <a:rPr lang="fr-FR" dirty="0"/>
              <a:t>lettres (ex: </a:t>
            </a:r>
            <a:r>
              <a:rPr lang="fr-FR" b="1" dirty="0">
                <a:solidFill>
                  <a:srgbClr val="C00000"/>
                </a:solidFill>
              </a:rPr>
              <a:t>Hill</a:t>
            </a:r>
            <a:r>
              <a:rPr lang="fr-FR" dirty="0"/>
              <a:t> et </a:t>
            </a:r>
            <a:r>
              <a:rPr lang="fr-FR" b="1" dirty="0">
                <a:solidFill>
                  <a:srgbClr val="C00000"/>
                </a:solidFill>
              </a:rPr>
              <a:t>Playfair</a:t>
            </a:r>
            <a:r>
              <a:rPr lang="fr-FR" dirty="0"/>
              <a:t> par digramme</a:t>
            </a:r>
            <a:r>
              <a:rPr lang="fr-FR" dirty="0" smtClean="0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Chiffre de Hill : </a:t>
            </a:r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chiffrement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b="1" dirty="0" smtClean="0"/>
              <a:t>Les </a:t>
            </a:r>
            <a:r>
              <a:rPr lang="fr-FR" b="1" dirty="0"/>
              <a:t>lettres sont d’abord remplacées par leur rang dans </a:t>
            </a:r>
            <a:r>
              <a:rPr lang="fr-FR" b="1" dirty="0" smtClean="0"/>
              <a:t>l’alphabet</a:t>
            </a:r>
            <a:r>
              <a:rPr lang="fr-FR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 smtClean="0"/>
              <a:t>Les </a:t>
            </a:r>
            <a:r>
              <a:rPr lang="fr-FR" dirty="0"/>
              <a:t>lettres </a:t>
            </a:r>
            <a:r>
              <a:rPr lang="fr-F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fr-FR" b="1" baseline="-25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fr-FR" b="1" dirty="0" smtClean="0"/>
              <a:t> </a:t>
            </a:r>
            <a:r>
              <a:rPr lang="fr-FR" dirty="0"/>
              <a:t>et</a:t>
            </a:r>
            <a:r>
              <a:rPr lang="fr-FR" b="1" dirty="0"/>
              <a:t> </a:t>
            </a:r>
            <a:r>
              <a:rPr lang="fr-F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fr-FR" b="1" baseline="-25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fr-FR" b="1" dirty="0" smtClean="0"/>
              <a:t> </a:t>
            </a:r>
            <a:r>
              <a:rPr lang="fr-FR" dirty="0"/>
              <a:t>deviennent </a:t>
            </a:r>
            <a:r>
              <a:rPr lang="fr-F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b="1" baseline="-25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fr-FR" dirty="0" smtClean="0"/>
              <a:t> </a:t>
            </a:r>
            <a:r>
              <a:rPr lang="fr-FR" dirty="0"/>
              <a:t>et </a:t>
            </a:r>
            <a:r>
              <a:rPr lang="fr-F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fr-FR" b="1" baseline="-25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fr-FR" dirty="0" smtClean="0"/>
              <a:t>.</a:t>
            </a:r>
            <a:endParaRPr lang="fr-FR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298636" y="3095349"/>
                <a:ext cx="3528392" cy="576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fr-FR" b="0" i="1" baseline="-2500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fr-FR" b="0" i="1" baseline="-250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FR" b="0" i="1" baseline="-2500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FR" b="0" i="1" baseline="-250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26)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36" y="3095349"/>
                <a:ext cx="3528392" cy="57631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/>
          <p:cNvSpPr txBox="1"/>
          <p:nvPr/>
        </p:nvSpPr>
        <p:spPr>
          <a:xfrm>
            <a:off x="4278436" y="3030469"/>
            <a:ext cx="3384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C</a:t>
            </a:r>
            <a:r>
              <a:rPr lang="fr-FR" b="1" baseline="-25000" dirty="0" smtClean="0"/>
              <a:t>1 </a:t>
            </a:r>
            <a:r>
              <a:rPr lang="fr-FR" b="1" dirty="0" smtClean="0"/>
              <a:t>≡ (</a:t>
            </a:r>
            <a:r>
              <a:rPr lang="fr-FR" b="1" i="1" dirty="0" smtClean="0"/>
              <a:t>a </a:t>
            </a:r>
            <a:r>
              <a:rPr lang="fr-FR" b="1" dirty="0" smtClean="0"/>
              <a:t>P</a:t>
            </a:r>
            <a:r>
              <a:rPr lang="fr-FR" b="1" baseline="-25000" dirty="0" smtClean="0"/>
              <a:t>1</a:t>
            </a:r>
            <a:r>
              <a:rPr lang="fr-FR" b="1" dirty="0" smtClean="0"/>
              <a:t>+</a:t>
            </a:r>
            <a:r>
              <a:rPr lang="fr-FR" b="1" i="1" dirty="0" smtClean="0"/>
              <a:t>b </a:t>
            </a:r>
            <a:r>
              <a:rPr lang="fr-FR" b="1" dirty="0" smtClean="0"/>
              <a:t>P</a:t>
            </a:r>
            <a:r>
              <a:rPr lang="fr-FR" b="1" baseline="-25000" dirty="0" smtClean="0"/>
              <a:t>2</a:t>
            </a:r>
            <a:r>
              <a:rPr lang="fr-FR" b="1" dirty="0" smtClean="0"/>
              <a:t>) (</a:t>
            </a:r>
            <a:r>
              <a:rPr lang="fr-FR" b="1" dirty="0" err="1" smtClean="0"/>
              <a:t>mod</a:t>
            </a:r>
            <a:r>
              <a:rPr lang="fr-FR" b="1" dirty="0" smtClean="0"/>
              <a:t> 26)</a:t>
            </a:r>
          </a:p>
          <a:p>
            <a:r>
              <a:rPr lang="fr-FR" b="1" dirty="0" smtClean="0"/>
              <a:t>C</a:t>
            </a:r>
            <a:r>
              <a:rPr lang="fr-FR" b="1" baseline="-25000" dirty="0" smtClean="0"/>
              <a:t>2 </a:t>
            </a:r>
            <a:r>
              <a:rPr lang="fr-FR" b="1" dirty="0" smtClean="0"/>
              <a:t>≡ (</a:t>
            </a:r>
            <a:r>
              <a:rPr lang="fr-FR" b="1" i="1" dirty="0" smtClean="0"/>
              <a:t>c </a:t>
            </a:r>
            <a:r>
              <a:rPr lang="fr-FR" b="1" dirty="0" smtClean="0"/>
              <a:t>P</a:t>
            </a:r>
            <a:r>
              <a:rPr lang="fr-FR" b="1" baseline="-25000" dirty="0" smtClean="0"/>
              <a:t>1</a:t>
            </a:r>
            <a:r>
              <a:rPr lang="fr-FR" b="1" dirty="0" smtClean="0"/>
              <a:t>+</a:t>
            </a:r>
            <a:r>
              <a:rPr lang="fr-FR" b="1" i="1" dirty="0" smtClean="0"/>
              <a:t>d </a:t>
            </a:r>
            <a:r>
              <a:rPr lang="fr-FR" b="1" dirty="0" smtClean="0"/>
              <a:t>P</a:t>
            </a:r>
            <a:r>
              <a:rPr lang="fr-FR" b="1" baseline="-25000" dirty="0" smtClean="0"/>
              <a:t>2</a:t>
            </a:r>
            <a:r>
              <a:rPr lang="fr-FR" b="1" dirty="0"/>
              <a:t>) (</a:t>
            </a:r>
            <a:r>
              <a:rPr lang="fr-FR" b="1" dirty="0" err="1"/>
              <a:t>mod</a:t>
            </a:r>
            <a:r>
              <a:rPr lang="fr-FR" b="1" dirty="0"/>
              <a:t> 26)</a:t>
            </a:r>
          </a:p>
          <a:p>
            <a:endParaRPr lang="fr-FR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34244" y="3855088"/>
            <a:ext cx="91097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/>
              <a:t> </a:t>
            </a:r>
            <a:r>
              <a:rPr lang="fr-FR" b="1" dirty="0">
                <a:solidFill>
                  <a:srgbClr val="C00000"/>
                </a:solidFill>
              </a:rPr>
              <a:t>a, b, c et d </a:t>
            </a:r>
            <a:r>
              <a:rPr lang="fr-FR" dirty="0"/>
              <a:t>sont des </a:t>
            </a:r>
            <a:r>
              <a:rPr lang="fr-FR" b="1" dirty="0"/>
              <a:t>entiers positifs et </a:t>
            </a:r>
            <a:r>
              <a:rPr lang="fr-FR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la matrice doit être inversible dans </a:t>
            </a:r>
            <a:r>
              <a:rPr lang="fr-FR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Z</a:t>
            </a:r>
            <a:r>
              <a:rPr lang="fr-FR" b="1" baseline="-25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26</a:t>
            </a:r>
            <a:r>
              <a:rPr lang="fr-FR" dirty="0" smtClean="0"/>
              <a:t>.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/>
              <a:t> </a:t>
            </a:r>
            <a:r>
              <a:rPr lang="fr-FR" b="1" dirty="0"/>
              <a:t>Taille n’est pas fixée à 2; </a:t>
            </a:r>
            <a:r>
              <a:rPr lang="fr-FR" dirty="0">
                <a:solidFill>
                  <a:srgbClr val="C00000"/>
                </a:solidFill>
              </a:rPr>
              <a:t>dépend du </a:t>
            </a:r>
            <a:r>
              <a:rPr lang="fr-FR" b="1" dirty="0">
                <a:solidFill>
                  <a:srgbClr val="C00000"/>
                </a:solidFill>
              </a:rPr>
              <a:t>nombre de lettres à chiffrer simultanément</a:t>
            </a:r>
            <a:r>
              <a:rPr lang="fr-FR" dirty="0" smtClean="0"/>
              <a:t>.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306403" y="5084774"/>
                <a:ext cx="7873764" cy="853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 smtClean="0"/>
                  <a:t> </a:t>
                </a:r>
                <a:r>
                  <a:rPr lang="fr-FR" b="1" i="1" dirty="0"/>
                  <a:t>Exemple de chiffrement </a:t>
                </a:r>
                <a:r>
                  <a:rPr lang="fr-FR" b="1" dirty="0"/>
                  <a:t>: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fr-FR" dirty="0"/>
                  <a:t>Matrice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fr-FR" dirty="0" smtClean="0"/>
                  <a:t> et  Message </a:t>
                </a:r>
                <a:r>
                  <a:rPr lang="fr-FR" dirty="0"/>
                  <a:t>: </a:t>
                </a:r>
                <a:r>
                  <a:rPr lang="fr-FR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je vous aime</a:t>
                </a:r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03" y="5084774"/>
                <a:ext cx="7873764" cy="853311"/>
              </a:xfrm>
              <a:prstGeom prst="rect">
                <a:avLst/>
              </a:prstGeom>
              <a:blipFill rotWithShape="0">
                <a:blip r:embed="rId3"/>
                <a:stretch>
                  <a:fillRect l="-464" t="-35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479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6" grpId="0"/>
      <p:bldP spid="1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>
                <a:solidFill>
                  <a:srgbClr val="FF0000"/>
                </a:solidFill>
              </a:rPr>
              <a:t>Substitution poly-alphabétique : </a:t>
            </a:r>
            <a:endParaRPr lang="fr-FR" sz="2000" b="1" i="1" dirty="0" smtClean="0">
              <a:solidFill>
                <a:srgbClr val="FF0000"/>
              </a:solidFill>
            </a:endParaRPr>
          </a:p>
          <a:p>
            <a:pPr algn="ctr"/>
            <a:r>
              <a:rPr lang="fr-FR" sz="2000" b="1" i="1" dirty="0" smtClean="0">
                <a:solidFill>
                  <a:srgbClr val="FF0000"/>
                </a:solidFill>
              </a:rPr>
              <a:t>Chiffrement </a:t>
            </a:r>
            <a:r>
              <a:rPr lang="fr-FR" sz="2000" b="1" i="1" dirty="0">
                <a:solidFill>
                  <a:srgbClr val="FF0000"/>
                </a:solidFill>
              </a:rPr>
              <a:t>par substitution </a:t>
            </a:r>
            <a:r>
              <a:rPr lang="fr-FR" sz="2000" b="1" i="1" dirty="0" err="1">
                <a:solidFill>
                  <a:srgbClr val="FF0000"/>
                </a:solidFill>
              </a:rPr>
              <a:t>polygramme</a:t>
            </a:r>
            <a:endParaRPr lang="fr-FR" sz="2000" b="1" i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4244" y="1196752"/>
            <a:ext cx="910975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 </a:t>
            </a:r>
            <a:r>
              <a:rPr lang="fr-FR" sz="2000" dirty="0"/>
              <a:t>On remplace les lettres par leur rang dans l’alphabet (</a:t>
            </a:r>
            <a:r>
              <a:rPr lang="fr-FR" sz="2000" dirty="0" smtClean="0"/>
              <a:t>a=0, </a:t>
            </a:r>
            <a:r>
              <a:rPr lang="fr-FR" sz="2000" dirty="0"/>
              <a:t>...</a:t>
            </a:r>
            <a:r>
              <a:rPr lang="fr-FR" sz="2000" dirty="0" smtClean="0"/>
              <a:t>e=4, </a:t>
            </a:r>
            <a:r>
              <a:rPr lang="fr-FR" sz="2000" dirty="0"/>
              <a:t>…, </a:t>
            </a:r>
            <a:r>
              <a:rPr lang="fr-FR" sz="2000" dirty="0" smtClean="0"/>
              <a:t>j=9, </a:t>
            </a:r>
            <a:r>
              <a:rPr lang="fr-FR" sz="2000" dirty="0"/>
              <a:t>…)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1" dirty="0" smtClean="0"/>
              <a:t>C1 </a:t>
            </a:r>
            <a:r>
              <a:rPr lang="pt-BR" sz="2000" b="1" dirty="0"/>
              <a:t>≡ (9 ∗ </a:t>
            </a:r>
            <a:r>
              <a:rPr lang="pt-BR" sz="2000" b="1" dirty="0" smtClean="0">
                <a:solidFill>
                  <a:srgbClr val="C00000"/>
                </a:solidFill>
              </a:rPr>
              <a:t>9 </a:t>
            </a:r>
            <a:r>
              <a:rPr lang="pt-BR" sz="2000" b="1" dirty="0" smtClean="0"/>
              <a:t>+ </a:t>
            </a:r>
            <a:r>
              <a:rPr lang="pt-BR" sz="2000" b="1" dirty="0"/>
              <a:t>4 ∗ </a:t>
            </a:r>
            <a:r>
              <a:rPr lang="pt-BR" sz="2000" b="1" dirty="0" smtClean="0">
                <a:solidFill>
                  <a:srgbClr val="C00000"/>
                </a:solidFill>
              </a:rPr>
              <a:t>4</a:t>
            </a:r>
            <a:r>
              <a:rPr lang="pt-BR" sz="2000" b="1" dirty="0" smtClean="0"/>
              <a:t>) (mod 26 )=97 (mod 26) = </a:t>
            </a:r>
            <a:r>
              <a:rPr lang="pt-BR" sz="2000" b="1" dirty="0" smtClean="0">
                <a:solidFill>
                  <a:srgbClr val="C00000"/>
                </a:solidFill>
              </a:rPr>
              <a:t>19</a:t>
            </a:r>
            <a:endParaRPr lang="pt-BR" sz="2000" b="1" dirty="0">
              <a:solidFill>
                <a:srgbClr val="C00000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1" dirty="0" smtClean="0"/>
              <a:t>C2 </a:t>
            </a:r>
            <a:r>
              <a:rPr lang="pt-BR" sz="2000" b="1" dirty="0"/>
              <a:t>≡ </a:t>
            </a:r>
            <a:r>
              <a:rPr lang="pt-BR" sz="2000" b="1" dirty="0" smtClean="0"/>
              <a:t>(5 </a:t>
            </a:r>
            <a:r>
              <a:rPr lang="pt-BR" sz="2000" b="1" dirty="0"/>
              <a:t>∗ </a:t>
            </a:r>
            <a:r>
              <a:rPr lang="pt-BR" sz="2000" b="1" dirty="0" smtClean="0">
                <a:solidFill>
                  <a:srgbClr val="C00000"/>
                </a:solidFill>
              </a:rPr>
              <a:t>9</a:t>
            </a:r>
            <a:r>
              <a:rPr lang="pt-BR" sz="2000" b="1" dirty="0" smtClean="0"/>
              <a:t> + </a:t>
            </a:r>
            <a:r>
              <a:rPr lang="pt-BR" sz="2000" b="1" dirty="0"/>
              <a:t>7 ∗ </a:t>
            </a:r>
            <a:r>
              <a:rPr lang="pt-BR" sz="2000" b="1" dirty="0" smtClean="0">
                <a:solidFill>
                  <a:srgbClr val="C00000"/>
                </a:solidFill>
              </a:rPr>
              <a:t>4</a:t>
            </a:r>
            <a:r>
              <a:rPr lang="pt-BR" sz="2000" b="1" dirty="0" smtClean="0"/>
              <a:t>) (mod 26 )26 = 73 (mod 26) = </a:t>
            </a:r>
            <a:r>
              <a:rPr lang="pt-BR" sz="2000" b="1" dirty="0" smtClean="0">
                <a:solidFill>
                  <a:srgbClr val="C00000"/>
                </a:solidFill>
              </a:rPr>
              <a:t>21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000" dirty="0" smtClean="0"/>
              <a:t> </a:t>
            </a:r>
            <a:r>
              <a:rPr lang="fr-FR" sz="2000" dirty="0"/>
              <a:t>On fera de même avec les 3e et 4e lettres, 5e et 6e, etc. On obtient :</a:t>
            </a:r>
            <a:endParaRPr lang="fr-FR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1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683831"/>
              </p:ext>
            </p:extLst>
          </p:nvPr>
        </p:nvGraphicFramePr>
        <p:xfrm>
          <a:off x="683568" y="3987524"/>
          <a:ext cx="7348793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3681"/>
                <a:gridCol w="536635"/>
                <a:gridCol w="536635"/>
                <a:gridCol w="536635"/>
                <a:gridCol w="536635"/>
                <a:gridCol w="536635"/>
                <a:gridCol w="536635"/>
                <a:gridCol w="400434"/>
                <a:gridCol w="400434"/>
                <a:gridCol w="500380"/>
                <a:gridCol w="504054"/>
              </a:tblGrid>
              <a:tr h="247756">
                <a:tc>
                  <a:txBody>
                    <a:bodyPr/>
                    <a:lstStyle/>
                    <a:p>
                      <a:r>
                        <a:rPr lang="fr-FR" dirty="0" smtClean="0"/>
                        <a:t>Lettres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j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v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o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i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m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 smtClean="0"/>
                        <a:t>Rangs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9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4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14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18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8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4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 smtClean="0"/>
                        <a:t>Rangs chiffrés (</a:t>
                      </a:r>
                      <a:r>
                        <a:rPr lang="fr-FR" b="1" dirty="0" err="1" smtClean="0"/>
                        <a:t>C</a:t>
                      </a:r>
                      <a:r>
                        <a:rPr lang="fr-FR" b="1" baseline="-25000" dirty="0" err="1" smtClean="0"/>
                        <a:t>k</a:t>
                      </a:r>
                      <a:r>
                        <a:rPr lang="fr-FR" b="1" dirty="0" smtClean="0"/>
                        <a:t>)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19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18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18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6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4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10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 smtClean="0"/>
                        <a:t>Lettres chiffrées 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U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K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51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>
                <a:solidFill>
                  <a:srgbClr val="FF0000"/>
                </a:solidFill>
              </a:rPr>
              <a:t>Substitution poly-alphabétique : </a:t>
            </a:r>
            <a:endParaRPr lang="fr-FR" sz="2000" b="1" i="1" dirty="0" smtClean="0">
              <a:solidFill>
                <a:srgbClr val="FF0000"/>
              </a:solidFill>
            </a:endParaRPr>
          </a:p>
          <a:p>
            <a:pPr algn="ctr"/>
            <a:r>
              <a:rPr lang="fr-FR" sz="2000" b="1" i="1" dirty="0" smtClean="0">
                <a:solidFill>
                  <a:srgbClr val="FF0000"/>
                </a:solidFill>
              </a:rPr>
              <a:t>Chiffrement </a:t>
            </a:r>
            <a:r>
              <a:rPr lang="fr-FR" sz="2000" b="1" i="1" dirty="0">
                <a:solidFill>
                  <a:srgbClr val="FF0000"/>
                </a:solidFill>
              </a:rPr>
              <a:t>par substitution </a:t>
            </a:r>
            <a:r>
              <a:rPr lang="fr-FR" sz="2000" b="1" i="1" dirty="0" err="1">
                <a:solidFill>
                  <a:srgbClr val="FF0000"/>
                </a:solidFill>
              </a:rPr>
              <a:t>polygramme</a:t>
            </a:r>
            <a:endParaRPr lang="fr-FR" sz="2000" b="1" i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4244" y="1196752"/>
            <a:ext cx="9109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dirty="0"/>
              <a:t>Chiffre de Hill : déchiffrement</a:t>
            </a:r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Chiffre de Hill : </a:t>
            </a:r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chiffrement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298636" y="1877907"/>
                <a:ext cx="3528392" cy="613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FR" b="0" i="1" baseline="-2500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FR" b="0" i="1" baseline="-250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fr-FR" b="0" i="1" baseline="-2500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fr-FR" b="0" i="1" baseline="-250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26)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36" y="1877907"/>
                <a:ext cx="3528392" cy="61395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/>
          <p:cNvSpPr txBox="1"/>
          <p:nvPr/>
        </p:nvSpPr>
        <p:spPr>
          <a:xfrm>
            <a:off x="514660" y="2803681"/>
            <a:ext cx="8593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Cette matrice doit être l’inverse de la matrice de chiffrement (modulo 26</a:t>
            </a:r>
            <a:r>
              <a:rPr lang="fr-FR" dirty="0" smtClean="0"/>
              <a:t>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i="1" dirty="0" smtClean="0"/>
              <a:t>Exemple </a:t>
            </a:r>
            <a:r>
              <a:rPr lang="fr-FR" b="1" i="1" dirty="0"/>
              <a:t>de déchiffrement </a:t>
            </a:r>
            <a:r>
              <a:rPr lang="fr-FR" b="1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/>
              <p:cNvSpPr txBox="1"/>
              <p:nvPr/>
            </p:nvSpPr>
            <p:spPr>
              <a:xfrm>
                <a:off x="4139952" y="1855857"/>
                <a:ext cx="4752528" cy="619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𝑏𝑐</m:t>
                          </m:r>
                        </m:den>
                      </m:f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26)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ZoneText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1855857"/>
                <a:ext cx="4752528" cy="61927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431176" y="3565984"/>
                <a:ext cx="7222396" cy="608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43</m:t>
                        </m:r>
                      </m:den>
                    </m:f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  <m:r>
                      <a:rPr lang="fr-F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 26)</m:t>
                    </m:r>
                  </m:oMath>
                </a14:m>
                <a:r>
                  <a:rPr lang="fr-FR" dirty="0" smtClean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43</m:t>
                            </m:r>
                          </m:e>
                        </m:d>
                      </m:e>
                      <m:sup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−1 </m:t>
                        </m:r>
                      </m:sup>
                    </m:sSup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fr-FR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 smtClean="0"/>
                  <a:t>(</a:t>
                </a:r>
                <a:r>
                  <a:rPr lang="fr-FR" dirty="0" err="1" smtClean="0"/>
                  <a:t>mod</a:t>
                </a:r>
                <a:r>
                  <a:rPr lang="fr-FR" dirty="0" smtClean="0"/>
                  <a:t> 26)</a:t>
                </a:r>
                <a:endParaRPr lang="fr-FR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176" y="3565984"/>
                <a:ext cx="7222396" cy="60843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ZoneTexte 7"/>
          <p:cNvSpPr txBox="1"/>
          <p:nvPr/>
        </p:nvSpPr>
        <p:spPr>
          <a:xfrm>
            <a:off x="442652" y="4509120"/>
            <a:ext cx="7369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Comme pgcd </a:t>
            </a:r>
            <a:r>
              <a:rPr lang="fr-FR" dirty="0" smtClean="0"/>
              <a:t>(43</a:t>
            </a:r>
            <a:r>
              <a:rPr lang="fr-FR" dirty="0"/>
              <a:t>, </a:t>
            </a:r>
            <a:r>
              <a:rPr lang="fr-FR" dirty="0" smtClean="0"/>
              <a:t>26) = </a:t>
            </a:r>
            <a:r>
              <a:rPr lang="fr-FR" dirty="0"/>
              <a:t>1, </a:t>
            </a:r>
            <a:r>
              <a:rPr lang="fr-FR" dirty="0" smtClean="0"/>
              <a:t>(43)</a:t>
            </a:r>
            <a:r>
              <a:rPr lang="fr-FR" baseline="30000" dirty="0" smtClean="0"/>
              <a:t>-1 </a:t>
            </a:r>
            <a:r>
              <a:rPr lang="fr-FR" dirty="0" smtClean="0"/>
              <a:t>existe </a:t>
            </a:r>
            <a:r>
              <a:rPr lang="fr-FR" dirty="0"/>
              <a:t>dans </a:t>
            </a:r>
            <a:r>
              <a:rPr lang="fr-FR" dirty="0" smtClean="0"/>
              <a:t>Z</a:t>
            </a:r>
            <a:r>
              <a:rPr lang="fr-FR" baseline="-25000" dirty="0" smtClean="0"/>
              <a:t>26</a:t>
            </a:r>
            <a:r>
              <a:rPr lang="fr-FR" dirty="0" smtClean="0"/>
              <a:t> </a:t>
            </a:r>
            <a:r>
              <a:rPr lang="fr-FR" dirty="0"/>
              <a:t>et </a:t>
            </a:r>
            <a:r>
              <a:rPr lang="fr-FR" dirty="0" smtClean="0"/>
              <a:t>(43)</a:t>
            </a:r>
            <a:r>
              <a:rPr lang="fr-FR" baseline="30000" dirty="0" smtClean="0"/>
              <a:t>-1  </a:t>
            </a:r>
            <a:r>
              <a:rPr lang="fr-FR" dirty="0" smtClean="0"/>
              <a:t>= 23</a:t>
            </a:r>
            <a:r>
              <a:rPr lang="fr-FR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/>
            </p:nvSpPr>
            <p:spPr>
              <a:xfrm>
                <a:off x="34244" y="5163056"/>
                <a:ext cx="9434300" cy="608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=23 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  <m:r>
                      <a:rPr lang="fr-F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 26)</m:t>
                    </m:r>
                  </m:oMath>
                </a14:m>
                <a:r>
                  <a:rPr lang="fr-FR" dirty="0" smtClean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61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92</m:t>
                              </m:r>
                            </m:e>
                          </m:mr>
                          <m:m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115</m:t>
                              </m:r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207</m:t>
                              </m:r>
                            </m:e>
                          </m:mr>
                        </m:m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 smtClean="0"/>
                  <a:t>( mod 26)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mr>
                        </m:m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26)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4" y="5163056"/>
                <a:ext cx="9434300" cy="6084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586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1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>
                <a:solidFill>
                  <a:srgbClr val="FF0000"/>
                </a:solidFill>
              </a:rPr>
              <a:t>Substitution poly-alphabétique : </a:t>
            </a:r>
            <a:endParaRPr lang="fr-FR" sz="2000" b="1" i="1" dirty="0" smtClean="0">
              <a:solidFill>
                <a:srgbClr val="FF0000"/>
              </a:solidFill>
            </a:endParaRPr>
          </a:p>
          <a:p>
            <a:pPr algn="ctr"/>
            <a:r>
              <a:rPr lang="fr-FR" sz="2000" b="1" i="1" dirty="0" smtClean="0">
                <a:solidFill>
                  <a:srgbClr val="FF0000"/>
                </a:solidFill>
              </a:rPr>
              <a:t>Chiffrement </a:t>
            </a:r>
            <a:r>
              <a:rPr lang="fr-FR" sz="2000" b="1" i="1" dirty="0">
                <a:solidFill>
                  <a:srgbClr val="FF0000"/>
                </a:solidFill>
              </a:rPr>
              <a:t>par substitution </a:t>
            </a:r>
            <a:r>
              <a:rPr lang="fr-FR" sz="2000" b="1" i="1" dirty="0" err="1">
                <a:solidFill>
                  <a:srgbClr val="FF0000"/>
                </a:solidFill>
              </a:rPr>
              <a:t>polygramme</a:t>
            </a:r>
            <a:endParaRPr lang="fr-FR" sz="2000" b="1" i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4244" y="1196752"/>
            <a:ext cx="9109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dirty="0"/>
              <a:t>Chiffre de Hill : déchiffrement</a:t>
            </a:r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</a:rPr>
              <a:t>Chiffre de Hill : </a:t>
            </a:r>
            <a:r>
              <a:rPr lang="fr-FR" b="1" dirty="0" smtClean="0">
                <a:solidFill>
                  <a:schemeClr val="accent1">
                    <a:lumMod val="75000"/>
                  </a:schemeClr>
                </a:solidFill>
              </a:rPr>
              <a:t>chiffrement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212431" y="1763377"/>
            <a:ext cx="89289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/>
              <a:t> Soit le message </a:t>
            </a:r>
            <a:r>
              <a:rPr lang="fr-FR" dirty="0" smtClean="0"/>
              <a:t>"</a:t>
            </a:r>
            <a:r>
              <a:rPr lang="fr-FR" b="1" dirty="0" smtClean="0">
                <a:solidFill>
                  <a:srgbClr val="CC3399"/>
                </a:solidFill>
              </a:rPr>
              <a:t>TVLVSSGEUK</a:t>
            </a:r>
            <a:r>
              <a:rPr lang="fr-FR" dirty="0" smtClean="0"/>
              <a:t>" </a:t>
            </a:r>
            <a:r>
              <a:rPr lang="fr-FR" dirty="0"/>
              <a:t>à déchiffrer : </a:t>
            </a:r>
            <a:r>
              <a:rPr lang="fr-FR" dirty="0" smtClean="0"/>
              <a:t>(T=10</a:t>
            </a:r>
            <a:r>
              <a:rPr lang="fr-FR" dirty="0"/>
              <a:t>, </a:t>
            </a:r>
            <a:r>
              <a:rPr lang="fr-FR" dirty="0" smtClean="0"/>
              <a:t>V=5</a:t>
            </a:r>
            <a:r>
              <a:rPr lang="fr-FR" dirty="0"/>
              <a:t>, …)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P1 </a:t>
            </a:r>
            <a:r>
              <a:rPr lang="pt-BR" dirty="0"/>
              <a:t>≡ 5 ∗ </a:t>
            </a:r>
            <a:r>
              <a:rPr lang="pt-B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  <a:r>
              <a:rPr lang="pt-BR" dirty="0" smtClean="0"/>
              <a:t>  + 12 </a:t>
            </a:r>
            <a:r>
              <a:rPr lang="pt-BR" dirty="0"/>
              <a:t>∗ </a:t>
            </a:r>
            <a:r>
              <a:rPr lang="pt-B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r>
              <a:rPr lang="pt-BR" dirty="0" smtClean="0"/>
              <a:t> (mod 26 ) = 347 (mod 26 ) = </a:t>
            </a:r>
            <a:r>
              <a:rPr lang="pt-B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lang="pt-BR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dirty="0" smtClean="0"/>
              <a:t>P2 </a:t>
            </a:r>
            <a:r>
              <a:rPr lang="pt-BR" dirty="0"/>
              <a:t>≡ </a:t>
            </a:r>
            <a:r>
              <a:rPr lang="pt-BR" dirty="0" smtClean="0"/>
              <a:t>15 </a:t>
            </a:r>
            <a:r>
              <a:rPr lang="pt-BR" dirty="0"/>
              <a:t>∗ </a:t>
            </a:r>
            <a:r>
              <a:rPr lang="pt-B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  <a:r>
              <a:rPr lang="pt-BR" dirty="0" smtClean="0"/>
              <a:t>  + 25 </a:t>
            </a:r>
            <a:r>
              <a:rPr lang="pt-BR" dirty="0"/>
              <a:t>∗ </a:t>
            </a:r>
            <a:r>
              <a:rPr lang="pt-BR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  <a:r>
              <a:rPr lang="pt-BR" dirty="0" smtClean="0">
                <a:solidFill>
                  <a:srgbClr val="C00000"/>
                </a:solidFill>
              </a:rPr>
              <a:t> </a:t>
            </a:r>
            <a:r>
              <a:rPr lang="pt-BR" dirty="0" smtClean="0"/>
              <a:t>(mod 26 ) =  810 (mod 26) = </a:t>
            </a:r>
            <a:r>
              <a:rPr lang="pt-B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  <a:p>
            <a:pPr lvl="1">
              <a:lnSpc>
                <a:spcPct val="150000"/>
              </a:lnSpc>
            </a:pPr>
            <a:endParaRPr lang="pt-BR" dirty="0" smtClean="0"/>
          </a:p>
          <a:p>
            <a:pPr lvl="1">
              <a:lnSpc>
                <a:spcPct val="150000"/>
              </a:lnSpc>
            </a:pPr>
            <a:endParaRPr lang="pt-B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dirty="0"/>
              <a:t> Il fera de même avec les 3e et 4e lettres, 5e et 6e, etc. Il obtiendra:</a:t>
            </a:r>
          </a:p>
        </p:txBody>
      </p:sp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35258"/>
              </p:ext>
            </p:extLst>
          </p:nvPr>
        </p:nvGraphicFramePr>
        <p:xfrm>
          <a:off x="611560" y="4545993"/>
          <a:ext cx="7348793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3681"/>
                <a:gridCol w="536635"/>
                <a:gridCol w="536635"/>
                <a:gridCol w="536635"/>
                <a:gridCol w="536635"/>
                <a:gridCol w="536635"/>
                <a:gridCol w="536635"/>
                <a:gridCol w="400434"/>
                <a:gridCol w="400434"/>
                <a:gridCol w="500380"/>
                <a:gridCol w="504054"/>
              </a:tblGrid>
              <a:tr h="247756">
                <a:tc>
                  <a:txBody>
                    <a:bodyPr/>
                    <a:lstStyle/>
                    <a:p>
                      <a:r>
                        <a:rPr lang="fr-FR" b="1" dirty="0" smtClean="0"/>
                        <a:t>Lettres chiffrées 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U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K</a:t>
                      </a:r>
                      <a:endParaRPr lang="fr-FR" b="1" dirty="0">
                        <a:solidFill>
                          <a:srgbClr val="C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 smtClean="0"/>
                        <a:t>Rangs chiffrés (</a:t>
                      </a:r>
                      <a:r>
                        <a:rPr lang="fr-FR" b="1" dirty="0" err="1" smtClean="0"/>
                        <a:t>C</a:t>
                      </a:r>
                      <a:r>
                        <a:rPr lang="fr-FR" b="1" baseline="-25000" dirty="0" err="1" smtClean="0"/>
                        <a:t>k</a:t>
                      </a:r>
                      <a:r>
                        <a:rPr lang="fr-FR" b="1" dirty="0" smtClean="0"/>
                        <a:t>)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19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18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18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6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4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10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 smtClean="0"/>
                        <a:t>Rangs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9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4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14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18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8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4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Lettres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</a:t>
                      </a:r>
                      <a:endParaRPr lang="fr-FR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</a:t>
                      </a:r>
                      <a:endParaRPr lang="fr-FR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</a:t>
                      </a:r>
                      <a:endParaRPr lang="fr-FR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</a:t>
                      </a:r>
                      <a:endParaRPr lang="fr-FR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U</a:t>
                      </a:r>
                      <a:endParaRPr lang="fr-FR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</a:t>
                      </a:r>
                      <a:endParaRPr lang="fr-FR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</a:t>
                      </a:r>
                      <a:endParaRPr lang="fr-FR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</a:t>
                      </a:r>
                      <a:endParaRPr lang="fr-FR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</a:t>
                      </a:r>
                      <a:endParaRPr lang="fr-FR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</a:t>
                      </a:r>
                      <a:endParaRPr lang="fr-FR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640686" y="3056038"/>
                <a:ext cx="1368152" cy="559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fr-FR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686" y="3056038"/>
                <a:ext cx="1368152" cy="55989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627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>
                <a:solidFill>
                  <a:srgbClr val="FF0000"/>
                </a:solidFill>
              </a:rPr>
              <a:t>Substitution poly-alphabétique : Utilisation d’un OU exclusif (XOR)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34244" y="1196752"/>
            <a:ext cx="910975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 Appliquer un </a:t>
            </a:r>
            <a:r>
              <a:rPr lang="fr-FR" b="1" dirty="0">
                <a:solidFill>
                  <a:srgbClr val="C00000"/>
                </a:solidFill>
              </a:rPr>
              <a:t>« OU exclusif » (XOR) </a:t>
            </a:r>
            <a:r>
              <a:rPr lang="fr-FR" dirty="0"/>
              <a:t>entre le texte à chiffrer et la clé.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 L'opération logique XOR ne retourne 1 que si les deux bits comparés sont différents.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/>
              <a:t> Implémentation 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 smtClean="0"/>
              <a:t>On </a:t>
            </a:r>
            <a:r>
              <a:rPr lang="fr-FR" dirty="0"/>
              <a:t>procède </a:t>
            </a:r>
            <a:r>
              <a:rPr lang="fr-FR" b="1" dirty="0">
                <a:solidFill>
                  <a:srgbClr val="C00000"/>
                </a:solidFill>
              </a:rPr>
              <a:t>caractère par caractère</a:t>
            </a:r>
            <a:r>
              <a:rPr lang="fr-FR" dirty="0"/>
              <a:t>,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 smtClean="0"/>
              <a:t>(</a:t>
            </a:r>
            <a:r>
              <a:rPr lang="fr-FR" dirty="0"/>
              <a:t>message ⨁ clé) = </a:t>
            </a:r>
            <a:r>
              <a:rPr lang="fr-FR" dirty="0" err="1"/>
              <a:t>cipher</a:t>
            </a:r>
            <a:r>
              <a:rPr lang="fr-FR" dirty="0"/>
              <a:t> Ex : (Prénom + Nom) = Message chiffré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 smtClean="0"/>
              <a:t>Conversion </a:t>
            </a:r>
            <a:r>
              <a:rPr lang="fr-FR" dirty="0"/>
              <a:t>en binaire : </a:t>
            </a:r>
            <a:r>
              <a:rPr lang="fr-FR" b="1" dirty="0"/>
              <a:t>B</a:t>
            </a:r>
            <a:r>
              <a:rPr lang="fr-FR" dirty="0"/>
              <a:t> = </a:t>
            </a:r>
            <a:r>
              <a:rPr lang="fr-FR" b="1" dirty="0"/>
              <a:t>h42</a:t>
            </a:r>
            <a:r>
              <a:rPr lang="fr-FR" dirty="0"/>
              <a:t> = </a:t>
            </a:r>
            <a:r>
              <a:rPr lang="fr-FR" b="1" dirty="0"/>
              <a:t>66</a:t>
            </a:r>
            <a:r>
              <a:rPr lang="fr-FR" dirty="0"/>
              <a:t> : </a:t>
            </a:r>
            <a:r>
              <a:rPr lang="fr-FR" b="1" dirty="0"/>
              <a:t>D</a:t>
            </a:r>
            <a:r>
              <a:rPr lang="fr-FR" dirty="0"/>
              <a:t> = </a:t>
            </a:r>
            <a:r>
              <a:rPr lang="fr-FR" b="1" dirty="0"/>
              <a:t>h44</a:t>
            </a:r>
            <a:r>
              <a:rPr lang="fr-FR" dirty="0"/>
              <a:t> = </a:t>
            </a:r>
            <a:r>
              <a:rPr lang="fr-FR" b="1" dirty="0"/>
              <a:t>68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fr-FR" dirty="0" smtClean="0"/>
              <a:t>(</a:t>
            </a:r>
            <a:r>
              <a:rPr lang="fr-FR" dirty="0"/>
              <a:t>B =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0100</a:t>
            </a:r>
            <a:r>
              <a:rPr lang="fr-FR" b="1" dirty="0">
                <a:solidFill>
                  <a:srgbClr val="C00000"/>
                </a:solidFill>
              </a:rPr>
              <a:t>0010</a:t>
            </a:r>
            <a:r>
              <a:rPr lang="fr-FR" dirty="0"/>
              <a:t>) ⨁ (D =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0100</a:t>
            </a:r>
            <a:r>
              <a:rPr lang="fr-FR" b="1" dirty="0">
                <a:solidFill>
                  <a:srgbClr val="C00000"/>
                </a:solidFill>
              </a:rPr>
              <a:t>0100</a:t>
            </a:r>
            <a:r>
              <a:rPr lang="fr-FR" dirty="0"/>
              <a:t>) = (0E = </a:t>
            </a:r>
            <a:r>
              <a:rPr lang="fr-FR" b="1" dirty="0" smtClean="0">
                <a:solidFill>
                  <a:srgbClr val="C00000"/>
                </a:solidFill>
              </a:rPr>
              <a:t>0000</a:t>
            </a:r>
            <a:r>
              <a:rPr lang="fr-FR" b="1" dirty="0" smtClean="0">
                <a:solidFill>
                  <a:srgbClr val="FF0000"/>
                </a:solidFill>
              </a:rPr>
              <a:t>0</a:t>
            </a:r>
            <a:r>
              <a:rPr lang="fr-FR" b="1" dirty="0" smtClean="0">
                <a:solidFill>
                  <a:srgbClr val="C00000"/>
                </a:solidFill>
              </a:rPr>
              <a:t>110</a:t>
            </a:r>
            <a:r>
              <a:rPr lang="fr-FR" dirty="0" smtClean="0"/>
              <a:t>)</a:t>
            </a:r>
          </a:p>
          <a:p>
            <a:pPr lvl="1">
              <a:lnSpc>
                <a:spcPct val="150000"/>
              </a:lnSpc>
            </a:pPr>
            <a:r>
              <a:rPr lang="fr-FR" dirty="0" smtClean="0"/>
              <a:t>Les caractères non affichables sont remplacés par leur code en hexadécimal.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dirty="0" smtClean="0"/>
              <a:t> </a:t>
            </a:r>
            <a:r>
              <a:rPr lang="fr-FR" b="1" i="1" dirty="0">
                <a:solidFill>
                  <a:schemeClr val="bg2">
                    <a:lumMod val="75000"/>
                  </a:schemeClr>
                </a:solidFill>
              </a:rPr>
              <a:t>Processus est réversible </a:t>
            </a:r>
            <a:r>
              <a:rPr lang="fr-FR" dirty="0"/>
              <a:t>: si on rechiffre un texte déjà chiffré, avec la même clé, </a:t>
            </a:r>
            <a:r>
              <a:rPr lang="fr-FR" dirty="0" smtClean="0"/>
              <a:t>on obtient </a:t>
            </a:r>
            <a:r>
              <a:rPr lang="fr-FR" dirty="0"/>
              <a:t>le texte en clair.</a:t>
            </a:r>
            <a:endParaRPr lang="fr-FR" b="1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743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>
                <a:solidFill>
                  <a:srgbClr val="FF0000"/>
                </a:solidFill>
              </a:rPr>
              <a:t>Chiffrement par transposition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7504" y="1057106"/>
            <a:ext cx="9001000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Définition</a:t>
            </a:r>
            <a:r>
              <a:rPr lang="fr-FR" sz="24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fr-FR" sz="2200" dirty="0" smtClean="0"/>
              <a:t>Les </a:t>
            </a:r>
            <a:r>
              <a:rPr lang="fr-FR" sz="2200" dirty="0"/>
              <a:t>méthodes de </a:t>
            </a:r>
            <a:r>
              <a:rPr lang="fr-FR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chiffrement par transposition </a:t>
            </a:r>
            <a:r>
              <a:rPr lang="fr-FR" sz="2200" dirty="0"/>
              <a:t>consistent à </a:t>
            </a:r>
            <a:r>
              <a:rPr lang="fr-FR" sz="2200" b="1" dirty="0"/>
              <a:t>réarranger</a:t>
            </a:r>
            <a:r>
              <a:rPr lang="fr-FR" sz="2200" b="1" dirty="0" smtClean="0"/>
              <a:t> </a:t>
            </a:r>
            <a:r>
              <a:rPr lang="fr-FR" sz="2200" dirty="0"/>
              <a:t>les données à chiffrer de telle façon à les rendre incompréhensibles. Il s'agit généralement de réarranger géométriquement les données pour les rendre visuellement inexploitables. </a:t>
            </a:r>
          </a:p>
          <a:p>
            <a:pPr>
              <a:lnSpc>
                <a:spcPct val="150000"/>
              </a:lnSpc>
            </a:pPr>
            <a:r>
              <a:rPr lang="fr-FR" sz="2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Transposition </a:t>
            </a:r>
            <a:r>
              <a:rPr lang="fr-FR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par colonnes :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dirty="0" smtClean="0"/>
              <a:t>On </a:t>
            </a:r>
            <a:r>
              <a:rPr lang="fr-FR" sz="2200" dirty="0"/>
              <a:t>écrit le message </a:t>
            </a:r>
            <a:r>
              <a:rPr lang="fr-FR" sz="2200" dirty="0">
                <a:solidFill>
                  <a:srgbClr val="FF0000"/>
                </a:solidFill>
              </a:rPr>
              <a:t>horizontalement</a:t>
            </a:r>
            <a:r>
              <a:rPr lang="fr-FR" sz="2200" dirty="0"/>
              <a:t> dans une </a:t>
            </a:r>
            <a:r>
              <a:rPr lang="fr-FR" sz="2200" dirty="0">
                <a:solidFill>
                  <a:srgbClr val="FF0000"/>
                </a:solidFill>
              </a:rPr>
              <a:t>matrice prédéfinie</a:t>
            </a:r>
            <a:r>
              <a:rPr lang="fr-FR" sz="2200" dirty="0"/>
              <a:t>, et on </a:t>
            </a:r>
            <a:r>
              <a:rPr lang="fr-FR" sz="2200" dirty="0">
                <a:solidFill>
                  <a:srgbClr val="C00000"/>
                </a:solidFill>
              </a:rPr>
              <a:t>trouve le </a:t>
            </a:r>
            <a:r>
              <a:rPr lang="fr-FR" sz="2200" b="1" dirty="0">
                <a:solidFill>
                  <a:srgbClr val="C00000"/>
                </a:solidFill>
              </a:rPr>
              <a:t>texte à chiffrer en lisant la grille verticalement</a:t>
            </a:r>
            <a:r>
              <a:rPr lang="fr-FR" sz="2200" dirty="0"/>
              <a:t>. </a:t>
            </a:r>
            <a:endParaRPr lang="fr-FR" sz="22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dirty="0" smtClean="0"/>
              <a:t>Le </a:t>
            </a:r>
            <a:r>
              <a:rPr lang="fr-FR" sz="2200" dirty="0"/>
              <a:t>destinataire légal pour déchiffrer le message réalise le procédé inverse.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271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>
                <a:solidFill>
                  <a:srgbClr val="FF0000"/>
                </a:solidFill>
              </a:rPr>
              <a:t>Chiffrement par transposition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7504" y="1057106"/>
            <a:ext cx="9001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Transposition </a:t>
            </a:r>
            <a:r>
              <a:rPr lang="fr-F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simple par colonnes </a:t>
            </a:r>
            <a:r>
              <a:rPr lang="fr-FR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fr-FR" sz="2400" dirty="0"/>
              <a:t>Le message en clair est écrit dans une matrice. La technique de transposition de base consiste à lire la matrice en colonne. </a:t>
            </a:r>
          </a:p>
          <a:p>
            <a:r>
              <a:rPr lang="fr-FR" sz="2400" b="1" dirty="0"/>
              <a:t>Exemple: </a:t>
            </a:r>
            <a:r>
              <a:rPr lang="fr-FR" sz="2400" dirty="0"/>
              <a:t>Une matrice de 4 lignes et 6 </a:t>
            </a:r>
            <a:r>
              <a:rPr lang="fr-FR" sz="2400" dirty="0" smtClean="0"/>
              <a:t>colonnes</a:t>
            </a:r>
          </a:p>
          <a:p>
            <a:r>
              <a:rPr lang="fr-FR" sz="2400" dirty="0"/>
              <a:t>Message en clair: MESSAGE SECRET A TRANSPOSER </a:t>
            </a:r>
          </a:p>
          <a:p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3392349"/>
            <a:ext cx="4445606" cy="1257848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539552" y="5157192"/>
            <a:ext cx="77768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Message chiffré: </a:t>
            </a:r>
            <a:r>
              <a:rPr lang="fr-FR" sz="2000" b="1" dirty="0">
                <a:solidFill>
                  <a:srgbClr val="C00000"/>
                </a:solidFill>
              </a:rPr>
              <a:t>METSESAPSETOSCRSARAEGENR</a:t>
            </a:r>
            <a:r>
              <a:rPr lang="fr-FR" sz="2000" b="1" dirty="0"/>
              <a:t>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631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>
                <a:solidFill>
                  <a:srgbClr val="FF0000"/>
                </a:solidFill>
              </a:rPr>
              <a:t>Chiffrement par transposition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7504" y="1057106"/>
            <a:ext cx="9001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Exercice </a:t>
            </a:r>
            <a:endParaRPr lang="fr-FR" sz="2800" dirty="0"/>
          </a:p>
          <a:p>
            <a:r>
              <a:rPr lang="fr-FR" sz="2800" dirty="0"/>
              <a:t>Déchiffrer les suivant en utilisant la matrice 5x4 </a:t>
            </a:r>
            <a:r>
              <a:rPr lang="fr-FR" sz="2800" dirty="0" smtClean="0"/>
              <a:t>:</a:t>
            </a:r>
          </a:p>
          <a:p>
            <a:r>
              <a:rPr lang="fr-FR" sz="2800" dirty="0" smtClean="0"/>
              <a:t>IEPRYLCTAOROPVYGH </a:t>
            </a:r>
            <a:endParaRPr lang="fr-FR" sz="2800" dirty="0"/>
          </a:p>
          <a:p>
            <a:endParaRPr lang="fr-FR" sz="2400" dirty="0" smtClean="0"/>
          </a:p>
        </p:txBody>
      </p:sp>
    </p:spTree>
    <p:extLst>
      <p:ext uri="{BB962C8B-B14F-4D97-AF65-F5344CB8AC3E}">
        <p14:creationId xmlns:p14="http://schemas.microsoft.com/office/powerpoint/2010/main" val="2720324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>
                <a:solidFill>
                  <a:srgbClr val="FF0000"/>
                </a:solidFill>
              </a:rPr>
              <a:t>Chiffrement par transposition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7504" y="1057106"/>
            <a:ext cx="9001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Exercice </a:t>
            </a:r>
            <a:endParaRPr lang="fr-FR" sz="2400" dirty="0"/>
          </a:p>
          <a:p>
            <a:r>
              <a:rPr lang="fr-FR" sz="2400" dirty="0"/>
              <a:t>Déchiffrer les suivant en utilisant la matrice 5x4 </a:t>
            </a:r>
            <a:r>
              <a:rPr lang="fr-FR" sz="2400" dirty="0" smtClean="0"/>
              <a:t>:</a:t>
            </a:r>
          </a:p>
          <a:p>
            <a:r>
              <a:rPr lang="fr-FR" sz="2400" b="1" dirty="0" smtClean="0">
                <a:solidFill>
                  <a:srgbClr val="C00000"/>
                </a:solidFill>
              </a:rPr>
              <a:t>IEPRY</a:t>
            </a:r>
            <a:r>
              <a:rPr lang="fr-FR" sz="2400" dirty="0" smtClean="0">
                <a:solidFill>
                  <a:srgbClr val="FF0000"/>
                </a:solidFill>
              </a:rPr>
              <a:t>LCTA</a:t>
            </a:r>
            <a:r>
              <a:rPr lang="fr-FR" sz="2400" dirty="0" smtClean="0">
                <a:solidFill>
                  <a:srgbClr val="C00000"/>
                </a:solidFill>
              </a:rPr>
              <a:t>OROPVYGH</a:t>
            </a:r>
            <a:r>
              <a:rPr lang="fr-FR" sz="2400" dirty="0" smtClean="0"/>
              <a:t> </a:t>
            </a:r>
            <a:endParaRPr lang="fr-FR" sz="2400" dirty="0"/>
          </a:p>
          <a:p>
            <a:endParaRPr lang="fr-FR" sz="2400" dirty="0" smtClean="0"/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210874"/>
              </p:ext>
            </p:extLst>
          </p:nvPr>
        </p:nvGraphicFramePr>
        <p:xfrm>
          <a:off x="3059832" y="2492896"/>
          <a:ext cx="1306964" cy="1871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475"/>
                <a:gridCol w="309045"/>
                <a:gridCol w="334799"/>
                <a:gridCol w="302645"/>
              </a:tblGrid>
              <a:tr h="288032">
                <a:tc>
                  <a:txBody>
                    <a:bodyPr/>
                    <a:lstStyle/>
                    <a:p>
                      <a:r>
                        <a:rPr lang="fr-FR" sz="1800" dirty="0" smtClean="0"/>
                        <a:t>I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 smtClean="0"/>
                        <a:t>L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 smtClean="0"/>
                        <a:t>O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 smtClean="0"/>
                        <a:t>V</a:t>
                      </a:r>
                      <a:endParaRPr lang="fr-FR" dirty="0" smtClean="0"/>
                    </a:p>
                  </a:txBody>
                  <a:tcPr/>
                </a:tc>
              </a:tr>
              <a:tr h="3296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 smtClean="0"/>
                        <a:t>E</a:t>
                      </a:r>
                      <a:endParaRPr lang="fr-F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 smtClean="0"/>
                        <a:t>C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 smtClean="0"/>
                        <a:t>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Y</a:t>
                      </a:r>
                      <a:endParaRPr lang="fr-FR" dirty="0"/>
                    </a:p>
                  </a:txBody>
                  <a:tcPr/>
                </a:tc>
              </a:tr>
              <a:tr h="329698">
                <a:tc>
                  <a:txBody>
                    <a:bodyPr/>
                    <a:lstStyle/>
                    <a:p>
                      <a:r>
                        <a:rPr lang="fr-FR" sz="1800" dirty="0" smtClean="0"/>
                        <a:t>P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O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G</a:t>
                      </a:r>
                      <a:endParaRPr lang="fr-FR" dirty="0"/>
                    </a:p>
                  </a:txBody>
                  <a:tcPr/>
                </a:tc>
              </a:tr>
              <a:tr h="4089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smtClean="0"/>
                        <a:t>R </a:t>
                      </a:r>
                      <a:endParaRPr lang="fr-FR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P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H</a:t>
                      </a:r>
                      <a:endParaRPr lang="fr-FR" dirty="0"/>
                    </a:p>
                  </a:txBody>
                  <a:tcPr/>
                </a:tc>
              </a:tr>
              <a:tr h="329698">
                <a:tc>
                  <a:txBody>
                    <a:bodyPr/>
                    <a:lstStyle/>
                    <a:p>
                      <a:r>
                        <a:rPr lang="fr-FR" dirty="0" smtClean="0"/>
                        <a:t>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ZoneTexte 8"/>
          <p:cNvSpPr txBox="1"/>
          <p:nvPr/>
        </p:nvSpPr>
        <p:spPr>
          <a:xfrm>
            <a:off x="251520" y="5085184"/>
            <a:ext cx="77768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Solution </a:t>
            </a:r>
            <a:endParaRPr lang="fr-FR" sz="2400" dirty="0"/>
          </a:p>
          <a:p>
            <a:r>
              <a:rPr lang="fr-FR" sz="2400" dirty="0" smtClean="0"/>
              <a:t>I </a:t>
            </a:r>
            <a:r>
              <a:rPr lang="fr-FR" sz="2400" dirty="0"/>
              <a:t>LOVE CRYPTOGRAPHY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219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>
                <a:solidFill>
                  <a:srgbClr val="FF0000"/>
                </a:solidFill>
              </a:rPr>
              <a:t>Chiffrement par transposition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7504" y="1057106"/>
            <a:ext cx="9001000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Transposition </a:t>
            </a:r>
            <a:r>
              <a:rPr lang="fr-FR" sz="24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complexe par colonnes :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b="1" dirty="0" smtClean="0">
                <a:solidFill>
                  <a:srgbClr val="C00000"/>
                </a:solidFill>
              </a:rPr>
              <a:t>Une </a:t>
            </a:r>
            <a:r>
              <a:rPr lang="fr-FR" sz="2200" b="1" dirty="0">
                <a:solidFill>
                  <a:srgbClr val="C00000"/>
                </a:solidFill>
              </a:rPr>
              <a:t>clé secrète </a:t>
            </a:r>
            <a:r>
              <a:rPr lang="fr-FR" sz="2200" dirty="0"/>
              <a:t>(avec uniquement des caractères ) est utilisé pour </a:t>
            </a:r>
            <a:r>
              <a:rPr lang="fr-FR" sz="2200" b="1" dirty="0"/>
              <a:t>dériver une séquence de chiffres commençant à 1 et finissant au nombre de lettres de la clé. </a:t>
            </a:r>
            <a:endParaRPr lang="fr-FR" sz="2200" b="1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dirty="0" smtClean="0"/>
              <a:t>Cette </a:t>
            </a:r>
            <a:r>
              <a:rPr lang="fr-FR" sz="2200" dirty="0"/>
              <a:t>séquence </a:t>
            </a:r>
            <a:r>
              <a:rPr lang="fr-FR" sz="2200" b="1" dirty="0"/>
              <a:t>est obtenue en numérotant les lettres de la clé en partant de la gauche vers la droite et en donnant l’ordre d’apparition dans l’alphabet</a:t>
            </a:r>
            <a:r>
              <a:rPr lang="fr-FR" sz="2200" dirty="0"/>
              <a:t>. </a:t>
            </a:r>
            <a:endParaRPr lang="fr-FR" sz="2200" dirty="0" smtClean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200" dirty="0" smtClean="0"/>
              <a:t>On </a:t>
            </a:r>
            <a:r>
              <a:rPr lang="fr-FR" sz="2200" b="1" dirty="0"/>
              <a:t>chiffre en écrivant d’abord le message par lignes dans un rectangle , puis on lit le texte par colonnes en suivant l’ordre déterminé par la séquence</a:t>
            </a:r>
            <a:r>
              <a:rPr lang="fr-FR" sz="2200" dirty="0"/>
              <a:t>. </a:t>
            </a:r>
          </a:p>
          <a:p>
            <a:endParaRPr lang="fr-FR" sz="2400" dirty="0" smtClean="0"/>
          </a:p>
        </p:txBody>
      </p:sp>
    </p:spTree>
    <p:extLst>
      <p:ext uri="{BB962C8B-B14F-4D97-AF65-F5344CB8AC3E}">
        <p14:creationId xmlns:p14="http://schemas.microsoft.com/office/powerpoint/2010/main" val="69281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>
                <a:solidFill>
                  <a:srgbClr val="FF0000"/>
                </a:solidFill>
              </a:rPr>
              <a:t>Chiffrement par transposition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7504" y="1057106"/>
            <a:ext cx="9001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Exemple </a:t>
            </a:r>
            <a:r>
              <a:rPr lang="fr-FR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Prenons </a:t>
            </a:r>
            <a:r>
              <a:rPr lang="fr-F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l'exemple la clef : DELIVRANCE</a:t>
            </a:r>
            <a:endParaRPr lang="fr-FR" sz="24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832" y="1983038"/>
            <a:ext cx="3445037" cy="814219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107504" y="3140968"/>
            <a:ext cx="898675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dirty="0" smtClean="0"/>
              <a:t>on </a:t>
            </a:r>
            <a:r>
              <a:rPr lang="fr-FR" sz="2400" dirty="0"/>
              <a:t>souhaite chiffrer est : "VENEZ NOUS AIDER AU PORT DE BREST" : </a:t>
            </a:r>
          </a:p>
          <a:p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006" y="4050122"/>
            <a:ext cx="4061517" cy="832313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07504" y="5178663"/>
            <a:ext cx="90364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Message chiffré: </a:t>
            </a:r>
            <a:r>
              <a:rPr lang="fr-FR" sz="2400" b="1" dirty="0" smtClean="0">
                <a:solidFill>
                  <a:srgbClr val="C00000"/>
                </a:solidFill>
              </a:rPr>
              <a:t>OPT</a:t>
            </a:r>
            <a:r>
              <a:rPr lang="fr-FR" sz="2400" b="1" dirty="0" smtClean="0">
                <a:solidFill>
                  <a:srgbClr val="FF0000"/>
                </a:solidFill>
              </a:rPr>
              <a:t>SR</a:t>
            </a:r>
            <a:r>
              <a:rPr lang="fr-FR" sz="2400" b="1" dirty="0" smtClean="0">
                <a:solidFill>
                  <a:srgbClr val="C00000"/>
                </a:solidFill>
              </a:rPr>
              <a:t>VID</a:t>
            </a:r>
            <a:r>
              <a:rPr lang="fr-FR" sz="2400" b="1" dirty="0" smtClean="0">
                <a:solidFill>
                  <a:srgbClr val="FF0000"/>
                </a:solidFill>
              </a:rPr>
              <a:t>EDE</a:t>
            </a:r>
            <a:r>
              <a:rPr lang="fr-FR" sz="2400" b="1" dirty="0" smtClean="0"/>
              <a:t>ATERRNEBUONUSZAE </a:t>
            </a:r>
            <a:endParaRPr lang="fr-FR" sz="24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313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>
                <a:solidFill>
                  <a:srgbClr val="FF0000"/>
                </a:solidFill>
              </a:rPr>
              <a:t>Chiffrement par transposition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7504" y="1057106"/>
            <a:ext cx="90010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r>
              <a:rPr lang="fr-FR" sz="24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Transposition complexe par colonnes : </a:t>
            </a:r>
          </a:p>
          <a:p>
            <a:endParaRPr lang="fr-FR" sz="2400" dirty="0"/>
          </a:p>
          <a:p>
            <a:r>
              <a:rPr lang="fr-FR" sz="2400" b="1" dirty="0" smtClean="0"/>
              <a:t>Exercice</a:t>
            </a:r>
            <a:r>
              <a:rPr lang="fr-FR" sz="2400" b="1" dirty="0"/>
              <a:t>: </a:t>
            </a:r>
            <a:endParaRPr lang="fr-FR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 smtClean="0"/>
              <a:t>Chiffrer </a:t>
            </a:r>
            <a:r>
              <a:rPr lang="fr-FR" sz="2400" dirty="0"/>
              <a:t>"Je suis en Italie avec Maria " par la clé BIBMATH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 smtClean="0"/>
              <a:t>Déchiffrer </a:t>
            </a:r>
            <a:r>
              <a:rPr lang="fr-FR" sz="2400" dirty="0"/>
              <a:t>"BUNNA EDRME RDEQE NMIAE TON " avec la clé CHAT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 smtClean="0"/>
              <a:t>Déchiffrer </a:t>
            </a:r>
            <a:r>
              <a:rPr lang="fr-FR" sz="2400" dirty="0"/>
              <a:t>" VTGUR SDEAEM SCRRS UCEOEE ZPAEYS " avec la clé DELIVRANCE </a:t>
            </a:r>
            <a:endParaRPr lang="fr-FR" sz="24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19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3447" y="-48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>
                <a:solidFill>
                  <a:srgbClr val="FF0000"/>
                </a:solidFill>
              </a:rPr>
              <a:t>Chiffrement par transposition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7504" y="1057106"/>
            <a:ext cx="90010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Transposition </a:t>
            </a:r>
            <a:r>
              <a:rPr lang="fr-FR" sz="24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complexe par colonnes : </a:t>
            </a:r>
          </a:p>
          <a:p>
            <a:r>
              <a:rPr lang="fr-FR" sz="2000" b="1" dirty="0" smtClean="0"/>
              <a:t>Exercice</a:t>
            </a:r>
            <a:r>
              <a:rPr lang="fr-FR" sz="2000" b="1" dirty="0"/>
              <a:t>: </a:t>
            </a:r>
            <a:endParaRPr lang="fr-FR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000" dirty="0" smtClean="0"/>
              <a:t>Chiffrer </a:t>
            </a:r>
            <a:r>
              <a:rPr lang="fr-FR" sz="2000" dirty="0"/>
              <a:t>"Je suis en Italie avec Maria " par la clé BIBMATH </a:t>
            </a: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52861"/>
              </p:ext>
            </p:extLst>
          </p:nvPr>
        </p:nvGraphicFramePr>
        <p:xfrm>
          <a:off x="1403648" y="2378374"/>
          <a:ext cx="6095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6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7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4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B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I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B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M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H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J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I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I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L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I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V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C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M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R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I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X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X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X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X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X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683568" y="5229200"/>
            <a:ext cx="6624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sz="2000" b="1" dirty="0" smtClean="0"/>
              <a:t>ILM JNAI STE EER EIVA UAC SIA</a:t>
            </a:r>
          </a:p>
        </p:txBody>
      </p:sp>
    </p:spTree>
    <p:extLst>
      <p:ext uri="{BB962C8B-B14F-4D97-AF65-F5344CB8AC3E}">
        <p14:creationId xmlns:p14="http://schemas.microsoft.com/office/powerpoint/2010/main" val="86590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>
                <a:solidFill>
                  <a:srgbClr val="FF0000"/>
                </a:solidFill>
              </a:rPr>
              <a:t>Chiffrement par transposition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7504" y="966944"/>
            <a:ext cx="9001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Transposition </a:t>
            </a:r>
            <a:r>
              <a:rPr lang="fr-FR" sz="24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complexe par colonnes : </a:t>
            </a:r>
          </a:p>
          <a:p>
            <a:r>
              <a:rPr lang="fr-FR" sz="2400" b="1" dirty="0" smtClean="0"/>
              <a:t>Exercice</a:t>
            </a:r>
            <a:r>
              <a:rPr lang="fr-FR" sz="2400" b="1" dirty="0"/>
              <a:t>: </a:t>
            </a:r>
            <a:endParaRPr lang="fr-FR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2"/>
            </a:pPr>
            <a:r>
              <a:rPr lang="fr-FR" sz="2400" dirty="0" smtClean="0"/>
              <a:t>Déchiffrer </a:t>
            </a:r>
            <a:r>
              <a:rPr lang="fr-FR" sz="2400" dirty="0"/>
              <a:t>"BUNNA EDRME RDEQE NMIAE TON " avec la clé CHAT </a:t>
            </a: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627971"/>
              </p:ext>
            </p:extLst>
          </p:nvPr>
        </p:nvGraphicFramePr>
        <p:xfrm>
          <a:off x="1506252" y="2905936"/>
          <a:ext cx="609600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C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H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4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D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B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Q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</a:t>
                      </a:r>
                      <a:endParaRPr lang="fr-FR" dirty="0"/>
                    </a:p>
                  </a:txBody>
                  <a:tcPr/>
                </a:tc>
              </a:tr>
              <a:tr h="246557">
                <a:tc>
                  <a:txBody>
                    <a:bodyPr/>
                    <a:lstStyle/>
                    <a:p>
                      <a:r>
                        <a:rPr lang="fr-FR" dirty="0" smtClean="0"/>
                        <a:t>M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O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M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N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D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I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X</a:t>
                      </a:r>
                      <a:endParaRPr lang="fr-FR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827584" y="6021288"/>
            <a:ext cx="792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fr-FR" dirty="0"/>
              <a:t> </a:t>
            </a:r>
            <a:r>
              <a:rPr lang="fr-FR" b="1" dirty="0"/>
              <a:t>DEBARQUEMENT EN NORMANDIE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192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>
                <a:solidFill>
                  <a:srgbClr val="FF0000"/>
                </a:solidFill>
              </a:rPr>
              <a:t>Chiffrement par transposition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7504" y="1057106"/>
            <a:ext cx="9001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Transposition </a:t>
            </a:r>
            <a:r>
              <a:rPr lang="fr-FR" sz="24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complexe par colonnes : </a:t>
            </a:r>
          </a:p>
          <a:p>
            <a:r>
              <a:rPr lang="fr-FR" sz="2400" b="1" dirty="0" smtClean="0"/>
              <a:t>Exercice</a:t>
            </a:r>
            <a:r>
              <a:rPr lang="fr-FR" sz="2400" b="1" dirty="0"/>
              <a:t>: </a:t>
            </a:r>
            <a:endParaRPr lang="fr-FR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fr-FR" sz="2400" dirty="0" smtClean="0"/>
              <a:t>Déchiffrer </a:t>
            </a:r>
            <a:r>
              <a:rPr lang="fr-FR" sz="2400" dirty="0">
                <a:solidFill>
                  <a:srgbClr val="FF0000"/>
                </a:solidFill>
              </a:rPr>
              <a:t>" VTGUR SDE</a:t>
            </a:r>
            <a:r>
              <a:rPr lang="fr-FR" sz="2400" dirty="0"/>
              <a:t>AEM </a:t>
            </a:r>
            <a:r>
              <a:rPr lang="fr-FR" sz="2400" dirty="0">
                <a:solidFill>
                  <a:srgbClr val="FF0000"/>
                </a:solidFill>
              </a:rPr>
              <a:t>SC</a:t>
            </a: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RRS</a:t>
            </a:r>
            <a:r>
              <a:rPr lang="fr-FR" sz="2400" dirty="0"/>
              <a:t> </a:t>
            </a:r>
            <a:r>
              <a:rPr lang="fr-FR" sz="2400" dirty="0">
                <a:solidFill>
                  <a:srgbClr val="FF0000"/>
                </a:solidFill>
              </a:rPr>
              <a:t>UCE</a:t>
            </a:r>
            <a:r>
              <a:rPr lang="fr-FR" sz="2400" dirty="0">
                <a:solidFill>
                  <a:schemeClr val="accent2">
                    <a:lumMod val="75000"/>
                  </a:schemeClr>
                </a:solidFill>
              </a:rPr>
              <a:t>OEE</a:t>
            </a:r>
            <a:r>
              <a:rPr lang="fr-FR" sz="2400" dirty="0">
                <a:solidFill>
                  <a:srgbClr val="FF0000"/>
                </a:solidFill>
              </a:rPr>
              <a:t> ZP</a:t>
            </a:r>
            <a:r>
              <a:rPr lang="fr-FR" sz="2400" dirty="0"/>
              <a:t>AEYS " avec la clé DELIVRANCE </a:t>
            </a:r>
            <a:endParaRPr lang="fr-FR" sz="24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700446"/>
              </p:ext>
            </p:extLst>
          </p:nvPr>
        </p:nvGraphicFramePr>
        <p:xfrm>
          <a:off x="1560004" y="3086260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D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L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I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V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C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4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7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6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9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8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5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U</a:t>
                      </a:r>
                      <a:endParaRPr lang="fr-FR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R</a:t>
                      </a:r>
                      <a:endParaRPr lang="fr-FR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Z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V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O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S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D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C</a:t>
                      </a:r>
                      <a:endParaRPr lang="fr-FR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R</a:t>
                      </a:r>
                      <a:endParaRPr lang="fr-FR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P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C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M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E</a:t>
                      </a:r>
                      <a:endParaRPr lang="fr-FR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</a:t>
                      </a:r>
                      <a:endParaRPr lang="fr-FR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A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G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X</a:t>
                      </a:r>
                      <a:endParaRPr lang="fr-FR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X</a:t>
                      </a:r>
                      <a:endParaRPr lang="fr-FR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611560" y="5157192"/>
            <a:ext cx="770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fr-FR" b="1" dirty="0"/>
              <a:t> SAUREZ VOUS DECRYPTER DE MESSAGE </a:t>
            </a:r>
            <a:endParaRPr lang="fr-FR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766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ZoneTexte 116"/>
          <p:cNvSpPr txBox="1"/>
          <p:nvPr/>
        </p:nvSpPr>
        <p:spPr>
          <a:xfrm>
            <a:off x="4139952" y="76562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 classique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-14288" y="-13600"/>
            <a:ext cx="4154240" cy="54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à la 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Cryptographie</a:t>
            </a:r>
          </a:p>
        </p:txBody>
      </p:sp>
      <p:sp>
        <p:nvSpPr>
          <p:cNvPr id="119" name="ZoneTexte 118"/>
          <p:cNvSpPr txBox="1"/>
          <p:nvPr/>
        </p:nvSpPr>
        <p:spPr>
          <a:xfrm>
            <a:off x="0" y="566834"/>
            <a:ext cx="9108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i="1" dirty="0">
                <a:solidFill>
                  <a:srgbClr val="FF0000"/>
                </a:solidFill>
              </a:rPr>
              <a:t>Chiffrement par transposition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07504" y="1057106"/>
            <a:ext cx="90010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r>
              <a:rPr lang="fr-FR" sz="24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Transposition complexe par colonnes : </a:t>
            </a:r>
          </a:p>
          <a:p>
            <a:endParaRPr lang="fr-FR" sz="2400" dirty="0"/>
          </a:p>
          <a:p>
            <a:r>
              <a:rPr lang="fr-FR" sz="2800" b="1" dirty="0" smtClean="0"/>
              <a:t>Solution </a:t>
            </a:r>
            <a:r>
              <a:rPr lang="fr-FR" sz="2800" b="1" dirty="0"/>
              <a:t>: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i-FI" sz="2800" dirty="0" smtClean="0"/>
              <a:t> </a:t>
            </a:r>
            <a:r>
              <a:rPr lang="fi-FI" sz="2800" dirty="0"/>
              <a:t>ILMJN AISTE EEREI VAUAC SIA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 smtClean="0"/>
              <a:t> </a:t>
            </a:r>
            <a:r>
              <a:rPr lang="fr-FR" sz="2800" dirty="0"/>
              <a:t>DEBARQUEMENT EN NORMANDIE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fr-FR" sz="2800" dirty="0" smtClean="0"/>
              <a:t> </a:t>
            </a:r>
            <a:r>
              <a:rPr lang="fr-FR" sz="2800" dirty="0"/>
              <a:t>SAUREZ VOUS DECRYPTER DE MESSAGE </a:t>
            </a:r>
            <a:endParaRPr lang="fr-FR" sz="28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8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WordArt 2"/>
          <p:cNvSpPr>
            <a:spLocks noChangeArrowheads="1" noChangeShapeType="1" noTextEdit="1"/>
          </p:cNvSpPr>
          <p:nvPr/>
        </p:nvSpPr>
        <p:spPr bwMode="gray">
          <a:xfrm>
            <a:off x="304800" y="2371725"/>
            <a:ext cx="5181600" cy="6858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fr-FR" sz="5400" b="1" kern="10">
                <a:ln w="25400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50000">
                      <a:schemeClr val="tx2">
                        <a:gamma/>
                        <a:tint val="57255"/>
                        <a:invGamma/>
                      </a:schemeClr>
                    </a:gs>
                    <a:gs pos="100000">
                      <a:schemeClr val="tx2"/>
                    </a:gs>
                  </a:gsLst>
                  <a:lin ang="0" scaled="1"/>
                </a:gradFill>
                <a:effectLst>
                  <a:outerShdw dist="71842" dir="2700000" algn="ctr" rotWithShape="0">
                    <a:schemeClr val="tx1">
                      <a:alpha val="50000"/>
                    </a:scheme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Thank You!</a:t>
            </a:r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28600" y="3200400"/>
            <a:ext cx="5289550" cy="457200"/>
          </a:xfrm>
        </p:spPr>
        <p:txBody>
          <a:bodyPr/>
          <a:lstStyle/>
          <a:p>
            <a:endParaRPr lang="en-US" alt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C1D0DD"/>
      </a:lt1>
      <a:dk2>
        <a:srgbClr val="335175"/>
      </a:dk2>
      <a:lt2>
        <a:srgbClr val="7C92B6"/>
      </a:lt2>
      <a:accent1>
        <a:srgbClr val="4B93D5"/>
      </a:accent1>
      <a:accent2>
        <a:srgbClr val="65B737"/>
      </a:accent2>
      <a:accent3>
        <a:srgbClr val="DDE4EB"/>
      </a:accent3>
      <a:accent4>
        <a:srgbClr val="000000"/>
      </a:accent4>
      <a:accent5>
        <a:srgbClr val="B1C8E7"/>
      </a:accent5>
      <a:accent6>
        <a:srgbClr val="5BA631"/>
      </a:accent6>
      <a:hlink>
        <a:srgbClr val="CF9F49"/>
      </a:hlink>
      <a:folHlink>
        <a:srgbClr val="C382D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CAD4CF"/>
        </a:lt1>
        <a:dk2>
          <a:srgbClr val="425462"/>
        </a:dk2>
        <a:lt2>
          <a:srgbClr val="768A7B"/>
        </a:lt2>
        <a:accent1>
          <a:srgbClr val="DE608D"/>
        </a:accent1>
        <a:accent2>
          <a:srgbClr val="35ADE3"/>
        </a:accent2>
        <a:accent3>
          <a:srgbClr val="E1E6E4"/>
        </a:accent3>
        <a:accent4>
          <a:srgbClr val="000000"/>
        </a:accent4>
        <a:accent5>
          <a:srgbClr val="ECB6C5"/>
        </a:accent5>
        <a:accent6>
          <a:srgbClr val="2F9CCE"/>
        </a:accent6>
        <a:hlink>
          <a:srgbClr val="F6AE44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C1D0DD"/>
        </a:lt1>
        <a:dk2>
          <a:srgbClr val="335175"/>
        </a:dk2>
        <a:lt2>
          <a:srgbClr val="7C92B6"/>
        </a:lt2>
        <a:accent1>
          <a:srgbClr val="4B93D5"/>
        </a:accent1>
        <a:accent2>
          <a:srgbClr val="65B737"/>
        </a:accent2>
        <a:accent3>
          <a:srgbClr val="DDE4EB"/>
        </a:accent3>
        <a:accent4>
          <a:srgbClr val="000000"/>
        </a:accent4>
        <a:accent5>
          <a:srgbClr val="B1C8E7"/>
        </a:accent5>
        <a:accent6>
          <a:srgbClr val="5BA631"/>
        </a:accent6>
        <a:hlink>
          <a:srgbClr val="CF9F49"/>
        </a:hlink>
        <a:folHlink>
          <a:srgbClr val="C382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DDD3C9"/>
        </a:lt1>
        <a:dk2>
          <a:srgbClr val="514639"/>
        </a:dk2>
        <a:lt2>
          <a:srgbClr val="A7938B"/>
        </a:lt2>
        <a:accent1>
          <a:srgbClr val="BF9733"/>
        </a:accent1>
        <a:accent2>
          <a:srgbClr val="7FB22C"/>
        </a:accent2>
        <a:accent3>
          <a:srgbClr val="EBE6E1"/>
        </a:accent3>
        <a:accent4>
          <a:srgbClr val="000000"/>
        </a:accent4>
        <a:accent5>
          <a:srgbClr val="DCC9AD"/>
        </a:accent5>
        <a:accent6>
          <a:srgbClr val="72A127"/>
        </a:accent6>
        <a:hlink>
          <a:srgbClr val="D56575"/>
        </a:hlink>
        <a:folHlink>
          <a:srgbClr val="4E8FC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571TGp_business_light</Template>
  <TotalTime>14632</TotalTime>
  <Words>4950</Words>
  <Application>Microsoft Office PowerPoint</Application>
  <PresentationFormat>Affichage à l'écran (4:3)</PresentationFormat>
  <Paragraphs>1131</Paragraphs>
  <Slides>62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62</vt:i4>
      </vt:variant>
    </vt:vector>
  </HeadingPairs>
  <TitlesOfParts>
    <vt:vector size="71" baseType="lpstr">
      <vt:lpstr>Arial</vt:lpstr>
      <vt:lpstr>Arial Black</vt:lpstr>
      <vt:lpstr>Calibri</vt:lpstr>
      <vt:lpstr>Cambria Math</vt:lpstr>
      <vt:lpstr>Courier New</vt:lpstr>
      <vt:lpstr>Times New Roman</vt:lpstr>
      <vt:lpstr>Verdana</vt:lpstr>
      <vt:lpstr>Wingdings</vt:lpstr>
      <vt:lpstr>Default Design</vt:lpstr>
      <vt:lpstr>Chapitre 2: Cryptographie asymétrique</vt:lpstr>
      <vt:lpstr>Contenu du cours 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ThemeGallery PowerTemplate</dc:title>
  <dc:creator>lenovo</dc:creator>
  <cp:lastModifiedBy>lenovo</cp:lastModifiedBy>
  <cp:revision>901</cp:revision>
  <dcterms:created xsi:type="dcterms:W3CDTF">2025-01-23T13:30:53Z</dcterms:created>
  <dcterms:modified xsi:type="dcterms:W3CDTF">2025-02-25T10:36:09Z</dcterms:modified>
</cp:coreProperties>
</file>