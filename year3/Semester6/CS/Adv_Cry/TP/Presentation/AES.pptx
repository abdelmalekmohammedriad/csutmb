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9" r:id="rId3"/>
    <p:sldId id="260" r:id="rId4"/>
    <p:sldId id="287" r:id="rId5"/>
    <p:sldId id="288" r:id="rId6"/>
    <p:sldId id="289" r:id="rId7"/>
    <p:sldId id="291" r:id="rId8"/>
    <p:sldId id="292" r:id="rId9"/>
    <p:sldId id="290" r:id="rId10"/>
    <p:sldId id="293" r:id="rId11"/>
    <p:sldId id="294" r:id="rId12"/>
    <p:sldId id="295" r:id="rId13"/>
    <p:sldId id="266" r:id="rId14"/>
    <p:sldId id="269" r:id="rId15"/>
    <p:sldId id="271" r:id="rId16"/>
    <p:sldId id="263" r:id="rId17"/>
    <p:sldId id="273" r:id="rId18"/>
    <p:sldId id="272" r:id="rId19"/>
    <p:sldId id="270" r:id="rId20"/>
    <p:sldId id="261" r:id="rId21"/>
    <p:sldId id="274" r:id="rId22"/>
    <p:sldId id="267" r:id="rId23"/>
    <p:sldId id="275" r:id="rId24"/>
    <p:sldId id="276" r:id="rId25"/>
    <p:sldId id="279" r:id="rId26"/>
    <p:sldId id="278" r:id="rId27"/>
    <p:sldId id="258" r:id="rId28"/>
    <p:sldId id="280" r:id="rId29"/>
    <p:sldId id="262" r:id="rId30"/>
    <p:sldId id="282" r:id="rId31"/>
    <p:sldId id="283" r:id="rId32"/>
    <p:sldId id="264" r:id="rId33"/>
    <p:sldId id="284" r:id="rId34"/>
    <p:sldId id="281" r:id="rId35"/>
    <p:sldId id="265" r:id="rId36"/>
  </p:sldIdLst>
  <p:sldSz cx="18288000" cy="10287000"/>
  <p:notesSz cx="6858000" cy="9144000"/>
  <p:embeddedFontLst>
    <p:embeddedFont>
      <p:font typeface="Nunito Sans Condensed Heavy" panose="020B0604020202020204" charset="0"/>
      <p:regular r:id="rId37"/>
    </p:embeddedFont>
    <p:embeddedFont>
      <p:font typeface="Nunito Sans Condensed Ultra-Bold" panose="020B0604020202020204" charset="0"/>
      <p:regular r:id="rId38"/>
    </p:embeddedFont>
    <p:embeddedFont>
      <p:font typeface="Poppins" panose="00000500000000000000" pitchFamily="2" charset="0"/>
      <p:regular r:id="rId39"/>
      <p:bold r:id="rId40"/>
      <p:italic r:id="rId41"/>
      <p:boldItalic r:id="rId42"/>
    </p:embeddedFont>
    <p:embeddedFont>
      <p:font typeface="Roboto" panose="02000000000000000000" pitchFamily="2" charset="0"/>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43"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9.svg"/><Relationship Id="rId5" Type="http://schemas.openxmlformats.org/officeDocument/2006/relationships/image" Target="../media/image13.svg"/><Relationship Id="rId10"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20.sv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svg"/><Relationship Id="rId10" Type="http://schemas.openxmlformats.org/officeDocument/2006/relationships/image" Target="../media/image21.png"/><Relationship Id="rId4" Type="http://schemas.openxmlformats.org/officeDocument/2006/relationships/image" Target="../media/image8.png"/><Relationship Id="rId9"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svg"/><Relationship Id="rId10" Type="http://schemas.openxmlformats.org/officeDocument/2006/relationships/image" Target="../media/image22.png"/><Relationship Id="rId4" Type="http://schemas.openxmlformats.org/officeDocument/2006/relationships/image" Target="../media/image8.png"/><Relationship Id="rId9" Type="http://schemas.openxmlformats.org/officeDocument/2006/relationships/image" Target="../media/image20.sv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svg"/><Relationship Id="rId10"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20.sv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5.svg"/><Relationship Id="rId7" Type="http://schemas.openxmlformats.org/officeDocument/2006/relationships/image" Target="../media/image18.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20.svg"/><Relationship Id="rId10" Type="http://schemas.openxmlformats.org/officeDocument/2006/relationships/image" Target="../media/image9.svg"/><Relationship Id="rId4" Type="http://schemas.openxmlformats.org/officeDocument/2006/relationships/image" Target="../media/image19.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svg"/><Relationship Id="rId10" Type="http://schemas.openxmlformats.org/officeDocument/2006/relationships/image" Target="../media/image25.png"/><Relationship Id="rId4" Type="http://schemas.openxmlformats.org/officeDocument/2006/relationships/image" Target="../media/image8.png"/><Relationship Id="rId9" Type="http://schemas.openxmlformats.org/officeDocument/2006/relationships/image" Target="../media/image20.svg"/></Relationships>
</file>

<file path=ppt/slides/_rels/slide10.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5.svg"/><Relationship Id="rId7"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7.png"/><Relationship Id="rId5" Type="http://schemas.openxmlformats.org/officeDocument/2006/relationships/image" Target="../media/image20.svg"/><Relationship Id="rId10" Type="http://schemas.openxmlformats.org/officeDocument/2006/relationships/image" Target="../media/image9.svg"/><Relationship Id="rId4" Type="http://schemas.openxmlformats.org/officeDocument/2006/relationships/image" Target="../media/image19.pn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5.svg"/><Relationship Id="rId7"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7.png"/><Relationship Id="rId5" Type="http://schemas.openxmlformats.org/officeDocument/2006/relationships/image" Target="../media/image20.svg"/><Relationship Id="rId10" Type="http://schemas.openxmlformats.org/officeDocument/2006/relationships/image" Target="../media/image9.svg"/><Relationship Id="rId4" Type="http://schemas.openxmlformats.org/officeDocument/2006/relationships/image" Target="../media/image19.png"/><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5.svg"/><Relationship Id="rId7" Type="http://schemas.openxmlformats.org/officeDocument/2006/relationships/image" Target="../media/image18.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20.sv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svg"/><Relationship Id="rId10" Type="http://schemas.openxmlformats.org/officeDocument/2006/relationships/image" Target="../media/image29.png"/><Relationship Id="rId4" Type="http://schemas.openxmlformats.org/officeDocument/2006/relationships/image" Target="../media/image8.png"/><Relationship Id="rId9" Type="http://schemas.openxmlformats.org/officeDocument/2006/relationships/image" Target="../media/image20.sv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31.png"/><Relationship Id="rId5" Type="http://schemas.openxmlformats.org/officeDocument/2006/relationships/image" Target="../media/image9.svg"/><Relationship Id="rId10" Type="http://schemas.openxmlformats.org/officeDocument/2006/relationships/image" Target="../media/image30.png"/><Relationship Id="rId4" Type="http://schemas.openxmlformats.org/officeDocument/2006/relationships/image" Target="../media/image8.png"/><Relationship Id="rId9" Type="http://schemas.openxmlformats.org/officeDocument/2006/relationships/image" Target="../media/image20.sv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12" Type="http://schemas.openxmlformats.org/officeDocument/2006/relationships/image" Target="../media/image33.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31.png"/><Relationship Id="rId5" Type="http://schemas.openxmlformats.org/officeDocument/2006/relationships/image" Target="../media/image9.svg"/><Relationship Id="rId10" Type="http://schemas.openxmlformats.org/officeDocument/2006/relationships/image" Target="../media/image32.png"/><Relationship Id="rId4" Type="http://schemas.openxmlformats.org/officeDocument/2006/relationships/image" Target="../media/image8.png"/><Relationship Id="rId9" Type="http://schemas.openxmlformats.org/officeDocument/2006/relationships/image" Target="../media/image20.svg"/></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5.svg"/><Relationship Id="rId7" Type="http://schemas.openxmlformats.org/officeDocument/2006/relationships/image" Target="../media/image3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37.jpg"/><Relationship Id="rId3" Type="http://schemas.openxmlformats.org/officeDocument/2006/relationships/image" Target="../media/image15.svg"/><Relationship Id="rId7" Type="http://schemas.openxmlformats.org/officeDocument/2006/relationships/image" Target="../media/image3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13.sv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8.svg"/><Relationship Id="rId7"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20.svg"/><Relationship Id="rId4" Type="http://schemas.openxmlformats.org/officeDocument/2006/relationships/image" Target="../media/image38.png"/><Relationship Id="rId9"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40.png"/><Relationship Id="rId5" Type="http://schemas.openxmlformats.org/officeDocument/2006/relationships/image" Target="../media/image9.svg"/><Relationship Id="rId10" Type="http://schemas.openxmlformats.org/officeDocument/2006/relationships/image" Target="../media/image39.png"/><Relationship Id="rId4" Type="http://schemas.openxmlformats.org/officeDocument/2006/relationships/image" Target="../media/image8.png"/><Relationship Id="rId9" Type="http://schemas.openxmlformats.org/officeDocument/2006/relationships/image" Target="../media/image20.svg"/></Relationships>
</file>

<file path=ppt/slides/_rels/slide20.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35.svg"/><Relationship Id="rId4" Type="http://schemas.openxmlformats.org/officeDocument/2006/relationships/image" Target="../media/image13.svg"/><Relationship Id="rId9" Type="http://schemas.openxmlformats.org/officeDocument/2006/relationships/image" Target="../media/image34.png"/></Relationships>
</file>

<file path=ppt/slides/_rels/slide2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5.png"/><Relationship Id="rId3" Type="http://schemas.openxmlformats.org/officeDocument/2006/relationships/image" Target="../media/image13.svg"/><Relationship Id="rId7" Type="http://schemas.openxmlformats.org/officeDocument/2006/relationships/image" Target="../media/image15.svg"/><Relationship Id="rId12" Type="http://schemas.openxmlformats.org/officeDocument/2006/relationships/image" Target="../media/image44.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43.png"/><Relationship Id="rId5" Type="http://schemas.openxmlformats.org/officeDocument/2006/relationships/image" Target="../media/image20.svg"/><Relationship Id="rId15" Type="http://schemas.openxmlformats.org/officeDocument/2006/relationships/image" Target="../media/image47.png"/><Relationship Id="rId10" Type="http://schemas.openxmlformats.org/officeDocument/2006/relationships/image" Target="../media/image35.svg"/><Relationship Id="rId4" Type="http://schemas.openxmlformats.org/officeDocument/2006/relationships/image" Target="../media/image19.png"/><Relationship Id="rId9" Type="http://schemas.openxmlformats.org/officeDocument/2006/relationships/image" Target="../media/image34.png"/><Relationship Id="rId14" Type="http://schemas.openxmlformats.org/officeDocument/2006/relationships/image" Target="../media/image46.png"/></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svg"/><Relationship Id="rId10" Type="http://schemas.openxmlformats.org/officeDocument/2006/relationships/image" Target="../media/image48.png"/><Relationship Id="rId4" Type="http://schemas.openxmlformats.org/officeDocument/2006/relationships/image" Target="../media/image8.png"/><Relationship Id="rId9" Type="http://schemas.openxmlformats.org/officeDocument/2006/relationships/image" Target="../media/image20.svg"/></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5.svg"/><Relationship Id="rId7" Type="http://schemas.openxmlformats.org/officeDocument/2006/relationships/image" Target="../media/image20.svg"/><Relationship Id="rId12" Type="http://schemas.openxmlformats.org/officeDocument/2006/relationships/image" Target="../media/image48.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50.png"/><Relationship Id="rId5" Type="http://schemas.openxmlformats.org/officeDocument/2006/relationships/image" Target="../media/image13.svg"/><Relationship Id="rId10" Type="http://schemas.openxmlformats.org/officeDocument/2006/relationships/image" Target="../media/image49.png"/><Relationship Id="rId4" Type="http://schemas.openxmlformats.org/officeDocument/2006/relationships/image" Target="../media/image12.png"/><Relationship Id="rId9" Type="http://schemas.openxmlformats.org/officeDocument/2006/relationships/image" Target="../media/image35.svg"/></Relationships>
</file>

<file path=ppt/slides/_rels/slide2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20.svg"/></Relationships>
</file>

<file path=ppt/slides/_rels/slide2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svg"/><Relationship Id="rId10" Type="http://schemas.openxmlformats.org/officeDocument/2006/relationships/image" Target="../media/image51.png"/><Relationship Id="rId4" Type="http://schemas.openxmlformats.org/officeDocument/2006/relationships/image" Target="../media/image8.png"/><Relationship Id="rId9" Type="http://schemas.openxmlformats.org/officeDocument/2006/relationships/image" Target="../media/image20.svg"/></Relationships>
</file>

<file path=ppt/slides/_rels/slide2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53.png"/><Relationship Id="rId5" Type="http://schemas.openxmlformats.org/officeDocument/2006/relationships/image" Target="../media/image9.svg"/><Relationship Id="rId10" Type="http://schemas.openxmlformats.org/officeDocument/2006/relationships/image" Target="../media/image52.png"/><Relationship Id="rId4" Type="http://schemas.openxmlformats.org/officeDocument/2006/relationships/image" Target="../media/image8.png"/><Relationship Id="rId9" Type="http://schemas.openxmlformats.org/officeDocument/2006/relationships/image" Target="../media/image20.svg"/></Relationships>
</file>

<file path=ppt/slides/_rels/slide2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3.svg"/><Relationship Id="rId7" Type="http://schemas.openxmlformats.org/officeDocument/2006/relationships/image" Target="../media/image9.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8.sv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9.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8.sv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5.svg"/><Relationship Id="rId7"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18.svg"/><Relationship Id="rId10" Type="http://schemas.openxmlformats.org/officeDocument/2006/relationships/image" Target="../media/image9.svg"/><Relationship Id="rId4" Type="http://schemas.openxmlformats.org/officeDocument/2006/relationships/image" Target="../media/image17.png"/><Relationship Id="rId9" Type="http://schemas.openxmlformats.org/officeDocument/2006/relationships/image" Target="../media/image8.png"/></Relationships>
</file>

<file path=ppt/slides/_rels/slide3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57.png"/><Relationship Id="rId5" Type="http://schemas.openxmlformats.org/officeDocument/2006/relationships/image" Target="../media/image18.svg"/><Relationship Id="rId10" Type="http://schemas.openxmlformats.org/officeDocument/2006/relationships/image" Target="../media/image56.png"/><Relationship Id="rId4" Type="http://schemas.openxmlformats.org/officeDocument/2006/relationships/image" Target="../media/image17.png"/><Relationship Id="rId9" Type="http://schemas.openxmlformats.org/officeDocument/2006/relationships/image" Target="../media/image9.svg"/></Relationships>
</file>

<file path=ppt/slides/_rels/slide3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57.png"/><Relationship Id="rId5" Type="http://schemas.openxmlformats.org/officeDocument/2006/relationships/image" Target="../media/image18.svg"/><Relationship Id="rId10" Type="http://schemas.openxmlformats.org/officeDocument/2006/relationships/image" Target="../media/image58.png"/><Relationship Id="rId4" Type="http://schemas.openxmlformats.org/officeDocument/2006/relationships/image" Target="../media/image17.png"/><Relationship Id="rId9" Type="http://schemas.openxmlformats.org/officeDocument/2006/relationships/image" Target="../media/image9.svg"/></Relationships>
</file>

<file path=ppt/slides/_rels/slide32.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9.svg"/><Relationship Id="rId7"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9.svg"/><Relationship Id="rId7"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10" Type="http://schemas.openxmlformats.org/officeDocument/2006/relationships/image" Target="../media/image62.png"/><Relationship Id="rId4" Type="http://schemas.openxmlformats.org/officeDocument/2006/relationships/image" Target="../media/image12.png"/><Relationship Id="rId9" Type="http://schemas.openxmlformats.org/officeDocument/2006/relationships/image" Target="../media/image61.png"/></Relationships>
</file>

<file path=ppt/slides/_rels/slide3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image" Target="../media/image63.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9.svg"/></Relationships>
</file>

<file path=ppt/slides/_rels/slide3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7.png"/><Relationship Id="rId7" Type="http://schemas.openxmlformats.org/officeDocument/2006/relationships/image" Target="../media/image6.png"/><Relationship Id="rId2" Type="http://schemas.openxmlformats.org/officeDocument/2006/relationships/image" Target="../media/image64.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35.svg"/><Relationship Id="rId4" Type="http://schemas.openxmlformats.org/officeDocument/2006/relationships/image" Target="../media/image18.svg"/><Relationship Id="rId9"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8761989" y="-2956931"/>
            <a:ext cx="11585615" cy="9437010"/>
          </a:xfrm>
          <a:custGeom>
            <a:avLst/>
            <a:gdLst/>
            <a:ahLst/>
            <a:cxnLst/>
            <a:rect l="l" t="t" r="r" b="b"/>
            <a:pathLst>
              <a:path w="11585615" h="9437010">
                <a:moveTo>
                  <a:pt x="0" y="0"/>
                </a:moveTo>
                <a:lnTo>
                  <a:pt x="11585615" y="0"/>
                </a:lnTo>
                <a:lnTo>
                  <a:pt x="11585615" y="9437010"/>
                </a:lnTo>
                <a:lnTo>
                  <a:pt x="0" y="94370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032" name="Picture 8" descr="Flat global, personal, cyber data security online, internet security or  information privacy and protection concept. Outline style illustration for  landing page, web banner, infographics, hero images. 14049155 Vector Art at  Vecteezy">
            <a:extLst>
              <a:ext uri="{FF2B5EF4-FFF2-40B4-BE49-F238E27FC236}">
                <a16:creationId xmlns:a16="http://schemas.microsoft.com/office/drawing/2014/main" id="{084708E6-5538-0090-B4DA-7B36E2C5ECD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152" b="6152"/>
          <a:stretch/>
        </p:blipFill>
        <p:spPr bwMode="auto">
          <a:xfrm>
            <a:off x="8382000" y="844391"/>
            <a:ext cx="9171303" cy="859821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Freeform 2"/>
          <p:cNvSpPr/>
          <p:nvPr/>
        </p:nvSpPr>
        <p:spPr>
          <a:xfrm>
            <a:off x="-2780538" y="3361986"/>
            <a:ext cx="10191557" cy="8301486"/>
          </a:xfrm>
          <a:custGeom>
            <a:avLst/>
            <a:gdLst/>
            <a:ahLst/>
            <a:cxnLst/>
            <a:rect l="l" t="t" r="r" b="b"/>
            <a:pathLst>
              <a:path w="10191557" h="8301486">
                <a:moveTo>
                  <a:pt x="0" y="0"/>
                </a:moveTo>
                <a:lnTo>
                  <a:pt x="10191557" y="0"/>
                </a:lnTo>
                <a:lnTo>
                  <a:pt x="10191557" y="8301487"/>
                </a:lnTo>
                <a:lnTo>
                  <a:pt x="0" y="830148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Freeform 15"/>
          <p:cNvSpPr/>
          <p:nvPr/>
        </p:nvSpPr>
        <p:spPr>
          <a:xfrm>
            <a:off x="15695039" y="1302721"/>
            <a:ext cx="1094840" cy="838792"/>
          </a:xfrm>
          <a:custGeom>
            <a:avLst/>
            <a:gdLst/>
            <a:ahLst/>
            <a:cxnLst/>
            <a:rect l="l" t="t" r="r" b="b"/>
            <a:pathLst>
              <a:path w="1094840" h="838792">
                <a:moveTo>
                  <a:pt x="0" y="0"/>
                </a:moveTo>
                <a:lnTo>
                  <a:pt x="1094840" y="0"/>
                </a:lnTo>
                <a:lnTo>
                  <a:pt x="1094840" y="838792"/>
                </a:lnTo>
                <a:lnTo>
                  <a:pt x="0" y="83879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 name="Freeform 16"/>
          <p:cNvSpPr/>
          <p:nvPr/>
        </p:nvSpPr>
        <p:spPr>
          <a:xfrm>
            <a:off x="13770144" y="8196769"/>
            <a:ext cx="784653" cy="601147"/>
          </a:xfrm>
          <a:custGeom>
            <a:avLst/>
            <a:gdLst/>
            <a:ahLst/>
            <a:cxnLst/>
            <a:rect l="l" t="t" r="r" b="b"/>
            <a:pathLst>
              <a:path w="784653" h="601147">
                <a:moveTo>
                  <a:pt x="0" y="0"/>
                </a:moveTo>
                <a:lnTo>
                  <a:pt x="784653" y="0"/>
                </a:lnTo>
                <a:lnTo>
                  <a:pt x="784653" y="601147"/>
                </a:lnTo>
                <a:lnTo>
                  <a:pt x="0" y="6011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7" name="TextBox 17"/>
          <p:cNvSpPr txBox="1"/>
          <p:nvPr/>
        </p:nvSpPr>
        <p:spPr>
          <a:xfrm>
            <a:off x="0" y="1374519"/>
            <a:ext cx="11811000" cy="2702022"/>
          </a:xfrm>
          <a:prstGeom prst="rect">
            <a:avLst/>
          </a:prstGeom>
        </p:spPr>
        <p:txBody>
          <a:bodyPr wrap="square" lIns="0" tIns="0" rIns="0" bIns="0" rtlCol="0" anchor="t">
            <a:spAutoFit/>
          </a:bodyPr>
          <a:lstStyle/>
          <a:p>
            <a:pPr algn="ctr">
              <a:lnSpc>
                <a:spcPts val="10401"/>
              </a:lnSpc>
            </a:pPr>
            <a:r>
              <a:rPr lang="fr-FR" sz="9600" b="1" dirty="0">
                <a:solidFill>
                  <a:schemeClr val="tx2">
                    <a:lumMod val="75000"/>
                  </a:schemeClr>
                </a:solidFill>
              </a:rPr>
              <a:t>Advanced </a:t>
            </a:r>
            <a:r>
              <a:rPr lang="fr-FR" sz="9600" b="1" dirty="0" err="1">
                <a:solidFill>
                  <a:schemeClr val="tx2">
                    <a:lumMod val="75000"/>
                  </a:schemeClr>
                </a:solidFill>
              </a:rPr>
              <a:t>Encryption</a:t>
            </a:r>
            <a:r>
              <a:rPr lang="fr-FR" sz="9600" b="1" dirty="0">
                <a:solidFill>
                  <a:schemeClr val="tx2">
                    <a:lumMod val="75000"/>
                  </a:schemeClr>
                </a:solidFill>
              </a:rPr>
              <a:t> Standard</a:t>
            </a:r>
            <a:endParaRPr lang="en-US" sz="9600" b="1" dirty="0">
              <a:solidFill>
                <a:schemeClr val="tx2">
                  <a:lumMod val="75000"/>
                </a:schemeClr>
              </a:solidFill>
              <a:latin typeface="Nunito Sans Condensed Ultra-Bold"/>
              <a:ea typeface="Nunito Sans Condensed Ultra-Bold"/>
              <a:cs typeface="Nunito Sans Condensed Ultra-Bold"/>
              <a:sym typeface="Nunito Sans Condensed Ultra-Bold"/>
            </a:endParaRPr>
          </a:p>
        </p:txBody>
      </p:sp>
      <p:sp>
        <p:nvSpPr>
          <p:cNvPr id="4" name="ZoneTexte 3">
            <a:extLst>
              <a:ext uri="{FF2B5EF4-FFF2-40B4-BE49-F238E27FC236}">
                <a16:creationId xmlns:a16="http://schemas.microsoft.com/office/drawing/2014/main" id="{FED3DB9C-AF7D-916F-BC03-4B42673BC887}"/>
              </a:ext>
            </a:extLst>
          </p:cNvPr>
          <p:cNvSpPr txBox="1"/>
          <p:nvPr/>
        </p:nvSpPr>
        <p:spPr>
          <a:xfrm>
            <a:off x="1891999" y="6292341"/>
            <a:ext cx="7391400" cy="2800767"/>
          </a:xfrm>
          <a:prstGeom prst="rect">
            <a:avLst/>
          </a:prstGeom>
          <a:noFill/>
        </p:spPr>
        <p:txBody>
          <a:bodyPr wrap="square" rtlCol="0">
            <a:spAutoFit/>
          </a:bodyPr>
          <a:lstStyle/>
          <a:p>
            <a:r>
              <a:rPr lang="fr-FR" sz="4400" b="1" i="0" dirty="0" err="1">
                <a:solidFill>
                  <a:schemeClr val="tx2">
                    <a:lumMod val="75000"/>
                  </a:schemeClr>
                </a:solidFill>
                <a:effectLst/>
                <a:latin typeface="Roboto" panose="02000000000000000000" pitchFamily="2" charset="0"/>
              </a:rPr>
              <a:t>Pr</a:t>
            </a:r>
            <a:r>
              <a:rPr lang="fr-FR" sz="4400" b="1" dirty="0" err="1">
                <a:solidFill>
                  <a:schemeClr val="tx2">
                    <a:lumMod val="75000"/>
                  </a:schemeClr>
                </a:solidFill>
                <a:latin typeface="Roboto" panose="02000000000000000000" pitchFamily="2" charset="0"/>
              </a:rPr>
              <a:t>e</a:t>
            </a:r>
            <a:r>
              <a:rPr lang="fr-FR" sz="4400" b="1" i="0" dirty="0" err="1">
                <a:solidFill>
                  <a:schemeClr val="tx2">
                    <a:lumMod val="75000"/>
                  </a:schemeClr>
                </a:solidFill>
                <a:effectLst/>
                <a:latin typeface="Roboto" panose="02000000000000000000" pitchFamily="2" charset="0"/>
              </a:rPr>
              <a:t>sente</a:t>
            </a:r>
            <a:r>
              <a:rPr lang="fr-FR" sz="4400" b="1" i="0" dirty="0">
                <a:solidFill>
                  <a:schemeClr val="tx2">
                    <a:lumMod val="75000"/>
                  </a:schemeClr>
                </a:solidFill>
                <a:effectLst/>
                <a:latin typeface="Roboto" panose="02000000000000000000" pitchFamily="2" charset="0"/>
              </a:rPr>
              <a:t> par : </a:t>
            </a:r>
          </a:p>
          <a:p>
            <a:r>
              <a:rPr lang="fr-FR" sz="4400" b="1" dirty="0">
                <a:solidFill>
                  <a:schemeClr val="tx2">
                    <a:lumMod val="75000"/>
                  </a:schemeClr>
                </a:solidFill>
                <a:latin typeface="Roboto" panose="02000000000000000000" pitchFamily="2" charset="0"/>
              </a:rPr>
              <a:t>-  </a:t>
            </a:r>
            <a:r>
              <a:rPr lang="fr-FR" sz="4400" b="1" dirty="0" err="1">
                <a:solidFill>
                  <a:schemeClr val="tx2">
                    <a:lumMod val="75000"/>
                  </a:schemeClr>
                </a:solidFill>
                <a:latin typeface="Roboto" panose="02000000000000000000" pitchFamily="2" charset="0"/>
              </a:rPr>
              <a:t>Mamouni</a:t>
            </a:r>
            <a:r>
              <a:rPr lang="fr-FR" sz="4400" b="1" dirty="0">
                <a:solidFill>
                  <a:schemeClr val="tx2">
                    <a:lumMod val="75000"/>
                  </a:schemeClr>
                </a:solidFill>
                <a:latin typeface="Roboto" panose="02000000000000000000" pitchFamily="2" charset="0"/>
              </a:rPr>
              <a:t> </a:t>
            </a:r>
            <a:r>
              <a:rPr lang="fr-FR" sz="4400" b="1" dirty="0" err="1">
                <a:solidFill>
                  <a:schemeClr val="tx2">
                    <a:lumMod val="75000"/>
                  </a:schemeClr>
                </a:solidFill>
                <a:latin typeface="Roboto" panose="02000000000000000000" pitchFamily="2" charset="0"/>
              </a:rPr>
              <a:t>kholoud</a:t>
            </a:r>
            <a:r>
              <a:rPr lang="fr-FR" sz="4400" b="1" dirty="0">
                <a:solidFill>
                  <a:schemeClr val="tx2">
                    <a:lumMod val="75000"/>
                  </a:schemeClr>
                </a:solidFill>
                <a:latin typeface="Roboto" panose="02000000000000000000" pitchFamily="2" charset="0"/>
              </a:rPr>
              <a:t> </a:t>
            </a:r>
          </a:p>
          <a:p>
            <a:r>
              <a:rPr lang="fr-FR" sz="4400" b="1" dirty="0">
                <a:solidFill>
                  <a:schemeClr val="tx2">
                    <a:lumMod val="75000"/>
                  </a:schemeClr>
                </a:solidFill>
                <a:latin typeface="Roboto" panose="02000000000000000000" pitchFamily="2" charset="0"/>
              </a:rPr>
              <a:t>-  B</a:t>
            </a:r>
            <a:r>
              <a:rPr lang="fr-FR" sz="4400" b="1" i="0" dirty="0">
                <a:solidFill>
                  <a:schemeClr val="tx2">
                    <a:lumMod val="75000"/>
                  </a:schemeClr>
                </a:solidFill>
                <a:effectLst/>
                <a:latin typeface="Roboto" panose="02000000000000000000" pitchFamily="2" charset="0"/>
              </a:rPr>
              <a:t>ekri Douaa</a:t>
            </a:r>
            <a:endParaRPr lang="en-US" sz="4400" b="1" dirty="0">
              <a:solidFill>
                <a:schemeClr val="tx2">
                  <a:lumMod val="75000"/>
                </a:schemeClr>
              </a:solidFill>
              <a:latin typeface="Poppins"/>
              <a:ea typeface="Poppins"/>
              <a:cs typeface="Poppins"/>
              <a:sym typeface="Poppins"/>
            </a:endParaRPr>
          </a:p>
          <a:p>
            <a:endParaRPr lang="en-US" sz="4400" b="1" dirty="0">
              <a:solidFill>
                <a:schemeClr val="tx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91948" flipV="1">
            <a:off x="13787956" y="438683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791948" flipV="1">
            <a:off x="-7546784" y="-48714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791948" flipV="1">
            <a:off x="-4951900" y="-7419772"/>
            <a:ext cx="11961199" cy="9742940"/>
          </a:xfrm>
          <a:custGeom>
            <a:avLst/>
            <a:gdLst/>
            <a:ahLst/>
            <a:cxnLst/>
            <a:rect l="l" t="t" r="r" b="b"/>
            <a:pathLst>
              <a:path w="11961199" h="9742940">
                <a:moveTo>
                  <a:pt x="0" y="9742941"/>
                </a:moveTo>
                <a:lnTo>
                  <a:pt x="11961200" y="9742941"/>
                </a:lnTo>
                <a:lnTo>
                  <a:pt x="11961200" y="0"/>
                </a:lnTo>
                <a:lnTo>
                  <a:pt x="0" y="0"/>
                </a:lnTo>
                <a:lnTo>
                  <a:pt x="0"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2791948" flipV="1">
            <a:off x="14664746" y="-8059747"/>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3161799" y="510845"/>
            <a:ext cx="10251632" cy="1077987"/>
          </a:xfrm>
          <a:prstGeom prst="rect">
            <a:avLst/>
          </a:prstGeom>
        </p:spPr>
        <p:txBody>
          <a:bodyPr lIns="0" tIns="0" rIns="0" bIns="0" rtlCol="0" anchor="t">
            <a:spAutoFit/>
          </a:bodyPr>
          <a:lstStyle/>
          <a:p>
            <a:pPr algn="r">
              <a:lnSpc>
                <a:spcPts val="7700"/>
              </a:lnSpc>
            </a:pPr>
            <a:r>
              <a:rPr lang="fr-FR" sz="8800" b="1" dirty="0">
                <a:solidFill>
                  <a:schemeClr val="tx2">
                    <a:lumMod val="75000"/>
                  </a:schemeClr>
                </a:solidFill>
              </a:rPr>
              <a:t>Qu’est-ce que AES</a:t>
            </a:r>
            <a:endParaRPr lang="en-US" sz="88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8" name="TextBox 8"/>
          <p:cNvSpPr txBox="1"/>
          <p:nvPr/>
        </p:nvSpPr>
        <p:spPr>
          <a:xfrm>
            <a:off x="1959233" y="1857921"/>
            <a:ext cx="16002000" cy="7291227"/>
          </a:xfrm>
          <a:prstGeom prst="rect">
            <a:avLst/>
          </a:prstGeom>
        </p:spPr>
        <p:txBody>
          <a:bodyPr wrap="square" lIns="0" tIns="0" rIns="0" bIns="0" rtlCol="0" anchor="t">
            <a:spAutoFit/>
          </a:bodyPr>
          <a:lstStyle/>
          <a:p>
            <a:pPr>
              <a:lnSpc>
                <a:spcPct val="150000"/>
              </a:lnSpc>
              <a:buNone/>
            </a:pPr>
            <a:r>
              <a:rPr lang="fr-FR" sz="4000" dirty="0"/>
              <a:t>L'</a:t>
            </a:r>
            <a:r>
              <a:rPr lang="fr-FR" sz="4000" b="1" dirty="0">
                <a:solidFill>
                  <a:schemeClr val="tx2">
                    <a:lumMod val="75000"/>
                  </a:schemeClr>
                </a:solidFill>
              </a:rPr>
              <a:t>AES (Advanced </a:t>
            </a:r>
            <a:r>
              <a:rPr lang="fr-FR" sz="4000" b="1" dirty="0" err="1">
                <a:solidFill>
                  <a:schemeClr val="tx2">
                    <a:lumMod val="75000"/>
                  </a:schemeClr>
                </a:solidFill>
              </a:rPr>
              <a:t>Encryption</a:t>
            </a:r>
            <a:r>
              <a:rPr lang="fr-FR" sz="4000" b="1" dirty="0">
                <a:solidFill>
                  <a:schemeClr val="tx2">
                    <a:lumMod val="75000"/>
                  </a:schemeClr>
                </a:solidFill>
              </a:rPr>
              <a:t> Standard)</a:t>
            </a:r>
            <a:r>
              <a:rPr lang="fr-FR" sz="4000" dirty="0">
                <a:solidFill>
                  <a:schemeClr val="tx2">
                    <a:lumMod val="75000"/>
                  </a:schemeClr>
                </a:solidFill>
              </a:rPr>
              <a:t> </a:t>
            </a:r>
            <a:r>
              <a:rPr lang="fr-FR" sz="4000" dirty="0"/>
              <a:t>est un </a:t>
            </a:r>
            <a:r>
              <a:rPr lang="fr-FR" sz="4000" b="1" dirty="0">
                <a:solidFill>
                  <a:schemeClr val="tx2">
                    <a:lumMod val="75000"/>
                  </a:schemeClr>
                </a:solidFill>
              </a:rPr>
              <a:t>algorithme de chiffrement symétrique par blocs</a:t>
            </a:r>
            <a:r>
              <a:rPr lang="fr-FR" sz="4000" dirty="0"/>
              <a:t>, ce qui signifie :</a:t>
            </a:r>
          </a:p>
          <a:p>
            <a:pPr marL="571500" indent="-571500">
              <a:lnSpc>
                <a:spcPct val="150000"/>
              </a:lnSpc>
              <a:buFont typeface="Wingdings" panose="05000000000000000000" pitchFamily="2" charset="2"/>
              <a:buChar char="Ø"/>
            </a:pPr>
            <a:r>
              <a:rPr lang="fr-FR" sz="4000" dirty="0"/>
              <a:t>Il chiffre les données </a:t>
            </a:r>
            <a:r>
              <a:rPr lang="fr-FR" sz="4000" b="1" dirty="0">
                <a:solidFill>
                  <a:schemeClr val="tx2">
                    <a:lumMod val="75000"/>
                  </a:schemeClr>
                </a:solidFill>
              </a:rPr>
              <a:t>bloc par bloc</a:t>
            </a:r>
            <a:r>
              <a:rPr lang="fr-FR" sz="4000" dirty="0"/>
              <a:t>, ici des blocs de </a:t>
            </a:r>
            <a:r>
              <a:rPr lang="fr-FR" sz="4000" b="1" dirty="0">
                <a:solidFill>
                  <a:schemeClr val="tx2">
                    <a:lumMod val="75000"/>
                  </a:schemeClr>
                </a:solidFill>
              </a:rPr>
              <a:t>128 bits (16 octets)</a:t>
            </a:r>
            <a:r>
              <a:rPr lang="fr-FR" sz="4000" dirty="0">
                <a:solidFill>
                  <a:schemeClr val="tx2">
                    <a:lumMod val="75000"/>
                  </a:schemeClr>
                </a:solidFill>
              </a:rPr>
              <a:t>.</a:t>
            </a:r>
          </a:p>
          <a:p>
            <a:pPr marL="571500" indent="-571500">
              <a:lnSpc>
                <a:spcPct val="150000"/>
              </a:lnSpc>
              <a:buFont typeface="Wingdings" panose="05000000000000000000" pitchFamily="2" charset="2"/>
              <a:buChar char="Ø"/>
            </a:pPr>
            <a:r>
              <a:rPr lang="fr-FR" sz="4000" dirty="0"/>
              <a:t>Il utilise </a:t>
            </a:r>
            <a:r>
              <a:rPr lang="fr-FR" sz="4000" b="1" dirty="0">
                <a:solidFill>
                  <a:schemeClr val="tx2">
                    <a:lumMod val="75000"/>
                  </a:schemeClr>
                </a:solidFill>
              </a:rPr>
              <a:t>la même clé</a:t>
            </a:r>
            <a:r>
              <a:rPr lang="fr-FR" sz="4000" dirty="0">
                <a:solidFill>
                  <a:schemeClr val="tx2">
                    <a:lumMod val="75000"/>
                  </a:schemeClr>
                </a:solidFill>
              </a:rPr>
              <a:t> </a:t>
            </a:r>
            <a:r>
              <a:rPr lang="fr-FR" sz="4000" dirty="0"/>
              <a:t>pour </a:t>
            </a:r>
            <a:r>
              <a:rPr lang="fr-FR" sz="4000" b="1" dirty="0">
                <a:solidFill>
                  <a:schemeClr val="tx2">
                    <a:lumMod val="75000"/>
                  </a:schemeClr>
                </a:solidFill>
              </a:rPr>
              <a:t>chiffrer</a:t>
            </a:r>
            <a:r>
              <a:rPr lang="fr-FR" sz="4000" dirty="0">
                <a:solidFill>
                  <a:schemeClr val="tx2">
                    <a:lumMod val="75000"/>
                  </a:schemeClr>
                </a:solidFill>
              </a:rPr>
              <a:t> </a:t>
            </a:r>
            <a:r>
              <a:rPr lang="fr-FR" sz="4000" dirty="0"/>
              <a:t>et </a:t>
            </a:r>
            <a:r>
              <a:rPr lang="fr-FR" sz="4000" b="1" dirty="0">
                <a:solidFill>
                  <a:schemeClr val="tx2">
                    <a:lumMod val="75000"/>
                  </a:schemeClr>
                </a:solidFill>
              </a:rPr>
              <a:t>déchiffrer</a:t>
            </a:r>
            <a:r>
              <a:rPr lang="fr-FR" sz="4000" dirty="0">
                <a:solidFill>
                  <a:schemeClr val="tx2">
                    <a:lumMod val="75000"/>
                  </a:schemeClr>
                </a:solidFill>
              </a:rPr>
              <a:t>.</a:t>
            </a:r>
          </a:p>
          <a:p>
            <a:pPr>
              <a:lnSpc>
                <a:spcPct val="150000"/>
              </a:lnSpc>
              <a:buNone/>
            </a:pPr>
            <a:r>
              <a:rPr lang="fr-FR" sz="4000" dirty="0"/>
              <a:t>AES existe en trois versions selon la taille de la clé :</a:t>
            </a:r>
          </a:p>
          <a:p>
            <a:pPr marL="571500" indent="-571500">
              <a:lnSpc>
                <a:spcPct val="150000"/>
              </a:lnSpc>
              <a:buFont typeface="Wingdings" panose="05000000000000000000" pitchFamily="2" charset="2"/>
              <a:buChar char="Ø"/>
            </a:pPr>
            <a:r>
              <a:rPr lang="fr-FR" sz="4000" dirty="0"/>
              <a:t>AES-128 (clé de 128 bits)</a:t>
            </a:r>
          </a:p>
          <a:p>
            <a:pPr marL="571500" indent="-571500">
              <a:lnSpc>
                <a:spcPct val="150000"/>
              </a:lnSpc>
              <a:buFont typeface="Wingdings" panose="05000000000000000000" pitchFamily="2" charset="2"/>
              <a:buChar char="Ø"/>
            </a:pPr>
            <a:r>
              <a:rPr lang="fr-FR" sz="4000" dirty="0"/>
              <a:t>AES-192 (clé de 192 bits)</a:t>
            </a:r>
          </a:p>
          <a:p>
            <a:pPr marL="571500" indent="-571500">
              <a:lnSpc>
                <a:spcPct val="150000"/>
              </a:lnSpc>
              <a:buFont typeface="Wingdings" panose="05000000000000000000" pitchFamily="2" charset="2"/>
              <a:buChar char="Ø"/>
            </a:pPr>
            <a:r>
              <a:rPr lang="fr-FR" sz="4000" dirty="0"/>
              <a:t>AES-256 (clé de 256 bits)</a:t>
            </a:r>
          </a:p>
        </p:txBody>
      </p:sp>
      <p:sp>
        <p:nvSpPr>
          <p:cNvPr id="9" name="Freeform 9"/>
          <p:cNvSpPr/>
          <p:nvPr/>
        </p:nvSpPr>
        <p:spPr>
          <a:xfrm>
            <a:off x="15782491" y="7504219"/>
            <a:ext cx="1505817" cy="1153654"/>
          </a:xfrm>
          <a:custGeom>
            <a:avLst/>
            <a:gdLst/>
            <a:ahLst/>
            <a:cxnLst/>
            <a:rect l="l" t="t" r="r" b="b"/>
            <a:pathLst>
              <a:path w="1505817" h="1153654">
                <a:moveTo>
                  <a:pt x="0" y="0"/>
                </a:moveTo>
                <a:lnTo>
                  <a:pt x="1505817" y="0"/>
                </a:lnTo>
                <a:lnTo>
                  <a:pt x="1505817" y="1153653"/>
                </a:lnTo>
                <a:lnTo>
                  <a:pt x="0" y="11536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46E6B264-A47A-8137-571D-5F6F18922FA3}"/>
              </a:ext>
            </a:extLst>
          </p:cNvPr>
          <p:cNvPicPr>
            <a:picLocks noChangeAspect="1"/>
          </p:cNvPicPr>
          <p:nvPr/>
        </p:nvPicPr>
        <p:blipFill>
          <a:blip r:embed="rId2"/>
          <a:stretch>
            <a:fillRect/>
          </a:stretch>
        </p:blipFill>
        <p:spPr>
          <a:xfrm>
            <a:off x="0" y="0"/>
            <a:ext cx="18288000" cy="105537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00385-6CB0-5096-057B-711DF2FCC50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482CEB6-4C2E-E940-D9B6-C26C986F8F35}"/>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07603389-5CE2-DD2B-6129-32A3188965FB}"/>
              </a:ext>
            </a:extLst>
          </p:cNvPr>
          <p:cNvSpPr/>
          <p:nvPr/>
        </p:nvSpPr>
        <p:spPr>
          <a:xfrm>
            <a:off x="15160163" y="2297626"/>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31C3EB57-1019-73D7-0E4C-5CEBF5FD361F}"/>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5696307C-D906-E725-AA6A-06FABB653873}"/>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21485CB3-6E63-34F5-15E2-AB3B6B1C0CA7}"/>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A11AA8C8-EC9F-EA23-A6DE-AF6458F75647}"/>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3076E99B-6646-8C24-EE6B-641F8A76C52D}"/>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3">
            <a:extLst>
              <a:ext uri="{FF2B5EF4-FFF2-40B4-BE49-F238E27FC236}">
                <a16:creationId xmlns:a16="http://schemas.microsoft.com/office/drawing/2014/main" id="{F2FA9469-F848-B135-506F-4125CD9F5D34}"/>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3" name="ZoneTexte 2">
            <a:extLst>
              <a:ext uri="{FF2B5EF4-FFF2-40B4-BE49-F238E27FC236}">
                <a16:creationId xmlns:a16="http://schemas.microsoft.com/office/drawing/2014/main" id="{800DD102-6A5B-97BB-0AED-D9EE85B12602}"/>
              </a:ext>
            </a:extLst>
          </p:cNvPr>
          <p:cNvSpPr txBox="1"/>
          <p:nvPr/>
        </p:nvSpPr>
        <p:spPr>
          <a:xfrm>
            <a:off x="6287821" y="2194292"/>
            <a:ext cx="6363065" cy="769441"/>
          </a:xfrm>
          <a:prstGeom prst="rect">
            <a:avLst/>
          </a:prstGeom>
          <a:noFill/>
        </p:spPr>
        <p:txBody>
          <a:bodyPr wrap="square" rtlCol="0">
            <a:spAutoFit/>
          </a:bodyPr>
          <a:lstStyle/>
          <a:p>
            <a:r>
              <a:rPr lang="fr-FR" sz="4400" b="1" dirty="0">
                <a:solidFill>
                  <a:schemeClr val="tx2">
                    <a:lumMod val="75000"/>
                  </a:schemeClr>
                </a:solidFill>
              </a:rPr>
              <a:t>Key Expansion</a:t>
            </a:r>
            <a:endParaRPr lang="en-US" sz="4400" b="1" dirty="0">
              <a:solidFill>
                <a:schemeClr val="tx2">
                  <a:lumMod val="75000"/>
                </a:schemeClr>
              </a:solidFill>
            </a:endParaRPr>
          </a:p>
        </p:txBody>
      </p:sp>
      <p:sp>
        <p:nvSpPr>
          <p:cNvPr id="4" name="ZoneTexte 3">
            <a:extLst>
              <a:ext uri="{FF2B5EF4-FFF2-40B4-BE49-F238E27FC236}">
                <a16:creationId xmlns:a16="http://schemas.microsoft.com/office/drawing/2014/main" id="{7235984A-CE0B-C870-3CE8-A2F64B657755}"/>
              </a:ext>
            </a:extLst>
          </p:cNvPr>
          <p:cNvSpPr txBox="1"/>
          <p:nvPr/>
        </p:nvSpPr>
        <p:spPr>
          <a:xfrm>
            <a:off x="1679984" y="3012800"/>
            <a:ext cx="16230600" cy="6460230"/>
          </a:xfrm>
          <a:prstGeom prst="rect">
            <a:avLst/>
          </a:prstGeom>
          <a:noFill/>
        </p:spPr>
        <p:txBody>
          <a:bodyPr wrap="square" rtlCol="0">
            <a:spAutoFit/>
          </a:bodyPr>
          <a:lstStyle/>
          <a:p>
            <a:pPr>
              <a:lnSpc>
                <a:spcPct val="150000"/>
              </a:lnSpc>
            </a:pPr>
            <a:r>
              <a:rPr lang="fr-FR" sz="4000" dirty="0"/>
              <a:t>Étape 1 : Cette fonction effectue un décalage circulaire d'un octet vers la gauche.</a:t>
            </a:r>
          </a:p>
          <a:p>
            <a:pPr>
              <a:lnSpc>
                <a:spcPct val="150000"/>
              </a:lnSpc>
            </a:pPr>
            <a:r>
              <a:rPr lang="fr-FR" sz="4000" dirty="0"/>
              <a:t>Étape 2 : En utilisant une S-box, chaque sous-mot subit une substitution d'octet.</a:t>
            </a:r>
          </a:p>
          <a:p>
            <a:pPr>
              <a:lnSpc>
                <a:spcPct val="150000"/>
              </a:lnSpc>
            </a:pPr>
            <a:r>
              <a:rPr lang="fr-FR" sz="4000" dirty="0"/>
              <a:t>Étape 3 : Finalement, le résultat de l'étape 1 (appelé "Rot </a:t>
            </a:r>
            <a:r>
              <a:rPr lang="fr-FR" sz="4000" dirty="0" err="1"/>
              <a:t>word</a:t>
            </a:r>
            <a:r>
              <a:rPr lang="fr-FR" sz="4000" dirty="0"/>
              <a:t>") et le résultat de l'étape 2 sont combinés par une opération XOR avec une constante de ronde appelée </a:t>
            </a:r>
            <a:r>
              <a:rPr lang="fr-FR" sz="4000" dirty="0" err="1"/>
              <a:t>Rcon</a:t>
            </a:r>
            <a:r>
              <a:rPr lang="fr-FR" sz="4000" dirty="0"/>
              <a:t>[Round].</a:t>
            </a:r>
            <a:endParaRPr lang="en-US" sz="4000" dirty="0"/>
          </a:p>
        </p:txBody>
      </p:sp>
    </p:spTree>
    <p:extLst>
      <p:ext uri="{BB962C8B-B14F-4D97-AF65-F5344CB8AC3E}">
        <p14:creationId xmlns:p14="http://schemas.microsoft.com/office/powerpoint/2010/main" val="2861566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09225-2751-B139-2F77-956C84E2A7E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0FFF73-7E3C-8C83-612F-7ECF50940E70}"/>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8141B822-8200-B2F3-8420-9B706A499EF0}"/>
              </a:ext>
            </a:extLst>
          </p:cNvPr>
          <p:cNvSpPr/>
          <p:nvPr/>
        </p:nvSpPr>
        <p:spPr>
          <a:xfrm>
            <a:off x="12436691" y="3550500"/>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F9EB1795-74C0-7128-210E-7B5E563C3AC3}"/>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67329A42-98FA-8E40-2B9C-4FCBD116F76F}"/>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A845A34E-4345-31CD-7A21-3B86F2A181D7}"/>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10CC03C2-15C1-17AC-7A00-290D36006BA2}"/>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1C6A4416-CFED-609F-8F3C-13089CA4F1BE}"/>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pic>
        <p:nvPicPr>
          <p:cNvPr id="12" name="Image 11">
            <a:extLst>
              <a:ext uri="{FF2B5EF4-FFF2-40B4-BE49-F238E27FC236}">
                <a16:creationId xmlns:a16="http://schemas.microsoft.com/office/drawing/2014/main" id="{82B576B0-322B-3CEA-CDF4-4F32E3591B68}"/>
              </a:ext>
            </a:extLst>
          </p:cNvPr>
          <p:cNvPicPr>
            <a:picLocks noChangeAspect="1"/>
          </p:cNvPicPr>
          <p:nvPr/>
        </p:nvPicPr>
        <p:blipFill>
          <a:blip r:embed="rId10"/>
          <a:stretch>
            <a:fillRect/>
          </a:stretch>
        </p:blipFill>
        <p:spPr>
          <a:xfrm>
            <a:off x="304801" y="99175"/>
            <a:ext cx="17754600" cy="10088650"/>
          </a:xfrm>
          <a:prstGeom prst="rect">
            <a:avLst/>
          </a:prstGeom>
        </p:spPr>
      </p:pic>
    </p:spTree>
    <p:extLst>
      <p:ext uri="{BB962C8B-B14F-4D97-AF65-F5344CB8AC3E}">
        <p14:creationId xmlns:p14="http://schemas.microsoft.com/office/powerpoint/2010/main" val="2066971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365F8-4C25-9E99-8A8C-02D2139FD9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C082BD-460B-4EF7-EFC1-4EBC5909FF2B}"/>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B75E1F3A-E6F9-5870-8867-3745F9AFD897}"/>
              </a:ext>
            </a:extLst>
          </p:cNvPr>
          <p:cNvSpPr/>
          <p:nvPr/>
        </p:nvSpPr>
        <p:spPr>
          <a:xfrm>
            <a:off x="12436691" y="3550500"/>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B3F386B5-BF47-38D7-2285-03E5B2B3EBF7}"/>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82532F5D-B18A-31DB-D86E-FE9F122A89BD}"/>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4D2EA55F-7C5A-6E7B-6401-FDB1C214F827}"/>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D73A7199-CF1E-BF33-37E9-F8E4192B02EC}"/>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07990886-1E49-F272-A69D-3E162353AA54}"/>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pic>
        <p:nvPicPr>
          <p:cNvPr id="13" name="Image 12">
            <a:extLst>
              <a:ext uri="{FF2B5EF4-FFF2-40B4-BE49-F238E27FC236}">
                <a16:creationId xmlns:a16="http://schemas.microsoft.com/office/drawing/2014/main" id="{79C80791-95F9-B5DA-A618-A01D77AFB80A}"/>
              </a:ext>
            </a:extLst>
          </p:cNvPr>
          <p:cNvPicPr>
            <a:picLocks noChangeAspect="1"/>
          </p:cNvPicPr>
          <p:nvPr/>
        </p:nvPicPr>
        <p:blipFill>
          <a:blip r:embed="rId10"/>
          <a:stretch>
            <a:fillRect/>
          </a:stretch>
        </p:blipFill>
        <p:spPr>
          <a:xfrm>
            <a:off x="1197083" y="1736586"/>
            <a:ext cx="15299707" cy="8207514"/>
          </a:xfrm>
          <a:prstGeom prst="rect">
            <a:avLst/>
          </a:prstGeom>
        </p:spPr>
      </p:pic>
      <p:sp>
        <p:nvSpPr>
          <p:cNvPr id="3" name="ZoneTexte 2">
            <a:extLst>
              <a:ext uri="{FF2B5EF4-FFF2-40B4-BE49-F238E27FC236}">
                <a16:creationId xmlns:a16="http://schemas.microsoft.com/office/drawing/2014/main" id="{BA1F6680-8738-B719-45F2-9AEA7B8ABB2F}"/>
              </a:ext>
            </a:extLst>
          </p:cNvPr>
          <p:cNvSpPr txBox="1"/>
          <p:nvPr/>
        </p:nvSpPr>
        <p:spPr>
          <a:xfrm>
            <a:off x="6248400" y="1028700"/>
            <a:ext cx="2667000" cy="707886"/>
          </a:xfrm>
          <a:prstGeom prst="rect">
            <a:avLst/>
          </a:prstGeom>
          <a:noFill/>
        </p:spPr>
        <p:txBody>
          <a:bodyPr wrap="square" rtlCol="0">
            <a:spAutoFit/>
          </a:bodyPr>
          <a:lstStyle/>
          <a:p>
            <a:r>
              <a:rPr lang="fr-FR" sz="4000" b="1" dirty="0">
                <a:solidFill>
                  <a:schemeClr val="tx2">
                    <a:lumMod val="75000"/>
                  </a:schemeClr>
                </a:solidFill>
              </a:rPr>
              <a:t>1.RotWord</a:t>
            </a:r>
            <a:endParaRPr lang="en-US" sz="4000" b="1" dirty="0">
              <a:solidFill>
                <a:schemeClr val="tx2">
                  <a:lumMod val="75000"/>
                </a:schemeClr>
              </a:solidFill>
            </a:endParaRPr>
          </a:p>
        </p:txBody>
      </p:sp>
    </p:spTree>
    <p:extLst>
      <p:ext uri="{BB962C8B-B14F-4D97-AF65-F5344CB8AC3E}">
        <p14:creationId xmlns:p14="http://schemas.microsoft.com/office/powerpoint/2010/main" val="2019665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58461-69ED-FCFD-DDF3-82F4C7A9AC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04ED6F2-D2E9-A6DD-C932-FFD830252C18}"/>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4ADF08E8-4736-8FC9-1C12-EDD322E506C5}"/>
              </a:ext>
            </a:extLst>
          </p:cNvPr>
          <p:cNvSpPr/>
          <p:nvPr/>
        </p:nvSpPr>
        <p:spPr>
          <a:xfrm>
            <a:off x="12436691" y="3550500"/>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9CA202BE-B0C3-75E4-7C8F-F33FBC4075E7}"/>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CF06F135-DF5E-00C8-997A-F83CCDCA9355}"/>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EDA94D6E-5437-E06E-EAD9-92D3F4F3C8C3}"/>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FB51D4D9-99E5-5A0A-9B5D-D6C61289FD7D}"/>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FC5AB245-013F-81CD-B726-86E61A9AD0C6}"/>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pic>
        <p:nvPicPr>
          <p:cNvPr id="4" name="Image 3">
            <a:extLst>
              <a:ext uri="{FF2B5EF4-FFF2-40B4-BE49-F238E27FC236}">
                <a16:creationId xmlns:a16="http://schemas.microsoft.com/office/drawing/2014/main" id="{012D3C20-3FF6-D76F-0F02-B91B3B2CF899}"/>
              </a:ext>
            </a:extLst>
          </p:cNvPr>
          <p:cNvPicPr>
            <a:picLocks noChangeAspect="1"/>
          </p:cNvPicPr>
          <p:nvPr/>
        </p:nvPicPr>
        <p:blipFill>
          <a:blip r:embed="rId10"/>
          <a:srcRect t="1866"/>
          <a:stretch/>
        </p:blipFill>
        <p:spPr>
          <a:xfrm>
            <a:off x="381000" y="342900"/>
            <a:ext cx="17526000" cy="10058400"/>
          </a:xfrm>
          <a:prstGeom prst="rect">
            <a:avLst/>
          </a:prstGeom>
        </p:spPr>
      </p:pic>
      <p:sp>
        <p:nvSpPr>
          <p:cNvPr id="8" name="ZoneTexte 7">
            <a:extLst>
              <a:ext uri="{FF2B5EF4-FFF2-40B4-BE49-F238E27FC236}">
                <a16:creationId xmlns:a16="http://schemas.microsoft.com/office/drawing/2014/main" id="{FF093140-2DCA-F930-C6E6-EBC062F3832C}"/>
              </a:ext>
            </a:extLst>
          </p:cNvPr>
          <p:cNvSpPr txBox="1"/>
          <p:nvPr/>
        </p:nvSpPr>
        <p:spPr>
          <a:xfrm>
            <a:off x="5943600" y="342900"/>
            <a:ext cx="3200400" cy="707886"/>
          </a:xfrm>
          <a:prstGeom prst="rect">
            <a:avLst/>
          </a:prstGeom>
          <a:noFill/>
        </p:spPr>
        <p:txBody>
          <a:bodyPr wrap="square" rtlCol="0">
            <a:spAutoFit/>
          </a:bodyPr>
          <a:lstStyle/>
          <a:p>
            <a:r>
              <a:rPr lang="fr-FR" sz="4000" b="1" dirty="0">
                <a:solidFill>
                  <a:schemeClr val="tx2">
                    <a:lumMod val="75000"/>
                  </a:schemeClr>
                </a:solidFill>
              </a:rPr>
              <a:t>2.SubWord</a:t>
            </a:r>
            <a:endParaRPr lang="en-US" sz="4000" b="1" dirty="0">
              <a:solidFill>
                <a:schemeClr val="tx2">
                  <a:lumMod val="75000"/>
                </a:schemeClr>
              </a:solidFill>
            </a:endParaRPr>
          </a:p>
        </p:txBody>
      </p:sp>
    </p:spTree>
    <p:extLst>
      <p:ext uri="{BB962C8B-B14F-4D97-AF65-F5344CB8AC3E}">
        <p14:creationId xmlns:p14="http://schemas.microsoft.com/office/powerpoint/2010/main" val="736944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1949-2EF5-1C1B-91E1-6D6BCC0367C9}"/>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60E92EE7-E9CF-22E6-D0D6-7057A7463B07}"/>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C447230A-5625-4F3D-8343-8B9B8E6FC934}"/>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 name="Freeform 2">
            <a:extLst>
              <a:ext uri="{FF2B5EF4-FFF2-40B4-BE49-F238E27FC236}">
                <a16:creationId xmlns:a16="http://schemas.microsoft.com/office/drawing/2014/main" id="{B1680917-4520-3760-A0BD-D292DBBA5C92}"/>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a:extLst>
              <a:ext uri="{FF2B5EF4-FFF2-40B4-BE49-F238E27FC236}">
                <a16:creationId xmlns:a16="http://schemas.microsoft.com/office/drawing/2014/main" id="{C04D667F-4BAD-933E-4637-EE3CD7421060}"/>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a:extLst>
              <a:ext uri="{FF2B5EF4-FFF2-40B4-BE49-F238E27FC236}">
                <a16:creationId xmlns:a16="http://schemas.microsoft.com/office/drawing/2014/main" id="{4D86ED09-3C10-6537-55EA-E43FA58ED46A}"/>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8" name="Image 7">
            <a:extLst>
              <a:ext uri="{FF2B5EF4-FFF2-40B4-BE49-F238E27FC236}">
                <a16:creationId xmlns:a16="http://schemas.microsoft.com/office/drawing/2014/main" id="{9680527B-2BBC-8EFC-4664-43AC3617E826}"/>
              </a:ext>
            </a:extLst>
          </p:cNvPr>
          <p:cNvPicPr>
            <a:picLocks noChangeAspect="1"/>
          </p:cNvPicPr>
          <p:nvPr/>
        </p:nvPicPr>
        <p:blipFill>
          <a:blip r:embed="rId8"/>
          <a:stretch>
            <a:fillRect/>
          </a:stretch>
        </p:blipFill>
        <p:spPr>
          <a:xfrm>
            <a:off x="457200" y="647700"/>
            <a:ext cx="17297399" cy="9296400"/>
          </a:xfrm>
          <a:prstGeom prst="rect">
            <a:avLst/>
          </a:prstGeom>
        </p:spPr>
      </p:pic>
      <p:sp>
        <p:nvSpPr>
          <p:cNvPr id="5" name="Freeform 5">
            <a:extLst>
              <a:ext uri="{FF2B5EF4-FFF2-40B4-BE49-F238E27FC236}">
                <a16:creationId xmlns:a16="http://schemas.microsoft.com/office/drawing/2014/main" id="{EB11B67E-CCD9-6C41-58CE-47C3C12DA423}"/>
              </a:ext>
            </a:extLst>
          </p:cNvPr>
          <p:cNvSpPr/>
          <p:nvPr/>
        </p:nvSpPr>
        <p:spPr>
          <a:xfrm>
            <a:off x="12436691" y="3550500"/>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 name="ZoneTexte 2">
            <a:extLst>
              <a:ext uri="{FF2B5EF4-FFF2-40B4-BE49-F238E27FC236}">
                <a16:creationId xmlns:a16="http://schemas.microsoft.com/office/drawing/2014/main" id="{C11B7A40-E889-B58D-F8F2-DAC53B4BAF5F}"/>
              </a:ext>
            </a:extLst>
          </p:cNvPr>
          <p:cNvSpPr txBox="1"/>
          <p:nvPr/>
        </p:nvSpPr>
        <p:spPr>
          <a:xfrm>
            <a:off x="5943600" y="342900"/>
            <a:ext cx="3200400" cy="707886"/>
          </a:xfrm>
          <a:prstGeom prst="rect">
            <a:avLst/>
          </a:prstGeom>
          <a:noFill/>
        </p:spPr>
        <p:txBody>
          <a:bodyPr wrap="square" rtlCol="0">
            <a:spAutoFit/>
          </a:bodyPr>
          <a:lstStyle/>
          <a:p>
            <a:r>
              <a:rPr lang="fr-FR" sz="4000" b="1" dirty="0">
                <a:solidFill>
                  <a:schemeClr val="tx2">
                    <a:lumMod val="75000"/>
                  </a:schemeClr>
                </a:solidFill>
              </a:rPr>
              <a:t>2.SubWord</a:t>
            </a:r>
            <a:endParaRPr lang="en-US" sz="4000" b="1" dirty="0">
              <a:solidFill>
                <a:schemeClr val="tx2">
                  <a:lumMod val="75000"/>
                </a:schemeClr>
              </a:solidFill>
            </a:endParaRPr>
          </a:p>
        </p:txBody>
      </p:sp>
    </p:spTree>
    <p:extLst>
      <p:ext uri="{BB962C8B-B14F-4D97-AF65-F5344CB8AC3E}">
        <p14:creationId xmlns:p14="http://schemas.microsoft.com/office/powerpoint/2010/main" val="2368205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76FA5-C269-9063-1BFC-063EAA3C12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EAB60E-08FA-7F3F-A9D8-AD70CBE999F4}"/>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61B3D845-74DA-7ACB-65E0-37554F5E575F}"/>
              </a:ext>
            </a:extLst>
          </p:cNvPr>
          <p:cNvSpPr/>
          <p:nvPr/>
        </p:nvSpPr>
        <p:spPr>
          <a:xfrm>
            <a:off x="12436691" y="3550500"/>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8B416D28-79A6-F5D6-80BA-7959734AEAA4}"/>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B61E0C47-BFEC-CFF2-4494-5F27E09F61F6}"/>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CDAAF4DB-1991-DD2F-5CA3-3D8AB71D0B6A}"/>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BB33D771-9B22-DCB8-39E7-EF1F237EA835}"/>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B3C65ED8-5C43-450F-5C69-F56F3D566C2F}"/>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 name="ZoneTexte 2">
            <a:extLst>
              <a:ext uri="{FF2B5EF4-FFF2-40B4-BE49-F238E27FC236}">
                <a16:creationId xmlns:a16="http://schemas.microsoft.com/office/drawing/2014/main" id="{96E6C77F-0E21-B226-17C3-49B01E3C05DF}"/>
              </a:ext>
            </a:extLst>
          </p:cNvPr>
          <p:cNvSpPr txBox="1"/>
          <p:nvPr/>
        </p:nvSpPr>
        <p:spPr>
          <a:xfrm>
            <a:off x="4953000" y="876300"/>
            <a:ext cx="7315200" cy="707886"/>
          </a:xfrm>
          <a:prstGeom prst="rect">
            <a:avLst/>
          </a:prstGeom>
          <a:noFill/>
        </p:spPr>
        <p:txBody>
          <a:bodyPr wrap="square" rtlCol="0">
            <a:spAutoFit/>
          </a:bodyPr>
          <a:lstStyle/>
          <a:p>
            <a:r>
              <a:rPr lang="fr-FR" sz="4000" b="1" dirty="0">
                <a:solidFill>
                  <a:schemeClr val="tx2">
                    <a:lumMod val="75000"/>
                  </a:schemeClr>
                </a:solidFill>
              </a:rPr>
              <a:t>2.Rcon et l'opération XOR</a:t>
            </a:r>
            <a:endParaRPr lang="en-US" sz="4000" b="1" dirty="0">
              <a:solidFill>
                <a:schemeClr val="tx2">
                  <a:lumMod val="75000"/>
                </a:schemeClr>
              </a:solidFill>
            </a:endParaRPr>
          </a:p>
        </p:txBody>
      </p:sp>
      <p:pic>
        <p:nvPicPr>
          <p:cNvPr id="12" name="Image 11">
            <a:extLst>
              <a:ext uri="{FF2B5EF4-FFF2-40B4-BE49-F238E27FC236}">
                <a16:creationId xmlns:a16="http://schemas.microsoft.com/office/drawing/2014/main" id="{EAA5C6FB-996B-9810-6C2E-91F11656BA21}"/>
              </a:ext>
            </a:extLst>
          </p:cNvPr>
          <p:cNvPicPr>
            <a:picLocks noChangeAspect="1"/>
          </p:cNvPicPr>
          <p:nvPr/>
        </p:nvPicPr>
        <p:blipFill>
          <a:blip r:embed="rId10"/>
          <a:stretch>
            <a:fillRect/>
          </a:stretch>
        </p:blipFill>
        <p:spPr>
          <a:xfrm>
            <a:off x="228600" y="1584186"/>
            <a:ext cx="17830800" cy="8702814"/>
          </a:xfrm>
          <a:prstGeom prst="rect">
            <a:avLst/>
          </a:prstGeom>
        </p:spPr>
      </p:pic>
    </p:spTree>
    <p:extLst>
      <p:ext uri="{BB962C8B-B14F-4D97-AF65-F5344CB8AC3E}">
        <p14:creationId xmlns:p14="http://schemas.microsoft.com/office/powerpoint/2010/main" val="4182807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FAB62-8A7F-EDE6-0766-68124EA5A364}"/>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14CBCA13-190E-1F56-0054-A010B1A6A00B}"/>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8A8F0239-E6CF-4F02-BF2B-4BB2C5F53AC6}"/>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8" name="Image 7">
            <a:extLst>
              <a:ext uri="{FF2B5EF4-FFF2-40B4-BE49-F238E27FC236}">
                <a16:creationId xmlns:a16="http://schemas.microsoft.com/office/drawing/2014/main" id="{5749F88F-75ED-C2AA-65BE-6908E6776FFE}"/>
              </a:ext>
            </a:extLst>
          </p:cNvPr>
          <p:cNvPicPr>
            <a:picLocks noChangeAspect="1"/>
          </p:cNvPicPr>
          <p:nvPr/>
        </p:nvPicPr>
        <p:blipFill>
          <a:blip r:embed="rId6"/>
          <a:stretch>
            <a:fillRect/>
          </a:stretch>
        </p:blipFill>
        <p:spPr>
          <a:xfrm>
            <a:off x="228600" y="1943100"/>
            <a:ext cx="8686800" cy="7924800"/>
          </a:xfrm>
          <a:prstGeom prst="rect">
            <a:avLst/>
          </a:prstGeom>
        </p:spPr>
      </p:pic>
      <p:sp>
        <p:nvSpPr>
          <p:cNvPr id="2" name="Freeform 2">
            <a:extLst>
              <a:ext uri="{FF2B5EF4-FFF2-40B4-BE49-F238E27FC236}">
                <a16:creationId xmlns:a16="http://schemas.microsoft.com/office/drawing/2014/main" id="{27A5AC4F-3145-F1B8-1DB5-B52002231E7D}"/>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 name="Freeform 5">
            <a:extLst>
              <a:ext uri="{FF2B5EF4-FFF2-40B4-BE49-F238E27FC236}">
                <a16:creationId xmlns:a16="http://schemas.microsoft.com/office/drawing/2014/main" id="{742B2B7A-5102-E4B5-27AB-78C0B0CB72FD}"/>
              </a:ext>
            </a:extLst>
          </p:cNvPr>
          <p:cNvSpPr/>
          <p:nvPr/>
        </p:nvSpPr>
        <p:spPr>
          <a:xfrm>
            <a:off x="12436691" y="3550500"/>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6" name="Freeform 6">
            <a:extLst>
              <a:ext uri="{FF2B5EF4-FFF2-40B4-BE49-F238E27FC236}">
                <a16:creationId xmlns:a16="http://schemas.microsoft.com/office/drawing/2014/main" id="{86D26B2A-48BE-2F9D-8E56-7B329B74F6C7}"/>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a:extLst>
              <a:ext uri="{FF2B5EF4-FFF2-40B4-BE49-F238E27FC236}">
                <a16:creationId xmlns:a16="http://schemas.microsoft.com/office/drawing/2014/main" id="{0CE79AEC-B641-D706-24B9-D524040F2C58}"/>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a:extLst>
              <a:ext uri="{FF2B5EF4-FFF2-40B4-BE49-F238E27FC236}">
                <a16:creationId xmlns:a16="http://schemas.microsoft.com/office/drawing/2014/main" id="{854A7D30-1736-0299-D4C1-7B47AEB38118}"/>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 name="ZoneTexte 2">
            <a:extLst>
              <a:ext uri="{FF2B5EF4-FFF2-40B4-BE49-F238E27FC236}">
                <a16:creationId xmlns:a16="http://schemas.microsoft.com/office/drawing/2014/main" id="{930EB9CB-648A-D4E2-7382-B30CBE0B8177}"/>
              </a:ext>
            </a:extLst>
          </p:cNvPr>
          <p:cNvSpPr txBox="1"/>
          <p:nvPr/>
        </p:nvSpPr>
        <p:spPr>
          <a:xfrm>
            <a:off x="4953000" y="876300"/>
            <a:ext cx="7315200" cy="707886"/>
          </a:xfrm>
          <a:prstGeom prst="rect">
            <a:avLst/>
          </a:prstGeom>
          <a:noFill/>
        </p:spPr>
        <p:txBody>
          <a:bodyPr wrap="square" rtlCol="0">
            <a:spAutoFit/>
          </a:bodyPr>
          <a:lstStyle/>
          <a:p>
            <a:r>
              <a:rPr lang="fr-FR" sz="4000" b="1" dirty="0">
                <a:solidFill>
                  <a:schemeClr val="tx2">
                    <a:lumMod val="75000"/>
                  </a:schemeClr>
                </a:solidFill>
              </a:rPr>
              <a:t>2.Rcon et l'opération XOR</a:t>
            </a:r>
            <a:endParaRPr lang="en-US" sz="4000" b="1" dirty="0">
              <a:solidFill>
                <a:schemeClr val="tx2">
                  <a:lumMod val="75000"/>
                </a:schemeClr>
              </a:solidFill>
            </a:endParaRPr>
          </a:p>
        </p:txBody>
      </p:sp>
      <p:pic>
        <p:nvPicPr>
          <p:cNvPr id="14" name="Image 13">
            <a:extLst>
              <a:ext uri="{FF2B5EF4-FFF2-40B4-BE49-F238E27FC236}">
                <a16:creationId xmlns:a16="http://schemas.microsoft.com/office/drawing/2014/main" id="{F3F76E99-5162-362B-DBDF-67173417947D}"/>
              </a:ext>
            </a:extLst>
          </p:cNvPr>
          <p:cNvPicPr>
            <a:picLocks noChangeAspect="1"/>
          </p:cNvPicPr>
          <p:nvPr/>
        </p:nvPicPr>
        <p:blipFill>
          <a:blip r:embed="rId11"/>
          <a:stretch>
            <a:fillRect/>
          </a:stretch>
        </p:blipFill>
        <p:spPr>
          <a:xfrm>
            <a:off x="8610600" y="2069084"/>
            <a:ext cx="9052613" cy="8134870"/>
          </a:xfrm>
          <a:prstGeom prst="rect">
            <a:avLst/>
          </a:prstGeom>
        </p:spPr>
      </p:pic>
    </p:spTree>
    <p:extLst>
      <p:ext uri="{BB962C8B-B14F-4D97-AF65-F5344CB8AC3E}">
        <p14:creationId xmlns:p14="http://schemas.microsoft.com/office/powerpoint/2010/main" val="2533646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91EA9-0D7B-B2B7-280F-D31DBCF30ECC}"/>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CEF05FE3-A652-F71B-60A7-CC4FE0B6F388}"/>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60B3342E-2631-7783-1B58-2043D22472D9}"/>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8" name="Image 7">
            <a:extLst>
              <a:ext uri="{FF2B5EF4-FFF2-40B4-BE49-F238E27FC236}">
                <a16:creationId xmlns:a16="http://schemas.microsoft.com/office/drawing/2014/main" id="{0B3E06AB-CC59-1FAA-DA64-1AB56DC90EAF}"/>
              </a:ext>
            </a:extLst>
          </p:cNvPr>
          <p:cNvPicPr>
            <a:picLocks noChangeAspect="1"/>
          </p:cNvPicPr>
          <p:nvPr/>
        </p:nvPicPr>
        <p:blipFill>
          <a:blip r:embed="rId6"/>
          <a:stretch>
            <a:fillRect/>
          </a:stretch>
        </p:blipFill>
        <p:spPr>
          <a:xfrm>
            <a:off x="228600" y="1943100"/>
            <a:ext cx="8686800" cy="7924800"/>
          </a:xfrm>
          <a:prstGeom prst="rect">
            <a:avLst/>
          </a:prstGeom>
        </p:spPr>
      </p:pic>
      <p:sp>
        <p:nvSpPr>
          <p:cNvPr id="2" name="Freeform 2">
            <a:extLst>
              <a:ext uri="{FF2B5EF4-FFF2-40B4-BE49-F238E27FC236}">
                <a16:creationId xmlns:a16="http://schemas.microsoft.com/office/drawing/2014/main" id="{3A722B14-CBF3-6559-F749-1FE6FB178547}"/>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 name="Freeform 5">
            <a:extLst>
              <a:ext uri="{FF2B5EF4-FFF2-40B4-BE49-F238E27FC236}">
                <a16:creationId xmlns:a16="http://schemas.microsoft.com/office/drawing/2014/main" id="{8540866B-AE04-33B5-09BA-B429597EFE53}"/>
              </a:ext>
            </a:extLst>
          </p:cNvPr>
          <p:cNvSpPr/>
          <p:nvPr/>
        </p:nvSpPr>
        <p:spPr>
          <a:xfrm>
            <a:off x="12436691" y="3550500"/>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6" name="Freeform 6">
            <a:extLst>
              <a:ext uri="{FF2B5EF4-FFF2-40B4-BE49-F238E27FC236}">
                <a16:creationId xmlns:a16="http://schemas.microsoft.com/office/drawing/2014/main" id="{3759334E-D598-F8C4-4362-6F8F5872A168}"/>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a:extLst>
              <a:ext uri="{FF2B5EF4-FFF2-40B4-BE49-F238E27FC236}">
                <a16:creationId xmlns:a16="http://schemas.microsoft.com/office/drawing/2014/main" id="{905AE1D0-0121-137A-D6C0-988A5199D716}"/>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a:extLst>
              <a:ext uri="{FF2B5EF4-FFF2-40B4-BE49-F238E27FC236}">
                <a16:creationId xmlns:a16="http://schemas.microsoft.com/office/drawing/2014/main" id="{2652E9C6-94CA-FE80-136B-F3D6EDF67D5E}"/>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 name="ZoneTexte 2">
            <a:extLst>
              <a:ext uri="{FF2B5EF4-FFF2-40B4-BE49-F238E27FC236}">
                <a16:creationId xmlns:a16="http://schemas.microsoft.com/office/drawing/2014/main" id="{5DBAD6A5-0331-8E1F-1514-9BB05EAD24C6}"/>
              </a:ext>
            </a:extLst>
          </p:cNvPr>
          <p:cNvSpPr txBox="1"/>
          <p:nvPr/>
        </p:nvSpPr>
        <p:spPr>
          <a:xfrm>
            <a:off x="4953000" y="876300"/>
            <a:ext cx="7315200" cy="707886"/>
          </a:xfrm>
          <a:prstGeom prst="rect">
            <a:avLst/>
          </a:prstGeom>
          <a:noFill/>
        </p:spPr>
        <p:txBody>
          <a:bodyPr wrap="square" rtlCol="0">
            <a:spAutoFit/>
          </a:bodyPr>
          <a:lstStyle/>
          <a:p>
            <a:r>
              <a:rPr lang="fr-FR" sz="4000" b="1" dirty="0">
                <a:solidFill>
                  <a:schemeClr val="tx2">
                    <a:lumMod val="75000"/>
                  </a:schemeClr>
                </a:solidFill>
              </a:rPr>
              <a:t>2.Rcon et l'opération XOR</a:t>
            </a:r>
            <a:endParaRPr lang="en-US" sz="4000" b="1" dirty="0">
              <a:solidFill>
                <a:schemeClr val="tx2">
                  <a:lumMod val="75000"/>
                </a:schemeClr>
              </a:solidFill>
            </a:endParaRPr>
          </a:p>
        </p:txBody>
      </p:sp>
      <p:pic>
        <p:nvPicPr>
          <p:cNvPr id="14" name="Image 13">
            <a:extLst>
              <a:ext uri="{FF2B5EF4-FFF2-40B4-BE49-F238E27FC236}">
                <a16:creationId xmlns:a16="http://schemas.microsoft.com/office/drawing/2014/main" id="{1F6AC846-421A-4CCE-8717-E98C9A711C26}"/>
              </a:ext>
            </a:extLst>
          </p:cNvPr>
          <p:cNvPicPr>
            <a:picLocks noChangeAspect="1"/>
          </p:cNvPicPr>
          <p:nvPr/>
        </p:nvPicPr>
        <p:blipFill>
          <a:blip r:embed="rId11"/>
          <a:stretch>
            <a:fillRect/>
          </a:stretch>
        </p:blipFill>
        <p:spPr>
          <a:xfrm>
            <a:off x="8610600" y="2069084"/>
            <a:ext cx="9052613" cy="8134870"/>
          </a:xfrm>
          <a:prstGeom prst="rect">
            <a:avLst/>
          </a:prstGeom>
        </p:spPr>
      </p:pic>
    </p:spTree>
    <p:extLst>
      <p:ext uri="{BB962C8B-B14F-4D97-AF65-F5344CB8AC3E}">
        <p14:creationId xmlns:p14="http://schemas.microsoft.com/office/powerpoint/2010/main" val="1610407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919A6-7449-5A19-83A2-F8F1842E9D74}"/>
            </a:ext>
          </a:extLst>
        </p:cNvPr>
        <p:cNvGrpSpPr/>
        <p:nvPr/>
      </p:nvGrpSpPr>
      <p:grpSpPr>
        <a:xfrm>
          <a:off x="0" y="0"/>
          <a:ext cx="0" cy="0"/>
          <a:chOff x="0" y="0"/>
          <a:chExt cx="0" cy="0"/>
        </a:xfrm>
      </p:grpSpPr>
      <p:sp>
        <p:nvSpPr>
          <p:cNvPr id="7" name="Freeform 7">
            <a:extLst>
              <a:ext uri="{FF2B5EF4-FFF2-40B4-BE49-F238E27FC236}">
                <a16:creationId xmlns:a16="http://schemas.microsoft.com/office/drawing/2014/main" id="{901670C1-591B-482B-7B87-DE336E6FAB5E}"/>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a:extLst>
              <a:ext uri="{FF2B5EF4-FFF2-40B4-BE49-F238E27FC236}">
                <a16:creationId xmlns:a16="http://schemas.microsoft.com/office/drawing/2014/main" id="{CA9DFEA7-EC51-6BDA-A3D5-19DC1A25526F}"/>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 name="Freeform 2">
            <a:extLst>
              <a:ext uri="{FF2B5EF4-FFF2-40B4-BE49-F238E27FC236}">
                <a16:creationId xmlns:a16="http://schemas.microsoft.com/office/drawing/2014/main" id="{DD6ADD44-8BBA-3116-7CC6-04EE4086F48B}"/>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E7FE95C0-A600-DD79-ADE5-342765B98014}"/>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4AB745F1-95DD-6894-8911-E57715FEBDF8}"/>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12" name="Image 11">
            <a:extLst>
              <a:ext uri="{FF2B5EF4-FFF2-40B4-BE49-F238E27FC236}">
                <a16:creationId xmlns:a16="http://schemas.microsoft.com/office/drawing/2014/main" id="{53DEF2C7-C2BD-2BE8-8E4A-04ACBA5AEACB}"/>
              </a:ext>
            </a:extLst>
          </p:cNvPr>
          <p:cNvPicPr>
            <a:picLocks noChangeAspect="1"/>
          </p:cNvPicPr>
          <p:nvPr/>
        </p:nvPicPr>
        <p:blipFill>
          <a:blip r:embed="rId8"/>
          <a:stretch>
            <a:fillRect/>
          </a:stretch>
        </p:blipFill>
        <p:spPr>
          <a:xfrm>
            <a:off x="1388560" y="1435342"/>
            <a:ext cx="15527840" cy="8280158"/>
          </a:xfrm>
          <a:prstGeom prst="rect">
            <a:avLst/>
          </a:prstGeom>
        </p:spPr>
      </p:pic>
      <p:sp>
        <p:nvSpPr>
          <p:cNvPr id="3" name="ZoneTexte 2">
            <a:extLst>
              <a:ext uri="{FF2B5EF4-FFF2-40B4-BE49-F238E27FC236}">
                <a16:creationId xmlns:a16="http://schemas.microsoft.com/office/drawing/2014/main" id="{6C62F1D1-8DFF-48D1-80F2-F68806CFEA7B}"/>
              </a:ext>
            </a:extLst>
          </p:cNvPr>
          <p:cNvSpPr txBox="1"/>
          <p:nvPr/>
        </p:nvSpPr>
        <p:spPr>
          <a:xfrm>
            <a:off x="4953000" y="876300"/>
            <a:ext cx="7315200" cy="707886"/>
          </a:xfrm>
          <a:prstGeom prst="rect">
            <a:avLst/>
          </a:prstGeom>
          <a:noFill/>
        </p:spPr>
        <p:txBody>
          <a:bodyPr wrap="square" rtlCol="0">
            <a:spAutoFit/>
          </a:bodyPr>
          <a:lstStyle/>
          <a:p>
            <a:r>
              <a:rPr lang="fr-FR" sz="4000" b="1" dirty="0">
                <a:solidFill>
                  <a:schemeClr val="tx2">
                    <a:lumMod val="75000"/>
                  </a:schemeClr>
                </a:solidFill>
              </a:rPr>
              <a:t>2.Rcon et l'opération XOR</a:t>
            </a:r>
            <a:endParaRPr lang="en-US" sz="4000" b="1" dirty="0">
              <a:solidFill>
                <a:schemeClr val="tx2">
                  <a:lumMod val="75000"/>
                </a:schemeClr>
              </a:solidFill>
            </a:endParaRPr>
          </a:p>
        </p:txBody>
      </p:sp>
    </p:spTree>
    <p:extLst>
      <p:ext uri="{BB962C8B-B14F-4D97-AF65-F5344CB8AC3E}">
        <p14:creationId xmlns:p14="http://schemas.microsoft.com/office/powerpoint/2010/main" val="2482399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8EF2-D5FE-EA53-60F2-863C27D977F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173040-C8B6-6CF5-9A1D-E320BC57F5CB}"/>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Rectangle : coins arrondis 20">
            <a:extLst>
              <a:ext uri="{FF2B5EF4-FFF2-40B4-BE49-F238E27FC236}">
                <a16:creationId xmlns:a16="http://schemas.microsoft.com/office/drawing/2014/main" id="{A734749C-BDB7-228D-EACF-2035BA071035}"/>
              </a:ext>
            </a:extLst>
          </p:cNvPr>
          <p:cNvSpPr/>
          <p:nvPr/>
        </p:nvSpPr>
        <p:spPr>
          <a:xfrm>
            <a:off x="3755773" y="4924666"/>
            <a:ext cx="8229600" cy="4562609"/>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a:extLst>
              <a:ext uri="{FF2B5EF4-FFF2-40B4-BE49-F238E27FC236}">
                <a16:creationId xmlns:a16="http://schemas.microsoft.com/office/drawing/2014/main" id="{0B5E9546-6017-49A6-84A7-E08DF2E7A9EC}"/>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5" name="Freeform 5">
            <a:extLst>
              <a:ext uri="{FF2B5EF4-FFF2-40B4-BE49-F238E27FC236}">
                <a16:creationId xmlns:a16="http://schemas.microsoft.com/office/drawing/2014/main" id="{BA9B8823-831E-4E2E-731F-E86F175C52B7}"/>
              </a:ext>
            </a:extLst>
          </p:cNvPr>
          <p:cNvSpPr/>
          <p:nvPr/>
        </p:nvSpPr>
        <p:spPr>
          <a:xfrm>
            <a:off x="10802562" y="4662913"/>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6" name="Freeform 6">
            <a:extLst>
              <a:ext uri="{FF2B5EF4-FFF2-40B4-BE49-F238E27FC236}">
                <a16:creationId xmlns:a16="http://schemas.microsoft.com/office/drawing/2014/main" id="{5242CAA3-8730-0988-EFC7-4B55D536C9BF}"/>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B13C7C4E-9C37-EFC7-9D96-C45786033250}"/>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F11067C5-08E0-98F2-D20D-BAF64EF9188A}"/>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AAC5EB8B-74BD-845C-7AB7-F316DAC63D77}"/>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C58189AC-3E3E-BCA7-2E2D-6EFDE4CF9DFF}"/>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ZoneTexte 17">
            <a:extLst>
              <a:ext uri="{FF2B5EF4-FFF2-40B4-BE49-F238E27FC236}">
                <a16:creationId xmlns:a16="http://schemas.microsoft.com/office/drawing/2014/main" id="{3CB7A276-9FCA-5334-1E71-EADE8A608636}"/>
              </a:ext>
            </a:extLst>
          </p:cNvPr>
          <p:cNvSpPr txBox="1"/>
          <p:nvPr/>
        </p:nvSpPr>
        <p:spPr>
          <a:xfrm>
            <a:off x="1494976" y="2515654"/>
            <a:ext cx="13335001" cy="2554545"/>
          </a:xfrm>
          <a:prstGeom prst="rect">
            <a:avLst/>
          </a:prstGeom>
          <a:noFill/>
        </p:spPr>
        <p:txBody>
          <a:bodyPr wrap="square" rtlCol="0">
            <a:spAutoFit/>
          </a:bodyPr>
          <a:lstStyle/>
          <a:p>
            <a:pPr>
              <a:buNone/>
            </a:pPr>
            <a:r>
              <a:rPr lang="fr-FR" sz="4000" dirty="0"/>
              <a:t>Les 128 bits (soit 16 octets) sont organisés en une </a:t>
            </a:r>
            <a:r>
              <a:rPr lang="fr-FR" sz="4000" b="1" dirty="0"/>
              <a:t>matrice 4x4</a:t>
            </a:r>
            <a:r>
              <a:rPr lang="fr-FR" sz="4000" dirty="0"/>
              <a:t>, appelée </a:t>
            </a:r>
            <a:r>
              <a:rPr lang="fr-FR" sz="4000" b="1" dirty="0"/>
              <a:t>état</a:t>
            </a:r>
            <a:r>
              <a:rPr lang="fr-FR" sz="4000" dirty="0"/>
              <a:t> :</a:t>
            </a:r>
          </a:p>
          <a:p>
            <a:endParaRPr lang="fr-FR" sz="4000" dirty="0"/>
          </a:p>
          <a:p>
            <a:endParaRPr lang="en-US" sz="4000" dirty="0"/>
          </a:p>
        </p:txBody>
      </p:sp>
      <p:pic>
        <p:nvPicPr>
          <p:cNvPr id="20" name="Image 19">
            <a:extLst>
              <a:ext uri="{FF2B5EF4-FFF2-40B4-BE49-F238E27FC236}">
                <a16:creationId xmlns:a16="http://schemas.microsoft.com/office/drawing/2014/main" id="{35190481-5EEC-02D1-4E6C-21B935B8B8C1}"/>
              </a:ext>
            </a:extLst>
          </p:cNvPr>
          <p:cNvPicPr>
            <a:picLocks noChangeAspect="1"/>
          </p:cNvPicPr>
          <p:nvPr/>
        </p:nvPicPr>
        <p:blipFill>
          <a:blip r:embed="rId10"/>
          <a:stretch>
            <a:fillRect/>
          </a:stretch>
        </p:blipFill>
        <p:spPr>
          <a:xfrm>
            <a:off x="4528476" y="5388512"/>
            <a:ext cx="6629400" cy="3720031"/>
          </a:xfrm>
          <a:prstGeom prst="rect">
            <a:avLst/>
          </a:prstGeom>
          <a:ln>
            <a:noFill/>
          </a:ln>
          <a:effectLst>
            <a:outerShdw blurRad="190500" algn="tl" rotWithShape="0">
              <a:srgbClr val="000000">
                <a:alpha val="70000"/>
              </a:srgbClr>
            </a:outerShdw>
          </a:effectLst>
        </p:spPr>
      </p:pic>
      <p:sp>
        <p:nvSpPr>
          <p:cNvPr id="4" name="ZoneTexte 3">
            <a:extLst>
              <a:ext uri="{FF2B5EF4-FFF2-40B4-BE49-F238E27FC236}">
                <a16:creationId xmlns:a16="http://schemas.microsoft.com/office/drawing/2014/main" id="{399A7995-9FBF-AB0C-4494-CE8BE2057002}"/>
              </a:ext>
            </a:extLst>
          </p:cNvPr>
          <p:cNvSpPr txBox="1"/>
          <p:nvPr/>
        </p:nvSpPr>
        <p:spPr>
          <a:xfrm>
            <a:off x="1976538" y="3907189"/>
            <a:ext cx="14706600" cy="646331"/>
          </a:xfrm>
          <a:prstGeom prst="rect">
            <a:avLst/>
          </a:prstGeom>
          <a:noFill/>
        </p:spPr>
        <p:txBody>
          <a:bodyPr wrap="square" rtlCol="0">
            <a:spAutoFit/>
          </a:bodyPr>
          <a:lstStyle/>
          <a:p>
            <a:r>
              <a:rPr lang="en-US" sz="3600" dirty="0"/>
              <a:t>Text = b0  b4  b8  b12 b1  b5  b9  b13 b2  b6  b10 b14 b3  b7  b11 b15 </a:t>
            </a:r>
          </a:p>
        </p:txBody>
      </p:sp>
    </p:spTree>
    <p:extLst>
      <p:ext uri="{BB962C8B-B14F-4D97-AF65-F5344CB8AC3E}">
        <p14:creationId xmlns:p14="http://schemas.microsoft.com/office/powerpoint/2010/main" val="3619589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38B9-0814-8880-8D57-7AB455DB2D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8781A7-7B00-0F29-8330-EE4C3AEADE41}"/>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Rectangle : coins arrondis 16">
            <a:extLst>
              <a:ext uri="{FF2B5EF4-FFF2-40B4-BE49-F238E27FC236}">
                <a16:creationId xmlns:a16="http://schemas.microsoft.com/office/drawing/2014/main" id="{729DF0B9-41AE-24D5-2330-5D842316C503}"/>
              </a:ext>
            </a:extLst>
          </p:cNvPr>
          <p:cNvSpPr/>
          <p:nvPr/>
        </p:nvSpPr>
        <p:spPr>
          <a:xfrm>
            <a:off x="685800" y="2277094"/>
            <a:ext cx="16459199" cy="2118657"/>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 coins arrondis 14">
            <a:extLst>
              <a:ext uri="{FF2B5EF4-FFF2-40B4-BE49-F238E27FC236}">
                <a16:creationId xmlns:a16="http://schemas.microsoft.com/office/drawing/2014/main" id="{65FB4ABF-E6D0-E2AA-BC64-2A1AEEC223E2}"/>
              </a:ext>
            </a:extLst>
          </p:cNvPr>
          <p:cNvSpPr/>
          <p:nvPr/>
        </p:nvSpPr>
        <p:spPr>
          <a:xfrm>
            <a:off x="571865" y="5406541"/>
            <a:ext cx="16459199" cy="3434752"/>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a:extLst>
              <a:ext uri="{FF2B5EF4-FFF2-40B4-BE49-F238E27FC236}">
                <a16:creationId xmlns:a16="http://schemas.microsoft.com/office/drawing/2014/main" id="{6A70FC35-BD0C-BC83-4D93-31471A0B1324}"/>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5" name="Freeform 5">
            <a:extLst>
              <a:ext uri="{FF2B5EF4-FFF2-40B4-BE49-F238E27FC236}">
                <a16:creationId xmlns:a16="http://schemas.microsoft.com/office/drawing/2014/main" id="{3A99BF78-E33C-36C3-BF4F-D9AC22B00292}"/>
              </a:ext>
            </a:extLst>
          </p:cNvPr>
          <p:cNvSpPr/>
          <p:nvPr/>
        </p:nvSpPr>
        <p:spPr>
          <a:xfrm>
            <a:off x="14675887" y="4032206"/>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94F70750-A935-AF0D-08CD-2540A1D4CD10}"/>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42D6DD27-754A-DF64-13FA-DAA1B4AC6164}"/>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BE614EB7-9804-D8A2-DC42-5ADD47FEA03A}"/>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A7C3C5B6-FBAA-78C4-58E1-C6DC1DD64075}"/>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6EBB93B0-4FD9-C040-A285-60975E7949F0}"/>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ZoneTexte 17">
            <a:extLst>
              <a:ext uri="{FF2B5EF4-FFF2-40B4-BE49-F238E27FC236}">
                <a16:creationId xmlns:a16="http://schemas.microsoft.com/office/drawing/2014/main" id="{74F72C5F-A3D6-FAB6-9EA8-5500F7163D51}"/>
              </a:ext>
            </a:extLst>
          </p:cNvPr>
          <p:cNvSpPr txBox="1"/>
          <p:nvPr/>
        </p:nvSpPr>
        <p:spPr>
          <a:xfrm>
            <a:off x="1537532" y="2919657"/>
            <a:ext cx="13335001" cy="646331"/>
          </a:xfrm>
          <a:prstGeom prst="rect">
            <a:avLst/>
          </a:prstGeom>
          <a:noFill/>
        </p:spPr>
        <p:txBody>
          <a:bodyPr wrap="square" rtlCol="0">
            <a:spAutoFit/>
          </a:bodyPr>
          <a:lstStyle/>
          <a:p>
            <a:pPr>
              <a:buNone/>
            </a:pPr>
            <a:r>
              <a:rPr lang="fr-FR" sz="3600" dirty="0"/>
              <a:t>Exemple : </a:t>
            </a:r>
            <a:endParaRPr lang="en-US" sz="3600" dirty="0"/>
          </a:p>
        </p:txBody>
      </p:sp>
      <p:pic>
        <p:nvPicPr>
          <p:cNvPr id="8" name="Image 7">
            <a:extLst>
              <a:ext uri="{FF2B5EF4-FFF2-40B4-BE49-F238E27FC236}">
                <a16:creationId xmlns:a16="http://schemas.microsoft.com/office/drawing/2014/main" id="{0E5EB7EA-2118-A024-25AD-E03578331BEE}"/>
              </a:ext>
            </a:extLst>
          </p:cNvPr>
          <p:cNvPicPr>
            <a:picLocks noChangeAspect="1"/>
          </p:cNvPicPr>
          <p:nvPr/>
        </p:nvPicPr>
        <p:blipFill>
          <a:blip r:embed="rId10"/>
          <a:stretch>
            <a:fillRect/>
          </a:stretch>
        </p:blipFill>
        <p:spPr>
          <a:xfrm>
            <a:off x="3979198" y="2376519"/>
            <a:ext cx="10390123" cy="1915135"/>
          </a:xfrm>
          <a:prstGeom prst="rect">
            <a:avLst/>
          </a:prstGeom>
          <a:ln>
            <a:noFill/>
          </a:ln>
          <a:effectLst>
            <a:outerShdw blurRad="190500" algn="tl" rotWithShape="0">
              <a:srgbClr val="000000">
                <a:alpha val="70000"/>
              </a:srgbClr>
            </a:outerShdw>
          </a:effectLst>
        </p:spPr>
      </p:pic>
      <p:pic>
        <p:nvPicPr>
          <p:cNvPr id="13" name="Image 12">
            <a:extLst>
              <a:ext uri="{FF2B5EF4-FFF2-40B4-BE49-F238E27FC236}">
                <a16:creationId xmlns:a16="http://schemas.microsoft.com/office/drawing/2014/main" id="{EC8B9DC6-B8C2-74A5-8759-D8E09EE7DA27}"/>
              </a:ext>
            </a:extLst>
          </p:cNvPr>
          <p:cNvPicPr>
            <a:picLocks noChangeAspect="1"/>
          </p:cNvPicPr>
          <p:nvPr/>
        </p:nvPicPr>
        <p:blipFill>
          <a:blip r:embed="rId11"/>
          <a:stretch>
            <a:fillRect/>
          </a:stretch>
        </p:blipFill>
        <p:spPr>
          <a:xfrm>
            <a:off x="10744200" y="5652900"/>
            <a:ext cx="4812145" cy="2942034"/>
          </a:xfrm>
          <a:prstGeom prst="rect">
            <a:avLst/>
          </a:prstGeom>
          <a:ln>
            <a:noFill/>
          </a:ln>
          <a:effectLst>
            <a:outerShdw blurRad="190500" algn="tl" rotWithShape="0">
              <a:srgbClr val="000000">
                <a:alpha val="70000"/>
              </a:srgbClr>
            </a:outerShdw>
          </a:effectLst>
        </p:spPr>
      </p:pic>
      <p:sp>
        <p:nvSpPr>
          <p:cNvPr id="14" name="ZoneTexte 13">
            <a:extLst>
              <a:ext uri="{FF2B5EF4-FFF2-40B4-BE49-F238E27FC236}">
                <a16:creationId xmlns:a16="http://schemas.microsoft.com/office/drawing/2014/main" id="{D9A88281-9543-897B-B352-D6379CF1BD5F}"/>
              </a:ext>
            </a:extLst>
          </p:cNvPr>
          <p:cNvSpPr txBox="1"/>
          <p:nvPr/>
        </p:nvSpPr>
        <p:spPr>
          <a:xfrm>
            <a:off x="1072019" y="6587499"/>
            <a:ext cx="9525017" cy="646331"/>
          </a:xfrm>
          <a:prstGeom prst="rect">
            <a:avLst/>
          </a:prstGeom>
          <a:noFill/>
        </p:spPr>
        <p:txBody>
          <a:bodyPr wrap="square" rtlCol="0">
            <a:spAutoFit/>
          </a:bodyPr>
          <a:lstStyle/>
          <a:p>
            <a:r>
              <a:rPr lang="fr-FR" sz="3600" dirty="0"/>
              <a:t>On crée la matrice de l'état à partir du texte brut :</a:t>
            </a:r>
            <a:endParaRPr lang="en-US" sz="3600" dirty="0"/>
          </a:p>
        </p:txBody>
      </p:sp>
      <p:sp>
        <p:nvSpPr>
          <p:cNvPr id="16" name="Freeform 5">
            <a:extLst>
              <a:ext uri="{FF2B5EF4-FFF2-40B4-BE49-F238E27FC236}">
                <a16:creationId xmlns:a16="http://schemas.microsoft.com/office/drawing/2014/main" id="{1FFEC761-A599-2132-B049-2648ABB50B29}"/>
              </a:ext>
            </a:extLst>
          </p:cNvPr>
          <p:cNvSpPr/>
          <p:nvPr/>
        </p:nvSpPr>
        <p:spPr>
          <a:xfrm>
            <a:off x="1615638" y="8414788"/>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1211806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6D29E-E1DE-AC9F-DD93-793BC844F59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05BC27-007A-218E-0E47-040E11B0C3CA}"/>
              </a:ext>
            </a:extLst>
          </p:cNvPr>
          <p:cNvSpPr/>
          <p:nvPr/>
        </p:nvSpPr>
        <p:spPr>
          <a:xfrm>
            <a:off x="12046222" y="3288011"/>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Rectangle : coins arrondis 18">
            <a:extLst>
              <a:ext uri="{FF2B5EF4-FFF2-40B4-BE49-F238E27FC236}">
                <a16:creationId xmlns:a16="http://schemas.microsoft.com/office/drawing/2014/main" id="{0D14E954-A794-8D14-80E6-686A1972849D}"/>
              </a:ext>
            </a:extLst>
          </p:cNvPr>
          <p:cNvSpPr/>
          <p:nvPr/>
        </p:nvSpPr>
        <p:spPr>
          <a:xfrm>
            <a:off x="1622627" y="4624026"/>
            <a:ext cx="14210935" cy="5561746"/>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a:extLst>
              <a:ext uri="{FF2B5EF4-FFF2-40B4-BE49-F238E27FC236}">
                <a16:creationId xmlns:a16="http://schemas.microsoft.com/office/drawing/2014/main" id="{C9E9C280-8D7D-769D-AC40-53260B979146}"/>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5" name="Freeform 5">
            <a:extLst>
              <a:ext uri="{FF2B5EF4-FFF2-40B4-BE49-F238E27FC236}">
                <a16:creationId xmlns:a16="http://schemas.microsoft.com/office/drawing/2014/main" id="{3D2C3D2D-E9D2-8BCE-AB31-2066A6F29B78}"/>
              </a:ext>
            </a:extLst>
          </p:cNvPr>
          <p:cNvSpPr/>
          <p:nvPr/>
        </p:nvSpPr>
        <p:spPr>
          <a:xfrm>
            <a:off x="14929318" y="1381887"/>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65EC3F2A-DFA7-1446-F2B6-9E0EFFDA34D6}"/>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07E152BD-62A2-3881-4647-2847318DC0CF}"/>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5A9C6281-D9EC-B340-DB21-24C9DD019D75}"/>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7EE5D9E2-7B92-785C-5B88-CF7F3AA29AD6}"/>
              </a:ext>
            </a:extLst>
          </p:cNvPr>
          <p:cNvSpPr/>
          <p:nvPr/>
        </p:nvSpPr>
        <p:spPr>
          <a:xfrm rot="-2791948" flipV="1">
            <a:off x="-5510614" y="-8029294"/>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9F692F44-D971-D829-2CAF-55148304F09F}"/>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7" name="Rectangle 4">
            <a:extLst>
              <a:ext uri="{FF2B5EF4-FFF2-40B4-BE49-F238E27FC236}">
                <a16:creationId xmlns:a16="http://schemas.microsoft.com/office/drawing/2014/main" id="{61891FD7-5E91-D969-C8F2-324EBF06238C}"/>
              </a:ext>
            </a:extLst>
          </p:cNvPr>
          <p:cNvSpPr>
            <a:spLocks noChangeArrowheads="1"/>
          </p:cNvSpPr>
          <p:nvPr/>
        </p:nvSpPr>
        <p:spPr bwMode="auto">
          <a:xfrm>
            <a:off x="1598550" y="3269288"/>
            <a:ext cx="167640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fr-FR" altLang="fr-FR" sz="3600" b="1" i="0" u="none" strike="noStrike" cap="none" normalizeH="0" baseline="0" dirty="0">
                <a:ln>
                  <a:noFill/>
                </a:ln>
                <a:solidFill>
                  <a:schemeClr val="tx2">
                    <a:lumMod val="75000"/>
                  </a:schemeClr>
                </a:solidFill>
                <a:effectLst/>
                <a:latin typeface="Arial" panose="020B0604020202020204" pitchFamily="34" charset="0"/>
              </a:rPr>
              <a:t>1.</a:t>
            </a:r>
            <a:r>
              <a:rPr lang="fr-FR" sz="3600" dirty="0"/>
              <a:t> </a:t>
            </a:r>
            <a:r>
              <a:rPr kumimoji="0" lang="fr-FR" altLang="fr-FR" sz="3600" b="1" i="0" u="none" strike="noStrike" cap="none" normalizeH="0" baseline="0" dirty="0" err="1">
                <a:ln>
                  <a:noFill/>
                </a:ln>
                <a:solidFill>
                  <a:schemeClr val="tx2">
                    <a:lumMod val="75000"/>
                  </a:schemeClr>
                </a:solidFill>
                <a:effectLst/>
                <a:latin typeface="Arial Unicode MS"/>
              </a:rPr>
              <a:t>AddRoundKey</a:t>
            </a:r>
            <a:endParaRPr kumimoji="0" lang="fr-FR" altLang="fr-FR" sz="3600" b="1" i="0" u="none" strike="noStrike" cap="none" normalizeH="0" baseline="0" dirty="0">
              <a:ln>
                <a:noFill/>
              </a:ln>
              <a:solidFill>
                <a:schemeClr val="tx2">
                  <a:lumMod val="75000"/>
                </a:schemeClr>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3200" b="0" i="0" u="none" strike="noStrike" cap="none" normalizeH="0" baseline="0" dirty="0">
                <a:ln>
                  <a:noFill/>
                </a:ln>
                <a:solidFill>
                  <a:schemeClr val="tx1"/>
                </a:solidFill>
                <a:effectLst/>
                <a:latin typeface="Arial" panose="020B0604020202020204" pitchFamily="34" charset="0"/>
              </a:rPr>
              <a:t>Avant tout, on combine le bloc de données avec la clé via une opération XOR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3600" b="0" i="0" u="none" strike="noStrike" cap="none" normalizeH="0" baseline="0" dirty="0">
              <a:ln>
                <a:noFill/>
              </a:ln>
              <a:solidFill>
                <a:schemeClr val="tx1"/>
              </a:solidFill>
              <a:effectLst/>
              <a:latin typeface="Arial" panose="020B0604020202020204" pitchFamily="34" charset="0"/>
            </a:endParaRPr>
          </a:p>
        </p:txBody>
      </p:sp>
      <p:sp>
        <p:nvSpPr>
          <p:cNvPr id="4" name="ZoneTexte 3">
            <a:extLst>
              <a:ext uri="{FF2B5EF4-FFF2-40B4-BE49-F238E27FC236}">
                <a16:creationId xmlns:a16="http://schemas.microsoft.com/office/drawing/2014/main" id="{273C71F3-CFB0-1032-8DA9-47DF369F6417}"/>
              </a:ext>
            </a:extLst>
          </p:cNvPr>
          <p:cNvSpPr txBox="1"/>
          <p:nvPr/>
        </p:nvSpPr>
        <p:spPr>
          <a:xfrm>
            <a:off x="7086965" y="1876095"/>
            <a:ext cx="3429000" cy="1323439"/>
          </a:xfrm>
          <a:prstGeom prst="rect">
            <a:avLst/>
          </a:prstGeom>
          <a:noFill/>
        </p:spPr>
        <p:txBody>
          <a:bodyPr wrap="square" rtlCol="0">
            <a:spAutoFit/>
          </a:bodyPr>
          <a:lstStyle/>
          <a:p>
            <a:r>
              <a:rPr lang="fr-FR" sz="4400" b="1" dirty="0">
                <a:solidFill>
                  <a:schemeClr val="tx2">
                    <a:lumMod val="75000"/>
                  </a:schemeClr>
                </a:solidFill>
              </a:rPr>
              <a:t>Étape :</a:t>
            </a:r>
          </a:p>
          <a:p>
            <a:endParaRPr lang="en-US" sz="3600" dirty="0"/>
          </a:p>
        </p:txBody>
      </p:sp>
      <p:pic>
        <p:nvPicPr>
          <p:cNvPr id="12" name="Image 11">
            <a:extLst>
              <a:ext uri="{FF2B5EF4-FFF2-40B4-BE49-F238E27FC236}">
                <a16:creationId xmlns:a16="http://schemas.microsoft.com/office/drawing/2014/main" id="{EA9DB244-2E8B-D125-E076-8DF4F23BBF0B}"/>
              </a:ext>
            </a:extLst>
          </p:cNvPr>
          <p:cNvPicPr>
            <a:picLocks noChangeAspect="1"/>
          </p:cNvPicPr>
          <p:nvPr/>
        </p:nvPicPr>
        <p:blipFill>
          <a:blip r:embed="rId10"/>
          <a:stretch>
            <a:fillRect/>
          </a:stretch>
        </p:blipFill>
        <p:spPr>
          <a:xfrm>
            <a:off x="2247797" y="4991169"/>
            <a:ext cx="3322854" cy="2722598"/>
          </a:xfrm>
          <a:prstGeom prst="rect">
            <a:avLst/>
          </a:prstGeom>
          <a:ln>
            <a:noFill/>
          </a:ln>
          <a:effectLst>
            <a:outerShdw blurRad="190500" algn="tl" rotWithShape="0">
              <a:srgbClr val="000000">
                <a:alpha val="70000"/>
              </a:srgbClr>
            </a:outerShdw>
          </a:effectLst>
        </p:spPr>
      </p:pic>
      <p:pic>
        <p:nvPicPr>
          <p:cNvPr id="13" name="Image 12">
            <a:extLst>
              <a:ext uri="{FF2B5EF4-FFF2-40B4-BE49-F238E27FC236}">
                <a16:creationId xmlns:a16="http://schemas.microsoft.com/office/drawing/2014/main" id="{0AB81165-F9FA-3784-3FF3-F7DF2113B0CA}"/>
              </a:ext>
            </a:extLst>
          </p:cNvPr>
          <p:cNvPicPr>
            <a:picLocks noChangeAspect="1"/>
          </p:cNvPicPr>
          <p:nvPr/>
        </p:nvPicPr>
        <p:blipFill>
          <a:blip r:embed="rId11"/>
          <a:stretch>
            <a:fillRect/>
          </a:stretch>
        </p:blipFill>
        <p:spPr>
          <a:xfrm>
            <a:off x="6902141" y="4892061"/>
            <a:ext cx="3322854" cy="2762295"/>
          </a:xfrm>
          <a:prstGeom prst="rect">
            <a:avLst/>
          </a:prstGeom>
          <a:ln>
            <a:noFill/>
          </a:ln>
          <a:effectLst>
            <a:outerShdw blurRad="190500" algn="tl" rotWithShape="0">
              <a:srgbClr val="000000">
                <a:alpha val="70000"/>
              </a:srgbClr>
            </a:outerShdw>
          </a:effectLst>
        </p:spPr>
      </p:pic>
      <p:sp>
        <p:nvSpPr>
          <p:cNvPr id="14" name="ZoneTexte 13">
            <a:extLst>
              <a:ext uri="{FF2B5EF4-FFF2-40B4-BE49-F238E27FC236}">
                <a16:creationId xmlns:a16="http://schemas.microsoft.com/office/drawing/2014/main" id="{600DCA08-C0A2-C1FA-DABD-84CA6F352652}"/>
              </a:ext>
            </a:extLst>
          </p:cNvPr>
          <p:cNvSpPr txBox="1"/>
          <p:nvPr/>
        </p:nvSpPr>
        <p:spPr>
          <a:xfrm>
            <a:off x="5742879" y="6097283"/>
            <a:ext cx="1385898" cy="584775"/>
          </a:xfrm>
          <a:prstGeom prst="rect">
            <a:avLst/>
          </a:prstGeom>
          <a:noFill/>
        </p:spPr>
        <p:txBody>
          <a:bodyPr wrap="square" rtlCol="0">
            <a:spAutoFit/>
          </a:bodyPr>
          <a:lstStyle/>
          <a:p>
            <a:r>
              <a:rPr lang="fr-FR" sz="3200" b="1" dirty="0"/>
              <a:t>XOR</a:t>
            </a:r>
            <a:endParaRPr lang="en-US" sz="3200" b="1" dirty="0"/>
          </a:p>
        </p:txBody>
      </p:sp>
      <p:pic>
        <p:nvPicPr>
          <p:cNvPr id="16" name="Image 15">
            <a:extLst>
              <a:ext uri="{FF2B5EF4-FFF2-40B4-BE49-F238E27FC236}">
                <a16:creationId xmlns:a16="http://schemas.microsoft.com/office/drawing/2014/main" id="{DF12A788-F6AF-B262-817F-1A827D292188}"/>
              </a:ext>
            </a:extLst>
          </p:cNvPr>
          <p:cNvPicPr>
            <a:picLocks noChangeAspect="1"/>
          </p:cNvPicPr>
          <p:nvPr/>
        </p:nvPicPr>
        <p:blipFill>
          <a:blip r:embed="rId12"/>
          <a:stretch>
            <a:fillRect/>
          </a:stretch>
        </p:blipFill>
        <p:spPr>
          <a:xfrm>
            <a:off x="11760890" y="4853308"/>
            <a:ext cx="3377544" cy="2867530"/>
          </a:xfrm>
          <a:prstGeom prst="rect">
            <a:avLst/>
          </a:prstGeom>
          <a:ln>
            <a:noFill/>
          </a:ln>
          <a:effectLst>
            <a:outerShdw blurRad="190500" algn="tl" rotWithShape="0">
              <a:srgbClr val="000000">
                <a:alpha val="70000"/>
              </a:srgbClr>
            </a:outerShdw>
          </a:effectLst>
        </p:spPr>
      </p:pic>
      <p:sp>
        <p:nvSpPr>
          <p:cNvPr id="18" name="ZoneTexte 17">
            <a:extLst>
              <a:ext uri="{FF2B5EF4-FFF2-40B4-BE49-F238E27FC236}">
                <a16:creationId xmlns:a16="http://schemas.microsoft.com/office/drawing/2014/main" id="{99631FAB-31CD-E383-D78A-D01B9C6378A6}"/>
              </a:ext>
            </a:extLst>
          </p:cNvPr>
          <p:cNvSpPr txBox="1"/>
          <p:nvPr/>
        </p:nvSpPr>
        <p:spPr>
          <a:xfrm>
            <a:off x="10568765" y="5727532"/>
            <a:ext cx="1385898" cy="1107996"/>
          </a:xfrm>
          <a:prstGeom prst="rect">
            <a:avLst/>
          </a:prstGeom>
          <a:noFill/>
        </p:spPr>
        <p:txBody>
          <a:bodyPr wrap="square" rtlCol="0">
            <a:spAutoFit/>
          </a:bodyPr>
          <a:lstStyle/>
          <a:p>
            <a:r>
              <a:rPr lang="fr-FR" sz="6600" b="1" dirty="0"/>
              <a:t>=</a:t>
            </a:r>
            <a:endParaRPr lang="en-US" sz="6600" b="1" dirty="0"/>
          </a:p>
        </p:txBody>
      </p:sp>
      <p:sp>
        <p:nvSpPr>
          <p:cNvPr id="20" name="Freeform 5">
            <a:extLst>
              <a:ext uri="{FF2B5EF4-FFF2-40B4-BE49-F238E27FC236}">
                <a16:creationId xmlns:a16="http://schemas.microsoft.com/office/drawing/2014/main" id="{486557DA-2952-2370-938E-3E93EBE4D0E8}"/>
              </a:ext>
            </a:extLst>
          </p:cNvPr>
          <p:cNvSpPr/>
          <p:nvPr/>
        </p:nvSpPr>
        <p:spPr>
          <a:xfrm>
            <a:off x="1772363" y="7634879"/>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Rectangle 3">
            <a:extLst>
              <a:ext uri="{FF2B5EF4-FFF2-40B4-BE49-F238E27FC236}">
                <a16:creationId xmlns:a16="http://schemas.microsoft.com/office/drawing/2014/main" id="{009B0256-FF62-1AA0-32F6-38EEF0C87A00}"/>
              </a:ext>
            </a:extLst>
          </p:cNvPr>
          <p:cNvSpPr>
            <a:spLocks noChangeArrowheads="1"/>
          </p:cNvSpPr>
          <p:nvPr/>
        </p:nvSpPr>
        <p:spPr bwMode="auto">
          <a:xfrm>
            <a:off x="3192863" y="7385005"/>
            <a:ext cx="24164116"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4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4400" b="1" i="0" u="none" strike="noStrike" cap="none" normalizeH="0" baseline="0" dirty="0">
                <a:ln>
                  <a:noFill/>
                </a:ln>
                <a:solidFill>
                  <a:schemeClr val="tx1"/>
                </a:solidFill>
                <a:effectLst/>
                <a:latin typeface="Arial Unicode MS"/>
              </a:rPr>
              <a:t>3 2</a:t>
            </a:r>
            <a:r>
              <a:rPr kumimoji="0" lang="fr-FR" altLang="fr-FR" sz="4400" b="1" i="0" u="none" strike="noStrike" cap="none" normalizeH="0" baseline="0" dirty="0">
                <a:ln>
                  <a:noFill/>
                </a:ln>
                <a:solidFill>
                  <a:schemeClr val="tx1"/>
                </a:solidFill>
                <a:effectLst/>
              </a:rPr>
              <a:t> = </a:t>
            </a:r>
            <a:r>
              <a:rPr kumimoji="0" lang="fr-FR" altLang="fr-FR" sz="4400" b="1" i="0" u="none" strike="noStrike" cap="none" normalizeH="0" baseline="0" dirty="0">
                <a:ln>
                  <a:noFill/>
                </a:ln>
                <a:solidFill>
                  <a:schemeClr val="tx1"/>
                </a:solidFill>
                <a:effectLst/>
                <a:latin typeface="Arial Unicode MS"/>
              </a:rPr>
              <a:t>0011 0010</a:t>
            </a:r>
            <a:endParaRPr kumimoji="0" lang="fr-FR" altLang="fr-FR" sz="4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4400" b="1" i="0" u="none" strike="noStrike" cap="none" normalizeH="0" baseline="0" dirty="0">
                <a:ln>
                  <a:noFill/>
                </a:ln>
                <a:solidFill>
                  <a:schemeClr val="tx1"/>
                </a:solidFill>
                <a:effectLst/>
                <a:latin typeface="Arial Unicode MS"/>
              </a:rPr>
              <a:t>2 b</a:t>
            </a:r>
            <a:r>
              <a:rPr kumimoji="0" lang="fr-FR" altLang="fr-FR" sz="4400" b="1" i="0" u="none" strike="noStrike" cap="none" normalizeH="0" baseline="0" dirty="0">
                <a:ln>
                  <a:noFill/>
                </a:ln>
                <a:solidFill>
                  <a:schemeClr val="tx1"/>
                </a:solidFill>
                <a:effectLst/>
              </a:rPr>
              <a:t> = </a:t>
            </a:r>
            <a:r>
              <a:rPr kumimoji="0" lang="fr-FR" altLang="fr-FR" sz="4400" b="1" i="0" u="none" strike="noStrike" cap="none" normalizeH="0" baseline="0" dirty="0">
                <a:ln>
                  <a:noFill/>
                </a:ln>
                <a:solidFill>
                  <a:schemeClr val="tx1"/>
                </a:solidFill>
                <a:effectLst/>
                <a:latin typeface="Arial Unicode MS"/>
              </a:rPr>
              <a:t>0010 1011</a:t>
            </a:r>
            <a:endParaRPr kumimoji="0" lang="fr-FR" altLang="fr-FR" sz="4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4400" b="1" i="0" u="none" strike="noStrike" cap="none" normalizeH="0" baseline="0" dirty="0">
              <a:ln>
                <a:noFill/>
              </a:ln>
              <a:solidFill>
                <a:schemeClr val="tx1"/>
              </a:solidFill>
              <a:effectLst/>
              <a:latin typeface="Arial" panose="020B0604020202020204" pitchFamily="34" charset="0"/>
            </a:endParaRPr>
          </a:p>
        </p:txBody>
      </p:sp>
      <p:sp>
        <p:nvSpPr>
          <p:cNvPr id="23" name="ZoneTexte 22">
            <a:extLst>
              <a:ext uri="{FF2B5EF4-FFF2-40B4-BE49-F238E27FC236}">
                <a16:creationId xmlns:a16="http://schemas.microsoft.com/office/drawing/2014/main" id="{9F5C0530-E14B-6C24-6B9A-F65716D68C8A}"/>
              </a:ext>
            </a:extLst>
          </p:cNvPr>
          <p:cNvSpPr txBox="1"/>
          <p:nvPr/>
        </p:nvSpPr>
        <p:spPr>
          <a:xfrm>
            <a:off x="8628494" y="7800028"/>
            <a:ext cx="6129327" cy="2308324"/>
          </a:xfrm>
          <a:prstGeom prst="rect">
            <a:avLst/>
          </a:prstGeom>
          <a:noFill/>
        </p:spPr>
        <p:txBody>
          <a:bodyPr wrap="square" rtlCol="0">
            <a:spAutoFit/>
          </a:bodyPr>
          <a:lstStyle/>
          <a:p>
            <a:r>
              <a:rPr lang="en-US" sz="3600" b="1" dirty="0"/>
              <a:t>     0011 0010</a:t>
            </a:r>
          </a:p>
          <a:p>
            <a:r>
              <a:rPr lang="en-US" sz="3600" b="1" dirty="0"/>
              <a:t>⊕ 0010 1011</a:t>
            </a:r>
          </a:p>
          <a:p>
            <a:r>
              <a:rPr lang="en-US" sz="3600" b="1" dirty="0"/>
              <a:t>       -----------</a:t>
            </a:r>
          </a:p>
          <a:p>
            <a:r>
              <a:rPr lang="en-US" sz="3600" b="1" dirty="0"/>
              <a:t>      0001 1001 = 19</a:t>
            </a:r>
          </a:p>
        </p:txBody>
      </p:sp>
      <p:sp>
        <p:nvSpPr>
          <p:cNvPr id="8" name="ZoneTexte 7">
            <a:extLst>
              <a:ext uri="{FF2B5EF4-FFF2-40B4-BE49-F238E27FC236}">
                <a16:creationId xmlns:a16="http://schemas.microsoft.com/office/drawing/2014/main" id="{94FEE882-D32C-24C1-136C-9C9B58478222}"/>
              </a:ext>
            </a:extLst>
          </p:cNvPr>
          <p:cNvSpPr txBox="1"/>
          <p:nvPr/>
        </p:nvSpPr>
        <p:spPr>
          <a:xfrm>
            <a:off x="1868355" y="2511584"/>
            <a:ext cx="4969343" cy="707886"/>
          </a:xfrm>
          <a:prstGeom prst="rect">
            <a:avLst/>
          </a:prstGeom>
          <a:noFill/>
        </p:spPr>
        <p:txBody>
          <a:bodyPr wrap="square" rtlCol="0">
            <a:spAutoFit/>
          </a:bodyPr>
          <a:lstStyle/>
          <a:p>
            <a:pPr marL="571500" indent="-571500">
              <a:buFont typeface="Wingdings" panose="05000000000000000000" pitchFamily="2" charset="2"/>
              <a:buChar char="Ø"/>
            </a:pPr>
            <a:r>
              <a:rPr lang="fr-FR" sz="4000" b="1" dirty="0">
                <a:solidFill>
                  <a:schemeClr val="tx2">
                    <a:lumMod val="75000"/>
                  </a:schemeClr>
                </a:solidFill>
              </a:rPr>
              <a:t>Initial Round 0 :</a:t>
            </a:r>
            <a:endParaRPr lang="en-US" sz="4000" b="1" dirty="0">
              <a:solidFill>
                <a:schemeClr val="tx2">
                  <a:lumMod val="75000"/>
                </a:schemeClr>
              </a:solidFill>
            </a:endParaRPr>
          </a:p>
        </p:txBody>
      </p:sp>
    </p:spTree>
    <p:extLst>
      <p:ext uri="{BB962C8B-B14F-4D97-AF65-F5344CB8AC3E}">
        <p14:creationId xmlns:p14="http://schemas.microsoft.com/office/powerpoint/2010/main" val="356398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2790000" flipH="1" flipV="1">
            <a:off x="15809138" y="5585961"/>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2790000" flipV="1">
            <a:off x="-9482337" y="5585961"/>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2791948" flipV="1">
            <a:off x="-5481629" y="-777049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790000" flipH="1" flipV="1">
            <a:off x="11278700" y="-8101715"/>
            <a:ext cx="11961199" cy="9742940"/>
          </a:xfrm>
          <a:custGeom>
            <a:avLst/>
            <a:gdLst/>
            <a:ahLst/>
            <a:cxnLst/>
            <a:rect l="l" t="t" r="r" b="b"/>
            <a:pathLst>
              <a:path w="11961199" h="9742940">
                <a:moveTo>
                  <a:pt x="11961200" y="9742941"/>
                </a:moveTo>
                <a:lnTo>
                  <a:pt x="0" y="9742941"/>
                </a:lnTo>
                <a:lnTo>
                  <a:pt x="0" y="0"/>
                </a:lnTo>
                <a:lnTo>
                  <a:pt x="11961200" y="0"/>
                </a:lnTo>
                <a:lnTo>
                  <a:pt x="11961200" y="974294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p:cNvSpPr/>
          <p:nvPr/>
        </p:nvSpPr>
        <p:spPr>
          <a:xfrm>
            <a:off x="16301082" y="1862521"/>
            <a:ext cx="814911" cy="975095"/>
          </a:xfrm>
          <a:custGeom>
            <a:avLst/>
            <a:gdLst/>
            <a:ahLst/>
            <a:cxnLst/>
            <a:rect l="l" t="t" r="r" b="b"/>
            <a:pathLst>
              <a:path w="814911" h="975095">
                <a:moveTo>
                  <a:pt x="0" y="0"/>
                </a:moveTo>
                <a:lnTo>
                  <a:pt x="814911" y="0"/>
                </a:lnTo>
                <a:lnTo>
                  <a:pt x="814911" y="975095"/>
                </a:lnTo>
                <a:lnTo>
                  <a:pt x="0" y="975095"/>
                </a:lnTo>
                <a:lnTo>
                  <a:pt x="0" y="0"/>
                </a:lnTo>
                <a:close/>
              </a:path>
            </a:pathLst>
          </a:custGeom>
          <a:blipFill>
            <a:blip r:embed="rId6">
              <a:extLst>
                <a:ext uri="{96DAC541-7B7A-43D3-8B79-37D633B846F1}">
                  <asvg:svgBlip xmlns:asvg="http://schemas.microsoft.com/office/drawing/2016/SVG/main" r:embed="rId7"/>
                </a:ext>
              </a:extLst>
            </a:blip>
            <a:stretch>
              <a:fillRect r="-66725" b="-6750"/>
            </a:stretch>
          </a:blipFill>
        </p:spPr>
      </p:sp>
      <p:sp>
        <p:nvSpPr>
          <p:cNvPr id="21" name="Freeform 21"/>
          <p:cNvSpPr/>
          <p:nvPr/>
        </p:nvSpPr>
        <p:spPr>
          <a:xfrm>
            <a:off x="876328" y="5886838"/>
            <a:ext cx="814911" cy="975095"/>
          </a:xfrm>
          <a:custGeom>
            <a:avLst/>
            <a:gdLst/>
            <a:ahLst/>
            <a:cxnLst/>
            <a:rect l="l" t="t" r="r" b="b"/>
            <a:pathLst>
              <a:path w="814911" h="975095">
                <a:moveTo>
                  <a:pt x="0" y="0"/>
                </a:moveTo>
                <a:lnTo>
                  <a:pt x="814910" y="0"/>
                </a:lnTo>
                <a:lnTo>
                  <a:pt x="814910" y="975095"/>
                </a:lnTo>
                <a:lnTo>
                  <a:pt x="0" y="975095"/>
                </a:lnTo>
                <a:lnTo>
                  <a:pt x="0" y="0"/>
                </a:lnTo>
                <a:close/>
              </a:path>
            </a:pathLst>
          </a:custGeom>
          <a:blipFill>
            <a:blip r:embed="rId6">
              <a:extLst>
                <a:ext uri="{96DAC541-7B7A-43D3-8B79-37D633B846F1}">
                  <asvg:svgBlip xmlns:asvg="http://schemas.microsoft.com/office/drawing/2016/SVG/main" r:embed="rId7"/>
                </a:ext>
              </a:extLst>
            </a:blip>
            <a:stretch>
              <a:fillRect r="-66725" b="-6750"/>
            </a:stretch>
          </a:blipFill>
        </p:spPr>
      </p:sp>
      <p:sp>
        <p:nvSpPr>
          <p:cNvPr id="22" name="TextBox 3">
            <a:extLst>
              <a:ext uri="{FF2B5EF4-FFF2-40B4-BE49-F238E27FC236}">
                <a16:creationId xmlns:a16="http://schemas.microsoft.com/office/drawing/2014/main" id="{A0036F8E-7B17-D7D0-C08C-D65D4352359D}"/>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23" name="Rectangle 4">
            <a:extLst>
              <a:ext uri="{FF2B5EF4-FFF2-40B4-BE49-F238E27FC236}">
                <a16:creationId xmlns:a16="http://schemas.microsoft.com/office/drawing/2014/main" id="{A1B53035-ACCE-F321-2304-E2EE05467356}"/>
              </a:ext>
            </a:extLst>
          </p:cNvPr>
          <p:cNvSpPr>
            <a:spLocks noChangeArrowheads="1"/>
          </p:cNvSpPr>
          <p:nvPr/>
        </p:nvSpPr>
        <p:spPr bwMode="auto">
          <a:xfrm>
            <a:off x="1757176" y="3035737"/>
            <a:ext cx="16764000"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FR" sz="3600" b="1" dirty="0">
                <a:solidFill>
                  <a:schemeClr val="tx2">
                    <a:lumMod val="75000"/>
                  </a:schemeClr>
                </a:solidFill>
              </a:rPr>
              <a:t>1.SubBytes</a:t>
            </a:r>
            <a:endParaRPr lang="fr-FR" sz="3600" dirty="0">
              <a:solidFill>
                <a:schemeClr val="tx2">
                  <a:lumMod val="75000"/>
                </a:schemeClr>
              </a:solidFill>
            </a:endParaRPr>
          </a:p>
          <a:p>
            <a:pPr marL="742950" lvl="1" indent="-285750">
              <a:buFont typeface="+mj-lt"/>
              <a:buAutoNum type="arabicPeriod"/>
            </a:pPr>
            <a:r>
              <a:rPr lang="fr-FR" sz="3200" dirty="0"/>
              <a:t>Chaque octet est remplacé par un autre via la </a:t>
            </a:r>
            <a:r>
              <a:rPr lang="fr-FR" sz="3200" b="1" dirty="0"/>
              <a:t>S-Box</a:t>
            </a:r>
            <a:r>
              <a:rPr lang="fr-FR" sz="3200" dirty="0"/>
              <a:t> (table de substitution non linéaire).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3600" b="0" i="0" u="none" strike="noStrike" cap="none" normalizeH="0" baseline="0" dirty="0">
              <a:ln>
                <a:noFill/>
              </a:ln>
              <a:solidFill>
                <a:schemeClr val="tx1"/>
              </a:solidFill>
              <a:effectLst/>
              <a:latin typeface="Arial" panose="020B0604020202020204" pitchFamily="34" charset="0"/>
            </a:endParaRPr>
          </a:p>
        </p:txBody>
      </p:sp>
      <p:sp>
        <p:nvSpPr>
          <p:cNvPr id="24" name="ZoneTexte 23">
            <a:extLst>
              <a:ext uri="{FF2B5EF4-FFF2-40B4-BE49-F238E27FC236}">
                <a16:creationId xmlns:a16="http://schemas.microsoft.com/office/drawing/2014/main" id="{8D1342ED-4FD4-E0DF-EA29-95B1B5D54E6A}"/>
              </a:ext>
            </a:extLst>
          </p:cNvPr>
          <p:cNvSpPr txBox="1"/>
          <p:nvPr/>
        </p:nvSpPr>
        <p:spPr>
          <a:xfrm>
            <a:off x="7086965" y="1876095"/>
            <a:ext cx="3429000" cy="1200329"/>
          </a:xfrm>
          <a:prstGeom prst="rect">
            <a:avLst/>
          </a:prstGeom>
          <a:noFill/>
        </p:spPr>
        <p:txBody>
          <a:bodyPr wrap="square" rtlCol="0">
            <a:spAutoFit/>
          </a:bodyPr>
          <a:lstStyle/>
          <a:p>
            <a:r>
              <a:rPr lang="fr-FR" sz="3600" b="1" dirty="0">
                <a:solidFill>
                  <a:schemeClr val="tx2">
                    <a:lumMod val="75000"/>
                  </a:schemeClr>
                </a:solidFill>
              </a:rPr>
              <a:t>Étape :</a:t>
            </a:r>
          </a:p>
          <a:p>
            <a:endParaRPr lang="en-US" sz="3600" dirty="0"/>
          </a:p>
        </p:txBody>
      </p:sp>
      <p:pic>
        <p:nvPicPr>
          <p:cNvPr id="9" name="Image 8">
            <a:extLst>
              <a:ext uri="{FF2B5EF4-FFF2-40B4-BE49-F238E27FC236}">
                <a16:creationId xmlns:a16="http://schemas.microsoft.com/office/drawing/2014/main" id="{8894F3EE-9117-4F64-48D0-893DA15F3CDE}"/>
              </a:ext>
            </a:extLst>
          </p:cNvPr>
          <p:cNvPicPr>
            <a:picLocks noChangeAspect="1"/>
          </p:cNvPicPr>
          <p:nvPr/>
        </p:nvPicPr>
        <p:blipFill>
          <a:blip r:embed="rId8"/>
          <a:stretch>
            <a:fillRect/>
          </a:stretch>
        </p:blipFill>
        <p:spPr>
          <a:xfrm>
            <a:off x="1811933" y="5740722"/>
            <a:ext cx="4910534" cy="3810187"/>
          </a:xfrm>
          <a:prstGeom prst="rect">
            <a:avLst/>
          </a:prstGeom>
          <a:ln>
            <a:noFill/>
          </a:ln>
          <a:effectLst>
            <a:outerShdw blurRad="190500" algn="tl" rotWithShape="0">
              <a:srgbClr val="000000">
                <a:alpha val="70000"/>
              </a:srgbClr>
            </a:outerShdw>
          </a:effectLst>
        </p:spPr>
      </p:pic>
      <p:pic>
        <p:nvPicPr>
          <p:cNvPr id="11" name="Image 10">
            <a:extLst>
              <a:ext uri="{FF2B5EF4-FFF2-40B4-BE49-F238E27FC236}">
                <a16:creationId xmlns:a16="http://schemas.microsoft.com/office/drawing/2014/main" id="{FBD5A09A-1DD3-88A9-E6D1-34C8BEFD4553}"/>
              </a:ext>
            </a:extLst>
          </p:cNvPr>
          <p:cNvPicPr>
            <a:picLocks noChangeAspect="1"/>
          </p:cNvPicPr>
          <p:nvPr/>
        </p:nvPicPr>
        <p:blipFill>
          <a:blip r:embed="rId9"/>
          <a:stretch>
            <a:fillRect/>
          </a:stretch>
        </p:blipFill>
        <p:spPr>
          <a:xfrm>
            <a:off x="11569719" y="5726367"/>
            <a:ext cx="5013022" cy="3810187"/>
          </a:xfrm>
          <a:prstGeom prst="rect">
            <a:avLst/>
          </a:prstGeom>
          <a:ln>
            <a:noFill/>
          </a:ln>
          <a:effectLst>
            <a:outerShdw blurRad="190500" algn="tl" rotWithShape="0">
              <a:srgbClr val="000000">
                <a:alpha val="70000"/>
              </a:srgbClr>
            </a:outerShdw>
          </a:effectLst>
        </p:spPr>
      </p:pic>
      <p:sp>
        <p:nvSpPr>
          <p:cNvPr id="12" name="Rectangle 11">
            <a:extLst>
              <a:ext uri="{FF2B5EF4-FFF2-40B4-BE49-F238E27FC236}">
                <a16:creationId xmlns:a16="http://schemas.microsoft.com/office/drawing/2014/main" id="{E019E10F-AF6A-8C9E-3A64-95D621E2E1BB}"/>
              </a:ext>
            </a:extLst>
          </p:cNvPr>
          <p:cNvSpPr/>
          <p:nvPr/>
        </p:nvSpPr>
        <p:spPr>
          <a:xfrm>
            <a:off x="2550601" y="5921188"/>
            <a:ext cx="855067"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3" name="Rectangle 12">
            <a:extLst>
              <a:ext uri="{FF2B5EF4-FFF2-40B4-BE49-F238E27FC236}">
                <a16:creationId xmlns:a16="http://schemas.microsoft.com/office/drawing/2014/main" id="{B3A727FD-47E5-8B12-ACF0-0ABB5D73AD9D}"/>
              </a:ext>
            </a:extLst>
          </p:cNvPr>
          <p:cNvSpPr/>
          <p:nvPr/>
        </p:nvSpPr>
        <p:spPr>
          <a:xfrm>
            <a:off x="12285433" y="6008487"/>
            <a:ext cx="855067"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4" name="Rectangle 13">
            <a:extLst>
              <a:ext uri="{FF2B5EF4-FFF2-40B4-BE49-F238E27FC236}">
                <a16:creationId xmlns:a16="http://schemas.microsoft.com/office/drawing/2014/main" id="{5A24E4AF-22AB-CEF1-F95F-4B497232CD32}"/>
              </a:ext>
            </a:extLst>
          </p:cNvPr>
          <p:cNvSpPr/>
          <p:nvPr/>
        </p:nvSpPr>
        <p:spPr>
          <a:xfrm>
            <a:off x="8189576" y="4899579"/>
            <a:ext cx="2197678" cy="1562599"/>
          </a:xfrm>
          <a:prstGeom prst="rect">
            <a:avLst/>
          </a:prstGeom>
          <a:solidFill>
            <a:srgbClr val="0070C0"/>
          </a:solidFill>
          <a:ln w="7620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5400" dirty="0">
                <a:solidFill>
                  <a:srgbClr val="FFC000"/>
                </a:solidFill>
              </a:rPr>
              <a:t>S_BOX</a:t>
            </a:r>
          </a:p>
        </p:txBody>
      </p:sp>
      <p:cxnSp>
        <p:nvCxnSpPr>
          <p:cNvPr id="28" name="Connecteur : en arc 27">
            <a:extLst>
              <a:ext uri="{FF2B5EF4-FFF2-40B4-BE49-F238E27FC236}">
                <a16:creationId xmlns:a16="http://schemas.microsoft.com/office/drawing/2014/main" id="{917F8A2D-B66C-3025-1812-13CE879C3079}"/>
              </a:ext>
            </a:extLst>
          </p:cNvPr>
          <p:cNvCxnSpPr>
            <a:stCxn id="13" idx="0"/>
          </p:cNvCxnSpPr>
          <p:nvPr/>
        </p:nvCxnSpPr>
        <p:spPr>
          <a:xfrm rot="16200000" flipV="1">
            <a:off x="11410573" y="4706093"/>
            <a:ext cx="407787" cy="2197002"/>
          </a:xfrm>
          <a:prstGeom prst="curvedConnector2">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1" name="Connecteur : en arc 30">
            <a:extLst>
              <a:ext uri="{FF2B5EF4-FFF2-40B4-BE49-F238E27FC236}">
                <a16:creationId xmlns:a16="http://schemas.microsoft.com/office/drawing/2014/main" id="{ACF16E05-08F6-D8A5-623B-85EA4BB7E648}"/>
              </a:ext>
            </a:extLst>
          </p:cNvPr>
          <p:cNvCxnSpPr>
            <a:stCxn id="12" idx="0"/>
          </p:cNvCxnSpPr>
          <p:nvPr/>
        </p:nvCxnSpPr>
        <p:spPr>
          <a:xfrm rot="5400000" flipH="1" flipV="1">
            <a:off x="5100723" y="3020912"/>
            <a:ext cx="777688" cy="5022865"/>
          </a:xfrm>
          <a:prstGeom prst="curvedConnector2">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A9D2F2C5-ADA2-8A8C-8372-839757F60DD8}"/>
              </a:ext>
            </a:extLst>
          </p:cNvPr>
          <p:cNvSpPr txBox="1"/>
          <p:nvPr/>
        </p:nvSpPr>
        <p:spPr>
          <a:xfrm>
            <a:off x="1691239" y="2400300"/>
            <a:ext cx="3883793" cy="707886"/>
          </a:xfrm>
          <a:prstGeom prst="rect">
            <a:avLst/>
          </a:prstGeom>
          <a:noFill/>
        </p:spPr>
        <p:txBody>
          <a:bodyPr wrap="square" rtlCol="0">
            <a:spAutoFit/>
          </a:bodyPr>
          <a:lstStyle/>
          <a:p>
            <a:r>
              <a:rPr lang="fr-FR" sz="4000" b="1" dirty="0">
                <a:solidFill>
                  <a:schemeClr val="tx2">
                    <a:lumMod val="75000"/>
                  </a:schemeClr>
                </a:solidFill>
              </a:rPr>
              <a:t>Round 1 :</a:t>
            </a:r>
            <a:endParaRPr lang="en-US" sz="4000" b="1" dirty="0">
              <a:solidFill>
                <a:schemeClr val="tx2">
                  <a:lumMod val="75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EDA41-F32D-7A53-7061-51D252F9EDD0}"/>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ABC1604B-F528-CF19-0789-6CBF86D9DE1A}"/>
              </a:ext>
            </a:extLst>
          </p:cNvPr>
          <p:cNvSpPr/>
          <p:nvPr/>
        </p:nvSpPr>
        <p:spPr>
          <a:xfrm rot="2790000" flipH="1" flipV="1">
            <a:off x="15809138" y="5585961"/>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0C8F9E20-8E37-2365-A986-6A8640C74FA2}"/>
              </a:ext>
            </a:extLst>
          </p:cNvPr>
          <p:cNvSpPr/>
          <p:nvPr/>
        </p:nvSpPr>
        <p:spPr>
          <a:xfrm rot="-2790000" flipV="1">
            <a:off x="-9482337" y="5585961"/>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77A933A1-22CE-4276-4B7D-6022C8556C51}"/>
              </a:ext>
            </a:extLst>
          </p:cNvPr>
          <p:cNvSpPr/>
          <p:nvPr/>
        </p:nvSpPr>
        <p:spPr>
          <a:xfrm rot="-2791948" flipV="1">
            <a:off x="-5481629" y="-777049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0EF0CB43-EC8C-E22D-D92C-CA0E527359C4}"/>
              </a:ext>
            </a:extLst>
          </p:cNvPr>
          <p:cNvSpPr/>
          <p:nvPr/>
        </p:nvSpPr>
        <p:spPr>
          <a:xfrm rot="2790000" flipH="1" flipV="1">
            <a:off x="11278700" y="-8101715"/>
            <a:ext cx="11961199" cy="9742940"/>
          </a:xfrm>
          <a:custGeom>
            <a:avLst/>
            <a:gdLst/>
            <a:ahLst/>
            <a:cxnLst/>
            <a:rect l="l" t="t" r="r" b="b"/>
            <a:pathLst>
              <a:path w="11961199" h="9742940">
                <a:moveTo>
                  <a:pt x="11961200" y="9742941"/>
                </a:moveTo>
                <a:lnTo>
                  <a:pt x="0" y="9742941"/>
                </a:lnTo>
                <a:lnTo>
                  <a:pt x="0" y="0"/>
                </a:lnTo>
                <a:lnTo>
                  <a:pt x="11961200" y="0"/>
                </a:lnTo>
                <a:lnTo>
                  <a:pt x="11961200" y="974294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a:extLst>
              <a:ext uri="{FF2B5EF4-FFF2-40B4-BE49-F238E27FC236}">
                <a16:creationId xmlns:a16="http://schemas.microsoft.com/office/drawing/2014/main" id="{60A4D428-8E6F-7235-28AB-9ACA2152307E}"/>
              </a:ext>
            </a:extLst>
          </p:cNvPr>
          <p:cNvSpPr/>
          <p:nvPr/>
        </p:nvSpPr>
        <p:spPr>
          <a:xfrm>
            <a:off x="16039169" y="5886838"/>
            <a:ext cx="814911" cy="975095"/>
          </a:xfrm>
          <a:custGeom>
            <a:avLst/>
            <a:gdLst/>
            <a:ahLst/>
            <a:cxnLst/>
            <a:rect l="l" t="t" r="r" b="b"/>
            <a:pathLst>
              <a:path w="814911" h="975095">
                <a:moveTo>
                  <a:pt x="0" y="0"/>
                </a:moveTo>
                <a:lnTo>
                  <a:pt x="814911" y="0"/>
                </a:lnTo>
                <a:lnTo>
                  <a:pt x="814911" y="975095"/>
                </a:lnTo>
                <a:lnTo>
                  <a:pt x="0" y="975095"/>
                </a:lnTo>
                <a:lnTo>
                  <a:pt x="0" y="0"/>
                </a:lnTo>
                <a:close/>
              </a:path>
            </a:pathLst>
          </a:custGeom>
          <a:blipFill>
            <a:blip r:embed="rId6">
              <a:extLst>
                <a:ext uri="{96DAC541-7B7A-43D3-8B79-37D633B846F1}">
                  <asvg:svgBlip xmlns:asvg="http://schemas.microsoft.com/office/drawing/2016/SVG/main" r:embed="rId7"/>
                </a:ext>
              </a:extLst>
            </a:blip>
            <a:stretch>
              <a:fillRect r="-66725" b="-6750"/>
            </a:stretch>
          </a:blipFill>
        </p:spPr>
      </p:sp>
      <p:sp>
        <p:nvSpPr>
          <p:cNvPr id="21" name="Freeform 21">
            <a:extLst>
              <a:ext uri="{FF2B5EF4-FFF2-40B4-BE49-F238E27FC236}">
                <a16:creationId xmlns:a16="http://schemas.microsoft.com/office/drawing/2014/main" id="{100849A4-3076-B353-D12A-D42BE4153DC2}"/>
              </a:ext>
            </a:extLst>
          </p:cNvPr>
          <p:cNvSpPr/>
          <p:nvPr/>
        </p:nvSpPr>
        <p:spPr>
          <a:xfrm>
            <a:off x="876328" y="5886838"/>
            <a:ext cx="814911" cy="975095"/>
          </a:xfrm>
          <a:custGeom>
            <a:avLst/>
            <a:gdLst/>
            <a:ahLst/>
            <a:cxnLst/>
            <a:rect l="l" t="t" r="r" b="b"/>
            <a:pathLst>
              <a:path w="814911" h="975095">
                <a:moveTo>
                  <a:pt x="0" y="0"/>
                </a:moveTo>
                <a:lnTo>
                  <a:pt x="814910" y="0"/>
                </a:lnTo>
                <a:lnTo>
                  <a:pt x="814910" y="975095"/>
                </a:lnTo>
                <a:lnTo>
                  <a:pt x="0" y="975095"/>
                </a:lnTo>
                <a:lnTo>
                  <a:pt x="0" y="0"/>
                </a:lnTo>
                <a:close/>
              </a:path>
            </a:pathLst>
          </a:custGeom>
          <a:blipFill>
            <a:blip r:embed="rId6">
              <a:extLst>
                <a:ext uri="{96DAC541-7B7A-43D3-8B79-37D633B846F1}">
                  <asvg:svgBlip xmlns:asvg="http://schemas.microsoft.com/office/drawing/2016/SVG/main" r:embed="rId7"/>
                </a:ext>
              </a:extLst>
            </a:blip>
            <a:stretch>
              <a:fillRect r="-66725" b="-6750"/>
            </a:stretch>
          </a:blipFill>
        </p:spPr>
      </p:sp>
      <p:pic>
        <p:nvPicPr>
          <p:cNvPr id="8" name="Image 7">
            <a:extLst>
              <a:ext uri="{FF2B5EF4-FFF2-40B4-BE49-F238E27FC236}">
                <a16:creationId xmlns:a16="http://schemas.microsoft.com/office/drawing/2014/main" id="{D91358FA-54EE-8ABD-2C74-35532871846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4210" y="249245"/>
            <a:ext cx="17329117" cy="9518027"/>
          </a:xfrm>
          <a:prstGeom prst="rect">
            <a:avLst/>
          </a:prstGeom>
        </p:spPr>
      </p:pic>
      <p:sp>
        <p:nvSpPr>
          <p:cNvPr id="2" name="Rectangle 1">
            <a:extLst>
              <a:ext uri="{FF2B5EF4-FFF2-40B4-BE49-F238E27FC236}">
                <a16:creationId xmlns:a16="http://schemas.microsoft.com/office/drawing/2014/main" id="{DD60C6E5-3830-E229-9E28-1791B05349CF}"/>
              </a:ext>
            </a:extLst>
          </p:cNvPr>
          <p:cNvSpPr/>
          <p:nvPr/>
        </p:nvSpPr>
        <p:spPr>
          <a:xfrm rot="5400000">
            <a:off x="10641882" y="2632087"/>
            <a:ext cx="1375606" cy="937687"/>
          </a:xfrm>
          <a:prstGeom prst="rect">
            <a:avLst/>
          </a:prstGeom>
          <a:noFill/>
          <a:ln w="762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B29FCAE9-859C-0CB3-B3AF-5247A974E601}"/>
              </a:ext>
            </a:extLst>
          </p:cNvPr>
          <p:cNvSpPr/>
          <p:nvPr/>
        </p:nvSpPr>
        <p:spPr>
          <a:xfrm rot="5400000">
            <a:off x="6691298" y="-1685303"/>
            <a:ext cx="474031" cy="10474038"/>
          </a:xfrm>
          <a:prstGeom prst="rect">
            <a:avLst/>
          </a:prstGeom>
          <a:noFill/>
          <a:ln w="762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788471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792F9-ACE3-DE9A-23C3-0F2A4BD9D6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ACD634A-4028-F7D0-5218-F49705454E31}"/>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4" name="Image 13">
            <a:extLst>
              <a:ext uri="{FF2B5EF4-FFF2-40B4-BE49-F238E27FC236}">
                <a16:creationId xmlns:a16="http://schemas.microsoft.com/office/drawing/2014/main" id="{9238525B-0916-81A7-A395-29DF8A642D42}"/>
              </a:ext>
            </a:extLst>
          </p:cNvPr>
          <p:cNvPicPr>
            <a:picLocks noChangeAspect="1"/>
          </p:cNvPicPr>
          <p:nvPr/>
        </p:nvPicPr>
        <p:blipFill>
          <a:blip r:embed="rId4"/>
          <a:stretch>
            <a:fillRect/>
          </a:stretch>
        </p:blipFill>
        <p:spPr>
          <a:xfrm>
            <a:off x="2590800" y="5242357"/>
            <a:ext cx="14173200" cy="4893915"/>
          </a:xfrm>
          <a:prstGeom prst="rect">
            <a:avLst/>
          </a:prstGeom>
        </p:spPr>
      </p:pic>
      <p:sp>
        <p:nvSpPr>
          <p:cNvPr id="3" name="TextBox 3">
            <a:extLst>
              <a:ext uri="{FF2B5EF4-FFF2-40B4-BE49-F238E27FC236}">
                <a16:creationId xmlns:a16="http://schemas.microsoft.com/office/drawing/2014/main" id="{C49AE599-C696-23EF-04F3-1B57419ABC3A}"/>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5" name="Freeform 5">
            <a:extLst>
              <a:ext uri="{FF2B5EF4-FFF2-40B4-BE49-F238E27FC236}">
                <a16:creationId xmlns:a16="http://schemas.microsoft.com/office/drawing/2014/main" id="{22945E83-077A-04B5-38E7-1008AFC90D5F}"/>
              </a:ext>
            </a:extLst>
          </p:cNvPr>
          <p:cNvSpPr/>
          <p:nvPr/>
        </p:nvSpPr>
        <p:spPr>
          <a:xfrm>
            <a:off x="13775659" y="3092949"/>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a:extLst>
              <a:ext uri="{FF2B5EF4-FFF2-40B4-BE49-F238E27FC236}">
                <a16:creationId xmlns:a16="http://schemas.microsoft.com/office/drawing/2014/main" id="{CBC412C9-45E8-024B-D168-2951610396AA}"/>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a:extLst>
              <a:ext uri="{FF2B5EF4-FFF2-40B4-BE49-F238E27FC236}">
                <a16:creationId xmlns:a16="http://schemas.microsoft.com/office/drawing/2014/main" id="{64D23D50-5A08-096E-9474-30D90BFE7228}"/>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a:extLst>
              <a:ext uri="{FF2B5EF4-FFF2-40B4-BE49-F238E27FC236}">
                <a16:creationId xmlns:a16="http://schemas.microsoft.com/office/drawing/2014/main" id="{D1E925B4-CDFB-2C87-0708-261648E7D314}"/>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a:extLst>
              <a:ext uri="{FF2B5EF4-FFF2-40B4-BE49-F238E27FC236}">
                <a16:creationId xmlns:a16="http://schemas.microsoft.com/office/drawing/2014/main" id="{DB13A6EF-573B-51CE-980A-09C5DF15E997}"/>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1" name="Freeform 11">
            <a:extLst>
              <a:ext uri="{FF2B5EF4-FFF2-40B4-BE49-F238E27FC236}">
                <a16:creationId xmlns:a16="http://schemas.microsoft.com/office/drawing/2014/main" id="{AF28B865-4E5A-C555-1C38-C985A9DED0B7}"/>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7" name="Rectangle 4">
            <a:extLst>
              <a:ext uri="{FF2B5EF4-FFF2-40B4-BE49-F238E27FC236}">
                <a16:creationId xmlns:a16="http://schemas.microsoft.com/office/drawing/2014/main" id="{A10E44EE-32A4-C240-BF5E-425FA09A1AEA}"/>
              </a:ext>
            </a:extLst>
          </p:cNvPr>
          <p:cNvSpPr>
            <a:spLocks noChangeArrowheads="1"/>
          </p:cNvSpPr>
          <p:nvPr/>
        </p:nvSpPr>
        <p:spPr bwMode="auto">
          <a:xfrm>
            <a:off x="1524000" y="2883201"/>
            <a:ext cx="16764000"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FR" sz="4000" b="1" dirty="0">
                <a:solidFill>
                  <a:schemeClr val="tx2">
                    <a:lumMod val="75000"/>
                  </a:schemeClr>
                </a:solidFill>
              </a:rPr>
              <a:t>2.ShiftRows</a:t>
            </a:r>
            <a:endParaRPr lang="fr-FR" sz="4000" dirty="0">
              <a:solidFill>
                <a:schemeClr val="tx2">
                  <a:lumMod val="75000"/>
                </a:schemeClr>
              </a:solidFill>
            </a:endParaRPr>
          </a:p>
          <a:p>
            <a:pPr marL="742950" lvl="1" indent="-285750">
              <a:buFont typeface="+mj-lt"/>
              <a:buAutoNum type="arabicPeriod"/>
            </a:pPr>
            <a:r>
              <a:rPr lang="fr-FR" sz="3600" dirty="0"/>
              <a:t>On décale chaque ligne de la matrice :</a:t>
            </a:r>
          </a:p>
          <a:p>
            <a:pPr marL="1143000" lvl="2" indent="-228600">
              <a:buFont typeface="+mj-lt"/>
              <a:buAutoNum type="arabicPeriod"/>
            </a:pPr>
            <a:r>
              <a:rPr lang="fr-FR" sz="3600" dirty="0"/>
              <a:t>ligne 0 : pas de décalage</a:t>
            </a:r>
          </a:p>
          <a:p>
            <a:pPr marL="1143000" lvl="2" indent="-228600">
              <a:buFont typeface="+mj-lt"/>
              <a:buAutoNum type="arabicPeriod"/>
            </a:pPr>
            <a:r>
              <a:rPr lang="fr-FR" sz="3600" dirty="0"/>
              <a:t>ligne 1 : décalage de 1 à gauche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3600" b="0" i="0" u="none" strike="noStrike" cap="none" normalizeH="0" baseline="0" dirty="0">
              <a:ln>
                <a:noFill/>
              </a:ln>
              <a:solidFill>
                <a:schemeClr val="tx1"/>
              </a:solidFill>
              <a:effectLst/>
              <a:latin typeface="Arial" panose="020B0604020202020204" pitchFamily="34" charset="0"/>
            </a:endParaRPr>
          </a:p>
        </p:txBody>
      </p:sp>
      <p:sp>
        <p:nvSpPr>
          <p:cNvPr id="4" name="ZoneTexte 3">
            <a:extLst>
              <a:ext uri="{FF2B5EF4-FFF2-40B4-BE49-F238E27FC236}">
                <a16:creationId xmlns:a16="http://schemas.microsoft.com/office/drawing/2014/main" id="{0FB2CE9D-7E10-3DEF-FD5C-3C3BD9B2C3D1}"/>
              </a:ext>
            </a:extLst>
          </p:cNvPr>
          <p:cNvSpPr txBox="1"/>
          <p:nvPr/>
        </p:nvSpPr>
        <p:spPr>
          <a:xfrm>
            <a:off x="7086965" y="1876095"/>
            <a:ext cx="3429000" cy="1200329"/>
          </a:xfrm>
          <a:prstGeom prst="rect">
            <a:avLst/>
          </a:prstGeom>
          <a:noFill/>
        </p:spPr>
        <p:txBody>
          <a:bodyPr wrap="square" rtlCol="0">
            <a:spAutoFit/>
          </a:bodyPr>
          <a:lstStyle/>
          <a:p>
            <a:r>
              <a:rPr lang="fr-FR" sz="3600" b="1" dirty="0">
                <a:solidFill>
                  <a:schemeClr val="tx2">
                    <a:lumMod val="75000"/>
                  </a:schemeClr>
                </a:solidFill>
              </a:rPr>
              <a:t>Étape :</a:t>
            </a:r>
          </a:p>
          <a:p>
            <a:endParaRPr lang="en-US" sz="3600" dirty="0"/>
          </a:p>
        </p:txBody>
      </p:sp>
      <p:sp>
        <p:nvSpPr>
          <p:cNvPr id="15" name="ZoneTexte 14">
            <a:extLst>
              <a:ext uri="{FF2B5EF4-FFF2-40B4-BE49-F238E27FC236}">
                <a16:creationId xmlns:a16="http://schemas.microsoft.com/office/drawing/2014/main" id="{60D5F288-DA0C-99F8-E797-56AE4D94F69C}"/>
              </a:ext>
            </a:extLst>
          </p:cNvPr>
          <p:cNvSpPr txBox="1"/>
          <p:nvPr/>
        </p:nvSpPr>
        <p:spPr>
          <a:xfrm>
            <a:off x="8839837" y="3837635"/>
            <a:ext cx="9982200" cy="1754326"/>
          </a:xfrm>
          <a:prstGeom prst="rect">
            <a:avLst/>
          </a:prstGeom>
          <a:noFill/>
        </p:spPr>
        <p:txBody>
          <a:bodyPr wrap="square" rtlCol="0">
            <a:spAutoFit/>
          </a:bodyPr>
          <a:lstStyle/>
          <a:p>
            <a:pPr lvl="2"/>
            <a:r>
              <a:rPr lang="fr-FR" sz="3600" dirty="0"/>
              <a:t>3.ligne 2 : 2 à gauche</a:t>
            </a:r>
          </a:p>
          <a:p>
            <a:pPr lvl="2"/>
            <a:r>
              <a:rPr lang="fr-FR" sz="3600" dirty="0"/>
              <a:t>4.ligne 3 : 3 à gauche</a:t>
            </a:r>
          </a:p>
          <a:p>
            <a:endParaRPr lang="en-US" sz="3600" dirty="0"/>
          </a:p>
        </p:txBody>
      </p:sp>
    </p:spTree>
    <p:extLst>
      <p:ext uri="{BB962C8B-B14F-4D97-AF65-F5344CB8AC3E}">
        <p14:creationId xmlns:p14="http://schemas.microsoft.com/office/powerpoint/2010/main" val="4192896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64E0B-660D-26D4-0569-2D338B8D231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D614903-F38A-E3EE-465F-62154C4FCC32}"/>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Rectangle : coins arrondis 15">
            <a:extLst>
              <a:ext uri="{FF2B5EF4-FFF2-40B4-BE49-F238E27FC236}">
                <a16:creationId xmlns:a16="http://schemas.microsoft.com/office/drawing/2014/main" id="{2F2B6ECF-59D9-7C67-81AE-C7F0E6E33F49}"/>
              </a:ext>
            </a:extLst>
          </p:cNvPr>
          <p:cNvSpPr/>
          <p:nvPr/>
        </p:nvSpPr>
        <p:spPr>
          <a:xfrm>
            <a:off x="1497639" y="3339271"/>
            <a:ext cx="5646437" cy="533346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 coins arrondis 17">
            <a:extLst>
              <a:ext uri="{FF2B5EF4-FFF2-40B4-BE49-F238E27FC236}">
                <a16:creationId xmlns:a16="http://schemas.microsoft.com/office/drawing/2014/main" id="{23B22371-1044-64A6-DD8F-3ACFC28964DB}"/>
              </a:ext>
            </a:extLst>
          </p:cNvPr>
          <p:cNvSpPr/>
          <p:nvPr/>
        </p:nvSpPr>
        <p:spPr>
          <a:xfrm>
            <a:off x="10515965" y="3339271"/>
            <a:ext cx="6036744" cy="533346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a:extLst>
              <a:ext uri="{FF2B5EF4-FFF2-40B4-BE49-F238E27FC236}">
                <a16:creationId xmlns:a16="http://schemas.microsoft.com/office/drawing/2014/main" id="{6DE76FAB-DE22-4802-979C-B3D87B329155}"/>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5" name="Freeform 5">
            <a:extLst>
              <a:ext uri="{FF2B5EF4-FFF2-40B4-BE49-F238E27FC236}">
                <a16:creationId xmlns:a16="http://schemas.microsoft.com/office/drawing/2014/main" id="{71CE4610-2AAA-A981-31EB-F40E83AF6B27}"/>
              </a:ext>
            </a:extLst>
          </p:cNvPr>
          <p:cNvSpPr/>
          <p:nvPr/>
        </p:nvSpPr>
        <p:spPr>
          <a:xfrm>
            <a:off x="11624900" y="2019554"/>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337339BA-690A-1221-6E24-9523577F68BF}"/>
              </a:ext>
            </a:extLst>
          </p:cNvPr>
          <p:cNvSpPr/>
          <p:nvPr/>
        </p:nvSpPr>
        <p:spPr>
          <a:xfrm flipH="1">
            <a:off x="2314999" y="1089791"/>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2AC479F1-973C-E102-683C-36C5D1082C11}"/>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D7E00FAB-7B6F-8C2E-C1AA-88A8C6A1983A}"/>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CD8CCB45-3EAE-5407-92FD-9803DA07E0FD}"/>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1514BFC6-8446-5EAC-C18E-CB580A8F6CF4}"/>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4" name="ZoneTexte 3">
            <a:extLst>
              <a:ext uri="{FF2B5EF4-FFF2-40B4-BE49-F238E27FC236}">
                <a16:creationId xmlns:a16="http://schemas.microsoft.com/office/drawing/2014/main" id="{A46B50E2-75CB-895A-713A-35685212415C}"/>
              </a:ext>
            </a:extLst>
          </p:cNvPr>
          <p:cNvSpPr txBox="1"/>
          <p:nvPr/>
        </p:nvSpPr>
        <p:spPr>
          <a:xfrm>
            <a:off x="7086965" y="1876095"/>
            <a:ext cx="3429000" cy="1200329"/>
          </a:xfrm>
          <a:prstGeom prst="rect">
            <a:avLst/>
          </a:prstGeom>
          <a:noFill/>
        </p:spPr>
        <p:txBody>
          <a:bodyPr wrap="square" rtlCol="0">
            <a:spAutoFit/>
          </a:bodyPr>
          <a:lstStyle/>
          <a:p>
            <a:r>
              <a:rPr lang="fr-FR" sz="3600" b="1" dirty="0">
                <a:solidFill>
                  <a:schemeClr val="tx2">
                    <a:lumMod val="75000"/>
                  </a:schemeClr>
                </a:solidFill>
              </a:rPr>
              <a:t>Étape :</a:t>
            </a:r>
          </a:p>
          <a:p>
            <a:endParaRPr lang="en-US" sz="3600" dirty="0"/>
          </a:p>
        </p:txBody>
      </p:sp>
      <p:pic>
        <p:nvPicPr>
          <p:cNvPr id="12" name="Image 11">
            <a:extLst>
              <a:ext uri="{FF2B5EF4-FFF2-40B4-BE49-F238E27FC236}">
                <a16:creationId xmlns:a16="http://schemas.microsoft.com/office/drawing/2014/main" id="{0375747E-F862-51FB-5C8D-F66BCDACDD7B}"/>
              </a:ext>
            </a:extLst>
          </p:cNvPr>
          <p:cNvPicPr>
            <a:picLocks noChangeAspect="1"/>
          </p:cNvPicPr>
          <p:nvPr/>
        </p:nvPicPr>
        <p:blipFill>
          <a:blip r:embed="rId10"/>
          <a:stretch>
            <a:fillRect/>
          </a:stretch>
        </p:blipFill>
        <p:spPr>
          <a:xfrm>
            <a:off x="1807296" y="4015530"/>
            <a:ext cx="5015028" cy="4080554"/>
          </a:xfrm>
          <a:prstGeom prst="rect">
            <a:avLst/>
          </a:prstGeom>
          <a:ln>
            <a:noFill/>
          </a:ln>
          <a:effectLst>
            <a:outerShdw blurRad="190500" algn="tl" rotWithShape="0">
              <a:srgbClr val="000000">
                <a:alpha val="70000"/>
              </a:srgbClr>
            </a:outerShdw>
          </a:effectLst>
        </p:spPr>
      </p:pic>
      <p:pic>
        <p:nvPicPr>
          <p:cNvPr id="14" name="Image 13">
            <a:extLst>
              <a:ext uri="{FF2B5EF4-FFF2-40B4-BE49-F238E27FC236}">
                <a16:creationId xmlns:a16="http://schemas.microsoft.com/office/drawing/2014/main" id="{4BB94440-562A-64EF-0416-C45BA41218E1}"/>
              </a:ext>
            </a:extLst>
          </p:cNvPr>
          <p:cNvPicPr>
            <a:picLocks noChangeAspect="1"/>
          </p:cNvPicPr>
          <p:nvPr/>
        </p:nvPicPr>
        <p:blipFill>
          <a:blip r:embed="rId11"/>
          <a:stretch>
            <a:fillRect/>
          </a:stretch>
        </p:blipFill>
        <p:spPr>
          <a:xfrm>
            <a:off x="11120762" y="3990502"/>
            <a:ext cx="5076591" cy="4080553"/>
          </a:xfrm>
          <a:prstGeom prst="rect">
            <a:avLst/>
          </a:prstGeom>
          <a:ln>
            <a:noFill/>
          </a:ln>
          <a:effectLst>
            <a:outerShdw blurRad="190500" algn="tl" rotWithShape="0">
              <a:srgbClr val="000000">
                <a:alpha val="70000"/>
              </a:srgbClr>
            </a:outerShdw>
          </a:effectLst>
        </p:spPr>
      </p:pic>
      <p:sp>
        <p:nvSpPr>
          <p:cNvPr id="15" name="Flèche : droite 14">
            <a:extLst>
              <a:ext uri="{FF2B5EF4-FFF2-40B4-BE49-F238E27FC236}">
                <a16:creationId xmlns:a16="http://schemas.microsoft.com/office/drawing/2014/main" id="{06881700-069E-A681-4300-5E8DB53293F9}"/>
              </a:ext>
            </a:extLst>
          </p:cNvPr>
          <p:cNvSpPr/>
          <p:nvPr/>
        </p:nvSpPr>
        <p:spPr>
          <a:xfrm>
            <a:off x="7624154" y="5664868"/>
            <a:ext cx="1981200" cy="990600"/>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79229C0-3907-99E0-D383-C1AAA345C992}"/>
              </a:ext>
            </a:extLst>
          </p:cNvPr>
          <p:cNvSpPr/>
          <p:nvPr/>
        </p:nvSpPr>
        <p:spPr>
          <a:xfrm>
            <a:off x="2475988" y="5090243"/>
            <a:ext cx="855067"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0" name="Rectangle 19">
            <a:extLst>
              <a:ext uri="{FF2B5EF4-FFF2-40B4-BE49-F238E27FC236}">
                <a16:creationId xmlns:a16="http://schemas.microsoft.com/office/drawing/2014/main" id="{2BD53236-8ACB-474F-B325-3EAB10CE9F9B}"/>
              </a:ext>
            </a:extLst>
          </p:cNvPr>
          <p:cNvSpPr/>
          <p:nvPr/>
        </p:nvSpPr>
        <p:spPr>
          <a:xfrm>
            <a:off x="14478000" y="5127841"/>
            <a:ext cx="855067" cy="689062"/>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1" name="Rectangle 20">
            <a:extLst>
              <a:ext uri="{FF2B5EF4-FFF2-40B4-BE49-F238E27FC236}">
                <a16:creationId xmlns:a16="http://schemas.microsoft.com/office/drawing/2014/main" id="{D564102C-53D1-4EDE-E2E5-16D8451ED43F}"/>
              </a:ext>
            </a:extLst>
          </p:cNvPr>
          <p:cNvSpPr/>
          <p:nvPr/>
        </p:nvSpPr>
        <p:spPr>
          <a:xfrm>
            <a:off x="2500372" y="6030779"/>
            <a:ext cx="1716599"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2" name="Rectangle 21">
            <a:extLst>
              <a:ext uri="{FF2B5EF4-FFF2-40B4-BE49-F238E27FC236}">
                <a16:creationId xmlns:a16="http://schemas.microsoft.com/office/drawing/2014/main" id="{A2612EFB-6DFF-B3B3-F6B0-864BB8558077}"/>
              </a:ext>
            </a:extLst>
          </p:cNvPr>
          <p:cNvSpPr/>
          <p:nvPr/>
        </p:nvSpPr>
        <p:spPr>
          <a:xfrm>
            <a:off x="13553437" y="6085460"/>
            <a:ext cx="1716599"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3" name="Rectangle 22">
            <a:extLst>
              <a:ext uri="{FF2B5EF4-FFF2-40B4-BE49-F238E27FC236}">
                <a16:creationId xmlns:a16="http://schemas.microsoft.com/office/drawing/2014/main" id="{3F5345D2-4AF9-B44F-B484-88E7272E5C5D}"/>
              </a:ext>
            </a:extLst>
          </p:cNvPr>
          <p:cNvSpPr/>
          <p:nvPr/>
        </p:nvSpPr>
        <p:spPr>
          <a:xfrm>
            <a:off x="2510445" y="6962359"/>
            <a:ext cx="2518755"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4" name="Rectangle 23">
            <a:extLst>
              <a:ext uri="{FF2B5EF4-FFF2-40B4-BE49-F238E27FC236}">
                <a16:creationId xmlns:a16="http://schemas.microsoft.com/office/drawing/2014/main" id="{D304E80F-A83E-A211-800F-77149F795B72}"/>
              </a:ext>
            </a:extLst>
          </p:cNvPr>
          <p:cNvSpPr/>
          <p:nvPr/>
        </p:nvSpPr>
        <p:spPr>
          <a:xfrm>
            <a:off x="12801600" y="7128809"/>
            <a:ext cx="2735498"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597473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31982" y="6196650"/>
            <a:ext cx="20551964" cy="8521563"/>
            <a:chOff x="0" y="0"/>
            <a:chExt cx="5412863" cy="2244362"/>
          </a:xfrm>
        </p:grpSpPr>
        <p:sp>
          <p:nvSpPr>
            <p:cNvPr id="3" name="Freeform 3"/>
            <p:cNvSpPr/>
            <p:nvPr/>
          </p:nvSpPr>
          <p:spPr>
            <a:xfrm>
              <a:off x="0" y="0"/>
              <a:ext cx="5412863" cy="2244362"/>
            </a:xfrm>
            <a:custGeom>
              <a:avLst/>
              <a:gdLst/>
              <a:ahLst/>
              <a:cxnLst/>
              <a:rect l="l" t="t" r="r" b="b"/>
              <a:pathLst>
                <a:path w="5412863" h="2244362">
                  <a:moveTo>
                    <a:pt x="37670" y="0"/>
                  </a:moveTo>
                  <a:lnTo>
                    <a:pt x="5375193" y="0"/>
                  </a:lnTo>
                  <a:cubicBezTo>
                    <a:pt x="5385184" y="0"/>
                    <a:pt x="5394765" y="3969"/>
                    <a:pt x="5401830" y="11033"/>
                  </a:cubicBezTo>
                  <a:cubicBezTo>
                    <a:pt x="5408894" y="18098"/>
                    <a:pt x="5412863" y="27679"/>
                    <a:pt x="5412863" y="37670"/>
                  </a:cubicBezTo>
                  <a:lnTo>
                    <a:pt x="5412863" y="2206692"/>
                  </a:lnTo>
                  <a:cubicBezTo>
                    <a:pt x="5412863" y="2216683"/>
                    <a:pt x="5408894" y="2226264"/>
                    <a:pt x="5401830" y="2233329"/>
                  </a:cubicBezTo>
                  <a:cubicBezTo>
                    <a:pt x="5394765" y="2240393"/>
                    <a:pt x="5385184" y="2244362"/>
                    <a:pt x="5375193" y="2244362"/>
                  </a:cubicBezTo>
                  <a:lnTo>
                    <a:pt x="37670" y="2244362"/>
                  </a:lnTo>
                  <a:cubicBezTo>
                    <a:pt x="27679" y="2244362"/>
                    <a:pt x="18098" y="2240393"/>
                    <a:pt x="11033" y="2233329"/>
                  </a:cubicBezTo>
                  <a:cubicBezTo>
                    <a:pt x="3969" y="2226264"/>
                    <a:pt x="0" y="2216683"/>
                    <a:pt x="0" y="2206692"/>
                  </a:cubicBezTo>
                  <a:lnTo>
                    <a:pt x="0" y="37670"/>
                  </a:lnTo>
                  <a:cubicBezTo>
                    <a:pt x="0" y="27679"/>
                    <a:pt x="3969" y="18098"/>
                    <a:pt x="11033" y="11033"/>
                  </a:cubicBezTo>
                  <a:cubicBezTo>
                    <a:pt x="18098" y="3969"/>
                    <a:pt x="27679" y="0"/>
                    <a:pt x="37670" y="0"/>
                  </a:cubicBezTo>
                  <a:close/>
                </a:path>
              </a:pathLst>
            </a:custGeom>
            <a:solidFill>
              <a:srgbClr val="E0E8FD"/>
            </a:solidFill>
          </p:spPr>
        </p:sp>
        <p:sp>
          <p:nvSpPr>
            <p:cNvPr id="4" name="TextBox 4"/>
            <p:cNvSpPr txBox="1"/>
            <p:nvPr/>
          </p:nvSpPr>
          <p:spPr>
            <a:xfrm>
              <a:off x="0" y="-38100"/>
              <a:ext cx="5412863" cy="228246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131982" y="5851906"/>
            <a:ext cx="20551964" cy="8521563"/>
            <a:chOff x="0" y="0"/>
            <a:chExt cx="5412863" cy="2244362"/>
          </a:xfrm>
        </p:grpSpPr>
        <p:sp>
          <p:nvSpPr>
            <p:cNvPr id="6" name="Freeform 6"/>
            <p:cNvSpPr/>
            <p:nvPr/>
          </p:nvSpPr>
          <p:spPr>
            <a:xfrm>
              <a:off x="0" y="0"/>
              <a:ext cx="5412863" cy="2244362"/>
            </a:xfrm>
            <a:custGeom>
              <a:avLst/>
              <a:gdLst/>
              <a:ahLst/>
              <a:cxnLst/>
              <a:rect l="l" t="t" r="r" b="b"/>
              <a:pathLst>
                <a:path w="5412863" h="2244362">
                  <a:moveTo>
                    <a:pt x="37670" y="0"/>
                  </a:moveTo>
                  <a:lnTo>
                    <a:pt x="5375193" y="0"/>
                  </a:lnTo>
                  <a:cubicBezTo>
                    <a:pt x="5385184" y="0"/>
                    <a:pt x="5394765" y="3969"/>
                    <a:pt x="5401830" y="11033"/>
                  </a:cubicBezTo>
                  <a:cubicBezTo>
                    <a:pt x="5408894" y="18098"/>
                    <a:pt x="5412863" y="27679"/>
                    <a:pt x="5412863" y="37670"/>
                  </a:cubicBezTo>
                  <a:lnTo>
                    <a:pt x="5412863" y="2206692"/>
                  </a:lnTo>
                  <a:cubicBezTo>
                    <a:pt x="5412863" y="2216683"/>
                    <a:pt x="5408894" y="2226264"/>
                    <a:pt x="5401830" y="2233329"/>
                  </a:cubicBezTo>
                  <a:cubicBezTo>
                    <a:pt x="5394765" y="2240393"/>
                    <a:pt x="5385184" y="2244362"/>
                    <a:pt x="5375193" y="2244362"/>
                  </a:cubicBezTo>
                  <a:lnTo>
                    <a:pt x="37670" y="2244362"/>
                  </a:lnTo>
                  <a:cubicBezTo>
                    <a:pt x="27679" y="2244362"/>
                    <a:pt x="18098" y="2240393"/>
                    <a:pt x="11033" y="2233329"/>
                  </a:cubicBezTo>
                  <a:cubicBezTo>
                    <a:pt x="3969" y="2226264"/>
                    <a:pt x="0" y="2216683"/>
                    <a:pt x="0" y="2206692"/>
                  </a:cubicBezTo>
                  <a:lnTo>
                    <a:pt x="0" y="37670"/>
                  </a:lnTo>
                  <a:cubicBezTo>
                    <a:pt x="0" y="27679"/>
                    <a:pt x="3969" y="18098"/>
                    <a:pt x="11033" y="11033"/>
                  </a:cubicBezTo>
                  <a:cubicBezTo>
                    <a:pt x="18098" y="3969"/>
                    <a:pt x="27679" y="0"/>
                    <a:pt x="37670" y="0"/>
                  </a:cubicBezTo>
                  <a:close/>
                </a:path>
              </a:pathLst>
            </a:custGeom>
            <a:solidFill>
              <a:srgbClr val="E0E8FD"/>
            </a:solidFill>
          </p:spPr>
        </p:sp>
        <p:sp>
          <p:nvSpPr>
            <p:cNvPr id="7" name="TextBox 7"/>
            <p:cNvSpPr txBox="1"/>
            <p:nvPr/>
          </p:nvSpPr>
          <p:spPr>
            <a:xfrm>
              <a:off x="0" y="-38100"/>
              <a:ext cx="5412863" cy="2282462"/>
            </a:xfrm>
            <a:prstGeom prst="rect">
              <a:avLst/>
            </a:prstGeom>
          </p:spPr>
          <p:txBody>
            <a:bodyPr lIns="50800" tIns="50800" rIns="50800" bIns="50800" rtlCol="0" anchor="ctr"/>
            <a:lstStyle/>
            <a:p>
              <a:pPr algn="ctr">
                <a:lnSpc>
                  <a:spcPts val="2659"/>
                </a:lnSpc>
              </a:pPr>
              <a:endParaRPr/>
            </a:p>
          </p:txBody>
        </p:sp>
      </p:grpSp>
      <p:pic>
        <p:nvPicPr>
          <p:cNvPr id="47" name="Image 46">
            <a:extLst>
              <a:ext uri="{FF2B5EF4-FFF2-40B4-BE49-F238E27FC236}">
                <a16:creationId xmlns:a16="http://schemas.microsoft.com/office/drawing/2014/main" id="{9BDF33CA-65EB-B712-4D47-4DBF88E89EA2}"/>
              </a:ext>
            </a:extLst>
          </p:cNvPr>
          <p:cNvPicPr>
            <a:picLocks noChangeAspect="1"/>
          </p:cNvPicPr>
          <p:nvPr/>
        </p:nvPicPr>
        <p:blipFill>
          <a:blip r:embed="rId2"/>
          <a:stretch>
            <a:fillRect/>
          </a:stretch>
        </p:blipFill>
        <p:spPr>
          <a:xfrm>
            <a:off x="2309727" y="3471815"/>
            <a:ext cx="12889754" cy="7208699"/>
          </a:xfrm>
          <a:prstGeom prst="rect">
            <a:avLst/>
          </a:prstGeom>
        </p:spPr>
      </p:pic>
      <p:sp>
        <p:nvSpPr>
          <p:cNvPr id="8" name="Freeform 8"/>
          <p:cNvSpPr/>
          <p:nvPr/>
        </p:nvSpPr>
        <p:spPr>
          <a:xfrm rot="2790000" flipH="1" flipV="1">
            <a:off x="16693169" y="-3956741"/>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rot="-2791948" flipV="1">
            <a:off x="-10366927" y="-38427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2791948" flipV="1">
            <a:off x="-5759880" y="-8343562"/>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2790000" flipH="1" flipV="1">
            <a:off x="12086121" y="-8343562"/>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rot="2790000" flipH="1" flipV="1">
            <a:off x="15809138" y="5585961"/>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Freeform 13"/>
          <p:cNvSpPr/>
          <p:nvPr/>
        </p:nvSpPr>
        <p:spPr>
          <a:xfrm rot="-2790000" flipV="1">
            <a:off x="-9482337" y="5585961"/>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1" name="TextBox 41"/>
          <p:cNvSpPr txBox="1"/>
          <p:nvPr/>
        </p:nvSpPr>
        <p:spPr>
          <a:xfrm>
            <a:off x="1079380" y="2174354"/>
            <a:ext cx="16073256" cy="1723549"/>
          </a:xfrm>
          <a:prstGeom prst="rect">
            <a:avLst/>
          </a:prstGeom>
        </p:spPr>
        <p:txBody>
          <a:bodyPr wrap="square" lIns="0" tIns="0" rIns="0" bIns="0" rtlCol="0" anchor="t">
            <a:spAutoFit/>
          </a:bodyPr>
          <a:lstStyle/>
          <a:p>
            <a:r>
              <a:rPr lang="fr-FR" sz="4000" b="1" dirty="0">
                <a:solidFill>
                  <a:schemeClr val="tx2">
                    <a:lumMod val="75000"/>
                  </a:schemeClr>
                </a:solidFill>
              </a:rPr>
              <a:t>3.MixColumns</a:t>
            </a:r>
            <a:endParaRPr lang="fr-FR" sz="4000" dirty="0">
              <a:solidFill>
                <a:schemeClr val="tx2">
                  <a:lumMod val="75000"/>
                </a:schemeClr>
              </a:solidFill>
            </a:endParaRPr>
          </a:p>
          <a:p>
            <a:pPr marL="742950" lvl="1" indent="-285750">
              <a:buFont typeface="+mj-lt"/>
              <a:buAutoNum type="arabicPeriod"/>
            </a:pPr>
            <a:r>
              <a:rPr lang="fr-FR" sz="3600" dirty="0"/>
              <a:t>Chaque colonne est transformée via une opération mathématique qui mélange les octets ensemble (diffusion).</a:t>
            </a:r>
          </a:p>
        </p:txBody>
      </p:sp>
      <p:sp>
        <p:nvSpPr>
          <p:cNvPr id="43" name="Freeform 43"/>
          <p:cNvSpPr/>
          <p:nvPr/>
        </p:nvSpPr>
        <p:spPr>
          <a:xfrm>
            <a:off x="16301856" y="5364359"/>
            <a:ext cx="814911" cy="975095"/>
          </a:xfrm>
          <a:custGeom>
            <a:avLst/>
            <a:gdLst/>
            <a:ahLst/>
            <a:cxnLst/>
            <a:rect l="l" t="t" r="r" b="b"/>
            <a:pathLst>
              <a:path w="814911" h="975095">
                <a:moveTo>
                  <a:pt x="0" y="0"/>
                </a:moveTo>
                <a:lnTo>
                  <a:pt x="814911" y="0"/>
                </a:lnTo>
                <a:lnTo>
                  <a:pt x="814911" y="975095"/>
                </a:lnTo>
                <a:lnTo>
                  <a:pt x="0" y="975095"/>
                </a:lnTo>
                <a:lnTo>
                  <a:pt x="0" y="0"/>
                </a:lnTo>
                <a:close/>
              </a:path>
            </a:pathLst>
          </a:custGeom>
          <a:blipFill>
            <a:blip r:embed="rId9">
              <a:extLst>
                <a:ext uri="{96DAC541-7B7A-43D3-8B79-37D633B846F1}">
                  <asvg:svgBlip xmlns:asvg="http://schemas.microsoft.com/office/drawing/2016/SVG/main" r:embed="rId10"/>
                </a:ext>
              </a:extLst>
            </a:blip>
            <a:stretch>
              <a:fillRect r="-66725" b="-6750"/>
            </a:stretch>
          </a:blipFill>
        </p:spPr>
      </p:sp>
      <p:sp>
        <p:nvSpPr>
          <p:cNvPr id="44" name="Freeform 44"/>
          <p:cNvSpPr/>
          <p:nvPr/>
        </p:nvSpPr>
        <p:spPr>
          <a:xfrm flipH="1">
            <a:off x="1171233" y="5364359"/>
            <a:ext cx="814911" cy="975095"/>
          </a:xfrm>
          <a:custGeom>
            <a:avLst/>
            <a:gdLst/>
            <a:ahLst/>
            <a:cxnLst/>
            <a:rect l="l" t="t" r="r" b="b"/>
            <a:pathLst>
              <a:path w="814911" h="975095">
                <a:moveTo>
                  <a:pt x="814911" y="0"/>
                </a:moveTo>
                <a:lnTo>
                  <a:pt x="0" y="0"/>
                </a:lnTo>
                <a:lnTo>
                  <a:pt x="0" y="975095"/>
                </a:lnTo>
                <a:lnTo>
                  <a:pt x="814911" y="975095"/>
                </a:lnTo>
                <a:lnTo>
                  <a:pt x="814911" y="0"/>
                </a:lnTo>
                <a:close/>
              </a:path>
            </a:pathLst>
          </a:custGeom>
          <a:blipFill>
            <a:blip r:embed="rId9">
              <a:extLst>
                <a:ext uri="{96DAC541-7B7A-43D3-8B79-37D633B846F1}">
                  <asvg:svgBlip xmlns:asvg="http://schemas.microsoft.com/office/drawing/2016/SVG/main" r:embed="rId10"/>
                </a:ext>
              </a:extLst>
            </a:blip>
            <a:stretch>
              <a:fillRect r="-66725" b="-6750"/>
            </a:stretch>
          </a:blipFill>
        </p:spPr>
      </p:sp>
      <p:sp>
        <p:nvSpPr>
          <p:cNvPr id="45" name="TextBox 3">
            <a:extLst>
              <a:ext uri="{FF2B5EF4-FFF2-40B4-BE49-F238E27FC236}">
                <a16:creationId xmlns:a16="http://schemas.microsoft.com/office/drawing/2014/main" id="{977CDF0D-FD6F-FCF4-104B-37D79CD0D343}"/>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1E1EF-2D2D-6C3E-CD59-9078BB8CCC90}"/>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B153A4F3-7F53-A2EC-29CC-97D7CF572397}"/>
              </a:ext>
            </a:extLst>
          </p:cNvPr>
          <p:cNvSpPr txBox="1"/>
          <p:nvPr/>
        </p:nvSpPr>
        <p:spPr>
          <a:xfrm>
            <a:off x="-1131982" y="5707245"/>
            <a:ext cx="20551964" cy="8666224"/>
          </a:xfrm>
          <a:prstGeom prst="rect">
            <a:avLst/>
          </a:prstGeom>
        </p:spPr>
        <p:txBody>
          <a:bodyPr lIns="50800" tIns="50800" rIns="50800" bIns="50800" rtlCol="0" anchor="ctr"/>
          <a:lstStyle/>
          <a:p>
            <a:pPr algn="ctr">
              <a:lnSpc>
                <a:spcPts val="2659"/>
              </a:lnSpc>
            </a:pPr>
            <a:endParaRPr/>
          </a:p>
        </p:txBody>
      </p:sp>
      <p:sp>
        <p:nvSpPr>
          <p:cNvPr id="8" name="Freeform 8">
            <a:extLst>
              <a:ext uri="{FF2B5EF4-FFF2-40B4-BE49-F238E27FC236}">
                <a16:creationId xmlns:a16="http://schemas.microsoft.com/office/drawing/2014/main" id="{1BC87CF1-E3D6-22D6-6C5F-701F56A4CFB6}"/>
              </a:ext>
            </a:extLst>
          </p:cNvPr>
          <p:cNvSpPr/>
          <p:nvPr/>
        </p:nvSpPr>
        <p:spPr>
          <a:xfrm rot="2790000" flipH="1" flipV="1">
            <a:off x="16693169" y="-3956741"/>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a:extLst>
              <a:ext uri="{FF2B5EF4-FFF2-40B4-BE49-F238E27FC236}">
                <a16:creationId xmlns:a16="http://schemas.microsoft.com/office/drawing/2014/main" id="{A1E98B02-535D-F456-1CB4-EF5D88087873}"/>
              </a:ext>
            </a:extLst>
          </p:cNvPr>
          <p:cNvSpPr/>
          <p:nvPr/>
        </p:nvSpPr>
        <p:spPr>
          <a:xfrm rot="-2791948" flipV="1">
            <a:off x="-10366927" y="-38427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772C8BE4-F71D-5261-5737-DBC3A51979CF}"/>
              </a:ext>
            </a:extLst>
          </p:cNvPr>
          <p:cNvSpPr/>
          <p:nvPr/>
        </p:nvSpPr>
        <p:spPr>
          <a:xfrm rot="-2791948" flipV="1">
            <a:off x="-5759880" y="-8343562"/>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a:extLst>
              <a:ext uri="{FF2B5EF4-FFF2-40B4-BE49-F238E27FC236}">
                <a16:creationId xmlns:a16="http://schemas.microsoft.com/office/drawing/2014/main" id="{5230DF54-07E5-5C10-9F40-4833F4AC3AC8}"/>
              </a:ext>
            </a:extLst>
          </p:cNvPr>
          <p:cNvSpPr/>
          <p:nvPr/>
        </p:nvSpPr>
        <p:spPr>
          <a:xfrm rot="2790000" flipH="1" flipV="1">
            <a:off x="12086121" y="-8343562"/>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2918FCEA-B728-F731-A924-54B3F57C6DD0}"/>
              </a:ext>
            </a:extLst>
          </p:cNvPr>
          <p:cNvSpPr/>
          <p:nvPr/>
        </p:nvSpPr>
        <p:spPr>
          <a:xfrm rot="2790000" flipH="1" flipV="1">
            <a:off x="15809138" y="5585961"/>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a:extLst>
              <a:ext uri="{FF2B5EF4-FFF2-40B4-BE49-F238E27FC236}">
                <a16:creationId xmlns:a16="http://schemas.microsoft.com/office/drawing/2014/main" id="{230184E3-859D-656B-CCB3-86A22BC6CA92}"/>
              </a:ext>
            </a:extLst>
          </p:cNvPr>
          <p:cNvSpPr/>
          <p:nvPr/>
        </p:nvSpPr>
        <p:spPr>
          <a:xfrm rot="-2790000" flipV="1">
            <a:off x="-9482337" y="5585961"/>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5" name="TextBox 3">
            <a:extLst>
              <a:ext uri="{FF2B5EF4-FFF2-40B4-BE49-F238E27FC236}">
                <a16:creationId xmlns:a16="http://schemas.microsoft.com/office/drawing/2014/main" id="{C0F1075F-13BB-687B-E098-5F5D624B3C07}"/>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pic>
        <p:nvPicPr>
          <p:cNvPr id="15" name="Image 14">
            <a:extLst>
              <a:ext uri="{FF2B5EF4-FFF2-40B4-BE49-F238E27FC236}">
                <a16:creationId xmlns:a16="http://schemas.microsoft.com/office/drawing/2014/main" id="{DC1D440A-2E53-FAE4-9595-67B74850B7C7}"/>
              </a:ext>
            </a:extLst>
          </p:cNvPr>
          <p:cNvPicPr>
            <a:picLocks noChangeAspect="1"/>
          </p:cNvPicPr>
          <p:nvPr/>
        </p:nvPicPr>
        <p:blipFill>
          <a:blip r:embed="rId8"/>
          <a:stretch>
            <a:fillRect/>
          </a:stretch>
        </p:blipFill>
        <p:spPr>
          <a:xfrm>
            <a:off x="1287191" y="1864483"/>
            <a:ext cx="15300827" cy="3951108"/>
          </a:xfrm>
          <a:prstGeom prst="rect">
            <a:avLst/>
          </a:prstGeom>
        </p:spPr>
      </p:pic>
      <p:sp>
        <p:nvSpPr>
          <p:cNvPr id="43" name="Freeform 43">
            <a:extLst>
              <a:ext uri="{FF2B5EF4-FFF2-40B4-BE49-F238E27FC236}">
                <a16:creationId xmlns:a16="http://schemas.microsoft.com/office/drawing/2014/main" id="{9677F54B-6EC9-3CF7-13FA-7E4B191DB046}"/>
              </a:ext>
            </a:extLst>
          </p:cNvPr>
          <p:cNvSpPr/>
          <p:nvPr/>
        </p:nvSpPr>
        <p:spPr>
          <a:xfrm>
            <a:off x="16301856" y="5364359"/>
            <a:ext cx="814911" cy="975095"/>
          </a:xfrm>
          <a:custGeom>
            <a:avLst/>
            <a:gdLst/>
            <a:ahLst/>
            <a:cxnLst/>
            <a:rect l="l" t="t" r="r" b="b"/>
            <a:pathLst>
              <a:path w="814911" h="975095">
                <a:moveTo>
                  <a:pt x="0" y="0"/>
                </a:moveTo>
                <a:lnTo>
                  <a:pt x="814911" y="0"/>
                </a:lnTo>
                <a:lnTo>
                  <a:pt x="814911" y="975095"/>
                </a:lnTo>
                <a:lnTo>
                  <a:pt x="0" y="975095"/>
                </a:lnTo>
                <a:lnTo>
                  <a:pt x="0" y="0"/>
                </a:lnTo>
                <a:close/>
              </a:path>
            </a:pathLst>
          </a:custGeom>
          <a:blipFill>
            <a:blip r:embed="rId9">
              <a:extLst>
                <a:ext uri="{96DAC541-7B7A-43D3-8B79-37D633B846F1}">
                  <asvg:svgBlip xmlns:asvg="http://schemas.microsoft.com/office/drawing/2016/SVG/main" r:embed="rId10"/>
                </a:ext>
              </a:extLst>
            </a:blip>
            <a:stretch>
              <a:fillRect r="-66725" b="-6750"/>
            </a:stretch>
          </a:blipFill>
        </p:spPr>
      </p:sp>
      <p:sp>
        <p:nvSpPr>
          <p:cNvPr id="44" name="Freeform 44">
            <a:extLst>
              <a:ext uri="{FF2B5EF4-FFF2-40B4-BE49-F238E27FC236}">
                <a16:creationId xmlns:a16="http://schemas.microsoft.com/office/drawing/2014/main" id="{206BA53C-39C9-DB19-41C9-CAF4249ACF7E}"/>
              </a:ext>
            </a:extLst>
          </p:cNvPr>
          <p:cNvSpPr/>
          <p:nvPr/>
        </p:nvSpPr>
        <p:spPr>
          <a:xfrm flipH="1">
            <a:off x="1171233" y="5364359"/>
            <a:ext cx="814911" cy="975095"/>
          </a:xfrm>
          <a:custGeom>
            <a:avLst/>
            <a:gdLst/>
            <a:ahLst/>
            <a:cxnLst/>
            <a:rect l="l" t="t" r="r" b="b"/>
            <a:pathLst>
              <a:path w="814911" h="975095">
                <a:moveTo>
                  <a:pt x="814911" y="0"/>
                </a:moveTo>
                <a:lnTo>
                  <a:pt x="0" y="0"/>
                </a:lnTo>
                <a:lnTo>
                  <a:pt x="0" y="975095"/>
                </a:lnTo>
                <a:lnTo>
                  <a:pt x="814911" y="975095"/>
                </a:lnTo>
                <a:lnTo>
                  <a:pt x="814911" y="0"/>
                </a:lnTo>
                <a:close/>
              </a:path>
            </a:pathLst>
          </a:custGeom>
          <a:blipFill>
            <a:blip r:embed="rId9">
              <a:extLst>
                <a:ext uri="{96DAC541-7B7A-43D3-8B79-37D633B846F1}">
                  <asvg:svgBlip xmlns:asvg="http://schemas.microsoft.com/office/drawing/2016/SVG/main" r:embed="rId10"/>
                </a:ext>
              </a:extLst>
            </a:blip>
            <a:stretch>
              <a:fillRect r="-66725" b="-6750"/>
            </a:stretch>
          </a:blipFill>
        </p:spPr>
      </p:sp>
      <p:pic>
        <p:nvPicPr>
          <p:cNvPr id="17" name="Image 16">
            <a:extLst>
              <a:ext uri="{FF2B5EF4-FFF2-40B4-BE49-F238E27FC236}">
                <a16:creationId xmlns:a16="http://schemas.microsoft.com/office/drawing/2014/main" id="{BB3596B2-4A78-67B0-3824-40B7711807EE}"/>
              </a:ext>
            </a:extLst>
          </p:cNvPr>
          <p:cNvPicPr>
            <a:picLocks noChangeAspect="1"/>
          </p:cNvPicPr>
          <p:nvPr/>
        </p:nvPicPr>
        <p:blipFill>
          <a:blip r:embed="rId11"/>
          <a:stretch>
            <a:fillRect/>
          </a:stretch>
        </p:blipFill>
        <p:spPr>
          <a:xfrm>
            <a:off x="7536351" y="6138665"/>
            <a:ext cx="4923359" cy="3519688"/>
          </a:xfrm>
          <a:prstGeom prst="rect">
            <a:avLst/>
          </a:prstGeom>
        </p:spPr>
      </p:pic>
      <p:pic>
        <p:nvPicPr>
          <p:cNvPr id="19" name="Image 18">
            <a:extLst>
              <a:ext uri="{FF2B5EF4-FFF2-40B4-BE49-F238E27FC236}">
                <a16:creationId xmlns:a16="http://schemas.microsoft.com/office/drawing/2014/main" id="{140B34DB-1CD0-321D-C058-5766C3219771}"/>
              </a:ext>
            </a:extLst>
          </p:cNvPr>
          <p:cNvPicPr>
            <a:picLocks noChangeAspect="1"/>
          </p:cNvPicPr>
          <p:nvPr/>
        </p:nvPicPr>
        <p:blipFill>
          <a:blip r:embed="rId12"/>
          <a:stretch>
            <a:fillRect/>
          </a:stretch>
        </p:blipFill>
        <p:spPr>
          <a:xfrm>
            <a:off x="13440368" y="5987989"/>
            <a:ext cx="1738319" cy="3519688"/>
          </a:xfrm>
          <a:prstGeom prst="rect">
            <a:avLst/>
          </a:prstGeom>
        </p:spPr>
      </p:pic>
      <p:pic>
        <p:nvPicPr>
          <p:cNvPr id="21" name="Image 20">
            <a:extLst>
              <a:ext uri="{FF2B5EF4-FFF2-40B4-BE49-F238E27FC236}">
                <a16:creationId xmlns:a16="http://schemas.microsoft.com/office/drawing/2014/main" id="{3EF66CFD-BFC2-B0A7-253D-9D682196B046}"/>
              </a:ext>
            </a:extLst>
          </p:cNvPr>
          <p:cNvPicPr>
            <a:picLocks noChangeAspect="1"/>
          </p:cNvPicPr>
          <p:nvPr/>
        </p:nvPicPr>
        <p:blipFill>
          <a:blip r:embed="rId13"/>
          <a:stretch>
            <a:fillRect/>
          </a:stretch>
        </p:blipFill>
        <p:spPr>
          <a:xfrm>
            <a:off x="12564517" y="7127433"/>
            <a:ext cx="844214" cy="1055272"/>
          </a:xfrm>
          <a:prstGeom prst="rect">
            <a:avLst/>
          </a:prstGeom>
        </p:spPr>
      </p:pic>
      <p:pic>
        <p:nvPicPr>
          <p:cNvPr id="23" name="Image 22">
            <a:extLst>
              <a:ext uri="{FF2B5EF4-FFF2-40B4-BE49-F238E27FC236}">
                <a16:creationId xmlns:a16="http://schemas.microsoft.com/office/drawing/2014/main" id="{245DC06D-426E-ABBE-7A84-B5EB96C9422C}"/>
              </a:ext>
            </a:extLst>
          </p:cNvPr>
          <p:cNvPicPr>
            <a:picLocks noChangeAspect="1"/>
          </p:cNvPicPr>
          <p:nvPr/>
        </p:nvPicPr>
        <p:blipFill>
          <a:blip r:embed="rId14"/>
          <a:stretch>
            <a:fillRect/>
          </a:stretch>
        </p:blipFill>
        <p:spPr>
          <a:xfrm>
            <a:off x="6413182" y="7179708"/>
            <a:ext cx="726798" cy="1047542"/>
          </a:xfrm>
          <a:prstGeom prst="rect">
            <a:avLst/>
          </a:prstGeom>
        </p:spPr>
      </p:pic>
      <p:pic>
        <p:nvPicPr>
          <p:cNvPr id="25" name="Image 24">
            <a:extLst>
              <a:ext uri="{FF2B5EF4-FFF2-40B4-BE49-F238E27FC236}">
                <a16:creationId xmlns:a16="http://schemas.microsoft.com/office/drawing/2014/main" id="{0B5240EB-8E31-D2EF-2D68-DCFADC2EA42F}"/>
              </a:ext>
            </a:extLst>
          </p:cNvPr>
          <p:cNvPicPr>
            <a:picLocks noChangeAspect="1"/>
          </p:cNvPicPr>
          <p:nvPr/>
        </p:nvPicPr>
        <p:blipFill>
          <a:blip r:embed="rId15"/>
          <a:stretch>
            <a:fillRect/>
          </a:stretch>
        </p:blipFill>
        <p:spPr>
          <a:xfrm>
            <a:off x="4545478" y="6099224"/>
            <a:ext cx="1870365" cy="3529559"/>
          </a:xfrm>
          <a:prstGeom prst="rect">
            <a:avLst/>
          </a:prstGeom>
        </p:spPr>
      </p:pic>
    </p:spTree>
    <p:extLst>
      <p:ext uri="{BB962C8B-B14F-4D97-AF65-F5344CB8AC3E}">
        <p14:creationId xmlns:p14="http://schemas.microsoft.com/office/powerpoint/2010/main" val="54252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86A65-EE8D-7BCD-2618-4681B8312FA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02A8385-4A88-9860-3CD1-FF2BEDA1E51D}"/>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Rectangle : coins arrondis 11">
            <a:extLst>
              <a:ext uri="{FF2B5EF4-FFF2-40B4-BE49-F238E27FC236}">
                <a16:creationId xmlns:a16="http://schemas.microsoft.com/office/drawing/2014/main" id="{791D8ACB-7B99-4015-3536-D8C53CD83AF6}"/>
              </a:ext>
            </a:extLst>
          </p:cNvPr>
          <p:cNvSpPr/>
          <p:nvPr/>
        </p:nvSpPr>
        <p:spPr>
          <a:xfrm>
            <a:off x="5008179" y="3844649"/>
            <a:ext cx="8332161" cy="6071429"/>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5">
            <a:extLst>
              <a:ext uri="{FF2B5EF4-FFF2-40B4-BE49-F238E27FC236}">
                <a16:creationId xmlns:a16="http://schemas.microsoft.com/office/drawing/2014/main" id="{F9983BC5-B9DB-8903-CFA9-4A460065D77D}"/>
              </a:ext>
            </a:extLst>
          </p:cNvPr>
          <p:cNvSpPr/>
          <p:nvPr/>
        </p:nvSpPr>
        <p:spPr>
          <a:xfrm>
            <a:off x="12436691" y="3550500"/>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DA47979B-B076-9119-3845-62E2FBD14965}"/>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B7D3ADE8-C8A6-611D-CD36-BDBE8DD01B1D}"/>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13AE60EF-5134-8713-2612-B9FBA750368C}"/>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FF2D0427-140B-E81C-2076-0A713E229DDC}"/>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10DA08B2-7EDC-D871-91B7-276235A5698F}"/>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7" name="Rectangle 4">
            <a:extLst>
              <a:ext uri="{FF2B5EF4-FFF2-40B4-BE49-F238E27FC236}">
                <a16:creationId xmlns:a16="http://schemas.microsoft.com/office/drawing/2014/main" id="{5C015CD4-C4BD-661E-CCCF-DE7DDBFED300}"/>
              </a:ext>
            </a:extLst>
          </p:cNvPr>
          <p:cNvSpPr>
            <a:spLocks noChangeArrowheads="1"/>
          </p:cNvSpPr>
          <p:nvPr/>
        </p:nvSpPr>
        <p:spPr bwMode="auto">
          <a:xfrm>
            <a:off x="914402" y="2517955"/>
            <a:ext cx="1528295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lang="fr-FR" sz="3200" dirty="0"/>
              <a:t>C’est une opération mathématique complexe (dans GF(2⁸)) appliquée sur chaque </a:t>
            </a:r>
            <a:r>
              <a:rPr lang="fr-FR" sz="3200" b="1" dirty="0"/>
              <a:t>colonne</a:t>
            </a:r>
            <a:r>
              <a:rPr lang="fr-FR" sz="3200" dirty="0"/>
              <a:t>. Le résultat est :</a:t>
            </a:r>
          </a:p>
        </p:txBody>
      </p:sp>
      <p:pic>
        <p:nvPicPr>
          <p:cNvPr id="8" name="Image 7">
            <a:extLst>
              <a:ext uri="{FF2B5EF4-FFF2-40B4-BE49-F238E27FC236}">
                <a16:creationId xmlns:a16="http://schemas.microsoft.com/office/drawing/2014/main" id="{46DDBAEB-7B36-5F85-5AA6-D5EFBBAAD1B4}"/>
              </a:ext>
            </a:extLst>
          </p:cNvPr>
          <p:cNvPicPr>
            <a:picLocks noChangeAspect="1"/>
          </p:cNvPicPr>
          <p:nvPr/>
        </p:nvPicPr>
        <p:blipFill>
          <a:blip r:embed="rId10"/>
          <a:stretch>
            <a:fillRect/>
          </a:stretch>
        </p:blipFill>
        <p:spPr>
          <a:xfrm>
            <a:off x="5524500" y="4242814"/>
            <a:ext cx="7239000" cy="5257719"/>
          </a:xfrm>
          <a:prstGeom prst="rect">
            <a:avLst/>
          </a:prstGeom>
        </p:spPr>
      </p:pic>
      <p:sp>
        <p:nvSpPr>
          <p:cNvPr id="13" name="TextBox 3">
            <a:extLst>
              <a:ext uri="{FF2B5EF4-FFF2-40B4-BE49-F238E27FC236}">
                <a16:creationId xmlns:a16="http://schemas.microsoft.com/office/drawing/2014/main" id="{EFC7380B-64A6-8CBF-D4DD-6B552891E0D3}"/>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Tree>
    <p:extLst>
      <p:ext uri="{BB962C8B-B14F-4D97-AF65-F5344CB8AC3E}">
        <p14:creationId xmlns:p14="http://schemas.microsoft.com/office/powerpoint/2010/main" val="1100584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C229F-8D5B-5AF3-141A-F96ADB27ED63}"/>
            </a:ext>
          </a:extLst>
        </p:cNvPr>
        <p:cNvGrpSpPr/>
        <p:nvPr/>
      </p:nvGrpSpPr>
      <p:grpSpPr>
        <a:xfrm>
          <a:off x="0" y="0"/>
          <a:ext cx="0" cy="0"/>
          <a:chOff x="0" y="0"/>
          <a:chExt cx="0" cy="0"/>
        </a:xfrm>
      </p:grpSpPr>
      <p:sp>
        <p:nvSpPr>
          <p:cNvPr id="13" name="Freeform 13">
            <a:extLst>
              <a:ext uri="{FF2B5EF4-FFF2-40B4-BE49-F238E27FC236}">
                <a16:creationId xmlns:a16="http://schemas.microsoft.com/office/drawing/2014/main" id="{2018FCDB-096B-BBB9-8A53-FC9157B5D6C3}"/>
              </a:ext>
            </a:extLst>
          </p:cNvPr>
          <p:cNvSpPr/>
          <p:nvPr/>
        </p:nvSpPr>
        <p:spPr>
          <a:xfrm rot="-2790000" flipV="1">
            <a:off x="-9482337" y="5585961"/>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a:extLst>
              <a:ext uri="{FF2B5EF4-FFF2-40B4-BE49-F238E27FC236}">
                <a16:creationId xmlns:a16="http://schemas.microsoft.com/office/drawing/2014/main" id="{8870C23E-36DC-A470-0006-9757AD6C4CCF}"/>
              </a:ext>
            </a:extLst>
          </p:cNvPr>
          <p:cNvSpPr/>
          <p:nvPr/>
        </p:nvSpPr>
        <p:spPr>
          <a:xfrm rot="2790000" flipH="1" flipV="1">
            <a:off x="15809138" y="5585961"/>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Rectangle : coins arrondis 21">
            <a:extLst>
              <a:ext uri="{FF2B5EF4-FFF2-40B4-BE49-F238E27FC236}">
                <a16:creationId xmlns:a16="http://schemas.microsoft.com/office/drawing/2014/main" id="{65867DC1-4BD1-22EA-4AE5-1272FEA2D6A5}"/>
              </a:ext>
            </a:extLst>
          </p:cNvPr>
          <p:cNvSpPr/>
          <p:nvPr/>
        </p:nvSpPr>
        <p:spPr>
          <a:xfrm>
            <a:off x="267502" y="4427773"/>
            <a:ext cx="17752995" cy="4995817"/>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7">
            <a:extLst>
              <a:ext uri="{FF2B5EF4-FFF2-40B4-BE49-F238E27FC236}">
                <a16:creationId xmlns:a16="http://schemas.microsoft.com/office/drawing/2014/main" id="{99B26A84-1311-912D-D2CF-9ED7ADEFDECE}"/>
              </a:ext>
            </a:extLst>
          </p:cNvPr>
          <p:cNvSpPr txBox="1"/>
          <p:nvPr/>
        </p:nvSpPr>
        <p:spPr>
          <a:xfrm>
            <a:off x="-1131982" y="5707245"/>
            <a:ext cx="20551964" cy="8666224"/>
          </a:xfrm>
          <a:prstGeom prst="rect">
            <a:avLst/>
          </a:prstGeom>
        </p:spPr>
        <p:txBody>
          <a:bodyPr lIns="50800" tIns="50800" rIns="50800" bIns="50800" rtlCol="0" anchor="ctr"/>
          <a:lstStyle/>
          <a:p>
            <a:pPr algn="ctr">
              <a:lnSpc>
                <a:spcPts val="2659"/>
              </a:lnSpc>
            </a:pPr>
            <a:endParaRPr/>
          </a:p>
        </p:txBody>
      </p:sp>
      <p:sp>
        <p:nvSpPr>
          <p:cNvPr id="8" name="Freeform 8">
            <a:extLst>
              <a:ext uri="{FF2B5EF4-FFF2-40B4-BE49-F238E27FC236}">
                <a16:creationId xmlns:a16="http://schemas.microsoft.com/office/drawing/2014/main" id="{D7563A52-1FCA-4F72-FD33-678ED9148613}"/>
              </a:ext>
            </a:extLst>
          </p:cNvPr>
          <p:cNvSpPr/>
          <p:nvPr/>
        </p:nvSpPr>
        <p:spPr>
          <a:xfrm rot="2790000" flipH="1" flipV="1">
            <a:off x="16693169" y="-3956741"/>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a:extLst>
              <a:ext uri="{FF2B5EF4-FFF2-40B4-BE49-F238E27FC236}">
                <a16:creationId xmlns:a16="http://schemas.microsoft.com/office/drawing/2014/main" id="{65D95237-78C0-AE47-F7F4-761B094DD348}"/>
              </a:ext>
            </a:extLst>
          </p:cNvPr>
          <p:cNvSpPr/>
          <p:nvPr/>
        </p:nvSpPr>
        <p:spPr>
          <a:xfrm rot="-2791948" flipV="1">
            <a:off x="-10366927" y="-38427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a:extLst>
              <a:ext uri="{FF2B5EF4-FFF2-40B4-BE49-F238E27FC236}">
                <a16:creationId xmlns:a16="http://schemas.microsoft.com/office/drawing/2014/main" id="{007A7EE6-9E7C-2083-4D56-C83F9354EB69}"/>
              </a:ext>
            </a:extLst>
          </p:cNvPr>
          <p:cNvSpPr/>
          <p:nvPr/>
        </p:nvSpPr>
        <p:spPr>
          <a:xfrm rot="-2791948" flipV="1">
            <a:off x="-5759880" y="-8343562"/>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a:extLst>
              <a:ext uri="{FF2B5EF4-FFF2-40B4-BE49-F238E27FC236}">
                <a16:creationId xmlns:a16="http://schemas.microsoft.com/office/drawing/2014/main" id="{3BAA104B-7E4E-F939-3CE9-2AEBF375AAAA}"/>
              </a:ext>
            </a:extLst>
          </p:cNvPr>
          <p:cNvSpPr/>
          <p:nvPr/>
        </p:nvSpPr>
        <p:spPr>
          <a:xfrm rot="2790000" flipH="1" flipV="1">
            <a:off x="12086121" y="-8343562"/>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5" name="TextBox 3">
            <a:extLst>
              <a:ext uri="{FF2B5EF4-FFF2-40B4-BE49-F238E27FC236}">
                <a16:creationId xmlns:a16="http://schemas.microsoft.com/office/drawing/2014/main" id="{48BACF70-C399-7C0F-FBCC-B4AC795502AE}"/>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43" name="Freeform 43">
            <a:extLst>
              <a:ext uri="{FF2B5EF4-FFF2-40B4-BE49-F238E27FC236}">
                <a16:creationId xmlns:a16="http://schemas.microsoft.com/office/drawing/2014/main" id="{0A22DCA2-6B60-65CF-5941-452EBCB56535}"/>
              </a:ext>
            </a:extLst>
          </p:cNvPr>
          <p:cNvSpPr/>
          <p:nvPr/>
        </p:nvSpPr>
        <p:spPr>
          <a:xfrm>
            <a:off x="16301856" y="5364359"/>
            <a:ext cx="814911" cy="975095"/>
          </a:xfrm>
          <a:custGeom>
            <a:avLst/>
            <a:gdLst/>
            <a:ahLst/>
            <a:cxnLst/>
            <a:rect l="l" t="t" r="r" b="b"/>
            <a:pathLst>
              <a:path w="814911" h="975095">
                <a:moveTo>
                  <a:pt x="0" y="0"/>
                </a:moveTo>
                <a:lnTo>
                  <a:pt x="814911" y="0"/>
                </a:lnTo>
                <a:lnTo>
                  <a:pt x="814911" y="975095"/>
                </a:lnTo>
                <a:lnTo>
                  <a:pt x="0" y="975095"/>
                </a:lnTo>
                <a:lnTo>
                  <a:pt x="0" y="0"/>
                </a:lnTo>
                <a:close/>
              </a:path>
            </a:pathLst>
          </a:custGeom>
          <a:blipFill>
            <a:blip r:embed="rId8">
              <a:extLst>
                <a:ext uri="{96DAC541-7B7A-43D3-8B79-37D633B846F1}">
                  <asvg:svgBlip xmlns:asvg="http://schemas.microsoft.com/office/drawing/2016/SVG/main" r:embed="rId9"/>
                </a:ext>
              </a:extLst>
            </a:blip>
            <a:stretch>
              <a:fillRect r="-66725" b="-6750"/>
            </a:stretch>
          </a:blipFill>
        </p:spPr>
      </p:sp>
      <p:sp>
        <p:nvSpPr>
          <p:cNvPr id="44" name="Freeform 44">
            <a:extLst>
              <a:ext uri="{FF2B5EF4-FFF2-40B4-BE49-F238E27FC236}">
                <a16:creationId xmlns:a16="http://schemas.microsoft.com/office/drawing/2014/main" id="{7220DA98-C2CF-67BD-163F-262D61BCDE40}"/>
              </a:ext>
            </a:extLst>
          </p:cNvPr>
          <p:cNvSpPr/>
          <p:nvPr/>
        </p:nvSpPr>
        <p:spPr>
          <a:xfrm flipH="1">
            <a:off x="1171233" y="5364359"/>
            <a:ext cx="814911" cy="975095"/>
          </a:xfrm>
          <a:custGeom>
            <a:avLst/>
            <a:gdLst/>
            <a:ahLst/>
            <a:cxnLst/>
            <a:rect l="l" t="t" r="r" b="b"/>
            <a:pathLst>
              <a:path w="814911" h="975095">
                <a:moveTo>
                  <a:pt x="814911" y="0"/>
                </a:moveTo>
                <a:lnTo>
                  <a:pt x="0" y="0"/>
                </a:lnTo>
                <a:lnTo>
                  <a:pt x="0" y="975095"/>
                </a:lnTo>
                <a:lnTo>
                  <a:pt x="814911" y="975095"/>
                </a:lnTo>
                <a:lnTo>
                  <a:pt x="814911" y="0"/>
                </a:lnTo>
                <a:close/>
              </a:path>
            </a:pathLst>
          </a:custGeom>
          <a:blipFill>
            <a:blip r:embed="rId8">
              <a:extLst>
                <a:ext uri="{96DAC541-7B7A-43D3-8B79-37D633B846F1}">
                  <asvg:svgBlip xmlns:asvg="http://schemas.microsoft.com/office/drawing/2016/SVG/main" r:embed="rId9"/>
                </a:ext>
              </a:extLst>
            </a:blip>
            <a:stretch>
              <a:fillRect r="-66725" b="-6750"/>
            </a:stretch>
          </a:blipFill>
        </p:spPr>
      </p:sp>
      <p:sp>
        <p:nvSpPr>
          <p:cNvPr id="3" name="Rectangle 1">
            <a:extLst>
              <a:ext uri="{FF2B5EF4-FFF2-40B4-BE49-F238E27FC236}">
                <a16:creationId xmlns:a16="http://schemas.microsoft.com/office/drawing/2014/main" id="{BB09C72D-AAD2-1255-8A23-24711C3852FE}"/>
              </a:ext>
            </a:extLst>
          </p:cNvPr>
          <p:cNvSpPr>
            <a:spLocks noChangeArrowheads="1"/>
          </p:cNvSpPr>
          <p:nvPr/>
        </p:nvSpPr>
        <p:spPr bwMode="auto">
          <a:xfrm>
            <a:off x="1710970" y="2735421"/>
            <a:ext cx="11543204"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4000" b="1" i="0" u="none" strike="noStrike" cap="none" normalizeH="0" baseline="0" dirty="0">
                <a:ln>
                  <a:noFill/>
                </a:ln>
                <a:solidFill>
                  <a:schemeClr val="tx2">
                    <a:lumMod val="75000"/>
                  </a:schemeClr>
                </a:solidFill>
                <a:effectLst/>
                <a:latin typeface="Arial Unicode MS"/>
              </a:rPr>
              <a:t>4.AddRoundKey</a:t>
            </a:r>
            <a:r>
              <a:rPr kumimoji="0" lang="fr-FR" altLang="fr-FR" sz="4000" b="1" i="0" u="none" strike="noStrike" cap="none" normalizeH="0" baseline="0" dirty="0">
                <a:ln>
                  <a:noFill/>
                </a:ln>
                <a:solidFill>
                  <a:schemeClr val="tx2">
                    <a:lumMod val="75000"/>
                  </a:schemeClr>
                </a:solidFill>
                <a:effectLst/>
              </a:rPr>
              <a:t> (2ᵉ sous-clé) :</a:t>
            </a:r>
          </a:p>
          <a:p>
            <a:pPr>
              <a:buNone/>
            </a:pPr>
            <a:r>
              <a:rPr lang="fr-FR" sz="3600" dirty="0"/>
              <a:t>On applique à nouveau XOR avec la </a:t>
            </a:r>
            <a:r>
              <a:rPr lang="fr-FR" sz="3600" b="1" dirty="0"/>
              <a:t>clé de ronde 1</a:t>
            </a:r>
            <a:r>
              <a:rPr lang="fr-FR" sz="3600" dirty="0"/>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4000" b="0" i="0" u="none" strike="noStrike" cap="none" normalizeH="0" baseline="0" dirty="0">
                <a:ln>
                  <a:noFill/>
                </a:ln>
                <a:solidFill>
                  <a:schemeClr val="tx2">
                    <a:lumMod val="75000"/>
                  </a:schemeClr>
                </a:solidFill>
                <a:effectLst/>
              </a:rPr>
              <a:t> </a:t>
            </a:r>
            <a:endParaRPr kumimoji="0" lang="fr-FR" altLang="fr-FR" sz="4000" b="0" i="0" u="none" strike="noStrike" cap="none" normalizeH="0" baseline="0" dirty="0">
              <a:ln>
                <a:noFill/>
              </a:ln>
              <a:solidFill>
                <a:schemeClr val="tx2">
                  <a:lumMod val="75000"/>
                </a:schemeClr>
              </a:solidFill>
              <a:effectLst/>
              <a:latin typeface="Arial" panose="020B0604020202020204" pitchFamily="34" charset="0"/>
            </a:endParaRPr>
          </a:p>
        </p:txBody>
      </p:sp>
      <p:pic>
        <p:nvPicPr>
          <p:cNvPr id="5" name="Image 4">
            <a:extLst>
              <a:ext uri="{FF2B5EF4-FFF2-40B4-BE49-F238E27FC236}">
                <a16:creationId xmlns:a16="http://schemas.microsoft.com/office/drawing/2014/main" id="{94DDEF1E-44F7-DC29-2C8B-8F948FDAC643}"/>
              </a:ext>
            </a:extLst>
          </p:cNvPr>
          <p:cNvPicPr>
            <a:picLocks noChangeAspect="1"/>
          </p:cNvPicPr>
          <p:nvPr/>
        </p:nvPicPr>
        <p:blipFill>
          <a:blip r:embed="rId10"/>
          <a:stretch>
            <a:fillRect/>
          </a:stretch>
        </p:blipFill>
        <p:spPr>
          <a:xfrm>
            <a:off x="669538" y="4759789"/>
            <a:ext cx="4757639" cy="3889459"/>
          </a:xfrm>
          <a:prstGeom prst="rect">
            <a:avLst/>
          </a:prstGeom>
        </p:spPr>
      </p:pic>
      <p:pic>
        <p:nvPicPr>
          <p:cNvPr id="14" name="Image 13">
            <a:extLst>
              <a:ext uri="{FF2B5EF4-FFF2-40B4-BE49-F238E27FC236}">
                <a16:creationId xmlns:a16="http://schemas.microsoft.com/office/drawing/2014/main" id="{CB7FD83C-5E18-73C2-5C14-712D68C238FB}"/>
              </a:ext>
            </a:extLst>
          </p:cNvPr>
          <p:cNvPicPr>
            <a:picLocks noChangeAspect="1"/>
          </p:cNvPicPr>
          <p:nvPr/>
        </p:nvPicPr>
        <p:blipFill>
          <a:blip r:embed="rId11"/>
          <a:stretch>
            <a:fillRect/>
          </a:stretch>
        </p:blipFill>
        <p:spPr>
          <a:xfrm>
            <a:off x="12936538" y="4889857"/>
            <a:ext cx="4554654" cy="3882644"/>
          </a:xfrm>
          <a:prstGeom prst="rect">
            <a:avLst/>
          </a:prstGeom>
        </p:spPr>
      </p:pic>
      <p:pic>
        <p:nvPicPr>
          <p:cNvPr id="16" name="Image 15">
            <a:extLst>
              <a:ext uri="{FF2B5EF4-FFF2-40B4-BE49-F238E27FC236}">
                <a16:creationId xmlns:a16="http://schemas.microsoft.com/office/drawing/2014/main" id="{88778CC2-2476-DFE1-C501-69203BCA307D}"/>
              </a:ext>
            </a:extLst>
          </p:cNvPr>
          <p:cNvPicPr>
            <a:picLocks noChangeAspect="1"/>
          </p:cNvPicPr>
          <p:nvPr/>
        </p:nvPicPr>
        <p:blipFill>
          <a:blip r:embed="rId12"/>
          <a:stretch>
            <a:fillRect/>
          </a:stretch>
        </p:blipFill>
        <p:spPr>
          <a:xfrm>
            <a:off x="6629963" y="4782649"/>
            <a:ext cx="5264393" cy="3823553"/>
          </a:xfrm>
          <a:prstGeom prst="rect">
            <a:avLst/>
          </a:prstGeom>
        </p:spPr>
      </p:pic>
      <p:sp>
        <p:nvSpPr>
          <p:cNvPr id="18" name="ZoneTexte 17">
            <a:extLst>
              <a:ext uri="{FF2B5EF4-FFF2-40B4-BE49-F238E27FC236}">
                <a16:creationId xmlns:a16="http://schemas.microsoft.com/office/drawing/2014/main" id="{9451C616-BAB1-E11A-E6E4-4D2079C19B4E}"/>
              </a:ext>
            </a:extLst>
          </p:cNvPr>
          <p:cNvSpPr txBox="1"/>
          <p:nvPr/>
        </p:nvSpPr>
        <p:spPr>
          <a:xfrm>
            <a:off x="5494039" y="6485187"/>
            <a:ext cx="1385898" cy="584775"/>
          </a:xfrm>
          <a:prstGeom prst="rect">
            <a:avLst/>
          </a:prstGeom>
          <a:noFill/>
        </p:spPr>
        <p:txBody>
          <a:bodyPr wrap="square" rtlCol="0">
            <a:spAutoFit/>
          </a:bodyPr>
          <a:lstStyle/>
          <a:p>
            <a:r>
              <a:rPr lang="fr-FR" sz="3200" b="1" dirty="0"/>
              <a:t>XOR</a:t>
            </a:r>
            <a:endParaRPr lang="en-US" sz="3200" b="1" dirty="0"/>
          </a:p>
        </p:txBody>
      </p:sp>
      <p:sp>
        <p:nvSpPr>
          <p:cNvPr id="20" name="ZoneTexte 19">
            <a:extLst>
              <a:ext uri="{FF2B5EF4-FFF2-40B4-BE49-F238E27FC236}">
                <a16:creationId xmlns:a16="http://schemas.microsoft.com/office/drawing/2014/main" id="{FC9A15A0-58D7-E87C-F9C1-E63D8793AFCF}"/>
              </a:ext>
            </a:extLst>
          </p:cNvPr>
          <p:cNvSpPr txBox="1"/>
          <p:nvPr/>
        </p:nvSpPr>
        <p:spPr>
          <a:xfrm>
            <a:off x="12114729" y="6383048"/>
            <a:ext cx="1385898" cy="1107996"/>
          </a:xfrm>
          <a:prstGeom prst="rect">
            <a:avLst/>
          </a:prstGeom>
          <a:noFill/>
        </p:spPr>
        <p:txBody>
          <a:bodyPr wrap="square" rtlCol="0">
            <a:spAutoFit/>
          </a:bodyPr>
          <a:lstStyle/>
          <a:p>
            <a:r>
              <a:rPr lang="fr-FR" sz="6600" b="1" dirty="0"/>
              <a:t>=</a:t>
            </a:r>
            <a:endParaRPr lang="en-US" sz="6600" b="1" dirty="0"/>
          </a:p>
        </p:txBody>
      </p:sp>
      <p:sp>
        <p:nvSpPr>
          <p:cNvPr id="2" name="ZoneTexte 1">
            <a:extLst>
              <a:ext uri="{FF2B5EF4-FFF2-40B4-BE49-F238E27FC236}">
                <a16:creationId xmlns:a16="http://schemas.microsoft.com/office/drawing/2014/main" id="{E9D25425-CCE8-A4A8-A7A9-5AC907809B97}"/>
              </a:ext>
            </a:extLst>
          </p:cNvPr>
          <p:cNvSpPr txBox="1"/>
          <p:nvPr/>
        </p:nvSpPr>
        <p:spPr>
          <a:xfrm>
            <a:off x="1801857" y="8559809"/>
            <a:ext cx="3046562" cy="707886"/>
          </a:xfrm>
          <a:prstGeom prst="rect">
            <a:avLst/>
          </a:prstGeom>
          <a:noFill/>
        </p:spPr>
        <p:txBody>
          <a:bodyPr wrap="square" rtlCol="0">
            <a:spAutoFit/>
          </a:bodyPr>
          <a:lstStyle/>
          <a:p>
            <a:r>
              <a:rPr kumimoji="0" lang="fr-FR" altLang="fr-FR" sz="4000" b="1" i="0" u="none" strike="noStrike" cap="none" normalizeH="0" baseline="0" dirty="0">
                <a:ln>
                  <a:noFill/>
                </a:ln>
                <a:solidFill>
                  <a:schemeClr val="tx2">
                    <a:lumMod val="75000"/>
                  </a:schemeClr>
                </a:solidFill>
                <a:effectLst/>
              </a:rPr>
              <a:t>2ᵉ sous-clé</a:t>
            </a:r>
            <a:endParaRPr lang="en-US" sz="4000" dirty="0">
              <a:solidFill>
                <a:schemeClr val="tx2">
                  <a:lumMod val="75000"/>
                </a:schemeClr>
              </a:solidFill>
            </a:endParaRPr>
          </a:p>
        </p:txBody>
      </p:sp>
    </p:spTree>
    <p:extLst>
      <p:ext uri="{BB962C8B-B14F-4D97-AF65-F5344CB8AC3E}">
        <p14:creationId xmlns:p14="http://schemas.microsoft.com/office/powerpoint/2010/main" val="3359135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A7F2B-DF31-17B6-D81B-B2DF55E14E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AF83430-F515-F3DE-050D-78713A79BCD9}"/>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7AD65952-771B-4500-074F-C1B45FF39125}"/>
              </a:ext>
            </a:extLst>
          </p:cNvPr>
          <p:cNvSpPr/>
          <p:nvPr/>
        </p:nvSpPr>
        <p:spPr>
          <a:xfrm>
            <a:off x="16916400" y="3323216"/>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21C4883D-B4E7-E743-D616-E30936AB202A}"/>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720E0B84-ECFF-8476-EB16-1395B9E9A724}"/>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0086A4B1-A1E9-874F-49A0-A8DCC71B7361}"/>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57FDCD99-2C86-2FAD-421E-8E841C86A3D1}"/>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FB508698-3001-76D0-0F2F-4EBBD6B80BB8}"/>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3">
            <a:extLst>
              <a:ext uri="{FF2B5EF4-FFF2-40B4-BE49-F238E27FC236}">
                <a16:creationId xmlns:a16="http://schemas.microsoft.com/office/drawing/2014/main" id="{A3408400-35A4-3BF4-3B66-AA55AB384A8F}"/>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3" name="ZoneTexte 2">
            <a:extLst>
              <a:ext uri="{FF2B5EF4-FFF2-40B4-BE49-F238E27FC236}">
                <a16:creationId xmlns:a16="http://schemas.microsoft.com/office/drawing/2014/main" id="{F718F5FA-5B07-CFCC-C689-C0A5AA25CBEE}"/>
              </a:ext>
            </a:extLst>
          </p:cNvPr>
          <p:cNvSpPr txBox="1"/>
          <p:nvPr/>
        </p:nvSpPr>
        <p:spPr>
          <a:xfrm>
            <a:off x="1661021" y="2558109"/>
            <a:ext cx="17142509" cy="6863417"/>
          </a:xfrm>
          <a:prstGeom prst="rect">
            <a:avLst/>
          </a:prstGeom>
          <a:noFill/>
        </p:spPr>
        <p:txBody>
          <a:bodyPr wrap="square" rtlCol="0">
            <a:spAutoFit/>
          </a:bodyPr>
          <a:lstStyle/>
          <a:p>
            <a:pPr marL="571500" indent="-571500">
              <a:buFont typeface="Wingdings" panose="05000000000000000000" pitchFamily="2" charset="2"/>
              <a:buChar char="Ø"/>
            </a:pPr>
            <a:r>
              <a:rPr lang="fr-FR" sz="4400" b="1" dirty="0">
                <a:solidFill>
                  <a:schemeClr val="tx2">
                    <a:lumMod val="75000"/>
                  </a:schemeClr>
                </a:solidFill>
              </a:rPr>
              <a:t>Round 1 : </a:t>
            </a:r>
            <a:r>
              <a:rPr lang="fr-FR" sz="4400" dirty="0">
                <a:solidFill>
                  <a:schemeClr val="tx2">
                    <a:lumMod val="75000"/>
                  </a:schemeClr>
                </a:solidFill>
              </a:rPr>
              <a:t>a4 68 6b 02 9c 9f 5b 6a  7f 35 </a:t>
            </a:r>
            <a:r>
              <a:rPr lang="fr-FR" sz="4400" dirty="0" err="1">
                <a:solidFill>
                  <a:schemeClr val="tx2">
                    <a:lumMod val="75000"/>
                  </a:schemeClr>
                </a:solidFill>
              </a:rPr>
              <a:t>ea</a:t>
            </a:r>
            <a:r>
              <a:rPr lang="fr-FR" sz="4400" dirty="0">
                <a:solidFill>
                  <a:schemeClr val="tx2">
                    <a:lumMod val="75000"/>
                  </a:schemeClr>
                </a:solidFill>
              </a:rPr>
              <a:t> 50  f2 2b 43 49 </a:t>
            </a:r>
          </a:p>
          <a:p>
            <a:pPr marL="571500" indent="-571500">
              <a:buFont typeface="Wingdings" panose="05000000000000000000" pitchFamily="2" charset="2"/>
              <a:buChar char="Ø"/>
            </a:pPr>
            <a:r>
              <a:rPr lang="fr-FR" sz="4400" b="1" dirty="0">
                <a:solidFill>
                  <a:schemeClr val="tx2">
                    <a:lumMod val="75000"/>
                  </a:schemeClr>
                </a:solidFill>
              </a:rPr>
              <a:t>Round 2 :</a:t>
            </a:r>
            <a:r>
              <a:rPr lang="fr-FR" sz="4400" dirty="0">
                <a:solidFill>
                  <a:schemeClr val="tx2">
                    <a:lumMod val="75000"/>
                  </a:schemeClr>
                </a:solidFill>
              </a:rPr>
              <a:t>49 45 7f 77 51 e0 a4 fb 7c a5 3e 72 60 b5 01 8a</a:t>
            </a:r>
          </a:p>
          <a:p>
            <a:pPr marL="571500" indent="-571500">
              <a:buFont typeface="Wingdings" panose="05000000000000000000" pitchFamily="2" charset="2"/>
              <a:buChar char="Ø"/>
            </a:pPr>
            <a:r>
              <a:rPr lang="fr-FR" sz="4400" b="1" dirty="0">
                <a:solidFill>
                  <a:schemeClr val="tx2">
                    <a:lumMod val="75000"/>
                  </a:schemeClr>
                </a:solidFill>
              </a:rPr>
              <a:t>Round 3 : </a:t>
            </a:r>
            <a:r>
              <a:rPr lang="fr-FR" sz="4400" dirty="0">
                <a:solidFill>
                  <a:schemeClr val="tx2">
                    <a:lumMod val="75000"/>
                  </a:schemeClr>
                </a:solidFill>
              </a:rPr>
              <a:t>37 d0 14 a3 5c 66 4f 9f  d3 8f f6 16 ab 91 17 9c</a:t>
            </a:r>
          </a:p>
          <a:p>
            <a:pPr marL="571500" indent="-571500">
              <a:buFont typeface="Wingdings" panose="05000000000000000000" pitchFamily="2" charset="2"/>
              <a:buChar char="Ø"/>
            </a:pPr>
            <a:r>
              <a:rPr lang="fr-FR" sz="4400" b="1" dirty="0">
                <a:solidFill>
                  <a:schemeClr val="tx2">
                    <a:lumMod val="75000"/>
                  </a:schemeClr>
                </a:solidFill>
              </a:rPr>
              <a:t>Round 4 : </a:t>
            </a:r>
            <a:r>
              <a:rPr lang="fr-FR" sz="4400" dirty="0">
                <a:solidFill>
                  <a:schemeClr val="tx2">
                    <a:lumMod val="75000"/>
                  </a:schemeClr>
                </a:solidFill>
              </a:rPr>
              <a:t>f4 8e </a:t>
            </a:r>
            <a:r>
              <a:rPr lang="fr-FR" sz="4400" dirty="0" err="1">
                <a:solidFill>
                  <a:schemeClr val="tx2">
                    <a:lumMod val="75000"/>
                  </a:schemeClr>
                </a:solidFill>
              </a:rPr>
              <a:t>eb</a:t>
            </a:r>
            <a:r>
              <a:rPr lang="fr-FR" sz="4400" dirty="0">
                <a:solidFill>
                  <a:schemeClr val="tx2">
                    <a:lumMod val="75000"/>
                  </a:schemeClr>
                </a:solidFill>
              </a:rPr>
              <a:t> 45 61 22 b0 bd 1a b3 c2 e2  </a:t>
            </a:r>
            <a:r>
              <a:rPr lang="fr-FR" sz="4400" dirty="0" err="1">
                <a:solidFill>
                  <a:schemeClr val="tx2">
                    <a:lumMod val="75000"/>
                  </a:schemeClr>
                </a:solidFill>
              </a:rPr>
              <a:t>ae</a:t>
            </a:r>
            <a:r>
              <a:rPr lang="fr-FR" sz="4400" dirty="0">
                <a:solidFill>
                  <a:schemeClr val="tx2">
                    <a:lumMod val="75000"/>
                  </a:schemeClr>
                </a:solidFill>
              </a:rPr>
              <a:t> f1 3e e5 </a:t>
            </a:r>
          </a:p>
          <a:p>
            <a:pPr marL="571500" indent="-571500">
              <a:buFont typeface="Wingdings" panose="05000000000000000000" pitchFamily="2" charset="2"/>
              <a:buChar char="Ø"/>
            </a:pPr>
            <a:r>
              <a:rPr lang="fr-FR" sz="4400" b="1" dirty="0">
                <a:solidFill>
                  <a:schemeClr val="tx2">
                    <a:lumMod val="75000"/>
                  </a:schemeClr>
                </a:solidFill>
              </a:rPr>
              <a:t>Round 5 :  </a:t>
            </a:r>
            <a:r>
              <a:rPr lang="fr-FR" sz="4400" dirty="0">
                <a:solidFill>
                  <a:schemeClr val="tx2">
                    <a:lumMod val="75000"/>
                  </a:schemeClr>
                </a:solidFill>
              </a:rPr>
              <a:t>47 7e 17 87 0c a3 23 35 4e b4 5f 6b  91 74 2f d5 </a:t>
            </a:r>
          </a:p>
          <a:p>
            <a:pPr marL="571500" indent="-571500">
              <a:buFont typeface="Wingdings" panose="05000000000000000000" pitchFamily="2" charset="2"/>
              <a:buChar char="Ø"/>
            </a:pPr>
            <a:r>
              <a:rPr lang="fr-FR" sz="4400" b="1" dirty="0">
                <a:solidFill>
                  <a:schemeClr val="tx2">
                    <a:lumMod val="75000"/>
                  </a:schemeClr>
                </a:solidFill>
              </a:rPr>
              <a:t>Round 6 : </a:t>
            </a:r>
            <a:r>
              <a:rPr lang="pt-BR" sz="4400" b="1" dirty="0">
                <a:solidFill>
                  <a:schemeClr val="tx2">
                    <a:lumMod val="75000"/>
                  </a:schemeClr>
                </a:solidFill>
              </a:rPr>
              <a:t> </a:t>
            </a:r>
            <a:r>
              <a:rPr lang="pt-BR" sz="4400" dirty="0">
                <a:solidFill>
                  <a:schemeClr val="tx2">
                    <a:lumMod val="75000"/>
                  </a:schemeClr>
                </a:solidFill>
              </a:rPr>
              <a:t>11 dd 90 66 50 25 f7 9f c1 b6 3a d8 74 a5 76 7e </a:t>
            </a:r>
            <a:endParaRPr lang="fr-FR" sz="4400" dirty="0">
              <a:solidFill>
                <a:schemeClr val="tx2">
                  <a:lumMod val="75000"/>
                </a:schemeClr>
              </a:solidFill>
            </a:endParaRPr>
          </a:p>
          <a:p>
            <a:pPr marL="571500" indent="-571500">
              <a:buFont typeface="Wingdings" panose="05000000000000000000" pitchFamily="2" charset="2"/>
              <a:buChar char="Ø"/>
            </a:pPr>
            <a:r>
              <a:rPr lang="fr-FR" sz="4400" b="1" dirty="0">
                <a:solidFill>
                  <a:schemeClr val="tx2">
                    <a:lumMod val="75000"/>
                  </a:schemeClr>
                </a:solidFill>
              </a:rPr>
              <a:t>Round 7 : </a:t>
            </a:r>
            <a:r>
              <a:rPr lang="fr-FR" sz="4400" dirty="0">
                <a:solidFill>
                  <a:schemeClr val="tx2">
                    <a:lumMod val="75000"/>
                  </a:schemeClr>
                </a:solidFill>
              </a:rPr>
              <a:t>b4 68 8d 5b a3 d7 97 9d 6b f1 02 0c 64 c0 20 8f </a:t>
            </a:r>
          </a:p>
          <a:p>
            <a:pPr marL="571500" indent="-571500">
              <a:buFont typeface="Wingdings" panose="05000000000000000000" pitchFamily="2" charset="2"/>
              <a:buChar char="Ø"/>
            </a:pPr>
            <a:r>
              <a:rPr lang="fr-FR" sz="4400" b="1" dirty="0">
                <a:solidFill>
                  <a:schemeClr val="tx2">
                    <a:lumMod val="75000"/>
                  </a:schemeClr>
                </a:solidFill>
              </a:rPr>
              <a:t>Round 8 : </a:t>
            </a:r>
            <a:r>
              <a:rPr lang="pt-BR" sz="4400" dirty="0">
                <a:solidFill>
                  <a:schemeClr val="tx2">
                    <a:lumMod val="75000"/>
                  </a:schemeClr>
                </a:solidFill>
              </a:rPr>
              <a:t>49 2f f2 f3  62 41 c0 26 36 d7 e7 8c 8d 6a 65 1a</a:t>
            </a:r>
            <a:endParaRPr lang="fr-FR" sz="4400" dirty="0">
              <a:solidFill>
                <a:schemeClr val="tx2">
                  <a:lumMod val="75000"/>
                </a:schemeClr>
              </a:solidFill>
            </a:endParaRPr>
          </a:p>
          <a:p>
            <a:pPr marL="571500" indent="-571500">
              <a:buFont typeface="Wingdings" panose="05000000000000000000" pitchFamily="2" charset="2"/>
              <a:buChar char="Ø"/>
            </a:pPr>
            <a:r>
              <a:rPr lang="fr-FR" sz="4400" b="1" dirty="0">
                <a:solidFill>
                  <a:schemeClr val="tx2">
                    <a:lumMod val="75000"/>
                  </a:schemeClr>
                </a:solidFill>
              </a:rPr>
              <a:t>Round 9 : </a:t>
            </a:r>
            <a:r>
              <a:rPr lang="pt-BR" sz="4400" dirty="0">
                <a:solidFill>
                  <a:schemeClr val="tx2">
                    <a:lumMod val="75000"/>
                  </a:schemeClr>
                </a:solidFill>
              </a:rPr>
              <a:t>a2 3e 01 91 b5 4b f5 26 7a fe 7f 63  98 75 85 74 </a:t>
            </a:r>
            <a:endParaRPr lang="fr-FR" sz="4400" dirty="0">
              <a:solidFill>
                <a:schemeClr val="tx2">
                  <a:lumMod val="75000"/>
                </a:schemeClr>
              </a:solidFill>
            </a:endParaRPr>
          </a:p>
          <a:p>
            <a:pPr marL="571500" indent="-571500">
              <a:buFont typeface="Wingdings" panose="05000000000000000000" pitchFamily="2" charset="2"/>
              <a:buChar char="Ø"/>
            </a:pPr>
            <a:r>
              <a:rPr lang="fr-FR" sz="4400" b="1" dirty="0">
                <a:solidFill>
                  <a:schemeClr val="tx2">
                    <a:lumMod val="75000"/>
                  </a:schemeClr>
                </a:solidFill>
              </a:rPr>
              <a:t>Round 10 : </a:t>
            </a:r>
            <a:r>
              <a:rPr lang="fr-FR" sz="4400" dirty="0">
                <a:solidFill>
                  <a:schemeClr val="tx2">
                    <a:lumMod val="75000"/>
                  </a:schemeClr>
                </a:solidFill>
              </a:rPr>
              <a:t>39 25 84 1d 02 dc 09 fb dc 11 85 97 19 6a 0b 32 </a:t>
            </a:r>
          </a:p>
        </p:txBody>
      </p:sp>
    </p:spTree>
    <p:extLst>
      <p:ext uri="{BB962C8B-B14F-4D97-AF65-F5344CB8AC3E}">
        <p14:creationId xmlns:p14="http://schemas.microsoft.com/office/powerpoint/2010/main" val="2882435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B2F66-1DFC-7C01-B5D1-61DEF11BE6C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738F118-2321-0A7D-6C29-EBDB2A48A04F}"/>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Rectangle : coins arrondis 15">
            <a:extLst>
              <a:ext uri="{FF2B5EF4-FFF2-40B4-BE49-F238E27FC236}">
                <a16:creationId xmlns:a16="http://schemas.microsoft.com/office/drawing/2014/main" id="{330AC064-C08E-F025-289D-16DA3D595C49}"/>
              </a:ext>
            </a:extLst>
          </p:cNvPr>
          <p:cNvSpPr/>
          <p:nvPr/>
        </p:nvSpPr>
        <p:spPr>
          <a:xfrm>
            <a:off x="685800" y="4685929"/>
            <a:ext cx="17334697" cy="335317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5">
            <a:extLst>
              <a:ext uri="{FF2B5EF4-FFF2-40B4-BE49-F238E27FC236}">
                <a16:creationId xmlns:a16="http://schemas.microsoft.com/office/drawing/2014/main" id="{D06ACF49-341A-59FB-846C-6BEF775FAAEE}"/>
              </a:ext>
            </a:extLst>
          </p:cNvPr>
          <p:cNvSpPr/>
          <p:nvPr/>
        </p:nvSpPr>
        <p:spPr>
          <a:xfrm>
            <a:off x="16873007" y="4283740"/>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B08BF858-2DEC-94D5-4DAA-608ED684B239}"/>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403C0892-9F3A-1DD4-DEBF-7BF56EAC6A1C}"/>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FFA15FD9-BD10-CA2B-7E89-8A6DACFB7049}"/>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7D5CC9C0-2368-5E36-619E-38C4EE31671E}"/>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581DD08F-5D96-27A1-5663-29E54F453F1C}"/>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3">
            <a:extLst>
              <a:ext uri="{FF2B5EF4-FFF2-40B4-BE49-F238E27FC236}">
                <a16:creationId xmlns:a16="http://schemas.microsoft.com/office/drawing/2014/main" id="{16F55F72-5A21-94D3-1B22-A680B79B9283}"/>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Déchiffrement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4" name="ZoneTexte 3">
            <a:extLst>
              <a:ext uri="{FF2B5EF4-FFF2-40B4-BE49-F238E27FC236}">
                <a16:creationId xmlns:a16="http://schemas.microsoft.com/office/drawing/2014/main" id="{878EB930-EA71-23EB-99CE-BE2B768BAC7E}"/>
              </a:ext>
            </a:extLst>
          </p:cNvPr>
          <p:cNvSpPr txBox="1"/>
          <p:nvPr/>
        </p:nvSpPr>
        <p:spPr>
          <a:xfrm>
            <a:off x="1012656" y="2706042"/>
            <a:ext cx="16764000" cy="1200329"/>
          </a:xfrm>
          <a:prstGeom prst="rect">
            <a:avLst/>
          </a:prstGeom>
          <a:noFill/>
        </p:spPr>
        <p:txBody>
          <a:bodyPr wrap="square" rtlCol="0">
            <a:spAutoFit/>
          </a:bodyPr>
          <a:lstStyle/>
          <a:p>
            <a:r>
              <a:rPr lang="fr-FR" sz="3600" b="0" i="0" dirty="0">
                <a:solidFill>
                  <a:srgbClr val="3C4043"/>
                </a:solidFill>
                <a:effectLst/>
                <a:latin typeface="Roboto" panose="02000000000000000000" pitchFamily="2" charset="0"/>
              </a:rPr>
              <a:t>Lors du décryptage, nous effectuons les opérations inverses, mais dans l’ordre inverse :</a:t>
            </a:r>
            <a:endParaRPr lang="en-US" sz="3600" dirty="0"/>
          </a:p>
        </p:txBody>
      </p:sp>
      <p:pic>
        <p:nvPicPr>
          <p:cNvPr id="15" name="Image 14">
            <a:extLst>
              <a:ext uri="{FF2B5EF4-FFF2-40B4-BE49-F238E27FC236}">
                <a16:creationId xmlns:a16="http://schemas.microsoft.com/office/drawing/2014/main" id="{F9FCCB56-E180-0A19-F4A9-028B3427FAF7}"/>
              </a:ext>
            </a:extLst>
          </p:cNvPr>
          <p:cNvPicPr>
            <a:picLocks noChangeAspect="1"/>
          </p:cNvPicPr>
          <p:nvPr/>
        </p:nvPicPr>
        <p:blipFill>
          <a:blip r:embed="rId10"/>
          <a:stretch>
            <a:fillRect/>
          </a:stretch>
        </p:blipFill>
        <p:spPr>
          <a:xfrm>
            <a:off x="971148" y="5063297"/>
            <a:ext cx="16764000" cy="2598434"/>
          </a:xfrm>
          <a:prstGeom prst="rect">
            <a:avLst/>
          </a:prstGeom>
        </p:spPr>
      </p:pic>
    </p:spTree>
    <p:extLst>
      <p:ext uri="{BB962C8B-B14F-4D97-AF65-F5344CB8AC3E}">
        <p14:creationId xmlns:p14="http://schemas.microsoft.com/office/powerpoint/2010/main" val="4034663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96551-0724-53BA-07F6-CA88BF991E2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3C49C9D-D866-0C76-84DB-A7D71332483A}"/>
              </a:ext>
            </a:extLst>
          </p:cNvPr>
          <p:cNvSpPr/>
          <p:nvPr/>
        </p:nvSpPr>
        <p:spPr>
          <a:xfrm>
            <a:off x="11719994" y="2921002"/>
            <a:ext cx="11078611" cy="9024033"/>
          </a:xfrm>
          <a:custGeom>
            <a:avLst/>
            <a:gdLst/>
            <a:ahLst/>
            <a:cxnLst/>
            <a:rect l="l" t="t" r="r" b="b"/>
            <a:pathLst>
              <a:path w="11078611" h="9024033">
                <a:moveTo>
                  <a:pt x="0" y="0"/>
                </a:moveTo>
                <a:lnTo>
                  <a:pt x="11078612" y="0"/>
                </a:lnTo>
                <a:lnTo>
                  <a:pt x="11078612" y="9024033"/>
                </a:lnTo>
                <a:lnTo>
                  <a:pt x="0" y="9024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9" name="Rectangle : coins arrondis 28">
            <a:extLst>
              <a:ext uri="{FF2B5EF4-FFF2-40B4-BE49-F238E27FC236}">
                <a16:creationId xmlns:a16="http://schemas.microsoft.com/office/drawing/2014/main" id="{653AD1CE-2CE3-6308-FAE6-72D457AFC4D8}"/>
              </a:ext>
            </a:extLst>
          </p:cNvPr>
          <p:cNvSpPr/>
          <p:nvPr/>
        </p:nvSpPr>
        <p:spPr>
          <a:xfrm>
            <a:off x="846039" y="5056448"/>
            <a:ext cx="16595921" cy="4367142"/>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F21A6F4-4577-95AB-C814-E17248A24E4D}"/>
              </a:ext>
            </a:extLst>
          </p:cNvPr>
          <p:cNvSpPr/>
          <p:nvPr/>
        </p:nvSpPr>
        <p:spPr>
          <a:xfrm>
            <a:off x="12499906" y="6140728"/>
            <a:ext cx="4035494" cy="28127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5">
            <a:extLst>
              <a:ext uri="{FF2B5EF4-FFF2-40B4-BE49-F238E27FC236}">
                <a16:creationId xmlns:a16="http://schemas.microsoft.com/office/drawing/2014/main" id="{C84566C2-EDE4-8E77-A5A2-63F1F68A3E5D}"/>
              </a:ext>
            </a:extLst>
          </p:cNvPr>
          <p:cNvSpPr/>
          <p:nvPr/>
        </p:nvSpPr>
        <p:spPr>
          <a:xfrm>
            <a:off x="16916400" y="3323216"/>
            <a:ext cx="903649" cy="692314"/>
          </a:xfrm>
          <a:custGeom>
            <a:avLst/>
            <a:gdLst/>
            <a:ahLst/>
            <a:cxnLst/>
            <a:rect l="l" t="t" r="r" b="b"/>
            <a:pathLst>
              <a:path w="903649" h="692314">
                <a:moveTo>
                  <a:pt x="0" y="0"/>
                </a:moveTo>
                <a:lnTo>
                  <a:pt x="903649" y="0"/>
                </a:lnTo>
                <a:lnTo>
                  <a:pt x="903649" y="692314"/>
                </a:lnTo>
                <a:lnTo>
                  <a:pt x="0" y="6923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B8C7F032-E5AD-067D-68C0-4AA843DAAB00}"/>
              </a:ext>
            </a:extLst>
          </p:cNvPr>
          <p:cNvSpPr/>
          <p:nvPr/>
        </p:nvSpPr>
        <p:spPr>
          <a:xfrm flipH="1">
            <a:off x="2224188" y="1435342"/>
            <a:ext cx="1358668" cy="1040918"/>
          </a:xfrm>
          <a:custGeom>
            <a:avLst/>
            <a:gdLst/>
            <a:ahLst/>
            <a:cxnLst/>
            <a:rect l="l" t="t" r="r" b="b"/>
            <a:pathLst>
              <a:path w="1358668" h="1040918">
                <a:moveTo>
                  <a:pt x="1358668" y="0"/>
                </a:moveTo>
                <a:lnTo>
                  <a:pt x="0" y="0"/>
                </a:lnTo>
                <a:lnTo>
                  <a:pt x="0" y="1040918"/>
                </a:lnTo>
                <a:lnTo>
                  <a:pt x="1358668" y="1040918"/>
                </a:lnTo>
                <a:lnTo>
                  <a:pt x="1358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BC6D748A-38D2-6B12-24BA-8996ADA6ACED}"/>
              </a:ext>
            </a:extLst>
          </p:cNvPr>
          <p:cNvSpPr/>
          <p:nvPr/>
        </p:nvSpPr>
        <p:spPr>
          <a:xfrm rot="2790000" flipH="1" flipV="1">
            <a:off x="12086121" y="-8092845"/>
            <a:ext cx="11961199" cy="9742940"/>
          </a:xfrm>
          <a:custGeom>
            <a:avLst/>
            <a:gdLst/>
            <a:ahLst/>
            <a:cxnLst/>
            <a:rect l="l" t="t" r="r" b="b"/>
            <a:pathLst>
              <a:path w="11961199" h="9742940">
                <a:moveTo>
                  <a:pt x="11961199" y="9742941"/>
                </a:moveTo>
                <a:lnTo>
                  <a:pt x="0" y="9742941"/>
                </a:lnTo>
                <a:lnTo>
                  <a:pt x="0" y="0"/>
                </a:lnTo>
                <a:lnTo>
                  <a:pt x="11961199" y="0"/>
                </a:lnTo>
                <a:lnTo>
                  <a:pt x="11961199"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a:extLst>
              <a:ext uri="{FF2B5EF4-FFF2-40B4-BE49-F238E27FC236}">
                <a16:creationId xmlns:a16="http://schemas.microsoft.com/office/drawing/2014/main" id="{274AA014-15E5-B168-89FD-14716E5A9D3E}"/>
              </a:ext>
            </a:extLst>
          </p:cNvPr>
          <p:cNvSpPr/>
          <p:nvPr/>
        </p:nvSpPr>
        <p:spPr>
          <a:xfrm rot="-2791948" flipV="1">
            <a:off x="-5759880" y="-8092515"/>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1918E384-F34A-D1D2-913A-06F5300A3082}"/>
              </a:ext>
            </a:extLst>
          </p:cNvPr>
          <p:cNvSpPr/>
          <p:nvPr/>
        </p:nvSpPr>
        <p:spPr>
          <a:xfrm rot="-2791948" flipV="1">
            <a:off x="-5759880" y="-8547413"/>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a:extLst>
              <a:ext uri="{FF2B5EF4-FFF2-40B4-BE49-F238E27FC236}">
                <a16:creationId xmlns:a16="http://schemas.microsoft.com/office/drawing/2014/main" id="{4D4FA0FF-42C1-52B1-227A-D51EE82D2F6A}"/>
              </a:ext>
            </a:extLst>
          </p:cNvPr>
          <p:cNvSpPr/>
          <p:nvPr/>
        </p:nvSpPr>
        <p:spPr>
          <a:xfrm rot="2790000" flipH="1" flipV="1">
            <a:off x="12086121" y="-8547413"/>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4" name="ZoneTexte 3">
            <a:extLst>
              <a:ext uri="{FF2B5EF4-FFF2-40B4-BE49-F238E27FC236}">
                <a16:creationId xmlns:a16="http://schemas.microsoft.com/office/drawing/2014/main" id="{4D40993A-3A99-1FD7-A2FC-3409D4320BC6}"/>
              </a:ext>
            </a:extLst>
          </p:cNvPr>
          <p:cNvSpPr txBox="1"/>
          <p:nvPr/>
        </p:nvSpPr>
        <p:spPr>
          <a:xfrm>
            <a:off x="906560" y="2476260"/>
            <a:ext cx="16535400" cy="3570208"/>
          </a:xfrm>
          <a:prstGeom prst="rect">
            <a:avLst/>
          </a:prstGeom>
          <a:noFill/>
        </p:spPr>
        <p:txBody>
          <a:bodyPr wrap="square" rtlCol="0">
            <a:spAutoFit/>
          </a:bodyPr>
          <a:lstStyle/>
          <a:p>
            <a:pPr>
              <a:buNone/>
            </a:pPr>
            <a:r>
              <a:rPr lang="fr-FR" sz="4000" b="1" dirty="0">
                <a:solidFill>
                  <a:schemeClr val="tx2">
                    <a:lumMod val="75000"/>
                  </a:schemeClr>
                </a:solidFill>
              </a:rPr>
              <a:t>10 tours à l’envers</a:t>
            </a:r>
          </a:p>
          <a:p>
            <a:r>
              <a:rPr lang="fr-FR" sz="3200" dirty="0"/>
              <a:t>On suit les </a:t>
            </a:r>
            <a:r>
              <a:rPr lang="fr-FR" sz="3200" b="1" dirty="0">
                <a:solidFill>
                  <a:schemeClr val="tx2">
                    <a:lumMod val="75000"/>
                  </a:schemeClr>
                </a:solidFill>
              </a:rPr>
              <a:t>étapes inverses</a:t>
            </a:r>
            <a:r>
              <a:rPr lang="fr-FR" sz="3200" dirty="0">
                <a:solidFill>
                  <a:schemeClr val="tx2">
                    <a:lumMod val="75000"/>
                  </a:schemeClr>
                </a:solidFill>
              </a:rPr>
              <a:t> </a:t>
            </a:r>
            <a:r>
              <a:rPr lang="fr-FR" sz="3200" dirty="0"/>
              <a:t>du chiffrement, dans l’ordre suivant </a:t>
            </a:r>
            <a:r>
              <a:rPr lang="fr-FR" dirty="0"/>
              <a:t>:</a:t>
            </a:r>
          </a:p>
          <a:p>
            <a:r>
              <a:rPr lang="en-US" sz="4000" b="1" dirty="0">
                <a:solidFill>
                  <a:schemeClr val="tx2">
                    <a:lumMod val="75000"/>
                  </a:schemeClr>
                </a:solidFill>
              </a:rPr>
              <a:t>Étape </a:t>
            </a:r>
            <a:r>
              <a:rPr lang="en-US" sz="4000" b="1" dirty="0" err="1">
                <a:solidFill>
                  <a:schemeClr val="tx2">
                    <a:lumMod val="75000"/>
                  </a:schemeClr>
                </a:solidFill>
              </a:rPr>
              <a:t>initiale</a:t>
            </a:r>
            <a:r>
              <a:rPr lang="en-US" sz="4000" b="1" dirty="0">
                <a:solidFill>
                  <a:schemeClr val="tx2">
                    <a:lumMod val="75000"/>
                  </a:schemeClr>
                </a:solidFill>
              </a:rPr>
              <a:t> : </a:t>
            </a:r>
            <a:r>
              <a:rPr lang="en-US" sz="3200" dirty="0" err="1"/>
              <a:t>AddRoundKey</a:t>
            </a:r>
            <a:r>
              <a:rPr lang="en-US" sz="3200" dirty="0"/>
              <a:t> (round 10) :</a:t>
            </a:r>
          </a:p>
          <a:p>
            <a:pPr marL="0" marR="0" lvl="0" indent="0" algn="l" defTabSz="91440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a:ln>
                  <a:noFill/>
                </a:ln>
                <a:solidFill>
                  <a:schemeClr val="tx1"/>
                </a:solidFill>
                <a:effectLst/>
                <a:latin typeface="Arial" panose="020B0604020202020204" pitchFamily="34" charset="0"/>
              </a:rPr>
              <a:t>On commence par un </a:t>
            </a:r>
            <a:r>
              <a:rPr kumimoji="0" lang="fr-FR" altLang="fr-FR" sz="3200" b="1" i="0" u="none" strike="noStrike" cap="none" normalizeH="0" baseline="0" dirty="0">
                <a:ln>
                  <a:noFill/>
                </a:ln>
                <a:solidFill>
                  <a:schemeClr val="tx1"/>
                </a:solidFill>
                <a:effectLst/>
                <a:latin typeface="Arial" panose="020B0604020202020204" pitchFamily="34" charset="0"/>
              </a:rPr>
              <a:t>XOR</a:t>
            </a:r>
            <a:r>
              <a:rPr kumimoji="0" lang="fr-FR" altLang="fr-FR" sz="3200" b="0" i="0" u="none" strike="noStrike" cap="none" normalizeH="0" baseline="0" dirty="0">
                <a:ln>
                  <a:noFill/>
                </a:ln>
                <a:solidFill>
                  <a:schemeClr val="tx1"/>
                </a:solidFill>
                <a:effectLst/>
                <a:latin typeface="Arial" panose="020B0604020202020204" pitchFamily="34" charset="0"/>
              </a:rPr>
              <a:t> entre le texte chiffré et la </a:t>
            </a:r>
            <a:r>
              <a:rPr kumimoji="0" lang="fr-FR" altLang="fr-FR" sz="3200" b="1" i="0" u="none" strike="noStrike" cap="none" normalizeH="0" baseline="0" dirty="0">
                <a:ln>
                  <a:noFill/>
                </a:ln>
                <a:solidFill>
                  <a:schemeClr val="tx1"/>
                </a:solidFill>
                <a:effectLst/>
                <a:latin typeface="Arial" panose="020B0604020202020204" pitchFamily="34" charset="0"/>
              </a:rPr>
              <a:t>dernière sous-clé (round key 10)</a:t>
            </a:r>
            <a:r>
              <a:rPr kumimoji="0" lang="fr-FR" altLang="fr-FR" sz="3200" b="0" i="0" u="none" strike="noStrike" cap="none" normalizeH="0" baseline="0" dirty="0">
                <a:ln>
                  <a:noFill/>
                </a:ln>
                <a:solidFill>
                  <a:schemeClr val="tx1"/>
                </a:solidFill>
                <a:effectLst/>
                <a:latin typeface="Arial" panose="020B0604020202020204" pitchFamily="34" charset="0"/>
              </a:rPr>
              <a:t>.</a:t>
            </a:r>
          </a:p>
          <a:p>
            <a:endParaRPr lang="ar-SA" sz="3200" dirty="0"/>
          </a:p>
          <a:p>
            <a:endParaRPr lang="fr-FR" sz="3200" dirty="0"/>
          </a:p>
          <a:p>
            <a:endParaRPr lang="en-US" dirty="0"/>
          </a:p>
        </p:txBody>
      </p:sp>
      <p:sp>
        <p:nvSpPr>
          <p:cNvPr id="16" name="Rectangle 4">
            <a:extLst>
              <a:ext uri="{FF2B5EF4-FFF2-40B4-BE49-F238E27FC236}">
                <a16:creationId xmlns:a16="http://schemas.microsoft.com/office/drawing/2014/main" id="{1B9915FD-4380-16DC-006D-1724674AFEFE}"/>
              </a:ext>
            </a:extLst>
          </p:cNvPr>
          <p:cNvSpPr>
            <a:spLocks noChangeArrowheads="1"/>
          </p:cNvSpPr>
          <p:nvPr/>
        </p:nvSpPr>
        <p:spPr bwMode="auto">
          <a:xfrm>
            <a:off x="1122419" y="3426203"/>
            <a:ext cx="18288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ZoneTexte 17">
            <a:extLst>
              <a:ext uri="{FF2B5EF4-FFF2-40B4-BE49-F238E27FC236}">
                <a16:creationId xmlns:a16="http://schemas.microsoft.com/office/drawing/2014/main" id="{DAC38AD7-A6AB-8680-2B74-2A3DAA540433}"/>
              </a:ext>
            </a:extLst>
          </p:cNvPr>
          <p:cNvSpPr txBox="1"/>
          <p:nvPr/>
        </p:nvSpPr>
        <p:spPr>
          <a:xfrm>
            <a:off x="1585241" y="5146704"/>
            <a:ext cx="4139161" cy="584775"/>
          </a:xfrm>
          <a:prstGeom prst="rect">
            <a:avLst/>
          </a:prstGeom>
          <a:noFill/>
        </p:spPr>
        <p:txBody>
          <a:bodyPr wrap="square" rtlCol="0">
            <a:spAutoFit/>
          </a:bodyPr>
          <a:lstStyle/>
          <a:p>
            <a:r>
              <a:rPr lang="fr-FR" sz="3200" b="1" i="0" dirty="0">
                <a:solidFill>
                  <a:schemeClr val="tx2">
                    <a:lumMod val="75000"/>
                  </a:schemeClr>
                </a:solidFill>
                <a:effectLst/>
                <a:latin typeface="Roboto" panose="02000000000000000000" pitchFamily="2" charset="0"/>
              </a:rPr>
              <a:t>Matrice cryptée :</a:t>
            </a:r>
            <a:endParaRPr lang="en-US" sz="3200" b="1" dirty="0">
              <a:solidFill>
                <a:schemeClr val="tx2">
                  <a:lumMod val="75000"/>
                </a:schemeClr>
              </a:solidFill>
            </a:endParaRPr>
          </a:p>
        </p:txBody>
      </p:sp>
      <p:pic>
        <p:nvPicPr>
          <p:cNvPr id="20" name="Image 19">
            <a:extLst>
              <a:ext uri="{FF2B5EF4-FFF2-40B4-BE49-F238E27FC236}">
                <a16:creationId xmlns:a16="http://schemas.microsoft.com/office/drawing/2014/main" id="{B4C96189-59DD-DB5A-29C1-20E7F05FC6D8}"/>
              </a:ext>
            </a:extLst>
          </p:cNvPr>
          <p:cNvPicPr>
            <a:picLocks noChangeAspect="1"/>
          </p:cNvPicPr>
          <p:nvPr/>
        </p:nvPicPr>
        <p:blipFill>
          <a:blip r:embed="rId10"/>
          <a:stretch>
            <a:fillRect/>
          </a:stretch>
        </p:blipFill>
        <p:spPr>
          <a:xfrm>
            <a:off x="1471741" y="5979389"/>
            <a:ext cx="3877482" cy="3126512"/>
          </a:xfrm>
          <a:prstGeom prst="rect">
            <a:avLst/>
          </a:prstGeom>
        </p:spPr>
      </p:pic>
      <p:sp>
        <p:nvSpPr>
          <p:cNvPr id="21" name="ZoneTexte 20">
            <a:extLst>
              <a:ext uri="{FF2B5EF4-FFF2-40B4-BE49-F238E27FC236}">
                <a16:creationId xmlns:a16="http://schemas.microsoft.com/office/drawing/2014/main" id="{3D75DC1A-4FE8-3D6F-6F47-641AD342B756}"/>
              </a:ext>
            </a:extLst>
          </p:cNvPr>
          <p:cNvSpPr txBox="1"/>
          <p:nvPr/>
        </p:nvSpPr>
        <p:spPr>
          <a:xfrm>
            <a:off x="6363349" y="5127653"/>
            <a:ext cx="7120416" cy="584775"/>
          </a:xfrm>
          <a:prstGeom prst="rect">
            <a:avLst/>
          </a:prstGeom>
          <a:noFill/>
        </p:spPr>
        <p:txBody>
          <a:bodyPr wrap="square" rtlCol="0">
            <a:spAutoFit/>
          </a:bodyPr>
          <a:lstStyle/>
          <a:p>
            <a:r>
              <a:rPr lang="fr-FR" sz="3200" b="0" i="0" dirty="0">
                <a:solidFill>
                  <a:srgbClr val="3C4043"/>
                </a:solidFill>
                <a:effectLst/>
                <a:latin typeface="Roboto" panose="02000000000000000000" pitchFamily="2" charset="0"/>
              </a:rPr>
              <a:t>Clé du </a:t>
            </a:r>
            <a:r>
              <a:rPr lang="fr-FR" sz="3200" b="1" dirty="0">
                <a:solidFill>
                  <a:schemeClr val="tx2">
                    <a:lumMod val="75000"/>
                  </a:schemeClr>
                </a:solidFill>
              </a:rPr>
              <a:t>étapes 1 </a:t>
            </a:r>
            <a:r>
              <a:rPr lang="fr-FR" sz="3200" b="0" i="0" dirty="0">
                <a:solidFill>
                  <a:srgbClr val="3C4043"/>
                </a:solidFill>
                <a:effectLst/>
                <a:latin typeface="Roboto" panose="02000000000000000000" pitchFamily="2" charset="0"/>
              </a:rPr>
              <a:t>(dernière utilisation) :</a:t>
            </a:r>
            <a:endParaRPr lang="en-US" sz="3200" b="1" dirty="0">
              <a:solidFill>
                <a:schemeClr val="tx2">
                  <a:lumMod val="75000"/>
                </a:schemeClr>
              </a:solidFill>
            </a:endParaRPr>
          </a:p>
        </p:txBody>
      </p:sp>
      <p:pic>
        <p:nvPicPr>
          <p:cNvPr id="25" name="Image 24">
            <a:extLst>
              <a:ext uri="{FF2B5EF4-FFF2-40B4-BE49-F238E27FC236}">
                <a16:creationId xmlns:a16="http://schemas.microsoft.com/office/drawing/2014/main" id="{10625B41-BF03-D75E-B828-1FBCBBDFC47C}"/>
              </a:ext>
            </a:extLst>
          </p:cNvPr>
          <p:cNvPicPr>
            <a:picLocks noChangeAspect="1"/>
          </p:cNvPicPr>
          <p:nvPr/>
        </p:nvPicPr>
        <p:blipFill>
          <a:blip r:embed="rId11"/>
          <a:stretch>
            <a:fillRect/>
          </a:stretch>
        </p:blipFill>
        <p:spPr>
          <a:xfrm>
            <a:off x="7143261" y="6046469"/>
            <a:ext cx="4285622" cy="2907032"/>
          </a:xfrm>
          <a:prstGeom prst="rect">
            <a:avLst/>
          </a:prstGeom>
        </p:spPr>
      </p:pic>
      <p:sp>
        <p:nvSpPr>
          <p:cNvPr id="26" name="ZoneTexte 25">
            <a:extLst>
              <a:ext uri="{FF2B5EF4-FFF2-40B4-BE49-F238E27FC236}">
                <a16:creationId xmlns:a16="http://schemas.microsoft.com/office/drawing/2014/main" id="{0BCA2CB4-F375-AD3A-D392-883CFB2DD30D}"/>
              </a:ext>
            </a:extLst>
          </p:cNvPr>
          <p:cNvSpPr txBox="1"/>
          <p:nvPr/>
        </p:nvSpPr>
        <p:spPr>
          <a:xfrm>
            <a:off x="5757363" y="7140630"/>
            <a:ext cx="1385898" cy="584775"/>
          </a:xfrm>
          <a:prstGeom prst="rect">
            <a:avLst/>
          </a:prstGeom>
          <a:noFill/>
        </p:spPr>
        <p:txBody>
          <a:bodyPr wrap="square" rtlCol="0">
            <a:spAutoFit/>
          </a:bodyPr>
          <a:lstStyle/>
          <a:p>
            <a:r>
              <a:rPr lang="fr-FR" sz="3200" b="1" dirty="0"/>
              <a:t>XOR</a:t>
            </a:r>
            <a:endParaRPr lang="en-US" sz="3200" b="1" dirty="0"/>
          </a:p>
        </p:txBody>
      </p:sp>
      <p:sp>
        <p:nvSpPr>
          <p:cNvPr id="27" name="ZoneTexte 26">
            <a:extLst>
              <a:ext uri="{FF2B5EF4-FFF2-40B4-BE49-F238E27FC236}">
                <a16:creationId xmlns:a16="http://schemas.microsoft.com/office/drawing/2014/main" id="{0ED8716B-BBCA-8AC0-1E10-F3D863D29915}"/>
              </a:ext>
            </a:extLst>
          </p:cNvPr>
          <p:cNvSpPr txBox="1"/>
          <p:nvPr/>
        </p:nvSpPr>
        <p:spPr>
          <a:xfrm>
            <a:off x="11619645" y="7162341"/>
            <a:ext cx="1385898" cy="923330"/>
          </a:xfrm>
          <a:prstGeom prst="rect">
            <a:avLst/>
          </a:prstGeom>
          <a:noFill/>
        </p:spPr>
        <p:txBody>
          <a:bodyPr wrap="square" rtlCol="0">
            <a:spAutoFit/>
          </a:bodyPr>
          <a:lstStyle/>
          <a:p>
            <a:r>
              <a:rPr lang="fr-FR" sz="5400" b="1" dirty="0"/>
              <a:t>=</a:t>
            </a:r>
            <a:endParaRPr lang="en-US" sz="5400" b="1" dirty="0"/>
          </a:p>
        </p:txBody>
      </p:sp>
      <p:sp>
        <p:nvSpPr>
          <p:cNvPr id="28" name="ZoneTexte 27">
            <a:extLst>
              <a:ext uri="{FF2B5EF4-FFF2-40B4-BE49-F238E27FC236}">
                <a16:creationId xmlns:a16="http://schemas.microsoft.com/office/drawing/2014/main" id="{09EF7B8F-22DC-582D-E6F0-3BBF5350374D}"/>
              </a:ext>
            </a:extLst>
          </p:cNvPr>
          <p:cNvSpPr txBox="1"/>
          <p:nvPr/>
        </p:nvSpPr>
        <p:spPr>
          <a:xfrm>
            <a:off x="12499906" y="6140728"/>
            <a:ext cx="4191000" cy="3477875"/>
          </a:xfrm>
          <a:prstGeom prst="rect">
            <a:avLst/>
          </a:prstGeom>
          <a:noFill/>
        </p:spPr>
        <p:txBody>
          <a:bodyPr wrap="square" rtlCol="0">
            <a:spAutoFit/>
          </a:bodyPr>
          <a:lstStyle/>
          <a:p>
            <a:r>
              <a:rPr lang="fr-FR" sz="4400" dirty="0"/>
              <a:t>|  04 66 81 e5  |</a:t>
            </a:r>
          </a:p>
          <a:p>
            <a:r>
              <a:rPr lang="fr-FR" sz="4400" dirty="0"/>
              <a:t>|  e0 cb 19 9a  |</a:t>
            </a:r>
          </a:p>
          <a:p>
            <a:r>
              <a:rPr lang="fr-FR" sz="4400" dirty="0"/>
              <a:t>|  48 f8 d3 7a   |</a:t>
            </a:r>
          </a:p>
          <a:p>
            <a:r>
              <a:rPr lang="fr-FR" sz="4400" dirty="0"/>
              <a:t>|  28 06 26 4c  |</a:t>
            </a:r>
          </a:p>
          <a:p>
            <a:endParaRPr lang="en-US" sz="4400" dirty="0"/>
          </a:p>
        </p:txBody>
      </p:sp>
      <p:sp>
        <p:nvSpPr>
          <p:cNvPr id="31" name="TextBox 3">
            <a:extLst>
              <a:ext uri="{FF2B5EF4-FFF2-40B4-BE49-F238E27FC236}">
                <a16:creationId xmlns:a16="http://schemas.microsoft.com/office/drawing/2014/main" id="{56D64194-8729-E172-765A-EB292B0281D2}"/>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Déchiffrement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Tree>
    <p:extLst>
      <p:ext uri="{BB962C8B-B14F-4D97-AF65-F5344CB8AC3E}">
        <p14:creationId xmlns:p14="http://schemas.microsoft.com/office/powerpoint/2010/main" val="3285864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2653600" y="3123775"/>
            <a:ext cx="10191557" cy="8301486"/>
          </a:xfrm>
          <a:custGeom>
            <a:avLst/>
            <a:gdLst/>
            <a:ahLst/>
            <a:cxnLst/>
            <a:rect l="l" t="t" r="r" b="b"/>
            <a:pathLst>
              <a:path w="10191557" h="8301486">
                <a:moveTo>
                  <a:pt x="0" y="0"/>
                </a:moveTo>
                <a:lnTo>
                  <a:pt x="10191557" y="0"/>
                </a:lnTo>
                <a:lnTo>
                  <a:pt x="10191557" y="8301486"/>
                </a:lnTo>
                <a:lnTo>
                  <a:pt x="0" y="8301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p:cNvSpPr/>
          <p:nvPr/>
        </p:nvSpPr>
        <p:spPr>
          <a:xfrm>
            <a:off x="12210073" y="-7219854"/>
            <a:ext cx="11078611" cy="9024033"/>
          </a:xfrm>
          <a:custGeom>
            <a:avLst/>
            <a:gdLst/>
            <a:ahLst/>
            <a:cxnLst/>
            <a:rect l="l" t="t" r="r" b="b"/>
            <a:pathLst>
              <a:path w="11078611" h="9024033">
                <a:moveTo>
                  <a:pt x="0" y="0"/>
                </a:moveTo>
                <a:lnTo>
                  <a:pt x="11078611" y="0"/>
                </a:lnTo>
                <a:lnTo>
                  <a:pt x="11078611" y="9024033"/>
                </a:lnTo>
                <a:lnTo>
                  <a:pt x="0" y="90240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TextBox 26"/>
          <p:cNvSpPr txBox="1"/>
          <p:nvPr/>
        </p:nvSpPr>
        <p:spPr>
          <a:xfrm>
            <a:off x="1295400" y="1914015"/>
            <a:ext cx="8768841" cy="909288"/>
          </a:xfrm>
          <a:prstGeom prst="rect">
            <a:avLst/>
          </a:prstGeom>
        </p:spPr>
        <p:txBody>
          <a:bodyPr lIns="0" tIns="0" rIns="0" bIns="0" rtlCol="0" anchor="t">
            <a:spAutoFit/>
          </a:bodyPr>
          <a:lstStyle/>
          <a:p>
            <a:pPr algn="l">
              <a:lnSpc>
                <a:spcPts val="7700"/>
              </a:lnSpc>
            </a:pPr>
            <a:r>
              <a:rPr lang="fr-FR" sz="4400" b="1" dirty="0">
                <a:solidFill>
                  <a:schemeClr val="tx2">
                    <a:lumMod val="75000"/>
                  </a:schemeClr>
                </a:solidFill>
              </a:rPr>
              <a:t>2.Inverse </a:t>
            </a:r>
            <a:r>
              <a:rPr lang="fr-FR" sz="4400" b="1" dirty="0" err="1">
                <a:solidFill>
                  <a:schemeClr val="tx2">
                    <a:lumMod val="75000"/>
                  </a:schemeClr>
                </a:solidFill>
              </a:rPr>
              <a:t>MixColumns</a:t>
            </a:r>
            <a:r>
              <a:rPr lang="fr-FR" sz="4400" b="1" dirty="0">
                <a:solidFill>
                  <a:schemeClr val="tx2">
                    <a:lumMod val="75000"/>
                  </a:schemeClr>
                </a:solidFill>
              </a:rPr>
              <a:t> :</a:t>
            </a:r>
            <a:endParaRPr lang="en-US" sz="44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34" name="Freeform 34"/>
          <p:cNvSpPr/>
          <p:nvPr/>
        </p:nvSpPr>
        <p:spPr>
          <a:xfrm>
            <a:off x="14982461" y="2299721"/>
            <a:ext cx="1358668" cy="1040918"/>
          </a:xfrm>
          <a:custGeom>
            <a:avLst/>
            <a:gdLst/>
            <a:ahLst/>
            <a:cxnLst/>
            <a:rect l="l" t="t" r="r" b="b"/>
            <a:pathLst>
              <a:path w="1358668" h="1040918">
                <a:moveTo>
                  <a:pt x="0" y="0"/>
                </a:moveTo>
                <a:lnTo>
                  <a:pt x="1358668" y="0"/>
                </a:lnTo>
                <a:lnTo>
                  <a:pt x="1358668" y="1040918"/>
                </a:lnTo>
                <a:lnTo>
                  <a:pt x="0" y="10409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TextBox 3">
            <a:extLst>
              <a:ext uri="{FF2B5EF4-FFF2-40B4-BE49-F238E27FC236}">
                <a16:creationId xmlns:a16="http://schemas.microsoft.com/office/drawing/2014/main" id="{A0D12F47-D270-BD9F-1ED2-6D58518B1E57}"/>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Déchiffrement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pic>
        <p:nvPicPr>
          <p:cNvPr id="2050" name="Picture 2" descr="AES Decryption Algorithms">
            <a:extLst>
              <a:ext uri="{FF2B5EF4-FFF2-40B4-BE49-F238E27FC236}">
                <a16:creationId xmlns:a16="http://schemas.microsoft.com/office/drawing/2014/main" id="{F895A39A-9009-0D8F-8BD2-04544DC491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0" y="3279966"/>
            <a:ext cx="13258800" cy="52880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6A4A7-B35F-A2D6-DBCF-B7014013ED3B}"/>
            </a:ext>
          </a:extLst>
        </p:cNvPr>
        <p:cNvGrpSpPr/>
        <p:nvPr/>
      </p:nvGrpSpPr>
      <p:grpSpPr>
        <a:xfrm>
          <a:off x="0" y="0"/>
          <a:ext cx="0" cy="0"/>
          <a:chOff x="0" y="0"/>
          <a:chExt cx="0" cy="0"/>
        </a:xfrm>
      </p:grpSpPr>
      <p:sp>
        <p:nvSpPr>
          <p:cNvPr id="19" name="Rectangle : coins arrondis 18">
            <a:extLst>
              <a:ext uri="{FF2B5EF4-FFF2-40B4-BE49-F238E27FC236}">
                <a16:creationId xmlns:a16="http://schemas.microsoft.com/office/drawing/2014/main" id="{7BF753C8-4FF8-F3CA-A6DB-1116C010A07C}"/>
              </a:ext>
            </a:extLst>
          </p:cNvPr>
          <p:cNvSpPr/>
          <p:nvPr/>
        </p:nvSpPr>
        <p:spPr>
          <a:xfrm>
            <a:off x="1798195" y="6774387"/>
            <a:ext cx="9453882" cy="329917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D4DA64A-9F37-A83F-C540-FBBDB2A85FCC}"/>
              </a:ext>
            </a:extLst>
          </p:cNvPr>
          <p:cNvSpPr/>
          <p:nvPr/>
        </p:nvSpPr>
        <p:spPr>
          <a:xfrm>
            <a:off x="5948820" y="6940658"/>
            <a:ext cx="3804780" cy="30197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5">
            <a:extLst>
              <a:ext uri="{FF2B5EF4-FFF2-40B4-BE49-F238E27FC236}">
                <a16:creationId xmlns:a16="http://schemas.microsoft.com/office/drawing/2014/main" id="{4E261E58-C83A-5BFF-460A-1E41C4A24D38}"/>
              </a:ext>
            </a:extLst>
          </p:cNvPr>
          <p:cNvSpPr/>
          <p:nvPr/>
        </p:nvSpPr>
        <p:spPr>
          <a:xfrm>
            <a:off x="12696973" y="3123775"/>
            <a:ext cx="10191557" cy="8301486"/>
          </a:xfrm>
          <a:custGeom>
            <a:avLst/>
            <a:gdLst/>
            <a:ahLst/>
            <a:cxnLst/>
            <a:rect l="l" t="t" r="r" b="b"/>
            <a:pathLst>
              <a:path w="10191557" h="8301486">
                <a:moveTo>
                  <a:pt x="0" y="0"/>
                </a:moveTo>
                <a:lnTo>
                  <a:pt x="10191557" y="0"/>
                </a:lnTo>
                <a:lnTo>
                  <a:pt x="10191557" y="8301486"/>
                </a:lnTo>
                <a:lnTo>
                  <a:pt x="0" y="8301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3" name="Rectangle : coins arrondis 12">
            <a:extLst>
              <a:ext uri="{FF2B5EF4-FFF2-40B4-BE49-F238E27FC236}">
                <a16:creationId xmlns:a16="http://schemas.microsoft.com/office/drawing/2014/main" id="{58588D05-B863-5986-7F04-5FB9A05F0EAA}"/>
              </a:ext>
            </a:extLst>
          </p:cNvPr>
          <p:cNvSpPr/>
          <p:nvPr/>
        </p:nvSpPr>
        <p:spPr>
          <a:xfrm>
            <a:off x="2135255" y="2891260"/>
            <a:ext cx="12571346" cy="376598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1683C0B-C596-9FE2-5C5C-68413529E92F}"/>
              </a:ext>
            </a:extLst>
          </p:cNvPr>
          <p:cNvSpPr/>
          <p:nvPr/>
        </p:nvSpPr>
        <p:spPr>
          <a:xfrm>
            <a:off x="11636130" y="3137788"/>
            <a:ext cx="1885210" cy="328955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CAF2441-5234-33FE-0A33-648A4A16ACEB}"/>
              </a:ext>
            </a:extLst>
          </p:cNvPr>
          <p:cNvSpPr/>
          <p:nvPr/>
        </p:nvSpPr>
        <p:spPr>
          <a:xfrm>
            <a:off x="8280141" y="3175522"/>
            <a:ext cx="1740142" cy="32895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B35F0DF2-D661-C7F6-067D-794E075FD0A3}"/>
              </a:ext>
            </a:extLst>
          </p:cNvPr>
          <p:cNvSpPr txBox="1"/>
          <p:nvPr/>
        </p:nvSpPr>
        <p:spPr>
          <a:xfrm>
            <a:off x="11661538" y="3068199"/>
            <a:ext cx="4489959" cy="3416320"/>
          </a:xfrm>
          <a:prstGeom prst="rect">
            <a:avLst/>
          </a:prstGeom>
          <a:noFill/>
        </p:spPr>
        <p:txBody>
          <a:bodyPr wrap="square" rtlCol="0">
            <a:spAutoFit/>
          </a:bodyPr>
          <a:lstStyle/>
          <a:p>
            <a:r>
              <a:rPr lang="en-US" sz="5400" dirty="0"/>
              <a:t>| d4 |</a:t>
            </a:r>
          </a:p>
          <a:p>
            <a:r>
              <a:rPr lang="en-US" sz="5400" dirty="0"/>
              <a:t>| e0 |</a:t>
            </a:r>
          </a:p>
          <a:p>
            <a:r>
              <a:rPr lang="en-US" sz="5400" dirty="0"/>
              <a:t>| b8 |</a:t>
            </a:r>
          </a:p>
          <a:p>
            <a:r>
              <a:rPr lang="en-US" sz="5400" dirty="0"/>
              <a:t>| 04 |</a:t>
            </a:r>
          </a:p>
        </p:txBody>
      </p:sp>
      <p:sp>
        <p:nvSpPr>
          <p:cNvPr id="14" name="Rectangle 13">
            <a:extLst>
              <a:ext uri="{FF2B5EF4-FFF2-40B4-BE49-F238E27FC236}">
                <a16:creationId xmlns:a16="http://schemas.microsoft.com/office/drawing/2014/main" id="{F130BD87-E511-DF82-BFF6-118103F8EDA8}"/>
              </a:ext>
            </a:extLst>
          </p:cNvPr>
          <p:cNvSpPr/>
          <p:nvPr/>
        </p:nvSpPr>
        <p:spPr>
          <a:xfrm>
            <a:off x="2370241" y="3123775"/>
            <a:ext cx="4539168" cy="3416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4">
            <a:extLst>
              <a:ext uri="{FF2B5EF4-FFF2-40B4-BE49-F238E27FC236}">
                <a16:creationId xmlns:a16="http://schemas.microsoft.com/office/drawing/2014/main" id="{4DC4CFEB-18E5-59DD-492E-DECD2FF0309C}"/>
              </a:ext>
            </a:extLst>
          </p:cNvPr>
          <p:cNvSpPr/>
          <p:nvPr/>
        </p:nvSpPr>
        <p:spPr>
          <a:xfrm>
            <a:off x="12210073" y="-7219854"/>
            <a:ext cx="11078611" cy="9024033"/>
          </a:xfrm>
          <a:custGeom>
            <a:avLst/>
            <a:gdLst/>
            <a:ahLst/>
            <a:cxnLst/>
            <a:rect l="l" t="t" r="r" b="b"/>
            <a:pathLst>
              <a:path w="11078611" h="9024033">
                <a:moveTo>
                  <a:pt x="0" y="0"/>
                </a:moveTo>
                <a:lnTo>
                  <a:pt x="11078611" y="0"/>
                </a:lnTo>
                <a:lnTo>
                  <a:pt x="11078611" y="9024033"/>
                </a:lnTo>
                <a:lnTo>
                  <a:pt x="0" y="90240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TextBox 26">
            <a:extLst>
              <a:ext uri="{FF2B5EF4-FFF2-40B4-BE49-F238E27FC236}">
                <a16:creationId xmlns:a16="http://schemas.microsoft.com/office/drawing/2014/main" id="{CC528A58-0F72-262C-9619-FB6ADFF8AF99}"/>
              </a:ext>
            </a:extLst>
          </p:cNvPr>
          <p:cNvSpPr txBox="1"/>
          <p:nvPr/>
        </p:nvSpPr>
        <p:spPr>
          <a:xfrm>
            <a:off x="1371600" y="1757519"/>
            <a:ext cx="8768841" cy="909288"/>
          </a:xfrm>
          <a:prstGeom prst="rect">
            <a:avLst/>
          </a:prstGeom>
        </p:spPr>
        <p:txBody>
          <a:bodyPr lIns="0" tIns="0" rIns="0" bIns="0" rtlCol="0" anchor="t">
            <a:spAutoFit/>
          </a:bodyPr>
          <a:lstStyle/>
          <a:p>
            <a:pPr algn="l">
              <a:lnSpc>
                <a:spcPts val="7700"/>
              </a:lnSpc>
            </a:pPr>
            <a:r>
              <a:rPr lang="fr-FR" sz="4400" b="1" dirty="0">
                <a:solidFill>
                  <a:schemeClr val="tx2">
                    <a:lumMod val="75000"/>
                  </a:schemeClr>
                </a:solidFill>
              </a:rPr>
              <a:t>2.Inverse </a:t>
            </a:r>
            <a:r>
              <a:rPr lang="fr-FR" sz="4400" b="1" dirty="0" err="1">
                <a:solidFill>
                  <a:schemeClr val="tx2">
                    <a:lumMod val="75000"/>
                  </a:schemeClr>
                </a:solidFill>
              </a:rPr>
              <a:t>MixColumns</a:t>
            </a:r>
            <a:r>
              <a:rPr lang="fr-FR" sz="4400" b="1" dirty="0">
                <a:solidFill>
                  <a:schemeClr val="tx2">
                    <a:lumMod val="75000"/>
                  </a:schemeClr>
                </a:solidFill>
              </a:rPr>
              <a:t> :</a:t>
            </a:r>
            <a:endParaRPr lang="en-US" sz="44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34" name="Freeform 34">
            <a:extLst>
              <a:ext uri="{FF2B5EF4-FFF2-40B4-BE49-F238E27FC236}">
                <a16:creationId xmlns:a16="http://schemas.microsoft.com/office/drawing/2014/main" id="{96FCD85B-0D6D-BFE3-187B-FCF302B14CB7}"/>
              </a:ext>
            </a:extLst>
          </p:cNvPr>
          <p:cNvSpPr/>
          <p:nvPr/>
        </p:nvSpPr>
        <p:spPr>
          <a:xfrm>
            <a:off x="14982461" y="2299721"/>
            <a:ext cx="1358668" cy="1040918"/>
          </a:xfrm>
          <a:custGeom>
            <a:avLst/>
            <a:gdLst/>
            <a:ahLst/>
            <a:cxnLst/>
            <a:rect l="l" t="t" r="r" b="b"/>
            <a:pathLst>
              <a:path w="1358668" h="1040918">
                <a:moveTo>
                  <a:pt x="0" y="0"/>
                </a:moveTo>
                <a:lnTo>
                  <a:pt x="1358668" y="0"/>
                </a:lnTo>
                <a:lnTo>
                  <a:pt x="1358668" y="1040918"/>
                </a:lnTo>
                <a:lnTo>
                  <a:pt x="0" y="10409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TextBox 3">
            <a:extLst>
              <a:ext uri="{FF2B5EF4-FFF2-40B4-BE49-F238E27FC236}">
                <a16:creationId xmlns:a16="http://schemas.microsoft.com/office/drawing/2014/main" id="{C987E415-0506-8241-3B06-0A4B12BF9843}"/>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Déchiffrement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4" name="ZoneTexte 3">
            <a:extLst>
              <a:ext uri="{FF2B5EF4-FFF2-40B4-BE49-F238E27FC236}">
                <a16:creationId xmlns:a16="http://schemas.microsoft.com/office/drawing/2014/main" id="{04E13707-4681-E679-13D4-6FCF10CF3941}"/>
              </a:ext>
            </a:extLst>
          </p:cNvPr>
          <p:cNvSpPr txBox="1"/>
          <p:nvPr/>
        </p:nvSpPr>
        <p:spPr>
          <a:xfrm>
            <a:off x="8153400" y="3029321"/>
            <a:ext cx="4728800" cy="3416320"/>
          </a:xfrm>
          <a:prstGeom prst="rect">
            <a:avLst/>
          </a:prstGeom>
          <a:noFill/>
        </p:spPr>
        <p:txBody>
          <a:bodyPr wrap="square" rtlCol="0">
            <a:spAutoFit/>
          </a:bodyPr>
          <a:lstStyle/>
          <a:p>
            <a:r>
              <a:rPr lang="fr-FR" sz="5400" dirty="0"/>
              <a:t>|  04 |</a:t>
            </a:r>
          </a:p>
          <a:p>
            <a:r>
              <a:rPr lang="fr-FR" sz="5400" dirty="0"/>
              <a:t>|  e0 |</a:t>
            </a:r>
          </a:p>
          <a:p>
            <a:r>
              <a:rPr lang="fr-FR" sz="5400" dirty="0"/>
              <a:t>|  48 |</a:t>
            </a:r>
          </a:p>
          <a:p>
            <a:r>
              <a:rPr lang="fr-FR" sz="5400" dirty="0"/>
              <a:t>|  28 |</a:t>
            </a:r>
            <a:endParaRPr lang="en-US" sz="5400" dirty="0"/>
          </a:p>
        </p:txBody>
      </p:sp>
      <p:sp>
        <p:nvSpPr>
          <p:cNvPr id="6" name="ZoneTexte 5">
            <a:extLst>
              <a:ext uri="{FF2B5EF4-FFF2-40B4-BE49-F238E27FC236}">
                <a16:creationId xmlns:a16="http://schemas.microsoft.com/office/drawing/2014/main" id="{F1CBDB33-4EC7-86FF-A21C-B148033F125F}"/>
              </a:ext>
            </a:extLst>
          </p:cNvPr>
          <p:cNvSpPr txBox="1"/>
          <p:nvPr/>
        </p:nvSpPr>
        <p:spPr>
          <a:xfrm>
            <a:off x="2370241" y="3068200"/>
            <a:ext cx="4728800" cy="3416320"/>
          </a:xfrm>
          <a:prstGeom prst="rect">
            <a:avLst/>
          </a:prstGeom>
          <a:noFill/>
        </p:spPr>
        <p:txBody>
          <a:bodyPr wrap="square" rtlCol="0">
            <a:spAutoFit/>
          </a:bodyPr>
          <a:lstStyle/>
          <a:p>
            <a:r>
              <a:rPr lang="fr-FR" sz="5400" dirty="0"/>
              <a:t>| 0e 0b 0d 09 |</a:t>
            </a:r>
          </a:p>
          <a:p>
            <a:r>
              <a:rPr lang="fr-FR" sz="5400" dirty="0"/>
              <a:t>| 09 0e 0b 0d |</a:t>
            </a:r>
          </a:p>
          <a:p>
            <a:r>
              <a:rPr lang="fr-FR" sz="5400" dirty="0"/>
              <a:t>| 0d 09 0e 0b |</a:t>
            </a:r>
          </a:p>
          <a:p>
            <a:r>
              <a:rPr lang="fr-FR" sz="5400" dirty="0"/>
              <a:t>| 0b 0d 09 0e |</a:t>
            </a:r>
            <a:endParaRPr lang="en-US" sz="5400" dirty="0"/>
          </a:p>
        </p:txBody>
      </p:sp>
      <p:sp>
        <p:nvSpPr>
          <p:cNvPr id="8" name="ZoneTexte 7">
            <a:extLst>
              <a:ext uri="{FF2B5EF4-FFF2-40B4-BE49-F238E27FC236}">
                <a16:creationId xmlns:a16="http://schemas.microsoft.com/office/drawing/2014/main" id="{AC843456-D48B-134A-24A9-1B7A81EBF449}"/>
              </a:ext>
            </a:extLst>
          </p:cNvPr>
          <p:cNvSpPr txBox="1"/>
          <p:nvPr/>
        </p:nvSpPr>
        <p:spPr>
          <a:xfrm>
            <a:off x="7099041" y="4176195"/>
            <a:ext cx="2362200" cy="1200329"/>
          </a:xfrm>
          <a:prstGeom prst="rect">
            <a:avLst/>
          </a:prstGeom>
          <a:noFill/>
        </p:spPr>
        <p:txBody>
          <a:bodyPr wrap="square" rtlCol="0">
            <a:spAutoFit/>
          </a:bodyPr>
          <a:lstStyle/>
          <a:p>
            <a:r>
              <a:rPr lang="fr-FR" sz="7200" dirty="0"/>
              <a:t>*</a:t>
            </a:r>
            <a:endParaRPr lang="en-US" sz="7200" dirty="0"/>
          </a:p>
        </p:txBody>
      </p:sp>
      <p:sp>
        <p:nvSpPr>
          <p:cNvPr id="10" name="ZoneTexte 9">
            <a:extLst>
              <a:ext uri="{FF2B5EF4-FFF2-40B4-BE49-F238E27FC236}">
                <a16:creationId xmlns:a16="http://schemas.microsoft.com/office/drawing/2014/main" id="{6E00A559-B5F3-6691-50F1-070DF5266589}"/>
              </a:ext>
            </a:extLst>
          </p:cNvPr>
          <p:cNvSpPr txBox="1"/>
          <p:nvPr/>
        </p:nvSpPr>
        <p:spPr>
          <a:xfrm>
            <a:off x="10537152" y="4137316"/>
            <a:ext cx="2362200" cy="1200329"/>
          </a:xfrm>
          <a:prstGeom prst="rect">
            <a:avLst/>
          </a:prstGeom>
          <a:noFill/>
        </p:spPr>
        <p:txBody>
          <a:bodyPr wrap="square" rtlCol="0">
            <a:spAutoFit/>
          </a:bodyPr>
          <a:lstStyle/>
          <a:p>
            <a:r>
              <a:rPr lang="fr-FR" sz="7200" dirty="0"/>
              <a:t>=</a:t>
            </a:r>
            <a:endParaRPr lang="en-US" sz="7200" dirty="0"/>
          </a:p>
        </p:txBody>
      </p:sp>
      <p:sp>
        <p:nvSpPr>
          <p:cNvPr id="11" name="ZoneTexte 10">
            <a:extLst>
              <a:ext uri="{FF2B5EF4-FFF2-40B4-BE49-F238E27FC236}">
                <a16:creationId xmlns:a16="http://schemas.microsoft.com/office/drawing/2014/main" id="{BC330C63-28F0-9746-8DE7-C9D8B79840DA}"/>
              </a:ext>
            </a:extLst>
          </p:cNvPr>
          <p:cNvSpPr txBox="1"/>
          <p:nvPr/>
        </p:nvSpPr>
        <p:spPr>
          <a:xfrm>
            <a:off x="6003176" y="6940658"/>
            <a:ext cx="8458200" cy="2800767"/>
          </a:xfrm>
          <a:prstGeom prst="rect">
            <a:avLst/>
          </a:prstGeom>
          <a:noFill/>
        </p:spPr>
        <p:txBody>
          <a:bodyPr wrap="square" rtlCol="0">
            <a:spAutoFit/>
          </a:bodyPr>
          <a:lstStyle/>
          <a:p>
            <a:r>
              <a:rPr lang="en-US" sz="4400" dirty="0"/>
              <a:t>| d4 27 11 ae |</a:t>
            </a:r>
          </a:p>
          <a:p>
            <a:r>
              <a:rPr lang="en-US" sz="4400" dirty="0"/>
              <a:t>| e0 bf 98 5b  |</a:t>
            </a:r>
          </a:p>
          <a:p>
            <a:r>
              <a:rPr lang="en-US" sz="4400" dirty="0"/>
              <a:t>| b8 68 6a d5 |</a:t>
            </a:r>
          </a:p>
          <a:p>
            <a:r>
              <a:rPr lang="en-US" sz="4400" dirty="0"/>
              <a:t>| 04 6c 84 97 |</a:t>
            </a:r>
          </a:p>
        </p:txBody>
      </p:sp>
      <p:sp>
        <p:nvSpPr>
          <p:cNvPr id="12" name="ZoneTexte 11">
            <a:extLst>
              <a:ext uri="{FF2B5EF4-FFF2-40B4-BE49-F238E27FC236}">
                <a16:creationId xmlns:a16="http://schemas.microsoft.com/office/drawing/2014/main" id="{6A0AF142-4C7B-0A8E-856D-7FD9774E90D9}"/>
              </a:ext>
            </a:extLst>
          </p:cNvPr>
          <p:cNvSpPr txBox="1"/>
          <p:nvPr/>
        </p:nvSpPr>
        <p:spPr>
          <a:xfrm>
            <a:off x="2135254" y="7571601"/>
            <a:ext cx="3566410" cy="769441"/>
          </a:xfrm>
          <a:prstGeom prst="rect">
            <a:avLst/>
          </a:prstGeom>
          <a:noFill/>
        </p:spPr>
        <p:txBody>
          <a:bodyPr wrap="square" rtlCol="0">
            <a:spAutoFit/>
          </a:bodyPr>
          <a:lstStyle/>
          <a:p>
            <a:r>
              <a:rPr lang="fr-FR" sz="4400" i="0" dirty="0">
                <a:solidFill>
                  <a:schemeClr val="tx2">
                    <a:lumMod val="75000"/>
                  </a:schemeClr>
                </a:solidFill>
                <a:effectLst/>
                <a:latin typeface="Roboto" panose="02000000000000000000" pitchFamily="2" charset="0"/>
              </a:rPr>
              <a:t>Le résultat :</a:t>
            </a:r>
            <a:endParaRPr lang="en-US" sz="4400" dirty="0">
              <a:solidFill>
                <a:schemeClr val="tx2">
                  <a:lumMod val="75000"/>
                </a:schemeClr>
              </a:solidFill>
            </a:endParaRPr>
          </a:p>
        </p:txBody>
      </p:sp>
    </p:spTree>
    <p:extLst>
      <p:ext uri="{BB962C8B-B14F-4D97-AF65-F5344CB8AC3E}">
        <p14:creationId xmlns:p14="http://schemas.microsoft.com/office/powerpoint/2010/main" val="4248534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2791948" flipV="1">
            <a:off x="-2735630" y="87538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Freeform 2"/>
          <p:cNvSpPr/>
          <p:nvPr/>
        </p:nvSpPr>
        <p:spPr>
          <a:xfrm rot="-2791948" flipV="1">
            <a:off x="-6058941" y="1410632"/>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3074" name="Picture 2" descr="Chirag's Blog: AES Algorithm in cryptography | How does AES algorithm works  | Working of AES algorithm | Steps of AES encryption | Explain working of  AES algorithm">
            <a:extLst>
              <a:ext uri="{FF2B5EF4-FFF2-40B4-BE49-F238E27FC236}">
                <a16:creationId xmlns:a16="http://schemas.microsoft.com/office/drawing/2014/main" id="{8FE46F34-3B44-45F3-AB2F-28B61F2F63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2400300"/>
            <a:ext cx="16764000" cy="7682525"/>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7"/>
          <p:cNvSpPr/>
          <p:nvPr/>
        </p:nvSpPr>
        <p:spPr>
          <a:xfrm>
            <a:off x="12729183" y="-7049658"/>
            <a:ext cx="10191557" cy="8301486"/>
          </a:xfrm>
          <a:custGeom>
            <a:avLst/>
            <a:gdLst/>
            <a:ahLst/>
            <a:cxnLst/>
            <a:rect l="l" t="t" r="r" b="b"/>
            <a:pathLst>
              <a:path w="10191557" h="8301486">
                <a:moveTo>
                  <a:pt x="0" y="0"/>
                </a:moveTo>
                <a:lnTo>
                  <a:pt x="10191557" y="0"/>
                </a:lnTo>
                <a:lnTo>
                  <a:pt x="10191557" y="8301487"/>
                </a:lnTo>
                <a:lnTo>
                  <a:pt x="0" y="83014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flipH="1">
            <a:off x="15316200" y="795692"/>
            <a:ext cx="1190752" cy="912272"/>
          </a:xfrm>
          <a:custGeom>
            <a:avLst/>
            <a:gdLst/>
            <a:ahLst/>
            <a:cxnLst/>
            <a:rect l="l" t="t" r="r" b="b"/>
            <a:pathLst>
              <a:path w="1190752" h="912272">
                <a:moveTo>
                  <a:pt x="1190752" y="0"/>
                </a:moveTo>
                <a:lnTo>
                  <a:pt x="0" y="0"/>
                </a:lnTo>
                <a:lnTo>
                  <a:pt x="0" y="912272"/>
                </a:lnTo>
                <a:lnTo>
                  <a:pt x="1190752" y="912272"/>
                </a:lnTo>
                <a:lnTo>
                  <a:pt x="1190752"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ZoneTexte 8">
            <a:extLst>
              <a:ext uri="{FF2B5EF4-FFF2-40B4-BE49-F238E27FC236}">
                <a16:creationId xmlns:a16="http://schemas.microsoft.com/office/drawing/2014/main" id="{3AFFCEBF-A6EF-2BF3-19E9-59B22BF88F73}"/>
              </a:ext>
            </a:extLst>
          </p:cNvPr>
          <p:cNvSpPr txBox="1"/>
          <p:nvPr/>
        </p:nvSpPr>
        <p:spPr>
          <a:xfrm>
            <a:off x="2142704" y="1984271"/>
            <a:ext cx="4688181" cy="707886"/>
          </a:xfrm>
          <a:prstGeom prst="rect">
            <a:avLst/>
          </a:prstGeom>
          <a:noFill/>
        </p:spPr>
        <p:txBody>
          <a:bodyPr wrap="square" rtlCol="0">
            <a:spAutoFit/>
          </a:bodyPr>
          <a:lstStyle/>
          <a:p>
            <a:r>
              <a:rPr lang="fr-FR" sz="4000" b="1" dirty="0">
                <a:solidFill>
                  <a:schemeClr val="tx2">
                    <a:lumMod val="75000"/>
                  </a:schemeClr>
                </a:solidFill>
              </a:rPr>
              <a:t>3.Inverse </a:t>
            </a:r>
            <a:r>
              <a:rPr lang="fr-FR" sz="4000" b="1" dirty="0" err="1">
                <a:solidFill>
                  <a:schemeClr val="tx2">
                    <a:lumMod val="75000"/>
                  </a:schemeClr>
                </a:solidFill>
              </a:rPr>
              <a:t>ShiftRows</a:t>
            </a:r>
            <a:r>
              <a:rPr lang="fr-FR" sz="4000" b="1" dirty="0">
                <a:solidFill>
                  <a:schemeClr val="tx2">
                    <a:lumMod val="75000"/>
                  </a:schemeClr>
                </a:solidFill>
              </a:rPr>
              <a:t> :</a:t>
            </a:r>
            <a:endParaRPr lang="en-US" sz="4000" b="1" dirty="0">
              <a:solidFill>
                <a:schemeClr val="tx2">
                  <a:lumMod val="75000"/>
                </a:schemeClr>
              </a:solidFill>
            </a:endParaRPr>
          </a:p>
        </p:txBody>
      </p:sp>
      <p:sp>
        <p:nvSpPr>
          <p:cNvPr id="10" name="TextBox 3">
            <a:extLst>
              <a:ext uri="{FF2B5EF4-FFF2-40B4-BE49-F238E27FC236}">
                <a16:creationId xmlns:a16="http://schemas.microsoft.com/office/drawing/2014/main" id="{B53FB8A6-FC8E-50B2-34A9-60E524BDF17A}"/>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Déchiffrement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11" name="ZoneTexte 10">
            <a:extLst>
              <a:ext uri="{FF2B5EF4-FFF2-40B4-BE49-F238E27FC236}">
                <a16:creationId xmlns:a16="http://schemas.microsoft.com/office/drawing/2014/main" id="{4DF1DF6F-F0EB-56B6-32CA-639D15E4CB7F}"/>
              </a:ext>
            </a:extLst>
          </p:cNvPr>
          <p:cNvSpPr txBox="1"/>
          <p:nvPr/>
        </p:nvSpPr>
        <p:spPr>
          <a:xfrm>
            <a:off x="6830885" y="2065800"/>
            <a:ext cx="7696200" cy="1077218"/>
          </a:xfrm>
          <a:prstGeom prst="rect">
            <a:avLst/>
          </a:prstGeom>
          <a:noFill/>
        </p:spPr>
        <p:txBody>
          <a:bodyPr wrap="square" rtlCol="0">
            <a:spAutoFit/>
          </a:bodyPr>
          <a:lstStyle/>
          <a:p>
            <a:pPr>
              <a:buNone/>
            </a:pPr>
            <a:r>
              <a:rPr lang="fr-FR" sz="3200" dirty="0"/>
              <a:t>On effectue le </a:t>
            </a:r>
            <a:r>
              <a:rPr lang="fr-FR" sz="3200" b="1" dirty="0"/>
              <a:t>décalage inverse</a:t>
            </a:r>
            <a:r>
              <a:rPr lang="fr-FR" sz="3200" dirty="0"/>
              <a:t> :</a:t>
            </a:r>
          </a:p>
          <a:p>
            <a:endParaRPr lang="fr-FR"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A4B16-6762-D15A-1F1B-9065651AA4F2}"/>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712C3536-8FCA-C515-1E4B-B64DBD9E1006}"/>
              </a:ext>
            </a:extLst>
          </p:cNvPr>
          <p:cNvSpPr/>
          <p:nvPr/>
        </p:nvSpPr>
        <p:spPr>
          <a:xfrm rot="-2791948" flipV="1">
            <a:off x="-2735630" y="87538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Freeform 2">
            <a:extLst>
              <a:ext uri="{FF2B5EF4-FFF2-40B4-BE49-F238E27FC236}">
                <a16:creationId xmlns:a16="http://schemas.microsoft.com/office/drawing/2014/main" id="{C12AA9A5-2CCF-5644-D468-0E91A6824032}"/>
              </a:ext>
            </a:extLst>
          </p:cNvPr>
          <p:cNvSpPr/>
          <p:nvPr/>
        </p:nvSpPr>
        <p:spPr>
          <a:xfrm rot="-2791948" flipV="1">
            <a:off x="-4667381" y="1783998"/>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Rectangle : coins arrondis 11">
            <a:extLst>
              <a:ext uri="{FF2B5EF4-FFF2-40B4-BE49-F238E27FC236}">
                <a16:creationId xmlns:a16="http://schemas.microsoft.com/office/drawing/2014/main" id="{7189B679-5A35-78B5-C8F8-F47369C8887E}"/>
              </a:ext>
            </a:extLst>
          </p:cNvPr>
          <p:cNvSpPr/>
          <p:nvPr/>
        </p:nvSpPr>
        <p:spPr>
          <a:xfrm>
            <a:off x="1534460" y="4353462"/>
            <a:ext cx="5646437" cy="533346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 coins arrondis 13">
            <a:extLst>
              <a:ext uri="{FF2B5EF4-FFF2-40B4-BE49-F238E27FC236}">
                <a16:creationId xmlns:a16="http://schemas.microsoft.com/office/drawing/2014/main" id="{B05ABF04-70BA-6EA3-B846-B5A9C7BC0209}"/>
              </a:ext>
            </a:extLst>
          </p:cNvPr>
          <p:cNvSpPr/>
          <p:nvPr/>
        </p:nvSpPr>
        <p:spPr>
          <a:xfrm>
            <a:off x="10101869" y="4471753"/>
            <a:ext cx="6036744" cy="533346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7">
            <a:extLst>
              <a:ext uri="{FF2B5EF4-FFF2-40B4-BE49-F238E27FC236}">
                <a16:creationId xmlns:a16="http://schemas.microsoft.com/office/drawing/2014/main" id="{8E0CC83D-C65C-AABB-B629-4480C6235B96}"/>
              </a:ext>
            </a:extLst>
          </p:cNvPr>
          <p:cNvSpPr/>
          <p:nvPr/>
        </p:nvSpPr>
        <p:spPr>
          <a:xfrm>
            <a:off x="12729183" y="-7049658"/>
            <a:ext cx="10191557" cy="8301486"/>
          </a:xfrm>
          <a:custGeom>
            <a:avLst/>
            <a:gdLst/>
            <a:ahLst/>
            <a:cxnLst/>
            <a:rect l="l" t="t" r="r" b="b"/>
            <a:pathLst>
              <a:path w="10191557" h="8301486">
                <a:moveTo>
                  <a:pt x="0" y="0"/>
                </a:moveTo>
                <a:lnTo>
                  <a:pt x="10191557" y="0"/>
                </a:lnTo>
                <a:lnTo>
                  <a:pt x="10191557" y="8301487"/>
                </a:lnTo>
                <a:lnTo>
                  <a:pt x="0" y="83014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a:extLst>
              <a:ext uri="{FF2B5EF4-FFF2-40B4-BE49-F238E27FC236}">
                <a16:creationId xmlns:a16="http://schemas.microsoft.com/office/drawing/2014/main" id="{FA8FA943-648F-F7AA-0022-C7A063669F5E}"/>
              </a:ext>
            </a:extLst>
          </p:cNvPr>
          <p:cNvSpPr/>
          <p:nvPr/>
        </p:nvSpPr>
        <p:spPr>
          <a:xfrm flipH="1">
            <a:off x="15316200" y="795692"/>
            <a:ext cx="1190752" cy="912272"/>
          </a:xfrm>
          <a:custGeom>
            <a:avLst/>
            <a:gdLst/>
            <a:ahLst/>
            <a:cxnLst/>
            <a:rect l="l" t="t" r="r" b="b"/>
            <a:pathLst>
              <a:path w="1190752" h="912272">
                <a:moveTo>
                  <a:pt x="1190752" y="0"/>
                </a:moveTo>
                <a:lnTo>
                  <a:pt x="0" y="0"/>
                </a:lnTo>
                <a:lnTo>
                  <a:pt x="0" y="912272"/>
                </a:lnTo>
                <a:lnTo>
                  <a:pt x="1190752" y="912272"/>
                </a:lnTo>
                <a:lnTo>
                  <a:pt x="119075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ZoneTexte 8">
            <a:extLst>
              <a:ext uri="{FF2B5EF4-FFF2-40B4-BE49-F238E27FC236}">
                <a16:creationId xmlns:a16="http://schemas.microsoft.com/office/drawing/2014/main" id="{7C385389-B9CE-E6EA-4012-8EC9CFA02ED0}"/>
              </a:ext>
            </a:extLst>
          </p:cNvPr>
          <p:cNvSpPr txBox="1"/>
          <p:nvPr/>
        </p:nvSpPr>
        <p:spPr>
          <a:xfrm>
            <a:off x="2184494" y="1944844"/>
            <a:ext cx="4688181" cy="707886"/>
          </a:xfrm>
          <a:prstGeom prst="rect">
            <a:avLst/>
          </a:prstGeom>
          <a:noFill/>
        </p:spPr>
        <p:txBody>
          <a:bodyPr wrap="square" rtlCol="0">
            <a:spAutoFit/>
          </a:bodyPr>
          <a:lstStyle/>
          <a:p>
            <a:r>
              <a:rPr lang="fr-FR" sz="4000" b="1" dirty="0">
                <a:solidFill>
                  <a:schemeClr val="tx2">
                    <a:lumMod val="75000"/>
                  </a:schemeClr>
                </a:solidFill>
              </a:rPr>
              <a:t>3. Inverse </a:t>
            </a:r>
            <a:r>
              <a:rPr lang="fr-FR" sz="4000" b="1" dirty="0" err="1">
                <a:solidFill>
                  <a:schemeClr val="tx2">
                    <a:lumMod val="75000"/>
                  </a:schemeClr>
                </a:solidFill>
              </a:rPr>
              <a:t>ShiftRows</a:t>
            </a:r>
            <a:r>
              <a:rPr lang="fr-FR" sz="4000" b="1" dirty="0">
                <a:solidFill>
                  <a:schemeClr val="tx2">
                    <a:lumMod val="75000"/>
                  </a:schemeClr>
                </a:solidFill>
              </a:rPr>
              <a:t> :</a:t>
            </a:r>
            <a:endParaRPr lang="en-US" sz="4000" b="1" dirty="0">
              <a:solidFill>
                <a:schemeClr val="tx2">
                  <a:lumMod val="75000"/>
                </a:schemeClr>
              </a:solidFill>
            </a:endParaRPr>
          </a:p>
        </p:txBody>
      </p:sp>
      <p:sp>
        <p:nvSpPr>
          <p:cNvPr id="10" name="TextBox 3">
            <a:extLst>
              <a:ext uri="{FF2B5EF4-FFF2-40B4-BE49-F238E27FC236}">
                <a16:creationId xmlns:a16="http://schemas.microsoft.com/office/drawing/2014/main" id="{633A184C-126F-287F-9AF3-EB373A513D08}"/>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Déchiffrement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pic>
        <p:nvPicPr>
          <p:cNvPr id="13" name="Image 12">
            <a:extLst>
              <a:ext uri="{FF2B5EF4-FFF2-40B4-BE49-F238E27FC236}">
                <a16:creationId xmlns:a16="http://schemas.microsoft.com/office/drawing/2014/main" id="{2D94BAE9-7044-25A5-2B1B-12546D8BF731}"/>
              </a:ext>
            </a:extLst>
          </p:cNvPr>
          <p:cNvPicPr>
            <a:picLocks noChangeAspect="1"/>
          </p:cNvPicPr>
          <p:nvPr/>
        </p:nvPicPr>
        <p:blipFill>
          <a:blip r:embed="rId10"/>
          <a:stretch>
            <a:fillRect/>
          </a:stretch>
        </p:blipFill>
        <p:spPr>
          <a:xfrm>
            <a:off x="2033585" y="4774481"/>
            <a:ext cx="4648185" cy="4491425"/>
          </a:xfrm>
          <a:prstGeom prst="rect">
            <a:avLst/>
          </a:prstGeom>
        </p:spPr>
      </p:pic>
      <p:pic>
        <p:nvPicPr>
          <p:cNvPr id="5" name="Image 4">
            <a:extLst>
              <a:ext uri="{FF2B5EF4-FFF2-40B4-BE49-F238E27FC236}">
                <a16:creationId xmlns:a16="http://schemas.microsoft.com/office/drawing/2014/main" id="{2A26664F-18A0-03D0-E9BB-EA2C57CAD560}"/>
              </a:ext>
            </a:extLst>
          </p:cNvPr>
          <p:cNvPicPr>
            <a:picLocks noChangeAspect="1"/>
          </p:cNvPicPr>
          <p:nvPr/>
        </p:nvPicPr>
        <p:blipFill>
          <a:blip r:embed="rId11"/>
          <a:stretch>
            <a:fillRect/>
          </a:stretch>
        </p:blipFill>
        <p:spPr>
          <a:xfrm>
            <a:off x="10801472" y="4880796"/>
            <a:ext cx="4953000" cy="4441664"/>
          </a:xfrm>
          <a:prstGeom prst="rect">
            <a:avLst/>
          </a:prstGeom>
        </p:spPr>
      </p:pic>
      <p:sp>
        <p:nvSpPr>
          <p:cNvPr id="6" name="Flèche : droite 5">
            <a:extLst>
              <a:ext uri="{FF2B5EF4-FFF2-40B4-BE49-F238E27FC236}">
                <a16:creationId xmlns:a16="http://schemas.microsoft.com/office/drawing/2014/main" id="{0B19C835-5FD7-2BCB-5127-3643D6AEF5D9}"/>
              </a:ext>
            </a:extLst>
          </p:cNvPr>
          <p:cNvSpPr/>
          <p:nvPr/>
        </p:nvSpPr>
        <p:spPr>
          <a:xfrm>
            <a:off x="7624154" y="5664868"/>
            <a:ext cx="1981200" cy="990600"/>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3DA0096-1783-4451-A3BB-69498653BAC1}"/>
              </a:ext>
            </a:extLst>
          </p:cNvPr>
          <p:cNvSpPr/>
          <p:nvPr/>
        </p:nvSpPr>
        <p:spPr>
          <a:xfrm>
            <a:off x="5196941" y="6130722"/>
            <a:ext cx="855067"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6" name="Rectangle 15">
            <a:extLst>
              <a:ext uri="{FF2B5EF4-FFF2-40B4-BE49-F238E27FC236}">
                <a16:creationId xmlns:a16="http://schemas.microsoft.com/office/drawing/2014/main" id="{194A8F90-5BFD-5945-CF63-7D0A3A21EB40}"/>
              </a:ext>
            </a:extLst>
          </p:cNvPr>
          <p:cNvSpPr/>
          <p:nvPr/>
        </p:nvSpPr>
        <p:spPr>
          <a:xfrm>
            <a:off x="11509688" y="6233139"/>
            <a:ext cx="1047864"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7" name="Rectangle 16">
            <a:extLst>
              <a:ext uri="{FF2B5EF4-FFF2-40B4-BE49-F238E27FC236}">
                <a16:creationId xmlns:a16="http://schemas.microsoft.com/office/drawing/2014/main" id="{21733A88-C192-6AC4-2B1C-9A86DC103C9D}"/>
              </a:ext>
            </a:extLst>
          </p:cNvPr>
          <p:cNvSpPr/>
          <p:nvPr/>
        </p:nvSpPr>
        <p:spPr>
          <a:xfrm>
            <a:off x="4416734" y="7232854"/>
            <a:ext cx="1676400"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8" name="Rectangle 17">
            <a:extLst>
              <a:ext uri="{FF2B5EF4-FFF2-40B4-BE49-F238E27FC236}">
                <a16:creationId xmlns:a16="http://schemas.microsoft.com/office/drawing/2014/main" id="{0BF83705-5917-8346-26D6-54292E1D1128}"/>
              </a:ext>
            </a:extLst>
          </p:cNvPr>
          <p:cNvSpPr/>
          <p:nvPr/>
        </p:nvSpPr>
        <p:spPr>
          <a:xfrm>
            <a:off x="11601572" y="7242800"/>
            <a:ext cx="1676400"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9" name="Rectangle 18">
            <a:extLst>
              <a:ext uri="{FF2B5EF4-FFF2-40B4-BE49-F238E27FC236}">
                <a16:creationId xmlns:a16="http://schemas.microsoft.com/office/drawing/2014/main" id="{2CFC2A3D-F358-1C91-88D3-628398DCE71E}"/>
              </a:ext>
            </a:extLst>
          </p:cNvPr>
          <p:cNvSpPr/>
          <p:nvPr/>
        </p:nvSpPr>
        <p:spPr>
          <a:xfrm>
            <a:off x="3544432" y="8189882"/>
            <a:ext cx="2484086"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0" name="Rectangle 19">
            <a:extLst>
              <a:ext uri="{FF2B5EF4-FFF2-40B4-BE49-F238E27FC236}">
                <a16:creationId xmlns:a16="http://schemas.microsoft.com/office/drawing/2014/main" id="{0944A80A-F66D-4D8C-A772-7B24D9EDEEF5}"/>
              </a:ext>
            </a:extLst>
          </p:cNvPr>
          <p:cNvSpPr/>
          <p:nvPr/>
        </p:nvSpPr>
        <p:spPr>
          <a:xfrm>
            <a:off x="11452191" y="8384021"/>
            <a:ext cx="2748766"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1" name="ZoneTexte 20">
            <a:extLst>
              <a:ext uri="{FF2B5EF4-FFF2-40B4-BE49-F238E27FC236}">
                <a16:creationId xmlns:a16="http://schemas.microsoft.com/office/drawing/2014/main" id="{02DC3429-C299-E01A-F0D6-5C6554CA7C03}"/>
              </a:ext>
            </a:extLst>
          </p:cNvPr>
          <p:cNvSpPr txBox="1"/>
          <p:nvPr/>
        </p:nvSpPr>
        <p:spPr>
          <a:xfrm>
            <a:off x="2149747" y="2634487"/>
            <a:ext cx="9728947" cy="2062103"/>
          </a:xfrm>
          <a:prstGeom prst="rect">
            <a:avLst/>
          </a:prstGeom>
          <a:noFill/>
        </p:spPr>
        <p:txBody>
          <a:bodyPr wrap="square" rtlCol="0">
            <a:spAutoFit/>
          </a:bodyPr>
          <a:lstStyle/>
          <a:p>
            <a:pPr>
              <a:buNone/>
            </a:pPr>
            <a:r>
              <a:rPr lang="fr-FR" sz="3200" dirty="0"/>
              <a:t>Décalage :</a:t>
            </a:r>
          </a:p>
          <a:p>
            <a:pPr>
              <a:buFont typeface="Arial" panose="020B0604020202020204" pitchFamily="34" charset="0"/>
              <a:buChar char="•"/>
            </a:pPr>
            <a:r>
              <a:rPr lang="fr-FR" sz="3200" dirty="0"/>
              <a:t>Ligne 1 → aucun changement</a:t>
            </a:r>
          </a:p>
          <a:p>
            <a:pPr>
              <a:buFont typeface="Arial" panose="020B0604020202020204" pitchFamily="34" charset="0"/>
              <a:buChar char="•"/>
            </a:pPr>
            <a:r>
              <a:rPr lang="fr-FR" sz="3200" dirty="0"/>
              <a:t>Ligne 2 → décalée d’une position vers la droite</a:t>
            </a:r>
          </a:p>
          <a:p>
            <a:endParaRPr lang="en-US" sz="3200" dirty="0"/>
          </a:p>
        </p:txBody>
      </p:sp>
      <p:sp>
        <p:nvSpPr>
          <p:cNvPr id="22" name="ZoneTexte 21">
            <a:extLst>
              <a:ext uri="{FF2B5EF4-FFF2-40B4-BE49-F238E27FC236}">
                <a16:creationId xmlns:a16="http://schemas.microsoft.com/office/drawing/2014/main" id="{A18621CD-4438-541F-10A4-415A0AE63A4B}"/>
              </a:ext>
            </a:extLst>
          </p:cNvPr>
          <p:cNvSpPr txBox="1"/>
          <p:nvPr/>
        </p:nvSpPr>
        <p:spPr>
          <a:xfrm>
            <a:off x="11054191" y="3126930"/>
            <a:ext cx="6293531" cy="1569660"/>
          </a:xfrm>
          <a:prstGeom prst="rect">
            <a:avLst/>
          </a:prstGeom>
          <a:noFill/>
        </p:spPr>
        <p:txBody>
          <a:bodyPr wrap="square" rtlCol="0">
            <a:spAutoFit/>
          </a:bodyPr>
          <a:lstStyle/>
          <a:p>
            <a:pPr>
              <a:buFont typeface="Arial" panose="020B0604020202020204" pitchFamily="34" charset="0"/>
              <a:buChar char="•"/>
            </a:pPr>
            <a:r>
              <a:rPr lang="fr-FR" sz="3200" dirty="0"/>
              <a:t>Ligne 3 → décalée de 2 positions</a:t>
            </a:r>
          </a:p>
          <a:p>
            <a:pPr>
              <a:buFont typeface="Arial" panose="020B0604020202020204" pitchFamily="34" charset="0"/>
              <a:buChar char="•"/>
            </a:pPr>
            <a:r>
              <a:rPr lang="fr-FR" sz="3200" dirty="0"/>
              <a:t>Ligne 4 → décalée de 3 positions</a:t>
            </a:r>
          </a:p>
          <a:p>
            <a:endParaRPr lang="en-US" sz="3200" dirty="0"/>
          </a:p>
        </p:txBody>
      </p:sp>
    </p:spTree>
    <p:extLst>
      <p:ext uri="{BB962C8B-B14F-4D97-AF65-F5344CB8AC3E}">
        <p14:creationId xmlns:p14="http://schemas.microsoft.com/office/powerpoint/2010/main" val="1548650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E0F93-D618-938C-371C-D4F83E720C8F}"/>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3180174A-23EC-449C-BEA9-36B2A022401B}"/>
              </a:ext>
            </a:extLst>
          </p:cNvPr>
          <p:cNvSpPr/>
          <p:nvPr/>
        </p:nvSpPr>
        <p:spPr>
          <a:xfrm rot="-2791948" flipV="1">
            <a:off x="-2735630" y="87538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Freeform 2">
            <a:extLst>
              <a:ext uri="{FF2B5EF4-FFF2-40B4-BE49-F238E27FC236}">
                <a16:creationId xmlns:a16="http://schemas.microsoft.com/office/drawing/2014/main" id="{7EA11ACF-148B-7C8A-3A40-63E155288FF8}"/>
              </a:ext>
            </a:extLst>
          </p:cNvPr>
          <p:cNvSpPr/>
          <p:nvPr/>
        </p:nvSpPr>
        <p:spPr>
          <a:xfrm rot="-2791948" flipV="1">
            <a:off x="-6058941" y="1410632"/>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05262967-9FB6-032A-321C-7E8EF28FECAB}"/>
              </a:ext>
            </a:extLst>
          </p:cNvPr>
          <p:cNvSpPr/>
          <p:nvPr/>
        </p:nvSpPr>
        <p:spPr>
          <a:xfrm>
            <a:off x="12729183" y="-7049658"/>
            <a:ext cx="10191557" cy="8301486"/>
          </a:xfrm>
          <a:custGeom>
            <a:avLst/>
            <a:gdLst/>
            <a:ahLst/>
            <a:cxnLst/>
            <a:rect l="l" t="t" r="r" b="b"/>
            <a:pathLst>
              <a:path w="10191557" h="8301486">
                <a:moveTo>
                  <a:pt x="0" y="0"/>
                </a:moveTo>
                <a:lnTo>
                  <a:pt x="10191557" y="0"/>
                </a:lnTo>
                <a:lnTo>
                  <a:pt x="10191557" y="8301487"/>
                </a:lnTo>
                <a:lnTo>
                  <a:pt x="0" y="83014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a:extLst>
              <a:ext uri="{FF2B5EF4-FFF2-40B4-BE49-F238E27FC236}">
                <a16:creationId xmlns:a16="http://schemas.microsoft.com/office/drawing/2014/main" id="{1BC5348B-84B6-2921-70DA-9F8C564BEF32}"/>
              </a:ext>
            </a:extLst>
          </p:cNvPr>
          <p:cNvSpPr/>
          <p:nvPr/>
        </p:nvSpPr>
        <p:spPr>
          <a:xfrm flipH="1">
            <a:off x="15316200" y="795692"/>
            <a:ext cx="1190752" cy="912272"/>
          </a:xfrm>
          <a:custGeom>
            <a:avLst/>
            <a:gdLst/>
            <a:ahLst/>
            <a:cxnLst/>
            <a:rect l="l" t="t" r="r" b="b"/>
            <a:pathLst>
              <a:path w="1190752" h="912272">
                <a:moveTo>
                  <a:pt x="1190752" y="0"/>
                </a:moveTo>
                <a:lnTo>
                  <a:pt x="0" y="0"/>
                </a:lnTo>
                <a:lnTo>
                  <a:pt x="0" y="912272"/>
                </a:lnTo>
                <a:lnTo>
                  <a:pt x="1190752" y="912272"/>
                </a:lnTo>
                <a:lnTo>
                  <a:pt x="119075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3">
            <a:extLst>
              <a:ext uri="{FF2B5EF4-FFF2-40B4-BE49-F238E27FC236}">
                <a16:creationId xmlns:a16="http://schemas.microsoft.com/office/drawing/2014/main" id="{4E090150-7C98-D69E-3610-2F04ABB95C19}"/>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Déchiffrement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sp>
        <p:nvSpPr>
          <p:cNvPr id="5" name="ZoneTexte 4">
            <a:extLst>
              <a:ext uri="{FF2B5EF4-FFF2-40B4-BE49-F238E27FC236}">
                <a16:creationId xmlns:a16="http://schemas.microsoft.com/office/drawing/2014/main" id="{9B7390AA-8D38-1769-AA76-A3A67F3F2A02}"/>
              </a:ext>
            </a:extLst>
          </p:cNvPr>
          <p:cNvSpPr txBox="1"/>
          <p:nvPr/>
        </p:nvSpPr>
        <p:spPr>
          <a:xfrm>
            <a:off x="1981200" y="2258099"/>
            <a:ext cx="15331440" cy="707886"/>
          </a:xfrm>
          <a:prstGeom prst="rect">
            <a:avLst/>
          </a:prstGeom>
          <a:noFill/>
        </p:spPr>
        <p:txBody>
          <a:bodyPr wrap="square">
            <a:spAutoFit/>
          </a:bodyPr>
          <a:lstStyle/>
          <a:p>
            <a:r>
              <a:rPr lang="fr-FR" sz="4000" b="1" dirty="0">
                <a:solidFill>
                  <a:schemeClr val="tx2">
                    <a:lumMod val="75000"/>
                  </a:schemeClr>
                </a:solidFill>
              </a:rPr>
              <a:t>4.Inverse </a:t>
            </a:r>
            <a:r>
              <a:rPr lang="fr-FR" sz="4000" b="1" dirty="0" err="1">
                <a:solidFill>
                  <a:schemeClr val="tx2">
                    <a:lumMod val="75000"/>
                  </a:schemeClr>
                </a:solidFill>
              </a:rPr>
              <a:t>SubBytes</a:t>
            </a:r>
            <a:r>
              <a:rPr lang="fr-FR" sz="4000" b="1" dirty="0">
                <a:solidFill>
                  <a:schemeClr val="tx2">
                    <a:lumMod val="75000"/>
                  </a:schemeClr>
                </a:solidFill>
              </a:rPr>
              <a:t> :</a:t>
            </a:r>
            <a:endParaRPr lang="en-US" sz="4000" b="1" dirty="0">
              <a:solidFill>
                <a:schemeClr val="tx2">
                  <a:lumMod val="75000"/>
                </a:schemeClr>
              </a:solidFill>
            </a:endParaRPr>
          </a:p>
        </p:txBody>
      </p:sp>
      <p:sp>
        <p:nvSpPr>
          <p:cNvPr id="6" name="ZoneTexte 5">
            <a:extLst>
              <a:ext uri="{FF2B5EF4-FFF2-40B4-BE49-F238E27FC236}">
                <a16:creationId xmlns:a16="http://schemas.microsoft.com/office/drawing/2014/main" id="{70FAC810-A5DF-855D-105F-0DF39F2FD726}"/>
              </a:ext>
            </a:extLst>
          </p:cNvPr>
          <p:cNvSpPr txBox="1"/>
          <p:nvPr/>
        </p:nvSpPr>
        <p:spPr>
          <a:xfrm>
            <a:off x="3046223" y="3073018"/>
            <a:ext cx="9682960" cy="1077218"/>
          </a:xfrm>
          <a:prstGeom prst="rect">
            <a:avLst/>
          </a:prstGeom>
          <a:noFill/>
        </p:spPr>
        <p:txBody>
          <a:bodyPr wrap="square" rtlCol="0">
            <a:spAutoFit/>
          </a:bodyPr>
          <a:lstStyle/>
          <a:p>
            <a:r>
              <a:rPr lang="fr-FR" sz="3200" dirty="0"/>
              <a:t>On applique la </a:t>
            </a:r>
            <a:r>
              <a:rPr lang="fr-FR" sz="3200" b="1" dirty="0"/>
              <a:t>Substitution inverse</a:t>
            </a:r>
            <a:r>
              <a:rPr lang="fr-FR" sz="3200" dirty="0"/>
              <a:t> avec la </a:t>
            </a:r>
            <a:r>
              <a:rPr lang="fr-FR" sz="3200" b="1" dirty="0"/>
              <a:t>S-Box inverse</a:t>
            </a:r>
            <a:r>
              <a:rPr lang="fr-FR" sz="3200" dirty="0"/>
              <a:t> :</a:t>
            </a:r>
            <a:endParaRPr lang="en-US" sz="3200" dirty="0"/>
          </a:p>
        </p:txBody>
      </p:sp>
      <p:sp>
        <p:nvSpPr>
          <p:cNvPr id="12" name="Rectangle 11">
            <a:extLst>
              <a:ext uri="{FF2B5EF4-FFF2-40B4-BE49-F238E27FC236}">
                <a16:creationId xmlns:a16="http://schemas.microsoft.com/office/drawing/2014/main" id="{D1FDF747-4996-F6D8-88B1-F68CCEB07239}"/>
              </a:ext>
            </a:extLst>
          </p:cNvPr>
          <p:cNvSpPr/>
          <p:nvPr/>
        </p:nvSpPr>
        <p:spPr>
          <a:xfrm>
            <a:off x="8056395" y="4257269"/>
            <a:ext cx="2197678" cy="1562599"/>
          </a:xfrm>
          <a:prstGeom prst="rect">
            <a:avLst/>
          </a:prstGeom>
          <a:solidFill>
            <a:srgbClr val="0070C0"/>
          </a:solidFill>
          <a:ln w="7620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5400" dirty="0">
                <a:solidFill>
                  <a:srgbClr val="FFC000"/>
                </a:solidFill>
              </a:rPr>
              <a:t>S_BOX inv</a:t>
            </a:r>
          </a:p>
        </p:txBody>
      </p:sp>
      <p:pic>
        <p:nvPicPr>
          <p:cNvPr id="15" name="Image 14">
            <a:extLst>
              <a:ext uri="{FF2B5EF4-FFF2-40B4-BE49-F238E27FC236}">
                <a16:creationId xmlns:a16="http://schemas.microsoft.com/office/drawing/2014/main" id="{176951EF-A02E-660A-982E-41E7E63B0437}"/>
              </a:ext>
            </a:extLst>
          </p:cNvPr>
          <p:cNvPicPr>
            <a:picLocks noChangeAspect="1"/>
          </p:cNvPicPr>
          <p:nvPr/>
        </p:nvPicPr>
        <p:blipFill>
          <a:blip r:embed="rId10"/>
          <a:stretch>
            <a:fillRect/>
          </a:stretch>
        </p:blipFill>
        <p:spPr>
          <a:xfrm>
            <a:off x="11811000" y="5262856"/>
            <a:ext cx="5116688" cy="4202951"/>
          </a:xfrm>
          <a:prstGeom prst="rect">
            <a:avLst/>
          </a:prstGeom>
        </p:spPr>
      </p:pic>
      <p:pic>
        <p:nvPicPr>
          <p:cNvPr id="16" name="Image 15">
            <a:extLst>
              <a:ext uri="{FF2B5EF4-FFF2-40B4-BE49-F238E27FC236}">
                <a16:creationId xmlns:a16="http://schemas.microsoft.com/office/drawing/2014/main" id="{9FF39D17-DD84-F903-B8FA-975BCC015AC7}"/>
              </a:ext>
            </a:extLst>
          </p:cNvPr>
          <p:cNvPicPr>
            <a:picLocks noChangeAspect="1"/>
          </p:cNvPicPr>
          <p:nvPr/>
        </p:nvPicPr>
        <p:blipFill>
          <a:blip r:embed="rId11"/>
          <a:stretch>
            <a:fillRect/>
          </a:stretch>
        </p:blipFill>
        <p:spPr>
          <a:xfrm>
            <a:off x="1945717" y="5143500"/>
            <a:ext cx="4953000" cy="4441664"/>
          </a:xfrm>
          <a:prstGeom prst="rect">
            <a:avLst/>
          </a:prstGeom>
        </p:spPr>
      </p:pic>
      <p:sp>
        <p:nvSpPr>
          <p:cNvPr id="17" name="Rectangle 16">
            <a:extLst>
              <a:ext uri="{FF2B5EF4-FFF2-40B4-BE49-F238E27FC236}">
                <a16:creationId xmlns:a16="http://schemas.microsoft.com/office/drawing/2014/main" id="{FBA51C86-E627-3D0A-681E-C08868427215}"/>
              </a:ext>
            </a:extLst>
          </p:cNvPr>
          <p:cNvSpPr/>
          <p:nvPr/>
        </p:nvSpPr>
        <p:spPr>
          <a:xfrm>
            <a:off x="2618689" y="5501120"/>
            <a:ext cx="855067"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8" name="Rectangle 17">
            <a:extLst>
              <a:ext uri="{FF2B5EF4-FFF2-40B4-BE49-F238E27FC236}">
                <a16:creationId xmlns:a16="http://schemas.microsoft.com/office/drawing/2014/main" id="{854140D4-AFA2-AC88-5219-709C5AE5143F}"/>
              </a:ext>
            </a:extLst>
          </p:cNvPr>
          <p:cNvSpPr/>
          <p:nvPr/>
        </p:nvSpPr>
        <p:spPr>
          <a:xfrm>
            <a:off x="12465212" y="5529319"/>
            <a:ext cx="855067" cy="624189"/>
          </a:xfrm>
          <a:prstGeom prst="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cxnSp>
        <p:nvCxnSpPr>
          <p:cNvPr id="24" name="Connecteur droit avec flèche 23">
            <a:extLst>
              <a:ext uri="{FF2B5EF4-FFF2-40B4-BE49-F238E27FC236}">
                <a16:creationId xmlns:a16="http://schemas.microsoft.com/office/drawing/2014/main" id="{BBAE353C-888D-C7D2-02A4-3D68BD77359C}"/>
              </a:ext>
            </a:extLst>
          </p:cNvPr>
          <p:cNvCxnSpPr>
            <a:stCxn id="17" idx="0"/>
          </p:cNvCxnSpPr>
          <p:nvPr/>
        </p:nvCxnSpPr>
        <p:spPr>
          <a:xfrm flipV="1">
            <a:off x="3046223" y="4686300"/>
            <a:ext cx="5010172" cy="81482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E176376A-2D2D-DC3B-935C-3A4B5EB461CD}"/>
              </a:ext>
            </a:extLst>
          </p:cNvPr>
          <p:cNvCxnSpPr>
            <a:cxnSpLocks/>
          </p:cNvCxnSpPr>
          <p:nvPr/>
        </p:nvCxnSpPr>
        <p:spPr>
          <a:xfrm flipH="1" flipV="1">
            <a:off x="10254073" y="4544001"/>
            <a:ext cx="2211139" cy="95711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132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9"/>
          <p:cNvSpPr/>
          <p:nvPr/>
        </p:nvSpPr>
        <p:spPr>
          <a:xfrm flipH="1">
            <a:off x="3763725" y="1766953"/>
            <a:ext cx="1190752" cy="912272"/>
          </a:xfrm>
          <a:custGeom>
            <a:avLst/>
            <a:gdLst/>
            <a:ahLst/>
            <a:cxnLst/>
            <a:rect l="l" t="t" r="r" b="b"/>
            <a:pathLst>
              <a:path w="1190752" h="912272">
                <a:moveTo>
                  <a:pt x="1190751" y="0"/>
                </a:moveTo>
                <a:lnTo>
                  <a:pt x="0" y="0"/>
                </a:lnTo>
                <a:lnTo>
                  <a:pt x="0" y="912272"/>
                </a:lnTo>
                <a:lnTo>
                  <a:pt x="1190751" y="912272"/>
                </a:lnTo>
                <a:lnTo>
                  <a:pt x="119075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rot="-2791948" flipV="1">
            <a:off x="-7546784" y="-48714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rot="-2791948" flipV="1">
            <a:off x="-4951900" y="-7419772"/>
            <a:ext cx="11961199" cy="9742940"/>
          </a:xfrm>
          <a:custGeom>
            <a:avLst/>
            <a:gdLst/>
            <a:ahLst/>
            <a:cxnLst/>
            <a:rect l="l" t="t" r="r" b="b"/>
            <a:pathLst>
              <a:path w="11961199" h="9742940">
                <a:moveTo>
                  <a:pt x="0" y="9742941"/>
                </a:moveTo>
                <a:lnTo>
                  <a:pt x="11961200" y="9742941"/>
                </a:lnTo>
                <a:lnTo>
                  <a:pt x="11961200" y="0"/>
                </a:lnTo>
                <a:lnTo>
                  <a:pt x="0" y="0"/>
                </a:lnTo>
                <a:lnTo>
                  <a:pt x="0"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rot="2790000" flipH="1" flipV="1">
            <a:off x="15592988" y="8145864"/>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rot="2790000" flipH="1" flipV="1">
            <a:off x="16260789" y="-5766650"/>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17" name="Image 16">
            <a:extLst>
              <a:ext uri="{FF2B5EF4-FFF2-40B4-BE49-F238E27FC236}">
                <a16:creationId xmlns:a16="http://schemas.microsoft.com/office/drawing/2014/main" id="{82C0FF0B-ED8F-3E58-E0F0-59A800DF387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7200" y="266701"/>
            <a:ext cx="17449800" cy="9973404"/>
          </a:xfrm>
          <a:prstGeom prst="rect">
            <a:avLst/>
          </a:prstGeom>
        </p:spPr>
      </p:pic>
      <p:sp>
        <p:nvSpPr>
          <p:cNvPr id="18" name="Rectangle 17">
            <a:extLst>
              <a:ext uri="{FF2B5EF4-FFF2-40B4-BE49-F238E27FC236}">
                <a16:creationId xmlns:a16="http://schemas.microsoft.com/office/drawing/2014/main" id="{541B6EE6-02CD-ED0B-7919-747A0D2DEF5A}"/>
              </a:ext>
            </a:extLst>
          </p:cNvPr>
          <p:cNvSpPr/>
          <p:nvPr/>
        </p:nvSpPr>
        <p:spPr>
          <a:xfrm>
            <a:off x="6477000" y="2247900"/>
            <a:ext cx="685800" cy="6248400"/>
          </a:xfrm>
          <a:prstGeom prst="rect">
            <a:avLst/>
          </a:prstGeom>
          <a:noFill/>
          <a:ln w="762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AFD2135B-9760-78E9-03F2-0ABCEF7528E6}"/>
              </a:ext>
            </a:extLst>
          </p:cNvPr>
          <p:cNvSpPr/>
          <p:nvPr/>
        </p:nvSpPr>
        <p:spPr>
          <a:xfrm>
            <a:off x="1524000" y="7886700"/>
            <a:ext cx="5638800" cy="609600"/>
          </a:xfrm>
          <a:prstGeom prst="rect">
            <a:avLst/>
          </a:prstGeom>
          <a:noFill/>
          <a:ln w="76200"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56989-C1F1-BF2D-2E1F-697DEB32DAA4}"/>
            </a:ext>
          </a:extLst>
        </p:cNvPr>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E409FF9A-19D1-49D5-B9F6-BA8E3ED8A8A2}"/>
              </a:ext>
            </a:extLst>
          </p:cNvPr>
          <p:cNvSpPr/>
          <p:nvPr/>
        </p:nvSpPr>
        <p:spPr>
          <a:xfrm>
            <a:off x="1038880" y="3687408"/>
            <a:ext cx="16487120" cy="4917967"/>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9">
            <a:extLst>
              <a:ext uri="{FF2B5EF4-FFF2-40B4-BE49-F238E27FC236}">
                <a16:creationId xmlns:a16="http://schemas.microsoft.com/office/drawing/2014/main" id="{2547452D-BA5D-9B90-F5D8-CC3DF2A3148E}"/>
              </a:ext>
            </a:extLst>
          </p:cNvPr>
          <p:cNvSpPr/>
          <p:nvPr/>
        </p:nvSpPr>
        <p:spPr>
          <a:xfrm flipH="1">
            <a:off x="3763725" y="1766953"/>
            <a:ext cx="1190752" cy="912272"/>
          </a:xfrm>
          <a:custGeom>
            <a:avLst/>
            <a:gdLst/>
            <a:ahLst/>
            <a:cxnLst/>
            <a:rect l="l" t="t" r="r" b="b"/>
            <a:pathLst>
              <a:path w="1190752" h="912272">
                <a:moveTo>
                  <a:pt x="1190751" y="0"/>
                </a:moveTo>
                <a:lnTo>
                  <a:pt x="0" y="0"/>
                </a:lnTo>
                <a:lnTo>
                  <a:pt x="0" y="912272"/>
                </a:lnTo>
                <a:lnTo>
                  <a:pt x="1190751" y="912272"/>
                </a:lnTo>
                <a:lnTo>
                  <a:pt x="119075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a:extLst>
              <a:ext uri="{FF2B5EF4-FFF2-40B4-BE49-F238E27FC236}">
                <a16:creationId xmlns:a16="http://schemas.microsoft.com/office/drawing/2014/main" id="{ED27EAC8-61C7-EBF7-61E8-F02D1F4D12BE}"/>
              </a:ext>
            </a:extLst>
          </p:cNvPr>
          <p:cNvSpPr/>
          <p:nvPr/>
        </p:nvSpPr>
        <p:spPr>
          <a:xfrm rot="-2791948" flipV="1">
            <a:off x="-7546784" y="-48714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a:extLst>
              <a:ext uri="{FF2B5EF4-FFF2-40B4-BE49-F238E27FC236}">
                <a16:creationId xmlns:a16="http://schemas.microsoft.com/office/drawing/2014/main" id="{CC331503-83BE-4F41-61C8-7F63A9736572}"/>
              </a:ext>
            </a:extLst>
          </p:cNvPr>
          <p:cNvSpPr/>
          <p:nvPr/>
        </p:nvSpPr>
        <p:spPr>
          <a:xfrm rot="-2791948" flipV="1">
            <a:off x="-4951900" y="-7419772"/>
            <a:ext cx="11961199" cy="9742940"/>
          </a:xfrm>
          <a:custGeom>
            <a:avLst/>
            <a:gdLst/>
            <a:ahLst/>
            <a:cxnLst/>
            <a:rect l="l" t="t" r="r" b="b"/>
            <a:pathLst>
              <a:path w="11961199" h="9742940">
                <a:moveTo>
                  <a:pt x="0" y="9742941"/>
                </a:moveTo>
                <a:lnTo>
                  <a:pt x="11961200" y="9742941"/>
                </a:lnTo>
                <a:lnTo>
                  <a:pt x="11961200" y="0"/>
                </a:lnTo>
                <a:lnTo>
                  <a:pt x="0" y="0"/>
                </a:lnTo>
                <a:lnTo>
                  <a:pt x="0" y="974294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76FCD29F-19F6-94F8-5110-D3217DDD15DF}"/>
              </a:ext>
            </a:extLst>
          </p:cNvPr>
          <p:cNvSpPr/>
          <p:nvPr/>
        </p:nvSpPr>
        <p:spPr>
          <a:xfrm rot="2790000" flipH="1" flipV="1">
            <a:off x="15592988" y="8145864"/>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a:extLst>
              <a:ext uri="{FF2B5EF4-FFF2-40B4-BE49-F238E27FC236}">
                <a16:creationId xmlns:a16="http://schemas.microsoft.com/office/drawing/2014/main" id="{FBE188A1-A08F-D28E-B725-D50DC59F9A29}"/>
              </a:ext>
            </a:extLst>
          </p:cNvPr>
          <p:cNvSpPr/>
          <p:nvPr/>
        </p:nvSpPr>
        <p:spPr>
          <a:xfrm rot="2790000" flipH="1" flipV="1">
            <a:off x="16260789" y="-5766650"/>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 name="ZoneTexte 1">
            <a:extLst>
              <a:ext uri="{FF2B5EF4-FFF2-40B4-BE49-F238E27FC236}">
                <a16:creationId xmlns:a16="http://schemas.microsoft.com/office/drawing/2014/main" id="{26774911-448D-1441-E5BC-C8D6B31862AC}"/>
              </a:ext>
            </a:extLst>
          </p:cNvPr>
          <p:cNvSpPr txBox="1"/>
          <p:nvPr/>
        </p:nvSpPr>
        <p:spPr>
          <a:xfrm>
            <a:off x="1828800" y="2579148"/>
            <a:ext cx="8077200" cy="646331"/>
          </a:xfrm>
          <a:prstGeom prst="rect">
            <a:avLst/>
          </a:prstGeom>
          <a:noFill/>
        </p:spPr>
        <p:txBody>
          <a:bodyPr wrap="square" rtlCol="0">
            <a:spAutoFit/>
          </a:bodyPr>
          <a:lstStyle/>
          <a:p>
            <a:r>
              <a:rPr lang="fr-FR" sz="3600" b="1" dirty="0">
                <a:solidFill>
                  <a:schemeClr val="tx2">
                    <a:lumMod val="75000"/>
                  </a:schemeClr>
                </a:solidFill>
              </a:rPr>
              <a:t>5.AddRoundKey (clé initiale) :</a:t>
            </a:r>
          </a:p>
        </p:txBody>
      </p:sp>
      <p:sp>
        <p:nvSpPr>
          <p:cNvPr id="3" name="TextBox 3">
            <a:extLst>
              <a:ext uri="{FF2B5EF4-FFF2-40B4-BE49-F238E27FC236}">
                <a16:creationId xmlns:a16="http://schemas.microsoft.com/office/drawing/2014/main" id="{85B98B23-C220-9471-B1E7-BD738B6CCFBB}"/>
              </a:ext>
            </a:extLst>
          </p:cNvPr>
          <p:cNvSpPr txBox="1"/>
          <p:nvPr/>
        </p:nvSpPr>
        <p:spPr>
          <a:xfrm>
            <a:off x="4267200" y="897478"/>
            <a:ext cx="11930153" cy="945580"/>
          </a:xfrm>
          <a:prstGeom prst="rect">
            <a:avLst/>
          </a:prstGeom>
        </p:spPr>
        <p:txBody>
          <a:bodyPr lIns="0" tIns="0" rIns="0" bIns="0" rtlCol="0" anchor="t">
            <a:spAutoFit/>
          </a:bodyPr>
          <a:lstStyle/>
          <a:p>
            <a:pPr algn="l">
              <a:lnSpc>
                <a:spcPts val="7150"/>
              </a:lnSpc>
            </a:pPr>
            <a:r>
              <a:rPr lang="fr-FR" sz="6600" b="1" dirty="0">
                <a:solidFill>
                  <a:schemeClr val="tx2">
                    <a:lumMod val="75000"/>
                  </a:schemeClr>
                </a:solidFill>
              </a:rPr>
              <a:t>Déchiffrement  (AES-128)</a:t>
            </a:r>
            <a:endParaRPr lang="en-US" sz="6500" b="1" dirty="0">
              <a:solidFill>
                <a:schemeClr val="tx2">
                  <a:lumMod val="75000"/>
                </a:schemeClr>
              </a:solidFill>
              <a:latin typeface="Nunito Sans Condensed Heavy"/>
              <a:ea typeface="Nunito Sans Condensed Heavy"/>
              <a:cs typeface="Nunito Sans Condensed Heavy"/>
              <a:sym typeface="Nunito Sans Condensed Heavy"/>
            </a:endParaRPr>
          </a:p>
        </p:txBody>
      </p:sp>
      <p:pic>
        <p:nvPicPr>
          <p:cNvPr id="5" name="Image 4">
            <a:extLst>
              <a:ext uri="{FF2B5EF4-FFF2-40B4-BE49-F238E27FC236}">
                <a16:creationId xmlns:a16="http://schemas.microsoft.com/office/drawing/2014/main" id="{E864CDB8-9267-495D-C233-5546DFF8B5EB}"/>
              </a:ext>
            </a:extLst>
          </p:cNvPr>
          <p:cNvPicPr>
            <a:picLocks noChangeAspect="1"/>
          </p:cNvPicPr>
          <p:nvPr/>
        </p:nvPicPr>
        <p:blipFill>
          <a:blip r:embed="rId8"/>
          <a:stretch>
            <a:fillRect/>
          </a:stretch>
        </p:blipFill>
        <p:spPr>
          <a:xfrm>
            <a:off x="2104139" y="4541518"/>
            <a:ext cx="3998642" cy="3707168"/>
          </a:xfrm>
          <a:prstGeom prst="rect">
            <a:avLst/>
          </a:prstGeom>
          <a:ln>
            <a:noFill/>
          </a:ln>
          <a:effectLst>
            <a:outerShdw blurRad="190500" algn="tl" rotWithShape="0">
              <a:srgbClr val="000000">
                <a:alpha val="70000"/>
              </a:srgbClr>
            </a:outerShdw>
          </a:effectLst>
        </p:spPr>
      </p:pic>
      <p:sp>
        <p:nvSpPr>
          <p:cNvPr id="6" name="ZoneTexte 5">
            <a:extLst>
              <a:ext uri="{FF2B5EF4-FFF2-40B4-BE49-F238E27FC236}">
                <a16:creationId xmlns:a16="http://schemas.microsoft.com/office/drawing/2014/main" id="{F1C0A680-429B-F3A7-9451-2C0654477098}"/>
              </a:ext>
            </a:extLst>
          </p:cNvPr>
          <p:cNvSpPr txBox="1"/>
          <p:nvPr/>
        </p:nvSpPr>
        <p:spPr>
          <a:xfrm>
            <a:off x="2594001" y="3791194"/>
            <a:ext cx="3465242" cy="1200329"/>
          </a:xfrm>
          <a:prstGeom prst="rect">
            <a:avLst/>
          </a:prstGeom>
          <a:noFill/>
        </p:spPr>
        <p:txBody>
          <a:bodyPr wrap="square" rtlCol="0">
            <a:spAutoFit/>
          </a:bodyPr>
          <a:lstStyle/>
          <a:p>
            <a:r>
              <a:rPr lang="fr-FR" sz="3600" dirty="0"/>
              <a:t>Clé initiale :</a:t>
            </a:r>
            <a:endParaRPr lang="en-US" sz="3600" dirty="0">
              <a:solidFill>
                <a:schemeClr val="tx2">
                  <a:lumMod val="75000"/>
                </a:schemeClr>
              </a:solidFill>
            </a:endParaRPr>
          </a:p>
          <a:p>
            <a:endParaRPr lang="en-US" sz="3600" dirty="0"/>
          </a:p>
        </p:txBody>
      </p:sp>
      <p:pic>
        <p:nvPicPr>
          <p:cNvPr id="10" name="Image 9">
            <a:extLst>
              <a:ext uri="{FF2B5EF4-FFF2-40B4-BE49-F238E27FC236}">
                <a16:creationId xmlns:a16="http://schemas.microsoft.com/office/drawing/2014/main" id="{F3DA2D3D-B362-5545-F9A4-C6BC6D86657F}"/>
              </a:ext>
            </a:extLst>
          </p:cNvPr>
          <p:cNvPicPr>
            <a:picLocks noChangeAspect="1"/>
          </p:cNvPicPr>
          <p:nvPr/>
        </p:nvPicPr>
        <p:blipFill>
          <a:blip r:embed="rId9"/>
          <a:stretch>
            <a:fillRect/>
          </a:stretch>
        </p:blipFill>
        <p:spPr>
          <a:xfrm>
            <a:off x="7619984" y="4586617"/>
            <a:ext cx="4257141" cy="3662069"/>
          </a:xfrm>
          <a:prstGeom prst="rect">
            <a:avLst/>
          </a:prstGeom>
          <a:ln>
            <a:noFill/>
          </a:ln>
          <a:effectLst>
            <a:outerShdw blurRad="190500" algn="tl" rotWithShape="0">
              <a:srgbClr val="000000">
                <a:alpha val="70000"/>
              </a:srgbClr>
            </a:outerShdw>
          </a:effectLst>
        </p:spPr>
      </p:pic>
      <p:sp>
        <p:nvSpPr>
          <p:cNvPr id="16" name="ZoneTexte 15">
            <a:extLst>
              <a:ext uri="{FF2B5EF4-FFF2-40B4-BE49-F238E27FC236}">
                <a16:creationId xmlns:a16="http://schemas.microsoft.com/office/drawing/2014/main" id="{08B9C0C4-180E-CE02-62FF-F9EF7C4E440A}"/>
              </a:ext>
            </a:extLst>
          </p:cNvPr>
          <p:cNvSpPr txBox="1"/>
          <p:nvPr/>
        </p:nvSpPr>
        <p:spPr>
          <a:xfrm>
            <a:off x="6252573" y="6041159"/>
            <a:ext cx="1371600" cy="707886"/>
          </a:xfrm>
          <a:prstGeom prst="rect">
            <a:avLst/>
          </a:prstGeom>
          <a:noFill/>
        </p:spPr>
        <p:txBody>
          <a:bodyPr wrap="square" rtlCol="0">
            <a:spAutoFit/>
          </a:bodyPr>
          <a:lstStyle/>
          <a:p>
            <a:r>
              <a:rPr lang="fr-FR" sz="4000" b="1" dirty="0"/>
              <a:t>XOR</a:t>
            </a:r>
            <a:endParaRPr lang="en-US" sz="4000" b="1" dirty="0"/>
          </a:p>
        </p:txBody>
      </p:sp>
      <p:sp>
        <p:nvSpPr>
          <p:cNvPr id="20" name="ZoneTexte 19">
            <a:extLst>
              <a:ext uri="{FF2B5EF4-FFF2-40B4-BE49-F238E27FC236}">
                <a16:creationId xmlns:a16="http://schemas.microsoft.com/office/drawing/2014/main" id="{87877B7F-F0FD-DECC-8867-858F28790D8A}"/>
              </a:ext>
            </a:extLst>
          </p:cNvPr>
          <p:cNvSpPr txBox="1"/>
          <p:nvPr/>
        </p:nvSpPr>
        <p:spPr>
          <a:xfrm>
            <a:off x="11992233" y="5933437"/>
            <a:ext cx="1371600" cy="923330"/>
          </a:xfrm>
          <a:prstGeom prst="rect">
            <a:avLst/>
          </a:prstGeom>
          <a:noFill/>
        </p:spPr>
        <p:txBody>
          <a:bodyPr wrap="square" rtlCol="0">
            <a:spAutoFit/>
          </a:bodyPr>
          <a:lstStyle/>
          <a:p>
            <a:r>
              <a:rPr lang="fr-FR" sz="5400" b="1" dirty="0"/>
              <a:t>=</a:t>
            </a:r>
            <a:endParaRPr lang="en-US" sz="5400" b="1" dirty="0"/>
          </a:p>
        </p:txBody>
      </p:sp>
      <p:pic>
        <p:nvPicPr>
          <p:cNvPr id="22" name="Image 21">
            <a:extLst>
              <a:ext uri="{FF2B5EF4-FFF2-40B4-BE49-F238E27FC236}">
                <a16:creationId xmlns:a16="http://schemas.microsoft.com/office/drawing/2014/main" id="{FFD44C65-1205-B19B-308E-F2301051A57B}"/>
              </a:ext>
            </a:extLst>
          </p:cNvPr>
          <p:cNvPicPr>
            <a:picLocks noChangeAspect="1"/>
          </p:cNvPicPr>
          <p:nvPr/>
        </p:nvPicPr>
        <p:blipFill>
          <a:blip r:embed="rId10"/>
          <a:stretch>
            <a:fillRect/>
          </a:stretch>
        </p:blipFill>
        <p:spPr>
          <a:xfrm>
            <a:off x="12837654" y="4541518"/>
            <a:ext cx="3850146" cy="37522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25444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A0458-018E-71FA-564C-8D61A9B032D3}"/>
            </a:ext>
          </a:extLst>
        </p:cNvPr>
        <p:cNvGrpSpPr/>
        <p:nvPr/>
      </p:nvGrpSpPr>
      <p:grpSpPr>
        <a:xfrm>
          <a:off x="0" y="0"/>
          <a:ext cx="0" cy="0"/>
          <a:chOff x="0" y="0"/>
          <a:chExt cx="0" cy="0"/>
        </a:xfrm>
      </p:grpSpPr>
      <p:pic>
        <p:nvPicPr>
          <p:cNvPr id="5122" name="Picture 2" descr="conception de vecteur de bannière de dossier avec un mot de passe et la  sécurité du">
            <a:extLst>
              <a:ext uri="{FF2B5EF4-FFF2-40B4-BE49-F238E27FC236}">
                <a16:creationId xmlns:a16="http://schemas.microsoft.com/office/drawing/2014/main" id="{73A23514-233F-1ABD-2C07-5792EFB152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304" y="2786570"/>
            <a:ext cx="7234096" cy="692893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2">
            <a:extLst>
              <a:ext uri="{FF2B5EF4-FFF2-40B4-BE49-F238E27FC236}">
                <a16:creationId xmlns:a16="http://schemas.microsoft.com/office/drawing/2014/main" id="{5CEBF98B-F928-C09D-3830-9A56BE26438E}"/>
              </a:ext>
            </a:extLst>
          </p:cNvPr>
          <p:cNvGrpSpPr/>
          <p:nvPr/>
        </p:nvGrpSpPr>
        <p:grpSpPr>
          <a:xfrm>
            <a:off x="6934200" y="3216277"/>
            <a:ext cx="10686586" cy="5949003"/>
            <a:chOff x="0" y="0"/>
            <a:chExt cx="2804962" cy="1408030"/>
          </a:xfrm>
        </p:grpSpPr>
        <p:sp>
          <p:nvSpPr>
            <p:cNvPr id="3" name="Freeform 3">
              <a:extLst>
                <a:ext uri="{FF2B5EF4-FFF2-40B4-BE49-F238E27FC236}">
                  <a16:creationId xmlns:a16="http://schemas.microsoft.com/office/drawing/2014/main" id="{6B78776B-1B59-5E9D-D156-CCBEE991D1CD}"/>
                </a:ext>
              </a:extLst>
            </p:cNvPr>
            <p:cNvSpPr/>
            <p:nvPr/>
          </p:nvSpPr>
          <p:spPr>
            <a:xfrm>
              <a:off x="0" y="0"/>
              <a:ext cx="2804962" cy="1408030"/>
            </a:xfrm>
            <a:custGeom>
              <a:avLst/>
              <a:gdLst/>
              <a:ahLst/>
              <a:cxnLst/>
              <a:rect l="l" t="t" r="r" b="b"/>
              <a:pathLst>
                <a:path w="2804962" h="1408030">
                  <a:moveTo>
                    <a:pt x="65327" y="0"/>
                  </a:moveTo>
                  <a:lnTo>
                    <a:pt x="2739635" y="0"/>
                  </a:lnTo>
                  <a:cubicBezTo>
                    <a:pt x="2775714" y="0"/>
                    <a:pt x="2804962" y="29248"/>
                    <a:pt x="2804962" y="65327"/>
                  </a:cubicBezTo>
                  <a:lnTo>
                    <a:pt x="2804962" y="1342703"/>
                  </a:lnTo>
                  <a:cubicBezTo>
                    <a:pt x="2804962" y="1378782"/>
                    <a:pt x="2775714" y="1408030"/>
                    <a:pt x="2739635" y="1408030"/>
                  </a:cubicBezTo>
                  <a:lnTo>
                    <a:pt x="65327" y="1408030"/>
                  </a:lnTo>
                  <a:cubicBezTo>
                    <a:pt x="29248" y="1408030"/>
                    <a:pt x="0" y="1378782"/>
                    <a:pt x="0" y="1342703"/>
                  </a:cubicBezTo>
                  <a:lnTo>
                    <a:pt x="0" y="65327"/>
                  </a:lnTo>
                  <a:cubicBezTo>
                    <a:pt x="0" y="29248"/>
                    <a:pt x="29248" y="0"/>
                    <a:pt x="65327" y="0"/>
                  </a:cubicBezTo>
                  <a:close/>
                </a:path>
              </a:pathLst>
            </a:custGeom>
            <a:solidFill>
              <a:srgbClr val="193967"/>
            </a:solidFill>
          </p:spPr>
        </p:sp>
        <p:sp>
          <p:nvSpPr>
            <p:cNvPr id="4" name="TextBox 4">
              <a:extLst>
                <a:ext uri="{FF2B5EF4-FFF2-40B4-BE49-F238E27FC236}">
                  <a16:creationId xmlns:a16="http://schemas.microsoft.com/office/drawing/2014/main" id="{707C6684-BECF-CFC3-4D55-E52283ACD651}"/>
                </a:ext>
              </a:extLst>
            </p:cNvPr>
            <p:cNvSpPr txBox="1"/>
            <p:nvPr/>
          </p:nvSpPr>
          <p:spPr>
            <a:xfrm>
              <a:off x="0" y="-38100"/>
              <a:ext cx="2804962" cy="1446130"/>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E30C84A1-3BE6-EA55-A317-20620ED8D867}"/>
              </a:ext>
            </a:extLst>
          </p:cNvPr>
          <p:cNvGrpSpPr/>
          <p:nvPr/>
        </p:nvGrpSpPr>
        <p:grpSpPr>
          <a:xfrm>
            <a:off x="6309889" y="3216277"/>
            <a:ext cx="11195631" cy="5949003"/>
            <a:chOff x="0" y="0"/>
            <a:chExt cx="2825135" cy="1408030"/>
          </a:xfrm>
        </p:grpSpPr>
        <p:sp>
          <p:nvSpPr>
            <p:cNvPr id="6" name="Freeform 6">
              <a:extLst>
                <a:ext uri="{FF2B5EF4-FFF2-40B4-BE49-F238E27FC236}">
                  <a16:creationId xmlns:a16="http://schemas.microsoft.com/office/drawing/2014/main" id="{84B6CF25-4FEA-EB11-80A5-CA8C887229F3}"/>
                </a:ext>
              </a:extLst>
            </p:cNvPr>
            <p:cNvSpPr/>
            <p:nvPr/>
          </p:nvSpPr>
          <p:spPr>
            <a:xfrm>
              <a:off x="0" y="0"/>
              <a:ext cx="2825135" cy="1408030"/>
            </a:xfrm>
            <a:custGeom>
              <a:avLst/>
              <a:gdLst/>
              <a:ahLst/>
              <a:cxnLst/>
              <a:rect l="l" t="t" r="r" b="b"/>
              <a:pathLst>
                <a:path w="2825135" h="1408030">
                  <a:moveTo>
                    <a:pt x="64860" y="0"/>
                  </a:moveTo>
                  <a:lnTo>
                    <a:pt x="2760275" y="0"/>
                  </a:lnTo>
                  <a:cubicBezTo>
                    <a:pt x="2796096" y="0"/>
                    <a:pt x="2825135" y="29039"/>
                    <a:pt x="2825135" y="64860"/>
                  </a:cubicBezTo>
                  <a:lnTo>
                    <a:pt x="2825135" y="1343170"/>
                  </a:lnTo>
                  <a:cubicBezTo>
                    <a:pt x="2825135" y="1360372"/>
                    <a:pt x="2818301" y="1376869"/>
                    <a:pt x="2806138" y="1389033"/>
                  </a:cubicBezTo>
                  <a:cubicBezTo>
                    <a:pt x="2793974" y="1401197"/>
                    <a:pt x="2777477" y="1408030"/>
                    <a:pt x="2760275" y="1408030"/>
                  </a:cubicBezTo>
                  <a:lnTo>
                    <a:pt x="64860" y="1408030"/>
                  </a:lnTo>
                  <a:cubicBezTo>
                    <a:pt x="29039" y="1408030"/>
                    <a:pt x="0" y="1378991"/>
                    <a:pt x="0" y="1343170"/>
                  </a:cubicBezTo>
                  <a:lnTo>
                    <a:pt x="0" y="64860"/>
                  </a:lnTo>
                  <a:cubicBezTo>
                    <a:pt x="0" y="47658"/>
                    <a:pt x="6833" y="31161"/>
                    <a:pt x="18997" y="18997"/>
                  </a:cubicBezTo>
                  <a:cubicBezTo>
                    <a:pt x="31161" y="6833"/>
                    <a:pt x="47658" y="0"/>
                    <a:pt x="64860" y="0"/>
                  </a:cubicBezTo>
                  <a:close/>
                </a:path>
              </a:pathLst>
            </a:custGeom>
            <a:solidFill>
              <a:srgbClr val="E0E8FD"/>
            </a:solidFill>
          </p:spPr>
        </p:sp>
        <p:sp>
          <p:nvSpPr>
            <p:cNvPr id="7" name="TextBox 7">
              <a:extLst>
                <a:ext uri="{FF2B5EF4-FFF2-40B4-BE49-F238E27FC236}">
                  <a16:creationId xmlns:a16="http://schemas.microsoft.com/office/drawing/2014/main" id="{CA4F4A57-1EF1-FB25-EC04-158EE7EA7572}"/>
                </a:ext>
              </a:extLst>
            </p:cNvPr>
            <p:cNvSpPr txBox="1"/>
            <p:nvPr/>
          </p:nvSpPr>
          <p:spPr>
            <a:xfrm>
              <a:off x="0" y="-38100"/>
              <a:ext cx="2825135" cy="1446130"/>
            </a:xfrm>
            <a:prstGeom prst="rect">
              <a:avLst/>
            </a:prstGeom>
          </p:spPr>
          <p:txBody>
            <a:bodyPr lIns="50800" tIns="50800" rIns="50800" bIns="50800" rtlCol="0" anchor="ctr"/>
            <a:lstStyle/>
            <a:p>
              <a:pPr algn="ctr">
                <a:lnSpc>
                  <a:spcPts val="2659"/>
                </a:lnSpc>
              </a:pPr>
              <a:endParaRPr/>
            </a:p>
          </p:txBody>
        </p:sp>
      </p:grpSp>
      <p:sp>
        <p:nvSpPr>
          <p:cNvPr id="9" name="Freeform 9">
            <a:extLst>
              <a:ext uri="{FF2B5EF4-FFF2-40B4-BE49-F238E27FC236}">
                <a16:creationId xmlns:a16="http://schemas.microsoft.com/office/drawing/2014/main" id="{5236986C-3BFA-686C-F4E8-6E3F211B019B}"/>
              </a:ext>
            </a:extLst>
          </p:cNvPr>
          <p:cNvSpPr/>
          <p:nvPr/>
        </p:nvSpPr>
        <p:spPr>
          <a:xfrm flipH="1">
            <a:off x="3763725" y="1766953"/>
            <a:ext cx="1190752" cy="912272"/>
          </a:xfrm>
          <a:custGeom>
            <a:avLst/>
            <a:gdLst/>
            <a:ahLst/>
            <a:cxnLst/>
            <a:rect l="l" t="t" r="r" b="b"/>
            <a:pathLst>
              <a:path w="1190752" h="912272">
                <a:moveTo>
                  <a:pt x="1190751" y="0"/>
                </a:moveTo>
                <a:lnTo>
                  <a:pt x="0" y="0"/>
                </a:lnTo>
                <a:lnTo>
                  <a:pt x="0" y="912272"/>
                </a:lnTo>
                <a:lnTo>
                  <a:pt x="1190751" y="912272"/>
                </a:lnTo>
                <a:lnTo>
                  <a:pt x="1190751"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a:extLst>
              <a:ext uri="{FF2B5EF4-FFF2-40B4-BE49-F238E27FC236}">
                <a16:creationId xmlns:a16="http://schemas.microsoft.com/office/drawing/2014/main" id="{E9D7157C-98AE-62E1-88A1-8DBE13663005}"/>
              </a:ext>
            </a:extLst>
          </p:cNvPr>
          <p:cNvSpPr txBox="1"/>
          <p:nvPr/>
        </p:nvSpPr>
        <p:spPr>
          <a:xfrm>
            <a:off x="4993549" y="1737180"/>
            <a:ext cx="11609170" cy="958917"/>
          </a:xfrm>
          <a:prstGeom prst="rect">
            <a:avLst/>
          </a:prstGeom>
        </p:spPr>
        <p:txBody>
          <a:bodyPr lIns="0" tIns="0" rIns="0" bIns="0" rtlCol="0" anchor="t">
            <a:spAutoFit/>
          </a:bodyPr>
          <a:lstStyle/>
          <a:p>
            <a:pPr algn="r">
              <a:lnSpc>
                <a:spcPts val="7344"/>
              </a:lnSpc>
            </a:pPr>
            <a:r>
              <a:rPr lang="en-US" sz="6676" b="1" dirty="0">
                <a:solidFill>
                  <a:srgbClr val="193967"/>
                </a:solidFill>
                <a:latin typeface="Nunito Sans Condensed Heavy"/>
                <a:ea typeface="Nunito Sans Condensed Heavy"/>
                <a:cs typeface="Nunito Sans Condensed Heavy"/>
                <a:sym typeface="Nunito Sans Condensed Heavy"/>
              </a:rPr>
              <a:t>CONCLUSION</a:t>
            </a:r>
          </a:p>
        </p:txBody>
      </p:sp>
      <p:sp>
        <p:nvSpPr>
          <p:cNvPr id="12" name="Freeform 12">
            <a:extLst>
              <a:ext uri="{FF2B5EF4-FFF2-40B4-BE49-F238E27FC236}">
                <a16:creationId xmlns:a16="http://schemas.microsoft.com/office/drawing/2014/main" id="{F39E3438-A430-53BF-5F3A-D23BECC07989}"/>
              </a:ext>
            </a:extLst>
          </p:cNvPr>
          <p:cNvSpPr/>
          <p:nvPr/>
        </p:nvSpPr>
        <p:spPr>
          <a:xfrm rot="-2791948" flipV="1">
            <a:off x="-7546784" y="-4871470"/>
            <a:ext cx="11961199" cy="9742940"/>
          </a:xfrm>
          <a:custGeom>
            <a:avLst/>
            <a:gdLst/>
            <a:ahLst/>
            <a:cxnLst/>
            <a:rect l="l" t="t" r="r" b="b"/>
            <a:pathLst>
              <a:path w="11961199" h="9742940">
                <a:moveTo>
                  <a:pt x="0" y="9742940"/>
                </a:moveTo>
                <a:lnTo>
                  <a:pt x="11961199" y="9742940"/>
                </a:lnTo>
                <a:lnTo>
                  <a:pt x="11961199" y="0"/>
                </a:lnTo>
                <a:lnTo>
                  <a:pt x="0" y="0"/>
                </a:lnTo>
                <a:lnTo>
                  <a:pt x="0" y="974294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a:extLst>
              <a:ext uri="{FF2B5EF4-FFF2-40B4-BE49-F238E27FC236}">
                <a16:creationId xmlns:a16="http://schemas.microsoft.com/office/drawing/2014/main" id="{EC034B18-2F41-AF8A-FCD2-F96E036864AB}"/>
              </a:ext>
            </a:extLst>
          </p:cNvPr>
          <p:cNvSpPr/>
          <p:nvPr/>
        </p:nvSpPr>
        <p:spPr>
          <a:xfrm rot="-2791948" flipV="1">
            <a:off x="-7773004" y="-5294968"/>
            <a:ext cx="11961199" cy="9742940"/>
          </a:xfrm>
          <a:custGeom>
            <a:avLst/>
            <a:gdLst/>
            <a:ahLst/>
            <a:cxnLst/>
            <a:rect l="l" t="t" r="r" b="b"/>
            <a:pathLst>
              <a:path w="11961199" h="9742940">
                <a:moveTo>
                  <a:pt x="0" y="9742941"/>
                </a:moveTo>
                <a:lnTo>
                  <a:pt x="11961200" y="9742941"/>
                </a:lnTo>
                <a:lnTo>
                  <a:pt x="11961200" y="0"/>
                </a:lnTo>
                <a:lnTo>
                  <a:pt x="0" y="0"/>
                </a:lnTo>
                <a:lnTo>
                  <a:pt x="0" y="9742941"/>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a:extLst>
              <a:ext uri="{FF2B5EF4-FFF2-40B4-BE49-F238E27FC236}">
                <a16:creationId xmlns:a16="http://schemas.microsoft.com/office/drawing/2014/main" id="{CB756998-98FD-1A9A-9073-904D1FCA8A9E}"/>
              </a:ext>
            </a:extLst>
          </p:cNvPr>
          <p:cNvSpPr/>
          <p:nvPr/>
        </p:nvSpPr>
        <p:spPr>
          <a:xfrm rot="2790000" flipH="1" flipV="1">
            <a:off x="15592988" y="8145864"/>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Freeform 15">
            <a:extLst>
              <a:ext uri="{FF2B5EF4-FFF2-40B4-BE49-F238E27FC236}">
                <a16:creationId xmlns:a16="http://schemas.microsoft.com/office/drawing/2014/main" id="{713DD05D-BF44-D854-5FF0-90979ECE056E}"/>
              </a:ext>
            </a:extLst>
          </p:cNvPr>
          <p:cNvSpPr/>
          <p:nvPr/>
        </p:nvSpPr>
        <p:spPr>
          <a:xfrm rot="2790000" flipH="1" flipV="1">
            <a:off x="16260789" y="-5766650"/>
            <a:ext cx="11961199" cy="9742940"/>
          </a:xfrm>
          <a:custGeom>
            <a:avLst/>
            <a:gdLst/>
            <a:ahLst/>
            <a:cxnLst/>
            <a:rect l="l" t="t" r="r" b="b"/>
            <a:pathLst>
              <a:path w="11961199" h="9742940">
                <a:moveTo>
                  <a:pt x="11961199" y="9742940"/>
                </a:moveTo>
                <a:lnTo>
                  <a:pt x="0" y="9742940"/>
                </a:lnTo>
                <a:lnTo>
                  <a:pt x="0" y="0"/>
                </a:lnTo>
                <a:lnTo>
                  <a:pt x="11961199" y="0"/>
                </a:lnTo>
                <a:lnTo>
                  <a:pt x="11961199" y="974294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Rectangle 4">
            <a:extLst>
              <a:ext uri="{FF2B5EF4-FFF2-40B4-BE49-F238E27FC236}">
                <a16:creationId xmlns:a16="http://schemas.microsoft.com/office/drawing/2014/main" id="{C606E39C-84A5-AD97-48F3-AC0F81D684D6}"/>
              </a:ext>
            </a:extLst>
          </p:cNvPr>
          <p:cNvSpPr>
            <a:spLocks noChangeArrowheads="1"/>
          </p:cNvSpPr>
          <p:nvPr/>
        </p:nvSpPr>
        <p:spPr bwMode="auto">
          <a:xfrm rot="10800000" flipV="1">
            <a:off x="6525250" y="4094354"/>
            <a:ext cx="11419984"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3200" b="1" i="0" u="none" strike="noStrike" cap="none" normalizeH="0" baseline="0" dirty="0">
                <a:ln>
                  <a:noFill/>
                </a:ln>
                <a:solidFill>
                  <a:schemeClr val="tx1"/>
                </a:solidFill>
                <a:effectLst/>
                <a:latin typeface="Arial" panose="020B0604020202020204" pitchFamily="34" charset="0"/>
              </a:rPr>
              <a:t>AES = méthode de chiffrement symétrique</a:t>
            </a:r>
            <a:r>
              <a:rPr kumimoji="0" lang="fr-FR" altLang="fr-FR" sz="3200" b="0" i="0" u="none" strike="noStrike" cap="none" normalizeH="0" baseline="0" dirty="0">
                <a:ln>
                  <a:noFill/>
                </a:ln>
                <a:solidFill>
                  <a:schemeClr val="tx1"/>
                </a:solidFill>
                <a:effectLst/>
                <a:latin typeface="Arial" panose="020B0604020202020204" pitchFamily="34" charset="0"/>
              </a:rPr>
              <a:t> sécurisée et rapide.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3200" b="0" i="0" u="none" strike="noStrike" cap="none" normalizeH="0" baseline="0" dirty="0">
                <a:ln>
                  <a:noFill/>
                </a:ln>
                <a:solidFill>
                  <a:schemeClr val="tx1"/>
                </a:solidFill>
                <a:effectLst/>
                <a:latin typeface="Arial" panose="020B0604020202020204" pitchFamily="34" charset="0"/>
              </a:rPr>
              <a:t>Utilise des </a:t>
            </a:r>
            <a:r>
              <a:rPr kumimoji="0" lang="fr-FR" altLang="fr-FR" sz="3200" b="1" i="0" u="none" strike="noStrike" cap="none" normalizeH="0" baseline="0" dirty="0">
                <a:ln>
                  <a:noFill/>
                </a:ln>
                <a:solidFill>
                  <a:schemeClr val="tx1"/>
                </a:solidFill>
                <a:effectLst/>
                <a:latin typeface="Arial" panose="020B0604020202020204" pitchFamily="34" charset="0"/>
              </a:rPr>
              <a:t>clés de 128, 192 ou 256 bits</a:t>
            </a:r>
            <a:r>
              <a:rPr kumimoji="0" lang="fr-FR" altLang="fr-FR"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3200" b="0" i="0" u="none" strike="noStrike" cap="none" normalizeH="0" baseline="0" dirty="0">
                <a:ln>
                  <a:noFill/>
                </a:ln>
                <a:solidFill>
                  <a:schemeClr val="tx1"/>
                </a:solidFill>
                <a:effectLst/>
                <a:latin typeface="Arial" panose="020B0604020202020204" pitchFamily="34" charset="0"/>
              </a:rPr>
              <a:t>Fonctionne avec plusieurs </a:t>
            </a:r>
            <a:r>
              <a:rPr kumimoji="0" lang="fr-FR" altLang="fr-FR" sz="3200" b="1" i="0" u="none" strike="noStrike" cap="none" normalizeH="0" baseline="0" dirty="0">
                <a:ln>
                  <a:noFill/>
                </a:ln>
                <a:solidFill>
                  <a:schemeClr val="tx1"/>
                </a:solidFill>
                <a:effectLst/>
                <a:latin typeface="Arial" panose="020B0604020202020204" pitchFamily="34" charset="0"/>
              </a:rPr>
              <a:t>tours de transformation</a:t>
            </a:r>
            <a:r>
              <a:rPr kumimoji="0" lang="fr-FR" altLang="fr-FR" sz="3200" b="0" i="0" u="none" strike="noStrike" cap="none" normalizeH="0" baseline="0" dirty="0">
                <a:ln>
                  <a:noFill/>
                </a:ln>
                <a:solidFill>
                  <a:schemeClr val="tx1"/>
                </a:solidFill>
                <a:effectLst/>
                <a:latin typeface="Arial" panose="020B0604020202020204" pitchFamily="34" charset="0"/>
              </a:rPr>
              <a:t> (</a:t>
            </a:r>
            <a:r>
              <a:rPr kumimoji="0" lang="fr-FR" altLang="fr-FR" sz="3200" b="0" i="0" u="none" strike="noStrike" cap="none" normalizeH="0" baseline="0" dirty="0" err="1">
                <a:ln>
                  <a:noFill/>
                </a:ln>
                <a:solidFill>
                  <a:schemeClr val="tx1"/>
                </a:solidFill>
                <a:effectLst/>
                <a:latin typeface="Arial" panose="020B0604020202020204" pitchFamily="34" charset="0"/>
              </a:rPr>
              <a:t>SubBytes</a:t>
            </a:r>
            <a:r>
              <a:rPr kumimoji="0" lang="fr-FR" altLang="fr-FR" sz="3200" b="0" i="0" u="none" strike="noStrike" cap="none" normalizeH="0" baseline="0" dirty="0">
                <a:ln>
                  <a:noFill/>
                </a:ln>
                <a:solidFill>
                  <a:schemeClr val="tx1"/>
                </a:solidFill>
                <a:effectLst/>
                <a:latin typeface="Arial" panose="020B0604020202020204" pitchFamily="34" charset="0"/>
              </a:rPr>
              <a:t>, </a:t>
            </a:r>
            <a:r>
              <a:rPr kumimoji="0" lang="fr-FR" altLang="fr-FR" sz="3200" b="0" i="0" u="none" strike="noStrike" cap="none" normalizeH="0" baseline="0" dirty="0" err="1">
                <a:ln>
                  <a:noFill/>
                </a:ln>
                <a:solidFill>
                  <a:schemeClr val="tx1"/>
                </a:solidFill>
                <a:effectLst/>
                <a:latin typeface="Arial" panose="020B0604020202020204" pitchFamily="34" charset="0"/>
              </a:rPr>
              <a:t>ShiftRows</a:t>
            </a:r>
            <a:r>
              <a:rPr kumimoji="0" lang="fr-FR" altLang="fr-FR" sz="3200" b="0" i="0" u="none" strike="noStrike" cap="none" normalizeH="0" baseline="0" dirty="0">
                <a:ln>
                  <a:noFill/>
                </a:ln>
                <a:solidFill>
                  <a:schemeClr val="tx1"/>
                </a:solidFill>
                <a:effectLst/>
                <a:latin typeface="Arial" panose="020B0604020202020204" pitchFamily="34" charset="0"/>
              </a:rPr>
              <a:t>, </a:t>
            </a:r>
            <a:r>
              <a:rPr kumimoji="0" lang="fr-FR" altLang="fr-FR" sz="3200" b="0" i="0" u="none" strike="noStrike" cap="none" normalizeH="0" baseline="0" dirty="0" err="1">
                <a:ln>
                  <a:noFill/>
                </a:ln>
                <a:solidFill>
                  <a:schemeClr val="tx1"/>
                </a:solidFill>
                <a:effectLst/>
                <a:latin typeface="Arial" panose="020B0604020202020204" pitchFamily="34" charset="0"/>
              </a:rPr>
              <a:t>MixColumns</a:t>
            </a:r>
            <a:r>
              <a:rPr kumimoji="0" lang="fr-FR" altLang="fr-FR" sz="3200" b="0" i="0" u="none" strike="noStrike" cap="none" normalizeH="0" baseline="0" dirty="0">
                <a:ln>
                  <a:noFill/>
                </a:ln>
                <a:solidFill>
                  <a:schemeClr val="tx1"/>
                </a:solidFill>
                <a:effectLst/>
                <a:latin typeface="Arial" panose="020B0604020202020204" pitchFamily="34" charset="0"/>
              </a:rPr>
              <a:t>, </a:t>
            </a:r>
            <a:r>
              <a:rPr kumimoji="0" lang="fr-FR" altLang="fr-FR" sz="3200" b="0" i="0" u="none" strike="noStrike" cap="none" normalizeH="0" baseline="0" dirty="0" err="1">
                <a:ln>
                  <a:noFill/>
                </a:ln>
                <a:solidFill>
                  <a:schemeClr val="tx1"/>
                </a:solidFill>
                <a:effectLst/>
                <a:latin typeface="Arial" panose="020B0604020202020204" pitchFamily="34" charset="0"/>
              </a:rPr>
              <a:t>AddRoundKey</a:t>
            </a:r>
            <a:r>
              <a:rPr kumimoji="0" lang="fr-FR" altLang="fr-FR"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3200" b="0" i="0" u="none" strike="noStrike" cap="none" normalizeH="0" baseline="0" dirty="0">
                <a:ln>
                  <a:noFill/>
                </a:ln>
                <a:solidFill>
                  <a:schemeClr val="tx1"/>
                </a:solidFill>
                <a:effectLst/>
                <a:latin typeface="Arial" panose="020B0604020202020204" pitchFamily="34" charset="0"/>
              </a:rPr>
              <a:t>Utilisé dans la </a:t>
            </a:r>
            <a:r>
              <a:rPr kumimoji="0" lang="fr-FR" altLang="fr-FR" sz="3200" b="1" i="0" u="none" strike="noStrike" cap="none" normalizeH="0" baseline="0" dirty="0">
                <a:ln>
                  <a:noFill/>
                </a:ln>
                <a:solidFill>
                  <a:schemeClr val="tx1"/>
                </a:solidFill>
                <a:effectLst/>
                <a:latin typeface="Arial" panose="020B0604020202020204" pitchFamily="34" charset="0"/>
              </a:rPr>
              <a:t>sécurité des données</a:t>
            </a:r>
            <a:r>
              <a:rPr kumimoji="0" lang="fr-FR" altLang="fr-FR" sz="3200" b="0" i="0" u="none" strike="noStrike" cap="none" normalizeH="0" baseline="0" dirty="0">
                <a:ln>
                  <a:noFill/>
                </a:ln>
                <a:solidFill>
                  <a:schemeClr val="tx1"/>
                </a:solidFill>
                <a:effectLst/>
                <a:latin typeface="Arial" panose="020B0604020202020204" pitchFamily="34" charset="0"/>
              </a:rPr>
              <a:t> (banques, réseaux, fichiers,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3200" b="0" i="0" u="none" strike="noStrike" cap="none" normalizeH="0" baseline="0" dirty="0">
                <a:ln>
                  <a:noFill/>
                </a:ln>
                <a:solidFill>
                  <a:schemeClr val="tx1"/>
                </a:solidFill>
                <a:effectLst/>
                <a:latin typeface="Arial" panose="020B0604020202020204" pitchFamily="34" charset="0"/>
              </a:rPr>
              <a:t>Protège efficacement contre les attaques modernes.</a:t>
            </a:r>
          </a:p>
        </p:txBody>
      </p:sp>
    </p:spTree>
    <p:extLst>
      <p:ext uri="{BB962C8B-B14F-4D97-AF65-F5344CB8AC3E}">
        <p14:creationId xmlns:p14="http://schemas.microsoft.com/office/powerpoint/2010/main" val="23334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llustration globale du concept de sécurité des données | Vecteur Premium">
            <a:extLst>
              <a:ext uri="{FF2B5EF4-FFF2-40B4-BE49-F238E27FC236}">
                <a16:creationId xmlns:a16="http://schemas.microsoft.com/office/drawing/2014/main" id="{89D60B82-3414-506F-7071-7EF8D0368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5407" y="924425"/>
            <a:ext cx="11585615" cy="9272194"/>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2"/>
          <p:cNvSpPr/>
          <p:nvPr/>
        </p:nvSpPr>
        <p:spPr>
          <a:xfrm>
            <a:off x="10183262" y="-4293510"/>
            <a:ext cx="11585615" cy="9437010"/>
          </a:xfrm>
          <a:custGeom>
            <a:avLst/>
            <a:gdLst/>
            <a:ahLst/>
            <a:cxnLst/>
            <a:rect l="l" t="t" r="r" b="b"/>
            <a:pathLst>
              <a:path w="11585615" h="9437010">
                <a:moveTo>
                  <a:pt x="0" y="0"/>
                </a:moveTo>
                <a:lnTo>
                  <a:pt x="11585615" y="0"/>
                </a:lnTo>
                <a:lnTo>
                  <a:pt x="11585615" y="9437010"/>
                </a:lnTo>
                <a:lnTo>
                  <a:pt x="0" y="9437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343400" y="4877578"/>
            <a:ext cx="10191557" cy="8301486"/>
          </a:xfrm>
          <a:custGeom>
            <a:avLst/>
            <a:gdLst/>
            <a:ahLst/>
            <a:cxnLst/>
            <a:rect l="l" t="t" r="r" b="b"/>
            <a:pathLst>
              <a:path w="10191557" h="8301486">
                <a:moveTo>
                  <a:pt x="0" y="0"/>
                </a:moveTo>
                <a:lnTo>
                  <a:pt x="10191557" y="0"/>
                </a:lnTo>
                <a:lnTo>
                  <a:pt x="10191557" y="8301486"/>
                </a:lnTo>
                <a:lnTo>
                  <a:pt x="0" y="83014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2733860" y="4770842"/>
            <a:ext cx="1460185" cy="1118694"/>
          </a:xfrm>
          <a:custGeom>
            <a:avLst/>
            <a:gdLst/>
            <a:ahLst/>
            <a:cxnLst/>
            <a:rect l="l" t="t" r="r" b="b"/>
            <a:pathLst>
              <a:path w="1460185" h="1118694">
                <a:moveTo>
                  <a:pt x="0" y="0"/>
                </a:moveTo>
                <a:lnTo>
                  <a:pt x="1460185" y="0"/>
                </a:lnTo>
                <a:lnTo>
                  <a:pt x="1460185" y="1118694"/>
                </a:lnTo>
                <a:lnTo>
                  <a:pt x="0" y="11186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7" name="Freeform 17"/>
          <p:cNvSpPr/>
          <p:nvPr/>
        </p:nvSpPr>
        <p:spPr>
          <a:xfrm>
            <a:off x="4006978" y="1258679"/>
            <a:ext cx="1460185" cy="1118694"/>
          </a:xfrm>
          <a:custGeom>
            <a:avLst/>
            <a:gdLst/>
            <a:ahLst/>
            <a:cxnLst/>
            <a:rect l="l" t="t" r="r" b="b"/>
            <a:pathLst>
              <a:path w="1460185" h="1118694">
                <a:moveTo>
                  <a:pt x="0" y="0"/>
                </a:moveTo>
                <a:lnTo>
                  <a:pt x="1460185" y="0"/>
                </a:lnTo>
                <a:lnTo>
                  <a:pt x="1460185" y="1118693"/>
                </a:lnTo>
                <a:lnTo>
                  <a:pt x="0" y="111869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0" name="TextBox 20"/>
          <p:cNvSpPr txBox="1"/>
          <p:nvPr/>
        </p:nvSpPr>
        <p:spPr>
          <a:xfrm>
            <a:off x="3498385" y="2602748"/>
            <a:ext cx="11291230" cy="4427174"/>
          </a:xfrm>
          <a:prstGeom prst="rect">
            <a:avLst/>
          </a:prstGeom>
        </p:spPr>
        <p:txBody>
          <a:bodyPr lIns="0" tIns="0" rIns="0" bIns="0" rtlCol="0" anchor="t">
            <a:spAutoFit/>
          </a:bodyPr>
          <a:lstStyle/>
          <a:p>
            <a:pPr algn="ctr">
              <a:lnSpc>
                <a:spcPts val="17695"/>
              </a:lnSpc>
            </a:pPr>
            <a:r>
              <a:rPr lang="fr-FR" sz="12000" b="1" i="0" dirty="0">
                <a:solidFill>
                  <a:schemeClr val="tx2">
                    <a:lumMod val="75000"/>
                  </a:schemeClr>
                </a:solidFill>
                <a:effectLst/>
                <a:latin typeface="Roboto" panose="02000000000000000000" pitchFamily="2" charset="0"/>
              </a:rPr>
              <a:t>Merci pour votre attention</a:t>
            </a:r>
            <a:r>
              <a:rPr lang="en-US" sz="12000" b="1" dirty="0">
                <a:solidFill>
                  <a:schemeClr val="tx2">
                    <a:lumMod val="75000"/>
                  </a:schemeClr>
                </a:solidFill>
                <a:latin typeface="Nunito Sans Condensed Ultra-Bold"/>
                <a:ea typeface="Nunito Sans Condensed Ultra-Bold"/>
                <a:cs typeface="Nunito Sans Condensed Ultra-Bold"/>
                <a:sym typeface="Nunito Sans Condensed Ultra-Bold"/>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894</TotalTime>
  <Words>1033</Words>
  <Application>Microsoft Office PowerPoint</Application>
  <PresentationFormat>Personnalisé</PresentationFormat>
  <Paragraphs>149</Paragraphs>
  <Slides>35</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35</vt:i4>
      </vt:variant>
    </vt:vector>
  </HeadingPairs>
  <TitlesOfParts>
    <vt:vector size="44" baseType="lpstr">
      <vt:lpstr>Nunito Sans Condensed Ultra-Bold</vt:lpstr>
      <vt:lpstr>Wingdings</vt:lpstr>
      <vt:lpstr>Arial</vt:lpstr>
      <vt:lpstr>Roboto</vt:lpstr>
      <vt:lpstr>Arial Unicode MS</vt:lpstr>
      <vt:lpstr>Poppins</vt:lpstr>
      <vt:lpstr>Calibri</vt:lpstr>
      <vt:lpstr>Nunito Sans Condensed Heavy</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Yellow Playful Illustration Economic Investment Challenges Presentation</dc:title>
  <dc:creator>Top Prix</dc:creator>
  <cp:lastModifiedBy>bekri douaa</cp:lastModifiedBy>
  <cp:revision>18</cp:revision>
  <dcterms:created xsi:type="dcterms:W3CDTF">2006-08-16T00:00:00Z</dcterms:created>
  <dcterms:modified xsi:type="dcterms:W3CDTF">2025-04-27T06:41:48Z</dcterms:modified>
  <dc:identifier>DAGlkAYN83Q</dc:identifier>
</cp:coreProperties>
</file>