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media/image31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26"/>
  </p:notesMasterIdLst>
  <p:sldIdLst>
    <p:sldId id="256" r:id="rId4"/>
    <p:sldId id="261" r:id="rId5"/>
    <p:sldId id="301" r:id="rId6"/>
    <p:sldId id="264" r:id="rId7"/>
    <p:sldId id="282" r:id="rId8"/>
    <p:sldId id="302" r:id="rId9"/>
    <p:sldId id="281" r:id="rId10"/>
    <p:sldId id="305" r:id="rId11"/>
    <p:sldId id="269" r:id="rId12"/>
    <p:sldId id="304" r:id="rId13"/>
    <p:sldId id="297" r:id="rId14"/>
    <p:sldId id="306" r:id="rId15"/>
    <p:sldId id="309" r:id="rId16"/>
    <p:sldId id="271" r:id="rId17"/>
    <p:sldId id="310" r:id="rId18"/>
    <p:sldId id="308" r:id="rId19"/>
    <p:sldId id="311" r:id="rId20"/>
    <p:sldId id="307" r:id="rId21"/>
    <p:sldId id="265" r:id="rId22"/>
    <p:sldId id="312" r:id="rId23"/>
    <p:sldId id="313" r:id="rId24"/>
    <p:sldId id="262" r:id="rId25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DFBB"/>
    <a:srgbClr val="9AD3E9"/>
    <a:srgbClr val="F8B2A3"/>
    <a:srgbClr val="A4B4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2" d="100"/>
          <a:sy n="162" d="100"/>
        </p:scale>
        <p:origin x="144" y="240"/>
      </p:cViewPr>
      <p:guideLst>
        <p:guide orient="horz" pos="184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E4780-4742-4AF7-B9F6-29387D06C872}" type="datetimeFigureOut">
              <a:rPr lang="ko-KR" altLang="en-US" smtClean="0"/>
              <a:t>2025-05-03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0E160-F603-41F3-A192-DC959577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441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0E160-F603-41F3-A192-DC95957721C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819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23928" y="2643759"/>
            <a:ext cx="5220072" cy="108012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z="3600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23928" y="3723878"/>
            <a:ext cx="5219924" cy="504056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</a:t>
            </a:r>
          </a:p>
          <a:p>
            <a:pPr lvl="0"/>
            <a:r>
              <a:rPr lang="en-US" altLang="ko-KR" dirty="0"/>
              <a:t>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07971">
            <a:off x="2873932" y="156273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27839">
            <a:off x="3005459" y="3443641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414606">
            <a:off x="1967897" y="2192112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162721" flipH="1">
            <a:off x="2110757" y="805096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864253" flipH="1">
            <a:off x="3934583" y="142673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64798">
            <a:off x="5618205" y="2384716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74931">
            <a:off x="5463157" y="736150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9549">
            <a:off x="4788024" y="3370715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 userDrawn="1"/>
        </p:nvGrpSpPr>
        <p:grpSpPr>
          <a:xfrm>
            <a:off x="2254580" y="248388"/>
            <a:ext cx="4634840" cy="4646724"/>
            <a:chOff x="1115616" y="1275607"/>
            <a:chExt cx="2585656" cy="2592286"/>
          </a:xfrm>
        </p:grpSpPr>
        <p:pic>
          <p:nvPicPr>
            <p:cNvPr id="5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/>
            <p:cNvSpPr/>
            <p:nvPr userDrawn="1"/>
          </p:nvSpPr>
          <p:spPr>
            <a:xfrm>
              <a:off x="1595313" y="1758619"/>
              <a:ext cx="1626263" cy="16262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lt"/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03848" y="2101602"/>
            <a:ext cx="2736303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03700" y="2677666"/>
            <a:ext cx="2736303" cy="43204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</a:t>
            </a:r>
          </a:p>
          <a:p>
            <a:pPr lvl="0"/>
            <a:r>
              <a:rPr lang="en-US" altLang="ko-KR" dirty="0"/>
              <a:t>of your subtitle Here</a:t>
            </a:r>
          </a:p>
        </p:txBody>
      </p:sp>
      <p:pic>
        <p:nvPicPr>
          <p:cNvPr id="2050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860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3624792"/>
            <a:ext cx="1407408" cy="151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2843808" y="377122"/>
            <a:ext cx="3456384" cy="3465247"/>
            <a:chOff x="1115616" y="1275607"/>
            <a:chExt cx="2585656" cy="2592286"/>
          </a:xfrm>
        </p:grpSpPr>
        <p:pic>
          <p:nvPicPr>
            <p:cNvPr id="5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/>
            <p:cNvSpPr/>
            <p:nvPr userDrawn="1"/>
          </p:nvSpPr>
          <p:spPr>
            <a:xfrm>
              <a:off x="1796376" y="1959682"/>
              <a:ext cx="1224136" cy="1224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829098" y="3829794"/>
            <a:ext cx="3456384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Welcome!!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828950" y="4443958"/>
            <a:ext cx="3456384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376203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9040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63568" y="159982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842131" y="1597374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34733" y="1597374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27011" y="159982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Block Arc 1"/>
          <p:cNvSpPr/>
          <p:nvPr userDrawn="1"/>
        </p:nvSpPr>
        <p:spPr>
          <a:xfrm>
            <a:off x="683568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Block Arc 11"/>
          <p:cNvSpPr/>
          <p:nvPr userDrawn="1"/>
        </p:nvSpPr>
        <p:spPr>
          <a:xfrm>
            <a:off x="2671382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Block Arc 12"/>
          <p:cNvSpPr/>
          <p:nvPr userDrawn="1"/>
        </p:nvSpPr>
        <p:spPr>
          <a:xfrm>
            <a:off x="4659196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Block Arc 13"/>
          <p:cNvSpPr/>
          <p:nvPr userDrawn="1"/>
        </p:nvSpPr>
        <p:spPr>
          <a:xfrm>
            <a:off x="6647011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EDBECCA6-8618-46C3-A8D4-3B6399CCEF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1D40A599-6D66-4DC9-82BB-52C171B56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33499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27877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2940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771800" y="1404764"/>
            <a:ext cx="6372200" cy="30243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6C3AF05-0B8F-485E-983F-1B40340199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D183D1CC-DF98-45E3-B7CE-601603E40D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919319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3059832" cy="21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084000" y="2947500"/>
            <a:ext cx="3060000" cy="21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4479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28392" y="0"/>
            <a:ext cx="2123728" cy="3219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020272" y="1923678"/>
            <a:ext cx="2123728" cy="3219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0251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17858" y="1275606"/>
            <a:ext cx="2448545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3339542" y="1275606"/>
            <a:ext cx="2448273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60954" y="1275606"/>
            <a:ext cx="2448273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DDA4CE02-F7F3-4BCD-B8DB-4DFD03965E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9A54B34-6F96-4E3E-B72E-E680E3CE27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4839971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286" y="1275606"/>
            <a:ext cx="2923753" cy="251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6" y="1275606"/>
            <a:ext cx="2923753" cy="251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582656" y="1374406"/>
            <a:ext cx="2700000" cy="15848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820964" y="1374406"/>
            <a:ext cx="2736000" cy="15848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F3CBFE9-6225-4EAB-9415-3558F6BE9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E9189EF-3C10-45A2-8749-4187192ACE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0894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nut 3"/>
          <p:cNvSpPr/>
          <p:nvPr userDrawn="1"/>
        </p:nvSpPr>
        <p:spPr>
          <a:xfrm>
            <a:off x="2847111" y="1179745"/>
            <a:ext cx="3401564" cy="3401564"/>
          </a:xfrm>
          <a:prstGeom prst="donut">
            <a:avLst>
              <a:gd name="adj" fmla="val 13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B4F25E9-AA8C-4BD3-BF1F-56D20DF8DD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40BDE80-4E1C-47DE-8168-381888FDC3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219204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213800" y="2230378"/>
            <a:ext cx="49302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213800" y="2703954"/>
            <a:ext cx="49302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39" y="3651870"/>
            <a:ext cx="1013895" cy="101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950740"/>
            <a:ext cx="648072" cy="64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19818"/>
            <a:ext cx="442142" cy="443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779200"/>
            <a:ext cx="360040" cy="36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 userDrawn="1"/>
        </p:nvGrpSpPr>
        <p:grpSpPr>
          <a:xfrm>
            <a:off x="1115616" y="1275607"/>
            <a:ext cx="2585656" cy="2592286"/>
            <a:chOff x="1115616" y="1275607"/>
            <a:chExt cx="2585656" cy="2592286"/>
          </a:xfrm>
        </p:grpSpPr>
        <p:pic>
          <p:nvPicPr>
            <p:cNvPr id="1026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Oval 1"/>
            <p:cNvSpPr/>
            <p:nvPr userDrawn="1"/>
          </p:nvSpPr>
          <p:spPr>
            <a:xfrm>
              <a:off x="1796376" y="1959682"/>
              <a:ext cx="1224136" cy="1224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7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3578808"/>
            <a:ext cx="1475656" cy="1592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8226854" y="-51527"/>
            <a:ext cx="879830" cy="94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2" r:id="rId3"/>
    <p:sldLayoutId id="2147483652" r:id="rId4"/>
    <p:sldLayoutId id="2147483661" r:id="rId5"/>
    <p:sldLayoutId id="2147483656" r:id="rId6"/>
    <p:sldLayoutId id="2147483671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jpe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ctr"/>
            <a:r>
              <a:rPr lang="en-US" altLang="ko-KR" dirty="0">
                <a:ea typeface="맑은 고딕" pitchFamily="50" charset="-127"/>
              </a:rPr>
              <a:t>Problem du Sac A dos                 Knap Sac</a:t>
            </a:r>
            <a:endParaRPr lang="en-US" altLang="ko-K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/>
              <a:t>Presenter par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 err="1"/>
              <a:t>Abdelmalek</a:t>
            </a:r>
            <a:r>
              <a:rPr lang="en-US" altLang="ko-KR" b="1" dirty="0"/>
              <a:t> mohammed riad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650519" y="2738626"/>
            <a:ext cx="129393" cy="1440160"/>
            <a:chOff x="3424672" y="2643758"/>
            <a:chExt cx="283232" cy="1584176"/>
          </a:xfrm>
        </p:grpSpPr>
        <p:sp>
          <p:nvSpPr>
            <p:cNvPr id="7" name="Rectangle 6"/>
            <p:cNvSpPr/>
            <p:nvPr userDrawn="1"/>
          </p:nvSpPr>
          <p:spPr>
            <a:xfrm>
              <a:off x="3635896" y="2643758"/>
              <a:ext cx="72008" cy="15841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3565490" y="2643758"/>
              <a:ext cx="72007" cy="15841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3495081" y="2643758"/>
              <a:ext cx="72007" cy="158417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3424672" y="2643758"/>
              <a:ext cx="72008" cy="158417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0" y="267494"/>
            <a:ext cx="9144000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Plan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267744" y="1059582"/>
            <a:ext cx="6552728" cy="914400"/>
            <a:chOff x="1151472" y="3187501"/>
            <a:chExt cx="6552728" cy="914400"/>
          </a:xfrm>
        </p:grpSpPr>
        <p:sp>
          <p:nvSpPr>
            <p:cNvPr id="5" name="Pentagon 4"/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" name="Pentagon 5"/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" name="Diamond 6"/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8" name="직사각형 39"/>
          <p:cNvSpPr/>
          <p:nvPr/>
        </p:nvSpPr>
        <p:spPr>
          <a:xfrm>
            <a:off x="2509438" y="1262927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1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382961" y="1239623"/>
            <a:ext cx="4752528" cy="546274"/>
            <a:chOff x="2299400" y="1781114"/>
            <a:chExt cx="4576856" cy="546274"/>
          </a:xfrm>
        </p:grpSpPr>
        <p:sp>
          <p:nvSpPr>
            <p:cNvPr id="10" name="TextBox 10"/>
            <p:cNvSpPr txBox="1"/>
            <p:nvPr/>
          </p:nvSpPr>
          <p:spPr bwMode="auto">
            <a:xfrm>
              <a:off x="2299400" y="1781114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Introduction</a:t>
              </a:r>
            </a:p>
          </p:txBody>
        </p:sp>
        <p:sp>
          <p:nvSpPr>
            <p:cNvPr id="11" name="TextBox 12"/>
            <p:cNvSpPr txBox="1"/>
            <p:nvPr/>
          </p:nvSpPr>
          <p:spPr bwMode="auto">
            <a:xfrm>
              <a:off x="2299400" y="2050389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r-FR" sz="1200" dirty="0"/>
                <a:t>Présentation du problème.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264738" y="1982609"/>
            <a:ext cx="6552728" cy="914400"/>
            <a:chOff x="1151472" y="3187501"/>
            <a:chExt cx="6552728" cy="914400"/>
          </a:xfrm>
        </p:grpSpPr>
        <p:sp>
          <p:nvSpPr>
            <p:cNvPr id="13" name="Pentagon 12"/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4" name="Pentagon 13"/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5" name="Diamond 14"/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261732" y="2905636"/>
            <a:ext cx="6552728" cy="914400"/>
            <a:chOff x="1151472" y="3187501"/>
            <a:chExt cx="6552728" cy="914400"/>
          </a:xfrm>
        </p:grpSpPr>
        <p:sp>
          <p:nvSpPr>
            <p:cNvPr id="17" name="Pentagon 16"/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8" name="Pentagon 17"/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9" name="Diamond 18"/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258726" y="3828663"/>
            <a:ext cx="6552728" cy="914400"/>
            <a:chOff x="1151472" y="3187501"/>
            <a:chExt cx="6552728" cy="914400"/>
          </a:xfrm>
        </p:grpSpPr>
        <p:sp>
          <p:nvSpPr>
            <p:cNvPr id="21" name="Pentagon 20"/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2" name="Pentagon 21"/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4" name="직사각형 39"/>
          <p:cNvSpPr/>
          <p:nvPr/>
        </p:nvSpPr>
        <p:spPr>
          <a:xfrm>
            <a:off x="2509438" y="2187449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2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3382961" y="2164145"/>
            <a:ext cx="4752528" cy="546274"/>
            <a:chOff x="2299400" y="1781114"/>
            <a:chExt cx="4576856" cy="546274"/>
          </a:xfrm>
        </p:grpSpPr>
        <p:sp>
          <p:nvSpPr>
            <p:cNvPr id="26" name="TextBox 10"/>
            <p:cNvSpPr txBox="1"/>
            <p:nvPr/>
          </p:nvSpPr>
          <p:spPr bwMode="auto">
            <a:xfrm>
              <a:off x="2299400" y="1781114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Definition De Knap sac </a:t>
              </a:r>
            </a:p>
          </p:txBody>
        </p:sp>
        <p:sp>
          <p:nvSpPr>
            <p:cNvPr id="27" name="TextBox 12"/>
            <p:cNvSpPr txBox="1"/>
            <p:nvPr/>
          </p:nvSpPr>
          <p:spPr bwMode="auto">
            <a:xfrm>
              <a:off x="2299400" y="2050389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r-FR" sz="1200" dirty="0"/>
                <a:t>Modélisation du sac à dos.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8" name="직사각형 39"/>
          <p:cNvSpPr/>
          <p:nvPr/>
        </p:nvSpPr>
        <p:spPr>
          <a:xfrm>
            <a:off x="2509438" y="3111971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3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3382961" y="3088667"/>
            <a:ext cx="4752529" cy="546274"/>
            <a:chOff x="2299400" y="1781114"/>
            <a:chExt cx="4576857" cy="546274"/>
          </a:xfrm>
        </p:grpSpPr>
        <p:sp>
          <p:nvSpPr>
            <p:cNvPr id="30" name="TextBox 10"/>
            <p:cNvSpPr txBox="1"/>
            <p:nvPr/>
          </p:nvSpPr>
          <p:spPr bwMode="auto">
            <a:xfrm>
              <a:off x="2299401" y="1781114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propriétés</a:t>
              </a:r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TextBox 12"/>
            <p:cNvSpPr txBox="1"/>
            <p:nvPr/>
          </p:nvSpPr>
          <p:spPr bwMode="auto">
            <a:xfrm>
              <a:off x="2299400" y="2050389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r-FR" sz="1200" dirty="0"/>
                <a:t>Adaptabilité à différents cas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2" name="직사각형 39"/>
          <p:cNvSpPr/>
          <p:nvPr/>
        </p:nvSpPr>
        <p:spPr>
          <a:xfrm>
            <a:off x="2509438" y="4036493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4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3382961" y="4013189"/>
            <a:ext cx="4752528" cy="546274"/>
            <a:chOff x="2299400" y="1781114"/>
            <a:chExt cx="4576856" cy="546274"/>
          </a:xfrm>
        </p:grpSpPr>
        <p:sp>
          <p:nvSpPr>
            <p:cNvPr id="34" name="TextBox 10"/>
            <p:cNvSpPr txBox="1"/>
            <p:nvPr/>
          </p:nvSpPr>
          <p:spPr bwMode="auto">
            <a:xfrm>
              <a:off x="2299400" y="1781114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La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complexite</a:t>
              </a:r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5" name="TextBox 12"/>
            <p:cNvSpPr txBox="1"/>
            <p:nvPr/>
          </p:nvSpPr>
          <p:spPr bwMode="auto">
            <a:xfrm>
              <a:off x="2299400" y="2050389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r-FR" sz="1200" dirty="0"/>
                <a:t>Analyse de la complexité temporelle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4" grpId="0"/>
      <p:bldP spid="28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0" y="267494"/>
            <a:ext cx="9144000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Plan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267744" y="1419622"/>
            <a:ext cx="6552728" cy="914400"/>
            <a:chOff x="1151472" y="3187501"/>
            <a:chExt cx="6552728" cy="914400"/>
          </a:xfrm>
        </p:grpSpPr>
        <p:sp>
          <p:nvSpPr>
            <p:cNvPr id="5" name="Pentagon 4"/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" name="Pentagon 5"/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7" name="Diamond 6"/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8" name="직사각형 39"/>
          <p:cNvSpPr/>
          <p:nvPr/>
        </p:nvSpPr>
        <p:spPr>
          <a:xfrm>
            <a:off x="2509438" y="1622967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5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382961" y="1599663"/>
            <a:ext cx="4752528" cy="546274"/>
            <a:chOff x="2299400" y="1781114"/>
            <a:chExt cx="4576856" cy="546274"/>
          </a:xfrm>
        </p:grpSpPr>
        <p:sp>
          <p:nvSpPr>
            <p:cNvPr id="10" name="TextBox 10"/>
            <p:cNvSpPr txBox="1"/>
            <p:nvPr/>
          </p:nvSpPr>
          <p:spPr bwMode="auto">
            <a:xfrm>
              <a:off x="2299400" y="1781114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Méthode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de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résolution</a:t>
              </a:r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TextBox 12"/>
            <p:cNvSpPr txBox="1"/>
            <p:nvPr/>
          </p:nvSpPr>
          <p:spPr bwMode="auto">
            <a:xfrm>
              <a:off x="2299400" y="2050389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r-FR" sz="1200" dirty="0"/>
                <a:t>Comparaison des types de solutions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264738" y="2342649"/>
            <a:ext cx="6552728" cy="914400"/>
            <a:chOff x="1151472" y="3187501"/>
            <a:chExt cx="6552728" cy="914400"/>
          </a:xfrm>
        </p:grpSpPr>
        <p:sp>
          <p:nvSpPr>
            <p:cNvPr id="13" name="Pentagon 12"/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4" name="Pentagon 13"/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5" name="Diamond 14"/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261732" y="3265676"/>
            <a:ext cx="6552728" cy="914400"/>
            <a:chOff x="1151472" y="3187501"/>
            <a:chExt cx="6552728" cy="914400"/>
          </a:xfrm>
        </p:grpSpPr>
        <p:sp>
          <p:nvSpPr>
            <p:cNvPr id="17" name="Pentagon 16"/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8" name="Pentagon 17"/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9" name="Diamond 18"/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24" name="직사각형 39"/>
          <p:cNvSpPr/>
          <p:nvPr/>
        </p:nvSpPr>
        <p:spPr>
          <a:xfrm>
            <a:off x="2509438" y="2547489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6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3382961" y="2524185"/>
            <a:ext cx="4752528" cy="546274"/>
            <a:chOff x="2299400" y="1781114"/>
            <a:chExt cx="4576856" cy="546274"/>
          </a:xfrm>
        </p:grpSpPr>
        <p:sp>
          <p:nvSpPr>
            <p:cNvPr id="26" name="TextBox 10"/>
            <p:cNvSpPr txBox="1"/>
            <p:nvPr/>
          </p:nvSpPr>
          <p:spPr bwMode="auto">
            <a:xfrm>
              <a:off x="2299400" y="1781114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Formule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mathématique</a:t>
              </a:r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12"/>
            <p:cNvSpPr txBox="1"/>
            <p:nvPr/>
          </p:nvSpPr>
          <p:spPr bwMode="auto">
            <a:xfrm>
              <a:off x="2299400" y="2050389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r-F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Formulation Mathématique de la Méthode du Sac à Dos (</a:t>
              </a:r>
              <a:r>
                <a:rPr lang="fr-FR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Knapsack</a:t>
              </a:r>
              <a:r>
                <a:rPr lang="fr-F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)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8" name="직사각형 39"/>
          <p:cNvSpPr/>
          <p:nvPr/>
        </p:nvSpPr>
        <p:spPr>
          <a:xfrm>
            <a:off x="2509438" y="3472011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7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3382961" y="3448707"/>
            <a:ext cx="4752528" cy="546274"/>
            <a:chOff x="2299400" y="1781114"/>
            <a:chExt cx="4576856" cy="546274"/>
          </a:xfrm>
        </p:grpSpPr>
        <p:sp>
          <p:nvSpPr>
            <p:cNvPr id="30" name="TextBox 10"/>
            <p:cNvSpPr txBox="1"/>
            <p:nvPr/>
          </p:nvSpPr>
          <p:spPr bwMode="auto">
            <a:xfrm>
              <a:off x="2299400" y="1781114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conclusion</a:t>
              </a:r>
            </a:p>
          </p:txBody>
        </p:sp>
        <p:sp>
          <p:nvSpPr>
            <p:cNvPr id="31" name="TextBox 12"/>
            <p:cNvSpPr txBox="1"/>
            <p:nvPr/>
          </p:nvSpPr>
          <p:spPr bwMode="auto">
            <a:xfrm>
              <a:off x="2299400" y="2050389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Conclusion Générale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2" name="직사각형 39"/>
          <p:cNvSpPr/>
          <p:nvPr/>
        </p:nvSpPr>
        <p:spPr>
          <a:xfrm>
            <a:off x="2509438" y="4036493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4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3918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4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1F789-5DD1-430B-AF36-D6BF22802B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2670250"/>
            <a:ext cx="2385801" cy="20676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948568-3E14-4F09-9F9C-61C8A65AF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911719"/>
            <a:ext cx="1320062" cy="132006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1012342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1715493"/>
            <a:ext cx="27363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ko-KR" sz="3200" b="1" dirty="0">
                <a:solidFill>
                  <a:schemeClr val="accent2"/>
                </a:solidFill>
                <a:latin typeface="+mj-lt"/>
                <a:cs typeface="Arial" pitchFamily="34" charset="0"/>
              </a:rPr>
              <a:t>quel est le problème du sac à dos</a:t>
            </a:r>
            <a:endParaRPr lang="ko-KR" altLang="en-US" sz="3200" b="1" dirty="0">
              <a:solidFill>
                <a:schemeClr val="accent2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504" y="0"/>
            <a:ext cx="2736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introduction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3345254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voyons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avec un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exemple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pour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comprons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le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principe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84168" y="671159"/>
            <a:ext cx="25922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un homme qui a un sac pouvant contenir 23 kg</a:t>
            </a:r>
          </a:p>
          <a:p>
            <a:r>
              <a:rPr lang="fr-FR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Aux </a:t>
            </a:r>
            <a:r>
              <a:rPr lang="fr-FR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maximaume</a:t>
            </a:r>
            <a:r>
              <a:rPr lang="fr-FR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en </a:t>
            </a:r>
            <a:r>
              <a:rPr lang="fr-FR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poid</a:t>
            </a:r>
            <a:r>
              <a:rPr lang="fr-FR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63889" y="3879904"/>
            <a:ext cx="28803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Il y a </a:t>
            </a:r>
            <a:r>
              <a:rPr lang="fr-FR" sz="1400" i="1" dirty="0"/>
              <a:t>n</a:t>
            </a:r>
            <a:r>
              <a:rPr lang="fr-FR" sz="1400" dirty="0"/>
              <a:t> objets que l’on peut mettre dans le  sac.   Chaque objet a un poids et un prix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A8478191-8FF9-4E7A-AA8F-B50952900C1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8" b="538"/>
          <a:stretch>
            <a:fillRect/>
          </a:stretch>
        </p:blipFill>
        <p:spPr/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2B60D81-1E9B-4B58-82F7-3C13BB222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323" y="2016841"/>
            <a:ext cx="2633237" cy="298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745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Definition De Knap sac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z="1400" dirty="0"/>
              <a:t>Modélisation du sac à dos.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9E561B-5C2B-42ED-BE3E-037A03A5B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995686"/>
            <a:ext cx="1152128" cy="1152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5DF309-2558-4D71-8189-31AE540C7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3177530"/>
            <a:ext cx="2376264" cy="172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025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987824" y="2060379"/>
            <a:ext cx="2783509" cy="584775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3200" b="1" dirty="0" err="1">
                <a:solidFill>
                  <a:schemeClr val="accent1"/>
                </a:solidFill>
                <a:latin typeface="+mj-lt"/>
                <a:cs typeface="Arial" pitchFamily="34" charset="0"/>
              </a:rPr>
              <a:t>modelisation</a:t>
            </a:r>
            <a:endParaRPr lang="en-US" altLang="ko-KR" sz="3200" b="1" dirty="0">
              <a:solidFill>
                <a:schemeClr val="accent1"/>
              </a:solidFill>
              <a:latin typeface="+mj-lt"/>
              <a:cs typeface="Arial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199873" y="3796624"/>
            <a:ext cx="1800200" cy="1078801"/>
            <a:chOff x="803640" y="3362835"/>
            <a:chExt cx="2059657" cy="1078801"/>
          </a:xfrm>
        </p:grpSpPr>
        <p:sp>
          <p:nvSpPr>
            <p:cNvPr id="9" name="TextBox 8"/>
            <p:cNvSpPr txBox="1"/>
            <p:nvPr/>
          </p:nvSpPr>
          <p:spPr>
            <a:xfrm>
              <a:off x="803640" y="3579862"/>
              <a:ext cx="2059657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On a un sac de capacité limitée et quelques pierres précieuses. On ne peut pas tout emporter, mais il faut prendre les plus chères.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Example simple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4" name="Rectangle 9"/>
          <p:cNvSpPr/>
          <p:nvPr/>
        </p:nvSpPr>
        <p:spPr>
          <a:xfrm>
            <a:off x="611560" y="4074675"/>
            <a:ext cx="328234" cy="307256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Donut 24"/>
          <p:cNvSpPr/>
          <p:nvPr/>
        </p:nvSpPr>
        <p:spPr>
          <a:xfrm>
            <a:off x="6012160" y="2134405"/>
            <a:ext cx="376786" cy="379852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2158041" y="815425"/>
            <a:ext cx="4361960" cy="863358"/>
            <a:chOff x="803640" y="3362835"/>
            <a:chExt cx="2059657" cy="863358"/>
          </a:xfrm>
        </p:grpSpPr>
        <p:sp>
          <p:nvSpPr>
            <p:cNvPr id="22" name="TextBox 21"/>
            <p:cNvSpPr txBox="1"/>
            <p:nvPr/>
          </p:nvSpPr>
          <p:spPr>
            <a:xfrm>
              <a:off x="803640" y="3579862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Méthode d'optimisation pour sélectionner des objets (avec poids et valeurs) dans un sac de capacité limitée, afin de maximiser la valeur totale.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u="sng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Knap Sac</a:t>
              </a:r>
              <a:endParaRPr lang="ko-KR" altLang="en-US" sz="1200" b="1" u="sng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8FC23E83-917B-4B42-9767-644ABF753C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930" y="3084870"/>
            <a:ext cx="3425856" cy="1913723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CF13B934-80FA-4C41-8F07-69B7344FFA05}"/>
              </a:ext>
            </a:extLst>
          </p:cNvPr>
          <p:cNvSpPr/>
          <p:nvPr/>
        </p:nvSpPr>
        <p:spPr>
          <a:xfrm>
            <a:off x="2987824" y="186775"/>
            <a:ext cx="2783509" cy="584775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accent1"/>
                </a:solidFill>
                <a:latin typeface="+mj-lt"/>
                <a:cs typeface="Arial" pitchFamily="34" charset="0"/>
              </a:rPr>
              <a:t>Definition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BCA41E5-2187-4770-AB01-D3E982B5B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459" y="2942088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9106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propriétés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z="1400" dirty="0"/>
              <a:t>Adaptabilité à différents cas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5CBB42-EED5-4D3E-8892-CAAEA0DF8C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001378"/>
            <a:ext cx="1008112" cy="114074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31282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 err="1"/>
              <a:t>propriétés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 sz="1400" dirty="0"/>
              <a:t>Adaptabilité à différents cas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877646" y="3310449"/>
            <a:ext cx="1678130" cy="1532377"/>
            <a:chOff x="251519" y="3368804"/>
            <a:chExt cx="1929849" cy="1532377"/>
          </a:xfrm>
        </p:grpSpPr>
        <p:grpSp>
          <p:nvGrpSpPr>
            <p:cNvPr id="15" name="Group 14"/>
            <p:cNvGrpSpPr/>
            <p:nvPr/>
          </p:nvGrpSpPr>
          <p:grpSpPr>
            <a:xfrm>
              <a:off x="251519" y="3368804"/>
              <a:ext cx="1656185" cy="493172"/>
              <a:chOff x="3779910" y="3346390"/>
              <a:chExt cx="1584179" cy="493172"/>
            </a:xfrm>
            <a:noFill/>
          </p:grpSpPr>
          <p:sp>
            <p:nvSpPr>
              <p:cNvPr id="17" name="Text Placeholder 17"/>
              <p:cNvSpPr txBox="1">
                <a:spLocks/>
              </p:cNvSpPr>
              <p:nvPr/>
            </p:nvSpPr>
            <p:spPr>
              <a:xfrm>
                <a:off x="3779910" y="3346390"/>
                <a:ext cx="1584177" cy="246087"/>
              </a:xfrm>
              <a:prstGeom prst="rect">
                <a:avLst/>
              </a:prstGeom>
              <a:grpFill/>
            </p:spPr>
            <p:txBody>
              <a:bodyPr anchor="ctr"/>
              <a:lstStyle>
                <a:lvl1pPr marL="342900" indent="-3429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Sac a dos</a:t>
                </a:r>
              </a:p>
              <a:p>
                <a:pPr marL="0" indent="0" algn="ctr">
                  <a:buNone/>
                </a:pPr>
                <a:r>
                  <a:rPr lang="en-US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 </a:t>
                </a:r>
                <a:r>
                  <a:rPr lang="en-US" sz="1400" b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itchFamily="34" charset="0"/>
                  </a:rPr>
                  <a:t>binaire</a:t>
                </a:r>
                <a:endPara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endParaRPr>
              </a:p>
            </p:txBody>
          </p:sp>
          <p:sp>
            <p:nvSpPr>
              <p:cNvPr id="18" name="Text Placeholder 18"/>
              <p:cNvSpPr txBox="1">
                <a:spLocks/>
              </p:cNvSpPr>
              <p:nvPr/>
            </p:nvSpPr>
            <p:spPr>
              <a:xfrm>
                <a:off x="3779912" y="3589982"/>
                <a:ext cx="1584177" cy="249580"/>
              </a:xfrm>
              <a:prstGeom prst="rect">
                <a:avLst/>
              </a:prstGeom>
              <a:grpFill/>
            </p:spPr>
            <p:txBody>
              <a:bodyPr anchor="ctr"/>
              <a:lstStyle>
                <a:lvl1pPr marL="342900" indent="-3429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en-US" sz="1200" b="1" dirty="0">
                  <a:solidFill>
                    <a:schemeClr val="accent4"/>
                  </a:solidFill>
                  <a:cs typeface="Arial" pitchFamily="34" charset="0"/>
                </a:endParaRP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251520" y="3885518"/>
              <a:ext cx="192984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Choix d'objets         (0 ou 1) pour maximiser la valeur sans dépasser la capacité.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842131" y="3281713"/>
            <a:ext cx="1458795" cy="1007115"/>
            <a:chOff x="230088" y="3340068"/>
            <a:chExt cx="1677615" cy="1007115"/>
          </a:xfrm>
        </p:grpSpPr>
        <p:sp>
          <p:nvSpPr>
            <p:cNvPr id="22" name="Text Placeholder 17"/>
            <p:cNvSpPr txBox="1">
              <a:spLocks/>
            </p:cNvSpPr>
            <p:nvPr/>
          </p:nvSpPr>
          <p:spPr>
            <a:xfrm>
              <a:off x="230088" y="3340068"/>
              <a:ext cx="1656183" cy="246087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Sac a dos </a:t>
              </a:r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borne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51521" y="3885518"/>
              <a:ext cx="16561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Nombre limité de copies par objet.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843889" y="3291830"/>
            <a:ext cx="1440160" cy="996998"/>
            <a:chOff x="251520" y="3350185"/>
            <a:chExt cx="1656183" cy="996998"/>
          </a:xfrm>
        </p:grpSpPr>
        <p:sp>
          <p:nvSpPr>
            <p:cNvPr id="27" name="Text Placeholder 17"/>
            <p:cNvSpPr txBox="1">
              <a:spLocks/>
            </p:cNvSpPr>
            <p:nvPr/>
          </p:nvSpPr>
          <p:spPr>
            <a:xfrm>
              <a:off x="251520" y="3350185"/>
              <a:ext cx="1656183" cy="246087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Sac a dos </a:t>
              </a:r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Non borne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51520" y="3885518"/>
              <a:ext cx="16561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Nombre illimité de copies par objet.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300192" y="3291830"/>
            <a:ext cx="2952328" cy="1550996"/>
            <a:chOff x="251520" y="3350185"/>
            <a:chExt cx="3395177" cy="1550996"/>
          </a:xfrm>
        </p:grpSpPr>
        <p:sp>
          <p:nvSpPr>
            <p:cNvPr id="32" name="Text Placeholder 17"/>
            <p:cNvSpPr txBox="1">
              <a:spLocks/>
            </p:cNvSpPr>
            <p:nvPr/>
          </p:nvSpPr>
          <p:spPr>
            <a:xfrm>
              <a:off x="251520" y="3350185"/>
              <a:ext cx="3395177" cy="246087"/>
            </a:xfrm>
            <a:prstGeom prst="rect">
              <a:avLst/>
            </a:prstGeom>
            <a:noFill/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Multi </a:t>
              </a: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objectifs</a:t>
              </a:r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   Multi-</a:t>
              </a:r>
              <a:r>
                <a:rPr lang="en-US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dimention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51520" y="3885518"/>
              <a:ext cx="165618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Multi-dimensionnel = Plusieurs contraintes (ex : poids + volume).</a:t>
              </a:r>
            </a:p>
          </p:txBody>
        </p:sp>
      </p:grp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16CF8500-29D8-4954-9D0C-8718083024B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25" r="14925"/>
          <a:stretch>
            <a:fillRect/>
          </a:stretch>
        </p:blipFill>
        <p:spPr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5" name="Picture Placeholder 34">
            <a:extLst>
              <a:ext uri="{FF2B5EF4-FFF2-40B4-BE49-F238E27FC236}">
                <a16:creationId xmlns:a16="http://schemas.microsoft.com/office/drawing/2014/main" id="{FA9B5E48-D527-4916-A1E5-5377F24E8460}"/>
              </a:ext>
            </a:extLst>
          </p:cNvPr>
          <p:cNvPicPr>
            <a:picLocks noGrp="1" noChangeAspect="1"/>
          </p:cNvPicPr>
          <p:nvPr>
            <p:ph type="pic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7EF592E0-B11F-41C8-8A53-E9EFE4EA776C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9" r="13359"/>
          <a:stretch>
            <a:fillRect/>
          </a:stretch>
        </p:blipFill>
        <p:spPr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7890BB9D-48BB-48A5-A9E7-E0D061F8A269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21" r="29921"/>
          <a:stretch>
            <a:fillRect/>
          </a:stretch>
        </p:blipFill>
        <p:spPr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1D1A458-A1F1-4875-8926-A34367FE4D6C}"/>
              </a:ext>
            </a:extLst>
          </p:cNvPr>
          <p:cNvSpPr txBox="1"/>
          <p:nvPr/>
        </p:nvSpPr>
        <p:spPr>
          <a:xfrm>
            <a:off x="7668344" y="3835602"/>
            <a:ext cx="14401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Multi-objectif = Plusieurs buts à optimiser (ex : valeur + poids).</a:t>
            </a:r>
          </a:p>
          <a:p>
            <a:pPr algn="ctr"/>
            <a:endParaRPr lang="fr-FR" altLang="ko-KR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8406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La </a:t>
            </a:r>
            <a:r>
              <a:rPr lang="en-US" altLang="ko-KR" sz="3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complexite</a:t>
            </a:r>
            <a:endParaRPr lang="en-US" altLang="ko-KR" sz="3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z="1400" dirty="0"/>
              <a:t>Analyse de la complexité temporelle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05BD06-DDD6-4CBF-BCFE-398FD4B8B2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35696" y="1995686"/>
            <a:ext cx="1203719" cy="1152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6851066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39552" y="4502112"/>
            <a:ext cx="1728000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2649888" y="4502112"/>
            <a:ext cx="17280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4760224" y="4502112"/>
            <a:ext cx="172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6870561" y="4502112"/>
            <a:ext cx="1728000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10662" y="3308422"/>
            <a:ext cx="1985779" cy="1171545"/>
            <a:chOff x="4320398" y="1245513"/>
            <a:chExt cx="2874451" cy="1171545"/>
          </a:xfrm>
        </p:grpSpPr>
        <p:sp>
          <p:nvSpPr>
            <p:cNvPr id="13" name="TextBox 12"/>
            <p:cNvSpPr txBox="1"/>
            <p:nvPr/>
          </p:nvSpPr>
          <p:spPr>
            <a:xfrm>
              <a:off x="4320399" y="1493728"/>
              <a:ext cx="287445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Le problème de décision consiste à répondre "oui" ou "non" à la question : "Existe-t-il un sous-ensemble d’objets de valeur totale ≥ V et de poids total ≤ W ?« </a:t>
              </a:r>
            </a:p>
            <a:p>
              <a:pPr algn="ctr"/>
              <a:r>
                <a:rPr lang="pt-BR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O(n*n), O(n log n)O(n*n log n)</a:t>
              </a:r>
              <a:endPara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20398" y="1245513"/>
              <a:ext cx="28744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NP COMPLEXITE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520998" y="3308422"/>
            <a:ext cx="1985779" cy="1171545"/>
            <a:chOff x="4320398" y="1245513"/>
            <a:chExt cx="2874451" cy="1171545"/>
          </a:xfrm>
        </p:grpSpPr>
        <p:sp>
          <p:nvSpPr>
            <p:cNvPr id="16" name="TextBox 15"/>
            <p:cNvSpPr txBox="1"/>
            <p:nvPr/>
          </p:nvSpPr>
          <p:spPr>
            <a:xfrm>
              <a:off x="4320399" y="1493728"/>
              <a:ext cx="287445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Peut être résolu en temps polynomial avec un oracle NP (un "sous-programme" qui résout des problèmes NP en une étape).</a:t>
              </a:r>
            </a:p>
            <a:p>
              <a:pPr algn="ctr"/>
              <a:r>
                <a:rPr lang="fr-FR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Plus complexe que NP, mais moins que EXP.</a:t>
              </a:r>
              <a:r>
                <a:rPr lang="pt-BR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 O(canstant)&lt;O(2</a:t>
              </a:r>
              <a:r>
                <a:rPr lang="fr-FR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^n</a:t>
              </a:r>
              <a:r>
                <a:rPr lang="pt-BR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)</a:t>
              </a:r>
              <a:endPara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20398" y="1245513"/>
              <a:ext cx="28744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P</a:t>
              </a:r>
              <a:r>
                <a:rPr lang="fr-FR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^PN COMPLEXITE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631334" y="3308422"/>
            <a:ext cx="1985779" cy="1356211"/>
            <a:chOff x="4320398" y="1245513"/>
            <a:chExt cx="2874451" cy="1356211"/>
          </a:xfrm>
        </p:grpSpPr>
        <p:sp>
          <p:nvSpPr>
            <p:cNvPr id="19" name="TextBox 18"/>
            <p:cNvSpPr txBox="1"/>
            <p:nvPr/>
          </p:nvSpPr>
          <p:spPr>
            <a:xfrm>
              <a:off x="4320399" y="1493728"/>
              <a:ext cx="287445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fr-FR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Algorithme qui donne une solution (1−ϵ)approchée (1+ϵ) en temps polynomial en n​.</a:t>
              </a:r>
            </a:p>
            <a:p>
              <a:pPr algn="ctr"/>
              <a:r>
                <a:rPr lang="fr-FR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Exemple : Pour </a:t>
              </a:r>
            </a:p>
            <a:p>
              <a:pPr algn="ctr"/>
              <a:r>
                <a:rPr lang="fr-FR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ϵ=0.1, on obtient une solution à 90% de l’optimal.</a:t>
              </a:r>
            </a:p>
            <a:p>
              <a:pPr algn="ctr"/>
              <a:endParaRPr lang="fr-FR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320398" y="1245513"/>
              <a:ext cx="28744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FPTAS COMPLEXITE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741669" y="3283599"/>
            <a:ext cx="1985779" cy="1171545"/>
            <a:chOff x="4320398" y="1245513"/>
            <a:chExt cx="2874451" cy="1325433"/>
          </a:xfrm>
        </p:grpSpPr>
        <p:sp>
          <p:nvSpPr>
            <p:cNvPr id="22" name="TextBox 21"/>
            <p:cNvSpPr txBox="1"/>
            <p:nvPr/>
          </p:nvSpPr>
          <p:spPr>
            <a:xfrm>
              <a:off x="4320399" y="1493728"/>
              <a:ext cx="287445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Utilise une table pour stocker les valeurs optimales pour toutes les capacités ≤ W.</a:t>
              </a:r>
            </a:p>
            <a:p>
              <a:pPr algn="ctr"/>
              <a:r>
                <a:rPr lang="fr-FR" altLang="ko-KR" sz="800" b="1" u="sn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Pseudo-Polynomial :</a:t>
              </a:r>
            </a:p>
            <a:p>
              <a:pPr algn="ctr"/>
              <a:r>
                <a:rPr lang="fr-FR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Polynomial en n et W</a:t>
              </a:r>
            </a:p>
            <a:p>
              <a:pPr algn="ctr"/>
              <a:r>
                <a:rPr lang="fr-FR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 (la capacité), mais </a:t>
              </a:r>
            </a:p>
            <a:p>
              <a:pPr algn="ctr"/>
              <a:r>
                <a:rPr lang="fr-FR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W peut être exponentiel en la taille de l’entrée 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320398" y="1245513"/>
              <a:ext cx="28744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O</a:t>
              </a:r>
              <a:r>
                <a:rPr lang="en-GB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(</a:t>
              </a:r>
              <a:r>
                <a:rPr lang="en-GB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nk</a:t>
              </a:r>
              <a:r>
                <a:rPr lang="en-GB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) COMPLEXITE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36" name="Picture Placeholder 35">
            <a:extLst>
              <a:ext uri="{FF2B5EF4-FFF2-40B4-BE49-F238E27FC236}">
                <a16:creationId xmlns:a16="http://schemas.microsoft.com/office/drawing/2014/main" id="{3C0470C9-4A1B-4757-A591-F55253CD74F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7" b="19437"/>
          <a:stretch>
            <a:fillRect/>
          </a:stretch>
        </p:blipFill>
        <p:spPr/>
      </p:pic>
      <p:sp>
        <p:nvSpPr>
          <p:cNvPr id="4" name="Rectangle 3"/>
          <p:cNvSpPr/>
          <p:nvPr/>
        </p:nvSpPr>
        <p:spPr>
          <a:xfrm>
            <a:off x="1043552" y="2434740"/>
            <a:ext cx="720000" cy="72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altLang="ko-KR" dirty="0"/>
              <a:t>NP</a:t>
            </a:r>
            <a:endParaRPr lang="ko-KR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3153889" y="2434741"/>
            <a:ext cx="720000" cy="72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altLang="ko-KR" sz="1600" dirty="0"/>
              <a:t>P</a:t>
            </a:r>
            <a:r>
              <a:rPr lang="fr-FR" altLang="ko-KR" sz="1600" dirty="0"/>
              <a:t>^</a:t>
            </a:r>
            <a:r>
              <a:rPr lang="en-GB" altLang="ko-KR" sz="1600" dirty="0"/>
              <a:t>NP</a:t>
            </a:r>
            <a:endParaRPr lang="ko-KR" alt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5264224" y="2434740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altLang="ko-KR" sz="1200" dirty="0"/>
              <a:t>FPTAS</a:t>
            </a:r>
            <a:endParaRPr lang="ko-KR" alt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7374560" y="2434741"/>
            <a:ext cx="941855" cy="7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altLang="ko-KR" sz="1050" dirty="0"/>
              <a:t>Algo </a:t>
            </a:r>
            <a:r>
              <a:rPr lang="en-GB" altLang="ko-KR" sz="1050" dirty="0" err="1"/>
              <a:t>dynamique</a:t>
            </a:r>
            <a:endParaRPr lang="en-GB" altLang="ko-KR" sz="1050" dirty="0"/>
          </a:p>
          <a:p>
            <a:pPr algn="ctr"/>
            <a:r>
              <a:rPr lang="en-GB" altLang="ko-KR" sz="1050" dirty="0"/>
              <a:t>O(</a:t>
            </a:r>
            <a:r>
              <a:rPr lang="en-GB" altLang="ko-KR" sz="1050" dirty="0" err="1"/>
              <a:t>nk</a:t>
            </a:r>
            <a:r>
              <a:rPr lang="en-GB" altLang="ko-KR" sz="1050" dirty="0"/>
              <a:t>)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63278606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400" dirty="0"/>
              <a:t>Methode de resolution</a:t>
            </a:r>
            <a:endParaRPr lang="ko-KR" alt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z="1400" dirty="0"/>
              <a:t>Comparaison des types de solutions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EAE660-03A5-4A8C-8B95-DDABB9C29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892283"/>
            <a:ext cx="1267966" cy="114976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39855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4564" y="123478"/>
            <a:ext cx="9144000" cy="576064"/>
          </a:xfrm>
        </p:spPr>
        <p:txBody>
          <a:bodyPr/>
          <a:lstStyle/>
          <a:p>
            <a:r>
              <a:rPr lang="en-US" altLang="ko-KR" sz="3600" dirty="0"/>
              <a:t>Methode de resolution</a:t>
            </a:r>
            <a:endParaRPr lang="ko-KR" altLang="en-US" sz="36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14E6F81-A609-42E3-907F-1CF692376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679" y="1733433"/>
            <a:ext cx="6382641" cy="167663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3D4EC27-1D52-4665-AC6B-120B3CE905EE}"/>
              </a:ext>
            </a:extLst>
          </p:cNvPr>
          <p:cNvSpPr txBox="1"/>
          <p:nvPr/>
        </p:nvSpPr>
        <p:spPr>
          <a:xfrm>
            <a:off x="2051720" y="1275606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 </a:t>
            </a:r>
            <a:r>
              <a:rPr lang="en-GB" dirty="0" err="1"/>
              <a:t>poids</a:t>
            </a:r>
            <a:r>
              <a:rPr lang="en-GB" dirty="0"/>
              <a:t> </a:t>
            </a:r>
            <a:r>
              <a:rPr lang="en-GB" dirty="0" err="1"/>
              <a:t>maximale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10 kg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782635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575556" y="2529325"/>
            <a:ext cx="7992888" cy="0"/>
          </a:xfrm>
          <a:prstGeom prst="line">
            <a:avLst/>
          </a:prstGeom>
          <a:ln w="25400">
            <a:solidFill>
              <a:schemeClr val="accent6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4564" y="123478"/>
            <a:ext cx="9144000" cy="576064"/>
          </a:xfrm>
        </p:spPr>
        <p:txBody>
          <a:bodyPr/>
          <a:lstStyle/>
          <a:p>
            <a:r>
              <a:rPr lang="en-US" altLang="ko-KR" sz="3600" dirty="0"/>
              <a:t>Methode de resolution</a:t>
            </a:r>
            <a:endParaRPr lang="ko-KR" alt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1-Methode </a:t>
            </a:r>
            <a:r>
              <a:rPr lang="en-US" altLang="ko-KR" dirty="0" err="1"/>
              <a:t>heuristique</a:t>
            </a:r>
            <a:endParaRPr lang="en-US" altLang="ko-KR" dirty="0"/>
          </a:p>
        </p:txBody>
      </p:sp>
      <p:grpSp>
        <p:nvGrpSpPr>
          <p:cNvPr id="11" name="Group 10"/>
          <p:cNvGrpSpPr/>
          <p:nvPr/>
        </p:nvGrpSpPr>
        <p:grpSpPr>
          <a:xfrm>
            <a:off x="1148980" y="2133281"/>
            <a:ext cx="792088" cy="792088"/>
            <a:chOff x="1835696" y="2517293"/>
            <a:chExt cx="792088" cy="792088"/>
          </a:xfrm>
        </p:grpSpPr>
        <p:sp>
          <p:nvSpPr>
            <p:cNvPr id="10" name="Diamond 9"/>
            <p:cNvSpPr/>
            <p:nvPr/>
          </p:nvSpPr>
          <p:spPr>
            <a:xfrm>
              <a:off x="1835696" y="2517293"/>
              <a:ext cx="792088" cy="792088"/>
            </a:xfrm>
            <a:prstGeom prst="diamond">
              <a:avLst/>
            </a:prstGeom>
            <a:solidFill>
              <a:schemeClr val="bg1"/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" name="Diamond 8"/>
            <p:cNvSpPr/>
            <p:nvPr/>
          </p:nvSpPr>
          <p:spPr>
            <a:xfrm>
              <a:off x="1901658" y="2583255"/>
              <a:ext cx="660164" cy="660164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655902" y="2133281"/>
            <a:ext cx="792088" cy="792088"/>
            <a:chOff x="1835696" y="2517293"/>
            <a:chExt cx="792088" cy="792088"/>
          </a:xfrm>
        </p:grpSpPr>
        <p:sp>
          <p:nvSpPr>
            <p:cNvPr id="13" name="Diamond 12"/>
            <p:cNvSpPr/>
            <p:nvPr/>
          </p:nvSpPr>
          <p:spPr>
            <a:xfrm>
              <a:off x="1835696" y="2517293"/>
              <a:ext cx="792088" cy="792088"/>
            </a:xfrm>
            <a:prstGeom prst="diamond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4" name="Diamond 13"/>
            <p:cNvSpPr/>
            <p:nvPr/>
          </p:nvSpPr>
          <p:spPr>
            <a:xfrm>
              <a:off x="1901658" y="2583255"/>
              <a:ext cx="660164" cy="660164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168070" y="2133281"/>
            <a:ext cx="792088" cy="792088"/>
            <a:chOff x="1835696" y="2517293"/>
            <a:chExt cx="792088" cy="792088"/>
          </a:xfrm>
        </p:grpSpPr>
        <p:sp>
          <p:nvSpPr>
            <p:cNvPr id="16" name="Diamond 15"/>
            <p:cNvSpPr/>
            <p:nvPr/>
          </p:nvSpPr>
          <p:spPr>
            <a:xfrm>
              <a:off x="1835696" y="2517293"/>
              <a:ext cx="792088" cy="792088"/>
            </a:xfrm>
            <a:prstGeom prst="diamond">
              <a:avLst/>
            </a:prstGeom>
            <a:solidFill>
              <a:schemeClr val="bg1"/>
            </a:solidFill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7" name="Diamond 16"/>
            <p:cNvSpPr/>
            <p:nvPr/>
          </p:nvSpPr>
          <p:spPr>
            <a:xfrm>
              <a:off x="1901658" y="2583255"/>
              <a:ext cx="660164" cy="660164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680238" y="2133281"/>
            <a:ext cx="792088" cy="792088"/>
            <a:chOff x="1835696" y="2517293"/>
            <a:chExt cx="792088" cy="792088"/>
          </a:xfrm>
        </p:grpSpPr>
        <p:sp>
          <p:nvSpPr>
            <p:cNvPr id="19" name="Diamond 18"/>
            <p:cNvSpPr/>
            <p:nvPr/>
          </p:nvSpPr>
          <p:spPr>
            <a:xfrm>
              <a:off x="1835696" y="2517293"/>
              <a:ext cx="792088" cy="792088"/>
            </a:xfrm>
            <a:prstGeom prst="diamond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0" name="Diamond 19"/>
            <p:cNvSpPr/>
            <p:nvPr/>
          </p:nvSpPr>
          <p:spPr>
            <a:xfrm>
              <a:off x="1901658" y="2583255"/>
              <a:ext cx="660164" cy="660164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2" name="Diamond 21"/>
          <p:cNvSpPr/>
          <p:nvPr/>
        </p:nvSpPr>
        <p:spPr>
          <a:xfrm>
            <a:off x="7128855" y="2032261"/>
            <a:ext cx="979994" cy="979994"/>
          </a:xfrm>
          <a:prstGeom prst="diamond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964000" y="1618740"/>
            <a:ext cx="115972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 err="1">
                <a:solidFill>
                  <a:schemeClr val="accent5"/>
                </a:solidFill>
                <a:cs typeface="Arial" pitchFamily="34" charset="0"/>
              </a:rPr>
              <a:t>Nommer</a:t>
            </a:r>
            <a:r>
              <a:rPr lang="en-US" altLang="ko-KR" sz="1200" b="1" dirty="0">
                <a:solidFill>
                  <a:schemeClr val="accent5"/>
                </a:solidFill>
                <a:cs typeface="Arial" pitchFamily="34" charset="0"/>
              </a:rPr>
              <a:t> les options </a:t>
            </a:r>
            <a:endParaRPr lang="ko-KR" altLang="en-US" sz="1200" b="1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39626" y="1535474"/>
            <a:ext cx="104732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 err="1">
                <a:solidFill>
                  <a:schemeClr val="accent4"/>
                </a:solidFill>
                <a:cs typeface="Arial" pitchFamily="34" charset="0"/>
              </a:rPr>
              <a:t>ecrire</a:t>
            </a:r>
            <a:r>
              <a:rPr lang="en-US" altLang="ko-KR" b="1" dirty="0">
                <a:solidFill>
                  <a:schemeClr val="accent4"/>
                </a:solidFill>
                <a:cs typeface="Arial" pitchFamily="34" charset="0"/>
              </a:rPr>
              <a:t> la table</a:t>
            </a:r>
            <a:endParaRPr lang="ko-KR" altLang="en-US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34062" y="1288324"/>
            <a:ext cx="1266748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 err="1">
                <a:solidFill>
                  <a:schemeClr val="accent3"/>
                </a:solidFill>
                <a:cs typeface="Arial" pitchFamily="34" charset="0"/>
              </a:rPr>
              <a:t>Clacule</a:t>
            </a:r>
            <a:r>
              <a:rPr lang="en-US" altLang="ko-KR" b="1" dirty="0">
                <a:solidFill>
                  <a:schemeClr val="accent3"/>
                </a:solidFill>
                <a:cs typeface="Arial" pitchFamily="34" charset="0"/>
              </a:rPr>
              <a:t> le rapport V/P</a:t>
            </a:r>
            <a:endParaRPr lang="ko-KR" altLang="en-US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56108" y="1226387"/>
            <a:ext cx="139006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2"/>
                </a:solidFill>
                <a:cs typeface="Arial" pitchFamily="34" charset="0"/>
              </a:rPr>
              <a:t>Comparer les </a:t>
            </a:r>
            <a:r>
              <a:rPr lang="en-US" altLang="ko-KR" b="1" dirty="0" err="1">
                <a:solidFill>
                  <a:schemeClr val="accent2"/>
                </a:solidFill>
                <a:cs typeface="Arial" pitchFamily="34" charset="0"/>
              </a:rPr>
              <a:t>valeurs</a:t>
            </a:r>
            <a:r>
              <a:rPr lang="en-US" altLang="ko-KR" b="1" dirty="0">
                <a:solidFill>
                  <a:schemeClr val="accent2"/>
                </a:solidFill>
                <a:cs typeface="Arial" pitchFamily="34" charset="0"/>
              </a:rPr>
              <a:t> de rapport </a:t>
            </a:r>
            <a:endParaRPr lang="ko-KR" altLang="en-US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05483" y="1143031"/>
            <a:ext cx="156449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  <a:cs typeface="Arial" pitchFamily="34" charset="0"/>
              </a:rPr>
              <a:t>Verifier </a:t>
            </a:r>
          </a:p>
          <a:p>
            <a:pPr algn="ctr"/>
            <a:r>
              <a:rPr lang="en-US" altLang="ko-KR" b="1" dirty="0">
                <a:solidFill>
                  <a:schemeClr val="accent1"/>
                </a:solidFill>
                <a:cs typeface="Arial" pitchFamily="34" charset="0"/>
              </a:rPr>
              <a:t>Le </a:t>
            </a:r>
            <a:r>
              <a:rPr lang="en-US" altLang="ko-KR" b="1" dirty="0" err="1">
                <a:solidFill>
                  <a:schemeClr val="accent1"/>
                </a:solidFill>
                <a:cs typeface="Arial" pitchFamily="34" charset="0"/>
              </a:rPr>
              <a:t>poid</a:t>
            </a:r>
            <a:r>
              <a:rPr lang="en-US" altLang="ko-KR" b="1" dirty="0">
                <a:solidFill>
                  <a:schemeClr val="accent1"/>
                </a:solidFill>
                <a:cs typeface="Arial" pitchFamily="34" charset="0"/>
              </a:rPr>
              <a:t> </a:t>
            </a:r>
            <a:endParaRPr lang="ko-KR" altLang="en-US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3" name="Block Arc 14"/>
          <p:cNvSpPr/>
          <p:nvPr/>
        </p:nvSpPr>
        <p:spPr>
          <a:xfrm rot="16200000">
            <a:off x="7462303" y="2365607"/>
            <a:ext cx="313098" cy="313303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793901" y="2938967"/>
            <a:ext cx="1513467" cy="1436843"/>
            <a:chOff x="496119" y="2303461"/>
            <a:chExt cx="1765278" cy="1436843"/>
          </a:xfrm>
          <a:noFill/>
        </p:grpSpPr>
        <p:sp>
          <p:nvSpPr>
            <p:cNvPr id="35" name="TextBox 34"/>
            <p:cNvSpPr txBox="1"/>
            <p:nvPr/>
          </p:nvSpPr>
          <p:spPr>
            <a:xfrm>
              <a:off x="496119" y="2724641"/>
              <a:ext cx="1752190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De x1 a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xn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x1,x2,x3,…...,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xn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09207" y="2303461"/>
              <a:ext cx="17521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err="1">
                  <a:cs typeface="Arial" pitchFamily="34" charset="0"/>
                </a:rPr>
                <a:t>Nommer</a:t>
              </a:r>
              <a:r>
                <a:rPr lang="en-US" altLang="ko-KR" sz="1400" b="1" dirty="0">
                  <a:cs typeface="Arial" pitchFamily="34" charset="0"/>
                </a:rPr>
                <a:t> les options 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300823" y="3105066"/>
            <a:ext cx="1502246" cy="1270744"/>
            <a:chOff x="496119" y="2469560"/>
            <a:chExt cx="1752190" cy="1270744"/>
          </a:xfrm>
          <a:noFill/>
        </p:grpSpPr>
        <p:sp>
          <p:nvSpPr>
            <p:cNvPr id="38" name="TextBox 37"/>
            <p:cNvSpPr txBox="1"/>
            <p:nvPr/>
          </p:nvSpPr>
          <p:spPr>
            <a:xfrm>
              <a:off x="496119" y="2724641"/>
              <a:ext cx="1752190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fr-FR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endParaRPr lang="fr-FR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r>
                <a:rPr lang="fr-F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mettre les valeurs et le poids dans le tableau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 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96119" y="2469560"/>
              <a:ext cx="17521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err="1">
                  <a:cs typeface="Arial" pitchFamily="34" charset="0"/>
                </a:rPr>
                <a:t>ecrire</a:t>
              </a:r>
              <a:r>
                <a:rPr lang="en-US" altLang="ko-KR" sz="1400" b="1" dirty="0">
                  <a:cs typeface="Arial" pitchFamily="34" charset="0"/>
                </a:rPr>
                <a:t> la table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807745" y="2880747"/>
            <a:ext cx="1527654" cy="1310397"/>
            <a:chOff x="496119" y="2245241"/>
            <a:chExt cx="1781825" cy="1310397"/>
          </a:xfrm>
          <a:noFill/>
        </p:grpSpPr>
        <p:sp>
          <p:nvSpPr>
            <p:cNvPr id="41" name="TextBox 40"/>
            <p:cNvSpPr txBox="1"/>
            <p:nvPr/>
          </p:nvSpPr>
          <p:spPr>
            <a:xfrm>
              <a:off x="496119" y="2724641"/>
              <a:ext cx="1752190" cy="83099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Calculation de </a:t>
              </a:r>
            </a:p>
            <a:p>
              <a:pPr algn="ctr"/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Valeur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/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poids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 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25754" y="2245241"/>
              <a:ext cx="17521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err="1">
                  <a:cs typeface="Arial" pitchFamily="34" charset="0"/>
                </a:rPr>
                <a:t>Clacule</a:t>
              </a:r>
              <a:r>
                <a:rPr lang="en-US" altLang="ko-KR" sz="1400" b="1" dirty="0">
                  <a:cs typeface="Arial" pitchFamily="34" charset="0"/>
                </a:rPr>
                <a:t> le rapport V/P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314667" y="2869683"/>
            <a:ext cx="1583856" cy="1506127"/>
            <a:chOff x="496119" y="2234177"/>
            <a:chExt cx="1847378" cy="1506127"/>
          </a:xfrm>
          <a:noFill/>
        </p:grpSpPr>
        <p:sp>
          <p:nvSpPr>
            <p:cNvPr id="44" name="TextBox 43"/>
            <p:cNvSpPr txBox="1"/>
            <p:nvPr/>
          </p:nvSpPr>
          <p:spPr>
            <a:xfrm>
              <a:off x="496119" y="2724641"/>
              <a:ext cx="1752190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endParaRPr lang="fr-FR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r>
                <a:rPr lang="fr-F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nous prenons les valeurs les plus grandes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91307" y="2234177"/>
              <a:ext cx="175219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cs typeface="Arial" pitchFamily="34" charset="0"/>
                </a:rPr>
                <a:t>Comparer les </a:t>
              </a:r>
              <a:r>
                <a:rPr lang="en-US" altLang="ko-KR" sz="1400" b="1" dirty="0" err="1">
                  <a:cs typeface="Arial" pitchFamily="34" charset="0"/>
                </a:rPr>
                <a:t>valeurs</a:t>
              </a:r>
              <a:r>
                <a:rPr lang="en-US" altLang="ko-KR" sz="1400" b="1" dirty="0">
                  <a:cs typeface="Arial" pitchFamily="34" charset="0"/>
                </a:rPr>
                <a:t> de rapport 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867729" y="3105066"/>
            <a:ext cx="1502246" cy="1455410"/>
            <a:chOff x="496119" y="2469560"/>
            <a:chExt cx="1752190" cy="1455410"/>
          </a:xfrm>
          <a:noFill/>
        </p:grpSpPr>
        <p:sp>
          <p:nvSpPr>
            <p:cNvPr id="47" name="TextBox 46"/>
            <p:cNvSpPr txBox="1"/>
            <p:nvPr/>
          </p:nvSpPr>
          <p:spPr>
            <a:xfrm>
              <a:off x="496119" y="2724641"/>
              <a:ext cx="1752190" cy="120032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fr-FR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endParaRPr lang="fr-FR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r>
                <a:rPr lang="fr-F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vérifier si la somme du poids est supérieure à la capacité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96119" y="2469560"/>
              <a:ext cx="17521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cs typeface="Arial" pitchFamily="34" charset="0"/>
                </a:rPr>
                <a:t>Verifier Le </a:t>
              </a:r>
              <a:r>
                <a:rPr lang="en-US" altLang="ko-KR" sz="1400" b="1" dirty="0" err="1">
                  <a:cs typeface="Arial" pitchFamily="34" charset="0"/>
                </a:rPr>
                <a:t>poid</a:t>
              </a:r>
              <a:r>
                <a:rPr lang="en-US" altLang="ko-KR" sz="1400" b="1" dirty="0">
                  <a:cs typeface="Arial" pitchFamily="34" charset="0"/>
                </a:rPr>
                <a:t> 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82B70C8-7E59-417A-9595-23DA6E6805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930" y="2423476"/>
            <a:ext cx="378031" cy="2116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6523A1-2214-404A-B8AA-E7C6414D5A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011" y="2388511"/>
            <a:ext cx="253706" cy="26749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5C745C2-D208-4B2E-A235-29951E8D91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429834" y="2391722"/>
            <a:ext cx="275203" cy="27520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888A43E1-B4DE-4D33-9DD0-9FC1561B16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266" y="2351736"/>
            <a:ext cx="288032" cy="307941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9610FB93-642D-4F5C-93B9-C28E8A8C3C1F}"/>
              </a:ext>
            </a:extLst>
          </p:cNvPr>
          <p:cNvGrpSpPr/>
          <p:nvPr/>
        </p:nvGrpSpPr>
        <p:grpSpPr>
          <a:xfrm>
            <a:off x="7128855" y="2032261"/>
            <a:ext cx="979994" cy="979994"/>
            <a:chOff x="1835696" y="2517293"/>
            <a:chExt cx="792088" cy="792088"/>
          </a:xfrm>
        </p:grpSpPr>
        <p:sp>
          <p:nvSpPr>
            <p:cNvPr id="56" name="Diamond 55">
              <a:extLst>
                <a:ext uri="{FF2B5EF4-FFF2-40B4-BE49-F238E27FC236}">
                  <a16:creationId xmlns:a16="http://schemas.microsoft.com/office/drawing/2014/main" id="{D6BA4D6A-05C3-4181-AADB-A238718A8DED}"/>
                </a:ext>
              </a:extLst>
            </p:cNvPr>
            <p:cNvSpPr/>
            <p:nvPr/>
          </p:nvSpPr>
          <p:spPr>
            <a:xfrm>
              <a:off x="1835696" y="2517293"/>
              <a:ext cx="792088" cy="792088"/>
            </a:xfrm>
            <a:prstGeom prst="diamond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7" name="Diamond 56">
              <a:extLst>
                <a:ext uri="{FF2B5EF4-FFF2-40B4-BE49-F238E27FC236}">
                  <a16:creationId xmlns:a16="http://schemas.microsoft.com/office/drawing/2014/main" id="{260B249B-774A-4353-91CA-59E0BB363F28}"/>
                </a:ext>
              </a:extLst>
            </p:cNvPr>
            <p:cNvSpPr/>
            <p:nvPr/>
          </p:nvSpPr>
          <p:spPr>
            <a:xfrm>
              <a:off x="1901658" y="2583255"/>
              <a:ext cx="660164" cy="660164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050C76B4-95FB-40F8-9932-F4CD100C3AA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005" y="2363582"/>
            <a:ext cx="503693" cy="25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002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4564" y="123478"/>
            <a:ext cx="9144000" cy="576064"/>
          </a:xfrm>
        </p:spPr>
        <p:txBody>
          <a:bodyPr/>
          <a:lstStyle/>
          <a:p>
            <a:r>
              <a:rPr lang="en-US" altLang="ko-KR" sz="3600" dirty="0"/>
              <a:t>Methode de resolution</a:t>
            </a:r>
            <a:endParaRPr lang="ko-KR" altLang="en-US" sz="3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D9698F7-71F6-4096-B3CD-26DB1CEE3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969" y="1523854"/>
            <a:ext cx="6354062" cy="2095792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C9C6DB2-1231-4AC2-9924-1317C3E74F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699542"/>
            <a:ext cx="9144000" cy="288032"/>
          </a:xfrm>
        </p:spPr>
        <p:txBody>
          <a:bodyPr/>
          <a:lstStyle/>
          <a:p>
            <a:pPr lvl="0"/>
            <a:r>
              <a:rPr lang="en-US" altLang="ko-KR" dirty="0"/>
              <a:t>1-Methode </a:t>
            </a:r>
            <a:r>
              <a:rPr lang="en-US" altLang="ko-KR" dirty="0" err="1"/>
              <a:t>heuristique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62630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575556" y="2529325"/>
            <a:ext cx="7992888" cy="0"/>
          </a:xfrm>
          <a:prstGeom prst="line">
            <a:avLst/>
          </a:prstGeom>
          <a:ln w="25400">
            <a:solidFill>
              <a:schemeClr val="accent6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4564" y="123478"/>
            <a:ext cx="9144000" cy="576064"/>
          </a:xfrm>
        </p:spPr>
        <p:txBody>
          <a:bodyPr/>
          <a:lstStyle/>
          <a:p>
            <a:r>
              <a:rPr lang="en-US" altLang="ko-KR" sz="3600" dirty="0"/>
              <a:t>Methode de resolution</a:t>
            </a:r>
            <a:endParaRPr lang="ko-KR" alt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2-Methode complete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148980" y="2133281"/>
            <a:ext cx="792088" cy="792088"/>
            <a:chOff x="1835696" y="2517293"/>
            <a:chExt cx="792088" cy="792088"/>
          </a:xfrm>
        </p:grpSpPr>
        <p:sp>
          <p:nvSpPr>
            <p:cNvPr id="10" name="Diamond 9"/>
            <p:cNvSpPr/>
            <p:nvPr/>
          </p:nvSpPr>
          <p:spPr>
            <a:xfrm>
              <a:off x="1835696" y="2517293"/>
              <a:ext cx="792088" cy="792088"/>
            </a:xfrm>
            <a:prstGeom prst="diamond">
              <a:avLst/>
            </a:prstGeom>
            <a:solidFill>
              <a:schemeClr val="bg1"/>
            </a:solidFill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9" name="Diamond 8"/>
            <p:cNvSpPr/>
            <p:nvPr/>
          </p:nvSpPr>
          <p:spPr>
            <a:xfrm>
              <a:off x="1901658" y="2583255"/>
              <a:ext cx="660164" cy="660164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655902" y="2133281"/>
            <a:ext cx="792088" cy="792088"/>
            <a:chOff x="1835696" y="2517293"/>
            <a:chExt cx="792088" cy="792088"/>
          </a:xfrm>
        </p:grpSpPr>
        <p:sp>
          <p:nvSpPr>
            <p:cNvPr id="13" name="Diamond 12"/>
            <p:cNvSpPr/>
            <p:nvPr/>
          </p:nvSpPr>
          <p:spPr>
            <a:xfrm>
              <a:off x="1835696" y="2517293"/>
              <a:ext cx="792088" cy="792088"/>
            </a:xfrm>
            <a:prstGeom prst="diamond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4" name="Diamond 13"/>
            <p:cNvSpPr/>
            <p:nvPr/>
          </p:nvSpPr>
          <p:spPr>
            <a:xfrm>
              <a:off x="1901658" y="2583255"/>
              <a:ext cx="660164" cy="660164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168070" y="2133281"/>
            <a:ext cx="792088" cy="792088"/>
            <a:chOff x="1835696" y="2517293"/>
            <a:chExt cx="792088" cy="792088"/>
          </a:xfrm>
        </p:grpSpPr>
        <p:sp>
          <p:nvSpPr>
            <p:cNvPr id="16" name="Diamond 15"/>
            <p:cNvSpPr/>
            <p:nvPr/>
          </p:nvSpPr>
          <p:spPr>
            <a:xfrm>
              <a:off x="1835696" y="2517293"/>
              <a:ext cx="792088" cy="792088"/>
            </a:xfrm>
            <a:prstGeom prst="diamond">
              <a:avLst/>
            </a:prstGeom>
            <a:solidFill>
              <a:schemeClr val="bg1"/>
            </a:solidFill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7" name="Diamond 16"/>
            <p:cNvSpPr/>
            <p:nvPr/>
          </p:nvSpPr>
          <p:spPr>
            <a:xfrm>
              <a:off x="1901658" y="2583255"/>
              <a:ext cx="660164" cy="660164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680238" y="2133281"/>
            <a:ext cx="792088" cy="792088"/>
            <a:chOff x="1835696" y="2517293"/>
            <a:chExt cx="792088" cy="792088"/>
          </a:xfrm>
        </p:grpSpPr>
        <p:sp>
          <p:nvSpPr>
            <p:cNvPr id="19" name="Diamond 18"/>
            <p:cNvSpPr/>
            <p:nvPr/>
          </p:nvSpPr>
          <p:spPr>
            <a:xfrm>
              <a:off x="1835696" y="2517293"/>
              <a:ext cx="792088" cy="792088"/>
            </a:xfrm>
            <a:prstGeom prst="diamond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0" name="Diamond 19"/>
            <p:cNvSpPr/>
            <p:nvPr/>
          </p:nvSpPr>
          <p:spPr>
            <a:xfrm>
              <a:off x="1901658" y="2583255"/>
              <a:ext cx="660164" cy="660164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2" name="Diamond 21"/>
          <p:cNvSpPr/>
          <p:nvPr/>
        </p:nvSpPr>
        <p:spPr>
          <a:xfrm>
            <a:off x="7128855" y="2032261"/>
            <a:ext cx="979994" cy="979994"/>
          </a:xfrm>
          <a:prstGeom prst="diamond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964000" y="1618740"/>
            <a:ext cx="115972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b="1" dirty="0" err="1">
                <a:solidFill>
                  <a:schemeClr val="accent5"/>
                </a:solidFill>
                <a:cs typeface="Arial" pitchFamily="34" charset="0"/>
              </a:rPr>
              <a:t>Nommer</a:t>
            </a:r>
            <a:r>
              <a:rPr lang="en-US" altLang="ko-KR" sz="1200" b="1" dirty="0">
                <a:solidFill>
                  <a:schemeClr val="accent5"/>
                </a:solidFill>
                <a:cs typeface="Arial" pitchFamily="34" charset="0"/>
              </a:rPr>
              <a:t> les options </a:t>
            </a:r>
            <a:endParaRPr lang="ko-KR" altLang="en-US" sz="1200" b="1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39626" y="1535474"/>
            <a:ext cx="104732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 err="1">
                <a:solidFill>
                  <a:schemeClr val="accent4"/>
                </a:solidFill>
                <a:cs typeface="Arial" pitchFamily="34" charset="0"/>
              </a:rPr>
              <a:t>ecrire</a:t>
            </a:r>
            <a:r>
              <a:rPr lang="en-US" altLang="ko-KR" b="1" dirty="0">
                <a:solidFill>
                  <a:schemeClr val="accent4"/>
                </a:solidFill>
                <a:cs typeface="Arial" pitchFamily="34" charset="0"/>
              </a:rPr>
              <a:t> la table</a:t>
            </a:r>
            <a:endParaRPr lang="ko-KR" altLang="en-US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34061" y="1288325"/>
            <a:ext cx="1319979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3"/>
                </a:solidFill>
                <a:cs typeface="Arial" pitchFamily="34" charset="0"/>
              </a:rPr>
              <a:t>Tester </a:t>
            </a:r>
            <a:r>
              <a:rPr lang="en-US" altLang="ko-KR" b="1" dirty="0" err="1">
                <a:solidFill>
                  <a:schemeClr val="accent3"/>
                </a:solidFill>
                <a:cs typeface="Arial" pitchFamily="34" charset="0"/>
              </a:rPr>
              <a:t>tous</a:t>
            </a:r>
            <a:r>
              <a:rPr lang="en-US" altLang="ko-KR" b="1" dirty="0">
                <a:solidFill>
                  <a:schemeClr val="accent3"/>
                </a:solidFill>
                <a:cs typeface="Arial" pitchFamily="34" charset="0"/>
              </a:rPr>
              <a:t> les </a:t>
            </a:r>
            <a:r>
              <a:rPr lang="en-US" altLang="ko-KR" b="1" dirty="0" err="1">
                <a:solidFill>
                  <a:schemeClr val="accent3"/>
                </a:solidFill>
                <a:cs typeface="Arial" pitchFamily="34" charset="0"/>
              </a:rPr>
              <a:t>possibilite</a:t>
            </a:r>
            <a:endParaRPr lang="ko-KR" altLang="en-US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56108" y="1364886"/>
            <a:ext cx="139006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2"/>
                </a:solidFill>
                <a:cs typeface="Arial" pitchFamily="34" charset="0"/>
              </a:rPr>
              <a:t>Comparer les </a:t>
            </a:r>
            <a:r>
              <a:rPr lang="en-US" altLang="ko-KR" b="1" dirty="0" err="1">
                <a:solidFill>
                  <a:schemeClr val="accent2"/>
                </a:solidFill>
                <a:cs typeface="Arial" pitchFamily="34" charset="0"/>
              </a:rPr>
              <a:t>valeurs</a:t>
            </a:r>
            <a:endParaRPr lang="ko-KR" altLang="en-US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05483" y="1143031"/>
            <a:ext cx="1564492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1"/>
                </a:solidFill>
                <a:cs typeface="Arial" pitchFamily="34" charset="0"/>
              </a:rPr>
              <a:t>Verifier </a:t>
            </a:r>
          </a:p>
          <a:p>
            <a:pPr algn="ctr"/>
            <a:r>
              <a:rPr lang="en-US" altLang="ko-KR" b="1" dirty="0">
                <a:solidFill>
                  <a:schemeClr val="accent1"/>
                </a:solidFill>
                <a:cs typeface="Arial" pitchFamily="34" charset="0"/>
              </a:rPr>
              <a:t>Le </a:t>
            </a:r>
            <a:r>
              <a:rPr lang="en-US" altLang="ko-KR" b="1" dirty="0" err="1">
                <a:solidFill>
                  <a:schemeClr val="accent1"/>
                </a:solidFill>
                <a:cs typeface="Arial" pitchFamily="34" charset="0"/>
              </a:rPr>
              <a:t>poid</a:t>
            </a:r>
            <a:r>
              <a:rPr lang="en-US" altLang="ko-KR" b="1" dirty="0">
                <a:solidFill>
                  <a:schemeClr val="accent1"/>
                </a:solidFill>
                <a:cs typeface="Arial" pitchFamily="34" charset="0"/>
              </a:rPr>
              <a:t> </a:t>
            </a:r>
            <a:endParaRPr lang="ko-KR" altLang="en-US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3" name="Block Arc 14"/>
          <p:cNvSpPr/>
          <p:nvPr/>
        </p:nvSpPr>
        <p:spPr>
          <a:xfrm rot="16200000">
            <a:off x="7462303" y="2365607"/>
            <a:ext cx="313098" cy="313303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793901" y="2938967"/>
            <a:ext cx="1513467" cy="1436843"/>
            <a:chOff x="496119" y="2303461"/>
            <a:chExt cx="1765278" cy="1436843"/>
          </a:xfrm>
          <a:noFill/>
        </p:grpSpPr>
        <p:sp>
          <p:nvSpPr>
            <p:cNvPr id="35" name="TextBox 34"/>
            <p:cNvSpPr txBox="1"/>
            <p:nvPr/>
          </p:nvSpPr>
          <p:spPr>
            <a:xfrm>
              <a:off x="496119" y="2724641"/>
              <a:ext cx="1752190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De x1 a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xn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x1,x2,x3,…...,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xn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09207" y="2303461"/>
              <a:ext cx="17521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err="1">
                  <a:cs typeface="Arial" pitchFamily="34" charset="0"/>
                </a:rPr>
                <a:t>Nommer</a:t>
              </a:r>
              <a:r>
                <a:rPr lang="en-US" altLang="ko-KR" sz="1400" b="1" dirty="0">
                  <a:cs typeface="Arial" pitchFamily="34" charset="0"/>
                </a:rPr>
                <a:t> les options 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300823" y="3105066"/>
            <a:ext cx="1502246" cy="1270744"/>
            <a:chOff x="496119" y="2469560"/>
            <a:chExt cx="1752190" cy="1270744"/>
          </a:xfrm>
          <a:noFill/>
        </p:grpSpPr>
        <p:sp>
          <p:nvSpPr>
            <p:cNvPr id="38" name="TextBox 37"/>
            <p:cNvSpPr txBox="1"/>
            <p:nvPr/>
          </p:nvSpPr>
          <p:spPr>
            <a:xfrm>
              <a:off x="496119" y="2724641"/>
              <a:ext cx="1752190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fr-FR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endParaRPr lang="fr-FR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r>
                <a:rPr lang="fr-F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mettre les valeurs et le poids dans le tableau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 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96119" y="2469560"/>
              <a:ext cx="17521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 err="1">
                  <a:cs typeface="Arial" pitchFamily="34" charset="0"/>
                </a:rPr>
                <a:t>ecrire</a:t>
              </a:r>
              <a:r>
                <a:rPr lang="en-US" altLang="ko-KR" sz="1400" b="1" dirty="0">
                  <a:cs typeface="Arial" pitchFamily="34" charset="0"/>
                </a:rPr>
                <a:t> la table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807745" y="2880747"/>
            <a:ext cx="1527654" cy="1310397"/>
            <a:chOff x="496119" y="2245241"/>
            <a:chExt cx="1781825" cy="1310397"/>
          </a:xfrm>
          <a:noFill/>
        </p:grpSpPr>
        <p:sp>
          <p:nvSpPr>
            <p:cNvPr id="41" name="TextBox 40"/>
            <p:cNvSpPr txBox="1"/>
            <p:nvPr/>
          </p:nvSpPr>
          <p:spPr>
            <a:xfrm>
              <a:off x="496119" y="2724641"/>
              <a:ext cx="1752190" cy="83099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Tester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tous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les options .  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25754" y="2245241"/>
              <a:ext cx="17521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cs typeface="Arial" pitchFamily="34" charset="0"/>
                </a:rPr>
                <a:t>Tester </a:t>
              </a:r>
              <a:r>
                <a:rPr lang="en-US" altLang="ko-KR" sz="1400" b="1" dirty="0" err="1">
                  <a:cs typeface="Arial" pitchFamily="34" charset="0"/>
                </a:rPr>
                <a:t>tous</a:t>
              </a:r>
              <a:r>
                <a:rPr lang="en-US" altLang="ko-KR" sz="1400" b="1" dirty="0">
                  <a:cs typeface="Arial" pitchFamily="34" charset="0"/>
                </a:rPr>
                <a:t> les </a:t>
              </a:r>
              <a:r>
                <a:rPr lang="en-US" altLang="ko-KR" sz="1400" b="1" dirty="0" err="1">
                  <a:cs typeface="Arial" pitchFamily="34" charset="0"/>
                </a:rPr>
                <a:t>possibilite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5314667" y="2869683"/>
            <a:ext cx="1583856" cy="1506127"/>
            <a:chOff x="496119" y="2234177"/>
            <a:chExt cx="1847378" cy="1506127"/>
          </a:xfrm>
          <a:noFill/>
        </p:grpSpPr>
        <p:sp>
          <p:nvSpPr>
            <p:cNvPr id="44" name="TextBox 43"/>
            <p:cNvSpPr txBox="1"/>
            <p:nvPr/>
          </p:nvSpPr>
          <p:spPr>
            <a:xfrm>
              <a:off x="496119" y="2724641"/>
              <a:ext cx="1752190" cy="101566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endParaRPr lang="fr-FR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r>
                <a:rPr lang="fr-F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nous prenons les valeurs les plus grandes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91307" y="2234177"/>
              <a:ext cx="17521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cs typeface="Arial" pitchFamily="34" charset="0"/>
                </a:rPr>
                <a:t>Comparer les </a:t>
              </a:r>
              <a:r>
                <a:rPr lang="en-US" altLang="ko-KR" sz="1400" b="1" dirty="0" err="1">
                  <a:cs typeface="Arial" pitchFamily="34" charset="0"/>
                </a:rPr>
                <a:t>valeurs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6867729" y="3105066"/>
            <a:ext cx="1502246" cy="1455410"/>
            <a:chOff x="496119" y="2469560"/>
            <a:chExt cx="1752190" cy="1455410"/>
          </a:xfrm>
          <a:noFill/>
        </p:grpSpPr>
        <p:sp>
          <p:nvSpPr>
            <p:cNvPr id="47" name="TextBox 46"/>
            <p:cNvSpPr txBox="1"/>
            <p:nvPr/>
          </p:nvSpPr>
          <p:spPr>
            <a:xfrm>
              <a:off x="496119" y="2724641"/>
              <a:ext cx="1752190" cy="120032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endParaRPr lang="fr-FR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endParaRPr lang="fr-FR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pPr algn="ctr"/>
              <a:r>
                <a:rPr lang="fr-FR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vérifier si la somme du poids est supérieure à la capacité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96119" y="2469560"/>
              <a:ext cx="17521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cs typeface="Arial" pitchFamily="34" charset="0"/>
                </a:rPr>
                <a:t>Verifier Le </a:t>
              </a:r>
              <a:r>
                <a:rPr lang="en-US" altLang="ko-KR" sz="1400" b="1" dirty="0" err="1">
                  <a:cs typeface="Arial" pitchFamily="34" charset="0"/>
                </a:rPr>
                <a:t>poid</a:t>
              </a:r>
              <a:r>
                <a:rPr lang="en-US" altLang="ko-KR" sz="1400" b="1" dirty="0">
                  <a:cs typeface="Arial" pitchFamily="34" charset="0"/>
                </a:rPr>
                <a:t> </a:t>
              </a:r>
              <a:endParaRPr lang="ko-KR" altLang="en-US" sz="1400" b="1" dirty="0">
                <a:cs typeface="Arial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82B70C8-7E59-417A-9595-23DA6E6805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930" y="2423476"/>
            <a:ext cx="378031" cy="2116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6523A1-2214-404A-B8AA-E7C6414D5A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011" y="2388511"/>
            <a:ext cx="253706" cy="26749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888A43E1-B4DE-4D33-9DD0-9FC1561B16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266" y="2351736"/>
            <a:ext cx="288032" cy="307941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9610FB93-642D-4F5C-93B9-C28E8A8C3C1F}"/>
              </a:ext>
            </a:extLst>
          </p:cNvPr>
          <p:cNvGrpSpPr/>
          <p:nvPr/>
        </p:nvGrpSpPr>
        <p:grpSpPr>
          <a:xfrm>
            <a:off x="7128855" y="2032261"/>
            <a:ext cx="979994" cy="979994"/>
            <a:chOff x="1835696" y="2517293"/>
            <a:chExt cx="792088" cy="792088"/>
          </a:xfrm>
        </p:grpSpPr>
        <p:sp>
          <p:nvSpPr>
            <p:cNvPr id="56" name="Diamond 55">
              <a:extLst>
                <a:ext uri="{FF2B5EF4-FFF2-40B4-BE49-F238E27FC236}">
                  <a16:creationId xmlns:a16="http://schemas.microsoft.com/office/drawing/2014/main" id="{D6BA4D6A-05C3-4181-AADB-A238718A8DED}"/>
                </a:ext>
              </a:extLst>
            </p:cNvPr>
            <p:cNvSpPr/>
            <p:nvPr/>
          </p:nvSpPr>
          <p:spPr>
            <a:xfrm>
              <a:off x="1835696" y="2517293"/>
              <a:ext cx="792088" cy="792088"/>
            </a:xfrm>
            <a:prstGeom prst="diamond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7" name="Diamond 56">
              <a:extLst>
                <a:ext uri="{FF2B5EF4-FFF2-40B4-BE49-F238E27FC236}">
                  <a16:creationId xmlns:a16="http://schemas.microsoft.com/office/drawing/2014/main" id="{260B249B-774A-4353-91CA-59E0BB363F28}"/>
                </a:ext>
              </a:extLst>
            </p:cNvPr>
            <p:cNvSpPr/>
            <p:nvPr/>
          </p:nvSpPr>
          <p:spPr>
            <a:xfrm>
              <a:off x="1901658" y="2583255"/>
              <a:ext cx="660164" cy="660164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050C76B4-95FB-40F8-9932-F4CD100C3A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005" y="2363582"/>
            <a:ext cx="503693" cy="2522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4217DE-374B-40E4-8092-4A858AC6381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445" y="4284489"/>
            <a:ext cx="1278091" cy="68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24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4564" y="123478"/>
            <a:ext cx="9144000" cy="576064"/>
          </a:xfrm>
        </p:spPr>
        <p:txBody>
          <a:bodyPr/>
          <a:lstStyle/>
          <a:p>
            <a:r>
              <a:rPr lang="en-US" altLang="ko-KR" sz="3600" dirty="0"/>
              <a:t>Methode de resolution</a:t>
            </a:r>
            <a:endParaRPr lang="ko-KR" alt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708B64-754E-4A62-92A0-B648E09BB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707654"/>
            <a:ext cx="3888432" cy="19442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5CA2C9-E3EE-48A3-9B5D-43169CBA3F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707654"/>
            <a:ext cx="4228659" cy="28376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D748F7-038C-45CC-9684-43C346074F42}"/>
              </a:ext>
            </a:extLst>
          </p:cNvPr>
          <p:cNvSpPr txBox="1"/>
          <p:nvPr/>
        </p:nvSpPr>
        <p:spPr>
          <a:xfrm>
            <a:off x="287524" y="1131590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Le </a:t>
            </a:r>
            <a:r>
              <a:rPr lang="en-GB" dirty="0" err="1"/>
              <a:t>poids</a:t>
            </a:r>
            <a:r>
              <a:rPr lang="en-GB" dirty="0"/>
              <a:t> </a:t>
            </a:r>
            <a:r>
              <a:rPr lang="en-GB" dirty="0" err="1"/>
              <a:t>maximale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 10 kg</a:t>
            </a:r>
            <a:endParaRPr lang="fr-FR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5CC817F-762A-48D9-B87D-56F4EC5B62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699542"/>
            <a:ext cx="9144000" cy="288032"/>
          </a:xfrm>
        </p:spPr>
        <p:txBody>
          <a:bodyPr/>
          <a:lstStyle/>
          <a:p>
            <a:pPr lvl="0"/>
            <a:r>
              <a:rPr lang="en-US" altLang="ko-KR" dirty="0"/>
              <a:t>2-Methode complete</a:t>
            </a:r>
          </a:p>
        </p:txBody>
      </p:sp>
    </p:spTree>
    <p:extLst>
      <p:ext uri="{BB962C8B-B14F-4D97-AF65-F5344CB8AC3E}">
        <p14:creationId xmlns:p14="http://schemas.microsoft.com/office/powerpoint/2010/main" val="2609521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Formule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mathématique</a:t>
            </a:r>
            <a:endParaRPr lang="en-US" altLang="ko-KR" sz="28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Formulation Mathématique de la Méthode du Sac à Dos (</a:t>
            </a:r>
            <a:r>
              <a:rPr lang="fr-FR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Knapsack</a:t>
            </a:r>
            <a:r>
              <a:rPr lang="fr-FR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)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941424-2DB0-4214-8C3C-786A7F97DD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986534"/>
            <a:ext cx="1152128" cy="117043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873636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3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Formule</a:t>
            </a:r>
            <a:r>
              <a:rPr lang="en-US" altLang="ko-KR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3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mathématique</a:t>
            </a:r>
            <a:endParaRPr lang="en-US" altLang="ko-KR" sz="3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Formulation Mathématique de la Méthode du Sac à Dos (</a:t>
            </a:r>
            <a:r>
              <a:rPr lang="fr-FR" altLang="ko-KR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Knapsack</a:t>
            </a:r>
            <a:r>
              <a:rPr lang="fr-FR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)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99592" y="1521505"/>
            <a:ext cx="864096" cy="1188088"/>
            <a:chOff x="2391994" y="1635646"/>
            <a:chExt cx="805454" cy="1584088"/>
          </a:xfrm>
        </p:grpSpPr>
        <p:sp>
          <p:nvSpPr>
            <p:cNvPr id="4" name="Rectangle 3"/>
            <p:cNvSpPr/>
            <p:nvPr/>
          </p:nvSpPr>
          <p:spPr>
            <a:xfrm>
              <a:off x="2391994" y="1635646"/>
              <a:ext cx="805454" cy="79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Isosceles Triangle 4"/>
            <p:cNvSpPr/>
            <p:nvPr/>
          </p:nvSpPr>
          <p:spPr>
            <a:xfrm rot="10800000">
              <a:off x="2391994" y="2427734"/>
              <a:ext cx="805454" cy="792000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835696" y="1572510"/>
            <a:ext cx="2664296" cy="901412"/>
            <a:chOff x="496119" y="2469560"/>
            <a:chExt cx="1752190" cy="901412"/>
          </a:xfrm>
          <a:noFill/>
        </p:grpSpPr>
        <p:sp>
          <p:nvSpPr>
            <p:cNvPr id="9" name="TextBox 8"/>
            <p:cNvSpPr txBox="1"/>
            <p:nvPr/>
          </p:nvSpPr>
          <p:spPr>
            <a:xfrm>
              <a:off x="496119" y="2724641"/>
              <a:ext cx="1752190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3600" dirty="0">
                  <a:solidFill>
                    <a:schemeClr val="accent2"/>
                  </a:solidFill>
                  <a:cs typeface="Arial" pitchFamily="34" charset="0"/>
                </a:rPr>
                <a:t>Xi={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96119" y="2469560"/>
              <a:ext cx="17521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accent2"/>
                  </a:solidFill>
                  <a:cs typeface="Arial" pitchFamily="34" charset="0"/>
                </a:rPr>
                <a:t>Xi</a:t>
              </a:r>
              <a:endParaRPr lang="ko-KR" altLang="en-US" sz="1400" b="1" dirty="0">
                <a:solidFill>
                  <a:schemeClr val="accent2"/>
                </a:solidFill>
                <a:cs typeface="Arial" pitchFamily="34" charset="0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977080" y="1564253"/>
            <a:ext cx="709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46439" y="1564220"/>
            <a:ext cx="709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899592" y="3213682"/>
            <a:ext cx="864096" cy="1188088"/>
            <a:chOff x="2391994" y="1635646"/>
            <a:chExt cx="805454" cy="1584088"/>
          </a:xfrm>
          <a:solidFill>
            <a:srgbClr val="F8B2A3"/>
          </a:solidFill>
        </p:grpSpPr>
        <p:sp>
          <p:nvSpPr>
            <p:cNvPr id="20" name="Rectangle 19"/>
            <p:cNvSpPr/>
            <p:nvPr/>
          </p:nvSpPr>
          <p:spPr>
            <a:xfrm>
              <a:off x="2391994" y="1635646"/>
              <a:ext cx="805454" cy="79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Isosceles Triangle 20"/>
            <p:cNvSpPr/>
            <p:nvPr/>
          </p:nvSpPr>
          <p:spPr>
            <a:xfrm rot="10800000">
              <a:off x="2391994" y="2427734"/>
              <a:ext cx="805454" cy="792000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835696" y="3264687"/>
            <a:ext cx="2664296" cy="901412"/>
            <a:chOff x="496119" y="2469560"/>
            <a:chExt cx="1752190" cy="901412"/>
          </a:xfrm>
          <a:noFill/>
        </p:grpSpPr>
        <p:sp>
          <p:nvSpPr>
            <p:cNvPr id="23" name="TextBox 22"/>
            <p:cNvSpPr txBox="1"/>
            <p:nvPr/>
          </p:nvSpPr>
          <p:spPr>
            <a:xfrm>
              <a:off x="496119" y="2724641"/>
              <a:ext cx="1752190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3600" dirty="0">
                  <a:solidFill>
                    <a:schemeClr val="accent1"/>
                  </a:solidFill>
                  <a:cs typeface="Arial" pitchFamily="34" charset="0"/>
                </a:rPr>
                <a:t>V=</a:t>
              </a:r>
              <a:r>
                <a:rPr lang="en-US" altLang="ko-KR" sz="2400" dirty="0">
                  <a:solidFill>
                    <a:schemeClr val="accent1"/>
                  </a:solidFill>
                  <a:cs typeface="Arial" pitchFamily="34" charset="0"/>
                </a:rPr>
                <a:t>Sum Vi * Xi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6119" y="2469560"/>
              <a:ext cx="17521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err="1">
                  <a:solidFill>
                    <a:schemeClr val="accent1"/>
                  </a:solidFill>
                  <a:cs typeface="Arial" pitchFamily="34" charset="0"/>
                </a:rPr>
                <a:t>Valeur</a:t>
              </a:r>
              <a:r>
                <a:rPr lang="en-US" altLang="ko-KR" sz="1400" b="1" dirty="0">
                  <a:solidFill>
                    <a:schemeClr val="accent1"/>
                  </a:solidFill>
                  <a:cs typeface="Arial" pitchFamily="34" charset="0"/>
                </a:rPr>
                <a:t> V</a:t>
              </a:r>
              <a:endParaRPr lang="ko-KR" altLang="en-US" sz="1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977080" y="3256430"/>
            <a:ext cx="709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4868951" y="2211710"/>
            <a:ext cx="864096" cy="1188088"/>
            <a:chOff x="2391994" y="1635646"/>
            <a:chExt cx="805454" cy="1584088"/>
          </a:xfrm>
          <a:solidFill>
            <a:srgbClr val="A4B4EA"/>
          </a:solidFill>
        </p:grpSpPr>
        <p:sp>
          <p:nvSpPr>
            <p:cNvPr id="27" name="Rectangle 26"/>
            <p:cNvSpPr/>
            <p:nvPr/>
          </p:nvSpPr>
          <p:spPr>
            <a:xfrm>
              <a:off x="2391994" y="1635646"/>
              <a:ext cx="805454" cy="79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 rot="10800000">
              <a:off x="2391994" y="2427734"/>
              <a:ext cx="805454" cy="792000"/>
            </a:xfrm>
            <a:prstGeom prst="triangle">
              <a:avLst>
                <a:gd name="adj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805055" y="2262715"/>
            <a:ext cx="2664296" cy="901412"/>
            <a:chOff x="496119" y="2469560"/>
            <a:chExt cx="1752190" cy="901412"/>
          </a:xfrm>
          <a:noFill/>
        </p:grpSpPr>
        <p:sp>
          <p:nvSpPr>
            <p:cNvPr id="30" name="TextBox 29"/>
            <p:cNvSpPr txBox="1"/>
            <p:nvPr/>
          </p:nvSpPr>
          <p:spPr>
            <a:xfrm>
              <a:off x="496119" y="2724641"/>
              <a:ext cx="1752190" cy="64633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3600" dirty="0">
                  <a:solidFill>
                    <a:schemeClr val="accent4"/>
                  </a:solidFill>
                  <a:cs typeface="Arial" pitchFamily="34" charset="0"/>
                </a:rPr>
                <a:t>P&gt;=Pi * Xi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96119" y="2469560"/>
              <a:ext cx="17521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err="1">
                  <a:solidFill>
                    <a:schemeClr val="accent4"/>
                  </a:solidFill>
                  <a:cs typeface="Arial" pitchFamily="34" charset="0"/>
                </a:rPr>
                <a:t>Poids</a:t>
              </a:r>
              <a:r>
                <a:rPr lang="en-US" altLang="ko-KR" sz="1400" b="1" dirty="0">
                  <a:solidFill>
                    <a:schemeClr val="accent4"/>
                  </a:solidFill>
                  <a:cs typeface="Arial" pitchFamily="34" charset="0"/>
                </a:rPr>
                <a:t> P</a:t>
              </a:r>
              <a:endParaRPr lang="ko-KR" altLang="en-US" sz="1400" b="1" dirty="0">
                <a:solidFill>
                  <a:schemeClr val="accent4"/>
                </a:solidFill>
                <a:cs typeface="Arial" pitchFamily="34" charset="0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4946439" y="2254458"/>
            <a:ext cx="709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8198D-2CD7-4787-8268-A71876E315F3}"/>
              </a:ext>
            </a:extLst>
          </p:cNvPr>
          <p:cNvSpPr txBox="1"/>
          <p:nvPr/>
        </p:nvSpPr>
        <p:spPr>
          <a:xfrm>
            <a:off x="2807804" y="1800216"/>
            <a:ext cx="1836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1 </a:t>
            </a:r>
            <a:r>
              <a:rPr lang="en-GB" dirty="0" err="1">
                <a:solidFill>
                  <a:schemeClr val="accent2"/>
                </a:solidFill>
              </a:rPr>
              <a:t>si</a:t>
            </a:r>
            <a:r>
              <a:rPr lang="en-GB" dirty="0">
                <a:solidFill>
                  <a:schemeClr val="accent2"/>
                </a:solidFill>
              </a:rPr>
              <a:t> on </a:t>
            </a:r>
            <a:r>
              <a:rPr lang="en-GB" dirty="0" err="1">
                <a:solidFill>
                  <a:schemeClr val="accent2"/>
                </a:solidFill>
              </a:rPr>
              <a:t>prenons</a:t>
            </a:r>
            <a:endParaRPr lang="fr-FR" dirty="0">
              <a:solidFill>
                <a:schemeClr val="accent2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BAC40A-E743-4CB6-B1EC-BCA9C623BF14}"/>
              </a:ext>
            </a:extLst>
          </p:cNvPr>
          <p:cNvSpPr txBox="1"/>
          <p:nvPr/>
        </p:nvSpPr>
        <p:spPr>
          <a:xfrm>
            <a:off x="2807804" y="2155765"/>
            <a:ext cx="1620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2"/>
                </a:solidFill>
              </a:rPr>
              <a:t>0 </a:t>
            </a:r>
            <a:r>
              <a:rPr lang="en-GB" dirty="0" err="1">
                <a:solidFill>
                  <a:schemeClr val="accent2"/>
                </a:solidFill>
              </a:rPr>
              <a:t>si</a:t>
            </a:r>
            <a:r>
              <a:rPr lang="en-GB" dirty="0">
                <a:solidFill>
                  <a:schemeClr val="accent2"/>
                </a:solidFill>
              </a:rPr>
              <a:t> non</a:t>
            </a:r>
            <a:endParaRPr lang="fr-F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06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Conclusion Générale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E5167D-B425-438E-949C-BDBA1CD4CB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965167"/>
            <a:ext cx="1296144" cy="121316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1980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3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Conculsion</a:t>
            </a:r>
            <a:r>
              <a:rPr lang="en-US" altLang="ko-KR" sz="3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6439" y="1564220"/>
            <a:ext cx="709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77080" y="3256430"/>
            <a:ext cx="709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46439" y="2254458"/>
            <a:ext cx="709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5F8491-6851-4052-8BD4-EFA260BA08F5}"/>
              </a:ext>
            </a:extLst>
          </p:cNvPr>
          <p:cNvSpPr txBox="1"/>
          <p:nvPr/>
        </p:nvSpPr>
        <p:spPr>
          <a:xfrm>
            <a:off x="1043608" y="987574"/>
            <a:ext cx="7128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problème du sac à dos est l’un des problèmes d’optimisation les plus étudiés en informatique et en recherche opérationnelle, servant de modèle pour de nombreuses applications réelles (allocation de </a:t>
            </a:r>
          </a:p>
          <a:p>
            <a:r>
              <a:rPr lang="fr-FR" dirty="0"/>
              <a:t>ressources, logistique, finance, etc.). </a:t>
            </a:r>
          </a:p>
        </p:txBody>
      </p:sp>
    </p:spTree>
    <p:extLst>
      <p:ext uri="{BB962C8B-B14F-4D97-AF65-F5344CB8AC3E}">
        <p14:creationId xmlns:p14="http://schemas.microsoft.com/office/powerpoint/2010/main" val="2135944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</a:t>
            </a:r>
          </a:p>
          <a:p>
            <a:pPr lvl="0"/>
            <a:r>
              <a:rPr lang="en-US" altLang="ko-KR" dirty="0"/>
              <a:t>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8DFBB"/>
      </a:accent3>
      <a:accent4>
        <a:srgbClr val="9AD3E9"/>
      </a:accent4>
      <a:accent5>
        <a:srgbClr val="576868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AD3E9"/>
      </a:accent3>
      <a:accent4>
        <a:srgbClr val="98DFBB"/>
      </a:accent4>
      <a:accent5>
        <a:srgbClr val="CBCBCB"/>
      </a:accent5>
      <a:accent6>
        <a:srgbClr val="576868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AD3E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AD3E9"/>
      </a:accent3>
      <a:accent4>
        <a:srgbClr val="98DFBB"/>
      </a:accent4>
      <a:accent5>
        <a:srgbClr val="CBCBCB"/>
      </a:accent5>
      <a:accent6>
        <a:srgbClr val="576868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2106</TotalTime>
  <Words>806</Words>
  <Application>Microsoft Office PowerPoint</Application>
  <PresentationFormat>On-screen Show (16:9)</PresentationFormat>
  <Paragraphs>179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맑은 고딕</vt:lpstr>
      <vt:lpstr>Arial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Midou</cp:lastModifiedBy>
  <cp:revision>79</cp:revision>
  <dcterms:created xsi:type="dcterms:W3CDTF">2016-12-05T23:26:54Z</dcterms:created>
  <dcterms:modified xsi:type="dcterms:W3CDTF">2025-05-03T23:02:31Z</dcterms:modified>
</cp:coreProperties>
</file>