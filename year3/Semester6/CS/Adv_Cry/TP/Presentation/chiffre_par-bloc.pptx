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11.svg" ContentType="image/svg+xml"/>
  <Override PartName="/ppt/media/image15.svg" ContentType="image/svg+xml"/>
  <Override PartName="/ppt/media/image17.svg" ContentType="image/svg+xml"/>
  <Override PartName="/ppt/media/image4.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8288000" cy="10287000"/>
  <p:notesSz cx="6858000" cy="9144000"/>
  <p:embeddedFontLst>
    <p:embeddedFont>
      <p:font typeface="Poppins Bold" panose="00000800000000000000"/>
      <p:bold r:id="rId19"/>
    </p:embeddedFont>
    <p:embeddedFont>
      <p:font typeface="Canva Sans Bold" panose="020B0803030501040103"/>
      <p:bold r:id="rId20"/>
    </p:embeddedFont>
    <p:embeddedFont>
      <p:font typeface="Poppins" panose="00000500000000000000"/>
      <p:regular r:id="rId21"/>
    </p:embeddedFont>
    <p:embeddedFont>
      <p:font typeface="Canva Sans" panose="020B0503030501040103"/>
      <p:regular r:id="rId22"/>
    </p:embeddedFont>
    <p:embeddedFont>
      <p:font typeface="Calibri" panose="020F050202020403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1"/>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svg"/><Relationship Id="rId7" Type="http://schemas.openxmlformats.org/officeDocument/2006/relationships/image" Target="../media/image3.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image" Target="../media/image8.jpe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image" Target="../media/image5.GIF"/><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GIF"/><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image" Target="../media/image7.svg"/><Relationship Id="rId8" Type="http://schemas.openxmlformats.org/officeDocument/2006/relationships/image" Target="../media/image6.png"/><Relationship Id="rId7" Type="http://schemas.openxmlformats.org/officeDocument/2006/relationships/image" Target="../media/image17.svg"/><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5.GIF"/><Relationship Id="rId2" Type="http://schemas.openxmlformats.org/officeDocument/2006/relationships/image" Target="../media/image2.png"/><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9.png"/><Relationship Id="rId6" Type="http://schemas.openxmlformats.org/officeDocument/2006/relationships/image" Target="../media/image18.jpeg"/><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GIF"/><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image" Target="../media/image7.svg"/><Relationship Id="rId8" Type="http://schemas.openxmlformats.org/officeDocument/2006/relationships/image" Target="../media/image6.png"/><Relationship Id="rId7" Type="http://schemas.openxmlformats.org/officeDocument/2006/relationships/image" Target="../media/image17.svg"/><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5.GIF"/><Relationship Id="rId2" Type="http://schemas.openxmlformats.org/officeDocument/2006/relationships/image" Target="../media/image2.png"/><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1.png"/><Relationship Id="rId6" Type="http://schemas.openxmlformats.org/officeDocument/2006/relationships/image" Target="../media/image20.jpeg"/><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GIF"/><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7.svg"/><Relationship Id="rId8" Type="http://schemas.openxmlformats.org/officeDocument/2006/relationships/image" Target="../media/image6.png"/><Relationship Id="rId7" Type="http://schemas.openxmlformats.org/officeDocument/2006/relationships/image" Target="../media/image17.svg"/><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5.GIF"/><Relationship Id="rId2" Type="http://schemas.openxmlformats.org/officeDocument/2006/relationships/image" Target="../media/image2.png"/><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GIF"/><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4124422">
            <a:off x="4694416" y="-3912935"/>
            <a:ext cx="16551230" cy="16530541"/>
          </a:xfrm>
          <a:custGeom>
            <a:avLst/>
            <a:gdLst/>
            <a:ahLst/>
            <a:cxnLst/>
            <a:rect l="l" t="t" r="r" b="b"/>
            <a:pathLst>
              <a:path w="16551230" h="16530541">
                <a:moveTo>
                  <a:pt x="0" y="0"/>
                </a:moveTo>
                <a:lnTo>
                  <a:pt x="16551230" y="0"/>
                </a:lnTo>
                <a:lnTo>
                  <a:pt x="16551230" y="16530541"/>
                </a:lnTo>
                <a:lnTo>
                  <a:pt x="0" y="16530541"/>
                </a:lnTo>
                <a:lnTo>
                  <a:pt x="0" y="0"/>
                </a:lnTo>
                <a:close/>
              </a:path>
            </a:pathLst>
          </a:custGeom>
          <a:blipFill>
            <a:blip r:embed="rId1"/>
            <a:stretch>
              <a:fillRect/>
            </a:stretch>
          </a:blipFill>
        </p:spPr>
      </p:sp>
      <p:sp>
        <p:nvSpPr>
          <p:cNvPr id="3" name="Freeform 3"/>
          <p:cNvSpPr/>
          <p:nvPr/>
        </p:nvSpPr>
        <p:spPr>
          <a:xfrm rot="-9088373">
            <a:off x="10138927" y="-335185"/>
            <a:ext cx="13128058" cy="13966019"/>
          </a:xfrm>
          <a:custGeom>
            <a:avLst/>
            <a:gdLst/>
            <a:ahLst/>
            <a:cxnLst/>
            <a:rect l="l" t="t" r="r" b="b"/>
            <a:pathLst>
              <a:path w="13128058" h="13966019">
                <a:moveTo>
                  <a:pt x="0" y="0"/>
                </a:moveTo>
                <a:lnTo>
                  <a:pt x="13128058" y="0"/>
                </a:lnTo>
                <a:lnTo>
                  <a:pt x="13128058" y="13966019"/>
                </a:lnTo>
                <a:lnTo>
                  <a:pt x="0" y="13966019"/>
                </a:lnTo>
                <a:lnTo>
                  <a:pt x="0" y="0"/>
                </a:lnTo>
                <a:close/>
              </a:path>
            </a:pathLst>
          </a:custGeom>
          <a:blipFill>
            <a:blip r:embed="rId2">
              <a:alphaModFix amt="65999"/>
            </a:blip>
            <a:stretch>
              <a:fillRect/>
            </a:stretch>
          </a:blipFill>
        </p:spPr>
      </p:sp>
      <p:sp>
        <p:nvSpPr>
          <p:cNvPr id="4" name="Freeform 4"/>
          <p:cNvSpPr/>
          <p:nvPr/>
        </p:nvSpPr>
        <p:spPr>
          <a:xfrm rot="1794495">
            <a:off x="-3947974" y="-2868034"/>
            <a:ext cx="10589272" cy="11265182"/>
          </a:xfrm>
          <a:custGeom>
            <a:avLst/>
            <a:gdLst/>
            <a:ahLst/>
            <a:cxnLst/>
            <a:rect l="l" t="t" r="r" b="b"/>
            <a:pathLst>
              <a:path w="10589272" h="11265182">
                <a:moveTo>
                  <a:pt x="0" y="0"/>
                </a:moveTo>
                <a:lnTo>
                  <a:pt x="10589271" y="0"/>
                </a:lnTo>
                <a:lnTo>
                  <a:pt x="10589271" y="11265183"/>
                </a:lnTo>
                <a:lnTo>
                  <a:pt x="0" y="11265183"/>
                </a:lnTo>
                <a:lnTo>
                  <a:pt x="0" y="0"/>
                </a:lnTo>
                <a:close/>
              </a:path>
            </a:pathLst>
          </a:custGeom>
          <a:blipFill>
            <a:blip r:embed="rId2">
              <a:alphaModFix amt="55000"/>
            </a:blip>
            <a:stretch>
              <a:fillRect/>
            </a:stretch>
          </a:blipFill>
        </p:spPr>
      </p:sp>
      <p:grpSp>
        <p:nvGrpSpPr>
          <p:cNvPr id="5" name="Group 5"/>
          <p:cNvGrpSpPr/>
          <p:nvPr/>
        </p:nvGrpSpPr>
        <p:grpSpPr>
          <a:xfrm rot="0">
            <a:off x="7600950" y="7204512"/>
            <a:ext cx="3086100" cy="720832"/>
            <a:chOff x="0" y="0"/>
            <a:chExt cx="812800" cy="189849"/>
          </a:xfrm>
        </p:grpSpPr>
        <p:sp>
          <p:nvSpPr>
            <p:cNvPr id="6" name="Freeform 6"/>
            <p:cNvSpPr/>
            <p:nvPr/>
          </p:nvSpPr>
          <p:spPr>
            <a:xfrm>
              <a:off x="0" y="0"/>
              <a:ext cx="812800" cy="189849"/>
            </a:xfrm>
            <a:custGeom>
              <a:avLst/>
              <a:gdLst/>
              <a:ahLst/>
              <a:cxnLst/>
              <a:rect l="l" t="t" r="r" b="b"/>
              <a:pathLst>
                <a:path w="812800" h="189849">
                  <a:moveTo>
                    <a:pt x="94924" y="0"/>
                  </a:moveTo>
                  <a:lnTo>
                    <a:pt x="717876" y="0"/>
                  </a:lnTo>
                  <a:cubicBezTo>
                    <a:pt x="743051" y="0"/>
                    <a:pt x="767195" y="10001"/>
                    <a:pt x="784997" y="27803"/>
                  </a:cubicBezTo>
                  <a:cubicBezTo>
                    <a:pt x="802799" y="45605"/>
                    <a:pt x="812800" y="69749"/>
                    <a:pt x="812800" y="94924"/>
                  </a:cubicBezTo>
                  <a:lnTo>
                    <a:pt x="812800" y="94924"/>
                  </a:lnTo>
                  <a:cubicBezTo>
                    <a:pt x="812800" y="120100"/>
                    <a:pt x="802799" y="144244"/>
                    <a:pt x="784997" y="162046"/>
                  </a:cubicBezTo>
                  <a:cubicBezTo>
                    <a:pt x="767195" y="179848"/>
                    <a:pt x="743051" y="189849"/>
                    <a:pt x="717876" y="189849"/>
                  </a:cubicBezTo>
                  <a:lnTo>
                    <a:pt x="94924" y="189849"/>
                  </a:lnTo>
                  <a:cubicBezTo>
                    <a:pt x="69749" y="189849"/>
                    <a:pt x="45605" y="179848"/>
                    <a:pt x="27803" y="162046"/>
                  </a:cubicBezTo>
                  <a:cubicBezTo>
                    <a:pt x="10001" y="144244"/>
                    <a:pt x="0" y="120100"/>
                    <a:pt x="0" y="94924"/>
                  </a:cubicBezTo>
                  <a:lnTo>
                    <a:pt x="0" y="94924"/>
                  </a:lnTo>
                  <a:cubicBezTo>
                    <a:pt x="0" y="69749"/>
                    <a:pt x="10001" y="45605"/>
                    <a:pt x="27803" y="27803"/>
                  </a:cubicBezTo>
                  <a:cubicBezTo>
                    <a:pt x="45605" y="10001"/>
                    <a:pt x="69749" y="0"/>
                    <a:pt x="94924" y="0"/>
                  </a:cubicBezTo>
                  <a:close/>
                </a:path>
              </a:pathLst>
            </a:custGeom>
            <a:solidFill>
              <a:srgbClr val="000000">
                <a:alpha val="0"/>
              </a:srgbClr>
            </a:solidFill>
            <a:ln w="19050" cap="rnd">
              <a:solidFill>
                <a:srgbClr val="F3DD52"/>
              </a:solidFill>
              <a:prstDash val="solid"/>
              <a:round/>
            </a:ln>
          </p:spPr>
        </p:sp>
        <p:sp>
          <p:nvSpPr>
            <p:cNvPr id="7" name="TextBox 7"/>
            <p:cNvSpPr txBox="1"/>
            <p:nvPr/>
          </p:nvSpPr>
          <p:spPr>
            <a:xfrm>
              <a:off x="0" y="-38100"/>
              <a:ext cx="812800" cy="227949"/>
            </a:xfrm>
            <a:prstGeom prst="rect">
              <a:avLst/>
            </a:prstGeom>
          </p:spPr>
          <p:txBody>
            <a:bodyPr lIns="50800" tIns="50800" rIns="50800" bIns="50800" rtlCol="0" anchor="ctr"/>
            <a:lstStyle/>
            <a:p>
              <a:pPr algn="ctr">
                <a:lnSpc>
                  <a:spcPts val="2660"/>
                </a:lnSpc>
              </a:pPr>
            </a:p>
          </p:txBody>
        </p:sp>
      </p:grpSp>
      <p:sp>
        <p:nvSpPr>
          <p:cNvPr id="8" name="Freeform 8"/>
          <p:cNvSpPr/>
          <p:nvPr/>
        </p:nvSpPr>
        <p:spPr>
          <a:xfrm>
            <a:off x="10212494" y="7488855"/>
            <a:ext cx="246604" cy="192659"/>
          </a:xfrm>
          <a:custGeom>
            <a:avLst/>
            <a:gdLst/>
            <a:ahLst/>
            <a:cxnLst/>
            <a:rect l="l" t="t" r="r" b="b"/>
            <a:pathLst>
              <a:path w="246604" h="192659">
                <a:moveTo>
                  <a:pt x="0" y="0"/>
                </a:moveTo>
                <a:lnTo>
                  <a:pt x="246604" y="0"/>
                </a:lnTo>
                <a:lnTo>
                  <a:pt x="246604" y="192659"/>
                </a:lnTo>
                <a:lnTo>
                  <a:pt x="0" y="1926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9" name="Picture 9"/>
          <p:cNvPicPr>
            <a:picLocks noChangeAspect="1"/>
          </p:cNvPicPr>
          <p:nvPr/>
        </p:nvPicPr>
        <p:blipFill>
          <a:blip r:embed="rId5"/>
          <a:srcRect/>
          <a:stretch>
            <a:fillRect/>
          </a:stretch>
        </p:blipFill>
        <p:spPr>
          <a:xfrm>
            <a:off x="8836457" y="2074227"/>
            <a:ext cx="278501" cy="278501"/>
          </a:xfrm>
          <a:prstGeom prst="rect">
            <a:avLst/>
          </a:prstGeom>
        </p:spPr>
      </p:pic>
      <p:pic>
        <p:nvPicPr>
          <p:cNvPr id="10" name="Picture 10"/>
          <p:cNvPicPr>
            <a:picLocks noChangeAspect="1"/>
          </p:cNvPicPr>
          <p:nvPr/>
        </p:nvPicPr>
        <p:blipFill>
          <a:blip r:embed="rId5"/>
          <a:srcRect/>
          <a:stretch>
            <a:fillRect/>
          </a:stretch>
        </p:blipFill>
        <p:spPr>
          <a:xfrm>
            <a:off x="9314983" y="2074227"/>
            <a:ext cx="278501" cy="278501"/>
          </a:xfrm>
          <a:prstGeom prst="rect">
            <a:avLst/>
          </a:prstGeom>
        </p:spPr>
      </p:pic>
      <p:pic>
        <p:nvPicPr>
          <p:cNvPr id="11" name="Picture 11"/>
          <p:cNvPicPr>
            <a:picLocks noChangeAspect="1"/>
          </p:cNvPicPr>
          <p:nvPr/>
        </p:nvPicPr>
        <p:blipFill>
          <a:blip r:embed="rId5"/>
          <a:srcRect/>
          <a:stretch>
            <a:fillRect/>
          </a:stretch>
        </p:blipFill>
        <p:spPr>
          <a:xfrm>
            <a:off x="8356621" y="2074227"/>
            <a:ext cx="278501" cy="278501"/>
          </a:xfrm>
          <a:prstGeom prst="rect">
            <a:avLst/>
          </a:prstGeom>
        </p:spPr>
      </p:pic>
      <p:sp>
        <p:nvSpPr>
          <p:cNvPr id="12" name="TextBox 12"/>
          <p:cNvSpPr txBox="1"/>
          <p:nvPr/>
        </p:nvSpPr>
        <p:spPr>
          <a:xfrm>
            <a:off x="1357122" y="3430045"/>
            <a:ext cx="15573757" cy="1932777"/>
          </a:xfrm>
          <a:prstGeom prst="rect">
            <a:avLst/>
          </a:prstGeom>
        </p:spPr>
        <p:txBody>
          <a:bodyPr lIns="0" tIns="0" rIns="0" bIns="0" rtlCol="0" anchor="t">
            <a:spAutoFit/>
          </a:bodyPr>
          <a:lstStyle/>
          <a:p>
            <a:pPr algn="ctr">
              <a:lnSpc>
                <a:spcPts val="11930"/>
              </a:lnSpc>
            </a:pPr>
            <a:r>
              <a:rPr lang="en-US" sz="11930" spc="-477">
                <a:solidFill>
                  <a:srgbClr val="F6F6F6"/>
                </a:solidFill>
                <a:latin typeface="Agrandir" panose="00000500000000000000"/>
                <a:ea typeface="Agrandir" panose="00000500000000000000"/>
                <a:cs typeface="Agrandir" panose="00000500000000000000"/>
                <a:sym typeface="Agrandir" panose="00000500000000000000"/>
              </a:rPr>
              <a:t>block cipher</a:t>
            </a:r>
            <a:endParaRPr lang="en-US" sz="11930" spc="-477">
              <a:solidFill>
                <a:srgbClr val="F6F6F6"/>
              </a:solidFill>
              <a:latin typeface="Agrandir" panose="00000500000000000000"/>
              <a:ea typeface="Agrandir" panose="00000500000000000000"/>
              <a:cs typeface="Agrandir" panose="00000500000000000000"/>
              <a:sym typeface="Agrandir" panose="00000500000000000000"/>
            </a:endParaRPr>
          </a:p>
        </p:txBody>
      </p:sp>
      <p:sp>
        <p:nvSpPr>
          <p:cNvPr id="13" name="TextBox 13"/>
          <p:cNvSpPr txBox="1"/>
          <p:nvPr/>
        </p:nvSpPr>
        <p:spPr>
          <a:xfrm>
            <a:off x="7970765" y="7385477"/>
            <a:ext cx="2008576" cy="342265"/>
          </a:xfrm>
          <a:prstGeom prst="rect">
            <a:avLst/>
          </a:prstGeom>
        </p:spPr>
        <p:txBody>
          <a:bodyPr lIns="0" tIns="0" rIns="0" bIns="0" rtlCol="0" anchor="t">
            <a:spAutoFit/>
          </a:bodyPr>
          <a:lstStyle/>
          <a:p>
            <a:pPr algn="ctr">
              <a:lnSpc>
                <a:spcPts val="2660"/>
              </a:lnSpc>
            </a:pPr>
            <a:r>
              <a:rPr lang="en-US" sz="1900" b="1" spc="245">
                <a:solidFill>
                  <a:srgbClr val="F3DD52"/>
                </a:solidFill>
                <a:latin typeface="Poppins Bold" panose="00000800000000000000"/>
                <a:ea typeface="Poppins Bold" panose="00000800000000000000"/>
                <a:cs typeface="Poppins Bold" panose="00000800000000000000"/>
                <a:sym typeface="Poppins Bold" panose="00000800000000000000"/>
              </a:rPr>
              <a:t>GET STARTED</a:t>
            </a:r>
            <a:endParaRPr lang="en-US" sz="1900" b="1" spc="245">
              <a:solidFill>
                <a:srgbClr val="F3DD52"/>
              </a:solidFill>
              <a:latin typeface="Poppins Bold" panose="00000800000000000000"/>
              <a:ea typeface="Poppins Bold" panose="00000800000000000000"/>
              <a:cs typeface="Poppins Bold" panose="00000800000000000000"/>
              <a:sym typeface="Poppins Bold" panose="00000800000000000000"/>
            </a:endParaRPr>
          </a:p>
        </p:txBody>
      </p:sp>
      <p:sp>
        <p:nvSpPr>
          <p:cNvPr id="14" name="Freeform 14"/>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TextBox 15"/>
          <p:cNvSpPr txBox="1"/>
          <p:nvPr/>
        </p:nvSpPr>
        <p:spPr>
          <a:xfrm>
            <a:off x="13422630" y="8392795"/>
            <a:ext cx="3698240" cy="645795"/>
          </a:xfrm>
          <a:prstGeom prst="rect">
            <a:avLst/>
          </a:prstGeom>
        </p:spPr>
        <p:txBody>
          <a:bodyPr wrap="square" lIns="0" tIns="0" rIns="0" bIns="0" rtlCol="0" anchor="t">
            <a:spAutoFit/>
          </a:bodyPr>
          <a:lstStyle/>
          <a:p>
            <a:pPr algn="ctr">
              <a:lnSpc>
                <a:spcPts val="5040"/>
              </a:lnSpc>
            </a:pPr>
            <a:r>
              <a:rPr lang="en-US" sz="3600" b="1">
                <a:solidFill>
                  <a:srgbClr val="FFFFFF"/>
                </a:solidFill>
                <a:latin typeface="Canva Sans Bold" panose="020B0803030501040103"/>
                <a:ea typeface="Canva Sans Bold" panose="020B0803030501040103"/>
                <a:cs typeface="Canva Sans Bold" panose="020B0803030501040103"/>
                <a:sym typeface="Canva Sans Bold" panose="020B0803030501040103"/>
              </a:rPr>
              <a:t>Teamm :</a:t>
            </a:r>
            <a:endParaRPr lang="en-US" sz="36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16" name="TextBox 16"/>
          <p:cNvSpPr txBox="1"/>
          <p:nvPr/>
        </p:nvSpPr>
        <p:spPr>
          <a:xfrm>
            <a:off x="12268200" y="9182100"/>
            <a:ext cx="5551170" cy="861695"/>
          </a:xfrm>
          <a:prstGeom prst="rect">
            <a:avLst/>
          </a:prstGeom>
        </p:spPr>
        <p:txBody>
          <a:bodyPr wrap="square" lIns="0" tIns="0" rIns="0" bIns="0" rtlCol="0" anchor="t">
            <a:spAutoFit/>
          </a:bodyPr>
          <a:lstStyle/>
          <a:p>
            <a:pPr marL="601980" lvl="1" indent="-342900" algn="ctr">
              <a:lnSpc>
                <a:spcPts val="3360"/>
              </a:lnSpc>
              <a:buFont typeface="Arial" panose="020B0604020202020204" pitchFamily="34" charset="0"/>
              <a:buChar char="•"/>
            </a:pPr>
            <a:r>
              <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rPr>
              <a:t>miloudi mohammed yassine</a:t>
            </a:r>
            <a:endPar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a:p>
            <a:pPr marL="601980" lvl="1" indent="-342900" algn="ctr">
              <a:lnSpc>
                <a:spcPts val="3360"/>
              </a:lnSpc>
              <a:buFont typeface="Arial" panose="020B0604020202020204"/>
              <a:buChar char="•"/>
            </a:pPr>
            <a:r>
              <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rPr>
              <a:t>messaoui mohammed larbi</a:t>
            </a:r>
            <a:endParaRPr lang="en-US" sz="24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75712" b="-75712"/>
            </a:stretch>
          </a:blipFill>
        </p:spPr>
      </p:sp>
      <p:grpSp>
        <p:nvGrpSpPr>
          <p:cNvPr id="3" name="Group 3"/>
          <p:cNvGrpSpPr/>
          <p:nvPr/>
        </p:nvGrpSpPr>
        <p:grpSpPr>
          <a:xfrm rot="0">
            <a:off x="355746" y="1600851"/>
            <a:ext cx="3117736" cy="7085298"/>
            <a:chOff x="0" y="0"/>
            <a:chExt cx="3093720" cy="7030720"/>
          </a:xfrm>
        </p:grpSpPr>
        <p:sp>
          <p:nvSpPr>
            <p:cNvPr id="4" name="Freeform 4"/>
            <p:cNvSpPr/>
            <p:nvPr/>
          </p:nvSpPr>
          <p:spPr>
            <a:xfrm>
              <a:off x="0" y="0"/>
              <a:ext cx="3093720" cy="7030720"/>
            </a:xfrm>
            <a:custGeom>
              <a:avLst/>
              <a:gdLst/>
              <a:ahLst/>
              <a:cxnLst/>
              <a:rect l="l" t="t" r="r" b="b"/>
              <a:pathLst>
                <a:path w="3093720" h="7030720">
                  <a:moveTo>
                    <a:pt x="0" y="0"/>
                  </a:moveTo>
                  <a:lnTo>
                    <a:pt x="2293620" y="0"/>
                  </a:lnTo>
                  <a:cubicBezTo>
                    <a:pt x="2735580" y="0"/>
                    <a:pt x="3093720" y="358140"/>
                    <a:pt x="3093720" y="800100"/>
                  </a:cubicBezTo>
                  <a:lnTo>
                    <a:pt x="3093720" y="7030720"/>
                  </a:lnTo>
                  <a:lnTo>
                    <a:pt x="0" y="7030720"/>
                  </a:lnTo>
                  <a:lnTo>
                    <a:pt x="0" y="0"/>
                  </a:lnTo>
                  <a:close/>
                </a:path>
              </a:pathLst>
            </a:custGeom>
            <a:blipFill>
              <a:blip r:embed="rId2"/>
              <a:stretch>
                <a:fillRect l="-63628" r="-63628"/>
              </a:stretch>
            </a:blipFill>
          </p:spPr>
        </p:sp>
      </p:grpSp>
      <p:sp>
        <p:nvSpPr>
          <p:cNvPr id="5" name="Freeform 5"/>
          <p:cNvSpPr/>
          <p:nvPr/>
        </p:nvSpPr>
        <p:spPr>
          <a:xfrm rot="-9004511">
            <a:off x="766945" y="1600369"/>
            <a:ext cx="14220834" cy="14203058"/>
          </a:xfrm>
          <a:custGeom>
            <a:avLst/>
            <a:gdLst/>
            <a:ahLst/>
            <a:cxnLst/>
            <a:rect l="l" t="t" r="r" b="b"/>
            <a:pathLst>
              <a:path w="14220834" h="14203058">
                <a:moveTo>
                  <a:pt x="0" y="0"/>
                </a:moveTo>
                <a:lnTo>
                  <a:pt x="14220833" y="0"/>
                </a:lnTo>
                <a:lnTo>
                  <a:pt x="14220833" y="14203058"/>
                </a:lnTo>
                <a:lnTo>
                  <a:pt x="0" y="14203058"/>
                </a:lnTo>
                <a:lnTo>
                  <a:pt x="0" y="0"/>
                </a:lnTo>
                <a:close/>
              </a:path>
            </a:pathLst>
          </a:custGeom>
          <a:blipFill>
            <a:blip r:embed="rId3"/>
            <a:stretch>
              <a:fillRect/>
            </a:stretch>
          </a:blipFill>
        </p:spPr>
      </p:sp>
      <p:sp>
        <p:nvSpPr>
          <p:cNvPr id="6" name="Freeform 6"/>
          <p:cNvSpPr/>
          <p:nvPr/>
        </p:nvSpPr>
        <p:spPr>
          <a:xfrm rot="-9088373">
            <a:off x="9712045" y="-7551136"/>
            <a:ext cx="13128058" cy="13966019"/>
          </a:xfrm>
          <a:custGeom>
            <a:avLst/>
            <a:gdLst/>
            <a:ahLst/>
            <a:cxnLst/>
            <a:rect l="l" t="t" r="r" b="b"/>
            <a:pathLst>
              <a:path w="13128058" h="13966019">
                <a:moveTo>
                  <a:pt x="0" y="0"/>
                </a:moveTo>
                <a:lnTo>
                  <a:pt x="13128058" y="0"/>
                </a:lnTo>
                <a:lnTo>
                  <a:pt x="13128058" y="13966019"/>
                </a:lnTo>
                <a:lnTo>
                  <a:pt x="0" y="13966019"/>
                </a:lnTo>
                <a:lnTo>
                  <a:pt x="0" y="0"/>
                </a:lnTo>
                <a:close/>
              </a:path>
            </a:pathLst>
          </a:custGeom>
          <a:blipFill>
            <a:blip r:embed="rId4">
              <a:alphaModFix amt="65999"/>
            </a:blip>
            <a:stretch>
              <a:fillRect/>
            </a:stretch>
          </a:blipFill>
        </p:spPr>
      </p:sp>
      <p:sp>
        <p:nvSpPr>
          <p:cNvPr id="7" name="Freeform 7"/>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5737608" y="3510895"/>
            <a:ext cx="5813594" cy="4084320"/>
          </a:xfrm>
          <a:prstGeom prst="rect">
            <a:avLst/>
          </a:prstGeom>
        </p:spPr>
        <p:txBody>
          <a:bodyPr lIns="0" tIns="0" rIns="0" bIns="0" rtlCol="0" anchor="t">
            <a:spAutoFit/>
          </a:bodyPr>
          <a:lstStyle/>
          <a:p>
            <a:pPr algn="l">
              <a:lnSpc>
                <a:spcPts val="8250"/>
              </a:lnSpc>
            </a:pPr>
            <a:r>
              <a:rPr lang="en-US" sz="3300" spc="-132">
                <a:solidFill>
                  <a:srgbClr val="D8D8D8"/>
                </a:solidFill>
                <a:latin typeface="Poppins" panose="00000500000000000000"/>
                <a:ea typeface="Poppins" panose="00000500000000000000"/>
                <a:cs typeface="Poppins" panose="00000500000000000000"/>
                <a:sym typeface="Poppins" panose="00000500000000000000"/>
              </a:rPr>
              <a:t>introduction</a:t>
            </a:r>
            <a:endParaRPr lang="en-US" sz="3300" spc="-132">
              <a:solidFill>
                <a:srgbClr val="D8D8D8"/>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D8D8D8"/>
                </a:solidFill>
                <a:latin typeface="Poppins" panose="00000500000000000000"/>
                <a:ea typeface="Poppins" panose="00000500000000000000"/>
                <a:cs typeface="Poppins" panose="00000500000000000000"/>
                <a:sym typeface="Poppins" panose="00000500000000000000"/>
              </a:rPr>
              <a:t>modes d’ operation</a:t>
            </a:r>
            <a:endParaRPr lang="en-US" sz="3300" spc="-132">
              <a:solidFill>
                <a:srgbClr val="D8D8D8"/>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D8D8D8"/>
                </a:solidFill>
                <a:latin typeface="Poppins" panose="00000500000000000000"/>
                <a:ea typeface="Poppins" panose="00000500000000000000"/>
                <a:cs typeface="Poppins" panose="00000500000000000000"/>
                <a:sym typeface="Poppins" panose="00000500000000000000"/>
              </a:rPr>
              <a:t>ECB – Electronic Codebook</a:t>
            </a:r>
            <a:endParaRPr lang="en-US" sz="3300" spc="-132">
              <a:solidFill>
                <a:srgbClr val="D8D8D8"/>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D8D8D8"/>
                </a:solidFill>
                <a:latin typeface="Poppins" panose="00000500000000000000"/>
                <a:ea typeface="Poppins" panose="00000500000000000000"/>
                <a:cs typeface="Poppins" panose="00000500000000000000"/>
                <a:sym typeface="Poppins" panose="00000500000000000000"/>
              </a:rPr>
              <a:t>CBC – Cipher Block Chaining</a:t>
            </a:r>
            <a:endParaRPr lang="en-US" sz="3300" spc="-132">
              <a:solidFill>
                <a:srgbClr val="D8D8D8"/>
              </a:solidFill>
              <a:latin typeface="Poppins" panose="00000500000000000000"/>
              <a:ea typeface="Poppins" panose="00000500000000000000"/>
              <a:cs typeface="Poppins" panose="00000500000000000000"/>
              <a:sym typeface="Poppins" panose="00000500000000000000"/>
            </a:endParaRPr>
          </a:p>
        </p:txBody>
      </p:sp>
      <p:sp>
        <p:nvSpPr>
          <p:cNvPr id="9" name="TextBox 9"/>
          <p:cNvSpPr txBox="1"/>
          <p:nvPr/>
        </p:nvSpPr>
        <p:spPr>
          <a:xfrm>
            <a:off x="4851693" y="3510895"/>
            <a:ext cx="635923" cy="4084320"/>
          </a:xfrm>
          <a:prstGeom prst="rect">
            <a:avLst/>
          </a:prstGeom>
        </p:spPr>
        <p:txBody>
          <a:bodyPr lIns="0" tIns="0" rIns="0" bIns="0" rtlCol="0" anchor="t">
            <a:spAutoFit/>
          </a:bodyPr>
          <a:lstStyle/>
          <a:p>
            <a:pPr algn="l">
              <a:lnSpc>
                <a:spcPts val="8250"/>
              </a:lnSpc>
            </a:pPr>
            <a:r>
              <a:rPr lang="en-US" sz="3300" spc="-132">
                <a:solidFill>
                  <a:srgbClr val="F3DD52"/>
                </a:solidFill>
                <a:latin typeface="Poppins" panose="00000500000000000000"/>
                <a:ea typeface="Poppins" panose="00000500000000000000"/>
                <a:cs typeface="Poppins" panose="00000500000000000000"/>
                <a:sym typeface="Poppins" panose="00000500000000000000"/>
              </a:rPr>
              <a:t>01</a:t>
            </a:r>
            <a:endParaRPr lang="en-US" sz="3300" spc="-132">
              <a:solidFill>
                <a:srgbClr val="F3DD52"/>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F3DD52"/>
                </a:solidFill>
                <a:latin typeface="Poppins" panose="00000500000000000000"/>
                <a:ea typeface="Poppins" panose="00000500000000000000"/>
                <a:cs typeface="Poppins" panose="00000500000000000000"/>
                <a:sym typeface="Poppins" panose="00000500000000000000"/>
              </a:rPr>
              <a:t>02</a:t>
            </a:r>
            <a:endParaRPr lang="en-US" sz="3300" spc="-132">
              <a:solidFill>
                <a:srgbClr val="F3DD52"/>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F3DD52"/>
                </a:solidFill>
                <a:latin typeface="Poppins" panose="00000500000000000000"/>
                <a:ea typeface="Poppins" panose="00000500000000000000"/>
                <a:cs typeface="Poppins" panose="00000500000000000000"/>
                <a:sym typeface="Poppins" panose="00000500000000000000"/>
              </a:rPr>
              <a:t>03</a:t>
            </a:r>
            <a:endParaRPr lang="en-US" sz="3300" spc="-132">
              <a:solidFill>
                <a:srgbClr val="F3DD52"/>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F3DD52"/>
                </a:solidFill>
                <a:latin typeface="Poppins" panose="00000500000000000000"/>
                <a:ea typeface="Poppins" panose="00000500000000000000"/>
                <a:cs typeface="Poppins" panose="00000500000000000000"/>
                <a:sym typeface="Poppins" panose="00000500000000000000"/>
              </a:rPr>
              <a:t>04</a:t>
            </a:r>
            <a:endParaRPr lang="en-US" sz="3300" spc="-132">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0" name="TextBox 10"/>
          <p:cNvSpPr txBox="1"/>
          <p:nvPr/>
        </p:nvSpPr>
        <p:spPr>
          <a:xfrm>
            <a:off x="11597960" y="3510895"/>
            <a:ext cx="635923" cy="4084320"/>
          </a:xfrm>
          <a:prstGeom prst="rect">
            <a:avLst/>
          </a:prstGeom>
        </p:spPr>
        <p:txBody>
          <a:bodyPr lIns="0" tIns="0" rIns="0" bIns="0" rtlCol="0" anchor="t">
            <a:spAutoFit/>
          </a:bodyPr>
          <a:lstStyle/>
          <a:p>
            <a:pPr algn="l">
              <a:lnSpc>
                <a:spcPts val="8250"/>
              </a:lnSpc>
            </a:pPr>
            <a:r>
              <a:rPr lang="en-US" sz="3300" spc="-132">
                <a:solidFill>
                  <a:srgbClr val="F3DD52"/>
                </a:solidFill>
                <a:latin typeface="Poppins" panose="00000500000000000000"/>
                <a:ea typeface="Poppins" panose="00000500000000000000"/>
                <a:cs typeface="Poppins" panose="00000500000000000000"/>
                <a:sym typeface="Poppins" panose="00000500000000000000"/>
              </a:rPr>
              <a:t>05</a:t>
            </a:r>
            <a:endParaRPr lang="en-US" sz="3300" spc="-132">
              <a:solidFill>
                <a:srgbClr val="F3DD52"/>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F3DD52"/>
                </a:solidFill>
                <a:latin typeface="Poppins" panose="00000500000000000000"/>
                <a:ea typeface="Poppins" panose="00000500000000000000"/>
                <a:cs typeface="Poppins" panose="00000500000000000000"/>
                <a:sym typeface="Poppins" panose="00000500000000000000"/>
              </a:rPr>
              <a:t>06</a:t>
            </a:r>
            <a:endParaRPr lang="en-US" sz="3300" spc="-132">
              <a:solidFill>
                <a:srgbClr val="F3DD52"/>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F3DD52"/>
                </a:solidFill>
                <a:latin typeface="Poppins" panose="00000500000000000000"/>
                <a:ea typeface="Poppins" panose="00000500000000000000"/>
                <a:cs typeface="Poppins" panose="00000500000000000000"/>
                <a:sym typeface="Poppins" panose="00000500000000000000"/>
              </a:rPr>
              <a:t>07</a:t>
            </a:r>
            <a:endParaRPr lang="en-US" sz="3300" spc="-132">
              <a:solidFill>
                <a:srgbClr val="F3DD52"/>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F3DD52"/>
                </a:solidFill>
                <a:latin typeface="Poppins" panose="00000500000000000000"/>
                <a:ea typeface="Poppins" panose="00000500000000000000"/>
                <a:cs typeface="Poppins" panose="00000500000000000000"/>
                <a:sym typeface="Poppins" panose="00000500000000000000"/>
              </a:rPr>
              <a:t>08</a:t>
            </a:r>
            <a:endParaRPr lang="en-US" sz="3300" spc="-132">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1" name="TextBox 11"/>
          <p:cNvSpPr txBox="1"/>
          <p:nvPr/>
        </p:nvSpPr>
        <p:spPr>
          <a:xfrm>
            <a:off x="12582003" y="3510895"/>
            <a:ext cx="5109111" cy="4084320"/>
          </a:xfrm>
          <a:prstGeom prst="rect">
            <a:avLst/>
          </a:prstGeom>
        </p:spPr>
        <p:txBody>
          <a:bodyPr lIns="0" tIns="0" rIns="0" bIns="0" rtlCol="0" anchor="t">
            <a:spAutoFit/>
          </a:bodyPr>
          <a:lstStyle/>
          <a:p>
            <a:pPr algn="l">
              <a:lnSpc>
                <a:spcPts val="8250"/>
              </a:lnSpc>
            </a:pPr>
            <a:r>
              <a:rPr lang="en-US" sz="3300" spc="-132">
                <a:solidFill>
                  <a:srgbClr val="D8D8D8"/>
                </a:solidFill>
                <a:latin typeface="Poppins" panose="00000500000000000000"/>
                <a:ea typeface="Poppins" panose="00000500000000000000"/>
                <a:cs typeface="Poppins" panose="00000500000000000000"/>
                <a:sym typeface="Poppins" panose="00000500000000000000"/>
              </a:rPr>
              <a:t>OFB – Output Feedback</a:t>
            </a:r>
            <a:endParaRPr lang="en-US" sz="3300" spc="-132">
              <a:solidFill>
                <a:srgbClr val="D8D8D8"/>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D8D8D8"/>
                </a:solidFill>
                <a:latin typeface="Poppins" panose="00000500000000000000"/>
                <a:ea typeface="Poppins" panose="00000500000000000000"/>
                <a:cs typeface="Poppins" panose="00000500000000000000"/>
                <a:sym typeface="Poppins" panose="00000500000000000000"/>
              </a:rPr>
              <a:t> CTR – Counter Mode</a:t>
            </a:r>
            <a:endParaRPr lang="en-US" sz="3300" spc="-132">
              <a:solidFill>
                <a:srgbClr val="D8D8D8"/>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D8D8D8"/>
                </a:solidFill>
                <a:latin typeface="Poppins" panose="00000500000000000000"/>
                <a:ea typeface="Poppins" panose="00000500000000000000"/>
                <a:cs typeface="Poppins" panose="00000500000000000000"/>
                <a:sym typeface="Poppins" panose="00000500000000000000"/>
              </a:rPr>
              <a:t> Comparison</a:t>
            </a:r>
            <a:endParaRPr lang="en-US" sz="3300" spc="-132">
              <a:solidFill>
                <a:srgbClr val="D8D8D8"/>
              </a:solidFill>
              <a:latin typeface="Poppins" panose="00000500000000000000"/>
              <a:ea typeface="Poppins" panose="00000500000000000000"/>
              <a:cs typeface="Poppins" panose="00000500000000000000"/>
              <a:sym typeface="Poppins" panose="00000500000000000000"/>
            </a:endParaRPr>
          </a:p>
          <a:p>
            <a:pPr algn="l">
              <a:lnSpc>
                <a:spcPts val="8250"/>
              </a:lnSpc>
            </a:pPr>
            <a:r>
              <a:rPr lang="en-US" sz="3300" spc="-132">
                <a:solidFill>
                  <a:srgbClr val="D8D8D8"/>
                </a:solidFill>
                <a:latin typeface="Poppins" panose="00000500000000000000"/>
                <a:ea typeface="Poppins" panose="00000500000000000000"/>
                <a:cs typeface="Poppins" panose="00000500000000000000"/>
                <a:sym typeface="Poppins" panose="00000500000000000000"/>
              </a:rPr>
              <a:t>conclusion</a:t>
            </a:r>
            <a:endParaRPr lang="en-US" sz="3300" spc="-132">
              <a:solidFill>
                <a:srgbClr val="D8D8D8"/>
              </a:solidFill>
              <a:latin typeface="Poppins" panose="00000500000000000000"/>
              <a:ea typeface="Poppins" panose="00000500000000000000"/>
              <a:cs typeface="Poppins" panose="00000500000000000000"/>
              <a:sym typeface="Poppins" panose="00000500000000000000"/>
            </a:endParaRPr>
          </a:p>
        </p:txBody>
      </p:sp>
      <p:sp>
        <p:nvSpPr>
          <p:cNvPr id="12" name="AutoShape 12"/>
          <p:cNvSpPr/>
          <p:nvPr/>
        </p:nvSpPr>
        <p:spPr>
          <a:xfrm>
            <a:off x="4851693" y="4745189"/>
            <a:ext cx="5717544" cy="0"/>
          </a:xfrm>
          <a:prstGeom prst="line">
            <a:avLst/>
          </a:prstGeom>
          <a:ln w="19050" cap="flat">
            <a:solidFill>
              <a:srgbClr val="37B594"/>
            </a:solidFill>
            <a:prstDash val="solid"/>
            <a:headEnd type="none" w="sm" len="sm"/>
            <a:tailEnd type="none" w="sm" len="sm"/>
          </a:ln>
        </p:spPr>
      </p:sp>
      <p:sp>
        <p:nvSpPr>
          <p:cNvPr id="13" name="AutoShape 13"/>
          <p:cNvSpPr/>
          <p:nvPr/>
        </p:nvSpPr>
        <p:spPr>
          <a:xfrm>
            <a:off x="11551202" y="4745189"/>
            <a:ext cx="5717544" cy="0"/>
          </a:xfrm>
          <a:prstGeom prst="line">
            <a:avLst/>
          </a:prstGeom>
          <a:ln w="19050" cap="flat">
            <a:solidFill>
              <a:srgbClr val="37B594"/>
            </a:solidFill>
            <a:prstDash val="solid"/>
            <a:headEnd type="none" w="sm" len="sm"/>
            <a:tailEnd type="none" w="sm" len="sm"/>
          </a:ln>
        </p:spPr>
      </p:sp>
      <p:sp>
        <p:nvSpPr>
          <p:cNvPr id="14" name="AutoShape 14"/>
          <p:cNvSpPr/>
          <p:nvPr/>
        </p:nvSpPr>
        <p:spPr>
          <a:xfrm>
            <a:off x="4851693" y="5781655"/>
            <a:ext cx="5717544" cy="0"/>
          </a:xfrm>
          <a:prstGeom prst="line">
            <a:avLst/>
          </a:prstGeom>
          <a:ln w="19050" cap="flat">
            <a:solidFill>
              <a:srgbClr val="37B594"/>
            </a:solidFill>
            <a:prstDash val="solid"/>
            <a:headEnd type="none" w="sm" len="sm"/>
            <a:tailEnd type="none" w="sm" len="sm"/>
          </a:ln>
        </p:spPr>
      </p:sp>
      <p:sp>
        <p:nvSpPr>
          <p:cNvPr id="15" name="AutoShape 15"/>
          <p:cNvSpPr/>
          <p:nvPr/>
        </p:nvSpPr>
        <p:spPr>
          <a:xfrm>
            <a:off x="11551202" y="5781655"/>
            <a:ext cx="5717544" cy="0"/>
          </a:xfrm>
          <a:prstGeom prst="line">
            <a:avLst/>
          </a:prstGeom>
          <a:ln w="19050" cap="flat">
            <a:solidFill>
              <a:srgbClr val="37B594"/>
            </a:solidFill>
            <a:prstDash val="solid"/>
            <a:headEnd type="none" w="sm" len="sm"/>
            <a:tailEnd type="none" w="sm" len="sm"/>
          </a:ln>
        </p:spPr>
      </p:sp>
      <p:sp>
        <p:nvSpPr>
          <p:cNvPr id="16" name="AutoShape 16"/>
          <p:cNvSpPr/>
          <p:nvPr/>
        </p:nvSpPr>
        <p:spPr>
          <a:xfrm>
            <a:off x="4851693" y="6891557"/>
            <a:ext cx="5717544" cy="0"/>
          </a:xfrm>
          <a:prstGeom prst="line">
            <a:avLst/>
          </a:prstGeom>
          <a:ln w="19050" cap="flat">
            <a:solidFill>
              <a:srgbClr val="37B594"/>
            </a:solidFill>
            <a:prstDash val="solid"/>
            <a:headEnd type="none" w="sm" len="sm"/>
            <a:tailEnd type="none" w="sm" len="sm"/>
          </a:ln>
        </p:spPr>
      </p:sp>
      <p:sp>
        <p:nvSpPr>
          <p:cNvPr id="17" name="AutoShape 17"/>
          <p:cNvSpPr/>
          <p:nvPr/>
        </p:nvSpPr>
        <p:spPr>
          <a:xfrm>
            <a:off x="11551202" y="6891557"/>
            <a:ext cx="5717544" cy="0"/>
          </a:xfrm>
          <a:prstGeom prst="line">
            <a:avLst/>
          </a:prstGeom>
          <a:ln w="19050" cap="flat">
            <a:solidFill>
              <a:srgbClr val="37B594"/>
            </a:solidFill>
            <a:prstDash val="solid"/>
            <a:headEnd type="none" w="sm" len="sm"/>
            <a:tailEnd type="none" w="sm" len="sm"/>
          </a:ln>
        </p:spPr>
      </p:sp>
      <p:sp>
        <p:nvSpPr>
          <p:cNvPr id="18" name="Freeform 18"/>
          <p:cNvSpPr/>
          <p:nvPr/>
        </p:nvSpPr>
        <p:spPr>
          <a:xfrm>
            <a:off x="16746793" y="9083930"/>
            <a:ext cx="446388" cy="348740"/>
          </a:xfrm>
          <a:custGeom>
            <a:avLst/>
            <a:gdLst/>
            <a:ahLst/>
            <a:cxnLst/>
            <a:rect l="l" t="t" r="r" b="b"/>
            <a:pathLst>
              <a:path w="446388" h="348740">
                <a:moveTo>
                  <a:pt x="0" y="0"/>
                </a:moveTo>
                <a:lnTo>
                  <a:pt x="446388" y="0"/>
                </a:lnTo>
                <a:lnTo>
                  <a:pt x="446388" y="348740"/>
                </a:lnTo>
                <a:lnTo>
                  <a:pt x="0" y="3487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TextBox 19"/>
          <p:cNvSpPr txBox="1"/>
          <p:nvPr/>
        </p:nvSpPr>
        <p:spPr>
          <a:xfrm>
            <a:off x="4851693" y="1525813"/>
            <a:ext cx="12118294" cy="1547868"/>
          </a:xfrm>
          <a:prstGeom prst="rect">
            <a:avLst/>
          </a:prstGeom>
        </p:spPr>
        <p:txBody>
          <a:bodyPr lIns="0" tIns="0" rIns="0" bIns="0" rtlCol="0" anchor="t">
            <a:spAutoFit/>
          </a:bodyPr>
          <a:lstStyle/>
          <a:p>
            <a:pPr algn="l">
              <a:lnSpc>
                <a:spcPts val="9585"/>
              </a:lnSpc>
            </a:pPr>
            <a:r>
              <a:rPr lang="en-US" sz="9585" spc="-383">
                <a:solidFill>
                  <a:srgbClr val="F6F6F6"/>
                </a:solidFill>
                <a:latin typeface="Agrandir" panose="00000500000000000000"/>
                <a:ea typeface="Agrandir" panose="00000500000000000000"/>
                <a:cs typeface="Agrandir" panose="00000500000000000000"/>
                <a:sym typeface="Agrandir" panose="00000500000000000000"/>
              </a:rPr>
              <a:t>project plan</a:t>
            </a:r>
            <a:endParaRPr lang="en-US" sz="9585" spc="-383">
              <a:solidFill>
                <a:srgbClr val="F6F6F6"/>
              </a:solidFill>
              <a:latin typeface="Agrandir" panose="00000500000000000000"/>
              <a:ea typeface="Agrandir" panose="00000500000000000000"/>
              <a:cs typeface="Agrandir" panose="00000500000000000000"/>
              <a:sym typeface="Agrandir" panose="00000500000000000000"/>
            </a:endParaRPr>
          </a:p>
        </p:txBody>
      </p:sp>
      <p:sp>
        <p:nvSpPr>
          <p:cNvPr id="20" name="TextBox 20"/>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7705605">
            <a:off x="-3202286" y="-1135564"/>
            <a:ext cx="14220834" cy="14203058"/>
          </a:xfrm>
          <a:custGeom>
            <a:avLst/>
            <a:gdLst/>
            <a:ahLst/>
            <a:cxnLst/>
            <a:rect l="l" t="t" r="r" b="b"/>
            <a:pathLst>
              <a:path w="14220834" h="14203058">
                <a:moveTo>
                  <a:pt x="0" y="0"/>
                </a:moveTo>
                <a:lnTo>
                  <a:pt x="14220834" y="0"/>
                </a:lnTo>
                <a:lnTo>
                  <a:pt x="14220834" y="14203058"/>
                </a:lnTo>
                <a:lnTo>
                  <a:pt x="0" y="14203058"/>
                </a:lnTo>
                <a:lnTo>
                  <a:pt x="0" y="0"/>
                </a:lnTo>
                <a:close/>
              </a:path>
            </a:pathLst>
          </a:custGeom>
          <a:blipFill>
            <a:blip r:embed="rId1"/>
            <a:stretch>
              <a:fillRect/>
            </a:stretch>
          </a:blipFill>
        </p:spPr>
      </p:sp>
      <p:sp>
        <p:nvSpPr>
          <p:cNvPr id="3" name="Freeform 3"/>
          <p:cNvSpPr/>
          <p:nvPr/>
        </p:nvSpPr>
        <p:spPr>
          <a:xfrm rot="-9088373">
            <a:off x="2001925" y="4259597"/>
            <a:ext cx="13128058" cy="13966019"/>
          </a:xfrm>
          <a:custGeom>
            <a:avLst/>
            <a:gdLst/>
            <a:ahLst/>
            <a:cxnLst/>
            <a:rect l="l" t="t" r="r" b="b"/>
            <a:pathLst>
              <a:path w="13128058" h="13966019">
                <a:moveTo>
                  <a:pt x="0" y="0"/>
                </a:moveTo>
                <a:lnTo>
                  <a:pt x="13128058" y="0"/>
                </a:lnTo>
                <a:lnTo>
                  <a:pt x="13128058" y="13966019"/>
                </a:lnTo>
                <a:lnTo>
                  <a:pt x="0" y="13966019"/>
                </a:lnTo>
                <a:lnTo>
                  <a:pt x="0" y="0"/>
                </a:lnTo>
                <a:close/>
              </a:path>
            </a:pathLst>
          </a:custGeom>
          <a:blipFill>
            <a:blip r:embed="rId2">
              <a:alphaModFix amt="65999"/>
            </a:blip>
            <a:stretch>
              <a:fillRect/>
            </a:stretch>
          </a:blipFill>
        </p:spPr>
      </p:sp>
      <p:sp>
        <p:nvSpPr>
          <p:cNvPr id="4" name="Freeform 4"/>
          <p:cNvSpPr/>
          <p:nvPr/>
        </p:nvSpPr>
        <p:spPr>
          <a:xfrm rot="1794495">
            <a:off x="-4126685" y="-5644315"/>
            <a:ext cx="10589272" cy="11265182"/>
          </a:xfrm>
          <a:custGeom>
            <a:avLst/>
            <a:gdLst/>
            <a:ahLst/>
            <a:cxnLst/>
            <a:rect l="l" t="t" r="r" b="b"/>
            <a:pathLst>
              <a:path w="10589272" h="11265182">
                <a:moveTo>
                  <a:pt x="0" y="0"/>
                </a:moveTo>
                <a:lnTo>
                  <a:pt x="10589271" y="0"/>
                </a:lnTo>
                <a:lnTo>
                  <a:pt x="10589271" y="11265182"/>
                </a:lnTo>
                <a:lnTo>
                  <a:pt x="0" y="11265182"/>
                </a:lnTo>
                <a:lnTo>
                  <a:pt x="0" y="0"/>
                </a:lnTo>
                <a:close/>
              </a:path>
            </a:pathLst>
          </a:custGeom>
          <a:blipFill>
            <a:blip r:embed="rId2">
              <a:alphaModFix amt="55000"/>
            </a:blip>
            <a:stretch>
              <a:fillRect/>
            </a:stretch>
          </a:blipFill>
        </p:spPr>
      </p:sp>
      <p:grpSp>
        <p:nvGrpSpPr>
          <p:cNvPr id="5" name="Group 5"/>
          <p:cNvGrpSpPr/>
          <p:nvPr/>
        </p:nvGrpSpPr>
        <p:grpSpPr>
          <a:xfrm rot="0">
            <a:off x="10116119" y="-1079353"/>
            <a:ext cx="8286064" cy="11972436"/>
            <a:chOff x="0" y="0"/>
            <a:chExt cx="4356481" cy="6294628"/>
          </a:xfrm>
        </p:grpSpPr>
        <p:sp>
          <p:nvSpPr>
            <p:cNvPr id="6" name="Freeform 6"/>
            <p:cNvSpPr/>
            <p:nvPr/>
          </p:nvSpPr>
          <p:spPr>
            <a:xfrm>
              <a:off x="-31496" y="-27432"/>
              <a:ext cx="4387850" cy="6322060"/>
            </a:xfrm>
            <a:custGeom>
              <a:avLst/>
              <a:gdLst/>
              <a:ahLst/>
              <a:cxnLst/>
              <a:rect l="l" t="t" r="r" b="b"/>
              <a:pathLst>
                <a:path w="4387850" h="6322060">
                  <a:moveTo>
                    <a:pt x="4102481" y="509397"/>
                  </a:moveTo>
                  <a:cubicBezTo>
                    <a:pt x="4259453" y="543560"/>
                    <a:pt x="4387850" y="702945"/>
                    <a:pt x="4387850" y="863600"/>
                  </a:cubicBezTo>
                  <a:lnTo>
                    <a:pt x="4387850" y="6029960"/>
                  </a:lnTo>
                  <a:cubicBezTo>
                    <a:pt x="4387850" y="6190615"/>
                    <a:pt x="4256405" y="6322060"/>
                    <a:pt x="4095750" y="6322060"/>
                  </a:cubicBezTo>
                  <a:lnTo>
                    <a:pt x="258699" y="6322060"/>
                  </a:lnTo>
                  <a:cubicBezTo>
                    <a:pt x="98044" y="6322060"/>
                    <a:pt x="0" y="6194933"/>
                    <a:pt x="40767" y="6039485"/>
                  </a:cubicBezTo>
                  <a:lnTo>
                    <a:pt x="1560449" y="254508"/>
                  </a:lnTo>
                  <a:cubicBezTo>
                    <a:pt x="1601216" y="99187"/>
                    <a:pt x="1763141" y="0"/>
                    <a:pt x="1920113" y="34163"/>
                  </a:cubicBezTo>
                  <a:lnTo>
                    <a:pt x="4102481" y="509397"/>
                  </a:lnTo>
                  <a:close/>
                </a:path>
              </a:pathLst>
            </a:custGeom>
            <a:blipFill>
              <a:blip r:embed="rId3"/>
              <a:stretch>
                <a:fillRect l="-22247" r="-22247"/>
              </a:stretch>
            </a:blipFill>
          </p:spPr>
        </p:sp>
      </p:grpSp>
      <p:sp>
        <p:nvSpPr>
          <p:cNvPr id="7" name="TextBox 7"/>
          <p:cNvSpPr txBox="1"/>
          <p:nvPr/>
        </p:nvSpPr>
        <p:spPr>
          <a:xfrm>
            <a:off x="1028700" y="1525813"/>
            <a:ext cx="8115300" cy="1547868"/>
          </a:xfrm>
          <a:prstGeom prst="rect">
            <a:avLst/>
          </a:prstGeom>
        </p:spPr>
        <p:txBody>
          <a:bodyPr lIns="0" tIns="0" rIns="0" bIns="0" rtlCol="0" anchor="t">
            <a:spAutoFit/>
          </a:bodyPr>
          <a:lstStyle/>
          <a:p>
            <a:pPr algn="l">
              <a:lnSpc>
                <a:spcPts val="9585"/>
              </a:lnSpc>
            </a:pPr>
            <a:r>
              <a:rPr lang="en-US" sz="9585" spc="-383">
                <a:solidFill>
                  <a:srgbClr val="F6F6F6"/>
                </a:solidFill>
                <a:latin typeface="Agrandir" panose="00000500000000000000"/>
                <a:ea typeface="Agrandir" panose="00000500000000000000"/>
                <a:cs typeface="Agrandir" panose="00000500000000000000"/>
                <a:sym typeface="Agrandir" panose="00000500000000000000"/>
              </a:rPr>
              <a:t>introduction</a:t>
            </a:r>
            <a:endParaRPr lang="en-US" sz="9585" spc="-383">
              <a:solidFill>
                <a:srgbClr val="F6F6F6"/>
              </a:solidFill>
              <a:latin typeface="Agrandir" panose="00000500000000000000"/>
              <a:ea typeface="Agrandir" panose="00000500000000000000"/>
              <a:cs typeface="Agrandir" panose="00000500000000000000"/>
              <a:sym typeface="Agrandir" panose="00000500000000000000"/>
            </a:endParaRPr>
          </a:p>
        </p:txBody>
      </p:sp>
      <p:sp>
        <p:nvSpPr>
          <p:cNvPr id="8" name="TextBox 8"/>
          <p:cNvSpPr txBox="1"/>
          <p:nvPr/>
        </p:nvSpPr>
        <p:spPr>
          <a:xfrm>
            <a:off x="434658" y="3979050"/>
            <a:ext cx="9303384" cy="3143250"/>
          </a:xfrm>
          <a:prstGeom prst="rect">
            <a:avLst/>
          </a:prstGeom>
        </p:spPr>
        <p:txBody>
          <a:bodyPr lIns="0" tIns="0" rIns="0" bIns="0" rtlCol="0" anchor="t">
            <a:spAutoFit/>
          </a:bodyPr>
          <a:lstStyle/>
          <a:p>
            <a:pPr marL="647700" lvl="1" indent="-323850" algn="l">
              <a:lnSpc>
                <a:spcPts val="4200"/>
              </a:lnSpc>
              <a:buAutoNum type="arabicPeriod"/>
            </a:pPr>
            <a:r>
              <a:rPr lang="en-US" sz="3000" spc="-119">
                <a:solidFill>
                  <a:srgbClr val="D8D8D8"/>
                </a:solidFill>
                <a:latin typeface="Poppins" panose="00000500000000000000"/>
                <a:ea typeface="Poppins" panose="00000500000000000000"/>
                <a:cs typeface="Poppins" panose="00000500000000000000"/>
                <a:sym typeface="Poppins" panose="00000500000000000000"/>
              </a:rPr>
              <a:t>It's an encryption method that divides data into fixed-size blocks—such as 128 bits—and then encrypts each block using an algorithm such as AES or DES. However, encrypting each block individually can cause problems, such as repeating patterns.</a:t>
            </a:r>
            <a:endParaRPr lang="en-US" sz="3000" spc="-119">
              <a:solidFill>
                <a:srgbClr val="D8D8D8"/>
              </a:solidFill>
              <a:latin typeface="Poppins" panose="00000500000000000000"/>
              <a:ea typeface="Poppins" panose="00000500000000000000"/>
              <a:cs typeface="Poppins" panose="00000500000000000000"/>
              <a:sym typeface="Poppins" panose="00000500000000000000"/>
            </a:endParaRPr>
          </a:p>
        </p:txBody>
      </p:sp>
      <p:sp>
        <p:nvSpPr>
          <p:cNvPr id="9" name="TextBox 9"/>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10" name="Freeform 10"/>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280827">
            <a:off x="-3106605" y="-2275516"/>
            <a:ext cx="14220834" cy="14203058"/>
          </a:xfrm>
          <a:custGeom>
            <a:avLst/>
            <a:gdLst/>
            <a:ahLst/>
            <a:cxnLst/>
            <a:rect l="l" t="t" r="r" b="b"/>
            <a:pathLst>
              <a:path w="14220834" h="14203058">
                <a:moveTo>
                  <a:pt x="0" y="0"/>
                </a:moveTo>
                <a:lnTo>
                  <a:pt x="14220834" y="0"/>
                </a:lnTo>
                <a:lnTo>
                  <a:pt x="14220834" y="14203057"/>
                </a:lnTo>
                <a:lnTo>
                  <a:pt x="0" y="14203057"/>
                </a:lnTo>
                <a:lnTo>
                  <a:pt x="0" y="0"/>
                </a:lnTo>
                <a:close/>
              </a:path>
            </a:pathLst>
          </a:custGeom>
          <a:blipFill>
            <a:blip r:embed="rId1"/>
            <a:stretch>
              <a:fillRect/>
            </a:stretch>
          </a:blipFill>
        </p:spPr>
      </p:sp>
      <p:sp>
        <p:nvSpPr>
          <p:cNvPr id="3" name="Freeform 3"/>
          <p:cNvSpPr/>
          <p:nvPr/>
        </p:nvSpPr>
        <p:spPr>
          <a:xfrm rot="1794495">
            <a:off x="-5351897" y="4310298"/>
            <a:ext cx="10589272" cy="11265182"/>
          </a:xfrm>
          <a:custGeom>
            <a:avLst/>
            <a:gdLst/>
            <a:ahLst/>
            <a:cxnLst/>
            <a:rect l="l" t="t" r="r" b="b"/>
            <a:pathLst>
              <a:path w="10589272" h="11265182">
                <a:moveTo>
                  <a:pt x="0" y="0"/>
                </a:moveTo>
                <a:lnTo>
                  <a:pt x="10589271" y="0"/>
                </a:lnTo>
                <a:lnTo>
                  <a:pt x="10589271" y="11265183"/>
                </a:lnTo>
                <a:lnTo>
                  <a:pt x="0" y="11265183"/>
                </a:lnTo>
                <a:lnTo>
                  <a:pt x="0" y="0"/>
                </a:lnTo>
                <a:close/>
              </a:path>
            </a:pathLst>
          </a:custGeom>
          <a:blipFill>
            <a:blip r:embed="rId2">
              <a:alphaModFix amt="55000"/>
            </a:blip>
            <a:stretch>
              <a:fillRect/>
            </a:stretch>
          </a:blipFill>
        </p:spPr>
      </p:sp>
      <p:pic>
        <p:nvPicPr>
          <p:cNvPr id="4" name="Picture 4"/>
          <p:cNvPicPr>
            <a:picLocks noChangeAspect="1"/>
          </p:cNvPicPr>
          <p:nvPr/>
        </p:nvPicPr>
        <p:blipFill>
          <a:blip r:embed="rId3"/>
          <a:srcRect/>
          <a:stretch>
            <a:fillRect/>
          </a:stretch>
        </p:blipFill>
        <p:spPr>
          <a:xfrm>
            <a:off x="1574314" y="6408206"/>
            <a:ext cx="2042588" cy="2042588"/>
          </a:xfrm>
          <a:prstGeom prst="rect">
            <a:avLst/>
          </a:prstGeom>
        </p:spPr>
      </p:pic>
      <p:pic>
        <p:nvPicPr>
          <p:cNvPr id="5" name="Picture 5"/>
          <p:cNvPicPr>
            <a:picLocks noChangeAspect="1"/>
          </p:cNvPicPr>
          <p:nvPr/>
        </p:nvPicPr>
        <p:blipFill>
          <a:blip r:embed="rId3"/>
          <a:srcRect/>
          <a:stretch>
            <a:fillRect/>
          </a:stretch>
        </p:blipFill>
        <p:spPr>
          <a:xfrm>
            <a:off x="7963510" y="6408206"/>
            <a:ext cx="2042588" cy="2042588"/>
          </a:xfrm>
          <a:prstGeom prst="rect">
            <a:avLst/>
          </a:prstGeom>
        </p:spPr>
      </p:pic>
      <p:pic>
        <p:nvPicPr>
          <p:cNvPr id="6" name="Picture 6"/>
          <p:cNvPicPr>
            <a:picLocks noChangeAspect="1"/>
          </p:cNvPicPr>
          <p:nvPr/>
        </p:nvPicPr>
        <p:blipFill>
          <a:blip r:embed="rId3"/>
          <a:srcRect/>
          <a:stretch>
            <a:fillRect/>
          </a:stretch>
        </p:blipFill>
        <p:spPr>
          <a:xfrm>
            <a:off x="4734369" y="3746245"/>
            <a:ext cx="2042588" cy="2042588"/>
          </a:xfrm>
          <a:prstGeom prst="rect">
            <a:avLst/>
          </a:prstGeom>
        </p:spPr>
      </p:pic>
      <p:pic>
        <p:nvPicPr>
          <p:cNvPr id="7" name="Picture 7"/>
          <p:cNvPicPr>
            <a:picLocks noChangeAspect="1"/>
          </p:cNvPicPr>
          <p:nvPr/>
        </p:nvPicPr>
        <p:blipFill>
          <a:blip r:embed="rId3"/>
          <a:srcRect/>
          <a:stretch>
            <a:fillRect/>
          </a:stretch>
        </p:blipFill>
        <p:spPr>
          <a:xfrm>
            <a:off x="11116260" y="3746245"/>
            <a:ext cx="2042588" cy="2042588"/>
          </a:xfrm>
          <a:prstGeom prst="rect">
            <a:avLst/>
          </a:prstGeom>
        </p:spPr>
      </p:pic>
      <p:sp>
        <p:nvSpPr>
          <p:cNvPr id="8" name="Freeform 8"/>
          <p:cNvSpPr/>
          <p:nvPr/>
        </p:nvSpPr>
        <p:spPr>
          <a:xfrm rot="-9088373">
            <a:off x="11310460" y="-7323236"/>
            <a:ext cx="13128058" cy="13966019"/>
          </a:xfrm>
          <a:custGeom>
            <a:avLst/>
            <a:gdLst/>
            <a:ahLst/>
            <a:cxnLst/>
            <a:rect l="l" t="t" r="r" b="b"/>
            <a:pathLst>
              <a:path w="13128058" h="13966019">
                <a:moveTo>
                  <a:pt x="0" y="0"/>
                </a:moveTo>
                <a:lnTo>
                  <a:pt x="13128058" y="0"/>
                </a:lnTo>
                <a:lnTo>
                  <a:pt x="13128058" y="13966019"/>
                </a:lnTo>
                <a:lnTo>
                  <a:pt x="0" y="13966019"/>
                </a:lnTo>
                <a:lnTo>
                  <a:pt x="0" y="0"/>
                </a:lnTo>
                <a:close/>
              </a:path>
            </a:pathLst>
          </a:custGeom>
          <a:blipFill>
            <a:blip r:embed="rId2">
              <a:alphaModFix amt="65999"/>
            </a:blip>
            <a:stretch>
              <a:fillRect/>
            </a:stretch>
          </a:blipFill>
        </p:spPr>
      </p:sp>
      <p:sp>
        <p:nvSpPr>
          <p:cNvPr id="9" name="Freeform 9"/>
          <p:cNvSpPr/>
          <p:nvPr/>
        </p:nvSpPr>
        <p:spPr>
          <a:xfrm rot="5400000">
            <a:off x="5353620" y="575423"/>
            <a:ext cx="4061172" cy="10939184"/>
          </a:xfrm>
          <a:custGeom>
            <a:avLst/>
            <a:gdLst/>
            <a:ahLst/>
            <a:cxnLst/>
            <a:rect l="l" t="t" r="r" b="b"/>
            <a:pathLst>
              <a:path w="4061172" h="10939184">
                <a:moveTo>
                  <a:pt x="0" y="0"/>
                </a:moveTo>
                <a:lnTo>
                  <a:pt x="4061172" y="0"/>
                </a:lnTo>
                <a:lnTo>
                  <a:pt x="4061172" y="10939184"/>
                </a:lnTo>
                <a:lnTo>
                  <a:pt x="0" y="109391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4254935" y="1674578"/>
            <a:ext cx="11042278" cy="1548287"/>
          </a:xfrm>
          <a:prstGeom prst="rect">
            <a:avLst/>
          </a:prstGeom>
        </p:spPr>
        <p:txBody>
          <a:bodyPr lIns="0" tIns="0" rIns="0" bIns="0" rtlCol="0" anchor="t">
            <a:spAutoFit/>
          </a:bodyPr>
          <a:lstStyle/>
          <a:p>
            <a:pPr algn="ctr">
              <a:lnSpc>
                <a:spcPts val="9585"/>
              </a:lnSpc>
            </a:pPr>
            <a:r>
              <a:rPr lang="en-US" sz="9585" spc="-383">
                <a:solidFill>
                  <a:srgbClr val="F6F6F6"/>
                </a:solidFill>
                <a:latin typeface="Agrandir" panose="00000500000000000000"/>
                <a:ea typeface="Agrandir" panose="00000500000000000000"/>
                <a:cs typeface="Agrandir" panose="00000500000000000000"/>
                <a:sym typeface="Agrandir" panose="00000500000000000000"/>
              </a:rPr>
              <a:t>modes d’ operation</a:t>
            </a:r>
            <a:endParaRPr lang="en-US" sz="9585" spc="-383">
              <a:solidFill>
                <a:srgbClr val="F6F6F6"/>
              </a:solidFill>
              <a:latin typeface="Agrandir" panose="00000500000000000000"/>
              <a:ea typeface="Agrandir" panose="00000500000000000000"/>
              <a:cs typeface="Agrandir" panose="00000500000000000000"/>
              <a:sym typeface="Agrandir" panose="00000500000000000000"/>
            </a:endParaRPr>
          </a:p>
        </p:txBody>
      </p:sp>
      <p:sp>
        <p:nvSpPr>
          <p:cNvPr id="11" name="TextBox 11"/>
          <p:cNvSpPr txBox="1"/>
          <p:nvPr/>
        </p:nvSpPr>
        <p:spPr>
          <a:xfrm>
            <a:off x="2128046" y="7236226"/>
            <a:ext cx="935123" cy="405645"/>
          </a:xfrm>
          <a:prstGeom prst="rect">
            <a:avLst/>
          </a:prstGeom>
        </p:spPr>
        <p:txBody>
          <a:bodyPr lIns="0" tIns="0" rIns="0" bIns="0" rtlCol="0" anchor="t">
            <a:spAutoFit/>
          </a:bodyPr>
          <a:lstStyle/>
          <a:p>
            <a:pPr algn="ctr">
              <a:lnSpc>
                <a:spcPts val="2595"/>
              </a:lnSpc>
            </a:pPr>
            <a:r>
              <a:rPr lang="en-US" sz="2595" b="1" spc="-103">
                <a:solidFill>
                  <a:srgbClr val="000000"/>
                </a:solidFill>
                <a:latin typeface="Agrandir Bold" panose="00000800000000000000"/>
                <a:ea typeface="Agrandir Bold" panose="00000800000000000000"/>
                <a:cs typeface="Agrandir Bold" panose="00000800000000000000"/>
                <a:sym typeface="Agrandir Bold" panose="00000800000000000000"/>
              </a:rPr>
              <a:t>1</a:t>
            </a:r>
            <a:endParaRPr lang="en-US" sz="2595" b="1" spc="-103">
              <a:solidFill>
                <a:srgbClr val="000000"/>
              </a:solidFill>
              <a:latin typeface="Agrandir Bold" panose="00000800000000000000"/>
              <a:ea typeface="Agrandir Bold" panose="00000800000000000000"/>
              <a:cs typeface="Agrandir Bold" panose="00000800000000000000"/>
              <a:sym typeface="Agrandir Bold" panose="00000800000000000000"/>
            </a:endParaRPr>
          </a:p>
        </p:txBody>
      </p:sp>
      <p:sp>
        <p:nvSpPr>
          <p:cNvPr id="12" name="TextBox 12"/>
          <p:cNvSpPr txBox="1"/>
          <p:nvPr/>
        </p:nvSpPr>
        <p:spPr>
          <a:xfrm>
            <a:off x="5288101" y="4555215"/>
            <a:ext cx="935123" cy="405645"/>
          </a:xfrm>
          <a:prstGeom prst="rect">
            <a:avLst/>
          </a:prstGeom>
        </p:spPr>
        <p:txBody>
          <a:bodyPr lIns="0" tIns="0" rIns="0" bIns="0" rtlCol="0" anchor="t">
            <a:spAutoFit/>
          </a:bodyPr>
          <a:lstStyle/>
          <a:p>
            <a:pPr algn="ctr">
              <a:lnSpc>
                <a:spcPts val="2595"/>
              </a:lnSpc>
            </a:pPr>
            <a:r>
              <a:rPr lang="en-US" sz="2595" b="1" spc="-103">
                <a:solidFill>
                  <a:srgbClr val="000000"/>
                </a:solidFill>
                <a:latin typeface="Agrandir Bold" panose="00000800000000000000"/>
                <a:ea typeface="Agrandir Bold" panose="00000800000000000000"/>
                <a:cs typeface="Agrandir Bold" panose="00000800000000000000"/>
                <a:sym typeface="Agrandir Bold" panose="00000800000000000000"/>
              </a:rPr>
              <a:t>2</a:t>
            </a:r>
            <a:endParaRPr lang="en-US" sz="2595" b="1" spc="-103">
              <a:solidFill>
                <a:srgbClr val="000000"/>
              </a:solidFill>
              <a:latin typeface="Agrandir Bold" panose="00000800000000000000"/>
              <a:ea typeface="Agrandir Bold" panose="00000800000000000000"/>
              <a:cs typeface="Agrandir Bold" panose="00000800000000000000"/>
              <a:sym typeface="Agrandir Bold" panose="00000800000000000000"/>
            </a:endParaRPr>
          </a:p>
        </p:txBody>
      </p:sp>
      <p:sp>
        <p:nvSpPr>
          <p:cNvPr id="13" name="TextBox 13"/>
          <p:cNvSpPr txBox="1"/>
          <p:nvPr/>
        </p:nvSpPr>
        <p:spPr>
          <a:xfrm>
            <a:off x="8473131" y="7236226"/>
            <a:ext cx="935123" cy="405645"/>
          </a:xfrm>
          <a:prstGeom prst="rect">
            <a:avLst/>
          </a:prstGeom>
        </p:spPr>
        <p:txBody>
          <a:bodyPr lIns="0" tIns="0" rIns="0" bIns="0" rtlCol="0" anchor="t">
            <a:spAutoFit/>
          </a:bodyPr>
          <a:lstStyle/>
          <a:p>
            <a:pPr algn="ctr">
              <a:lnSpc>
                <a:spcPts val="2595"/>
              </a:lnSpc>
            </a:pPr>
            <a:r>
              <a:rPr lang="en-US" sz="2595" b="1" spc="-103">
                <a:solidFill>
                  <a:srgbClr val="000000"/>
                </a:solidFill>
                <a:latin typeface="Agrandir Bold" panose="00000800000000000000"/>
                <a:ea typeface="Agrandir Bold" panose="00000800000000000000"/>
                <a:cs typeface="Agrandir Bold" panose="00000800000000000000"/>
                <a:sym typeface="Agrandir Bold" panose="00000800000000000000"/>
              </a:rPr>
              <a:t>3</a:t>
            </a:r>
            <a:endParaRPr lang="en-US" sz="2595" b="1" spc="-103">
              <a:solidFill>
                <a:srgbClr val="000000"/>
              </a:solidFill>
              <a:latin typeface="Agrandir Bold" panose="00000800000000000000"/>
              <a:ea typeface="Agrandir Bold" panose="00000800000000000000"/>
              <a:cs typeface="Agrandir Bold" panose="00000800000000000000"/>
              <a:sym typeface="Agrandir Bold" panose="00000800000000000000"/>
            </a:endParaRPr>
          </a:p>
        </p:txBody>
      </p:sp>
      <p:sp>
        <p:nvSpPr>
          <p:cNvPr id="14" name="TextBox 14"/>
          <p:cNvSpPr txBox="1"/>
          <p:nvPr/>
        </p:nvSpPr>
        <p:spPr>
          <a:xfrm>
            <a:off x="11669992" y="4555215"/>
            <a:ext cx="935123" cy="405645"/>
          </a:xfrm>
          <a:prstGeom prst="rect">
            <a:avLst/>
          </a:prstGeom>
        </p:spPr>
        <p:txBody>
          <a:bodyPr lIns="0" tIns="0" rIns="0" bIns="0" rtlCol="0" anchor="t">
            <a:spAutoFit/>
          </a:bodyPr>
          <a:lstStyle/>
          <a:p>
            <a:pPr algn="ctr">
              <a:lnSpc>
                <a:spcPts val="2595"/>
              </a:lnSpc>
            </a:pPr>
            <a:r>
              <a:rPr lang="en-US" sz="2595" b="1" spc="-103">
                <a:solidFill>
                  <a:srgbClr val="000000"/>
                </a:solidFill>
                <a:latin typeface="Agrandir Bold" panose="00000800000000000000"/>
                <a:ea typeface="Agrandir Bold" panose="00000800000000000000"/>
                <a:cs typeface="Agrandir Bold" panose="00000800000000000000"/>
                <a:sym typeface="Agrandir Bold" panose="00000800000000000000"/>
              </a:rPr>
              <a:t>4</a:t>
            </a:r>
            <a:endParaRPr lang="en-US" sz="2595" b="1" spc="-103">
              <a:solidFill>
                <a:srgbClr val="000000"/>
              </a:solidFill>
              <a:latin typeface="Agrandir Bold" panose="00000800000000000000"/>
              <a:ea typeface="Agrandir Bold" panose="00000800000000000000"/>
              <a:cs typeface="Agrandir Bold" panose="00000800000000000000"/>
              <a:sym typeface="Agrandir Bold" panose="00000800000000000000"/>
            </a:endParaRPr>
          </a:p>
        </p:txBody>
      </p:sp>
      <p:sp>
        <p:nvSpPr>
          <p:cNvPr id="15" name="TextBox 15"/>
          <p:cNvSpPr txBox="1"/>
          <p:nvPr/>
        </p:nvSpPr>
        <p:spPr>
          <a:xfrm>
            <a:off x="3858228" y="7213264"/>
            <a:ext cx="4105282" cy="375322"/>
          </a:xfrm>
          <a:prstGeom prst="rect">
            <a:avLst/>
          </a:prstGeom>
        </p:spPr>
        <p:txBody>
          <a:bodyPr lIns="0" tIns="0" rIns="0" bIns="0" rtlCol="0" anchor="t">
            <a:spAutoFit/>
          </a:bodyPr>
          <a:lstStyle/>
          <a:p>
            <a:pPr algn="l">
              <a:lnSpc>
                <a:spcPts val="2940"/>
              </a:lnSpc>
            </a:pPr>
            <a:r>
              <a:rPr lang="en-US" sz="2100" spc="-84">
                <a:solidFill>
                  <a:srgbClr val="F3DD52"/>
                </a:solidFill>
                <a:latin typeface="Poppins" panose="00000500000000000000"/>
                <a:ea typeface="Poppins" panose="00000500000000000000"/>
                <a:cs typeface="Poppins" panose="00000500000000000000"/>
                <a:sym typeface="Poppins" panose="00000500000000000000"/>
              </a:rPr>
              <a:t>ECB – ELECTRONIC CODEBOOK</a:t>
            </a:r>
            <a:endParaRPr lang="en-US" sz="2100" spc="-84">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7091359" y="4510680"/>
            <a:ext cx="4105282" cy="375322"/>
          </a:xfrm>
          <a:prstGeom prst="rect">
            <a:avLst/>
          </a:prstGeom>
        </p:spPr>
        <p:txBody>
          <a:bodyPr lIns="0" tIns="0" rIns="0" bIns="0" rtlCol="0" anchor="t">
            <a:spAutoFit/>
          </a:bodyPr>
          <a:lstStyle/>
          <a:p>
            <a:pPr algn="l">
              <a:lnSpc>
                <a:spcPts val="2940"/>
              </a:lnSpc>
            </a:pPr>
            <a:r>
              <a:rPr lang="en-US" sz="2100" spc="-84">
                <a:solidFill>
                  <a:srgbClr val="F3DD52"/>
                </a:solidFill>
                <a:latin typeface="Poppins" panose="00000500000000000000"/>
                <a:ea typeface="Poppins" panose="00000500000000000000"/>
                <a:cs typeface="Poppins" panose="00000500000000000000"/>
                <a:sym typeface="Poppins" panose="00000500000000000000"/>
              </a:rPr>
              <a:t>CBC – CIPHER BLOCK CHAINING</a:t>
            </a:r>
            <a:endParaRPr lang="en-US" sz="2100" spc="-84">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3635097" y="4551303"/>
            <a:ext cx="4105282" cy="375322"/>
          </a:xfrm>
          <a:prstGeom prst="rect">
            <a:avLst/>
          </a:prstGeom>
        </p:spPr>
        <p:txBody>
          <a:bodyPr lIns="0" tIns="0" rIns="0" bIns="0" rtlCol="0" anchor="t">
            <a:spAutoFit/>
          </a:bodyPr>
          <a:lstStyle/>
          <a:p>
            <a:pPr algn="l">
              <a:lnSpc>
                <a:spcPts val="2940"/>
              </a:lnSpc>
            </a:pPr>
            <a:r>
              <a:rPr lang="en-US" sz="2100" spc="-84">
                <a:solidFill>
                  <a:srgbClr val="F3DD52"/>
                </a:solidFill>
                <a:latin typeface="Poppins" panose="00000500000000000000"/>
                <a:ea typeface="Poppins" panose="00000500000000000000"/>
                <a:cs typeface="Poppins" panose="00000500000000000000"/>
                <a:sym typeface="Poppins" panose="00000500000000000000"/>
              </a:rPr>
              <a:t>CTR – COUNTER MODE</a:t>
            </a:r>
            <a:endParaRPr lang="en-US" sz="2100" spc="-84">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0625223" y="7213264"/>
            <a:ext cx="4105282" cy="375322"/>
          </a:xfrm>
          <a:prstGeom prst="rect">
            <a:avLst/>
          </a:prstGeom>
        </p:spPr>
        <p:txBody>
          <a:bodyPr lIns="0" tIns="0" rIns="0" bIns="0" rtlCol="0" anchor="t">
            <a:spAutoFit/>
          </a:bodyPr>
          <a:lstStyle/>
          <a:p>
            <a:pPr algn="l">
              <a:lnSpc>
                <a:spcPts val="2940"/>
              </a:lnSpc>
            </a:pPr>
            <a:r>
              <a:rPr lang="en-US" sz="2100" spc="-84">
                <a:solidFill>
                  <a:srgbClr val="F3DD52"/>
                </a:solidFill>
                <a:latin typeface="Poppins" panose="00000500000000000000"/>
                <a:ea typeface="Poppins" panose="00000500000000000000"/>
                <a:cs typeface="Poppins" panose="00000500000000000000"/>
                <a:sym typeface="Poppins" panose="00000500000000000000"/>
              </a:rPr>
              <a:t> OFB – OUTPUT FEEDBACK</a:t>
            </a:r>
            <a:endParaRPr lang="en-US" sz="2100" spc="-84">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9" name="TextBox 19"/>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20" name="Freeform 20"/>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103251">
            <a:off x="-2992585" y="-2339797"/>
            <a:ext cx="14220834" cy="14203058"/>
          </a:xfrm>
          <a:custGeom>
            <a:avLst/>
            <a:gdLst/>
            <a:ahLst/>
            <a:cxnLst/>
            <a:rect l="l" t="t" r="r" b="b"/>
            <a:pathLst>
              <a:path w="14220834" h="14203058">
                <a:moveTo>
                  <a:pt x="0" y="0"/>
                </a:moveTo>
                <a:lnTo>
                  <a:pt x="14220834" y="0"/>
                </a:lnTo>
                <a:lnTo>
                  <a:pt x="14220834" y="14203057"/>
                </a:lnTo>
                <a:lnTo>
                  <a:pt x="0" y="14203057"/>
                </a:lnTo>
                <a:lnTo>
                  <a:pt x="0" y="0"/>
                </a:lnTo>
                <a:close/>
              </a:path>
            </a:pathLst>
          </a:custGeom>
          <a:blipFill>
            <a:blip r:embed="rId1"/>
            <a:stretch>
              <a:fillRect/>
            </a:stretch>
          </a:blipFill>
        </p:spPr>
      </p:sp>
      <p:sp>
        <p:nvSpPr>
          <p:cNvPr id="3" name="Freeform 3"/>
          <p:cNvSpPr/>
          <p:nvPr/>
        </p:nvSpPr>
        <p:spPr>
          <a:xfrm rot="-7047732">
            <a:off x="9123488" y="-3058993"/>
            <a:ext cx="10589272" cy="11265182"/>
          </a:xfrm>
          <a:custGeom>
            <a:avLst/>
            <a:gdLst/>
            <a:ahLst/>
            <a:cxnLst/>
            <a:rect l="l" t="t" r="r" b="b"/>
            <a:pathLst>
              <a:path w="10589272" h="11265182">
                <a:moveTo>
                  <a:pt x="0" y="0"/>
                </a:moveTo>
                <a:lnTo>
                  <a:pt x="10589272" y="0"/>
                </a:lnTo>
                <a:lnTo>
                  <a:pt x="10589272" y="11265182"/>
                </a:lnTo>
                <a:lnTo>
                  <a:pt x="0" y="11265182"/>
                </a:lnTo>
                <a:lnTo>
                  <a:pt x="0" y="0"/>
                </a:lnTo>
                <a:close/>
              </a:path>
            </a:pathLst>
          </a:custGeom>
          <a:blipFill>
            <a:blip r:embed="rId2">
              <a:alphaModFix amt="55000"/>
            </a:blip>
            <a:stretch>
              <a:fillRect/>
            </a:stretch>
          </a:blipFill>
        </p:spPr>
      </p:sp>
      <p:pic>
        <p:nvPicPr>
          <p:cNvPr id="4" name="Picture 4"/>
          <p:cNvPicPr>
            <a:picLocks noChangeAspect="1"/>
          </p:cNvPicPr>
          <p:nvPr/>
        </p:nvPicPr>
        <p:blipFill>
          <a:blip r:embed="rId3"/>
          <a:srcRect/>
          <a:stretch>
            <a:fillRect/>
          </a:stretch>
        </p:blipFill>
        <p:spPr>
          <a:xfrm>
            <a:off x="3147717" y="2755181"/>
            <a:ext cx="278501" cy="278501"/>
          </a:xfrm>
          <a:prstGeom prst="rect">
            <a:avLst/>
          </a:prstGeom>
        </p:spPr>
      </p:pic>
      <p:pic>
        <p:nvPicPr>
          <p:cNvPr id="5" name="Picture 5"/>
          <p:cNvPicPr>
            <a:picLocks noChangeAspect="1"/>
          </p:cNvPicPr>
          <p:nvPr/>
        </p:nvPicPr>
        <p:blipFill>
          <a:blip r:embed="rId3"/>
          <a:srcRect/>
          <a:stretch>
            <a:fillRect/>
          </a:stretch>
        </p:blipFill>
        <p:spPr>
          <a:xfrm>
            <a:off x="3626243" y="2755181"/>
            <a:ext cx="278501" cy="278501"/>
          </a:xfrm>
          <a:prstGeom prst="rect">
            <a:avLst/>
          </a:prstGeom>
        </p:spPr>
      </p:pic>
      <p:pic>
        <p:nvPicPr>
          <p:cNvPr id="6" name="Picture 6"/>
          <p:cNvPicPr>
            <a:picLocks noChangeAspect="1"/>
          </p:cNvPicPr>
          <p:nvPr/>
        </p:nvPicPr>
        <p:blipFill>
          <a:blip r:embed="rId3"/>
          <a:srcRect/>
          <a:stretch>
            <a:fillRect/>
          </a:stretch>
        </p:blipFill>
        <p:spPr>
          <a:xfrm>
            <a:off x="2667881" y="2755181"/>
            <a:ext cx="278501" cy="278501"/>
          </a:xfrm>
          <a:prstGeom prst="rect">
            <a:avLst/>
          </a:prstGeom>
        </p:spPr>
      </p:pic>
      <p:sp>
        <p:nvSpPr>
          <p:cNvPr id="7" name="Freeform 7"/>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rot="0">
            <a:off x="823698" y="1849366"/>
            <a:ext cx="7015537" cy="7015537"/>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6"/>
              <a:stretch>
                <a:fillRect r="-38427"/>
              </a:stretch>
            </a:blipFill>
          </p:spPr>
        </p:sp>
      </p:grpSp>
      <p:grpSp>
        <p:nvGrpSpPr>
          <p:cNvPr id="10" name="Group 10"/>
          <p:cNvGrpSpPr/>
          <p:nvPr/>
        </p:nvGrpSpPr>
        <p:grpSpPr>
          <a:xfrm rot="0">
            <a:off x="9377728" y="5923607"/>
            <a:ext cx="6813534" cy="3943313"/>
            <a:chOff x="0" y="0"/>
            <a:chExt cx="1404413" cy="812800"/>
          </a:xfrm>
        </p:grpSpPr>
        <p:sp>
          <p:nvSpPr>
            <p:cNvPr id="11" name="Freeform 11"/>
            <p:cNvSpPr/>
            <p:nvPr/>
          </p:nvSpPr>
          <p:spPr>
            <a:xfrm>
              <a:off x="0" y="0"/>
              <a:ext cx="1404413" cy="812800"/>
            </a:xfrm>
            <a:custGeom>
              <a:avLst/>
              <a:gdLst/>
              <a:ahLst/>
              <a:cxnLst/>
              <a:rect l="l" t="t" r="r" b="b"/>
              <a:pathLst>
                <a:path w="1404413" h="812800">
                  <a:moveTo>
                    <a:pt x="26134" y="0"/>
                  </a:moveTo>
                  <a:lnTo>
                    <a:pt x="1378279" y="0"/>
                  </a:lnTo>
                  <a:cubicBezTo>
                    <a:pt x="1385210" y="0"/>
                    <a:pt x="1391858" y="2753"/>
                    <a:pt x="1396759" y="7654"/>
                  </a:cubicBezTo>
                  <a:cubicBezTo>
                    <a:pt x="1401660" y="12555"/>
                    <a:pt x="1404413" y="19203"/>
                    <a:pt x="1404413" y="26134"/>
                  </a:cubicBezTo>
                  <a:lnTo>
                    <a:pt x="1404413" y="786666"/>
                  </a:lnTo>
                  <a:cubicBezTo>
                    <a:pt x="1404413" y="801099"/>
                    <a:pt x="1392713" y="812800"/>
                    <a:pt x="1378279" y="812800"/>
                  </a:cubicBezTo>
                  <a:lnTo>
                    <a:pt x="26134" y="812800"/>
                  </a:lnTo>
                  <a:cubicBezTo>
                    <a:pt x="11701" y="812800"/>
                    <a:pt x="0" y="801099"/>
                    <a:pt x="0" y="786666"/>
                  </a:cubicBezTo>
                  <a:lnTo>
                    <a:pt x="0" y="26134"/>
                  </a:lnTo>
                  <a:cubicBezTo>
                    <a:pt x="0" y="11701"/>
                    <a:pt x="11701" y="0"/>
                    <a:pt x="26134" y="0"/>
                  </a:cubicBezTo>
                  <a:close/>
                </a:path>
              </a:pathLst>
            </a:custGeom>
            <a:blipFill>
              <a:blip r:embed="rId7"/>
              <a:stretch>
                <a:fillRect t="-108" b="-108"/>
              </a:stretch>
            </a:blipFill>
          </p:spPr>
        </p:sp>
      </p:grpSp>
      <p:sp>
        <p:nvSpPr>
          <p:cNvPr id="12" name="TextBox 12"/>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13" name="TextBox 13"/>
          <p:cNvSpPr txBox="1"/>
          <p:nvPr/>
        </p:nvSpPr>
        <p:spPr>
          <a:xfrm>
            <a:off x="9355707" y="962025"/>
            <a:ext cx="9299691" cy="2878418"/>
          </a:xfrm>
          <a:prstGeom prst="rect">
            <a:avLst/>
          </a:prstGeom>
        </p:spPr>
        <p:txBody>
          <a:bodyPr lIns="0" tIns="0" rIns="0" bIns="0" rtlCol="0" anchor="t">
            <a:spAutoFit/>
          </a:bodyPr>
          <a:lstStyle/>
          <a:p>
            <a:pPr algn="l">
              <a:lnSpc>
                <a:spcPts val="6400"/>
              </a:lnSpc>
            </a:pPr>
            <a:r>
              <a:rPr lang="en-US" sz="6400" spc="-255">
                <a:solidFill>
                  <a:srgbClr val="F6F6F6"/>
                </a:solidFill>
                <a:latin typeface="Agrandir" panose="00000500000000000000"/>
                <a:ea typeface="Agrandir" panose="00000500000000000000"/>
                <a:cs typeface="Agrandir" panose="00000500000000000000"/>
                <a:sym typeface="Agrandir" panose="00000500000000000000"/>
              </a:rPr>
              <a:t>Electronic Code Book (ECB)</a:t>
            </a:r>
            <a:endParaRPr lang="en-US" sz="6400" spc="-255">
              <a:solidFill>
                <a:srgbClr val="F6F6F6"/>
              </a:solidFill>
              <a:latin typeface="Agrandir" panose="00000500000000000000"/>
              <a:ea typeface="Agrandir" panose="00000500000000000000"/>
              <a:cs typeface="Agrandir" panose="00000500000000000000"/>
              <a:sym typeface="Agrandir" panose="00000500000000000000"/>
            </a:endParaRPr>
          </a:p>
          <a:p>
            <a:pPr algn="l">
              <a:lnSpc>
                <a:spcPts val="8000"/>
              </a:lnSpc>
            </a:pPr>
          </a:p>
        </p:txBody>
      </p:sp>
      <p:sp>
        <p:nvSpPr>
          <p:cNvPr id="14" name="TextBox 14"/>
          <p:cNvSpPr txBox="1"/>
          <p:nvPr/>
        </p:nvSpPr>
        <p:spPr>
          <a:xfrm>
            <a:off x="9377728" y="3907118"/>
            <a:ext cx="6857576" cy="814759"/>
          </a:xfrm>
          <a:prstGeom prst="rect">
            <a:avLst/>
          </a:prstGeom>
        </p:spPr>
        <p:txBody>
          <a:bodyPr lIns="0" tIns="0" rIns="0" bIns="0" rtlCol="0" anchor="t">
            <a:spAutoFit/>
          </a:bodyPr>
          <a:lstStyle/>
          <a:p>
            <a:pPr algn="l">
              <a:lnSpc>
                <a:spcPts val="3200"/>
              </a:lnSpc>
            </a:pPr>
            <a:r>
              <a:rPr lang="en-US" sz="3200" spc="-127">
                <a:solidFill>
                  <a:srgbClr val="F6F6F6"/>
                </a:solidFill>
                <a:latin typeface="Canva Sans" panose="020B0503030501040103"/>
                <a:ea typeface="Canva Sans" panose="020B0503030501040103"/>
                <a:cs typeface="Canva Sans" panose="020B0503030501040103"/>
                <a:sym typeface="Canva Sans" panose="020B0503030501040103"/>
              </a:rPr>
              <a:t>Each plaintext block is encrypted independently using the </a:t>
            </a:r>
            <a:r>
              <a:rPr lang="en-US" sz="3200" spc="-127">
                <a:solidFill>
                  <a:srgbClr val="F6F6F6"/>
                </a:solidFill>
                <a:latin typeface="Canva Sans" panose="020B0503030501040103"/>
                <a:ea typeface="Canva Sans" panose="020B0503030501040103"/>
                <a:cs typeface="Canva Sans" panose="020B0503030501040103"/>
                <a:sym typeface="Canva Sans" panose="020B0503030501040103"/>
              </a:rPr>
              <a:t>same key</a:t>
            </a:r>
            <a:endParaRPr lang="en-US" sz="3200" spc="-127">
              <a:solidFill>
                <a:srgbClr val="F6F6F6"/>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transition>
    <p:circl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061751">
            <a:off x="15456802" y="-3036091"/>
            <a:ext cx="14220834" cy="14203058"/>
          </a:xfrm>
          <a:custGeom>
            <a:avLst/>
            <a:gdLst/>
            <a:ahLst/>
            <a:cxnLst/>
            <a:rect l="l" t="t" r="r" b="b"/>
            <a:pathLst>
              <a:path w="14220834" h="14203058">
                <a:moveTo>
                  <a:pt x="0" y="0"/>
                </a:moveTo>
                <a:lnTo>
                  <a:pt x="14220834" y="0"/>
                </a:lnTo>
                <a:lnTo>
                  <a:pt x="14220834" y="14203058"/>
                </a:lnTo>
                <a:lnTo>
                  <a:pt x="0" y="14203058"/>
                </a:lnTo>
                <a:lnTo>
                  <a:pt x="0" y="0"/>
                </a:lnTo>
                <a:close/>
              </a:path>
            </a:pathLst>
          </a:custGeom>
          <a:blipFill>
            <a:blip r:embed="rId1"/>
            <a:stretch>
              <a:fillRect/>
            </a:stretch>
          </a:blipFill>
        </p:spPr>
      </p:sp>
      <p:sp>
        <p:nvSpPr>
          <p:cNvPr id="3" name="Freeform 3"/>
          <p:cNvSpPr/>
          <p:nvPr/>
        </p:nvSpPr>
        <p:spPr>
          <a:xfrm rot="-7047732">
            <a:off x="12993364" y="-3285164"/>
            <a:ext cx="10589272" cy="11265182"/>
          </a:xfrm>
          <a:custGeom>
            <a:avLst/>
            <a:gdLst/>
            <a:ahLst/>
            <a:cxnLst/>
            <a:rect l="l" t="t" r="r" b="b"/>
            <a:pathLst>
              <a:path w="10589272" h="11265182">
                <a:moveTo>
                  <a:pt x="0" y="0"/>
                </a:moveTo>
                <a:lnTo>
                  <a:pt x="10589272" y="0"/>
                </a:lnTo>
                <a:lnTo>
                  <a:pt x="10589272" y="11265183"/>
                </a:lnTo>
                <a:lnTo>
                  <a:pt x="0" y="11265183"/>
                </a:lnTo>
                <a:lnTo>
                  <a:pt x="0" y="0"/>
                </a:lnTo>
                <a:close/>
              </a:path>
            </a:pathLst>
          </a:custGeom>
          <a:blipFill>
            <a:blip r:embed="rId2">
              <a:alphaModFix amt="55000"/>
            </a:blip>
            <a:stretch>
              <a:fillRect/>
            </a:stretch>
          </a:blipFill>
        </p:spPr>
      </p:sp>
      <p:sp>
        <p:nvSpPr>
          <p:cNvPr id="4" name="Freeform 4"/>
          <p:cNvSpPr/>
          <p:nvPr/>
        </p:nvSpPr>
        <p:spPr>
          <a:xfrm rot="-7047732">
            <a:off x="-4265936" y="1976570"/>
            <a:ext cx="10589272" cy="11265182"/>
          </a:xfrm>
          <a:custGeom>
            <a:avLst/>
            <a:gdLst/>
            <a:ahLst/>
            <a:cxnLst/>
            <a:rect l="l" t="t" r="r" b="b"/>
            <a:pathLst>
              <a:path w="10589272" h="11265182">
                <a:moveTo>
                  <a:pt x="0" y="0"/>
                </a:moveTo>
                <a:lnTo>
                  <a:pt x="10589272" y="0"/>
                </a:lnTo>
                <a:lnTo>
                  <a:pt x="10589272" y="11265183"/>
                </a:lnTo>
                <a:lnTo>
                  <a:pt x="0" y="11265183"/>
                </a:lnTo>
                <a:lnTo>
                  <a:pt x="0" y="0"/>
                </a:lnTo>
                <a:close/>
              </a:path>
            </a:pathLst>
          </a:custGeom>
          <a:blipFill>
            <a:blip r:embed="rId2">
              <a:alphaModFix amt="55000"/>
            </a:blip>
            <a:stretch>
              <a:fillRect/>
            </a:stretch>
          </a:blipFill>
        </p:spPr>
      </p:sp>
      <p:grpSp>
        <p:nvGrpSpPr>
          <p:cNvPr id="5" name="Group 5"/>
          <p:cNvGrpSpPr/>
          <p:nvPr/>
        </p:nvGrpSpPr>
        <p:grpSpPr>
          <a:xfrm rot="0">
            <a:off x="2740270" y="5270672"/>
            <a:ext cx="4537894" cy="3001163"/>
            <a:chOff x="0" y="0"/>
            <a:chExt cx="1195166" cy="790430"/>
          </a:xfrm>
        </p:grpSpPr>
        <p:sp>
          <p:nvSpPr>
            <p:cNvPr id="6" name="Freeform 6"/>
            <p:cNvSpPr/>
            <p:nvPr/>
          </p:nvSpPr>
          <p:spPr>
            <a:xfrm>
              <a:off x="0" y="0"/>
              <a:ext cx="1195166" cy="790430"/>
            </a:xfrm>
            <a:custGeom>
              <a:avLst/>
              <a:gdLst/>
              <a:ahLst/>
              <a:cxnLst/>
              <a:rect l="l" t="t" r="r" b="b"/>
              <a:pathLst>
                <a:path w="1195166" h="790430">
                  <a:moveTo>
                    <a:pt x="42651" y="0"/>
                  </a:moveTo>
                  <a:lnTo>
                    <a:pt x="1152514" y="0"/>
                  </a:lnTo>
                  <a:cubicBezTo>
                    <a:pt x="1163826" y="0"/>
                    <a:pt x="1174675" y="4494"/>
                    <a:pt x="1182673" y="12492"/>
                  </a:cubicBezTo>
                  <a:cubicBezTo>
                    <a:pt x="1190672" y="20491"/>
                    <a:pt x="1195166" y="31340"/>
                    <a:pt x="1195166" y="42651"/>
                  </a:cubicBezTo>
                  <a:lnTo>
                    <a:pt x="1195166" y="747778"/>
                  </a:lnTo>
                  <a:cubicBezTo>
                    <a:pt x="1195166" y="771334"/>
                    <a:pt x="1176070" y="790430"/>
                    <a:pt x="1152514" y="790430"/>
                  </a:cubicBezTo>
                  <a:lnTo>
                    <a:pt x="42651" y="790430"/>
                  </a:lnTo>
                  <a:cubicBezTo>
                    <a:pt x="19096" y="790430"/>
                    <a:pt x="0" y="771334"/>
                    <a:pt x="0" y="747778"/>
                  </a:cubicBezTo>
                  <a:lnTo>
                    <a:pt x="0" y="42651"/>
                  </a:lnTo>
                  <a:cubicBezTo>
                    <a:pt x="0" y="19096"/>
                    <a:pt x="19096" y="0"/>
                    <a:pt x="42651" y="0"/>
                  </a:cubicBezTo>
                  <a:close/>
                </a:path>
              </a:pathLst>
            </a:custGeom>
            <a:gradFill rotWithShape="1">
              <a:gsLst>
                <a:gs pos="0">
                  <a:srgbClr val="37B594">
                    <a:alpha val="100000"/>
                  </a:srgbClr>
                </a:gs>
                <a:gs pos="100000">
                  <a:srgbClr val="62DFBF">
                    <a:alpha val="100000"/>
                  </a:srgbClr>
                </a:gs>
              </a:gsLst>
              <a:lin ang="0"/>
            </a:gradFill>
          </p:spPr>
        </p:sp>
        <p:sp>
          <p:nvSpPr>
            <p:cNvPr id="7" name="TextBox 7"/>
            <p:cNvSpPr txBox="1"/>
            <p:nvPr/>
          </p:nvSpPr>
          <p:spPr>
            <a:xfrm>
              <a:off x="0" y="-57150"/>
              <a:ext cx="1195166" cy="847580"/>
            </a:xfrm>
            <a:prstGeom prst="rect">
              <a:avLst/>
            </a:prstGeom>
          </p:spPr>
          <p:txBody>
            <a:bodyPr lIns="50800" tIns="50800" rIns="50800" bIns="50800" rtlCol="0" anchor="ctr"/>
            <a:lstStyle/>
            <a:p>
              <a:pPr algn="ctr">
                <a:lnSpc>
                  <a:spcPts val="2660"/>
                </a:lnSpc>
              </a:pPr>
            </a:p>
          </p:txBody>
        </p:sp>
      </p:grpSp>
      <p:grpSp>
        <p:nvGrpSpPr>
          <p:cNvPr id="8" name="Group 8"/>
          <p:cNvGrpSpPr/>
          <p:nvPr/>
        </p:nvGrpSpPr>
        <p:grpSpPr>
          <a:xfrm rot="0">
            <a:off x="12040859" y="5270696"/>
            <a:ext cx="4537894" cy="3001163"/>
            <a:chOff x="0" y="0"/>
            <a:chExt cx="1195166" cy="790430"/>
          </a:xfrm>
        </p:grpSpPr>
        <p:sp>
          <p:nvSpPr>
            <p:cNvPr id="9" name="Freeform 9"/>
            <p:cNvSpPr/>
            <p:nvPr/>
          </p:nvSpPr>
          <p:spPr>
            <a:xfrm>
              <a:off x="0" y="0"/>
              <a:ext cx="1195166" cy="790430"/>
            </a:xfrm>
            <a:custGeom>
              <a:avLst/>
              <a:gdLst/>
              <a:ahLst/>
              <a:cxnLst/>
              <a:rect l="l" t="t" r="r" b="b"/>
              <a:pathLst>
                <a:path w="1195166" h="790430">
                  <a:moveTo>
                    <a:pt x="42651" y="0"/>
                  </a:moveTo>
                  <a:lnTo>
                    <a:pt x="1152514" y="0"/>
                  </a:lnTo>
                  <a:cubicBezTo>
                    <a:pt x="1163826" y="0"/>
                    <a:pt x="1174675" y="4494"/>
                    <a:pt x="1182673" y="12492"/>
                  </a:cubicBezTo>
                  <a:cubicBezTo>
                    <a:pt x="1190672" y="20491"/>
                    <a:pt x="1195166" y="31340"/>
                    <a:pt x="1195166" y="42651"/>
                  </a:cubicBezTo>
                  <a:lnTo>
                    <a:pt x="1195166" y="747778"/>
                  </a:lnTo>
                  <a:cubicBezTo>
                    <a:pt x="1195166" y="771334"/>
                    <a:pt x="1176070" y="790430"/>
                    <a:pt x="1152514" y="790430"/>
                  </a:cubicBezTo>
                  <a:lnTo>
                    <a:pt x="42651" y="790430"/>
                  </a:lnTo>
                  <a:cubicBezTo>
                    <a:pt x="19096" y="790430"/>
                    <a:pt x="0" y="771334"/>
                    <a:pt x="0" y="747778"/>
                  </a:cubicBezTo>
                  <a:lnTo>
                    <a:pt x="0" y="42651"/>
                  </a:lnTo>
                  <a:cubicBezTo>
                    <a:pt x="0" y="19096"/>
                    <a:pt x="19096" y="0"/>
                    <a:pt x="42651" y="0"/>
                  </a:cubicBezTo>
                  <a:close/>
                </a:path>
              </a:pathLst>
            </a:custGeom>
            <a:gradFill rotWithShape="1">
              <a:gsLst>
                <a:gs pos="0">
                  <a:srgbClr val="37B594">
                    <a:alpha val="100000"/>
                  </a:srgbClr>
                </a:gs>
                <a:gs pos="100000">
                  <a:srgbClr val="62DFBF">
                    <a:alpha val="100000"/>
                  </a:srgbClr>
                </a:gs>
              </a:gsLst>
              <a:lin ang="0"/>
            </a:gradFill>
            <a:ln cap="rnd">
              <a:noFill/>
              <a:prstDash val="solid"/>
              <a:round/>
            </a:ln>
          </p:spPr>
        </p:sp>
        <p:sp>
          <p:nvSpPr>
            <p:cNvPr id="10" name="TextBox 10"/>
            <p:cNvSpPr txBox="1"/>
            <p:nvPr/>
          </p:nvSpPr>
          <p:spPr>
            <a:xfrm>
              <a:off x="0" y="-57150"/>
              <a:ext cx="1195166" cy="847580"/>
            </a:xfrm>
            <a:prstGeom prst="rect">
              <a:avLst/>
            </a:prstGeom>
          </p:spPr>
          <p:txBody>
            <a:bodyPr lIns="50800" tIns="50800" rIns="50800" bIns="50800" rtlCol="0" anchor="ctr"/>
            <a:lstStyle/>
            <a:p>
              <a:pPr marL="0" lvl="0" indent="0" algn="ctr">
                <a:lnSpc>
                  <a:spcPts val="2660"/>
                </a:lnSpc>
                <a:spcBef>
                  <a:spcPct val="0"/>
                </a:spcBef>
              </a:pPr>
            </a:p>
          </p:txBody>
        </p:sp>
      </p:grpSp>
      <p:pic>
        <p:nvPicPr>
          <p:cNvPr id="11" name="Picture 11"/>
          <p:cNvPicPr>
            <a:picLocks noChangeAspect="1"/>
          </p:cNvPicPr>
          <p:nvPr/>
        </p:nvPicPr>
        <p:blipFill>
          <a:blip r:embed="rId3"/>
          <a:srcRect/>
          <a:stretch>
            <a:fillRect/>
          </a:stretch>
        </p:blipFill>
        <p:spPr>
          <a:xfrm>
            <a:off x="2918981" y="4595516"/>
            <a:ext cx="278501" cy="278501"/>
          </a:xfrm>
          <a:prstGeom prst="rect">
            <a:avLst/>
          </a:prstGeom>
        </p:spPr>
      </p:pic>
      <p:pic>
        <p:nvPicPr>
          <p:cNvPr id="12" name="Picture 12"/>
          <p:cNvPicPr>
            <a:picLocks noChangeAspect="1"/>
          </p:cNvPicPr>
          <p:nvPr/>
        </p:nvPicPr>
        <p:blipFill>
          <a:blip r:embed="rId3"/>
          <a:srcRect/>
          <a:stretch>
            <a:fillRect/>
          </a:stretch>
        </p:blipFill>
        <p:spPr>
          <a:xfrm>
            <a:off x="12219570" y="4595541"/>
            <a:ext cx="278501" cy="278501"/>
          </a:xfrm>
          <a:prstGeom prst="rect">
            <a:avLst/>
          </a:prstGeom>
        </p:spPr>
      </p:pic>
      <p:sp>
        <p:nvSpPr>
          <p:cNvPr id="13" name="Freeform 13"/>
          <p:cNvSpPr/>
          <p:nvPr/>
        </p:nvSpPr>
        <p:spPr>
          <a:xfrm>
            <a:off x="4157984" y="5448338"/>
            <a:ext cx="2105352" cy="2517611"/>
          </a:xfrm>
          <a:custGeom>
            <a:avLst/>
            <a:gdLst/>
            <a:ahLst/>
            <a:cxnLst/>
            <a:rect l="l" t="t" r="r" b="b"/>
            <a:pathLst>
              <a:path w="2105352" h="2517611">
                <a:moveTo>
                  <a:pt x="0" y="0"/>
                </a:moveTo>
                <a:lnTo>
                  <a:pt x="2105352" y="0"/>
                </a:lnTo>
                <a:lnTo>
                  <a:pt x="2105352" y="2517611"/>
                </a:lnTo>
                <a:lnTo>
                  <a:pt x="0" y="2517611"/>
                </a:lnTo>
                <a:lnTo>
                  <a:pt x="0" y="0"/>
                </a:lnTo>
                <a:close/>
              </a:path>
            </a:pathLst>
          </a:custGeom>
          <a:blipFill>
            <a:blip r:embed="rId4">
              <a:alphaModFix amt="15000"/>
              <a:extLst>
                <a:ext uri="{96DAC541-7B7A-43D3-8B79-37D633B846F1}">
                  <asvg:svgBlip xmlns:asvg="http://schemas.microsoft.com/office/drawing/2016/SVG/main" r:embed="rId5"/>
                </a:ext>
              </a:extLst>
            </a:blip>
            <a:stretch>
              <a:fillRect/>
            </a:stretch>
          </a:blipFill>
        </p:spPr>
      </p:sp>
      <p:sp>
        <p:nvSpPr>
          <p:cNvPr id="14" name="Freeform 14"/>
          <p:cNvSpPr/>
          <p:nvPr/>
        </p:nvSpPr>
        <p:spPr>
          <a:xfrm>
            <a:off x="13188685" y="5365397"/>
            <a:ext cx="2242241" cy="2738615"/>
          </a:xfrm>
          <a:custGeom>
            <a:avLst/>
            <a:gdLst/>
            <a:ahLst/>
            <a:cxnLst/>
            <a:rect l="l" t="t" r="r" b="b"/>
            <a:pathLst>
              <a:path w="2242241" h="2738615">
                <a:moveTo>
                  <a:pt x="0" y="0"/>
                </a:moveTo>
                <a:lnTo>
                  <a:pt x="2242241" y="0"/>
                </a:lnTo>
                <a:lnTo>
                  <a:pt x="2242241" y="2738615"/>
                </a:lnTo>
                <a:lnTo>
                  <a:pt x="0" y="2738615"/>
                </a:lnTo>
                <a:lnTo>
                  <a:pt x="0" y="0"/>
                </a:lnTo>
                <a:close/>
              </a:path>
            </a:pathLst>
          </a:custGeom>
          <a:blipFill>
            <a:blip r:embed="rId6">
              <a:alphaModFix amt="15000"/>
              <a:extLst>
                <a:ext uri="{96DAC541-7B7A-43D3-8B79-37D633B846F1}">
                  <asvg:svgBlip xmlns:asvg="http://schemas.microsoft.com/office/drawing/2016/SVG/main" r:embed="rId7"/>
                </a:ext>
              </a:extLst>
            </a:blip>
            <a:stretch>
              <a:fillRect/>
            </a:stretch>
          </a:blipFill>
          <a:ln cap="sq">
            <a:noFill/>
            <a:prstDash val="solid"/>
            <a:miter/>
          </a:ln>
        </p:spPr>
      </p:sp>
      <p:sp>
        <p:nvSpPr>
          <p:cNvPr id="15" name="TextBox 15"/>
          <p:cNvSpPr txBox="1"/>
          <p:nvPr/>
        </p:nvSpPr>
        <p:spPr>
          <a:xfrm>
            <a:off x="3376194" y="4431659"/>
            <a:ext cx="3668932" cy="559479"/>
          </a:xfrm>
          <a:prstGeom prst="rect">
            <a:avLst/>
          </a:prstGeom>
        </p:spPr>
        <p:txBody>
          <a:bodyPr lIns="0" tIns="0" rIns="0" bIns="0" rtlCol="0" anchor="t">
            <a:spAutoFit/>
          </a:bodyPr>
          <a:lstStyle/>
          <a:p>
            <a:pPr algn="l">
              <a:lnSpc>
                <a:spcPts val="4340"/>
              </a:lnSpc>
            </a:pPr>
            <a:r>
              <a:rPr lang="en-US" sz="3100" spc="-123">
                <a:solidFill>
                  <a:srgbClr val="F3DD52"/>
                </a:solidFill>
                <a:latin typeface="Poppins" panose="00000500000000000000"/>
                <a:ea typeface="Poppins" panose="00000500000000000000"/>
                <a:cs typeface="Poppins" panose="00000500000000000000"/>
                <a:sym typeface="Poppins" panose="00000500000000000000"/>
              </a:rPr>
              <a:t>Advantages:</a:t>
            </a:r>
            <a:endParaRPr lang="en-US" sz="3100" spc="-123">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12676782" y="4431684"/>
            <a:ext cx="3668932" cy="559479"/>
          </a:xfrm>
          <a:prstGeom prst="rect">
            <a:avLst/>
          </a:prstGeom>
        </p:spPr>
        <p:txBody>
          <a:bodyPr lIns="0" tIns="0" rIns="0" bIns="0" rtlCol="0" anchor="t">
            <a:spAutoFit/>
          </a:bodyPr>
          <a:lstStyle/>
          <a:p>
            <a:pPr algn="l">
              <a:lnSpc>
                <a:spcPts val="4340"/>
              </a:lnSpc>
            </a:pPr>
            <a:r>
              <a:rPr lang="en-US" sz="3100" spc="-123">
                <a:solidFill>
                  <a:srgbClr val="F3DD52"/>
                </a:solidFill>
                <a:latin typeface="Poppins" panose="00000500000000000000"/>
                <a:ea typeface="Poppins" panose="00000500000000000000"/>
                <a:cs typeface="Poppins" panose="00000500000000000000"/>
                <a:sym typeface="Poppins" panose="00000500000000000000"/>
              </a:rPr>
              <a:t>Disadvantages:</a:t>
            </a:r>
            <a:endParaRPr lang="en-US" sz="3100" spc="-123">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3058232" y="5565558"/>
            <a:ext cx="4196436" cy="2706277"/>
          </a:xfrm>
          <a:prstGeom prst="rect">
            <a:avLst/>
          </a:prstGeom>
        </p:spPr>
        <p:txBody>
          <a:bodyPr lIns="0" tIns="0" rIns="0" bIns="0" rtlCol="0" anchor="t">
            <a:spAutoFit/>
          </a:bodyPr>
          <a:lstStyle/>
          <a:p>
            <a:pPr marL="544830" lvl="1" indent="-272415" algn="l">
              <a:lnSpc>
                <a:spcPts val="3530"/>
              </a:lnSpc>
              <a:buFont typeface="Arial" panose="020B0604020202020204"/>
              <a:buChar char="•"/>
            </a:pPr>
            <a:r>
              <a:rPr lang="en-US" sz="2525" spc="-100">
                <a:solidFill>
                  <a:srgbClr val="040606"/>
                </a:solidFill>
                <a:latin typeface="Poppins" panose="00000500000000000000"/>
                <a:ea typeface="Poppins" panose="00000500000000000000"/>
                <a:cs typeface="Poppins" panose="00000500000000000000"/>
                <a:sym typeface="Poppins" panose="00000500000000000000"/>
              </a:rPr>
              <a:t>Simple to implement.</a:t>
            </a:r>
            <a:endParaRPr lang="en-US" sz="2525" spc="-100">
              <a:solidFill>
                <a:srgbClr val="040606"/>
              </a:solidFill>
              <a:latin typeface="Poppins" panose="00000500000000000000"/>
              <a:ea typeface="Poppins" panose="00000500000000000000"/>
              <a:cs typeface="Poppins" panose="00000500000000000000"/>
              <a:sym typeface="Poppins" panose="00000500000000000000"/>
            </a:endParaRPr>
          </a:p>
          <a:p>
            <a:pPr marL="544830" lvl="1" indent="-272415" algn="l">
              <a:lnSpc>
                <a:spcPts val="3530"/>
              </a:lnSpc>
              <a:buFont typeface="Arial" panose="020B0604020202020204"/>
              <a:buChar char="•"/>
            </a:pPr>
            <a:r>
              <a:rPr lang="en-US" sz="2525" spc="-100">
                <a:solidFill>
                  <a:srgbClr val="040606"/>
                </a:solidFill>
                <a:latin typeface="Poppins" panose="00000500000000000000"/>
                <a:ea typeface="Poppins" panose="00000500000000000000"/>
                <a:cs typeface="Poppins" panose="00000500000000000000"/>
                <a:sym typeface="Poppins" panose="00000500000000000000"/>
              </a:rPr>
              <a:t>Fast encryption and decryption.</a:t>
            </a:r>
            <a:endParaRPr lang="en-US" sz="2525" spc="-100">
              <a:solidFill>
                <a:srgbClr val="040606"/>
              </a:solidFill>
              <a:latin typeface="Poppins" panose="00000500000000000000"/>
              <a:ea typeface="Poppins" panose="00000500000000000000"/>
              <a:cs typeface="Poppins" panose="00000500000000000000"/>
              <a:sym typeface="Poppins" panose="00000500000000000000"/>
            </a:endParaRPr>
          </a:p>
          <a:p>
            <a:pPr marL="544830" lvl="1" indent="-272415" algn="l">
              <a:lnSpc>
                <a:spcPts val="3530"/>
              </a:lnSpc>
              <a:buFont typeface="Arial" panose="020B0604020202020204"/>
              <a:buChar char="•"/>
            </a:pPr>
            <a:r>
              <a:rPr lang="en-US" sz="2525" spc="-100">
                <a:solidFill>
                  <a:srgbClr val="040606"/>
                </a:solidFill>
                <a:latin typeface="Poppins" panose="00000500000000000000"/>
                <a:ea typeface="Poppins" panose="00000500000000000000"/>
                <a:cs typeface="Poppins" panose="00000500000000000000"/>
                <a:sym typeface="Poppins" panose="00000500000000000000"/>
              </a:rPr>
              <a:t>Allows parallel encryption of blocks.</a:t>
            </a:r>
            <a:endParaRPr lang="en-US" sz="2525" spc="-100">
              <a:solidFill>
                <a:srgbClr val="040606"/>
              </a:solidFill>
              <a:latin typeface="Poppins" panose="00000500000000000000"/>
              <a:ea typeface="Poppins" panose="00000500000000000000"/>
              <a:cs typeface="Poppins" panose="00000500000000000000"/>
              <a:sym typeface="Poppins" panose="00000500000000000000"/>
            </a:endParaRPr>
          </a:p>
          <a:p>
            <a:pPr algn="l">
              <a:lnSpc>
                <a:spcPts val="3670"/>
              </a:lnSpc>
            </a:pPr>
          </a:p>
        </p:txBody>
      </p:sp>
      <p:sp>
        <p:nvSpPr>
          <p:cNvPr id="18" name="TextBox 18"/>
          <p:cNvSpPr txBox="1"/>
          <p:nvPr/>
        </p:nvSpPr>
        <p:spPr>
          <a:xfrm>
            <a:off x="12040859" y="5391188"/>
            <a:ext cx="4537894" cy="2100580"/>
          </a:xfrm>
          <a:prstGeom prst="rect">
            <a:avLst/>
          </a:prstGeom>
        </p:spPr>
        <p:txBody>
          <a:bodyPr lIns="0" tIns="0" rIns="0" bIns="0" rtlCol="0" anchor="t">
            <a:spAutoFit/>
          </a:bodyPr>
          <a:lstStyle/>
          <a:p>
            <a:pPr marL="496570" lvl="1" indent="-248285" algn="l">
              <a:lnSpc>
                <a:spcPts val="3220"/>
              </a:lnSpc>
              <a:spcBef>
                <a:spcPct val="0"/>
              </a:spcBef>
              <a:buFont typeface="Arial" panose="020B0604020202020204"/>
              <a:buChar char="•"/>
            </a:pPr>
            <a:r>
              <a:rPr lang="en-US" sz="2300" spc="-91">
                <a:solidFill>
                  <a:srgbClr val="040606"/>
                </a:solidFill>
                <a:latin typeface="Poppins" panose="00000500000000000000"/>
                <a:ea typeface="Poppins" panose="00000500000000000000"/>
                <a:cs typeface="Poppins" panose="00000500000000000000"/>
                <a:sym typeface="Poppins" panose="00000500000000000000"/>
              </a:rPr>
              <a:t>N</a:t>
            </a:r>
            <a:r>
              <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rPr>
              <a:t>ot secure for real data — same plaintext block → same ciphertext.</a:t>
            </a:r>
            <a:endPar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endParaRPr>
          </a:p>
          <a:p>
            <a:pPr marL="539750" lvl="1" indent="-269875" algn="l">
              <a:lnSpc>
                <a:spcPts val="3500"/>
              </a:lnSpc>
              <a:spcBef>
                <a:spcPct val="0"/>
              </a:spcBef>
              <a:buFont typeface="Arial" panose="020B0604020202020204"/>
              <a:buChar char="•"/>
            </a:pPr>
            <a:r>
              <a:rPr lang="en-US" sz="2500" u="none" strike="noStrike" spc="-99">
                <a:solidFill>
                  <a:srgbClr val="040606"/>
                </a:solidFill>
                <a:latin typeface="Poppins" panose="00000500000000000000"/>
                <a:ea typeface="Poppins" panose="00000500000000000000"/>
                <a:cs typeface="Poppins" panose="00000500000000000000"/>
                <a:sym typeface="Poppins" panose="00000500000000000000"/>
              </a:rPr>
              <a:t>Leaks patterns </a:t>
            </a:r>
          </a:p>
          <a:p>
            <a:pPr marL="0" lvl="1" indent="0" algn="l">
              <a:lnSpc>
                <a:spcPts val="3220"/>
              </a:lnSpc>
              <a:spcBef>
                <a:spcPct val="0"/>
              </a:spcBef>
            </a:pPr>
          </a:p>
        </p:txBody>
      </p:sp>
      <p:sp>
        <p:nvSpPr>
          <p:cNvPr id="19" name="TextBox 19"/>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20" name="Freeform 20"/>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1" name="TextBox 21"/>
          <p:cNvSpPr txBox="1"/>
          <p:nvPr/>
        </p:nvSpPr>
        <p:spPr>
          <a:xfrm>
            <a:off x="2740270" y="2145428"/>
            <a:ext cx="15066238" cy="1547778"/>
          </a:xfrm>
          <a:prstGeom prst="rect">
            <a:avLst/>
          </a:prstGeom>
        </p:spPr>
        <p:txBody>
          <a:bodyPr lIns="0" tIns="0" rIns="0" bIns="0" rtlCol="0" anchor="t">
            <a:spAutoFit/>
          </a:bodyPr>
          <a:lstStyle/>
          <a:p>
            <a:pPr algn="l">
              <a:lnSpc>
                <a:spcPts val="9585"/>
              </a:lnSpc>
            </a:pPr>
            <a:r>
              <a:rPr lang="en-US" sz="9585" spc="-383">
                <a:solidFill>
                  <a:srgbClr val="F6F6F6"/>
                </a:solidFill>
                <a:latin typeface="Agrandir" panose="00000500000000000000"/>
                <a:ea typeface="Agrandir" panose="00000500000000000000"/>
                <a:cs typeface="Agrandir" panose="00000500000000000000"/>
                <a:sym typeface="Agrandir" panose="00000500000000000000"/>
              </a:rPr>
              <a:t>ECB – Electronic Codebook</a:t>
            </a:r>
            <a:endParaRPr lang="en-US" sz="9585" spc="-383">
              <a:solidFill>
                <a:srgbClr val="F6F6F6"/>
              </a:solidFill>
              <a:latin typeface="Agrandir" panose="00000500000000000000"/>
              <a:ea typeface="Agrandir" panose="00000500000000000000"/>
              <a:cs typeface="Agrandir" panose="00000500000000000000"/>
              <a:sym typeface="Agrandir" panose="00000500000000000000"/>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103251">
            <a:off x="-2992585" y="-2339797"/>
            <a:ext cx="14220834" cy="14203058"/>
          </a:xfrm>
          <a:custGeom>
            <a:avLst/>
            <a:gdLst/>
            <a:ahLst/>
            <a:cxnLst/>
            <a:rect l="l" t="t" r="r" b="b"/>
            <a:pathLst>
              <a:path w="14220834" h="14203058">
                <a:moveTo>
                  <a:pt x="0" y="0"/>
                </a:moveTo>
                <a:lnTo>
                  <a:pt x="14220834" y="0"/>
                </a:lnTo>
                <a:lnTo>
                  <a:pt x="14220834" y="14203057"/>
                </a:lnTo>
                <a:lnTo>
                  <a:pt x="0" y="14203057"/>
                </a:lnTo>
                <a:lnTo>
                  <a:pt x="0" y="0"/>
                </a:lnTo>
                <a:close/>
              </a:path>
            </a:pathLst>
          </a:custGeom>
          <a:blipFill>
            <a:blip r:embed="rId1"/>
            <a:stretch>
              <a:fillRect/>
            </a:stretch>
          </a:blipFill>
        </p:spPr>
      </p:sp>
      <p:sp>
        <p:nvSpPr>
          <p:cNvPr id="3" name="Freeform 3"/>
          <p:cNvSpPr/>
          <p:nvPr/>
        </p:nvSpPr>
        <p:spPr>
          <a:xfrm rot="-7047732">
            <a:off x="9123488" y="-3058993"/>
            <a:ext cx="10589272" cy="11265182"/>
          </a:xfrm>
          <a:custGeom>
            <a:avLst/>
            <a:gdLst/>
            <a:ahLst/>
            <a:cxnLst/>
            <a:rect l="l" t="t" r="r" b="b"/>
            <a:pathLst>
              <a:path w="10589272" h="11265182">
                <a:moveTo>
                  <a:pt x="0" y="0"/>
                </a:moveTo>
                <a:lnTo>
                  <a:pt x="10589272" y="0"/>
                </a:lnTo>
                <a:lnTo>
                  <a:pt x="10589272" y="11265182"/>
                </a:lnTo>
                <a:lnTo>
                  <a:pt x="0" y="11265182"/>
                </a:lnTo>
                <a:lnTo>
                  <a:pt x="0" y="0"/>
                </a:lnTo>
                <a:close/>
              </a:path>
            </a:pathLst>
          </a:custGeom>
          <a:blipFill>
            <a:blip r:embed="rId2">
              <a:alphaModFix amt="55000"/>
            </a:blip>
            <a:stretch>
              <a:fillRect/>
            </a:stretch>
          </a:blipFill>
        </p:spPr>
      </p:sp>
      <p:pic>
        <p:nvPicPr>
          <p:cNvPr id="4" name="Picture 4"/>
          <p:cNvPicPr>
            <a:picLocks noChangeAspect="1"/>
          </p:cNvPicPr>
          <p:nvPr/>
        </p:nvPicPr>
        <p:blipFill>
          <a:blip r:embed="rId3"/>
          <a:srcRect/>
          <a:stretch>
            <a:fillRect/>
          </a:stretch>
        </p:blipFill>
        <p:spPr>
          <a:xfrm>
            <a:off x="3147717" y="2755181"/>
            <a:ext cx="278501" cy="278501"/>
          </a:xfrm>
          <a:prstGeom prst="rect">
            <a:avLst/>
          </a:prstGeom>
        </p:spPr>
      </p:pic>
      <p:pic>
        <p:nvPicPr>
          <p:cNvPr id="5" name="Picture 5"/>
          <p:cNvPicPr>
            <a:picLocks noChangeAspect="1"/>
          </p:cNvPicPr>
          <p:nvPr/>
        </p:nvPicPr>
        <p:blipFill>
          <a:blip r:embed="rId3"/>
          <a:srcRect/>
          <a:stretch>
            <a:fillRect/>
          </a:stretch>
        </p:blipFill>
        <p:spPr>
          <a:xfrm>
            <a:off x="3626243" y="2755181"/>
            <a:ext cx="278501" cy="278501"/>
          </a:xfrm>
          <a:prstGeom prst="rect">
            <a:avLst/>
          </a:prstGeom>
        </p:spPr>
      </p:pic>
      <p:pic>
        <p:nvPicPr>
          <p:cNvPr id="6" name="Picture 6"/>
          <p:cNvPicPr>
            <a:picLocks noChangeAspect="1"/>
          </p:cNvPicPr>
          <p:nvPr/>
        </p:nvPicPr>
        <p:blipFill>
          <a:blip r:embed="rId3"/>
          <a:srcRect/>
          <a:stretch>
            <a:fillRect/>
          </a:stretch>
        </p:blipFill>
        <p:spPr>
          <a:xfrm>
            <a:off x="2667881" y="2755181"/>
            <a:ext cx="278501" cy="278501"/>
          </a:xfrm>
          <a:prstGeom prst="rect">
            <a:avLst/>
          </a:prstGeom>
        </p:spPr>
      </p:pic>
      <p:sp>
        <p:nvSpPr>
          <p:cNvPr id="7" name="Freeform 7"/>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rot="0">
            <a:off x="592250" y="1429340"/>
            <a:ext cx="8131522" cy="7828960"/>
            <a:chOff x="0" y="0"/>
            <a:chExt cx="844212" cy="812800"/>
          </a:xfrm>
        </p:grpSpPr>
        <p:sp>
          <p:nvSpPr>
            <p:cNvPr id="9" name="Freeform 9"/>
            <p:cNvSpPr/>
            <p:nvPr/>
          </p:nvSpPr>
          <p:spPr>
            <a:xfrm>
              <a:off x="0" y="0"/>
              <a:ext cx="844212" cy="812800"/>
            </a:xfrm>
            <a:custGeom>
              <a:avLst/>
              <a:gdLst/>
              <a:ahLst/>
              <a:cxnLst/>
              <a:rect l="l" t="t" r="r" b="b"/>
              <a:pathLst>
                <a:path w="844212" h="812800">
                  <a:moveTo>
                    <a:pt x="0" y="0"/>
                  </a:moveTo>
                  <a:lnTo>
                    <a:pt x="844212" y="0"/>
                  </a:lnTo>
                  <a:lnTo>
                    <a:pt x="844212" y="812800"/>
                  </a:lnTo>
                  <a:lnTo>
                    <a:pt x="0" y="812800"/>
                  </a:lnTo>
                  <a:close/>
                </a:path>
              </a:pathLst>
            </a:custGeom>
            <a:blipFill>
              <a:blip r:embed="rId6"/>
              <a:stretch>
                <a:fillRect r="-29470"/>
              </a:stretch>
            </a:blipFill>
          </p:spPr>
        </p:sp>
      </p:grpSp>
      <p:grpSp>
        <p:nvGrpSpPr>
          <p:cNvPr id="10" name="Group 10"/>
          <p:cNvGrpSpPr/>
          <p:nvPr/>
        </p:nvGrpSpPr>
        <p:grpSpPr>
          <a:xfrm rot="0">
            <a:off x="9248766" y="5834440"/>
            <a:ext cx="7918664" cy="3423860"/>
            <a:chOff x="0" y="0"/>
            <a:chExt cx="1879834" cy="812800"/>
          </a:xfrm>
        </p:grpSpPr>
        <p:sp>
          <p:nvSpPr>
            <p:cNvPr id="11" name="Freeform 11"/>
            <p:cNvSpPr/>
            <p:nvPr/>
          </p:nvSpPr>
          <p:spPr>
            <a:xfrm>
              <a:off x="0" y="0"/>
              <a:ext cx="1879834" cy="812800"/>
            </a:xfrm>
            <a:custGeom>
              <a:avLst/>
              <a:gdLst/>
              <a:ahLst/>
              <a:cxnLst/>
              <a:rect l="l" t="t" r="r" b="b"/>
              <a:pathLst>
                <a:path w="1879834" h="812800">
                  <a:moveTo>
                    <a:pt x="22487" y="0"/>
                  </a:moveTo>
                  <a:lnTo>
                    <a:pt x="1857348" y="0"/>
                  </a:lnTo>
                  <a:cubicBezTo>
                    <a:pt x="1869767" y="0"/>
                    <a:pt x="1879834" y="10068"/>
                    <a:pt x="1879834" y="22487"/>
                  </a:cubicBezTo>
                  <a:lnTo>
                    <a:pt x="1879834" y="790313"/>
                  </a:lnTo>
                  <a:cubicBezTo>
                    <a:pt x="1879834" y="796277"/>
                    <a:pt x="1877465" y="801997"/>
                    <a:pt x="1873248" y="806214"/>
                  </a:cubicBezTo>
                  <a:cubicBezTo>
                    <a:pt x="1869031" y="810431"/>
                    <a:pt x="1863312" y="812800"/>
                    <a:pt x="1857348" y="812800"/>
                  </a:cubicBezTo>
                  <a:lnTo>
                    <a:pt x="22487" y="812800"/>
                  </a:lnTo>
                  <a:cubicBezTo>
                    <a:pt x="16523" y="812800"/>
                    <a:pt x="10803" y="810431"/>
                    <a:pt x="6586" y="806214"/>
                  </a:cubicBezTo>
                  <a:cubicBezTo>
                    <a:pt x="2369" y="801997"/>
                    <a:pt x="0" y="796277"/>
                    <a:pt x="0" y="790313"/>
                  </a:cubicBezTo>
                  <a:lnTo>
                    <a:pt x="0" y="22487"/>
                  </a:lnTo>
                  <a:cubicBezTo>
                    <a:pt x="0" y="16523"/>
                    <a:pt x="2369" y="10803"/>
                    <a:pt x="6586" y="6586"/>
                  </a:cubicBezTo>
                  <a:cubicBezTo>
                    <a:pt x="10803" y="2369"/>
                    <a:pt x="16523" y="0"/>
                    <a:pt x="22487" y="0"/>
                  </a:cubicBezTo>
                  <a:close/>
                </a:path>
              </a:pathLst>
            </a:custGeom>
            <a:blipFill>
              <a:blip r:embed="rId7"/>
              <a:stretch>
                <a:fillRect t="-2983" b="-2983"/>
              </a:stretch>
            </a:blipFill>
          </p:spPr>
        </p:sp>
      </p:grpSp>
      <p:sp>
        <p:nvSpPr>
          <p:cNvPr id="12" name="TextBox 12"/>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13" name="TextBox 13"/>
          <p:cNvSpPr txBox="1"/>
          <p:nvPr/>
        </p:nvSpPr>
        <p:spPr>
          <a:xfrm>
            <a:off x="9355707" y="962025"/>
            <a:ext cx="9299691" cy="2068793"/>
          </a:xfrm>
          <a:prstGeom prst="rect">
            <a:avLst/>
          </a:prstGeom>
        </p:spPr>
        <p:txBody>
          <a:bodyPr lIns="0" tIns="0" rIns="0" bIns="0" rtlCol="0" anchor="t">
            <a:spAutoFit/>
          </a:bodyPr>
          <a:lstStyle/>
          <a:p>
            <a:pPr algn="l">
              <a:lnSpc>
                <a:spcPts val="6400"/>
              </a:lnSpc>
            </a:pPr>
            <a:r>
              <a:rPr lang="en-US" sz="6400" spc="-255">
                <a:solidFill>
                  <a:srgbClr val="F6F6F6"/>
                </a:solidFill>
                <a:latin typeface="Agrandir" panose="00000500000000000000"/>
                <a:ea typeface="Agrandir" panose="00000500000000000000"/>
                <a:cs typeface="Agrandir" panose="00000500000000000000"/>
                <a:sym typeface="Agrandir" panose="00000500000000000000"/>
              </a:rPr>
              <a:t>Cipher Block Chaining</a:t>
            </a:r>
            <a:endParaRPr lang="en-US" sz="6400" spc="-255">
              <a:solidFill>
                <a:srgbClr val="F6F6F6"/>
              </a:solidFill>
              <a:latin typeface="Agrandir" panose="00000500000000000000"/>
              <a:ea typeface="Agrandir" panose="00000500000000000000"/>
              <a:cs typeface="Agrandir" panose="00000500000000000000"/>
              <a:sym typeface="Agrandir" panose="00000500000000000000"/>
            </a:endParaRPr>
          </a:p>
          <a:p>
            <a:pPr algn="l">
              <a:lnSpc>
                <a:spcPts val="8000"/>
              </a:lnSpc>
            </a:pPr>
          </a:p>
        </p:txBody>
      </p:sp>
      <p:sp>
        <p:nvSpPr>
          <p:cNvPr id="14" name="TextBox 14"/>
          <p:cNvSpPr txBox="1"/>
          <p:nvPr/>
        </p:nvSpPr>
        <p:spPr>
          <a:xfrm>
            <a:off x="9248766" y="2812331"/>
            <a:ext cx="8932293" cy="2480424"/>
          </a:xfrm>
          <a:prstGeom prst="rect">
            <a:avLst/>
          </a:prstGeom>
        </p:spPr>
        <p:txBody>
          <a:bodyPr lIns="0" tIns="0" rIns="0" bIns="0" rtlCol="0" anchor="t">
            <a:spAutoFit/>
          </a:bodyPr>
          <a:lstStyle/>
          <a:p>
            <a:pPr algn="l">
              <a:lnSpc>
                <a:spcPts val="2800"/>
              </a:lnSpc>
            </a:pPr>
            <a:r>
              <a:rPr lang="en-US" sz="2800" spc="-111">
                <a:solidFill>
                  <a:srgbClr val="F6F6F6"/>
                </a:solidFill>
                <a:latin typeface="Canva Sans" panose="020B0503030501040103"/>
                <a:ea typeface="Canva Sans" panose="020B0503030501040103"/>
                <a:cs typeface="Canva Sans" panose="020B0503030501040103"/>
                <a:sym typeface="Canva Sans" panose="020B0503030501040103"/>
              </a:rPr>
              <a:t>Cipher block chaining or CBC is an advancement made on ECB since ECB compromises some security requirements. In CBC, the previous cipher block is given as input to the next encryption algorithm after XOR with the original plaintext block. In a nutshell here, a cipher block is produced by encrypting an XOR output of the previous cipher block and present plaintext </a:t>
            </a:r>
            <a:r>
              <a:rPr lang="en-US" sz="2800" spc="-111">
                <a:solidFill>
                  <a:srgbClr val="F6F6F6"/>
                </a:solidFill>
                <a:latin typeface="Canva Sans" panose="020B0503030501040103"/>
                <a:ea typeface="Canva Sans" panose="020B0503030501040103"/>
                <a:cs typeface="Canva Sans" panose="020B0503030501040103"/>
                <a:sym typeface="Canva Sans" panose="020B0503030501040103"/>
              </a:rPr>
              <a:t>block. </a:t>
            </a:r>
            <a:endParaRPr lang="en-US" sz="2800" spc="-111">
              <a:solidFill>
                <a:srgbClr val="F6F6F6"/>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061751">
            <a:off x="15456802" y="-3036091"/>
            <a:ext cx="14220834" cy="14203058"/>
          </a:xfrm>
          <a:custGeom>
            <a:avLst/>
            <a:gdLst/>
            <a:ahLst/>
            <a:cxnLst/>
            <a:rect l="l" t="t" r="r" b="b"/>
            <a:pathLst>
              <a:path w="14220834" h="14203058">
                <a:moveTo>
                  <a:pt x="0" y="0"/>
                </a:moveTo>
                <a:lnTo>
                  <a:pt x="14220834" y="0"/>
                </a:lnTo>
                <a:lnTo>
                  <a:pt x="14220834" y="14203058"/>
                </a:lnTo>
                <a:lnTo>
                  <a:pt x="0" y="14203058"/>
                </a:lnTo>
                <a:lnTo>
                  <a:pt x="0" y="0"/>
                </a:lnTo>
                <a:close/>
              </a:path>
            </a:pathLst>
          </a:custGeom>
          <a:blipFill>
            <a:blip r:embed="rId1"/>
            <a:stretch>
              <a:fillRect/>
            </a:stretch>
          </a:blipFill>
        </p:spPr>
      </p:sp>
      <p:sp>
        <p:nvSpPr>
          <p:cNvPr id="3" name="Freeform 3"/>
          <p:cNvSpPr/>
          <p:nvPr/>
        </p:nvSpPr>
        <p:spPr>
          <a:xfrm rot="-7047732">
            <a:off x="12993364" y="-3285164"/>
            <a:ext cx="10589272" cy="11265182"/>
          </a:xfrm>
          <a:custGeom>
            <a:avLst/>
            <a:gdLst/>
            <a:ahLst/>
            <a:cxnLst/>
            <a:rect l="l" t="t" r="r" b="b"/>
            <a:pathLst>
              <a:path w="10589272" h="11265182">
                <a:moveTo>
                  <a:pt x="0" y="0"/>
                </a:moveTo>
                <a:lnTo>
                  <a:pt x="10589272" y="0"/>
                </a:lnTo>
                <a:lnTo>
                  <a:pt x="10589272" y="11265183"/>
                </a:lnTo>
                <a:lnTo>
                  <a:pt x="0" y="11265183"/>
                </a:lnTo>
                <a:lnTo>
                  <a:pt x="0" y="0"/>
                </a:lnTo>
                <a:close/>
              </a:path>
            </a:pathLst>
          </a:custGeom>
          <a:blipFill>
            <a:blip r:embed="rId2">
              <a:alphaModFix amt="55000"/>
            </a:blip>
            <a:stretch>
              <a:fillRect/>
            </a:stretch>
          </a:blipFill>
        </p:spPr>
      </p:sp>
      <p:sp>
        <p:nvSpPr>
          <p:cNvPr id="4" name="Freeform 4"/>
          <p:cNvSpPr/>
          <p:nvPr/>
        </p:nvSpPr>
        <p:spPr>
          <a:xfrm rot="-7047732">
            <a:off x="-4265936" y="1976570"/>
            <a:ext cx="10589272" cy="11265182"/>
          </a:xfrm>
          <a:custGeom>
            <a:avLst/>
            <a:gdLst/>
            <a:ahLst/>
            <a:cxnLst/>
            <a:rect l="l" t="t" r="r" b="b"/>
            <a:pathLst>
              <a:path w="10589272" h="11265182">
                <a:moveTo>
                  <a:pt x="0" y="0"/>
                </a:moveTo>
                <a:lnTo>
                  <a:pt x="10589272" y="0"/>
                </a:lnTo>
                <a:lnTo>
                  <a:pt x="10589272" y="11265183"/>
                </a:lnTo>
                <a:lnTo>
                  <a:pt x="0" y="11265183"/>
                </a:lnTo>
                <a:lnTo>
                  <a:pt x="0" y="0"/>
                </a:lnTo>
                <a:close/>
              </a:path>
            </a:pathLst>
          </a:custGeom>
          <a:blipFill>
            <a:blip r:embed="rId2">
              <a:alphaModFix amt="55000"/>
            </a:blip>
            <a:stretch>
              <a:fillRect/>
            </a:stretch>
          </a:blipFill>
        </p:spPr>
      </p:sp>
      <p:grpSp>
        <p:nvGrpSpPr>
          <p:cNvPr id="5" name="Group 5"/>
          <p:cNvGrpSpPr/>
          <p:nvPr/>
        </p:nvGrpSpPr>
        <p:grpSpPr>
          <a:xfrm rot="0">
            <a:off x="2740270" y="5270672"/>
            <a:ext cx="4537894" cy="3001163"/>
            <a:chOff x="0" y="0"/>
            <a:chExt cx="1195166" cy="790430"/>
          </a:xfrm>
        </p:grpSpPr>
        <p:sp>
          <p:nvSpPr>
            <p:cNvPr id="6" name="Freeform 6"/>
            <p:cNvSpPr/>
            <p:nvPr/>
          </p:nvSpPr>
          <p:spPr>
            <a:xfrm>
              <a:off x="0" y="0"/>
              <a:ext cx="1195166" cy="790430"/>
            </a:xfrm>
            <a:custGeom>
              <a:avLst/>
              <a:gdLst/>
              <a:ahLst/>
              <a:cxnLst/>
              <a:rect l="l" t="t" r="r" b="b"/>
              <a:pathLst>
                <a:path w="1195166" h="790430">
                  <a:moveTo>
                    <a:pt x="42651" y="0"/>
                  </a:moveTo>
                  <a:lnTo>
                    <a:pt x="1152514" y="0"/>
                  </a:lnTo>
                  <a:cubicBezTo>
                    <a:pt x="1163826" y="0"/>
                    <a:pt x="1174675" y="4494"/>
                    <a:pt x="1182673" y="12492"/>
                  </a:cubicBezTo>
                  <a:cubicBezTo>
                    <a:pt x="1190672" y="20491"/>
                    <a:pt x="1195166" y="31340"/>
                    <a:pt x="1195166" y="42651"/>
                  </a:cubicBezTo>
                  <a:lnTo>
                    <a:pt x="1195166" y="747778"/>
                  </a:lnTo>
                  <a:cubicBezTo>
                    <a:pt x="1195166" y="771334"/>
                    <a:pt x="1176070" y="790430"/>
                    <a:pt x="1152514" y="790430"/>
                  </a:cubicBezTo>
                  <a:lnTo>
                    <a:pt x="42651" y="790430"/>
                  </a:lnTo>
                  <a:cubicBezTo>
                    <a:pt x="19096" y="790430"/>
                    <a:pt x="0" y="771334"/>
                    <a:pt x="0" y="747778"/>
                  </a:cubicBezTo>
                  <a:lnTo>
                    <a:pt x="0" y="42651"/>
                  </a:lnTo>
                  <a:cubicBezTo>
                    <a:pt x="0" y="19096"/>
                    <a:pt x="19096" y="0"/>
                    <a:pt x="42651" y="0"/>
                  </a:cubicBezTo>
                  <a:close/>
                </a:path>
              </a:pathLst>
            </a:custGeom>
            <a:gradFill rotWithShape="1">
              <a:gsLst>
                <a:gs pos="0">
                  <a:srgbClr val="37B594">
                    <a:alpha val="100000"/>
                  </a:srgbClr>
                </a:gs>
                <a:gs pos="100000">
                  <a:srgbClr val="62DFBF">
                    <a:alpha val="100000"/>
                  </a:srgbClr>
                </a:gs>
              </a:gsLst>
              <a:lin ang="0"/>
            </a:gradFill>
          </p:spPr>
        </p:sp>
        <p:sp>
          <p:nvSpPr>
            <p:cNvPr id="7" name="TextBox 7"/>
            <p:cNvSpPr txBox="1"/>
            <p:nvPr/>
          </p:nvSpPr>
          <p:spPr>
            <a:xfrm>
              <a:off x="0" y="-57150"/>
              <a:ext cx="1195166" cy="847580"/>
            </a:xfrm>
            <a:prstGeom prst="rect">
              <a:avLst/>
            </a:prstGeom>
          </p:spPr>
          <p:txBody>
            <a:bodyPr lIns="50800" tIns="50800" rIns="50800" bIns="50800" rtlCol="0" anchor="ctr"/>
            <a:lstStyle/>
            <a:p>
              <a:pPr algn="ctr">
                <a:lnSpc>
                  <a:spcPts val="2660"/>
                </a:lnSpc>
              </a:pPr>
            </a:p>
          </p:txBody>
        </p:sp>
      </p:grpSp>
      <p:grpSp>
        <p:nvGrpSpPr>
          <p:cNvPr id="8" name="Group 8"/>
          <p:cNvGrpSpPr/>
          <p:nvPr/>
        </p:nvGrpSpPr>
        <p:grpSpPr>
          <a:xfrm rot="0">
            <a:off x="12040859" y="5270696"/>
            <a:ext cx="4537894" cy="3001163"/>
            <a:chOff x="0" y="0"/>
            <a:chExt cx="1195166" cy="790430"/>
          </a:xfrm>
        </p:grpSpPr>
        <p:sp>
          <p:nvSpPr>
            <p:cNvPr id="9" name="Freeform 9"/>
            <p:cNvSpPr/>
            <p:nvPr/>
          </p:nvSpPr>
          <p:spPr>
            <a:xfrm>
              <a:off x="0" y="0"/>
              <a:ext cx="1195166" cy="790430"/>
            </a:xfrm>
            <a:custGeom>
              <a:avLst/>
              <a:gdLst/>
              <a:ahLst/>
              <a:cxnLst/>
              <a:rect l="l" t="t" r="r" b="b"/>
              <a:pathLst>
                <a:path w="1195166" h="790430">
                  <a:moveTo>
                    <a:pt x="42651" y="0"/>
                  </a:moveTo>
                  <a:lnTo>
                    <a:pt x="1152514" y="0"/>
                  </a:lnTo>
                  <a:cubicBezTo>
                    <a:pt x="1163826" y="0"/>
                    <a:pt x="1174675" y="4494"/>
                    <a:pt x="1182673" y="12492"/>
                  </a:cubicBezTo>
                  <a:cubicBezTo>
                    <a:pt x="1190672" y="20491"/>
                    <a:pt x="1195166" y="31340"/>
                    <a:pt x="1195166" y="42651"/>
                  </a:cubicBezTo>
                  <a:lnTo>
                    <a:pt x="1195166" y="747778"/>
                  </a:lnTo>
                  <a:cubicBezTo>
                    <a:pt x="1195166" y="771334"/>
                    <a:pt x="1176070" y="790430"/>
                    <a:pt x="1152514" y="790430"/>
                  </a:cubicBezTo>
                  <a:lnTo>
                    <a:pt x="42651" y="790430"/>
                  </a:lnTo>
                  <a:cubicBezTo>
                    <a:pt x="19096" y="790430"/>
                    <a:pt x="0" y="771334"/>
                    <a:pt x="0" y="747778"/>
                  </a:cubicBezTo>
                  <a:lnTo>
                    <a:pt x="0" y="42651"/>
                  </a:lnTo>
                  <a:cubicBezTo>
                    <a:pt x="0" y="19096"/>
                    <a:pt x="19096" y="0"/>
                    <a:pt x="42651" y="0"/>
                  </a:cubicBezTo>
                  <a:close/>
                </a:path>
              </a:pathLst>
            </a:custGeom>
            <a:gradFill rotWithShape="1">
              <a:gsLst>
                <a:gs pos="0">
                  <a:srgbClr val="37B594">
                    <a:alpha val="100000"/>
                  </a:srgbClr>
                </a:gs>
                <a:gs pos="100000">
                  <a:srgbClr val="62DFBF">
                    <a:alpha val="100000"/>
                  </a:srgbClr>
                </a:gs>
              </a:gsLst>
              <a:lin ang="0"/>
            </a:gradFill>
            <a:ln cap="rnd">
              <a:noFill/>
              <a:prstDash val="solid"/>
              <a:round/>
            </a:ln>
          </p:spPr>
        </p:sp>
        <p:sp>
          <p:nvSpPr>
            <p:cNvPr id="10" name="TextBox 10"/>
            <p:cNvSpPr txBox="1"/>
            <p:nvPr/>
          </p:nvSpPr>
          <p:spPr>
            <a:xfrm>
              <a:off x="0" y="-57150"/>
              <a:ext cx="1195166" cy="847580"/>
            </a:xfrm>
            <a:prstGeom prst="rect">
              <a:avLst/>
            </a:prstGeom>
          </p:spPr>
          <p:txBody>
            <a:bodyPr lIns="50800" tIns="50800" rIns="50800" bIns="50800" rtlCol="0" anchor="ctr"/>
            <a:lstStyle/>
            <a:p>
              <a:pPr marL="0" lvl="0" indent="0" algn="ctr">
                <a:lnSpc>
                  <a:spcPts val="2660"/>
                </a:lnSpc>
                <a:spcBef>
                  <a:spcPct val="0"/>
                </a:spcBef>
              </a:pPr>
            </a:p>
          </p:txBody>
        </p:sp>
      </p:grpSp>
      <p:pic>
        <p:nvPicPr>
          <p:cNvPr id="11" name="Picture 11"/>
          <p:cNvPicPr>
            <a:picLocks noChangeAspect="1"/>
          </p:cNvPicPr>
          <p:nvPr/>
        </p:nvPicPr>
        <p:blipFill>
          <a:blip r:embed="rId3"/>
          <a:srcRect/>
          <a:stretch>
            <a:fillRect/>
          </a:stretch>
        </p:blipFill>
        <p:spPr>
          <a:xfrm>
            <a:off x="2918981" y="4595516"/>
            <a:ext cx="278501" cy="278501"/>
          </a:xfrm>
          <a:prstGeom prst="rect">
            <a:avLst/>
          </a:prstGeom>
        </p:spPr>
      </p:pic>
      <p:pic>
        <p:nvPicPr>
          <p:cNvPr id="12" name="Picture 12"/>
          <p:cNvPicPr>
            <a:picLocks noChangeAspect="1"/>
          </p:cNvPicPr>
          <p:nvPr/>
        </p:nvPicPr>
        <p:blipFill>
          <a:blip r:embed="rId3"/>
          <a:srcRect/>
          <a:stretch>
            <a:fillRect/>
          </a:stretch>
        </p:blipFill>
        <p:spPr>
          <a:xfrm>
            <a:off x="12219570" y="4595541"/>
            <a:ext cx="278501" cy="278501"/>
          </a:xfrm>
          <a:prstGeom prst="rect">
            <a:avLst/>
          </a:prstGeom>
        </p:spPr>
      </p:pic>
      <p:sp>
        <p:nvSpPr>
          <p:cNvPr id="13" name="Freeform 13"/>
          <p:cNvSpPr/>
          <p:nvPr/>
        </p:nvSpPr>
        <p:spPr>
          <a:xfrm>
            <a:off x="4157984" y="5448338"/>
            <a:ext cx="2105352" cy="2517611"/>
          </a:xfrm>
          <a:custGeom>
            <a:avLst/>
            <a:gdLst/>
            <a:ahLst/>
            <a:cxnLst/>
            <a:rect l="l" t="t" r="r" b="b"/>
            <a:pathLst>
              <a:path w="2105352" h="2517611">
                <a:moveTo>
                  <a:pt x="0" y="0"/>
                </a:moveTo>
                <a:lnTo>
                  <a:pt x="2105352" y="0"/>
                </a:lnTo>
                <a:lnTo>
                  <a:pt x="2105352" y="2517611"/>
                </a:lnTo>
                <a:lnTo>
                  <a:pt x="0" y="2517611"/>
                </a:lnTo>
                <a:lnTo>
                  <a:pt x="0" y="0"/>
                </a:lnTo>
                <a:close/>
              </a:path>
            </a:pathLst>
          </a:custGeom>
          <a:blipFill>
            <a:blip r:embed="rId4">
              <a:alphaModFix amt="15000"/>
              <a:extLst>
                <a:ext uri="{96DAC541-7B7A-43D3-8B79-37D633B846F1}">
                  <asvg:svgBlip xmlns:asvg="http://schemas.microsoft.com/office/drawing/2016/SVG/main" r:embed="rId5"/>
                </a:ext>
              </a:extLst>
            </a:blip>
            <a:stretch>
              <a:fillRect/>
            </a:stretch>
          </a:blipFill>
        </p:spPr>
      </p:sp>
      <p:sp>
        <p:nvSpPr>
          <p:cNvPr id="14" name="Freeform 14"/>
          <p:cNvSpPr/>
          <p:nvPr/>
        </p:nvSpPr>
        <p:spPr>
          <a:xfrm>
            <a:off x="13188685" y="5365397"/>
            <a:ext cx="2242241" cy="2738615"/>
          </a:xfrm>
          <a:custGeom>
            <a:avLst/>
            <a:gdLst/>
            <a:ahLst/>
            <a:cxnLst/>
            <a:rect l="l" t="t" r="r" b="b"/>
            <a:pathLst>
              <a:path w="2242241" h="2738615">
                <a:moveTo>
                  <a:pt x="0" y="0"/>
                </a:moveTo>
                <a:lnTo>
                  <a:pt x="2242241" y="0"/>
                </a:lnTo>
                <a:lnTo>
                  <a:pt x="2242241" y="2738615"/>
                </a:lnTo>
                <a:lnTo>
                  <a:pt x="0" y="2738615"/>
                </a:lnTo>
                <a:lnTo>
                  <a:pt x="0" y="0"/>
                </a:lnTo>
                <a:close/>
              </a:path>
            </a:pathLst>
          </a:custGeom>
          <a:blipFill>
            <a:blip r:embed="rId6">
              <a:alphaModFix amt="15000"/>
              <a:extLst>
                <a:ext uri="{96DAC541-7B7A-43D3-8B79-37D633B846F1}">
                  <asvg:svgBlip xmlns:asvg="http://schemas.microsoft.com/office/drawing/2016/SVG/main" r:embed="rId7"/>
                </a:ext>
              </a:extLst>
            </a:blip>
            <a:stretch>
              <a:fillRect/>
            </a:stretch>
          </a:blipFill>
          <a:ln cap="sq">
            <a:noFill/>
            <a:prstDash val="solid"/>
            <a:miter/>
          </a:ln>
        </p:spPr>
      </p:sp>
      <p:sp>
        <p:nvSpPr>
          <p:cNvPr id="15" name="TextBox 15"/>
          <p:cNvSpPr txBox="1"/>
          <p:nvPr/>
        </p:nvSpPr>
        <p:spPr>
          <a:xfrm>
            <a:off x="3376194" y="4431659"/>
            <a:ext cx="3668932" cy="559479"/>
          </a:xfrm>
          <a:prstGeom prst="rect">
            <a:avLst/>
          </a:prstGeom>
        </p:spPr>
        <p:txBody>
          <a:bodyPr lIns="0" tIns="0" rIns="0" bIns="0" rtlCol="0" anchor="t">
            <a:spAutoFit/>
          </a:bodyPr>
          <a:lstStyle/>
          <a:p>
            <a:pPr algn="l">
              <a:lnSpc>
                <a:spcPts val="4340"/>
              </a:lnSpc>
            </a:pPr>
            <a:r>
              <a:rPr lang="en-US" sz="3100" spc="-123">
                <a:solidFill>
                  <a:srgbClr val="F3DD52"/>
                </a:solidFill>
                <a:latin typeface="Poppins" panose="00000500000000000000"/>
                <a:ea typeface="Poppins" panose="00000500000000000000"/>
                <a:cs typeface="Poppins" panose="00000500000000000000"/>
                <a:sym typeface="Poppins" panose="00000500000000000000"/>
              </a:rPr>
              <a:t>Advantages:</a:t>
            </a:r>
            <a:endParaRPr lang="en-US" sz="3100" spc="-123">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12676782" y="4431684"/>
            <a:ext cx="3668932" cy="559479"/>
          </a:xfrm>
          <a:prstGeom prst="rect">
            <a:avLst/>
          </a:prstGeom>
        </p:spPr>
        <p:txBody>
          <a:bodyPr lIns="0" tIns="0" rIns="0" bIns="0" rtlCol="0" anchor="t">
            <a:spAutoFit/>
          </a:bodyPr>
          <a:lstStyle/>
          <a:p>
            <a:pPr algn="l">
              <a:lnSpc>
                <a:spcPts val="4340"/>
              </a:lnSpc>
            </a:pPr>
            <a:r>
              <a:rPr lang="en-US" sz="3100" spc="-123">
                <a:solidFill>
                  <a:srgbClr val="F3DD52"/>
                </a:solidFill>
                <a:latin typeface="Poppins" panose="00000500000000000000"/>
                <a:ea typeface="Poppins" panose="00000500000000000000"/>
                <a:cs typeface="Poppins" panose="00000500000000000000"/>
                <a:sym typeface="Poppins" panose="00000500000000000000"/>
              </a:rPr>
              <a:t>Disadvantages:</a:t>
            </a:r>
            <a:endParaRPr lang="en-US" sz="3100" spc="-123">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2848689" y="5461436"/>
            <a:ext cx="4196436" cy="3153919"/>
          </a:xfrm>
          <a:prstGeom prst="rect">
            <a:avLst/>
          </a:prstGeom>
        </p:spPr>
        <p:txBody>
          <a:bodyPr lIns="0" tIns="0" rIns="0" bIns="0" rtlCol="0" anchor="t">
            <a:spAutoFit/>
          </a:bodyPr>
          <a:lstStyle/>
          <a:p>
            <a:pPr marL="544830" lvl="1" indent="-272415" algn="l">
              <a:lnSpc>
                <a:spcPts val="3530"/>
              </a:lnSpc>
              <a:buFont typeface="Arial" panose="020B0604020202020204"/>
              <a:buChar char="•"/>
            </a:pPr>
            <a:r>
              <a:rPr lang="en-US" sz="2525" spc="-100">
                <a:solidFill>
                  <a:srgbClr val="040606"/>
                </a:solidFill>
                <a:latin typeface="Poppins" panose="00000500000000000000"/>
                <a:ea typeface="Poppins" panose="00000500000000000000"/>
                <a:cs typeface="Poppins" panose="00000500000000000000"/>
                <a:sym typeface="Poppins" panose="00000500000000000000"/>
              </a:rPr>
              <a:t>Much more secure than ECB.</a:t>
            </a:r>
            <a:endParaRPr lang="en-US" sz="2525" spc="-100">
              <a:solidFill>
                <a:srgbClr val="040606"/>
              </a:solidFill>
              <a:latin typeface="Poppins" panose="00000500000000000000"/>
              <a:ea typeface="Poppins" panose="00000500000000000000"/>
              <a:cs typeface="Poppins" panose="00000500000000000000"/>
              <a:sym typeface="Poppins" panose="00000500000000000000"/>
            </a:endParaRPr>
          </a:p>
          <a:p>
            <a:pPr marL="544830" lvl="1" indent="-272415" algn="l">
              <a:lnSpc>
                <a:spcPts val="3530"/>
              </a:lnSpc>
              <a:buFont typeface="Arial" panose="020B0604020202020204"/>
              <a:buChar char="•"/>
            </a:pPr>
            <a:r>
              <a:rPr lang="en-US" sz="2525" spc="-100">
                <a:solidFill>
                  <a:srgbClr val="040606"/>
                </a:solidFill>
                <a:latin typeface="Poppins" panose="00000500000000000000"/>
                <a:ea typeface="Poppins" panose="00000500000000000000"/>
                <a:cs typeface="Poppins" panose="00000500000000000000"/>
                <a:sym typeface="Poppins" panose="00000500000000000000"/>
              </a:rPr>
              <a:t>Hides patterns in the data.</a:t>
            </a:r>
            <a:endParaRPr lang="en-US" sz="2525" spc="-100">
              <a:solidFill>
                <a:srgbClr val="040606"/>
              </a:solidFill>
              <a:latin typeface="Poppins" panose="00000500000000000000"/>
              <a:ea typeface="Poppins" panose="00000500000000000000"/>
              <a:cs typeface="Poppins" panose="00000500000000000000"/>
              <a:sym typeface="Poppins" panose="00000500000000000000"/>
            </a:endParaRPr>
          </a:p>
          <a:p>
            <a:pPr marL="544830" lvl="1" indent="-272415" algn="l">
              <a:lnSpc>
                <a:spcPts val="3530"/>
              </a:lnSpc>
              <a:buFont typeface="Arial" panose="020B0604020202020204"/>
              <a:buChar char="•"/>
            </a:pPr>
            <a:r>
              <a:rPr lang="en-US" sz="2525" spc="-100">
                <a:solidFill>
                  <a:srgbClr val="040606"/>
                </a:solidFill>
                <a:latin typeface="Poppins" panose="00000500000000000000"/>
                <a:ea typeface="Poppins" panose="00000500000000000000"/>
                <a:cs typeface="Poppins" panose="00000500000000000000"/>
                <a:sym typeface="Poppins" panose="00000500000000000000"/>
              </a:rPr>
              <a:t>Resistant to some replay attacks.</a:t>
            </a:r>
            <a:endParaRPr lang="en-US" sz="2525" spc="-100">
              <a:solidFill>
                <a:srgbClr val="040606"/>
              </a:solidFill>
              <a:latin typeface="Poppins" panose="00000500000000000000"/>
              <a:ea typeface="Poppins" panose="00000500000000000000"/>
              <a:cs typeface="Poppins" panose="00000500000000000000"/>
              <a:sym typeface="Poppins" panose="00000500000000000000"/>
            </a:endParaRPr>
          </a:p>
          <a:p>
            <a:pPr algn="l">
              <a:lnSpc>
                <a:spcPts val="3670"/>
              </a:lnSpc>
            </a:pPr>
          </a:p>
        </p:txBody>
      </p:sp>
      <p:sp>
        <p:nvSpPr>
          <p:cNvPr id="18" name="TextBox 18"/>
          <p:cNvSpPr txBox="1"/>
          <p:nvPr/>
        </p:nvSpPr>
        <p:spPr>
          <a:xfrm>
            <a:off x="12040859" y="5480486"/>
            <a:ext cx="4537894" cy="2798849"/>
          </a:xfrm>
          <a:prstGeom prst="rect">
            <a:avLst/>
          </a:prstGeom>
        </p:spPr>
        <p:txBody>
          <a:bodyPr lIns="0" tIns="0" rIns="0" bIns="0" rtlCol="0" anchor="t">
            <a:spAutoFit/>
          </a:bodyPr>
          <a:lstStyle/>
          <a:p>
            <a:pPr marL="496570" lvl="1" indent="-248285" algn="l">
              <a:lnSpc>
                <a:spcPts val="3220"/>
              </a:lnSpc>
              <a:spcBef>
                <a:spcPct val="0"/>
              </a:spcBef>
              <a:buFont typeface="Arial" panose="020B0604020202020204"/>
              <a:buChar char="•"/>
            </a:pPr>
            <a:r>
              <a:rPr lang="en-US" sz="2300" spc="-91">
                <a:solidFill>
                  <a:srgbClr val="040606"/>
                </a:solidFill>
                <a:latin typeface="Poppins" panose="00000500000000000000"/>
                <a:ea typeface="Poppins" panose="00000500000000000000"/>
                <a:cs typeface="Poppins" panose="00000500000000000000"/>
                <a:sym typeface="Poppins" panose="00000500000000000000"/>
              </a:rPr>
              <a:t>N</a:t>
            </a:r>
            <a:r>
              <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rPr>
              <a:t>ot parallelizable (slow for large data).</a:t>
            </a:r>
            <a:endPar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endParaRPr>
          </a:p>
          <a:p>
            <a:pPr marL="496570" lvl="1" indent="-248285" algn="l">
              <a:lnSpc>
                <a:spcPts val="3220"/>
              </a:lnSpc>
              <a:spcBef>
                <a:spcPct val="0"/>
              </a:spcBef>
              <a:buFont typeface="Arial" panose="020B0604020202020204"/>
              <a:buChar char="•"/>
            </a:pPr>
            <a:r>
              <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rPr>
              <a:t>Requires a unique</a:t>
            </a:r>
            <a:r>
              <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rPr>
              <a:t> and unpredictable IV.</a:t>
            </a:r>
            <a:endPar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endParaRPr>
          </a:p>
          <a:p>
            <a:pPr marL="496570" lvl="1" indent="-248285" algn="l">
              <a:lnSpc>
                <a:spcPts val="3220"/>
              </a:lnSpc>
              <a:spcBef>
                <a:spcPct val="0"/>
              </a:spcBef>
              <a:buFont typeface="Arial" panose="020B0604020202020204"/>
              <a:buChar char="•"/>
            </a:pPr>
            <a:r>
              <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rPr>
              <a:t>A single-bit error affects two blocks when decrypting</a:t>
            </a:r>
            <a:endPar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endParaRPr>
          </a:p>
          <a:p>
            <a:pPr marL="0" lvl="1" indent="0" algn="l">
              <a:lnSpc>
                <a:spcPts val="3220"/>
              </a:lnSpc>
              <a:spcBef>
                <a:spcPct val="0"/>
              </a:spcBef>
            </a:pPr>
          </a:p>
        </p:txBody>
      </p:sp>
      <p:sp>
        <p:nvSpPr>
          <p:cNvPr id="19" name="TextBox 19"/>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20" name="Freeform 20"/>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1" name="TextBox 21"/>
          <p:cNvSpPr txBox="1"/>
          <p:nvPr/>
        </p:nvSpPr>
        <p:spPr>
          <a:xfrm>
            <a:off x="2426680" y="2207553"/>
            <a:ext cx="15861320" cy="1547832"/>
          </a:xfrm>
          <a:prstGeom prst="rect">
            <a:avLst/>
          </a:prstGeom>
        </p:spPr>
        <p:txBody>
          <a:bodyPr lIns="0" tIns="0" rIns="0" bIns="0" rtlCol="0" anchor="t">
            <a:spAutoFit/>
          </a:bodyPr>
          <a:lstStyle/>
          <a:p>
            <a:pPr algn="l">
              <a:lnSpc>
                <a:spcPts val="9585"/>
              </a:lnSpc>
            </a:pPr>
            <a:r>
              <a:rPr lang="en-US" sz="9585" spc="-383">
                <a:solidFill>
                  <a:srgbClr val="F6F6F6"/>
                </a:solidFill>
                <a:latin typeface="Agrandir" panose="00000500000000000000"/>
                <a:ea typeface="Agrandir" panose="00000500000000000000"/>
                <a:cs typeface="Agrandir" panose="00000500000000000000"/>
                <a:sym typeface="Agrandir" panose="00000500000000000000"/>
              </a:rPr>
              <a:t>CBC – Cipher Block Chaining</a:t>
            </a:r>
            <a:endParaRPr lang="en-US" sz="9585" spc="-383">
              <a:solidFill>
                <a:srgbClr val="F6F6F6"/>
              </a:solidFill>
              <a:latin typeface="Agrandir" panose="00000500000000000000"/>
              <a:ea typeface="Agrandir" panose="00000500000000000000"/>
              <a:cs typeface="Agrandir" panose="00000500000000000000"/>
              <a:sym typeface="Agrandir" panose="00000500000000000000"/>
            </a:endParaRP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103251">
            <a:off x="-2992585" y="-2339797"/>
            <a:ext cx="14220834" cy="14203058"/>
          </a:xfrm>
          <a:custGeom>
            <a:avLst/>
            <a:gdLst/>
            <a:ahLst/>
            <a:cxnLst/>
            <a:rect l="l" t="t" r="r" b="b"/>
            <a:pathLst>
              <a:path w="14220834" h="14203058">
                <a:moveTo>
                  <a:pt x="0" y="0"/>
                </a:moveTo>
                <a:lnTo>
                  <a:pt x="14220834" y="0"/>
                </a:lnTo>
                <a:lnTo>
                  <a:pt x="14220834" y="14203057"/>
                </a:lnTo>
                <a:lnTo>
                  <a:pt x="0" y="14203057"/>
                </a:lnTo>
                <a:lnTo>
                  <a:pt x="0" y="0"/>
                </a:lnTo>
                <a:close/>
              </a:path>
            </a:pathLst>
          </a:custGeom>
          <a:blipFill>
            <a:blip r:embed="rId1"/>
            <a:stretch>
              <a:fillRect/>
            </a:stretch>
          </a:blipFill>
        </p:spPr>
      </p:sp>
      <p:sp>
        <p:nvSpPr>
          <p:cNvPr id="3" name="Freeform 3"/>
          <p:cNvSpPr/>
          <p:nvPr/>
        </p:nvSpPr>
        <p:spPr>
          <a:xfrm rot="-7047732">
            <a:off x="9123488" y="-3058993"/>
            <a:ext cx="10589272" cy="11265182"/>
          </a:xfrm>
          <a:custGeom>
            <a:avLst/>
            <a:gdLst/>
            <a:ahLst/>
            <a:cxnLst/>
            <a:rect l="l" t="t" r="r" b="b"/>
            <a:pathLst>
              <a:path w="10589272" h="11265182">
                <a:moveTo>
                  <a:pt x="0" y="0"/>
                </a:moveTo>
                <a:lnTo>
                  <a:pt x="10589272" y="0"/>
                </a:lnTo>
                <a:lnTo>
                  <a:pt x="10589272" y="11265182"/>
                </a:lnTo>
                <a:lnTo>
                  <a:pt x="0" y="11265182"/>
                </a:lnTo>
                <a:lnTo>
                  <a:pt x="0" y="0"/>
                </a:lnTo>
                <a:close/>
              </a:path>
            </a:pathLst>
          </a:custGeom>
          <a:blipFill>
            <a:blip r:embed="rId2">
              <a:alphaModFix amt="55000"/>
            </a:blip>
            <a:stretch>
              <a:fillRect/>
            </a:stretch>
          </a:blipFill>
        </p:spPr>
      </p:sp>
      <p:pic>
        <p:nvPicPr>
          <p:cNvPr id="4" name="Picture 4"/>
          <p:cNvPicPr>
            <a:picLocks noChangeAspect="1"/>
          </p:cNvPicPr>
          <p:nvPr/>
        </p:nvPicPr>
        <p:blipFill>
          <a:blip r:embed="rId3"/>
          <a:srcRect/>
          <a:stretch>
            <a:fillRect/>
          </a:stretch>
        </p:blipFill>
        <p:spPr>
          <a:xfrm>
            <a:off x="3147717" y="2755181"/>
            <a:ext cx="278501" cy="278501"/>
          </a:xfrm>
          <a:prstGeom prst="rect">
            <a:avLst/>
          </a:prstGeom>
        </p:spPr>
      </p:pic>
      <p:pic>
        <p:nvPicPr>
          <p:cNvPr id="5" name="Picture 5"/>
          <p:cNvPicPr>
            <a:picLocks noChangeAspect="1"/>
          </p:cNvPicPr>
          <p:nvPr/>
        </p:nvPicPr>
        <p:blipFill>
          <a:blip r:embed="rId3"/>
          <a:srcRect/>
          <a:stretch>
            <a:fillRect/>
          </a:stretch>
        </p:blipFill>
        <p:spPr>
          <a:xfrm>
            <a:off x="3626243" y="2755181"/>
            <a:ext cx="278501" cy="278501"/>
          </a:xfrm>
          <a:prstGeom prst="rect">
            <a:avLst/>
          </a:prstGeom>
        </p:spPr>
      </p:pic>
      <p:pic>
        <p:nvPicPr>
          <p:cNvPr id="6" name="Picture 6"/>
          <p:cNvPicPr>
            <a:picLocks noChangeAspect="1"/>
          </p:cNvPicPr>
          <p:nvPr/>
        </p:nvPicPr>
        <p:blipFill>
          <a:blip r:embed="rId3"/>
          <a:srcRect/>
          <a:stretch>
            <a:fillRect/>
          </a:stretch>
        </p:blipFill>
        <p:spPr>
          <a:xfrm>
            <a:off x="2667881" y="2755181"/>
            <a:ext cx="278501" cy="278501"/>
          </a:xfrm>
          <a:prstGeom prst="rect">
            <a:avLst/>
          </a:prstGeom>
        </p:spPr>
      </p:pic>
      <p:sp>
        <p:nvSpPr>
          <p:cNvPr id="7" name="Freeform 7"/>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rot="0">
            <a:off x="743531" y="1792989"/>
            <a:ext cx="7828960" cy="7828960"/>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6"/>
              <a:stretch>
                <a:fillRect t="-1984" b="-1984"/>
              </a:stretch>
            </a:blipFill>
          </p:spPr>
        </p:sp>
      </p:grpSp>
      <p:grpSp>
        <p:nvGrpSpPr>
          <p:cNvPr id="10" name="Group 10"/>
          <p:cNvGrpSpPr/>
          <p:nvPr/>
        </p:nvGrpSpPr>
        <p:grpSpPr>
          <a:xfrm rot="0">
            <a:off x="9527863" y="5829695"/>
            <a:ext cx="7731437" cy="2794789"/>
            <a:chOff x="0" y="0"/>
            <a:chExt cx="2248510" cy="812800"/>
          </a:xfrm>
        </p:grpSpPr>
        <p:sp>
          <p:nvSpPr>
            <p:cNvPr id="11" name="Freeform 11"/>
            <p:cNvSpPr/>
            <p:nvPr/>
          </p:nvSpPr>
          <p:spPr>
            <a:xfrm>
              <a:off x="0" y="0"/>
              <a:ext cx="2248510" cy="812800"/>
            </a:xfrm>
            <a:custGeom>
              <a:avLst/>
              <a:gdLst/>
              <a:ahLst/>
              <a:cxnLst/>
              <a:rect l="l" t="t" r="r" b="b"/>
              <a:pathLst>
                <a:path w="2248510" h="812800">
                  <a:moveTo>
                    <a:pt x="23031" y="0"/>
                  </a:moveTo>
                  <a:lnTo>
                    <a:pt x="2225479" y="0"/>
                  </a:lnTo>
                  <a:cubicBezTo>
                    <a:pt x="2231587" y="0"/>
                    <a:pt x="2237446" y="2426"/>
                    <a:pt x="2241765" y="6746"/>
                  </a:cubicBezTo>
                  <a:cubicBezTo>
                    <a:pt x="2246084" y="11065"/>
                    <a:pt x="2248510" y="16923"/>
                    <a:pt x="2248510" y="23031"/>
                  </a:cubicBezTo>
                  <a:lnTo>
                    <a:pt x="2248510" y="789769"/>
                  </a:lnTo>
                  <a:cubicBezTo>
                    <a:pt x="2248510" y="795877"/>
                    <a:pt x="2246084" y="801735"/>
                    <a:pt x="2241765" y="806054"/>
                  </a:cubicBezTo>
                  <a:cubicBezTo>
                    <a:pt x="2237446" y="810374"/>
                    <a:pt x="2231587" y="812800"/>
                    <a:pt x="2225479" y="812800"/>
                  </a:cubicBezTo>
                  <a:lnTo>
                    <a:pt x="23031" y="812800"/>
                  </a:lnTo>
                  <a:cubicBezTo>
                    <a:pt x="16923" y="812800"/>
                    <a:pt x="11065" y="810374"/>
                    <a:pt x="6746" y="806054"/>
                  </a:cubicBezTo>
                  <a:cubicBezTo>
                    <a:pt x="2426" y="801735"/>
                    <a:pt x="0" y="795877"/>
                    <a:pt x="0" y="789769"/>
                  </a:cubicBezTo>
                  <a:lnTo>
                    <a:pt x="0" y="23031"/>
                  </a:lnTo>
                  <a:cubicBezTo>
                    <a:pt x="0" y="16923"/>
                    <a:pt x="2426" y="11065"/>
                    <a:pt x="6746" y="6746"/>
                  </a:cubicBezTo>
                  <a:cubicBezTo>
                    <a:pt x="11065" y="2426"/>
                    <a:pt x="16923" y="0"/>
                    <a:pt x="23031" y="0"/>
                  </a:cubicBezTo>
                  <a:close/>
                </a:path>
              </a:pathLst>
            </a:custGeom>
            <a:blipFill>
              <a:blip r:embed="rId7"/>
              <a:stretch>
                <a:fillRect l="-718" r="-718"/>
              </a:stretch>
            </a:blipFill>
          </p:spPr>
        </p:sp>
      </p:grpSp>
      <p:sp>
        <p:nvSpPr>
          <p:cNvPr id="12" name="TextBox 12"/>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13" name="TextBox 13"/>
          <p:cNvSpPr txBox="1"/>
          <p:nvPr/>
        </p:nvSpPr>
        <p:spPr>
          <a:xfrm>
            <a:off x="9355707" y="971550"/>
            <a:ext cx="11190701" cy="949938"/>
          </a:xfrm>
          <a:prstGeom prst="rect">
            <a:avLst/>
          </a:prstGeom>
        </p:spPr>
        <p:txBody>
          <a:bodyPr lIns="0" tIns="0" rIns="0" bIns="0" rtlCol="0" anchor="t">
            <a:spAutoFit/>
          </a:bodyPr>
          <a:lstStyle/>
          <a:p>
            <a:pPr algn="l">
              <a:lnSpc>
                <a:spcPts val="5900"/>
              </a:lnSpc>
            </a:pPr>
            <a:r>
              <a:rPr lang="en-US" sz="5900" spc="-236">
                <a:solidFill>
                  <a:srgbClr val="F6F6F6"/>
                </a:solidFill>
                <a:latin typeface="Agrandir" panose="00000500000000000000"/>
                <a:ea typeface="Agrandir" panose="00000500000000000000"/>
                <a:cs typeface="Agrandir" panose="00000500000000000000"/>
                <a:sym typeface="Agrandir" panose="00000500000000000000"/>
              </a:rPr>
              <a:t> OFB – Output Feedback</a:t>
            </a:r>
            <a:endParaRPr lang="en-US" sz="5900" spc="-236">
              <a:solidFill>
                <a:srgbClr val="F6F6F6"/>
              </a:solidFill>
              <a:latin typeface="Agrandir" panose="00000500000000000000"/>
              <a:ea typeface="Agrandir" panose="00000500000000000000"/>
              <a:cs typeface="Agrandir" panose="00000500000000000000"/>
              <a:sym typeface="Agrandir" panose="00000500000000000000"/>
            </a:endParaRPr>
          </a:p>
        </p:txBody>
      </p:sp>
      <p:sp>
        <p:nvSpPr>
          <p:cNvPr id="14" name="TextBox 14"/>
          <p:cNvSpPr txBox="1"/>
          <p:nvPr/>
        </p:nvSpPr>
        <p:spPr>
          <a:xfrm>
            <a:off x="9355707" y="3100357"/>
            <a:ext cx="6857576" cy="1614913"/>
          </a:xfrm>
          <a:prstGeom prst="rect">
            <a:avLst/>
          </a:prstGeom>
        </p:spPr>
        <p:txBody>
          <a:bodyPr lIns="0" tIns="0" rIns="0" bIns="0" rtlCol="0" anchor="t">
            <a:spAutoFit/>
          </a:bodyPr>
          <a:lstStyle/>
          <a:p>
            <a:pPr algn="l">
              <a:lnSpc>
                <a:spcPts val="3200"/>
              </a:lnSpc>
            </a:pPr>
            <a:r>
              <a:rPr lang="en-US" sz="3200" spc="-127">
                <a:solidFill>
                  <a:srgbClr val="F6F6F6"/>
                </a:solidFill>
                <a:latin typeface="Canva Sans" panose="020B0503030501040103"/>
                <a:ea typeface="Canva Sans" panose="020B0503030501040103"/>
                <a:cs typeface="Canva Sans" panose="020B0503030501040103"/>
                <a:sym typeface="Canva Sans" panose="020B0503030501040103"/>
              </a:rPr>
              <a:t>Turns the block cipher into a stream cipher. IV is encrypted repeatedly to produce a keystream that is XORed</a:t>
            </a:r>
            <a:r>
              <a:rPr lang="en-US" sz="3200" spc="-127">
                <a:solidFill>
                  <a:srgbClr val="F6F6F6"/>
                </a:solidFill>
                <a:latin typeface="Canva Sans" panose="020B0503030501040103"/>
                <a:ea typeface="Canva Sans" panose="020B0503030501040103"/>
                <a:cs typeface="Canva Sans" panose="020B0503030501040103"/>
                <a:sym typeface="Canva Sans" panose="020B0503030501040103"/>
              </a:rPr>
              <a:t> with plaintext.</a:t>
            </a:r>
            <a:endParaRPr lang="en-US" sz="3200" spc="-127">
              <a:solidFill>
                <a:srgbClr val="F6F6F6"/>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061751">
            <a:off x="15456802" y="-3036091"/>
            <a:ext cx="14220834" cy="14203058"/>
          </a:xfrm>
          <a:custGeom>
            <a:avLst/>
            <a:gdLst/>
            <a:ahLst/>
            <a:cxnLst/>
            <a:rect l="l" t="t" r="r" b="b"/>
            <a:pathLst>
              <a:path w="14220834" h="14203058">
                <a:moveTo>
                  <a:pt x="0" y="0"/>
                </a:moveTo>
                <a:lnTo>
                  <a:pt x="14220834" y="0"/>
                </a:lnTo>
                <a:lnTo>
                  <a:pt x="14220834" y="14203058"/>
                </a:lnTo>
                <a:lnTo>
                  <a:pt x="0" y="14203058"/>
                </a:lnTo>
                <a:lnTo>
                  <a:pt x="0" y="0"/>
                </a:lnTo>
                <a:close/>
              </a:path>
            </a:pathLst>
          </a:custGeom>
          <a:blipFill>
            <a:blip r:embed="rId1"/>
            <a:stretch>
              <a:fillRect/>
            </a:stretch>
          </a:blipFill>
        </p:spPr>
      </p:sp>
      <p:sp>
        <p:nvSpPr>
          <p:cNvPr id="3" name="Freeform 3"/>
          <p:cNvSpPr/>
          <p:nvPr/>
        </p:nvSpPr>
        <p:spPr>
          <a:xfrm rot="-7047732">
            <a:off x="12993364" y="-3285164"/>
            <a:ext cx="10589272" cy="11265182"/>
          </a:xfrm>
          <a:custGeom>
            <a:avLst/>
            <a:gdLst/>
            <a:ahLst/>
            <a:cxnLst/>
            <a:rect l="l" t="t" r="r" b="b"/>
            <a:pathLst>
              <a:path w="10589272" h="11265182">
                <a:moveTo>
                  <a:pt x="0" y="0"/>
                </a:moveTo>
                <a:lnTo>
                  <a:pt x="10589272" y="0"/>
                </a:lnTo>
                <a:lnTo>
                  <a:pt x="10589272" y="11265183"/>
                </a:lnTo>
                <a:lnTo>
                  <a:pt x="0" y="11265183"/>
                </a:lnTo>
                <a:lnTo>
                  <a:pt x="0" y="0"/>
                </a:lnTo>
                <a:close/>
              </a:path>
            </a:pathLst>
          </a:custGeom>
          <a:blipFill>
            <a:blip r:embed="rId2">
              <a:alphaModFix amt="55000"/>
            </a:blip>
            <a:stretch>
              <a:fillRect/>
            </a:stretch>
          </a:blipFill>
        </p:spPr>
      </p:sp>
      <p:sp>
        <p:nvSpPr>
          <p:cNvPr id="4" name="Freeform 4"/>
          <p:cNvSpPr/>
          <p:nvPr/>
        </p:nvSpPr>
        <p:spPr>
          <a:xfrm rot="-7047732">
            <a:off x="-4265936" y="1976570"/>
            <a:ext cx="10589272" cy="11265182"/>
          </a:xfrm>
          <a:custGeom>
            <a:avLst/>
            <a:gdLst/>
            <a:ahLst/>
            <a:cxnLst/>
            <a:rect l="l" t="t" r="r" b="b"/>
            <a:pathLst>
              <a:path w="10589272" h="11265182">
                <a:moveTo>
                  <a:pt x="0" y="0"/>
                </a:moveTo>
                <a:lnTo>
                  <a:pt x="10589272" y="0"/>
                </a:lnTo>
                <a:lnTo>
                  <a:pt x="10589272" y="11265183"/>
                </a:lnTo>
                <a:lnTo>
                  <a:pt x="0" y="11265183"/>
                </a:lnTo>
                <a:lnTo>
                  <a:pt x="0" y="0"/>
                </a:lnTo>
                <a:close/>
              </a:path>
            </a:pathLst>
          </a:custGeom>
          <a:blipFill>
            <a:blip r:embed="rId2">
              <a:alphaModFix amt="55000"/>
            </a:blip>
            <a:stretch>
              <a:fillRect/>
            </a:stretch>
          </a:blipFill>
        </p:spPr>
      </p:sp>
      <p:grpSp>
        <p:nvGrpSpPr>
          <p:cNvPr id="5" name="Group 5"/>
          <p:cNvGrpSpPr/>
          <p:nvPr/>
        </p:nvGrpSpPr>
        <p:grpSpPr>
          <a:xfrm rot="0">
            <a:off x="2740270" y="5270672"/>
            <a:ext cx="4537894" cy="3433980"/>
            <a:chOff x="0" y="0"/>
            <a:chExt cx="1195166" cy="904423"/>
          </a:xfrm>
        </p:grpSpPr>
        <p:sp>
          <p:nvSpPr>
            <p:cNvPr id="6" name="Freeform 6"/>
            <p:cNvSpPr/>
            <p:nvPr/>
          </p:nvSpPr>
          <p:spPr>
            <a:xfrm>
              <a:off x="0" y="0"/>
              <a:ext cx="1195166" cy="904423"/>
            </a:xfrm>
            <a:custGeom>
              <a:avLst/>
              <a:gdLst/>
              <a:ahLst/>
              <a:cxnLst/>
              <a:rect l="l" t="t" r="r" b="b"/>
              <a:pathLst>
                <a:path w="1195166" h="904423">
                  <a:moveTo>
                    <a:pt x="42651" y="0"/>
                  </a:moveTo>
                  <a:lnTo>
                    <a:pt x="1152514" y="0"/>
                  </a:lnTo>
                  <a:cubicBezTo>
                    <a:pt x="1163826" y="0"/>
                    <a:pt x="1174675" y="4494"/>
                    <a:pt x="1182673" y="12492"/>
                  </a:cubicBezTo>
                  <a:cubicBezTo>
                    <a:pt x="1190672" y="20491"/>
                    <a:pt x="1195166" y="31340"/>
                    <a:pt x="1195166" y="42651"/>
                  </a:cubicBezTo>
                  <a:lnTo>
                    <a:pt x="1195166" y="861771"/>
                  </a:lnTo>
                  <a:cubicBezTo>
                    <a:pt x="1195166" y="873083"/>
                    <a:pt x="1190672" y="883932"/>
                    <a:pt x="1182673" y="891930"/>
                  </a:cubicBezTo>
                  <a:cubicBezTo>
                    <a:pt x="1174675" y="899929"/>
                    <a:pt x="1163826" y="904423"/>
                    <a:pt x="1152514" y="904423"/>
                  </a:cubicBezTo>
                  <a:lnTo>
                    <a:pt x="42651" y="904423"/>
                  </a:lnTo>
                  <a:cubicBezTo>
                    <a:pt x="19096" y="904423"/>
                    <a:pt x="0" y="885327"/>
                    <a:pt x="0" y="861771"/>
                  </a:cubicBezTo>
                  <a:lnTo>
                    <a:pt x="0" y="42651"/>
                  </a:lnTo>
                  <a:cubicBezTo>
                    <a:pt x="0" y="19096"/>
                    <a:pt x="19096" y="0"/>
                    <a:pt x="42651" y="0"/>
                  </a:cubicBezTo>
                  <a:close/>
                </a:path>
              </a:pathLst>
            </a:custGeom>
            <a:gradFill rotWithShape="1">
              <a:gsLst>
                <a:gs pos="0">
                  <a:srgbClr val="37B594">
                    <a:alpha val="100000"/>
                  </a:srgbClr>
                </a:gs>
                <a:gs pos="100000">
                  <a:srgbClr val="62DFBF">
                    <a:alpha val="100000"/>
                  </a:srgbClr>
                </a:gs>
              </a:gsLst>
              <a:lin ang="0"/>
            </a:gradFill>
          </p:spPr>
        </p:sp>
        <p:sp>
          <p:nvSpPr>
            <p:cNvPr id="7" name="TextBox 7"/>
            <p:cNvSpPr txBox="1"/>
            <p:nvPr/>
          </p:nvSpPr>
          <p:spPr>
            <a:xfrm>
              <a:off x="0" y="-57150"/>
              <a:ext cx="1195166" cy="961573"/>
            </a:xfrm>
            <a:prstGeom prst="rect">
              <a:avLst/>
            </a:prstGeom>
          </p:spPr>
          <p:txBody>
            <a:bodyPr lIns="50800" tIns="50800" rIns="50800" bIns="50800" rtlCol="0" anchor="ctr"/>
            <a:lstStyle/>
            <a:p>
              <a:pPr algn="ctr">
                <a:lnSpc>
                  <a:spcPts val="2660"/>
                </a:lnSpc>
              </a:pPr>
            </a:p>
          </p:txBody>
        </p:sp>
      </p:grpSp>
      <p:grpSp>
        <p:nvGrpSpPr>
          <p:cNvPr id="8" name="Group 8"/>
          <p:cNvGrpSpPr/>
          <p:nvPr/>
        </p:nvGrpSpPr>
        <p:grpSpPr>
          <a:xfrm rot="0">
            <a:off x="12040859" y="5270696"/>
            <a:ext cx="4537894" cy="3001163"/>
            <a:chOff x="0" y="0"/>
            <a:chExt cx="1195166" cy="790430"/>
          </a:xfrm>
        </p:grpSpPr>
        <p:sp>
          <p:nvSpPr>
            <p:cNvPr id="9" name="Freeform 9"/>
            <p:cNvSpPr/>
            <p:nvPr/>
          </p:nvSpPr>
          <p:spPr>
            <a:xfrm>
              <a:off x="0" y="0"/>
              <a:ext cx="1195166" cy="790430"/>
            </a:xfrm>
            <a:custGeom>
              <a:avLst/>
              <a:gdLst/>
              <a:ahLst/>
              <a:cxnLst/>
              <a:rect l="l" t="t" r="r" b="b"/>
              <a:pathLst>
                <a:path w="1195166" h="790430">
                  <a:moveTo>
                    <a:pt x="42651" y="0"/>
                  </a:moveTo>
                  <a:lnTo>
                    <a:pt x="1152514" y="0"/>
                  </a:lnTo>
                  <a:cubicBezTo>
                    <a:pt x="1163826" y="0"/>
                    <a:pt x="1174675" y="4494"/>
                    <a:pt x="1182673" y="12492"/>
                  </a:cubicBezTo>
                  <a:cubicBezTo>
                    <a:pt x="1190672" y="20491"/>
                    <a:pt x="1195166" y="31340"/>
                    <a:pt x="1195166" y="42651"/>
                  </a:cubicBezTo>
                  <a:lnTo>
                    <a:pt x="1195166" y="747778"/>
                  </a:lnTo>
                  <a:cubicBezTo>
                    <a:pt x="1195166" y="771334"/>
                    <a:pt x="1176070" y="790430"/>
                    <a:pt x="1152514" y="790430"/>
                  </a:cubicBezTo>
                  <a:lnTo>
                    <a:pt x="42651" y="790430"/>
                  </a:lnTo>
                  <a:cubicBezTo>
                    <a:pt x="19096" y="790430"/>
                    <a:pt x="0" y="771334"/>
                    <a:pt x="0" y="747778"/>
                  </a:cubicBezTo>
                  <a:lnTo>
                    <a:pt x="0" y="42651"/>
                  </a:lnTo>
                  <a:cubicBezTo>
                    <a:pt x="0" y="19096"/>
                    <a:pt x="19096" y="0"/>
                    <a:pt x="42651" y="0"/>
                  </a:cubicBezTo>
                  <a:close/>
                </a:path>
              </a:pathLst>
            </a:custGeom>
            <a:gradFill rotWithShape="1">
              <a:gsLst>
                <a:gs pos="0">
                  <a:srgbClr val="37B594">
                    <a:alpha val="100000"/>
                  </a:srgbClr>
                </a:gs>
                <a:gs pos="100000">
                  <a:srgbClr val="62DFBF">
                    <a:alpha val="100000"/>
                  </a:srgbClr>
                </a:gs>
              </a:gsLst>
              <a:lin ang="0"/>
            </a:gradFill>
            <a:ln cap="rnd">
              <a:noFill/>
              <a:prstDash val="solid"/>
              <a:round/>
            </a:ln>
          </p:spPr>
        </p:sp>
        <p:sp>
          <p:nvSpPr>
            <p:cNvPr id="10" name="TextBox 10"/>
            <p:cNvSpPr txBox="1"/>
            <p:nvPr/>
          </p:nvSpPr>
          <p:spPr>
            <a:xfrm>
              <a:off x="0" y="-57150"/>
              <a:ext cx="1195166" cy="847580"/>
            </a:xfrm>
            <a:prstGeom prst="rect">
              <a:avLst/>
            </a:prstGeom>
          </p:spPr>
          <p:txBody>
            <a:bodyPr lIns="50800" tIns="50800" rIns="50800" bIns="50800" rtlCol="0" anchor="ctr"/>
            <a:lstStyle/>
            <a:p>
              <a:pPr marL="0" lvl="0" indent="0" algn="ctr">
                <a:lnSpc>
                  <a:spcPts val="2660"/>
                </a:lnSpc>
                <a:spcBef>
                  <a:spcPct val="0"/>
                </a:spcBef>
              </a:pPr>
            </a:p>
          </p:txBody>
        </p:sp>
      </p:grpSp>
      <p:pic>
        <p:nvPicPr>
          <p:cNvPr id="11" name="Picture 11"/>
          <p:cNvPicPr>
            <a:picLocks noChangeAspect="1"/>
          </p:cNvPicPr>
          <p:nvPr/>
        </p:nvPicPr>
        <p:blipFill>
          <a:blip r:embed="rId3"/>
          <a:srcRect/>
          <a:stretch>
            <a:fillRect/>
          </a:stretch>
        </p:blipFill>
        <p:spPr>
          <a:xfrm>
            <a:off x="2918981" y="4595516"/>
            <a:ext cx="278501" cy="278501"/>
          </a:xfrm>
          <a:prstGeom prst="rect">
            <a:avLst/>
          </a:prstGeom>
        </p:spPr>
      </p:pic>
      <p:pic>
        <p:nvPicPr>
          <p:cNvPr id="12" name="Picture 12"/>
          <p:cNvPicPr>
            <a:picLocks noChangeAspect="1"/>
          </p:cNvPicPr>
          <p:nvPr/>
        </p:nvPicPr>
        <p:blipFill>
          <a:blip r:embed="rId3"/>
          <a:srcRect/>
          <a:stretch>
            <a:fillRect/>
          </a:stretch>
        </p:blipFill>
        <p:spPr>
          <a:xfrm>
            <a:off x="12219570" y="4595541"/>
            <a:ext cx="278501" cy="278501"/>
          </a:xfrm>
          <a:prstGeom prst="rect">
            <a:avLst/>
          </a:prstGeom>
        </p:spPr>
      </p:pic>
      <p:sp>
        <p:nvSpPr>
          <p:cNvPr id="13" name="Freeform 13"/>
          <p:cNvSpPr/>
          <p:nvPr/>
        </p:nvSpPr>
        <p:spPr>
          <a:xfrm>
            <a:off x="4157984" y="5448338"/>
            <a:ext cx="2105352" cy="2517611"/>
          </a:xfrm>
          <a:custGeom>
            <a:avLst/>
            <a:gdLst/>
            <a:ahLst/>
            <a:cxnLst/>
            <a:rect l="l" t="t" r="r" b="b"/>
            <a:pathLst>
              <a:path w="2105352" h="2517611">
                <a:moveTo>
                  <a:pt x="0" y="0"/>
                </a:moveTo>
                <a:lnTo>
                  <a:pt x="2105352" y="0"/>
                </a:lnTo>
                <a:lnTo>
                  <a:pt x="2105352" y="2517611"/>
                </a:lnTo>
                <a:lnTo>
                  <a:pt x="0" y="2517611"/>
                </a:lnTo>
                <a:lnTo>
                  <a:pt x="0" y="0"/>
                </a:lnTo>
                <a:close/>
              </a:path>
            </a:pathLst>
          </a:custGeom>
          <a:blipFill>
            <a:blip r:embed="rId4">
              <a:alphaModFix amt="15000"/>
              <a:extLst>
                <a:ext uri="{96DAC541-7B7A-43D3-8B79-37D633B846F1}">
                  <asvg:svgBlip xmlns:asvg="http://schemas.microsoft.com/office/drawing/2016/SVG/main" r:embed="rId5"/>
                </a:ext>
              </a:extLst>
            </a:blip>
            <a:stretch>
              <a:fillRect/>
            </a:stretch>
          </a:blipFill>
        </p:spPr>
      </p:sp>
      <p:sp>
        <p:nvSpPr>
          <p:cNvPr id="14" name="Freeform 14"/>
          <p:cNvSpPr/>
          <p:nvPr/>
        </p:nvSpPr>
        <p:spPr>
          <a:xfrm>
            <a:off x="13188685" y="5365397"/>
            <a:ext cx="2242241" cy="2738615"/>
          </a:xfrm>
          <a:custGeom>
            <a:avLst/>
            <a:gdLst/>
            <a:ahLst/>
            <a:cxnLst/>
            <a:rect l="l" t="t" r="r" b="b"/>
            <a:pathLst>
              <a:path w="2242241" h="2738615">
                <a:moveTo>
                  <a:pt x="0" y="0"/>
                </a:moveTo>
                <a:lnTo>
                  <a:pt x="2242241" y="0"/>
                </a:lnTo>
                <a:lnTo>
                  <a:pt x="2242241" y="2738615"/>
                </a:lnTo>
                <a:lnTo>
                  <a:pt x="0" y="2738615"/>
                </a:lnTo>
                <a:lnTo>
                  <a:pt x="0" y="0"/>
                </a:lnTo>
                <a:close/>
              </a:path>
            </a:pathLst>
          </a:custGeom>
          <a:blipFill>
            <a:blip r:embed="rId6">
              <a:alphaModFix amt="15000"/>
              <a:extLst>
                <a:ext uri="{96DAC541-7B7A-43D3-8B79-37D633B846F1}">
                  <asvg:svgBlip xmlns:asvg="http://schemas.microsoft.com/office/drawing/2016/SVG/main" r:embed="rId7"/>
                </a:ext>
              </a:extLst>
            </a:blip>
            <a:stretch>
              <a:fillRect/>
            </a:stretch>
          </a:blipFill>
          <a:ln cap="sq">
            <a:noFill/>
            <a:prstDash val="solid"/>
            <a:miter/>
          </a:ln>
        </p:spPr>
      </p:sp>
      <p:sp>
        <p:nvSpPr>
          <p:cNvPr id="15" name="TextBox 15"/>
          <p:cNvSpPr txBox="1"/>
          <p:nvPr/>
        </p:nvSpPr>
        <p:spPr>
          <a:xfrm>
            <a:off x="3376194" y="4431659"/>
            <a:ext cx="3668932" cy="559479"/>
          </a:xfrm>
          <a:prstGeom prst="rect">
            <a:avLst/>
          </a:prstGeom>
        </p:spPr>
        <p:txBody>
          <a:bodyPr lIns="0" tIns="0" rIns="0" bIns="0" rtlCol="0" anchor="t">
            <a:spAutoFit/>
          </a:bodyPr>
          <a:lstStyle/>
          <a:p>
            <a:pPr algn="l">
              <a:lnSpc>
                <a:spcPts val="4340"/>
              </a:lnSpc>
            </a:pPr>
            <a:r>
              <a:rPr lang="en-US" sz="3100" spc="-123">
                <a:solidFill>
                  <a:srgbClr val="F3DD52"/>
                </a:solidFill>
                <a:latin typeface="Poppins" panose="00000500000000000000"/>
                <a:ea typeface="Poppins" panose="00000500000000000000"/>
                <a:cs typeface="Poppins" panose="00000500000000000000"/>
                <a:sym typeface="Poppins" panose="00000500000000000000"/>
              </a:rPr>
              <a:t>Advantages:</a:t>
            </a:r>
            <a:endParaRPr lang="en-US" sz="3100" spc="-123">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12676782" y="4431684"/>
            <a:ext cx="3668932" cy="559479"/>
          </a:xfrm>
          <a:prstGeom prst="rect">
            <a:avLst/>
          </a:prstGeom>
        </p:spPr>
        <p:txBody>
          <a:bodyPr lIns="0" tIns="0" rIns="0" bIns="0" rtlCol="0" anchor="t">
            <a:spAutoFit/>
          </a:bodyPr>
          <a:lstStyle/>
          <a:p>
            <a:pPr algn="l">
              <a:lnSpc>
                <a:spcPts val="4340"/>
              </a:lnSpc>
            </a:pPr>
            <a:r>
              <a:rPr lang="en-US" sz="3100" spc="-123">
                <a:solidFill>
                  <a:srgbClr val="F3DD52"/>
                </a:solidFill>
                <a:latin typeface="Poppins" panose="00000500000000000000"/>
                <a:ea typeface="Poppins" panose="00000500000000000000"/>
                <a:cs typeface="Poppins" panose="00000500000000000000"/>
                <a:sym typeface="Poppins" panose="00000500000000000000"/>
              </a:rPr>
              <a:t>Disadvantages:</a:t>
            </a:r>
            <a:endParaRPr lang="en-US" sz="3100" spc="-123">
              <a:solidFill>
                <a:srgbClr val="F3DD52"/>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2918981" y="5372138"/>
            <a:ext cx="4196436" cy="3601561"/>
          </a:xfrm>
          <a:prstGeom prst="rect">
            <a:avLst/>
          </a:prstGeom>
        </p:spPr>
        <p:txBody>
          <a:bodyPr lIns="0" tIns="0" rIns="0" bIns="0" rtlCol="0" anchor="t">
            <a:spAutoFit/>
          </a:bodyPr>
          <a:lstStyle/>
          <a:p>
            <a:pPr marL="544830" lvl="1" indent="-272415" algn="l">
              <a:lnSpc>
                <a:spcPts val="3530"/>
              </a:lnSpc>
              <a:buFont typeface="Arial" panose="020B0604020202020204"/>
              <a:buChar char="•"/>
            </a:pPr>
            <a:r>
              <a:rPr lang="en-US" sz="2525" spc="-100">
                <a:solidFill>
                  <a:srgbClr val="040606"/>
                </a:solidFill>
                <a:latin typeface="Poppins" panose="00000500000000000000"/>
                <a:ea typeface="Poppins" panose="00000500000000000000"/>
                <a:cs typeface="Poppins" panose="00000500000000000000"/>
                <a:sym typeface="Poppins" panose="00000500000000000000"/>
              </a:rPr>
              <a:t>Good for streaming data.</a:t>
            </a:r>
            <a:endParaRPr lang="en-US" sz="2525" spc="-100">
              <a:solidFill>
                <a:srgbClr val="040606"/>
              </a:solidFill>
              <a:latin typeface="Poppins" panose="00000500000000000000"/>
              <a:ea typeface="Poppins" panose="00000500000000000000"/>
              <a:cs typeface="Poppins" panose="00000500000000000000"/>
              <a:sym typeface="Poppins" panose="00000500000000000000"/>
            </a:endParaRPr>
          </a:p>
          <a:p>
            <a:pPr marL="544830" lvl="1" indent="-272415" algn="l">
              <a:lnSpc>
                <a:spcPts val="3530"/>
              </a:lnSpc>
              <a:buFont typeface="Arial" panose="020B0604020202020204"/>
              <a:buChar char="•"/>
            </a:pPr>
            <a:r>
              <a:rPr lang="en-US" sz="2525" spc="-100">
                <a:solidFill>
                  <a:srgbClr val="040606"/>
                </a:solidFill>
                <a:latin typeface="Poppins" panose="00000500000000000000"/>
                <a:ea typeface="Poppins" panose="00000500000000000000"/>
                <a:cs typeface="Poppins" panose="00000500000000000000"/>
                <a:sym typeface="Poppins" panose="00000500000000000000"/>
              </a:rPr>
              <a:t>Errors don’t propagate — one bit error only affects that bit.</a:t>
            </a:r>
            <a:endParaRPr lang="en-US" sz="2525" spc="-100">
              <a:solidFill>
                <a:srgbClr val="040606"/>
              </a:solidFill>
              <a:latin typeface="Poppins" panose="00000500000000000000"/>
              <a:ea typeface="Poppins" panose="00000500000000000000"/>
              <a:cs typeface="Poppins" panose="00000500000000000000"/>
              <a:sym typeface="Poppins" panose="00000500000000000000"/>
            </a:endParaRPr>
          </a:p>
          <a:p>
            <a:pPr marL="544830" lvl="1" indent="-272415" algn="l">
              <a:lnSpc>
                <a:spcPts val="3530"/>
              </a:lnSpc>
              <a:buFont typeface="Arial" panose="020B0604020202020204"/>
              <a:buChar char="•"/>
            </a:pPr>
            <a:r>
              <a:rPr lang="en-US" sz="2525" spc="-100">
                <a:solidFill>
                  <a:srgbClr val="040606"/>
                </a:solidFill>
                <a:latin typeface="Poppins" panose="00000500000000000000"/>
                <a:ea typeface="Poppins" panose="00000500000000000000"/>
                <a:cs typeface="Poppins" panose="00000500000000000000"/>
                <a:sym typeface="Poppins" panose="00000500000000000000"/>
              </a:rPr>
              <a:t>Can be precomputed if IV and key are known.</a:t>
            </a:r>
            <a:endParaRPr lang="en-US" sz="2525" spc="-100">
              <a:solidFill>
                <a:srgbClr val="040606"/>
              </a:solidFill>
              <a:latin typeface="Poppins" panose="00000500000000000000"/>
              <a:ea typeface="Poppins" panose="00000500000000000000"/>
              <a:cs typeface="Poppins" panose="00000500000000000000"/>
              <a:sym typeface="Poppins" panose="00000500000000000000"/>
            </a:endParaRPr>
          </a:p>
          <a:p>
            <a:pPr algn="l">
              <a:lnSpc>
                <a:spcPts val="3670"/>
              </a:lnSpc>
            </a:pPr>
          </a:p>
        </p:txBody>
      </p:sp>
      <p:sp>
        <p:nvSpPr>
          <p:cNvPr id="18" name="TextBox 18"/>
          <p:cNvSpPr txBox="1"/>
          <p:nvPr/>
        </p:nvSpPr>
        <p:spPr>
          <a:xfrm>
            <a:off x="12242301" y="5610346"/>
            <a:ext cx="4537894" cy="1998815"/>
          </a:xfrm>
          <a:prstGeom prst="rect">
            <a:avLst/>
          </a:prstGeom>
        </p:spPr>
        <p:txBody>
          <a:bodyPr lIns="0" tIns="0" rIns="0" bIns="0" rtlCol="0" anchor="t">
            <a:spAutoFit/>
          </a:bodyPr>
          <a:lstStyle/>
          <a:p>
            <a:pPr marL="496570" lvl="1" indent="-248285" algn="l">
              <a:lnSpc>
                <a:spcPts val="3220"/>
              </a:lnSpc>
              <a:spcBef>
                <a:spcPct val="0"/>
              </a:spcBef>
              <a:buFont typeface="Arial" panose="020B0604020202020204"/>
              <a:buChar char="•"/>
            </a:pPr>
            <a:r>
              <a:rPr lang="en-US" sz="2300" spc="-91">
                <a:solidFill>
                  <a:srgbClr val="040606"/>
                </a:solidFill>
                <a:latin typeface="Poppins" panose="00000500000000000000"/>
                <a:ea typeface="Poppins" panose="00000500000000000000"/>
                <a:cs typeface="Poppins" panose="00000500000000000000"/>
                <a:sym typeface="Poppins" panose="00000500000000000000"/>
              </a:rPr>
              <a:t>Needs</a:t>
            </a:r>
            <a:r>
              <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rPr>
              <a:t> a unique IV for each encryption session.</a:t>
            </a:r>
            <a:endPar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endParaRPr>
          </a:p>
          <a:p>
            <a:pPr marL="496570" lvl="1" indent="-248285" algn="l">
              <a:lnSpc>
                <a:spcPts val="3220"/>
              </a:lnSpc>
              <a:spcBef>
                <a:spcPct val="0"/>
              </a:spcBef>
              <a:buFont typeface="Arial" panose="020B0604020202020204"/>
              <a:buChar char="•"/>
            </a:pPr>
            <a:r>
              <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rPr>
              <a:t>Reusing IV can expose plaintext.</a:t>
            </a:r>
            <a:endParaRPr lang="en-US" sz="2300" u="none" strike="noStrike" spc="-91">
              <a:solidFill>
                <a:srgbClr val="040606"/>
              </a:solidFill>
              <a:latin typeface="Poppins" panose="00000500000000000000"/>
              <a:ea typeface="Poppins" panose="00000500000000000000"/>
              <a:cs typeface="Poppins" panose="00000500000000000000"/>
              <a:sym typeface="Poppins" panose="00000500000000000000"/>
            </a:endParaRPr>
          </a:p>
          <a:p>
            <a:pPr marL="0" lvl="1" indent="0" algn="l">
              <a:lnSpc>
                <a:spcPts val="3220"/>
              </a:lnSpc>
              <a:spcBef>
                <a:spcPct val="0"/>
              </a:spcBef>
            </a:pPr>
          </a:p>
        </p:txBody>
      </p:sp>
      <p:sp>
        <p:nvSpPr>
          <p:cNvPr id="19" name="TextBox 19"/>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20" name="Freeform 20"/>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1" name="TextBox 21"/>
          <p:cNvSpPr txBox="1"/>
          <p:nvPr/>
        </p:nvSpPr>
        <p:spPr>
          <a:xfrm>
            <a:off x="2740270" y="2145374"/>
            <a:ext cx="15066238" cy="1547832"/>
          </a:xfrm>
          <a:prstGeom prst="rect">
            <a:avLst/>
          </a:prstGeom>
        </p:spPr>
        <p:txBody>
          <a:bodyPr lIns="0" tIns="0" rIns="0" bIns="0" rtlCol="0" anchor="t">
            <a:spAutoFit/>
          </a:bodyPr>
          <a:lstStyle/>
          <a:p>
            <a:pPr algn="l">
              <a:lnSpc>
                <a:spcPts val="9585"/>
              </a:lnSpc>
            </a:pPr>
            <a:r>
              <a:rPr lang="en-US" sz="9585" spc="-383">
                <a:solidFill>
                  <a:srgbClr val="F6F6F6"/>
                </a:solidFill>
                <a:latin typeface="Agrandir" panose="00000500000000000000"/>
                <a:ea typeface="Agrandir" panose="00000500000000000000"/>
                <a:cs typeface="Agrandir" panose="00000500000000000000"/>
                <a:sym typeface="Agrandir" panose="00000500000000000000"/>
              </a:rPr>
              <a:t>OFB – Output Feedback</a:t>
            </a:r>
            <a:endParaRPr lang="en-US" sz="9585" spc="-383">
              <a:solidFill>
                <a:srgbClr val="F6F6F6"/>
              </a:solidFill>
              <a:latin typeface="Agrandir" panose="00000500000000000000"/>
              <a:ea typeface="Agrandir" panose="00000500000000000000"/>
              <a:cs typeface="Agrandir" panose="00000500000000000000"/>
              <a:sym typeface="Agrandir" panose="00000500000000000000"/>
            </a:endParaRP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103251">
            <a:off x="-2992585" y="-2339797"/>
            <a:ext cx="14220834" cy="14203058"/>
          </a:xfrm>
          <a:custGeom>
            <a:avLst/>
            <a:gdLst/>
            <a:ahLst/>
            <a:cxnLst/>
            <a:rect l="l" t="t" r="r" b="b"/>
            <a:pathLst>
              <a:path w="14220834" h="14203058">
                <a:moveTo>
                  <a:pt x="0" y="0"/>
                </a:moveTo>
                <a:lnTo>
                  <a:pt x="14220834" y="0"/>
                </a:lnTo>
                <a:lnTo>
                  <a:pt x="14220834" y="14203057"/>
                </a:lnTo>
                <a:lnTo>
                  <a:pt x="0" y="14203057"/>
                </a:lnTo>
                <a:lnTo>
                  <a:pt x="0" y="0"/>
                </a:lnTo>
                <a:close/>
              </a:path>
            </a:pathLst>
          </a:custGeom>
          <a:blipFill>
            <a:blip r:embed="rId1"/>
            <a:stretch>
              <a:fillRect/>
            </a:stretch>
          </a:blipFill>
        </p:spPr>
      </p:sp>
      <p:sp>
        <p:nvSpPr>
          <p:cNvPr id="3" name="Freeform 3"/>
          <p:cNvSpPr/>
          <p:nvPr/>
        </p:nvSpPr>
        <p:spPr>
          <a:xfrm rot="-7047732">
            <a:off x="9123488" y="-3058993"/>
            <a:ext cx="10589272" cy="11265182"/>
          </a:xfrm>
          <a:custGeom>
            <a:avLst/>
            <a:gdLst/>
            <a:ahLst/>
            <a:cxnLst/>
            <a:rect l="l" t="t" r="r" b="b"/>
            <a:pathLst>
              <a:path w="10589272" h="11265182">
                <a:moveTo>
                  <a:pt x="0" y="0"/>
                </a:moveTo>
                <a:lnTo>
                  <a:pt x="10589272" y="0"/>
                </a:lnTo>
                <a:lnTo>
                  <a:pt x="10589272" y="11265182"/>
                </a:lnTo>
                <a:lnTo>
                  <a:pt x="0" y="11265182"/>
                </a:lnTo>
                <a:lnTo>
                  <a:pt x="0" y="0"/>
                </a:lnTo>
                <a:close/>
              </a:path>
            </a:pathLst>
          </a:custGeom>
          <a:blipFill>
            <a:blip r:embed="rId2">
              <a:alphaModFix amt="55000"/>
            </a:blip>
            <a:stretch>
              <a:fillRect/>
            </a:stretch>
          </a:blipFill>
        </p:spPr>
      </p:sp>
      <p:pic>
        <p:nvPicPr>
          <p:cNvPr id="4" name="Picture 4"/>
          <p:cNvPicPr>
            <a:picLocks noChangeAspect="1"/>
          </p:cNvPicPr>
          <p:nvPr/>
        </p:nvPicPr>
        <p:blipFill>
          <a:blip r:embed="rId3"/>
          <a:srcRect/>
          <a:stretch>
            <a:fillRect/>
          </a:stretch>
        </p:blipFill>
        <p:spPr>
          <a:xfrm>
            <a:off x="3147717" y="2755181"/>
            <a:ext cx="278501" cy="278501"/>
          </a:xfrm>
          <a:prstGeom prst="rect">
            <a:avLst/>
          </a:prstGeom>
        </p:spPr>
      </p:pic>
      <p:pic>
        <p:nvPicPr>
          <p:cNvPr id="5" name="Picture 5"/>
          <p:cNvPicPr>
            <a:picLocks noChangeAspect="1"/>
          </p:cNvPicPr>
          <p:nvPr/>
        </p:nvPicPr>
        <p:blipFill>
          <a:blip r:embed="rId3"/>
          <a:srcRect/>
          <a:stretch>
            <a:fillRect/>
          </a:stretch>
        </p:blipFill>
        <p:spPr>
          <a:xfrm>
            <a:off x="3626243" y="2755181"/>
            <a:ext cx="278501" cy="278501"/>
          </a:xfrm>
          <a:prstGeom prst="rect">
            <a:avLst/>
          </a:prstGeom>
        </p:spPr>
      </p:pic>
      <p:pic>
        <p:nvPicPr>
          <p:cNvPr id="6" name="Picture 6"/>
          <p:cNvPicPr>
            <a:picLocks noChangeAspect="1"/>
          </p:cNvPicPr>
          <p:nvPr/>
        </p:nvPicPr>
        <p:blipFill>
          <a:blip r:embed="rId3"/>
          <a:srcRect/>
          <a:stretch>
            <a:fillRect/>
          </a:stretch>
        </p:blipFill>
        <p:spPr>
          <a:xfrm>
            <a:off x="2667881" y="2755181"/>
            <a:ext cx="278501" cy="278501"/>
          </a:xfrm>
          <a:prstGeom prst="rect">
            <a:avLst/>
          </a:prstGeom>
        </p:spPr>
      </p:pic>
      <p:sp>
        <p:nvSpPr>
          <p:cNvPr id="7" name="Freeform 7"/>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rot="0">
            <a:off x="743531" y="1792989"/>
            <a:ext cx="7828960" cy="7828960"/>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6"/>
              <a:stretch>
                <a:fillRect t="-1984" b="-1984"/>
              </a:stretch>
            </a:blipFill>
          </p:spPr>
        </p:sp>
      </p:grpSp>
      <p:sp>
        <p:nvSpPr>
          <p:cNvPr id="10" name="TextBox 10"/>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11" name="TextBox 11"/>
          <p:cNvSpPr txBox="1"/>
          <p:nvPr/>
        </p:nvSpPr>
        <p:spPr>
          <a:xfrm>
            <a:off x="9355707" y="952500"/>
            <a:ext cx="9299691" cy="1151948"/>
          </a:xfrm>
          <a:prstGeom prst="rect">
            <a:avLst/>
          </a:prstGeom>
        </p:spPr>
        <p:txBody>
          <a:bodyPr lIns="0" tIns="0" rIns="0" bIns="0" rtlCol="0" anchor="t">
            <a:spAutoFit/>
          </a:bodyPr>
          <a:lstStyle/>
          <a:p>
            <a:pPr algn="l">
              <a:lnSpc>
                <a:spcPts val="7100"/>
              </a:lnSpc>
            </a:pPr>
            <a:r>
              <a:rPr lang="en-US" sz="7100" spc="-284">
                <a:solidFill>
                  <a:srgbClr val="F6F6F6"/>
                </a:solidFill>
                <a:latin typeface="Agrandir" panose="00000500000000000000"/>
                <a:ea typeface="Agrandir" panose="00000500000000000000"/>
                <a:cs typeface="Agrandir" panose="00000500000000000000"/>
                <a:sym typeface="Agrandir" panose="00000500000000000000"/>
              </a:rPr>
              <a:t> CTR – Counter Mode</a:t>
            </a:r>
            <a:endParaRPr lang="en-US" sz="7100" spc="-284">
              <a:solidFill>
                <a:srgbClr val="F6F6F6"/>
              </a:solidFill>
              <a:latin typeface="Agrandir" panose="00000500000000000000"/>
              <a:ea typeface="Agrandir" panose="00000500000000000000"/>
              <a:cs typeface="Agrandir" panose="00000500000000000000"/>
              <a:sym typeface="Agrandir" panose="00000500000000000000"/>
            </a:endParaRPr>
          </a:p>
        </p:txBody>
      </p:sp>
      <p:sp>
        <p:nvSpPr>
          <p:cNvPr id="12" name="TextBox 12"/>
          <p:cNvSpPr txBox="1"/>
          <p:nvPr/>
        </p:nvSpPr>
        <p:spPr>
          <a:xfrm>
            <a:off x="9355707" y="2649798"/>
            <a:ext cx="6857576" cy="1564423"/>
          </a:xfrm>
          <a:prstGeom prst="rect">
            <a:avLst/>
          </a:prstGeom>
        </p:spPr>
        <p:txBody>
          <a:bodyPr lIns="0" tIns="0" rIns="0" bIns="0" rtlCol="0" anchor="t">
            <a:spAutoFit/>
          </a:bodyPr>
          <a:lstStyle/>
          <a:p>
            <a:pPr algn="l">
              <a:lnSpc>
                <a:spcPts val="3100"/>
              </a:lnSpc>
            </a:pPr>
            <a:r>
              <a:rPr lang="en-US" sz="3100" spc="-123">
                <a:solidFill>
                  <a:srgbClr val="F6F6F6"/>
                </a:solidFill>
                <a:latin typeface="Canva Sans" panose="020B0503030501040103"/>
                <a:ea typeface="Canva Sans" panose="020B0503030501040103"/>
                <a:cs typeface="Canva Sans" panose="020B0503030501040103"/>
                <a:sym typeface="Canva Sans" panose="020B0503030501040103"/>
              </a:rPr>
              <a:t>Uses a counter that is encrypted to generate a keystream, which is XORed with the plaintext. The counter is incremented for each </a:t>
            </a:r>
            <a:r>
              <a:rPr lang="en-US" sz="3100" spc="-123">
                <a:solidFill>
                  <a:srgbClr val="F6F6F6"/>
                </a:solidFill>
                <a:latin typeface="Canva Sans" panose="020B0503030501040103"/>
                <a:ea typeface="Canva Sans" panose="020B0503030501040103"/>
                <a:cs typeface="Canva Sans" panose="020B0503030501040103"/>
                <a:sym typeface="Canva Sans" panose="020B0503030501040103"/>
              </a:rPr>
              <a:t>block.</a:t>
            </a:r>
            <a:endParaRPr lang="en-US" sz="3100" spc="-123">
              <a:solidFill>
                <a:srgbClr val="F6F6F6"/>
              </a:solidFill>
              <a:latin typeface="Canva Sans" panose="020B0503030501040103"/>
              <a:ea typeface="Canva Sans" panose="020B0503030501040103"/>
              <a:cs typeface="Canva Sans" panose="020B0503030501040103"/>
              <a:sym typeface="Canva Sans" panose="020B0503030501040103"/>
            </a:endParaRPr>
          </a:p>
        </p:txBody>
      </p:sp>
      <p:sp>
        <p:nvSpPr>
          <p:cNvPr id="13" name="TextBox 13"/>
          <p:cNvSpPr txBox="1"/>
          <p:nvPr/>
        </p:nvSpPr>
        <p:spPr>
          <a:xfrm>
            <a:off x="9355707" y="5847407"/>
            <a:ext cx="3668932" cy="1031331"/>
          </a:xfrm>
          <a:prstGeom prst="rect">
            <a:avLst/>
          </a:prstGeom>
        </p:spPr>
        <p:txBody>
          <a:bodyPr lIns="0" tIns="0" rIns="0" bIns="0" rtlCol="0" anchor="t">
            <a:spAutoFit/>
          </a:bodyPr>
          <a:lstStyle/>
          <a:p>
            <a:pPr algn="l">
              <a:lnSpc>
                <a:spcPts val="4060"/>
              </a:lnSpc>
            </a:pPr>
            <a:r>
              <a:rPr lang="en-US" sz="2900" spc="-115">
                <a:solidFill>
                  <a:srgbClr val="F3DD52"/>
                </a:solidFill>
                <a:latin typeface="Poppins" panose="00000500000000000000"/>
                <a:ea typeface="Poppins" panose="00000500000000000000"/>
                <a:cs typeface="Poppins" panose="00000500000000000000"/>
                <a:sym typeface="Poppins" panose="00000500000000000000"/>
              </a:rPr>
              <a:t>Advantages</a:t>
            </a:r>
            <a:endParaRPr lang="en-US" sz="2900" spc="-115">
              <a:solidFill>
                <a:srgbClr val="F3DD52"/>
              </a:solidFill>
              <a:latin typeface="Poppins" panose="00000500000000000000"/>
              <a:ea typeface="Poppins" panose="00000500000000000000"/>
              <a:cs typeface="Poppins" panose="00000500000000000000"/>
              <a:sym typeface="Poppins" panose="00000500000000000000"/>
            </a:endParaRPr>
          </a:p>
          <a:p>
            <a:pPr algn="l">
              <a:lnSpc>
                <a:spcPts val="4060"/>
              </a:lnSpc>
            </a:pPr>
          </a:p>
        </p:txBody>
      </p:sp>
      <p:sp>
        <p:nvSpPr>
          <p:cNvPr id="14" name="TextBox 14"/>
          <p:cNvSpPr txBox="1"/>
          <p:nvPr/>
        </p:nvSpPr>
        <p:spPr>
          <a:xfrm>
            <a:off x="14619068" y="5847407"/>
            <a:ext cx="3668932" cy="1031331"/>
          </a:xfrm>
          <a:prstGeom prst="rect">
            <a:avLst/>
          </a:prstGeom>
        </p:spPr>
        <p:txBody>
          <a:bodyPr lIns="0" tIns="0" rIns="0" bIns="0" rtlCol="0" anchor="t">
            <a:spAutoFit/>
          </a:bodyPr>
          <a:lstStyle/>
          <a:p>
            <a:pPr algn="l">
              <a:lnSpc>
                <a:spcPts val="4060"/>
              </a:lnSpc>
            </a:pPr>
            <a:r>
              <a:rPr lang="en-US" sz="2900" spc="-115">
                <a:solidFill>
                  <a:srgbClr val="F3DD52"/>
                </a:solidFill>
                <a:latin typeface="Poppins" panose="00000500000000000000"/>
                <a:ea typeface="Poppins" panose="00000500000000000000"/>
                <a:cs typeface="Poppins" panose="00000500000000000000"/>
                <a:sym typeface="Poppins" panose="00000500000000000000"/>
              </a:rPr>
              <a:t>Disadvantages</a:t>
            </a:r>
            <a:endParaRPr lang="en-US" sz="2900" spc="-115">
              <a:solidFill>
                <a:srgbClr val="F3DD52"/>
              </a:solidFill>
              <a:latin typeface="Poppins" panose="00000500000000000000"/>
              <a:ea typeface="Poppins" panose="00000500000000000000"/>
              <a:cs typeface="Poppins" panose="00000500000000000000"/>
              <a:sym typeface="Poppins" panose="00000500000000000000"/>
            </a:endParaRPr>
          </a:p>
          <a:p>
            <a:pPr algn="l">
              <a:lnSpc>
                <a:spcPts val="4060"/>
              </a:lnSpc>
            </a:pPr>
          </a:p>
        </p:txBody>
      </p:sp>
      <p:sp>
        <p:nvSpPr>
          <p:cNvPr id="15" name="TextBox 15"/>
          <p:cNvSpPr txBox="1"/>
          <p:nvPr/>
        </p:nvSpPr>
        <p:spPr>
          <a:xfrm>
            <a:off x="13900091" y="6840638"/>
            <a:ext cx="4387909" cy="2911149"/>
          </a:xfrm>
          <a:prstGeom prst="rect">
            <a:avLst/>
          </a:prstGeom>
        </p:spPr>
        <p:txBody>
          <a:bodyPr lIns="0" tIns="0" rIns="0" bIns="0" rtlCol="0" anchor="t">
            <a:spAutoFit/>
          </a:bodyPr>
          <a:lstStyle/>
          <a:p>
            <a:pPr marL="518160" lvl="1" indent="-259080" algn="ctr">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Count</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er/nonce must be unique and never repeated.</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ctr">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Implementation must be careful to avoid nonce reuse.</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ctr">
              <a:lnSpc>
                <a:spcPts val="3360"/>
              </a:lnSpc>
            </a:pPr>
          </a:p>
        </p:txBody>
      </p:sp>
      <p:sp>
        <p:nvSpPr>
          <p:cNvPr id="16" name="TextBox 16"/>
          <p:cNvSpPr txBox="1"/>
          <p:nvPr/>
        </p:nvSpPr>
        <p:spPr>
          <a:xfrm>
            <a:off x="8858246" y="6840638"/>
            <a:ext cx="5475068" cy="2910377"/>
          </a:xfrm>
          <a:prstGeom prst="rect">
            <a:avLst/>
          </a:prstGeom>
        </p:spPr>
        <p:txBody>
          <a:bodyPr lIns="0" tIns="0" rIns="0" bIns="0" rtlCol="0" anchor="t">
            <a:spAutoFit/>
          </a:bodyPr>
          <a:lstStyle/>
          <a:p>
            <a:pPr marL="518160" lvl="1" indent="-259080" algn="ctr">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Highly parallelizable — fast for encryption and decrypti</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ctr">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Works well for streaming and high-per</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form</a:t>
            </a:r>
            <a:r>
              <a:rPr lang="en-US" sz="2400">
                <a:solidFill>
                  <a:srgbClr val="FFFFFF"/>
                </a:solidFill>
                <a:latin typeface="Canva Sans" panose="020B0503030501040103"/>
                <a:ea typeface="Canva Sans" panose="020B0503030501040103"/>
                <a:cs typeface="Canva Sans" panose="020B0503030501040103"/>
                <a:sym typeface="Canva Sans" panose="020B0503030501040103"/>
              </a:rPr>
              <a:t>ance systems.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marL="518160" lvl="1" indent="-259080" algn="ctr">
              <a:lnSpc>
                <a:spcPts val="3360"/>
              </a:lnSpc>
              <a:buFont typeface="Arial" panose="020B0604020202020204"/>
              <a:buChar char="•"/>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Error in one block doesn’t affect others.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ctr">
              <a:lnSpc>
                <a:spcPts val="3360"/>
              </a:lnSpc>
            </a:pP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2542650">
            <a:off x="-240430" y="-5114540"/>
            <a:ext cx="14220834" cy="14203058"/>
          </a:xfrm>
          <a:custGeom>
            <a:avLst/>
            <a:gdLst/>
            <a:ahLst/>
            <a:cxnLst/>
            <a:rect l="l" t="t" r="r" b="b"/>
            <a:pathLst>
              <a:path w="14220834" h="14203058">
                <a:moveTo>
                  <a:pt x="0" y="0"/>
                </a:moveTo>
                <a:lnTo>
                  <a:pt x="14220834" y="0"/>
                </a:lnTo>
                <a:lnTo>
                  <a:pt x="14220834" y="14203058"/>
                </a:lnTo>
                <a:lnTo>
                  <a:pt x="0" y="14203058"/>
                </a:lnTo>
                <a:lnTo>
                  <a:pt x="0" y="0"/>
                </a:lnTo>
                <a:close/>
              </a:path>
            </a:pathLst>
          </a:custGeom>
          <a:blipFill>
            <a:blip r:embed="rId1"/>
            <a:stretch>
              <a:fillRect/>
            </a:stretch>
          </a:blipFill>
        </p:spPr>
      </p:sp>
      <p:sp>
        <p:nvSpPr>
          <p:cNvPr id="3" name="Freeform 3"/>
          <p:cNvSpPr/>
          <p:nvPr/>
        </p:nvSpPr>
        <p:spPr>
          <a:xfrm rot="2830136">
            <a:off x="9279723" y="3108245"/>
            <a:ext cx="10589272" cy="11265182"/>
          </a:xfrm>
          <a:custGeom>
            <a:avLst/>
            <a:gdLst/>
            <a:ahLst/>
            <a:cxnLst/>
            <a:rect l="l" t="t" r="r" b="b"/>
            <a:pathLst>
              <a:path w="10589272" h="11265182">
                <a:moveTo>
                  <a:pt x="0" y="0"/>
                </a:moveTo>
                <a:lnTo>
                  <a:pt x="10589272" y="0"/>
                </a:lnTo>
                <a:lnTo>
                  <a:pt x="10589272" y="11265183"/>
                </a:lnTo>
                <a:lnTo>
                  <a:pt x="0" y="11265183"/>
                </a:lnTo>
                <a:lnTo>
                  <a:pt x="0" y="0"/>
                </a:lnTo>
                <a:close/>
              </a:path>
            </a:pathLst>
          </a:custGeom>
          <a:blipFill>
            <a:blip r:embed="rId2">
              <a:alphaModFix amt="55000"/>
            </a:blip>
            <a:stretch>
              <a:fillRect/>
            </a:stretch>
          </a:blipFill>
        </p:spPr>
      </p:sp>
      <p:sp>
        <p:nvSpPr>
          <p:cNvPr id="4" name="Freeform 4"/>
          <p:cNvSpPr/>
          <p:nvPr/>
        </p:nvSpPr>
        <p:spPr>
          <a:xfrm rot="-7047732">
            <a:off x="-1468572" y="-1385245"/>
            <a:ext cx="10589272" cy="11265182"/>
          </a:xfrm>
          <a:custGeom>
            <a:avLst/>
            <a:gdLst/>
            <a:ahLst/>
            <a:cxnLst/>
            <a:rect l="l" t="t" r="r" b="b"/>
            <a:pathLst>
              <a:path w="10589272" h="11265182">
                <a:moveTo>
                  <a:pt x="0" y="0"/>
                </a:moveTo>
                <a:lnTo>
                  <a:pt x="10589272" y="0"/>
                </a:lnTo>
                <a:lnTo>
                  <a:pt x="10589272" y="11265182"/>
                </a:lnTo>
                <a:lnTo>
                  <a:pt x="0" y="11265182"/>
                </a:lnTo>
                <a:lnTo>
                  <a:pt x="0" y="0"/>
                </a:lnTo>
                <a:close/>
              </a:path>
            </a:pathLst>
          </a:custGeom>
          <a:blipFill>
            <a:blip r:embed="rId2">
              <a:alphaModFix amt="55000"/>
            </a:blip>
            <a:stretch>
              <a:fillRect/>
            </a:stretch>
          </a:blipFill>
        </p:spPr>
      </p:sp>
      <p:sp>
        <p:nvSpPr>
          <p:cNvPr id="5" name="Freeform 5"/>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rot="0">
            <a:off x="1327236" y="3961116"/>
            <a:ext cx="15581877" cy="5010954"/>
            <a:chOff x="0" y="0"/>
            <a:chExt cx="2527453" cy="812800"/>
          </a:xfrm>
        </p:grpSpPr>
        <p:sp>
          <p:nvSpPr>
            <p:cNvPr id="7" name="Freeform 7"/>
            <p:cNvSpPr/>
            <p:nvPr/>
          </p:nvSpPr>
          <p:spPr>
            <a:xfrm>
              <a:off x="0" y="0"/>
              <a:ext cx="2527453" cy="812800"/>
            </a:xfrm>
            <a:custGeom>
              <a:avLst/>
              <a:gdLst/>
              <a:ahLst/>
              <a:cxnLst/>
              <a:rect l="l" t="t" r="r" b="b"/>
              <a:pathLst>
                <a:path w="2527453" h="812800">
                  <a:moveTo>
                    <a:pt x="11428" y="0"/>
                  </a:moveTo>
                  <a:lnTo>
                    <a:pt x="2516025" y="0"/>
                  </a:lnTo>
                  <a:cubicBezTo>
                    <a:pt x="2519056" y="0"/>
                    <a:pt x="2521963" y="1204"/>
                    <a:pt x="2524106" y="3347"/>
                  </a:cubicBezTo>
                  <a:cubicBezTo>
                    <a:pt x="2526249" y="5490"/>
                    <a:pt x="2527453" y="8397"/>
                    <a:pt x="2527453" y="11428"/>
                  </a:cubicBezTo>
                  <a:lnTo>
                    <a:pt x="2527453" y="801372"/>
                  </a:lnTo>
                  <a:cubicBezTo>
                    <a:pt x="2527453" y="807684"/>
                    <a:pt x="2522336" y="812800"/>
                    <a:pt x="2516025" y="812800"/>
                  </a:cubicBezTo>
                  <a:lnTo>
                    <a:pt x="11428" y="812800"/>
                  </a:lnTo>
                  <a:cubicBezTo>
                    <a:pt x="5116" y="812800"/>
                    <a:pt x="0" y="807684"/>
                    <a:pt x="0" y="801372"/>
                  </a:cubicBezTo>
                  <a:lnTo>
                    <a:pt x="0" y="11428"/>
                  </a:lnTo>
                  <a:cubicBezTo>
                    <a:pt x="0" y="5116"/>
                    <a:pt x="5116" y="0"/>
                    <a:pt x="11428" y="0"/>
                  </a:cubicBezTo>
                  <a:close/>
                </a:path>
              </a:pathLst>
            </a:custGeom>
            <a:blipFill>
              <a:blip r:embed="rId5"/>
              <a:stretch>
                <a:fillRect l="-1119" r="-1119"/>
              </a:stretch>
            </a:blipFill>
          </p:spPr>
        </p:sp>
      </p:grpSp>
      <p:sp>
        <p:nvSpPr>
          <p:cNvPr id="8" name="TextBox 8"/>
          <p:cNvSpPr txBox="1"/>
          <p:nvPr/>
        </p:nvSpPr>
        <p:spPr>
          <a:xfrm>
            <a:off x="1028700" y="1525850"/>
            <a:ext cx="8932293" cy="1547832"/>
          </a:xfrm>
          <a:prstGeom prst="rect">
            <a:avLst/>
          </a:prstGeom>
        </p:spPr>
        <p:txBody>
          <a:bodyPr lIns="0" tIns="0" rIns="0" bIns="0" rtlCol="0" anchor="t">
            <a:spAutoFit/>
          </a:bodyPr>
          <a:lstStyle/>
          <a:p>
            <a:pPr algn="l">
              <a:lnSpc>
                <a:spcPts val="9585"/>
              </a:lnSpc>
            </a:pPr>
            <a:r>
              <a:rPr lang="en-US" sz="9585" spc="-383">
                <a:solidFill>
                  <a:srgbClr val="F6F6F6"/>
                </a:solidFill>
                <a:latin typeface="Agrandir" panose="00000500000000000000"/>
                <a:ea typeface="Agrandir" panose="00000500000000000000"/>
                <a:cs typeface="Agrandir" panose="00000500000000000000"/>
                <a:sym typeface="Agrandir" panose="00000500000000000000"/>
              </a:rPr>
              <a:t>comprsion</a:t>
            </a:r>
            <a:endParaRPr lang="en-US" sz="9585" spc="-383">
              <a:solidFill>
                <a:srgbClr val="F6F6F6"/>
              </a:solidFill>
              <a:latin typeface="Agrandir" panose="00000500000000000000"/>
              <a:ea typeface="Agrandir" panose="00000500000000000000"/>
              <a:cs typeface="Agrandir" panose="00000500000000000000"/>
              <a:sym typeface="Agrandir" panose="00000500000000000000"/>
            </a:endParaRPr>
          </a:p>
        </p:txBody>
      </p:sp>
      <p:sp>
        <p:nvSpPr>
          <p:cNvPr id="9" name="TextBox 9"/>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2542650">
            <a:off x="-240430" y="-5114540"/>
            <a:ext cx="14220834" cy="14203058"/>
          </a:xfrm>
          <a:custGeom>
            <a:avLst/>
            <a:gdLst/>
            <a:ahLst/>
            <a:cxnLst/>
            <a:rect l="l" t="t" r="r" b="b"/>
            <a:pathLst>
              <a:path w="14220834" h="14203058">
                <a:moveTo>
                  <a:pt x="0" y="0"/>
                </a:moveTo>
                <a:lnTo>
                  <a:pt x="14220834" y="0"/>
                </a:lnTo>
                <a:lnTo>
                  <a:pt x="14220834" y="14203058"/>
                </a:lnTo>
                <a:lnTo>
                  <a:pt x="0" y="14203058"/>
                </a:lnTo>
                <a:lnTo>
                  <a:pt x="0" y="0"/>
                </a:lnTo>
                <a:close/>
              </a:path>
            </a:pathLst>
          </a:custGeom>
          <a:blipFill>
            <a:blip r:embed="rId1"/>
            <a:stretch>
              <a:fillRect/>
            </a:stretch>
          </a:blipFill>
        </p:spPr>
      </p:sp>
      <p:sp>
        <p:nvSpPr>
          <p:cNvPr id="3" name="Freeform 3"/>
          <p:cNvSpPr/>
          <p:nvPr/>
        </p:nvSpPr>
        <p:spPr>
          <a:xfrm rot="2830136">
            <a:off x="9279723" y="3108245"/>
            <a:ext cx="10589272" cy="11265182"/>
          </a:xfrm>
          <a:custGeom>
            <a:avLst/>
            <a:gdLst/>
            <a:ahLst/>
            <a:cxnLst/>
            <a:rect l="l" t="t" r="r" b="b"/>
            <a:pathLst>
              <a:path w="10589272" h="11265182">
                <a:moveTo>
                  <a:pt x="0" y="0"/>
                </a:moveTo>
                <a:lnTo>
                  <a:pt x="10589272" y="0"/>
                </a:lnTo>
                <a:lnTo>
                  <a:pt x="10589272" y="11265183"/>
                </a:lnTo>
                <a:lnTo>
                  <a:pt x="0" y="11265183"/>
                </a:lnTo>
                <a:lnTo>
                  <a:pt x="0" y="0"/>
                </a:lnTo>
                <a:close/>
              </a:path>
            </a:pathLst>
          </a:custGeom>
          <a:blipFill>
            <a:blip r:embed="rId2">
              <a:alphaModFix amt="55000"/>
            </a:blip>
            <a:stretch>
              <a:fillRect/>
            </a:stretch>
          </a:blipFill>
        </p:spPr>
      </p:sp>
      <p:sp>
        <p:nvSpPr>
          <p:cNvPr id="4" name="Freeform 4"/>
          <p:cNvSpPr/>
          <p:nvPr/>
        </p:nvSpPr>
        <p:spPr>
          <a:xfrm rot="-7047732">
            <a:off x="-1468572" y="-1385245"/>
            <a:ext cx="10589272" cy="11265182"/>
          </a:xfrm>
          <a:custGeom>
            <a:avLst/>
            <a:gdLst/>
            <a:ahLst/>
            <a:cxnLst/>
            <a:rect l="l" t="t" r="r" b="b"/>
            <a:pathLst>
              <a:path w="10589272" h="11265182">
                <a:moveTo>
                  <a:pt x="0" y="0"/>
                </a:moveTo>
                <a:lnTo>
                  <a:pt x="10589272" y="0"/>
                </a:lnTo>
                <a:lnTo>
                  <a:pt x="10589272" y="11265182"/>
                </a:lnTo>
                <a:lnTo>
                  <a:pt x="0" y="11265182"/>
                </a:lnTo>
                <a:lnTo>
                  <a:pt x="0" y="0"/>
                </a:lnTo>
                <a:close/>
              </a:path>
            </a:pathLst>
          </a:custGeom>
          <a:blipFill>
            <a:blip r:embed="rId2">
              <a:alphaModFix amt="55000"/>
            </a:blip>
            <a:stretch>
              <a:fillRect/>
            </a:stretch>
          </a:blipFill>
        </p:spPr>
      </p:sp>
      <p:sp>
        <p:nvSpPr>
          <p:cNvPr id="5" name="Freeform 5"/>
          <p:cNvSpPr/>
          <p:nvPr/>
        </p:nvSpPr>
        <p:spPr>
          <a:xfrm>
            <a:off x="1028700" y="552450"/>
            <a:ext cx="635923" cy="465958"/>
          </a:xfrm>
          <a:custGeom>
            <a:avLst/>
            <a:gdLst/>
            <a:ahLst/>
            <a:cxnLst/>
            <a:rect l="l" t="t" r="r" b="b"/>
            <a:pathLst>
              <a:path w="635923" h="465958">
                <a:moveTo>
                  <a:pt x="0" y="0"/>
                </a:moveTo>
                <a:lnTo>
                  <a:pt x="635923" y="0"/>
                </a:lnTo>
                <a:lnTo>
                  <a:pt x="635923" y="465958"/>
                </a:lnTo>
                <a:lnTo>
                  <a:pt x="0" y="4659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028700" y="1525899"/>
            <a:ext cx="8932293" cy="1547783"/>
          </a:xfrm>
          <a:prstGeom prst="rect">
            <a:avLst/>
          </a:prstGeom>
        </p:spPr>
        <p:txBody>
          <a:bodyPr lIns="0" tIns="0" rIns="0" bIns="0" rtlCol="0" anchor="t">
            <a:spAutoFit/>
          </a:bodyPr>
          <a:lstStyle/>
          <a:p>
            <a:pPr algn="l">
              <a:lnSpc>
                <a:spcPts val="9585"/>
              </a:lnSpc>
            </a:pPr>
            <a:r>
              <a:rPr lang="en-US" sz="9585" spc="-383">
                <a:solidFill>
                  <a:srgbClr val="F6F6F6"/>
                </a:solidFill>
                <a:latin typeface="Agrandir" panose="00000500000000000000"/>
                <a:ea typeface="Agrandir" panose="00000500000000000000"/>
                <a:cs typeface="Agrandir" panose="00000500000000000000"/>
                <a:sym typeface="Agrandir" panose="00000500000000000000"/>
              </a:rPr>
              <a:t> Conclusion:</a:t>
            </a:r>
            <a:endParaRPr lang="en-US" sz="9585" spc="-383">
              <a:solidFill>
                <a:srgbClr val="F6F6F6"/>
              </a:solidFill>
              <a:latin typeface="Agrandir" panose="00000500000000000000"/>
              <a:ea typeface="Agrandir" panose="00000500000000000000"/>
              <a:cs typeface="Agrandir" panose="00000500000000000000"/>
              <a:sym typeface="Agrandir" panose="00000500000000000000"/>
            </a:endParaRPr>
          </a:p>
        </p:txBody>
      </p:sp>
      <p:sp>
        <p:nvSpPr>
          <p:cNvPr id="7" name="TextBox 7"/>
          <p:cNvSpPr txBox="1"/>
          <p:nvPr/>
        </p:nvSpPr>
        <p:spPr>
          <a:xfrm>
            <a:off x="1914614" y="553449"/>
            <a:ext cx="2743397" cy="424815"/>
          </a:xfrm>
          <a:prstGeom prst="rect">
            <a:avLst/>
          </a:prstGeom>
        </p:spPr>
        <p:txBody>
          <a:bodyPr lIns="0" tIns="0" rIns="0" bIns="0" rtlCol="0" anchor="t">
            <a:spAutoFit/>
          </a:bodyPr>
          <a:lstStyle/>
          <a:p>
            <a:pPr algn="l">
              <a:lnSpc>
                <a:spcPts val="3360"/>
              </a:lnSpc>
            </a:pPr>
            <a:r>
              <a:rPr lang="en-US" sz="2400" spc="-95">
                <a:solidFill>
                  <a:srgbClr val="F6F6F6"/>
                </a:solidFill>
                <a:latin typeface="Poppins" panose="00000500000000000000"/>
                <a:ea typeface="Poppins" panose="00000500000000000000"/>
                <a:cs typeface="Poppins" panose="00000500000000000000"/>
                <a:sym typeface="Poppins" panose="00000500000000000000"/>
              </a:rPr>
              <a:t>Wardiere Inc.</a:t>
            </a:r>
            <a:endParaRPr lang="en-US" sz="2400" spc="-95">
              <a:solidFill>
                <a:srgbClr val="F6F6F6"/>
              </a:solidFill>
              <a:latin typeface="Poppins" panose="00000500000000000000"/>
              <a:ea typeface="Poppins" panose="00000500000000000000"/>
              <a:cs typeface="Poppins" panose="00000500000000000000"/>
              <a:sym typeface="Poppins" panose="00000500000000000000"/>
            </a:endParaRPr>
          </a:p>
        </p:txBody>
      </p:sp>
      <p:sp>
        <p:nvSpPr>
          <p:cNvPr id="8" name="TextBox 8"/>
          <p:cNvSpPr txBox="1"/>
          <p:nvPr/>
        </p:nvSpPr>
        <p:spPr>
          <a:xfrm>
            <a:off x="847165" y="3963079"/>
            <a:ext cx="15104494" cy="1220470"/>
          </a:xfrm>
          <a:prstGeom prst="rect">
            <a:avLst/>
          </a:prstGeom>
        </p:spPr>
        <p:txBody>
          <a:bodyPr lIns="0" tIns="0" rIns="0" bIns="0" rtlCol="0" anchor="t">
            <a:spAutoFit/>
          </a:bodyPr>
          <a:lstStyle/>
          <a:p>
            <a:pPr algn="ctr">
              <a:lnSpc>
                <a:spcPts val="4760"/>
              </a:lnSpc>
            </a:pPr>
            <a:r>
              <a:rPr lang="en-US" sz="3400">
                <a:solidFill>
                  <a:srgbClr val="F6F6F6"/>
                </a:solidFill>
                <a:latin typeface="Canva Sans" panose="020B0503030501040103"/>
                <a:ea typeface="Canva Sans" panose="020B0503030501040103"/>
                <a:cs typeface="Canva Sans" panose="020B0503030501040103"/>
                <a:sym typeface="Canva Sans" panose="020B0503030501040103"/>
              </a:rPr>
              <a:t>Each block cipher mo</a:t>
            </a:r>
            <a:r>
              <a:rPr lang="en-US" sz="3400">
                <a:solidFill>
                  <a:srgbClr val="F6F6F6"/>
                </a:solidFill>
                <a:latin typeface="Canva Sans" panose="020B0503030501040103"/>
                <a:ea typeface="Canva Sans" panose="020B0503030501040103"/>
                <a:cs typeface="Canva Sans" panose="020B0503030501040103"/>
                <a:sym typeface="Canva Sans" panose="020B0503030501040103"/>
              </a:rPr>
              <a:t>de changes how data is encrypted using the same base algorithm (like AES), but with different behaviors and use cases</a:t>
            </a:r>
            <a:endParaRPr lang="en-US" sz="3400">
              <a:solidFill>
                <a:srgbClr val="F6F6F6"/>
              </a:solidFill>
              <a:latin typeface="Canva Sans" panose="020B0503030501040103"/>
              <a:ea typeface="Canva Sans" panose="020B0503030501040103"/>
              <a:cs typeface="Canva Sans" panose="020B0503030501040103"/>
              <a:sym typeface="Canva Sans" panose="020B0503030501040103"/>
            </a:endParaRPr>
          </a:p>
        </p:txBody>
      </p:sp>
      <p:sp>
        <p:nvSpPr>
          <p:cNvPr id="9" name="TextBox 9"/>
          <p:cNvSpPr txBox="1"/>
          <p:nvPr/>
        </p:nvSpPr>
        <p:spPr>
          <a:xfrm>
            <a:off x="1346662" y="6355913"/>
            <a:ext cx="12066307" cy="2902387"/>
          </a:xfrm>
          <a:prstGeom prst="rect">
            <a:avLst/>
          </a:prstGeom>
        </p:spPr>
        <p:txBody>
          <a:bodyPr lIns="0" tIns="0" rIns="0" bIns="0" rtlCol="0" anchor="t">
            <a:spAutoFit/>
          </a:bodyPr>
          <a:lstStyle/>
          <a:p>
            <a:pPr algn="l">
              <a:lnSpc>
                <a:spcPts val="17960"/>
              </a:lnSpc>
            </a:pPr>
            <a:r>
              <a:rPr lang="en-US" sz="17960" spc="-718">
                <a:solidFill>
                  <a:srgbClr val="F6F6F6"/>
                </a:solidFill>
                <a:latin typeface="Agrandir" panose="00000500000000000000"/>
                <a:ea typeface="Agrandir" panose="00000500000000000000"/>
                <a:cs typeface="Agrandir" panose="00000500000000000000"/>
                <a:sym typeface="Agrandir" panose="00000500000000000000"/>
              </a:rPr>
              <a:t>Thank You</a:t>
            </a:r>
            <a:endParaRPr lang="en-US" sz="17960" spc="-718">
              <a:solidFill>
                <a:srgbClr val="F6F6F6"/>
              </a:solidFill>
              <a:latin typeface="Agrandir" panose="00000500000000000000"/>
              <a:ea typeface="Agrandir" panose="00000500000000000000"/>
              <a:cs typeface="Agrandir" panose="00000500000000000000"/>
              <a:sym typeface="Agrandir" panose="00000500000000000000"/>
            </a:endParaRPr>
          </a:p>
        </p:txBody>
      </p:sp>
    </p:spTree>
  </p:cSld>
  <p:clrMapOvr>
    <a:masterClrMapping/>
  </p:clrMapOvr>
  <p:transition>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2744</Words>
  <Application>WPS Slides</Application>
  <PresentationFormat>On-screen Show (4:3)</PresentationFormat>
  <Paragraphs>164</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Agrandir</vt:lpstr>
      <vt:lpstr>Poppins Bold</vt:lpstr>
      <vt:lpstr>Canva Sans Bold</vt:lpstr>
      <vt:lpstr>Arial</vt:lpstr>
      <vt:lpstr>Poppins</vt:lpstr>
      <vt:lpstr>Agrandir Bold</vt:lpstr>
      <vt:lpstr>Canva Sans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dc:title>
  <dc:creator/>
  <cp:lastModifiedBy>user</cp:lastModifiedBy>
  <cp:revision>2</cp:revision>
  <dcterms:created xsi:type="dcterms:W3CDTF">2006-08-16T00:00:00Z</dcterms:created>
  <dcterms:modified xsi:type="dcterms:W3CDTF">2025-05-04T09:17:12Z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9B22907F0AE14CC291807F7583943DCE_12</vt:lpwstr>
  </property>
  <property fmtid="{D5CDD505-2E9C-101B-9397-08002B2CF9AE}" pid="3" name="KSOProductBuildVer">
    <vt:lpwstr>1033-12.2.0.20795</vt:lpwstr>
  </property>
</Properties>
</file>