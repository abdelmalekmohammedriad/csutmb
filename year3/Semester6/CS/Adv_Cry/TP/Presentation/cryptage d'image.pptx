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6" r:id="rId8"/>
    <p:sldId id="262" r:id="rId9"/>
    <p:sldId id="267" r:id="rId10"/>
    <p:sldId id="263" r:id="rId11"/>
    <p:sldId id="268" r:id="rId12"/>
    <p:sldId id="264" r:id="rId13"/>
    <p:sldId id="265" r:id="rId14"/>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Montserrat" panose="00000500000000000000" pitchFamily="2" charset="0"/>
      <p:regular r:id="rId20"/>
      <p:bold r:id="rId21"/>
      <p:italic r:id="rId22"/>
      <p:boldItalic r:id="rId23"/>
    </p:embeddedFont>
    <p:embeddedFont>
      <p:font typeface="Montserrat Bold" panose="00000800000000000000" charset="0"/>
      <p:regular r:id="rId24"/>
    </p:embeddedFont>
    <p:embeddedFont>
      <p:font typeface="Open Sauce Bold" panose="020B0604020202020204" charset="0"/>
      <p:regular r:id="rId25"/>
    </p:embeddedFont>
    <p:embeddedFont>
      <p:font typeface="Open Sauce Light"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470"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D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907AF-71C8-4574-953C-F59459674298}" type="datetimeFigureOut">
              <a:rPr lang="fr-DZ" smtClean="0"/>
              <a:t>26/04/2025</a:t>
            </a:fld>
            <a:endParaRPr lang="fr-D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D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D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D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F932D-0776-4BEC-BE3A-5D0CF580823A}" type="slidenum">
              <a:rPr lang="fr-DZ" smtClean="0"/>
              <a:t>‹#›</a:t>
            </a:fld>
            <a:endParaRPr lang="fr-DZ"/>
          </a:p>
        </p:txBody>
      </p:sp>
    </p:spTree>
    <p:extLst>
      <p:ext uri="{BB962C8B-B14F-4D97-AF65-F5344CB8AC3E}">
        <p14:creationId xmlns:p14="http://schemas.microsoft.com/office/powerpoint/2010/main" val="9530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DZ" dirty="0"/>
          </a:p>
        </p:txBody>
      </p:sp>
      <p:sp>
        <p:nvSpPr>
          <p:cNvPr id="4" name="Slide Number Placeholder 3"/>
          <p:cNvSpPr>
            <a:spLocks noGrp="1"/>
          </p:cNvSpPr>
          <p:nvPr>
            <p:ph type="sldNum" sz="quarter" idx="5"/>
          </p:nvPr>
        </p:nvSpPr>
        <p:spPr/>
        <p:txBody>
          <a:bodyPr/>
          <a:lstStyle/>
          <a:p>
            <a:fld id="{EE5F932D-0776-4BEC-BE3A-5D0CF580823A}" type="slidenum">
              <a:rPr lang="fr-DZ" smtClean="0"/>
              <a:t>9</a:t>
            </a:fld>
            <a:endParaRPr lang="fr-DZ"/>
          </a:p>
        </p:txBody>
      </p:sp>
    </p:spTree>
    <p:extLst>
      <p:ext uri="{BB962C8B-B14F-4D97-AF65-F5344CB8AC3E}">
        <p14:creationId xmlns:p14="http://schemas.microsoft.com/office/powerpoint/2010/main" val="379691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DZ" dirty="0"/>
          </a:p>
        </p:txBody>
      </p:sp>
      <p:sp>
        <p:nvSpPr>
          <p:cNvPr id="4" name="Slide Number Placeholder 3"/>
          <p:cNvSpPr>
            <a:spLocks noGrp="1"/>
          </p:cNvSpPr>
          <p:nvPr>
            <p:ph type="sldNum" sz="quarter" idx="5"/>
          </p:nvPr>
        </p:nvSpPr>
        <p:spPr/>
        <p:txBody>
          <a:bodyPr/>
          <a:lstStyle/>
          <a:p>
            <a:fld id="{EE5F932D-0776-4BEC-BE3A-5D0CF580823A}" type="slidenum">
              <a:rPr lang="fr-DZ" smtClean="0"/>
              <a:t>11</a:t>
            </a:fld>
            <a:endParaRPr lang="fr-DZ"/>
          </a:p>
        </p:txBody>
      </p:sp>
    </p:spTree>
    <p:extLst>
      <p:ext uri="{BB962C8B-B14F-4D97-AF65-F5344CB8AC3E}">
        <p14:creationId xmlns:p14="http://schemas.microsoft.com/office/powerpoint/2010/main" val="378179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5612436">
            <a:off x="9539567" y="-260046"/>
            <a:ext cx="9268253" cy="10413768"/>
          </a:xfrm>
          <a:custGeom>
            <a:avLst/>
            <a:gdLst/>
            <a:ahLst/>
            <a:cxnLst/>
            <a:rect l="l" t="t" r="r" b="b"/>
            <a:pathLst>
              <a:path w="9268253" h="10413768">
                <a:moveTo>
                  <a:pt x="0" y="0"/>
                </a:moveTo>
                <a:lnTo>
                  <a:pt x="9268253" y="0"/>
                </a:lnTo>
                <a:lnTo>
                  <a:pt x="9268253" y="10413768"/>
                </a:lnTo>
                <a:lnTo>
                  <a:pt x="0" y="10413768"/>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a:solidFill>
                  <a:srgbClr val="FFFFFF"/>
                </a:solidFill>
                <a:latin typeface="Montserrat Bold"/>
                <a:ea typeface="Montserrat Bold"/>
                <a:cs typeface="Montserrat Bold"/>
                <a:sym typeface="Montserrat Bold"/>
              </a:rPr>
              <a:t>Page 01</a:t>
            </a:r>
          </a:p>
        </p:txBody>
      </p:sp>
      <p:sp>
        <p:nvSpPr>
          <p:cNvPr id="7" name="TextBox 7"/>
          <p:cNvSpPr txBox="1"/>
          <p:nvPr/>
        </p:nvSpPr>
        <p:spPr>
          <a:xfrm>
            <a:off x="1028700" y="3660233"/>
            <a:ext cx="9469998" cy="3999769"/>
          </a:xfrm>
          <a:prstGeom prst="rect">
            <a:avLst/>
          </a:prstGeom>
        </p:spPr>
        <p:txBody>
          <a:bodyPr lIns="0" tIns="0" rIns="0" bIns="0" rtlCol="0" anchor="t">
            <a:spAutoFit/>
          </a:bodyPr>
          <a:lstStyle/>
          <a:p>
            <a:pPr algn="l">
              <a:lnSpc>
                <a:spcPts val="15580"/>
              </a:lnSpc>
            </a:pPr>
            <a:r>
              <a:rPr lang="en-US" sz="14838" spc="-756" dirty="0">
                <a:solidFill>
                  <a:srgbClr val="FFFFFF"/>
                </a:solidFill>
                <a:latin typeface="Open Sauce Light"/>
                <a:ea typeface="Open Sauce Light"/>
                <a:cs typeface="Open Sauce Light"/>
                <a:sym typeface="Open Sauce Light"/>
              </a:rPr>
              <a:t>CRYPTAGE D’IMAGE</a:t>
            </a:r>
          </a:p>
        </p:txBody>
      </p:sp>
      <p:sp>
        <p:nvSpPr>
          <p:cNvPr id="8" name="TextBox 8"/>
          <p:cNvSpPr txBox="1"/>
          <p:nvPr/>
        </p:nvSpPr>
        <p:spPr>
          <a:xfrm>
            <a:off x="1028700" y="1976812"/>
            <a:ext cx="6330332" cy="523633"/>
          </a:xfrm>
          <a:prstGeom prst="rect">
            <a:avLst/>
          </a:prstGeom>
        </p:spPr>
        <p:txBody>
          <a:bodyPr lIns="0" tIns="0" rIns="0" bIns="0" rtlCol="0" anchor="t">
            <a:spAutoFit/>
          </a:bodyPr>
          <a:lstStyle/>
          <a:p>
            <a:pPr algn="l">
              <a:lnSpc>
                <a:spcPts val="3959"/>
              </a:lnSpc>
            </a:pPr>
            <a:r>
              <a:rPr lang="en-US" sz="3771" spc="-192" dirty="0">
                <a:solidFill>
                  <a:srgbClr val="FFFFFF"/>
                </a:solidFill>
                <a:latin typeface="Open Sauce Light"/>
                <a:ea typeface="Open Sauce Light"/>
                <a:cs typeface="Open Sauce Light"/>
                <a:sym typeface="Open Sauce Light"/>
              </a:rPr>
              <a:t>Protecting the Digital World</a:t>
            </a:r>
          </a:p>
        </p:txBody>
      </p:sp>
      <p:pic>
        <p:nvPicPr>
          <p:cNvPr id="12" name="Picture 11">
            <a:extLst>
              <a:ext uri="{FF2B5EF4-FFF2-40B4-BE49-F238E27FC236}">
                <a16:creationId xmlns:a16="http://schemas.microsoft.com/office/drawing/2014/main" id="{EA4387EC-E48A-4F44-B8C0-7A620226F2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7169" y="5486566"/>
            <a:ext cx="6981900" cy="434687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grpSp>
        <p:nvGrpSpPr>
          <p:cNvPr id="2" name="Group 2"/>
          <p:cNvGrpSpPr/>
          <p:nvPr/>
        </p:nvGrpSpPr>
        <p:grpSpPr>
          <a:xfrm>
            <a:off x="15677399" y="672397"/>
            <a:ext cx="1861136" cy="551650"/>
            <a:chOff x="0" y="0"/>
            <a:chExt cx="490176" cy="145291"/>
          </a:xfrm>
        </p:grpSpPr>
        <p:sp>
          <p:nvSpPr>
            <p:cNvPr id="3" name="Freeform 3"/>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4" name="TextBox 4"/>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a:solidFill>
                  <a:srgbClr val="FFFFFF"/>
                </a:solidFill>
                <a:latin typeface="Montserrat Bold"/>
                <a:ea typeface="Montserrat Bold"/>
                <a:cs typeface="Montserrat Bold"/>
                <a:sym typeface="Montserrat Bold"/>
              </a:rPr>
              <a:t>Page 02</a:t>
            </a:r>
          </a:p>
        </p:txBody>
      </p:sp>
      <p:sp>
        <p:nvSpPr>
          <p:cNvPr id="6" name="Freeform 6"/>
          <p:cNvSpPr/>
          <p:nvPr/>
        </p:nvSpPr>
        <p:spPr>
          <a:xfrm rot="6188040">
            <a:off x="5259943" y="-190463"/>
            <a:ext cx="8359905" cy="9393152"/>
          </a:xfrm>
          <a:custGeom>
            <a:avLst/>
            <a:gdLst/>
            <a:ahLst/>
            <a:cxnLst/>
            <a:rect l="l" t="t" r="r" b="b"/>
            <a:pathLst>
              <a:path w="8359905" h="9393152">
                <a:moveTo>
                  <a:pt x="0" y="0"/>
                </a:moveTo>
                <a:lnTo>
                  <a:pt x="8359905" y="0"/>
                </a:lnTo>
                <a:lnTo>
                  <a:pt x="8359905" y="9393152"/>
                </a:lnTo>
                <a:lnTo>
                  <a:pt x="0" y="9393152"/>
                </a:lnTo>
                <a:lnTo>
                  <a:pt x="0" y="0"/>
                </a:lnTo>
                <a:close/>
              </a:path>
            </a:pathLst>
          </a:custGeom>
          <a:blipFill>
            <a:blip r:embed="rId2"/>
            <a:stretch>
              <a:fillRect/>
            </a:stretch>
          </a:blipFill>
        </p:spPr>
      </p:sp>
      <p:sp>
        <p:nvSpPr>
          <p:cNvPr id="7" name="TextBox 7"/>
          <p:cNvSpPr txBox="1"/>
          <p:nvPr/>
        </p:nvSpPr>
        <p:spPr>
          <a:xfrm>
            <a:off x="-479473" y="1209675"/>
            <a:ext cx="10788623" cy="1703362"/>
          </a:xfrm>
          <a:prstGeom prst="rect">
            <a:avLst/>
          </a:prstGeom>
        </p:spPr>
        <p:txBody>
          <a:bodyPr lIns="0" tIns="0" rIns="0" bIns="0" rtlCol="0" anchor="t">
            <a:spAutoFit/>
          </a:bodyPr>
          <a:lstStyle/>
          <a:p>
            <a:pPr marL="2682071" lvl="1" indent="-1341036" algn="l">
              <a:lnSpc>
                <a:spcPts val="13043"/>
              </a:lnSpc>
              <a:buAutoNum type="arabicPeriod"/>
            </a:pPr>
            <a:r>
              <a:rPr lang="en-US" sz="12422" spc="-633" dirty="0">
                <a:solidFill>
                  <a:srgbClr val="FFFFFF"/>
                </a:solidFill>
                <a:latin typeface="Open Sauce Light"/>
                <a:ea typeface="Open Sauce Light"/>
                <a:cs typeface="Open Sauce Light"/>
                <a:sym typeface="Open Sauce Light"/>
              </a:rPr>
              <a:t>Introduction</a:t>
            </a:r>
          </a:p>
        </p:txBody>
      </p:sp>
      <p:sp>
        <p:nvSpPr>
          <p:cNvPr id="9" name="Rectangle 1">
            <a:extLst>
              <a:ext uri="{FF2B5EF4-FFF2-40B4-BE49-F238E27FC236}">
                <a16:creationId xmlns:a16="http://schemas.microsoft.com/office/drawing/2014/main" id="{55EFB8DA-B678-4E80-9442-CBA0B330501D}"/>
              </a:ext>
            </a:extLst>
          </p:cNvPr>
          <p:cNvSpPr>
            <a:spLocks noChangeArrowheads="1"/>
          </p:cNvSpPr>
          <p:nvPr/>
        </p:nvSpPr>
        <p:spPr bwMode="auto">
          <a:xfrm>
            <a:off x="1600200" y="3453943"/>
            <a:ext cx="1253038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2800" b="0" i="0" u="none" strike="noStrike" cap="none" normalizeH="0" baseline="0" dirty="0">
                <a:ln>
                  <a:noFill/>
                </a:ln>
                <a:solidFill>
                  <a:schemeClr val="bg1"/>
                </a:solidFill>
                <a:effectLst/>
                <a:latin typeface="Montserrat" panose="00000500000000000000" pitchFamily="2" charset="0"/>
              </a:rPr>
              <a:t>À l'ère de l'information, les images sont devenues une partie essentielle de notre communication quotidienne. Cependant, l'énorme volume de données et les transactions numériques rendent la protection de ces images cruciale.</a:t>
            </a:r>
            <a:br>
              <a:rPr kumimoji="0" lang="fr-DZ" altLang="fr-DZ" sz="2800" b="0" i="0" u="none" strike="noStrike" cap="none" normalizeH="0" baseline="0" dirty="0">
                <a:ln>
                  <a:noFill/>
                </a:ln>
                <a:solidFill>
                  <a:schemeClr val="bg1"/>
                </a:solidFill>
                <a:effectLst/>
                <a:latin typeface="Montserrat" panose="00000500000000000000" pitchFamily="2" charset="0"/>
              </a:rPr>
            </a:br>
            <a:r>
              <a:rPr kumimoji="0" lang="fr-DZ" altLang="fr-DZ" sz="2800" b="0" i="0" u="none" strike="noStrike" cap="none" normalizeH="0" baseline="0" dirty="0">
                <a:ln>
                  <a:noFill/>
                </a:ln>
                <a:solidFill>
                  <a:schemeClr val="bg1"/>
                </a:solidFill>
                <a:effectLst/>
                <a:latin typeface="Montserrat" panose="00000500000000000000" pitchFamily="2" charset="0"/>
              </a:rPr>
              <a:t>Le </a:t>
            </a:r>
            <a:r>
              <a:rPr kumimoji="0" lang="fr-DZ" altLang="fr-DZ" sz="2800" i="0" u="none" strike="noStrike" cap="none" normalizeH="0" baseline="0" dirty="0">
                <a:ln>
                  <a:noFill/>
                </a:ln>
                <a:solidFill>
                  <a:schemeClr val="bg1"/>
                </a:solidFill>
                <a:effectLst/>
                <a:latin typeface="Montserrat" panose="00000500000000000000" pitchFamily="2" charset="0"/>
              </a:rPr>
              <a:t>cryptage d'images </a:t>
            </a:r>
            <a:r>
              <a:rPr kumimoji="0" lang="fr-DZ" altLang="fr-DZ" sz="2800" b="0" i="0" u="none" strike="noStrike" cap="none" normalizeH="0" baseline="0" dirty="0">
                <a:ln>
                  <a:noFill/>
                </a:ln>
                <a:solidFill>
                  <a:schemeClr val="bg1"/>
                </a:solidFill>
                <a:effectLst/>
                <a:latin typeface="Montserrat" panose="00000500000000000000" pitchFamily="2" charset="0"/>
              </a:rPr>
              <a:t>est un procédé sophistiqué qui transforme les images en un format illisible, sauf pour ceux qui possèdent la clé secrète, en utilisant des techniques mathématiques et chaotiques avancées.</a:t>
            </a:r>
            <a:br>
              <a:rPr kumimoji="0" lang="fr-DZ" altLang="fr-DZ" sz="2800" b="0" i="0" u="none" strike="noStrike" cap="none" normalizeH="0" baseline="0" dirty="0">
                <a:ln>
                  <a:noFill/>
                </a:ln>
                <a:solidFill>
                  <a:schemeClr val="bg1"/>
                </a:solidFill>
                <a:effectLst/>
                <a:latin typeface="Montserrat" panose="00000500000000000000" pitchFamily="2" charset="0"/>
              </a:rPr>
            </a:br>
            <a:r>
              <a:rPr kumimoji="0" lang="fr-DZ" altLang="fr-DZ" sz="2800" b="0" i="0" u="none" strike="noStrike" cap="none" normalizeH="0" baseline="0" dirty="0">
                <a:ln>
                  <a:noFill/>
                </a:ln>
                <a:solidFill>
                  <a:schemeClr val="bg1"/>
                </a:solidFill>
                <a:effectLst/>
                <a:latin typeface="Montserrat" panose="00000500000000000000" pitchFamily="2" charset="0"/>
              </a:rPr>
              <a:t>Ce cryptage assure non seulement la </a:t>
            </a:r>
            <a:r>
              <a:rPr kumimoji="0" lang="fr-DZ" altLang="fr-DZ" sz="2800" b="1" i="0" u="none" strike="noStrike" cap="none" normalizeH="0" baseline="0" dirty="0">
                <a:ln>
                  <a:noFill/>
                </a:ln>
                <a:solidFill>
                  <a:schemeClr val="bg1"/>
                </a:solidFill>
                <a:effectLst/>
                <a:latin typeface="Montserrat" panose="00000500000000000000" pitchFamily="2" charset="0"/>
              </a:rPr>
              <a:t>confidentialité</a:t>
            </a:r>
            <a:r>
              <a:rPr kumimoji="0" lang="fr-DZ" altLang="fr-DZ" sz="2800" b="0" i="0" u="none" strike="noStrike" cap="none" normalizeH="0" baseline="0" dirty="0">
                <a:ln>
                  <a:noFill/>
                </a:ln>
                <a:solidFill>
                  <a:schemeClr val="bg1"/>
                </a:solidFill>
                <a:effectLst/>
                <a:latin typeface="Montserrat" panose="00000500000000000000" pitchFamily="2" charset="0"/>
              </a:rPr>
              <a:t> des données, mais garantit également leur </a:t>
            </a:r>
            <a:r>
              <a:rPr kumimoji="0" lang="fr-DZ" altLang="fr-DZ" sz="2800" i="0" u="none" strike="noStrike" cap="none" normalizeH="0" baseline="0" dirty="0">
                <a:ln>
                  <a:noFill/>
                </a:ln>
                <a:solidFill>
                  <a:schemeClr val="bg1"/>
                </a:solidFill>
                <a:effectLst/>
                <a:latin typeface="Montserrat" panose="00000500000000000000" pitchFamily="2" charset="0"/>
              </a:rPr>
              <a:t>intégrité </a:t>
            </a:r>
            <a:r>
              <a:rPr kumimoji="0" lang="fr-DZ" altLang="fr-DZ" sz="2800" b="0" i="0" u="none" strike="noStrike" cap="none" normalizeH="0" baseline="0" dirty="0">
                <a:ln>
                  <a:noFill/>
                </a:ln>
                <a:solidFill>
                  <a:schemeClr val="bg1"/>
                </a:solidFill>
                <a:effectLst/>
                <a:latin typeface="Montserrat" panose="00000500000000000000" pitchFamily="2" charset="0"/>
              </a:rPr>
              <a:t>et protège contre tout accès non autorisé.</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2810933">
            <a:off x="9491575" y="1936510"/>
            <a:ext cx="10081613" cy="11327655"/>
          </a:xfrm>
          <a:custGeom>
            <a:avLst/>
            <a:gdLst/>
            <a:ahLst/>
            <a:cxnLst/>
            <a:rect l="l" t="t" r="r" b="b"/>
            <a:pathLst>
              <a:path w="10081613" h="11327655">
                <a:moveTo>
                  <a:pt x="0" y="0"/>
                </a:moveTo>
                <a:lnTo>
                  <a:pt x="10081613" y="0"/>
                </a:lnTo>
                <a:lnTo>
                  <a:pt x="10081613" y="11327655"/>
                </a:lnTo>
                <a:lnTo>
                  <a:pt x="0" y="11327655"/>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a:grpSpLocks noChangeAspect="1"/>
          </p:cNvGrpSpPr>
          <p:nvPr/>
        </p:nvGrpSpPr>
        <p:grpSpPr>
          <a:xfrm>
            <a:off x="12101894" y="2166573"/>
            <a:ext cx="4860974" cy="9618273"/>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8" name="Freeform 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2189" r="-22189"/>
              </a:stretch>
            </a:blipFill>
          </p:spPr>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0" name="Freeform 1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16" name="TextBox 16"/>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a:solidFill>
                  <a:srgbClr val="FFFFFF"/>
                </a:solidFill>
                <a:latin typeface="Montserrat Bold"/>
                <a:ea typeface="Montserrat Bold"/>
                <a:cs typeface="Montserrat Bold"/>
                <a:sym typeface="Montserrat Bold"/>
              </a:rPr>
              <a:t>Page 03</a:t>
            </a:r>
          </a:p>
        </p:txBody>
      </p:sp>
      <p:sp>
        <p:nvSpPr>
          <p:cNvPr id="17" name="TextBox 17"/>
          <p:cNvSpPr txBox="1"/>
          <p:nvPr/>
        </p:nvSpPr>
        <p:spPr>
          <a:xfrm>
            <a:off x="1028700" y="5361966"/>
            <a:ext cx="10200067" cy="2638393"/>
          </a:xfrm>
          <a:prstGeom prst="rect">
            <a:avLst/>
          </a:prstGeom>
        </p:spPr>
        <p:txBody>
          <a:bodyPr lIns="0" tIns="0" rIns="0" bIns="0" rtlCol="0" anchor="t">
            <a:spAutoFit/>
          </a:bodyPr>
          <a:lstStyle/>
          <a:p>
            <a:pPr marL="539932" lvl="1" indent="-269966" algn="just">
              <a:lnSpc>
                <a:spcPts val="3501"/>
              </a:lnSpc>
              <a:buFont typeface="Arial"/>
              <a:buChar char="•"/>
            </a:pPr>
            <a:r>
              <a:rPr lang="en-US" sz="2500" dirty="0" err="1">
                <a:solidFill>
                  <a:srgbClr val="FFFFFF"/>
                </a:solidFill>
                <a:latin typeface="Montserrat"/>
                <a:ea typeface="Montserrat"/>
                <a:cs typeface="Montserrat"/>
                <a:sym typeface="Montserrat"/>
              </a:rPr>
              <a:t>Protéger</a:t>
            </a:r>
            <a:r>
              <a:rPr lang="en-US" sz="2500" dirty="0">
                <a:solidFill>
                  <a:srgbClr val="FFFFFF"/>
                </a:solidFill>
                <a:latin typeface="Montserrat"/>
                <a:ea typeface="Montserrat"/>
                <a:cs typeface="Montserrat"/>
                <a:sym typeface="Montserrat"/>
              </a:rPr>
              <a:t> les </a:t>
            </a:r>
            <a:r>
              <a:rPr lang="en-US" sz="2500" dirty="0" err="1">
                <a:solidFill>
                  <a:srgbClr val="FFFFFF"/>
                </a:solidFill>
                <a:latin typeface="Montserrat"/>
                <a:ea typeface="Montserrat"/>
                <a:cs typeface="Montserrat"/>
                <a:sym typeface="Montserrat"/>
              </a:rPr>
              <a:t>informations</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sensibles</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contenues</a:t>
            </a:r>
            <a:r>
              <a:rPr lang="en-US" sz="2500" dirty="0">
                <a:solidFill>
                  <a:srgbClr val="FFFFFF"/>
                </a:solidFill>
                <a:latin typeface="Montserrat"/>
                <a:ea typeface="Montserrat"/>
                <a:cs typeface="Montserrat"/>
                <a:sym typeface="Montserrat"/>
              </a:rPr>
              <a:t> dans les images.</a:t>
            </a:r>
          </a:p>
          <a:p>
            <a:pPr marL="539932" lvl="1" indent="-269966" algn="just">
              <a:lnSpc>
                <a:spcPts val="3501"/>
              </a:lnSpc>
              <a:buFont typeface="Arial"/>
              <a:buChar char="•"/>
            </a:pPr>
            <a:r>
              <a:rPr lang="en-US" sz="2500" dirty="0" err="1">
                <a:solidFill>
                  <a:srgbClr val="FFFFFF"/>
                </a:solidFill>
                <a:latin typeface="Montserrat"/>
                <a:ea typeface="Montserrat"/>
                <a:cs typeface="Montserrat"/>
                <a:sym typeface="Montserrat"/>
              </a:rPr>
              <a:t>Empêcher</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l’espionnage</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ou</a:t>
            </a:r>
            <a:r>
              <a:rPr lang="en-US" sz="2500" dirty="0">
                <a:solidFill>
                  <a:srgbClr val="FFFFFF"/>
                </a:solidFill>
                <a:latin typeface="Montserrat"/>
                <a:ea typeface="Montserrat"/>
                <a:cs typeface="Montserrat"/>
                <a:sym typeface="Montserrat"/>
              </a:rPr>
              <a:t> la falsification des images.</a:t>
            </a:r>
          </a:p>
          <a:p>
            <a:pPr marL="539932" lvl="1" indent="-269966" algn="just">
              <a:lnSpc>
                <a:spcPts val="3501"/>
              </a:lnSpc>
              <a:buFont typeface="Arial"/>
              <a:buChar char="•"/>
            </a:pPr>
            <a:r>
              <a:rPr lang="en-US" sz="2500" dirty="0">
                <a:solidFill>
                  <a:srgbClr val="FFFFFF"/>
                </a:solidFill>
                <a:latin typeface="Montserrat"/>
                <a:ea typeface="Montserrat"/>
                <a:cs typeface="Montserrat"/>
                <a:sym typeface="Montserrat"/>
              </a:rPr>
              <a:t>Assurer la </a:t>
            </a:r>
            <a:r>
              <a:rPr lang="en-US" sz="2500" dirty="0" err="1">
                <a:solidFill>
                  <a:srgbClr val="FFFFFF"/>
                </a:solidFill>
                <a:latin typeface="Montserrat"/>
                <a:ea typeface="Montserrat"/>
                <a:cs typeface="Montserrat"/>
                <a:sym typeface="Montserrat"/>
              </a:rPr>
              <a:t>confidentialité</a:t>
            </a:r>
            <a:r>
              <a:rPr lang="en-US" sz="2500" dirty="0">
                <a:solidFill>
                  <a:srgbClr val="FFFFFF"/>
                </a:solidFill>
                <a:latin typeface="Montserrat"/>
                <a:ea typeface="Montserrat"/>
                <a:cs typeface="Montserrat"/>
                <a:sym typeface="Montserrat"/>
              </a:rPr>
              <a:t> dans les </a:t>
            </a:r>
            <a:r>
              <a:rPr lang="en-US" sz="2500" dirty="0" err="1">
                <a:solidFill>
                  <a:srgbClr val="FFFFFF"/>
                </a:solidFill>
                <a:latin typeface="Montserrat"/>
                <a:ea typeface="Montserrat"/>
                <a:cs typeface="Montserrat"/>
                <a:sym typeface="Montserrat"/>
              </a:rPr>
              <a:t>domaines</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médicaux</a:t>
            </a:r>
            <a:r>
              <a:rPr lang="en-US" sz="2500" dirty="0">
                <a:solidFill>
                  <a:srgbClr val="FFFFFF"/>
                </a:solidFill>
                <a:latin typeface="Montserrat"/>
                <a:ea typeface="Montserrat"/>
                <a:cs typeface="Montserrat"/>
                <a:sym typeface="Montserrat"/>
              </a:rPr>
              <a:t>, </a:t>
            </a:r>
            <a:r>
              <a:rPr lang="en-US" sz="2500" dirty="0" err="1">
                <a:solidFill>
                  <a:srgbClr val="FFFFFF"/>
                </a:solidFill>
                <a:latin typeface="Montserrat"/>
                <a:ea typeface="Montserrat"/>
                <a:cs typeface="Montserrat"/>
                <a:sym typeface="Montserrat"/>
              </a:rPr>
              <a:t>militaires</a:t>
            </a:r>
            <a:r>
              <a:rPr lang="en-US" sz="2500" dirty="0">
                <a:solidFill>
                  <a:srgbClr val="FFFFFF"/>
                </a:solidFill>
                <a:latin typeface="Montserrat"/>
                <a:ea typeface="Montserrat"/>
                <a:cs typeface="Montserrat"/>
                <a:sym typeface="Montserrat"/>
              </a:rPr>
              <a:t>, etc.</a:t>
            </a:r>
          </a:p>
          <a:p>
            <a:pPr algn="just">
              <a:lnSpc>
                <a:spcPts val="3501"/>
              </a:lnSpc>
            </a:pPr>
            <a:endParaRPr lang="en-US" sz="2500" dirty="0">
              <a:solidFill>
                <a:srgbClr val="FFFFFF"/>
              </a:solidFill>
              <a:latin typeface="Montserrat"/>
              <a:ea typeface="Montserrat"/>
              <a:cs typeface="Montserrat"/>
              <a:sym typeface="Montserrat"/>
            </a:endParaRPr>
          </a:p>
        </p:txBody>
      </p:sp>
      <p:sp>
        <p:nvSpPr>
          <p:cNvPr id="18" name="TextBox 18"/>
          <p:cNvSpPr txBox="1"/>
          <p:nvPr/>
        </p:nvSpPr>
        <p:spPr>
          <a:xfrm>
            <a:off x="1028700" y="1190625"/>
            <a:ext cx="11073194" cy="2909500"/>
          </a:xfrm>
          <a:prstGeom prst="rect">
            <a:avLst/>
          </a:prstGeom>
        </p:spPr>
        <p:txBody>
          <a:bodyPr lIns="0" tIns="0" rIns="0" bIns="0" rtlCol="0" anchor="t">
            <a:spAutoFit/>
          </a:bodyPr>
          <a:lstStyle/>
          <a:p>
            <a:pPr algn="l">
              <a:lnSpc>
                <a:spcPts val="11342"/>
              </a:lnSpc>
            </a:pPr>
            <a:r>
              <a:rPr lang="en-US" sz="10802" spc="-550" dirty="0">
                <a:solidFill>
                  <a:srgbClr val="FFFFFF"/>
                </a:solidFill>
                <a:latin typeface="Open Sauce Light"/>
                <a:ea typeface="Open Sauce Light"/>
                <a:cs typeface="Open Sauce Light"/>
                <a:sym typeface="Open Sauce Light"/>
              </a:rPr>
              <a:t>2. </a:t>
            </a:r>
            <a:r>
              <a:rPr lang="en-US" sz="10802" spc="-550" dirty="0" err="1">
                <a:solidFill>
                  <a:srgbClr val="FFFFFF"/>
                </a:solidFill>
                <a:latin typeface="Open Sauce Light"/>
                <a:ea typeface="Open Sauce Light"/>
                <a:cs typeface="Open Sauce Light"/>
                <a:sym typeface="Open Sauce Light"/>
              </a:rPr>
              <a:t>Pourquoi</a:t>
            </a:r>
            <a:r>
              <a:rPr lang="en-US" sz="10802" spc="-550" dirty="0">
                <a:solidFill>
                  <a:srgbClr val="FFFFFF"/>
                </a:solidFill>
                <a:latin typeface="Open Sauce Light"/>
                <a:ea typeface="Open Sauce Light"/>
                <a:cs typeface="Open Sauce Light"/>
                <a:sym typeface="Open Sauce Light"/>
              </a:rPr>
              <a:t> </a:t>
            </a:r>
            <a:r>
              <a:rPr lang="en-US" sz="10802" spc="-550" dirty="0" err="1">
                <a:solidFill>
                  <a:srgbClr val="FFFFFF"/>
                </a:solidFill>
                <a:latin typeface="Open Sauce Light"/>
                <a:ea typeface="Open Sauce Light"/>
                <a:cs typeface="Open Sauce Light"/>
                <a:sym typeface="Open Sauce Light"/>
              </a:rPr>
              <a:t>chiffrer</a:t>
            </a:r>
            <a:r>
              <a:rPr lang="en-US" sz="10802" spc="-550" dirty="0">
                <a:solidFill>
                  <a:srgbClr val="FFFFFF"/>
                </a:solidFill>
                <a:latin typeface="Open Sauce Light"/>
                <a:ea typeface="Open Sauce Light"/>
                <a:cs typeface="Open Sauce Light"/>
                <a:sym typeface="Open Sauce Light"/>
              </a:rPr>
              <a:t> </a:t>
            </a:r>
            <a:r>
              <a:rPr lang="en-US" sz="10802" spc="-550" dirty="0" err="1">
                <a:solidFill>
                  <a:srgbClr val="FFFFFF"/>
                </a:solidFill>
                <a:latin typeface="Open Sauce Light"/>
                <a:ea typeface="Open Sauce Light"/>
                <a:cs typeface="Open Sauce Light"/>
                <a:sym typeface="Open Sauce Light"/>
              </a:rPr>
              <a:t>une</a:t>
            </a:r>
            <a:r>
              <a:rPr lang="en-US" sz="10802" spc="-550" dirty="0">
                <a:solidFill>
                  <a:srgbClr val="FFFFFF"/>
                </a:solidFill>
                <a:latin typeface="Open Sauce Light"/>
                <a:ea typeface="Open Sauce Light"/>
                <a:cs typeface="Open Sauce Light"/>
                <a:sym typeface="Open Sauce Light"/>
              </a:rPr>
              <a:t> image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6188040">
            <a:off x="4658661" y="-1431063"/>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3" name="Group 3"/>
          <p:cNvGrpSpPr/>
          <p:nvPr/>
        </p:nvGrpSpPr>
        <p:grpSpPr>
          <a:xfrm>
            <a:off x="17648572" y="0"/>
            <a:ext cx="639428" cy="10287000"/>
            <a:chOff x="0" y="0"/>
            <a:chExt cx="168409" cy="2709333"/>
          </a:xfrm>
        </p:grpSpPr>
        <p:sp>
          <p:nvSpPr>
            <p:cNvPr id="4" name="Freeform 4"/>
            <p:cNvSpPr/>
            <p:nvPr/>
          </p:nvSpPr>
          <p:spPr>
            <a:xfrm>
              <a:off x="0" y="0"/>
              <a:ext cx="168409" cy="2709333"/>
            </a:xfrm>
            <a:custGeom>
              <a:avLst/>
              <a:gdLst/>
              <a:ahLst/>
              <a:cxnLst/>
              <a:rect l="l" t="t" r="r" b="b"/>
              <a:pathLst>
                <a:path w="168409" h="2709333">
                  <a:moveTo>
                    <a:pt x="0" y="0"/>
                  </a:moveTo>
                  <a:lnTo>
                    <a:pt x="168409" y="0"/>
                  </a:lnTo>
                  <a:lnTo>
                    <a:pt x="168409" y="2709333"/>
                  </a:lnTo>
                  <a:lnTo>
                    <a:pt x="0" y="2709333"/>
                  </a:lnTo>
                  <a:close/>
                </a:path>
              </a:pathLst>
            </a:custGeom>
            <a:gradFill rotWithShape="1">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p:spPr>
        </p:sp>
        <p:sp>
          <p:nvSpPr>
            <p:cNvPr id="5" name="TextBox 5"/>
            <p:cNvSpPr txBox="1"/>
            <p:nvPr/>
          </p:nvSpPr>
          <p:spPr>
            <a:xfrm>
              <a:off x="0" y="-47625"/>
              <a:ext cx="168409" cy="2756958"/>
            </a:xfrm>
            <a:prstGeom prst="rect">
              <a:avLst/>
            </a:prstGeom>
          </p:spPr>
          <p:txBody>
            <a:bodyPr lIns="50800" tIns="50800" rIns="50800" bIns="50800" rtlCol="0" anchor="ctr"/>
            <a:lstStyle/>
            <a:p>
              <a:pPr algn="ctr">
                <a:lnSpc>
                  <a:spcPts val="3468"/>
                </a:lnSpc>
              </a:pPr>
              <a:endParaRPr/>
            </a:p>
          </p:txBody>
        </p:sp>
      </p:grpSp>
      <p:grpSp>
        <p:nvGrpSpPr>
          <p:cNvPr id="8" name="Group 8"/>
          <p:cNvGrpSpPr/>
          <p:nvPr/>
        </p:nvGrpSpPr>
        <p:grpSpPr>
          <a:xfrm>
            <a:off x="15677399" y="672397"/>
            <a:ext cx="1861136" cy="551650"/>
            <a:chOff x="0" y="0"/>
            <a:chExt cx="490176" cy="145291"/>
          </a:xfrm>
        </p:grpSpPr>
        <p:sp>
          <p:nvSpPr>
            <p:cNvPr id="9" name="Freeform 9"/>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10" name="TextBox 10"/>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04</a:t>
            </a:r>
          </a:p>
        </p:txBody>
      </p:sp>
      <p:sp>
        <p:nvSpPr>
          <p:cNvPr id="12" name="TextBox 12"/>
          <p:cNvSpPr txBox="1"/>
          <p:nvPr/>
        </p:nvSpPr>
        <p:spPr>
          <a:xfrm>
            <a:off x="1053065" y="3502296"/>
            <a:ext cx="8113478" cy="1477328"/>
          </a:xfrm>
          <a:prstGeom prst="rect">
            <a:avLst/>
          </a:prstGeom>
        </p:spPr>
        <p:txBody>
          <a:bodyPr wrap="square" lIns="0" tIns="0" rIns="0" bIns="0" rtlCol="0" anchor="t">
            <a:spAutoFit/>
          </a:bodyPr>
          <a:lstStyle/>
          <a:p>
            <a:r>
              <a:rPr lang="fr-FR" sz="2400" b="1" dirty="0">
                <a:solidFill>
                  <a:schemeClr val="bg1"/>
                </a:solidFill>
                <a:latin typeface="Montserrat" panose="00000500000000000000" pitchFamily="2" charset="0"/>
              </a:rPr>
              <a:t>Image en niveaux de gris :</a:t>
            </a:r>
          </a:p>
          <a:p>
            <a:r>
              <a:rPr lang="fr-FR" sz="2400" dirty="0">
                <a:solidFill>
                  <a:schemeClr val="bg1"/>
                </a:solidFill>
                <a:latin typeface="Montserrat" panose="00000500000000000000" pitchFamily="2" charset="0"/>
              </a:rPr>
              <a:t>Chaque pixel est un seul nombre entre </a:t>
            </a:r>
            <a:r>
              <a:rPr lang="fr-FR" sz="2400" b="1" dirty="0">
                <a:solidFill>
                  <a:schemeClr val="bg1"/>
                </a:solidFill>
                <a:latin typeface="Montserrat" panose="00000500000000000000" pitchFamily="2" charset="0"/>
              </a:rPr>
              <a:t>0 et 255</a:t>
            </a:r>
            <a:r>
              <a:rPr lang="fr-FR" sz="2400" dirty="0">
                <a:solidFill>
                  <a:schemeClr val="bg1"/>
                </a:solidFill>
                <a:latin typeface="Montserrat" panose="00000500000000000000" pitchFamily="2" charset="0"/>
              </a:rPr>
              <a:t>.</a:t>
            </a:r>
          </a:p>
          <a:p>
            <a:pPr lvl="1"/>
            <a:r>
              <a:rPr lang="fr-FR" sz="2400" dirty="0">
                <a:solidFill>
                  <a:schemeClr val="bg1"/>
                </a:solidFill>
                <a:latin typeface="Montserrat" panose="00000500000000000000" pitchFamily="2" charset="0"/>
              </a:rPr>
              <a:t>0 → Noir</a:t>
            </a:r>
          </a:p>
          <a:p>
            <a:pPr lvl="1"/>
            <a:r>
              <a:rPr lang="fr-FR" sz="2400" dirty="0">
                <a:solidFill>
                  <a:schemeClr val="bg1"/>
                </a:solidFill>
                <a:latin typeface="Montserrat" panose="00000500000000000000" pitchFamily="2" charset="0"/>
              </a:rPr>
              <a:t>255 → Blanc</a:t>
            </a:r>
          </a:p>
        </p:txBody>
      </p:sp>
      <p:sp>
        <p:nvSpPr>
          <p:cNvPr id="13" name="TextBox 13"/>
          <p:cNvSpPr txBox="1"/>
          <p:nvPr/>
        </p:nvSpPr>
        <p:spPr>
          <a:xfrm>
            <a:off x="1028700" y="1143000"/>
            <a:ext cx="10020300" cy="1954574"/>
          </a:xfrm>
          <a:prstGeom prst="rect">
            <a:avLst/>
          </a:prstGeom>
        </p:spPr>
        <p:txBody>
          <a:bodyPr wrap="square" lIns="0" tIns="0" rIns="0" bIns="0" rtlCol="0" anchor="t">
            <a:spAutoFit/>
          </a:bodyPr>
          <a:lstStyle/>
          <a:p>
            <a:pPr>
              <a:lnSpc>
                <a:spcPts val="8040"/>
              </a:lnSpc>
            </a:pPr>
            <a:r>
              <a:rPr lang="en-US" sz="5400" spc="-390" dirty="0">
                <a:solidFill>
                  <a:srgbClr val="FFFFFF"/>
                </a:solidFill>
                <a:latin typeface="Open Sauce Light"/>
                <a:ea typeface="Open Sauce Light"/>
                <a:cs typeface="Open Sauce Light"/>
                <a:sym typeface="Open Sauce Light"/>
              </a:rPr>
              <a:t>3. </a:t>
            </a:r>
            <a:r>
              <a:rPr lang="fr-FR" sz="5400" dirty="0">
                <a:solidFill>
                  <a:schemeClr val="bg1"/>
                </a:solidFill>
                <a:latin typeface="Open Sauce Light" panose="020B0604020202020204" charset="0"/>
              </a:rPr>
              <a:t>Codage numérique des couleurs</a:t>
            </a:r>
            <a:endParaRPr lang="en-US" sz="5400" spc="-390" dirty="0">
              <a:solidFill>
                <a:schemeClr val="bg1"/>
              </a:solidFill>
              <a:latin typeface="Open Sauce Light" panose="020B0604020202020204" charset="0"/>
              <a:ea typeface="Open Sauce Light"/>
              <a:cs typeface="Open Sauce Light"/>
              <a:sym typeface="Open Sauce Light"/>
            </a:endParaRPr>
          </a:p>
        </p:txBody>
      </p:sp>
      <p:sp>
        <p:nvSpPr>
          <p:cNvPr id="15" name="TextBox 14">
            <a:extLst>
              <a:ext uri="{FF2B5EF4-FFF2-40B4-BE49-F238E27FC236}">
                <a16:creationId xmlns:a16="http://schemas.microsoft.com/office/drawing/2014/main" id="{D290DE93-0AF6-4C77-A1AC-E49453A0AA0C}"/>
              </a:ext>
            </a:extLst>
          </p:cNvPr>
          <p:cNvSpPr txBox="1"/>
          <p:nvPr/>
        </p:nvSpPr>
        <p:spPr>
          <a:xfrm>
            <a:off x="1028700" y="5327402"/>
            <a:ext cx="8113478" cy="3046988"/>
          </a:xfrm>
          <a:prstGeom prst="rect">
            <a:avLst/>
          </a:prstGeom>
          <a:noFill/>
        </p:spPr>
        <p:txBody>
          <a:bodyPr wrap="square" rtlCol="0">
            <a:spAutoFit/>
          </a:bodyPr>
          <a:lstStyle/>
          <a:p>
            <a:r>
              <a:rPr lang="fr-FR" sz="2400" b="1" dirty="0">
                <a:solidFill>
                  <a:schemeClr val="bg1"/>
                </a:solidFill>
                <a:latin typeface="Montserrat" panose="00000500000000000000" pitchFamily="2" charset="0"/>
              </a:rPr>
              <a:t>Image en couleur (RGB)</a:t>
            </a:r>
            <a:r>
              <a:rPr lang="fr-FR" sz="2400" dirty="0">
                <a:solidFill>
                  <a:schemeClr val="bg1"/>
                </a:solidFill>
                <a:latin typeface="Montserrat" panose="00000500000000000000" pitchFamily="2" charset="0"/>
              </a:rPr>
              <a:t> :</a:t>
            </a:r>
          </a:p>
          <a:p>
            <a:pPr>
              <a:buFont typeface="Arial" panose="020B0604020202020204" pitchFamily="34" charset="0"/>
              <a:buChar char="•"/>
            </a:pPr>
            <a:r>
              <a:rPr lang="fr-FR" sz="2400" dirty="0">
                <a:solidFill>
                  <a:schemeClr val="bg1"/>
                </a:solidFill>
                <a:latin typeface="Montserrat" panose="00000500000000000000" pitchFamily="2" charset="0"/>
              </a:rPr>
              <a:t>Chaque pixel est composé de </a:t>
            </a:r>
            <a:r>
              <a:rPr lang="fr-FR" sz="2400" b="1" dirty="0">
                <a:solidFill>
                  <a:schemeClr val="bg1"/>
                </a:solidFill>
                <a:latin typeface="Montserrat" panose="00000500000000000000" pitchFamily="2" charset="0"/>
              </a:rPr>
              <a:t>trois nombres</a:t>
            </a:r>
            <a:r>
              <a:rPr lang="fr-FR" sz="2400" dirty="0">
                <a:solidFill>
                  <a:schemeClr val="bg1"/>
                </a:solidFill>
                <a:latin typeface="Montserrat" panose="00000500000000000000" pitchFamily="2" charset="0"/>
              </a:rPr>
              <a:t> :</a:t>
            </a:r>
          </a:p>
          <a:p>
            <a:pPr marL="742950" lvl="1" indent="-285750">
              <a:buFont typeface="Arial" panose="020B0604020202020204" pitchFamily="34" charset="0"/>
              <a:buChar char="•"/>
            </a:pPr>
            <a:r>
              <a:rPr lang="fr-FR" sz="2400" b="1" dirty="0">
                <a:solidFill>
                  <a:schemeClr val="bg1"/>
                </a:solidFill>
                <a:latin typeface="Montserrat" panose="00000500000000000000" pitchFamily="2" charset="0"/>
              </a:rPr>
              <a:t>R</a:t>
            </a:r>
            <a:r>
              <a:rPr lang="fr-FR" sz="2400" dirty="0">
                <a:solidFill>
                  <a:schemeClr val="bg1"/>
                </a:solidFill>
                <a:latin typeface="Montserrat" panose="00000500000000000000" pitchFamily="2" charset="0"/>
              </a:rPr>
              <a:t> (Rouge), </a:t>
            </a:r>
            <a:r>
              <a:rPr lang="fr-FR" sz="2400" b="1" dirty="0">
                <a:solidFill>
                  <a:schemeClr val="bg1"/>
                </a:solidFill>
                <a:latin typeface="Montserrat" panose="00000500000000000000" pitchFamily="2" charset="0"/>
              </a:rPr>
              <a:t>G</a:t>
            </a:r>
            <a:r>
              <a:rPr lang="fr-FR" sz="2400" dirty="0">
                <a:solidFill>
                  <a:schemeClr val="bg1"/>
                </a:solidFill>
                <a:latin typeface="Montserrat" panose="00000500000000000000" pitchFamily="2" charset="0"/>
              </a:rPr>
              <a:t> (Vert), </a:t>
            </a:r>
            <a:r>
              <a:rPr lang="fr-FR" sz="2400" b="1" dirty="0">
                <a:solidFill>
                  <a:schemeClr val="bg1"/>
                </a:solidFill>
                <a:latin typeface="Montserrat" panose="00000500000000000000" pitchFamily="2" charset="0"/>
              </a:rPr>
              <a:t>B</a:t>
            </a:r>
            <a:r>
              <a:rPr lang="fr-FR" sz="2400" dirty="0">
                <a:solidFill>
                  <a:schemeClr val="bg1"/>
                </a:solidFill>
                <a:latin typeface="Montserrat" panose="00000500000000000000" pitchFamily="2" charset="0"/>
              </a:rPr>
              <a:t> (Bleu).</a:t>
            </a:r>
          </a:p>
          <a:p>
            <a:pPr>
              <a:buFont typeface="Arial" panose="020B0604020202020204" pitchFamily="34" charset="0"/>
              <a:buChar char="•"/>
            </a:pPr>
            <a:r>
              <a:rPr lang="fr-FR" sz="2400" dirty="0">
                <a:solidFill>
                  <a:schemeClr val="bg1"/>
                </a:solidFill>
                <a:latin typeface="Montserrat" panose="00000500000000000000" pitchFamily="2" charset="0"/>
              </a:rPr>
              <a:t>Chaque canal (R, G, B) a une valeur de </a:t>
            </a:r>
            <a:r>
              <a:rPr lang="fr-FR" sz="2400" b="1" dirty="0">
                <a:solidFill>
                  <a:schemeClr val="bg1"/>
                </a:solidFill>
                <a:latin typeface="Montserrat" panose="00000500000000000000" pitchFamily="2" charset="0"/>
              </a:rPr>
              <a:t>0 à 255</a:t>
            </a:r>
            <a:r>
              <a:rPr lang="fr-FR" sz="2400" dirty="0">
                <a:solidFill>
                  <a:schemeClr val="bg1"/>
                </a:solidFill>
                <a:latin typeface="Montserrat" panose="00000500000000000000" pitchFamily="2" charset="0"/>
              </a:rPr>
              <a:t>.</a:t>
            </a:r>
          </a:p>
          <a:p>
            <a:r>
              <a:rPr lang="fr-FR" sz="2400" dirty="0">
                <a:solidFill>
                  <a:schemeClr val="bg1"/>
                </a:solidFill>
                <a:latin typeface="Montserrat" panose="00000500000000000000" pitchFamily="2" charset="0"/>
              </a:rPr>
              <a:t>Exemple :</a:t>
            </a:r>
          </a:p>
          <a:p>
            <a:pPr>
              <a:buFont typeface="Arial" panose="020B0604020202020204" pitchFamily="34" charset="0"/>
              <a:buChar char="•"/>
            </a:pPr>
            <a:r>
              <a:rPr lang="fr-FR" sz="2400" dirty="0">
                <a:solidFill>
                  <a:schemeClr val="bg1"/>
                </a:solidFill>
                <a:latin typeface="Montserrat" panose="00000500000000000000" pitchFamily="2" charset="0"/>
              </a:rPr>
              <a:t>(255, 0, 0) → Rouge pur</a:t>
            </a:r>
          </a:p>
          <a:p>
            <a:pPr>
              <a:buFont typeface="Arial" panose="020B0604020202020204" pitchFamily="34" charset="0"/>
              <a:buChar char="•"/>
            </a:pPr>
            <a:r>
              <a:rPr lang="fr-FR" sz="2400" dirty="0">
                <a:solidFill>
                  <a:schemeClr val="bg1"/>
                </a:solidFill>
                <a:latin typeface="Montserrat" panose="00000500000000000000" pitchFamily="2" charset="0"/>
              </a:rPr>
              <a:t>(0, 255, 0) → Vert pur</a:t>
            </a:r>
          </a:p>
          <a:p>
            <a:pPr>
              <a:buFont typeface="Arial" panose="020B0604020202020204" pitchFamily="34" charset="0"/>
              <a:buChar char="•"/>
            </a:pPr>
            <a:r>
              <a:rPr lang="fr-FR" sz="2400" dirty="0">
                <a:solidFill>
                  <a:schemeClr val="bg1"/>
                </a:solidFill>
                <a:latin typeface="Montserrat" panose="00000500000000000000" pitchFamily="2" charset="0"/>
              </a:rPr>
              <a:t>(0, 0, 255) → Bleu pur</a:t>
            </a:r>
          </a:p>
        </p:txBody>
      </p:sp>
      <p:pic>
        <p:nvPicPr>
          <p:cNvPr id="17" name="Picture 16">
            <a:extLst>
              <a:ext uri="{FF2B5EF4-FFF2-40B4-BE49-F238E27FC236}">
                <a16:creationId xmlns:a16="http://schemas.microsoft.com/office/drawing/2014/main" id="{88AC72E1-2246-4834-AF65-29B5BCA09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8385" y="4305300"/>
            <a:ext cx="7380187" cy="46068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13560412" y="-1783488"/>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2809956" y="1832171"/>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7" name="Group 7"/>
          <p:cNvGrpSpPr/>
          <p:nvPr/>
        </p:nvGrpSpPr>
        <p:grpSpPr>
          <a:xfrm>
            <a:off x="824365" y="1930837"/>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a:solidFill>
                  <a:srgbClr val="FFFFFF"/>
                </a:solidFill>
                <a:latin typeface="Montserrat Bold"/>
                <a:ea typeface="Montserrat Bold"/>
                <a:cs typeface="Montserrat Bold"/>
                <a:sym typeface="Montserrat Bold"/>
              </a:rPr>
              <a:t>Page 05</a:t>
            </a:r>
          </a:p>
        </p:txBody>
      </p:sp>
      <p:sp>
        <p:nvSpPr>
          <p:cNvPr id="11" name="TextBox 11"/>
          <p:cNvSpPr txBox="1"/>
          <p:nvPr/>
        </p:nvSpPr>
        <p:spPr>
          <a:xfrm>
            <a:off x="3336618" y="3224850"/>
            <a:ext cx="11614763" cy="4358693"/>
          </a:xfrm>
          <a:prstGeom prst="rect">
            <a:avLst/>
          </a:prstGeom>
        </p:spPr>
        <p:txBody>
          <a:bodyPr lIns="0" tIns="0" rIns="0" bIns="0" rtlCol="0" anchor="t">
            <a:spAutoFit/>
          </a:bodyPr>
          <a:lstStyle/>
          <a:p>
            <a:pPr algn="ctr">
              <a:lnSpc>
                <a:spcPts val="11342"/>
              </a:lnSpc>
            </a:pPr>
            <a:r>
              <a:rPr lang="en-US" sz="10802" spc="-550" dirty="0">
                <a:solidFill>
                  <a:srgbClr val="FFFFFF"/>
                </a:solidFill>
                <a:latin typeface="Open Sauce Light"/>
                <a:ea typeface="Open Sauce Light"/>
                <a:cs typeface="Open Sauce Light"/>
                <a:sym typeface="Open Sauce Light"/>
              </a:rPr>
              <a:t>4. </a:t>
            </a:r>
            <a:r>
              <a:rPr lang="en-US" sz="10802" spc="-550" dirty="0" err="1">
                <a:solidFill>
                  <a:srgbClr val="FFFFFF"/>
                </a:solidFill>
                <a:latin typeface="Open Sauce Light"/>
                <a:ea typeface="Open Sauce Light"/>
                <a:cs typeface="Open Sauce Light"/>
                <a:sym typeface="Open Sauce Light"/>
              </a:rPr>
              <a:t>Méthodes</a:t>
            </a:r>
            <a:r>
              <a:rPr lang="en-US" sz="10802" spc="-550" dirty="0">
                <a:solidFill>
                  <a:srgbClr val="FFFFFF"/>
                </a:solidFill>
                <a:latin typeface="Open Sauce Light"/>
                <a:ea typeface="Open Sauce Light"/>
                <a:cs typeface="Open Sauce Light"/>
                <a:sym typeface="Open Sauce Light"/>
              </a:rPr>
              <a:t> de </a:t>
            </a:r>
            <a:r>
              <a:rPr lang="en-US" sz="10802" spc="-550" dirty="0" err="1">
                <a:solidFill>
                  <a:srgbClr val="FFFFFF"/>
                </a:solidFill>
                <a:latin typeface="Open Sauce Light"/>
                <a:ea typeface="Open Sauce Light"/>
                <a:cs typeface="Open Sauce Light"/>
                <a:sym typeface="Open Sauce Light"/>
              </a:rPr>
              <a:t>chiffrement</a:t>
            </a:r>
            <a:r>
              <a:rPr lang="en-US" sz="10802" spc="-550" dirty="0">
                <a:solidFill>
                  <a:srgbClr val="FFFFFF"/>
                </a:solidFill>
                <a:latin typeface="Open Sauce Light"/>
                <a:ea typeface="Open Sauce Light"/>
                <a:cs typeface="Open Sauce Light"/>
                <a:sym typeface="Open Sauce Light"/>
              </a:rPr>
              <a:t> </a:t>
            </a:r>
            <a:r>
              <a:rPr lang="en-US" sz="10802" spc="-550" dirty="0" err="1">
                <a:solidFill>
                  <a:srgbClr val="FFFFFF"/>
                </a:solidFill>
                <a:latin typeface="Open Sauce Light"/>
                <a:ea typeface="Open Sauce Light"/>
                <a:cs typeface="Open Sauce Light"/>
                <a:sym typeface="Open Sauce Light"/>
              </a:rPr>
              <a:t>d’image</a:t>
            </a:r>
            <a:endParaRPr lang="en-US" sz="10802" spc="-550" dirty="0">
              <a:solidFill>
                <a:srgbClr val="FFFFFF"/>
              </a:solidFill>
              <a:latin typeface="Open Sauce Light"/>
              <a:ea typeface="Open Sauce Light"/>
              <a:cs typeface="Open Sauce Light"/>
              <a:sym typeface="Open Sauce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1270964" y="-1345924"/>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10073070" y="4515759"/>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7" name="Group 7"/>
          <p:cNvGrpSpPr/>
          <p:nvPr/>
        </p:nvGrpSpPr>
        <p:grpSpPr>
          <a:xfrm>
            <a:off x="824365" y="1930837"/>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72562"/>
          </a:xfrm>
          <a:prstGeom prst="rect">
            <a:avLst/>
          </a:prstGeom>
        </p:spPr>
        <p:txBody>
          <a:bodyPr lIns="0" tIns="0" rIns="0" bIns="0" rtlCol="0" anchor="t">
            <a:spAutoFit/>
          </a:bodyPr>
          <a:lstStyle/>
          <a:p>
            <a:pPr algn="ctr">
              <a:lnSpc>
                <a:spcPts val="3037"/>
              </a:lnSpc>
            </a:pPr>
            <a:r>
              <a:rPr lang="en-US" sz="2169" b="1">
                <a:solidFill>
                  <a:srgbClr val="FFFFFF"/>
                </a:solidFill>
                <a:latin typeface="Montserrat Bold"/>
                <a:ea typeface="Montserrat Bold"/>
                <a:cs typeface="Montserrat Bold"/>
                <a:sym typeface="Montserrat Bold"/>
              </a:rPr>
              <a:t>Page 06</a:t>
            </a:r>
          </a:p>
        </p:txBody>
      </p:sp>
      <p:sp>
        <p:nvSpPr>
          <p:cNvPr id="11" name="TextBox 11"/>
          <p:cNvSpPr txBox="1"/>
          <p:nvPr/>
        </p:nvSpPr>
        <p:spPr>
          <a:xfrm>
            <a:off x="2655995" y="6474483"/>
            <a:ext cx="13135538" cy="927606"/>
          </a:xfrm>
          <a:prstGeom prst="rect">
            <a:avLst/>
          </a:prstGeom>
        </p:spPr>
        <p:txBody>
          <a:bodyPr lIns="0" tIns="0" rIns="0" bIns="0" rtlCol="0" anchor="t">
            <a:spAutoFit/>
          </a:bodyPr>
          <a:lstStyle/>
          <a:p>
            <a:pPr algn="ctr">
              <a:lnSpc>
                <a:spcPts val="3710"/>
              </a:lnSpc>
            </a:pPr>
            <a:r>
              <a:rPr lang="en-US" sz="2650" dirty="0" err="1">
                <a:solidFill>
                  <a:srgbClr val="FFFFFF"/>
                </a:solidFill>
                <a:latin typeface="Montserrat"/>
                <a:ea typeface="Montserrat"/>
                <a:cs typeface="Montserrat"/>
                <a:sym typeface="Montserrat"/>
              </a:rPr>
              <a:t>Chaque</a:t>
            </a:r>
            <a:r>
              <a:rPr lang="en-US" sz="2650" dirty="0">
                <a:solidFill>
                  <a:srgbClr val="FFFFFF"/>
                </a:solidFill>
                <a:latin typeface="Montserrat"/>
                <a:ea typeface="Montserrat"/>
                <a:cs typeface="Montserrat"/>
                <a:sym typeface="Montserrat"/>
              </a:rPr>
              <a:t> pixel </a:t>
            </a:r>
            <a:r>
              <a:rPr lang="en-US" sz="2650" dirty="0" err="1">
                <a:solidFill>
                  <a:srgbClr val="FFFFFF"/>
                </a:solidFill>
                <a:latin typeface="Montserrat"/>
                <a:ea typeface="Montserrat"/>
                <a:cs typeface="Montserrat"/>
                <a:sym typeface="Montserrat"/>
              </a:rPr>
              <a:t>est</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modifié</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individuellement</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selon</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une</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clé</a:t>
            </a:r>
            <a:r>
              <a:rPr lang="en-US" sz="2650" dirty="0">
                <a:solidFill>
                  <a:srgbClr val="FFFFFF"/>
                </a:solidFill>
                <a:latin typeface="Montserrat"/>
                <a:ea typeface="Montserrat"/>
                <a:cs typeface="Montserrat"/>
                <a:sym typeface="Montserrat"/>
              </a:rPr>
              <a:t> de </a:t>
            </a:r>
            <a:r>
              <a:rPr lang="en-US" sz="2650" dirty="0" err="1">
                <a:solidFill>
                  <a:srgbClr val="FFFFFF"/>
                </a:solidFill>
                <a:latin typeface="Montserrat"/>
                <a:ea typeface="Montserrat"/>
                <a:cs typeface="Montserrat"/>
                <a:sym typeface="Montserrat"/>
              </a:rPr>
              <a:t>chiffrement</a:t>
            </a:r>
            <a:r>
              <a:rPr lang="en-US" sz="2650" dirty="0">
                <a:solidFill>
                  <a:srgbClr val="FFFFFF"/>
                </a:solidFill>
                <a:latin typeface="Montserrat"/>
                <a:ea typeface="Montserrat"/>
                <a:cs typeface="Montserrat"/>
                <a:sym typeface="Montserrat"/>
              </a:rPr>
              <a:t>.  </a:t>
            </a:r>
          </a:p>
          <a:p>
            <a:pPr algn="ctr">
              <a:lnSpc>
                <a:spcPts val="3710"/>
              </a:lnSpc>
            </a:pPr>
            <a:r>
              <a:rPr lang="en-US" sz="2650" dirty="0">
                <a:solidFill>
                  <a:srgbClr val="FFFFFF"/>
                </a:solidFill>
                <a:latin typeface="Montserrat"/>
                <a:ea typeface="Montserrat"/>
                <a:cs typeface="Montserrat"/>
                <a:sym typeface="Montserrat"/>
              </a:rPr>
              <a:t>Simple </a:t>
            </a:r>
            <a:r>
              <a:rPr lang="en-US" sz="2650" dirty="0" err="1">
                <a:solidFill>
                  <a:srgbClr val="FFFFFF"/>
                </a:solidFill>
                <a:latin typeface="Montserrat"/>
                <a:ea typeface="Montserrat"/>
                <a:cs typeface="Montserrat"/>
                <a:sym typeface="Montserrat"/>
              </a:rPr>
              <a:t>mais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peut</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être</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vulnérable</a:t>
            </a:r>
            <a:r>
              <a:rPr lang="en-US" sz="2650" dirty="0">
                <a:solidFill>
                  <a:srgbClr val="FFFFFF"/>
                </a:solidFill>
                <a:latin typeface="Montserrat"/>
                <a:ea typeface="Montserrat"/>
                <a:cs typeface="Montserrat"/>
                <a:sym typeface="Montserrat"/>
              </a:rPr>
              <a:t> aux </a:t>
            </a:r>
            <a:r>
              <a:rPr lang="en-US" sz="2650" dirty="0" err="1">
                <a:solidFill>
                  <a:srgbClr val="FFFFFF"/>
                </a:solidFill>
                <a:latin typeface="Montserrat"/>
                <a:ea typeface="Montserrat"/>
                <a:cs typeface="Montserrat"/>
                <a:sym typeface="Montserrat"/>
              </a:rPr>
              <a:t>attaques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statistiques</a:t>
            </a:r>
            <a:r>
              <a:rPr lang="en-US" sz="2650" dirty="0">
                <a:solidFill>
                  <a:srgbClr val="FFFFFF"/>
                </a:solidFill>
                <a:latin typeface="Montserrat"/>
                <a:ea typeface="Montserrat"/>
                <a:cs typeface="Montserrat"/>
                <a:sym typeface="Montserrat"/>
              </a:rPr>
              <a:t>.</a:t>
            </a:r>
          </a:p>
        </p:txBody>
      </p:sp>
      <p:sp>
        <p:nvSpPr>
          <p:cNvPr id="12" name="TextBox 12"/>
          <p:cNvSpPr txBox="1"/>
          <p:nvPr/>
        </p:nvSpPr>
        <p:spPr>
          <a:xfrm>
            <a:off x="3336618" y="3224850"/>
            <a:ext cx="11614763" cy="2920418"/>
          </a:xfrm>
          <a:prstGeom prst="rect">
            <a:avLst/>
          </a:prstGeom>
        </p:spPr>
        <p:txBody>
          <a:bodyPr lIns="0" tIns="0" rIns="0" bIns="0" rtlCol="0" anchor="t">
            <a:spAutoFit/>
          </a:bodyPr>
          <a:lstStyle/>
          <a:p>
            <a:pPr algn="ctr">
              <a:lnSpc>
                <a:spcPts val="11342"/>
              </a:lnSpc>
            </a:pPr>
            <a:r>
              <a:rPr lang="en-US" sz="10802" spc="-550" dirty="0">
                <a:solidFill>
                  <a:srgbClr val="FFFFFF"/>
                </a:solidFill>
                <a:latin typeface="Open Sauce Light"/>
                <a:ea typeface="Open Sauce Light"/>
                <a:cs typeface="Open Sauce Light"/>
                <a:sym typeface="Open Sauce Light"/>
              </a:rPr>
              <a:t>4.1 </a:t>
            </a:r>
            <a:r>
              <a:rPr lang="en-US" sz="10802" spc="-550" dirty="0" err="1">
                <a:solidFill>
                  <a:srgbClr val="FFFFFF"/>
                </a:solidFill>
                <a:latin typeface="Open Sauce Light"/>
                <a:ea typeface="Open Sauce Light"/>
                <a:cs typeface="Open Sauce Light"/>
                <a:sym typeface="Open Sauce Light"/>
              </a:rPr>
              <a:t>Chiffrement</a:t>
            </a:r>
            <a:r>
              <a:rPr lang="en-US" sz="10802" spc="-550" dirty="0">
                <a:solidFill>
                  <a:srgbClr val="FFFFFF"/>
                </a:solidFill>
                <a:latin typeface="Open Sauce Light"/>
                <a:ea typeface="Open Sauce Light"/>
                <a:cs typeface="Open Sauce Light"/>
                <a:sym typeface="Open Sauce Light"/>
              </a:rPr>
              <a:t> par pixel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2660036" y="-76780"/>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txBody>
          <a:bodyPr/>
          <a:lstStyle/>
          <a:p>
            <a:endParaRPr lang="fr-DZ" dirty="0"/>
          </a:p>
        </p:txBody>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11216071" y="1535113"/>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txBody>
          <a:bodyPr/>
          <a:lstStyle/>
          <a:p>
            <a:endParaRPr lang="fr-DZ" dirty="0"/>
          </a:p>
        </p:txBody>
      </p:sp>
      <p:grpSp>
        <p:nvGrpSpPr>
          <p:cNvPr id="7" name="Group 7"/>
          <p:cNvGrpSpPr/>
          <p:nvPr/>
        </p:nvGrpSpPr>
        <p:grpSpPr>
          <a:xfrm>
            <a:off x="824365" y="1930837"/>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07</a:t>
            </a:r>
          </a:p>
        </p:txBody>
      </p:sp>
      <p:sp>
        <p:nvSpPr>
          <p:cNvPr id="12" name="TextBox 12"/>
          <p:cNvSpPr txBox="1"/>
          <p:nvPr/>
        </p:nvSpPr>
        <p:spPr>
          <a:xfrm>
            <a:off x="942422" y="2711107"/>
            <a:ext cx="11614763" cy="1449115"/>
          </a:xfrm>
          <a:prstGeom prst="rect">
            <a:avLst/>
          </a:prstGeom>
        </p:spPr>
        <p:txBody>
          <a:bodyPr lIns="0" tIns="0" rIns="0" bIns="0" rtlCol="0" anchor="t">
            <a:spAutoFit/>
          </a:bodyPr>
          <a:lstStyle/>
          <a:p>
            <a:pPr algn="ctr">
              <a:lnSpc>
                <a:spcPts val="11342"/>
              </a:lnSpc>
            </a:pPr>
            <a:r>
              <a:rPr lang="fr-FR" sz="9600" dirty="0">
                <a:solidFill>
                  <a:schemeClr val="bg1"/>
                </a:solidFill>
                <a:latin typeface="Open Sauce Light" panose="020B0604020202020204" charset="0"/>
              </a:rPr>
              <a:t>Exemple :</a:t>
            </a:r>
            <a:endParaRPr lang="en-US" sz="10802" spc="-550" dirty="0">
              <a:solidFill>
                <a:schemeClr val="bg1"/>
              </a:solidFill>
              <a:latin typeface="Open Sauce Light" panose="020B0604020202020204" charset="0"/>
              <a:ea typeface="Open Sauce Light"/>
              <a:cs typeface="Open Sauce Light"/>
              <a:sym typeface="Open Sauce Light"/>
            </a:endParaRPr>
          </a:p>
        </p:txBody>
      </p:sp>
      <p:sp>
        <p:nvSpPr>
          <p:cNvPr id="17" name="Rectangle 4">
            <a:extLst>
              <a:ext uri="{FF2B5EF4-FFF2-40B4-BE49-F238E27FC236}">
                <a16:creationId xmlns:a16="http://schemas.microsoft.com/office/drawing/2014/main" id="{14DA84E0-AA0D-477C-922B-A538FF38669F}"/>
              </a:ext>
            </a:extLst>
          </p:cNvPr>
          <p:cNvSpPr>
            <a:spLocks noChangeArrowheads="1"/>
          </p:cNvSpPr>
          <p:nvPr/>
        </p:nvSpPr>
        <p:spPr bwMode="auto">
          <a:xfrm>
            <a:off x="1828799" y="5615032"/>
            <a:ext cx="9706951"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3200" b="0" i="0" u="none" strike="noStrike" cap="none" normalizeH="0" baseline="0" dirty="0">
                <a:ln>
                  <a:noFill/>
                </a:ln>
                <a:solidFill>
                  <a:schemeClr val="bg1"/>
                </a:solidFill>
                <a:effectLst/>
                <a:latin typeface="Arial" panose="020B0604020202020204" pitchFamily="34" charset="0"/>
              </a:rPr>
              <a:t>Pixel original : </a:t>
            </a:r>
            <a:r>
              <a:rPr kumimoji="0" lang="fr-DZ" altLang="fr-DZ" sz="3200" b="0" i="0" u="none" strike="noStrike" cap="none" normalizeH="0" baseline="0" dirty="0">
                <a:ln>
                  <a:noFill/>
                </a:ln>
                <a:solidFill>
                  <a:schemeClr val="bg1"/>
                </a:solidFill>
                <a:effectLst/>
                <a:latin typeface="Arial Unicode MS"/>
              </a:rPr>
              <a:t>P = 200</a:t>
            </a:r>
            <a:br>
              <a:rPr kumimoji="0" lang="fr-DZ" altLang="fr-DZ" sz="3200" b="0" i="0" u="none" strike="noStrike" cap="none" normalizeH="0" baseline="0" dirty="0">
                <a:ln>
                  <a:noFill/>
                </a:ln>
                <a:solidFill>
                  <a:schemeClr val="bg1"/>
                </a:solidFill>
                <a:effectLst/>
              </a:rPr>
            </a:br>
            <a:r>
              <a:rPr kumimoji="0" lang="fr-DZ" altLang="fr-DZ" sz="3200" b="0" i="0" u="none" strike="noStrike" cap="none" normalizeH="0" baseline="0" dirty="0">
                <a:ln>
                  <a:noFill/>
                </a:ln>
                <a:solidFill>
                  <a:schemeClr val="bg1"/>
                </a:solidFill>
                <a:effectLst/>
              </a:rPr>
              <a:t>Clé de chiffrement : </a:t>
            </a:r>
            <a:r>
              <a:rPr kumimoji="0" lang="fr-DZ" altLang="fr-DZ" sz="3200" b="0" i="0" u="none" strike="noStrike" cap="none" normalizeH="0" baseline="0" dirty="0">
                <a:ln>
                  <a:noFill/>
                </a:ln>
                <a:solidFill>
                  <a:schemeClr val="bg1"/>
                </a:solidFill>
                <a:effectLst/>
                <a:latin typeface="Arial Unicode MS"/>
              </a:rPr>
              <a:t>K = 123</a:t>
            </a:r>
            <a:endParaRPr kumimoji="0" lang="fr-DZ" altLang="fr-DZ" sz="32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3200" b="1" i="0" u="none" strike="noStrike" cap="none" normalizeH="0" baseline="0" dirty="0">
                <a:ln>
                  <a:noFill/>
                </a:ln>
                <a:solidFill>
                  <a:schemeClr val="bg1"/>
                </a:solidFill>
                <a:effectLst/>
                <a:latin typeface="Arial" panose="020B0604020202020204" pitchFamily="34" charset="0"/>
              </a:rPr>
              <a:t>Opération :</a:t>
            </a:r>
            <a:br>
              <a:rPr kumimoji="0" lang="fr-DZ" altLang="fr-DZ" sz="3200" b="0" i="0" u="none" strike="noStrike" cap="none" normalizeH="0" baseline="0" dirty="0">
                <a:ln>
                  <a:noFill/>
                </a:ln>
                <a:solidFill>
                  <a:schemeClr val="bg1"/>
                </a:solidFill>
                <a:effectLst/>
                <a:latin typeface="Arial" panose="020B0604020202020204" pitchFamily="34" charset="0"/>
              </a:rPr>
            </a:br>
            <a:r>
              <a:rPr kumimoji="0" lang="fr-DZ" altLang="fr-DZ" sz="3200" b="0" i="0" u="none" strike="noStrike" cap="none" normalizeH="0" baseline="0" dirty="0" err="1">
                <a:ln>
                  <a:noFill/>
                </a:ln>
                <a:solidFill>
                  <a:schemeClr val="bg1"/>
                </a:solidFill>
                <a:effectLst/>
                <a:highlight>
                  <a:srgbClr val="FF00FF"/>
                </a:highlight>
                <a:latin typeface="Arial Unicode MS"/>
              </a:rPr>
              <a:t>P_crypté</a:t>
            </a:r>
            <a:r>
              <a:rPr kumimoji="0" lang="fr-DZ" altLang="fr-DZ" sz="3200" b="0" i="0" u="none" strike="noStrike" cap="none" normalizeH="0" baseline="0" dirty="0">
                <a:ln>
                  <a:noFill/>
                </a:ln>
                <a:solidFill>
                  <a:schemeClr val="bg1"/>
                </a:solidFill>
                <a:effectLst/>
                <a:highlight>
                  <a:srgbClr val="FF00FF"/>
                </a:highlight>
                <a:latin typeface="Arial Unicode MS"/>
              </a:rPr>
              <a:t> </a:t>
            </a:r>
            <a:r>
              <a:rPr kumimoji="0" lang="fr-DZ" altLang="fr-DZ" sz="3200" b="0" i="0" u="none" strike="noStrike" cap="none" normalizeH="0" baseline="0" dirty="0">
                <a:ln>
                  <a:noFill/>
                </a:ln>
                <a:solidFill>
                  <a:schemeClr val="bg1"/>
                </a:solidFill>
                <a:effectLst/>
                <a:latin typeface="Arial Unicode MS"/>
              </a:rPr>
              <a:t>= P XOR K = 200 XOR 123 = 179</a:t>
            </a:r>
            <a:br>
              <a:rPr kumimoji="0" lang="fr-DZ" altLang="fr-DZ" sz="3200" b="0" i="0" u="none" strike="noStrike" cap="none" normalizeH="0" baseline="0" dirty="0">
                <a:ln>
                  <a:noFill/>
                </a:ln>
                <a:solidFill>
                  <a:schemeClr val="bg1"/>
                </a:solidFill>
                <a:effectLst/>
              </a:rPr>
            </a:br>
            <a:r>
              <a:rPr kumimoji="0" lang="fr-DZ" altLang="fr-DZ" sz="3200" b="0" i="0" u="none" strike="noStrike" cap="none" normalizeH="0" baseline="0" dirty="0" err="1">
                <a:ln>
                  <a:noFill/>
                </a:ln>
                <a:solidFill>
                  <a:schemeClr val="bg1"/>
                </a:solidFill>
                <a:effectLst/>
                <a:highlight>
                  <a:srgbClr val="800080"/>
                </a:highlight>
                <a:latin typeface="Arial Unicode MS"/>
              </a:rPr>
              <a:t>P_déchiffré</a:t>
            </a:r>
            <a:r>
              <a:rPr kumimoji="0" lang="fr-DZ" altLang="fr-DZ" sz="3200" b="0" i="0" u="none" strike="noStrike" cap="none" normalizeH="0" baseline="0" dirty="0">
                <a:ln>
                  <a:noFill/>
                </a:ln>
                <a:solidFill>
                  <a:schemeClr val="bg1"/>
                </a:solidFill>
                <a:effectLst/>
                <a:highlight>
                  <a:srgbClr val="800080"/>
                </a:highlight>
                <a:latin typeface="Arial Unicode MS"/>
              </a:rPr>
              <a:t> </a:t>
            </a:r>
            <a:r>
              <a:rPr kumimoji="0" lang="fr-DZ" altLang="fr-DZ" sz="3200" b="0" i="0" u="none" strike="noStrike" cap="none" normalizeH="0" baseline="0" dirty="0">
                <a:ln>
                  <a:noFill/>
                </a:ln>
                <a:solidFill>
                  <a:schemeClr val="bg1"/>
                </a:solidFill>
                <a:effectLst/>
                <a:latin typeface="Arial Unicode MS"/>
              </a:rPr>
              <a:t>= </a:t>
            </a:r>
            <a:r>
              <a:rPr kumimoji="0" lang="fr-DZ" altLang="fr-DZ" sz="3200" b="0" i="0" u="none" strike="noStrike" cap="none" normalizeH="0" baseline="0" dirty="0" err="1">
                <a:ln>
                  <a:noFill/>
                </a:ln>
                <a:solidFill>
                  <a:schemeClr val="bg1"/>
                </a:solidFill>
                <a:effectLst/>
                <a:highlight>
                  <a:srgbClr val="FF00FF"/>
                </a:highlight>
                <a:latin typeface="Arial Unicode MS"/>
              </a:rPr>
              <a:t>P_crypté</a:t>
            </a:r>
            <a:r>
              <a:rPr lang="fr-FR" altLang="fr-DZ" sz="3200" dirty="0">
                <a:solidFill>
                  <a:schemeClr val="bg1"/>
                </a:solidFill>
                <a:latin typeface="Arial Unicode MS"/>
              </a:rPr>
              <a:t> </a:t>
            </a:r>
            <a:r>
              <a:rPr kumimoji="0" lang="fr-DZ" altLang="fr-DZ" sz="3200" b="0" i="0" u="none" strike="noStrike" cap="none" normalizeH="0" baseline="0" dirty="0">
                <a:ln>
                  <a:noFill/>
                </a:ln>
                <a:solidFill>
                  <a:schemeClr val="bg1"/>
                </a:solidFill>
                <a:effectLst/>
                <a:latin typeface="Arial Unicode MS"/>
              </a:rPr>
              <a:t>XOR K = 179 XOR</a:t>
            </a:r>
            <a:r>
              <a:rPr kumimoji="0" lang="fr-FR" altLang="fr-DZ" sz="3200" b="0" i="0" u="none" strike="noStrike" cap="none" normalizeH="0" baseline="0" dirty="0">
                <a:ln>
                  <a:noFill/>
                </a:ln>
                <a:solidFill>
                  <a:schemeClr val="bg1"/>
                </a:solidFill>
                <a:effectLst/>
                <a:latin typeface="Arial Unicode MS"/>
              </a:rPr>
              <a:t> 123 =200</a:t>
            </a:r>
            <a:endParaRPr kumimoji="0" lang="fr-DZ" altLang="fr-DZ" sz="12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bg1"/>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E183C556-2E82-4858-92DF-A9BCB071B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675" y="3476249"/>
            <a:ext cx="6677957" cy="3820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65440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1000"/>
                                        <p:tgtEl>
                                          <p:spTgt spid="17"/>
                                        </p:tgtEl>
                                      </p:cBhvr>
                                    </p:animEffect>
                                    <p:anim calcmode="lin" valueType="num">
                                      <p:cBhvr>
                                        <p:cTn id="27" dur="1000" fill="hold"/>
                                        <p:tgtEl>
                                          <p:spTgt spid="17"/>
                                        </p:tgtEl>
                                        <p:attrNameLst>
                                          <p:attrName>ppt_x</p:attrName>
                                        </p:attrNameLst>
                                      </p:cBhvr>
                                      <p:tavLst>
                                        <p:tav tm="0">
                                          <p:val>
                                            <p:strVal val="#ppt_x"/>
                                          </p:val>
                                        </p:tav>
                                        <p:tav tm="100000">
                                          <p:val>
                                            <p:strVal val="#ppt_x"/>
                                          </p:val>
                                        </p:tav>
                                      </p:tavLst>
                                    </p:anim>
                                    <p:anim calcmode="lin" valueType="num">
                                      <p:cBhvr>
                                        <p:cTn id="2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13560412" y="-1783488"/>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2809956" y="1832171"/>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7" name="Group 7"/>
          <p:cNvGrpSpPr/>
          <p:nvPr/>
        </p:nvGrpSpPr>
        <p:grpSpPr>
          <a:xfrm>
            <a:off x="824365" y="1930837"/>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08</a:t>
            </a:r>
          </a:p>
        </p:txBody>
      </p:sp>
      <p:sp>
        <p:nvSpPr>
          <p:cNvPr id="11" name="TextBox 11"/>
          <p:cNvSpPr txBox="1"/>
          <p:nvPr/>
        </p:nvSpPr>
        <p:spPr>
          <a:xfrm>
            <a:off x="2655995" y="6474483"/>
            <a:ext cx="13135538" cy="927606"/>
          </a:xfrm>
          <a:prstGeom prst="rect">
            <a:avLst/>
          </a:prstGeom>
        </p:spPr>
        <p:txBody>
          <a:bodyPr lIns="0" tIns="0" rIns="0" bIns="0" rtlCol="0" anchor="t">
            <a:spAutoFit/>
          </a:bodyPr>
          <a:lstStyle/>
          <a:p>
            <a:pPr algn="ctr">
              <a:lnSpc>
                <a:spcPts val="3710"/>
              </a:lnSpc>
            </a:pPr>
            <a:r>
              <a:rPr lang="en-US" sz="2650" dirty="0" err="1">
                <a:solidFill>
                  <a:srgbClr val="FFFFFF"/>
                </a:solidFill>
                <a:latin typeface="Montserrat"/>
                <a:ea typeface="Montserrat"/>
                <a:cs typeface="Montserrat"/>
                <a:sym typeface="Montserrat"/>
              </a:rPr>
              <a:t>L’image</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est</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divisée</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en</a:t>
            </a:r>
            <a:r>
              <a:rPr lang="en-US" sz="2650" dirty="0">
                <a:solidFill>
                  <a:srgbClr val="FFFFFF"/>
                </a:solidFill>
                <a:latin typeface="Montserrat"/>
                <a:ea typeface="Montserrat"/>
                <a:cs typeface="Montserrat"/>
                <a:sym typeface="Montserrat"/>
              </a:rPr>
              <a:t> blocs (par </a:t>
            </a:r>
            <a:r>
              <a:rPr lang="en-US" sz="2650" dirty="0" err="1">
                <a:solidFill>
                  <a:srgbClr val="FFFFFF"/>
                </a:solidFill>
                <a:latin typeface="Montserrat"/>
                <a:ea typeface="Montserrat"/>
                <a:cs typeface="Montserrat"/>
                <a:sym typeface="Montserrat"/>
              </a:rPr>
              <a:t>exemple</a:t>
            </a:r>
            <a:r>
              <a:rPr lang="en-US" sz="2650" dirty="0">
                <a:solidFill>
                  <a:srgbClr val="FFFFFF"/>
                </a:solidFill>
                <a:latin typeface="Montserrat"/>
                <a:ea typeface="Montserrat"/>
                <a:cs typeface="Montserrat"/>
                <a:sym typeface="Montserrat"/>
              </a:rPr>
              <a:t> 8x8) </a:t>
            </a:r>
            <a:r>
              <a:rPr lang="en-US" sz="2650" dirty="0" err="1">
                <a:solidFill>
                  <a:srgbClr val="FFFFFF"/>
                </a:solidFill>
                <a:latin typeface="Montserrat"/>
                <a:ea typeface="Montserrat"/>
                <a:cs typeface="Montserrat"/>
                <a:sym typeface="Montserrat"/>
              </a:rPr>
              <a:t>puis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chaque</a:t>
            </a:r>
            <a:r>
              <a:rPr lang="en-US" sz="2650" dirty="0">
                <a:solidFill>
                  <a:srgbClr val="FFFFFF"/>
                </a:solidFill>
                <a:latin typeface="Montserrat"/>
                <a:ea typeface="Montserrat"/>
                <a:cs typeface="Montserrat"/>
                <a:sym typeface="Montserrat"/>
              </a:rPr>
              <a:t> bloc </a:t>
            </a:r>
            <a:r>
              <a:rPr lang="en-US" sz="2650" dirty="0" err="1">
                <a:solidFill>
                  <a:srgbClr val="FFFFFF"/>
                </a:solidFill>
                <a:latin typeface="Montserrat"/>
                <a:ea typeface="Montserrat"/>
                <a:cs typeface="Montserrat"/>
                <a:sym typeface="Montserrat"/>
              </a:rPr>
              <a:t>est</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chiffré</a:t>
            </a:r>
            <a:r>
              <a:rPr lang="en-US" sz="2650" dirty="0">
                <a:solidFill>
                  <a:srgbClr val="FFFFFF"/>
                </a:solidFill>
                <a:latin typeface="Montserrat"/>
                <a:ea typeface="Montserrat"/>
                <a:cs typeface="Montserrat"/>
                <a:sym typeface="Montserrat"/>
              </a:rPr>
              <a:t>.  </a:t>
            </a:r>
          </a:p>
          <a:p>
            <a:pPr algn="ctr">
              <a:lnSpc>
                <a:spcPts val="3710"/>
              </a:lnSpc>
            </a:pPr>
            <a:r>
              <a:rPr lang="en-US" sz="2650" dirty="0" err="1">
                <a:solidFill>
                  <a:srgbClr val="FFFFFF"/>
                </a:solidFill>
                <a:latin typeface="Montserrat"/>
                <a:ea typeface="Montserrat"/>
                <a:cs typeface="Montserrat"/>
                <a:sym typeface="Montserrat"/>
              </a:rPr>
              <a:t>Permet</a:t>
            </a:r>
            <a:r>
              <a:rPr lang="en-US" sz="2650" dirty="0">
                <a:solidFill>
                  <a:srgbClr val="FFFFFF"/>
                </a:solidFill>
                <a:latin typeface="Montserrat"/>
                <a:ea typeface="Montserrat"/>
                <a:cs typeface="Montserrat"/>
                <a:sym typeface="Montserrat"/>
              </a:rPr>
              <a:t> un </a:t>
            </a:r>
            <a:r>
              <a:rPr lang="en-US" sz="2650" dirty="0" err="1">
                <a:solidFill>
                  <a:srgbClr val="FFFFFF"/>
                </a:solidFill>
                <a:latin typeface="Montserrat"/>
                <a:ea typeface="Montserrat"/>
                <a:cs typeface="Montserrat"/>
                <a:sym typeface="Montserrat"/>
              </a:rPr>
              <a:t>traitement</a:t>
            </a:r>
            <a:r>
              <a:rPr lang="en-US" sz="2650" dirty="0">
                <a:solidFill>
                  <a:srgbClr val="FFFFFF"/>
                </a:solidFill>
                <a:latin typeface="Montserrat"/>
                <a:ea typeface="Montserrat"/>
                <a:cs typeface="Montserrat"/>
                <a:sym typeface="Montserrat"/>
              </a:rPr>
              <a:t> plus </a:t>
            </a:r>
            <a:r>
              <a:rPr lang="en-US" sz="2650" dirty="0" err="1">
                <a:solidFill>
                  <a:srgbClr val="FFFFFF"/>
                </a:solidFill>
                <a:latin typeface="Montserrat"/>
                <a:ea typeface="Montserrat"/>
                <a:cs typeface="Montserrat"/>
                <a:sym typeface="Montserrat"/>
              </a:rPr>
              <a:t>rapide</a:t>
            </a:r>
            <a:r>
              <a:rPr lang="en-US" sz="2650" dirty="0">
                <a:solidFill>
                  <a:srgbClr val="FFFFFF"/>
                </a:solidFill>
                <a:latin typeface="Montserrat"/>
                <a:ea typeface="Montserrat"/>
                <a:cs typeface="Montserrat"/>
                <a:sym typeface="Montserrat"/>
              </a:rPr>
              <a:t> et </a:t>
            </a:r>
            <a:r>
              <a:rPr lang="en-US" sz="2650" dirty="0" err="1">
                <a:solidFill>
                  <a:srgbClr val="FFFFFF"/>
                </a:solidFill>
                <a:latin typeface="Montserrat"/>
                <a:ea typeface="Montserrat"/>
                <a:cs typeface="Montserrat"/>
                <a:sym typeface="Montserrat"/>
              </a:rPr>
              <a:t>structuré</a:t>
            </a:r>
            <a:r>
              <a:rPr lang="en-US" sz="2650" dirty="0">
                <a:solidFill>
                  <a:srgbClr val="FFFFFF"/>
                </a:solidFill>
                <a:latin typeface="Montserrat"/>
                <a:ea typeface="Montserrat"/>
                <a:cs typeface="Montserrat"/>
                <a:sym typeface="Montserrat"/>
              </a:rPr>
              <a:t>.</a:t>
            </a:r>
          </a:p>
        </p:txBody>
      </p:sp>
      <p:sp>
        <p:nvSpPr>
          <p:cNvPr id="12" name="TextBox 12"/>
          <p:cNvSpPr txBox="1"/>
          <p:nvPr/>
        </p:nvSpPr>
        <p:spPr>
          <a:xfrm>
            <a:off x="3336618" y="3224850"/>
            <a:ext cx="11614763" cy="2920418"/>
          </a:xfrm>
          <a:prstGeom prst="rect">
            <a:avLst/>
          </a:prstGeom>
        </p:spPr>
        <p:txBody>
          <a:bodyPr lIns="0" tIns="0" rIns="0" bIns="0" rtlCol="0" anchor="t">
            <a:spAutoFit/>
          </a:bodyPr>
          <a:lstStyle/>
          <a:p>
            <a:pPr algn="ctr">
              <a:lnSpc>
                <a:spcPts val="11342"/>
              </a:lnSpc>
            </a:pPr>
            <a:r>
              <a:rPr lang="en-US" sz="10802" spc="-550" dirty="0">
                <a:solidFill>
                  <a:srgbClr val="FFFFFF"/>
                </a:solidFill>
                <a:latin typeface="Open Sauce Light"/>
                <a:ea typeface="Open Sauce Light"/>
                <a:cs typeface="Open Sauce Light"/>
                <a:sym typeface="Open Sauce Light"/>
              </a:rPr>
              <a:t>4.2 </a:t>
            </a:r>
            <a:r>
              <a:rPr lang="en-US" sz="10802" spc="-550" dirty="0" err="1">
                <a:solidFill>
                  <a:srgbClr val="FFFFFF"/>
                </a:solidFill>
                <a:latin typeface="Open Sauce Light"/>
                <a:ea typeface="Open Sauce Light"/>
                <a:cs typeface="Open Sauce Light"/>
                <a:sym typeface="Open Sauce Light"/>
              </a:rPr>
              <a:t>Chiffrement</a:t>
            </a:r>
            <a:r>
              <a:rPr lang="en-US" sz="10802" spc="-550" dirty="0">
                <a:solidFill>
                  <a:srgbClr val="FFFFFF"/>
                </a:solidFill>
                <a:latin typeface="Open Sauce Light"/>
                <a:ea typeface="Open Sauce Light"/>
                <a:cs typeface="Open Sauce Light"/>
                <a:sym typeface="Open Sauce Light"/>
              </a:rPr>
              <a:t> par blocs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120513" y="-271101"/>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3"/>
            <a:stretch>
              <a:fillRect/>
            </a:stretch>
          </a:blipFill>
        </p:spPr>
        <p:txBody>
          <a:bodyPr/>
          <a:lstStyle/>
          <a:p>
            <a:endParaRPr lang="fr-DZ" dirty="0"/>
          </a:p>
        </p:txBody>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10417017" y="1712106"/>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3"/>
            <a:stretch>
              <a:fillRect/>
            </a:stretch>
          </a:blipFill>
        </p:spPr>
        <p:txBody>
          <a:bodyPr/>
          <a:lstStyle/>
          <a:p>
            <a:endParaRPr lang="fr-DZ" dirty="0"/>
          </a:p>
        </p:txBody>
      </p:sp>
      <p:grpSp>
        <p:nvGrpSpPr>
          <p:cNvPr id="7" name="Group 7"/>
          <p:cNvGrpSpPr/>
          <p:nvPr/>
        </p:nvGrpSpPr>
        <p:grpSpPr>
          <a:xfrm>
            <a:off x="824365" y="1984365"/>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09</a:t>
            </a:r>
          </a:p>
        </p:txBody>
      </p:sp>
      <p:sp>
        <p:nvSpPr>
          <p:cNvPr id="12" name="TextBox 12"/>
          <p:cNvSpPr txBox="1"/>
          <p:nvPr/>
        </p:nvSpPr>
        <p:spPr>
          <a:xfrm>
            <a:off x="3336618" y="3224850"/>
            <a:ext cx="11614763" cy="1449115"/>
          </a:xfrm>
          <a:prstGeom prst="rect">
            <a:avLst/>
          </a:prstGeom>
        </p:spPr>
        <p:txBody>
          <a:bodyPr lIns="0" tIns="0" rIns="0" bIns="0" rtlCol="0" anchor="t">
            <a:spAutoFit/>
          </a:bodyPr>
          <a:lstStyle/>
          <a:p>
            <a:pPr algn="ctr">
              <a:lnSpc>
                <a:spcPts val="11342"/>
              </a:lnSpc>
            </a:pPr>
            <a:r>
              <a:rPr lang="fr-FR" sz="9600" dirty="0">
                <a:solidFill>
                  <a:schemeClr val="bg1"/>
                </a:solidFill>
                <a:latin typeface="Open Sauce Light" panose="020B0604020202020204" charset="0"/>
              </a:rPr>
              <a:t>Exemple :</a:t>
            </a:r>
            <a:endParaRPr lang="en-US" sz="10802" spc="-550" dirty="0">
              <a:solidFill>
                <a:schemeClr val="bg1"/>
              </a:solidFill>
              <a:latin typeface="Open Sauce Light" panose="020B0604020202020204" charset="0"/>
              <a:ea typeface="Open Sauce Light"/>
              <a:cs typeface="Open Sauce Light"/>
              <a:sym typeface="Open Sauce Light"/>
            </a:endParaRPr>
          </a:p>
        </p:txBody>
      </p:sp>
      <p:sp>
        <p:nvSpPr>
          <p:cNvPr id="17" name="Rectangle 4">
            <a:extLst>
              <a:ext uri="{FF2B5EF4-FFF2-40B4-BE49-F238E27FC236}">
                <a16:creationId xmlns:a16="http://schemas.microsoft.com/office/drawing/2014/main" id="{14DA84E0-AA0D-477C-922B-A538FF38669F}"/>
              </a:ext>
            </a:extLst>
          </p:cNvPr>
          <p:cNvSpPr>
            <a:spLocks noChangeArrowheads="1"/>
          </p:cNvSpPr>
          <p:nvPr/>
        </p:nvSpPr>
        <p:spPr bwMode="auto">
          <a:xfrm>
            <a:off x="1162624" y="5112439"/>
            <a:ext cx="970695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sz="3200" dirty="0">
                <a:solidFill>
                  <a:schemeClr val="bg1"/>
                </a:solidFill>
              </a:rPr>
              <a:t>L’image est divisée en blocs (par exemple 2x2 pixels), et chaque bloc est chiffré en utilisant une méthode comme AES, permutation.</a:t>
            </a:r>
          </a:p>
          <a:p>
            <a:r>
              <a:rPr lang="fr-FR" sz="3200" b="1" dirty="0">
                <a:solidFill>
                  <a:schemeClr val="bg1"/>
                </a:solidFill>
              </a:rPr>
              <a:t>Exemple avec permutation de blocs :</a:t>
            </a:r>
            <a:br>
              <a:rPr lang="fr-FR" sz="3200" dirty="0">
                <a:solidFill>
                  <a:schemeClr val="bg1"/>
                </a:solidFill>
              </a:rPr>
            </a:br>
            <a:r>
              <a:rPr lang="fr-FR" sz="3200" dirty="0">
                <a:solidFill>
                  <a:schemeClr val="bg1"/>
                </a:solidFill>
              </a:rPr>
              <a:t>Image 4x4 → divisée en 4 blocs 2x2 :</a:t>
            </a:r>
          </a:p>
          <a:p>
            <a:r>
              <a:rPr lang="fr-FR" sz="3200" dirty="0">
                <a:solidFill>
                  <a:schemeClr val="bg1"/>
                </a:solidFill>
              </a:rPr>
              <a:t>Clé :</a:t>
            </a:r>
          </a:p>
          <a:p>
            <a:r>
              <a:rPr lang="fr-FR" sz="3200" dirty="0">
                <a:solidFill>
                  <a:schemeClr val="bg1"/>
                </a:solidFill>
              </a:rPr>
              <a:t>[A,B,C,D] → [C,D,A,B]</a:t>
            </a:r>
          </a:p>
        </p:txBody>
      </p:sp>
      <p:grpSp>
        <p:nvGrpSpPr>
          <p:cNvPr id="21" name="Group 20">
            <a:extLst>
              <a:ext uri="{FF2B5EF4-FFF2-40B4-BE49-F238E27FC236}">
                <a16:creationId xmlns:a16="http://schemas.microsoft.com/office/drawing/2014/main" id="{030D04BF-18ED-476B-9D5F-CBA21A6FFB35}"/>
              </a:ext>
            </a:extLst>
          </p:cNvPr>
          <p:cNvGrpSpPr/>
          <p:nvPr/>
        </p:nvGrpSpPr>
        <p:grpSpPr>
          <a:xfrm>
            <a:off x="11559722" y="5321057"/>
            <a:ext cx="5362951" cy="3048425"/>
            <a:chOff x="11277600" y="5143075"/>
            <a:chExt cx="5362951" cy="3048425"/>
          </a:xfrm>
        </p:grpSpPr>
        <p:pic>
          <p:nvPicPr>
            <p:cNvPr id="13" name="Picture 12">
              <a:extLst>
                <a:ext uri="{FF2B5EF4-FFF2-40B4-BE49-F238E27FC236}">
                  <a16:creationId xmlns:a16="http://schemas.microsoft.com/office/drawing/2014/main" id="{327A978B-CE81-4BF7-8DC8-4A1751333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7600" y="5143075"/>
              <a:ext cx="2695951" cy="30484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001DEE49-7AF2-4ED1-94B3-D4D598AD6D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44600" y="5143075"/>
              <a:ext cx="2695951" cy="30484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Picture 17">
              <a:extLst>
                <a:ext uri="{FF2B5EF4-FFF2-40B4-BE49-F238E27FC236}">
                  <a16:creationId xmlns:a16="http://schemas.microsoft.com/office/drawing/2014/main" id="{5BE5A3AA-3B47-4F98-8A5B-0DCA38BD43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92310" y="5698927"/>
              <a:ext cx="1991003" cy="8923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Picture 19">
              <a:extLst>
                <a:ext uri="{FF2B5EF4-FFF2-40B4-BE49-F238E27FC236}">
                  <a16:creationId xmlns:a16="http://schemas.microsoft.com/office/drawing/2014/main" id="{90890366-0353-4669-9FD6-3E9277D918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92310" y="6724509"/>
              <a:ext cx="2000529" cy="10097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
        <p:nvSpPr>
          <p:cNvPr id="22" name="TextBox 21">
            <a:extLst>
              <a:ext uri="{FF2B5EF4-FFF2-40B4-BE49-F238E27FC236}">
                <a16:creationId xmlns:a16="http://schemas.microsoft.com/office/drawing/2014/main" id="{8E9E262C-517F-486C-8D39-F88F69F4EAA9}"/>
              </a:ext>
            </a:extLst>
          </p:cNvPr>
          <p:cNvSpPr txBox="1"/>
          <p:nvPr/>
        </p:nvSpPr>
        <p:spPr>
          <a:xfrm>
            <a:off x="14574432" y="5321057"/>
            <a:ext cx="1991003" cy="369332"/>
          </a:xfrm>
          <a:prstGeom prst="rect">
            <a:avLst/>
          </a:prstGeom>
          <a:noFill/>
        </p:spPr>
        <p:txBody>
          <a:bodyPr wrap="square" rtlCol="0">
            <a:spAutoFit/>
          </a:bodyPr>
          <a:lstStyle/>
          <a:p>
            <a:pPr algn="ctr"/>
            <a:r>
              <a:rPr lang="fr-FR" b="1" dirty="0"/>
              <a:t>Chiffré </a:t>
            </a:r>
            <a:endParaRPr lang="fr-DZ" b="1" dirty="0"/>
          </a:p>
        </p:txBody>
      </p:sp>
    </p:spTree>
    <p:extLst>
      <p:ext uri="{BB962C8B-B14F-4D97-AF65-F5344CB8AC3E}">
        <p14:creationId xmlns:p14="http://schemas.microsoft.com/office/powerpoint/2010/main" val="1865496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2098475" y="2625189"/>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11154391" y="-1842693"/>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2"/>
            <a:stretch>
              <a:fillRect/>
            </a:stretch>
          </a:blipFill>
        </p:spPr>
      </p:sp>
      <p:grpSp>
        <p:nvGrpSpPr>
          <p:cNvPr id="7" name="Group 7"/>
          <p:cNvGrpSpPr/>
          <p:nvPr/>
        </p:nvGrpSpPr>
        <p:grpSpPr>
          <a:xfrm>
            <a:off x="824365" y="1930837"/>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10</a:t>
            </a:r>
          </a:p>
        </p:txBody>
      </p:sp>
      <p:sp>
        <p:nvSpPr>
          <p:cNvPr id="11" name="TextBox 11"/>
          <p:cNvSpPr txBox="1"/>
          <p:nvPr/>
        </p:nvSpPr>
        <p:spPr>
          <a:xfrm>
            <a:off x="2655995" y="6474483"/>
            <a:ext cx="13135538" cy="927606"/>
          </a:xfrm>
          <a:prstGeom prst="rect">
            <a:avLst/>
          </a:prstGeom>
        </p:spPr>
        <p:txBody>
          <a:bodyPr lIns="0" tIns="0" rIns="0" bIns="0" rtlCol="0" anchor="t">
            <a:spAutoFit/>
          </a:bodyPr>
          <a:lstStyle/>
          <a:p>
            <a:pPr algn="ctr">
              <a:lnSpc>
                <a:spcPts val="3710"/>
              </a:lnSpc>
            </a:pPr>
            <a:r>
              <a:rPr lang="en-US" sz="2650" dirty="0" err="1">
                <a:solidFill>
                  <a:srgbClr val="FFFFFF"/>
                </a:solidFill>
                <a:latin typeface="Montserrat"/>
                <a:ea typeface="Montserrat"/>
                <a:cs typeface="Montserrat"/>
                <a:sym typeface="Montserrat"/>
              </a:rPr>
              <a:t>Utilise</a:t>
            </a:r>
            <a:r>
              <a:rPr lang="en-US" sz="2650" dirty="0">
                <a:solidFill>
                  <a:srgbClr val="FFFFFF"/>
                </a:solidFill>
                <a:latin typeface="Montserrat"/>
                <a:ea typeface="Montserrat"/>
                <a:cs typeface="Montserrat"/>
                <a:sym typeface="Montserrat"/>
              </a:rPr>
              <a:t> des </a:t>
            </a:r>
            <a:r>
              <a:rPr lang="en-US" sz="2650" dirty="0" err="1">
                <a:solidFill>
                  <a:srgbClr val="FFFFFF"/>
                </a:solidFill>
                <a:latin typeface="Montserrat"/>
                <a:ea typeface="Montserrat"/>
                <a:cs typeface="Montserrat"/>
                <a:sym typeface="Montserrat"/>
              </a:rPr>
              <a:t>fonctions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mathématiques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chaotiques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comme</a:t>
            </a:r>
            <a:r>
              <a:rPr lang="en-US" sz="2650" dirty="0">
                <a:solidFill>
                  <a:srgbClr val="FFFFFF"/>
                </a:solidFill>
                <a:latin typeface="Montserrat"/>
                <a:ea typeface="Montserrat"/>
                <a:cs typeface="Montserrat"/>
                <a:sym typeface="Montserrat"/>
              </a:rPr>
              <a:t> Logistic Map).  </a:t>
            </a:r>
          </a:p>
          <a:p>
            <a:pPr algn="ctr">
              <a:lnSpc>
                <a:spcPts val="3710"/>
              </a:lnSpc>
            </a:pPr>
            <a:r>
              <a:rPr lang="en-US" sz="2650" dirty="0" err="1">
                <a:solidFill>
                  <a:srgbClr val="FFFFFF"/>
                </a:solidFill>
                <a:latin typeface="Montserrat"/>
                <a:ea typeface="Montserrat"/>
                <a:cs typeface="Montserrat"/>
                <a:sym typeface="Montserrat"/>
              </a:rPr>
              <a:t>Très</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efficace</a:t>
            </a:r>
            <a:r>
              <a:rPr lang="en-US" sz="2650" dirty="0">
                <a:solidFill>
                  <a:srgbClr val="FFFFFF"/>
                </a:solidFill>
                <a:latin typeface="Montserrat"/>
                <a:ea typeface="Montserrat"/>
                <a:cs typeface="Montserrat"/>
                <a:sym typeface="Montserrat"/>
              </a:rPr>
              <a:t> </a:t>
            </a:r>
            <a:r>
              <a:rPr lang="en-US" sz="2650" dirty="0" err="1">
                <a:solidFill>
                  <a:srgbClr val="FFFFFF"/>
                </a:solidFill>
                <a:latin typeface="Montserrat"/>
                <a:ea typeface="Montserrat"/>
                <a:cs typeface="Montserrat"/>
                <a:sym typeface="Montserrat"/>
              </a:rPr>
              <a:t>contre</a:t>
            </a:r>
            <a:r>
              <a:rPr lang="en-US" sz="2650" dirty="0">
                <a:solidFill>
                  <a:srgbClr val="FFFFFF"/>
                </a:solidFill>
                <a:latin typeface="Montserrat"/>
                <a:ea typeface="Montserrat"/>
                <a:cs typeface="Montserrat"/>
                <a:sym typeface="Montserrat"/>
              </a:rPr>
              <a:t> les </a:t>
            </a:r>
            <a:r>
              <a:rPr lang="en-US" sz="2650" dirty="0" err="1">
                <a:solidFill>
                  <a:srgbClr val="FFFFFF"/>
                </a:solidFill>
                <a:latin typeface="Montserrat"/>
                <a:ea typeface="Montserrat"/>
                <a:cs typeface="Montserrat"/>
                <a:sym typeface="Montserrat"/>
              </a:rPr>
              <a:t>attaques</a:t>
            </a:r>
            <a:r>
              <a:rPr lang="en-US" sz="2650" dirty="0">
                <a:solidFill>
                  <a:srgbClr val="FFFFFF"/>
                </a:solidFill>
                <a:latin typeface="Montserrat"/>
                <a:ea typeface="Montserrat"/>
                <a:cs typeface="Montserrat"/>
                <a:sym typeface="Montserrat"/>
              </a:rPr>
              <a:t> et difficile à </a:t>
            </a:r>
            <a:r>
              <a:rPr lang="en-US" sz="2650" dirty="0" err="1">
                <a:solidFill>
                  <a:srgbClr val="FFFFFF"/>
                </a:solidFill>
                <a:latin typeface="Montserrat"/>
                <a:ea typeface="Montserrat"/>
                <a:cs typeface="Montserrat"/>
                <a:sym typeface="Montserrat"/>
              </a:rPr>
              <a:t>prédire</a:t>
            </a:r>
            <a:r>
              <a:rPr lang="en-US" sz="2650" dirty="0">
                <a:solidFill>
                  <a:srgbClr val="FFFFFF"/>
                </a:solidFill>
                <a:latin typeface="Montserrat"/>
                <a:ea typeface="Montserrat"/>
                <a:cs typeface="Montserrat"/>
                <a:sym typeface="Montserrat"/>
              </a:rPr>
              <a:t>.</a:t>
            </a:r>
          </a:p>
        </p:txBody>
      </p:sp>
      <p:sp>
        <p:nvSpPr>
          <p:cNvPr id="12" name="TextBox 12"/>
          <p:cNvSpPr txBox="1"/>
          <p:nvPr/>
        </p:nvSpPr>
        <p:spPr>
          <a:xfrm>
            <a:off x="3336618" y="3224850"/>
            <a:ext cx="11614763" cy="2920418"/>
          </a:xfrm>
          <a:prstGeom prst="rect">
            <a:avLst/>
          </a:prstGeom>
        </p:spPr>
        <p:txBody>
          <a:bodyPr lIns="0" tIns="0" rIns="0" bIns="0" rtlCol="0" anchor="t">
            <a:spAutoFit/>
          </a:bodyPr>
          <a:lstStyle/>
          <a:p>
            <a:pPr algn="ctr">
              <a:lnSpc>
                <a:spcPts val="11342"/>
              </a:lnSpc>
            </a:pPr>
            <a:r>
              <a:rPr lang="en-US" sz="10802" spc="-550" dirty="0">
                <a:solidFill>
                  <a:srgbClr val="FFFFFF"/>
                </a:solidFill>
                <a:latin typeface="Open Sauce Light"/>
                <a:ea typeface="Open Sauce Light"/>
                <a:cs typeface="Open Sauce Light"/>
                <a:sym typeface="Open Sauce Light"/>
              </a:rPr>
              <a:t>4.3 </a:t>
            </a:r>
            <a:r>
              <a:rPr lang="en-US" sz="10802" spc="-550" dirty="0" err="1">
                <a:solidFill>
                  <a:srgbClr val="FFFFFF"/>
                </a:solidFill>
                <a:latin typeface="Open Sauce Light"/>
                <a:ea typeface="Open Sauce Light"/>
                <a:cs typeface="Open Sauce Light"/>
                <a:sym typeface="Open Sauce Light"/>
              </a:rPr>
              <a:t>Chiffrement</a:t>
            </a:r>
            <a:r>
              <a:rPr lang="en-US" sz="10802" spc="-550" dirty="0">
                <a:solidFill>
                  <a:srgbClr val="FFFFFF"/>
                </a:solidFill>
                <a:latin typeface="Open Sauce Light"/>
                <a:ea typeface="Open Sauce Light"/>
                <a:cs typeface="Open Sauce Light"/>
                <a:sym typeface="Open Sauce Light"/>
              </a:rPr>
              <a:t> </a:t>
            </a:r>
            <a:r>
              <a:rPr lang="en-US" sz="10802" spc="-550" dirty="0" err="1">
                <a:solidFill>
                  <a:srgbClr val="FFFFFF"/>
                </a:solidFill>
                <a:latin typeface="Open Sauce Light"/>
                <a:ea typeface="Open Sauce Light"/>
                <a:cs typeface="Open Sauce Light"/>
                <a:sym typeface="Open Sauce Light"/>
              </a:rPr>
              <a:t>chaotique</a:t>
            </a:r>
            <a:endParaRPr lang="en-US" sz="10802" spc="-550" dirty="0">
              <a:solidFill>
                <a:srgbClr val="FFFFFF"/>
              </a:solidFill>
              <a:latin typeface="Open Sauce Light"/>
              <a:ea typeface="Open Sauce Light"/>
              <a:cs typeface="Open Sauce Light"/>
              <a:sym typeface="Open Sauce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1583376">
            <a:off x="-120513" y="-271101"/>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3"/>
            <a:stretch>
              <a:fillRect/>
            </a:stretch>
          </a:blipFill>
        </p:spPr>
        <p:txBody>
          <a:bodyPr/>
          <a:lstStyle/>
          <a:p>
            <a:endParaRPr lang="fr-DZ" dirty="0"/>
          </a:p>
        </p:txBody>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6188040">
            <a:off x="10417017" y="1712106"/>
            <a:ext cx="7677312" cy="8626193"/>
          </a:xfrm>
          <a:custGeom>
            <a:avLst/>
            <a:gdLst/>
            <a:ahLst/>
            <a:cxnLst/>
            <a:rect l="l" t="t" r="r" b="b"/>
            <a:pathLst>
              <a:path w="7677312" h="8626193">
                <a:moveTo>
                  <a:pt x="0" y="0"/>
                </a:moveTo>
                <a:lnTo>
                  <a:pt x="7677312" y="0"/>
                </a:lnTo>
                <a:lnTo>
                  <a:pt x="7677312" y="8626193"/>
                </a:lnTo>
                <a:lnTo>
                  <a:pt x="0" y="8626193"/>
                </a:lnTo>
                <a:lnTo>
                  <a:pt x="0" y="0"/>
                </a:lnTo>
                <a:close/>
              </a:path>
            </a:pathLst>
          </a:custGeom>
          <a:blipFill>
            <a:blip r:embed="rId3"/>
            <a:stretch>
              <a:fillRect/>
            </a:stretch>
          </a:blipFill>
        </p:spPr>
        <p:txBody>
          <a:bodyPr/>
          <a:lstStyle/>
          <a:p>
            <a:endParaRPr lang="fr-DZ" dirty="0"/>
          </a:p>
        </p:txBody>
      </p:sp>
      <p:grpSp>
        <p:nvGrpSpPr>
          <p:cNvPr id="7" name="Group 7"/>
          <p:cNvGrpSpPr/>
          <p:nvPr/>
        </p:nvGrpSpPr>
        <p:grpSpPr>
          <a:xfrm>
            <a:off x="824365" y="1984365"/>
            <a:ext cx="16714170" cy="7627447"/>
            <a:chOff x="0" y="0"/>
            <a:chExt cx="4402086" cy="2008875"/>
          </a:xfrm>
        </p:grpSpPr>
        <p:sp>
          <p:nvSpPr>
            <p:cNvPr id="8" name="Freeform 8"/>
            <p:cNvSpPr/>
            <p:nvPr/>
          </p:nvSpPr>
          <p:spPr>
            <a:xfrm>
              <a:off x="0" y="0"/>
              <a:ext cx="4402086" cy="2008875"/>
            </a:xfrm>
            <a:custGeom>
              <a:avLst/>
              <a:gdLst/>
              <a:ahLst/>
              <a:cxnLst/>
              <a:rect l="l" t="t" r="r" b="b"/>
              <a:pathLst>
                <a:path w="4402086" h="2008875">
                  <a:moveTo>
                    <a:pt x="15285" y="0"/>
                  </a:moveTo>
                  <a:lnTo>
                    <a:pt x="4386800" y="0"/>
                  </a:lnTo>
                  <a:cubicBezTo>
                    <a:pt x="4390854" y="0"/>
                    <a:pt x="4394742" y="1610"/>
                    <a:pt x="4397609" y="4477"/>
                  </a:cubicBezTo>
                  <a:cubicBezTo>
                    <a:pt x="4400476" y="7344"/>
                    <a:pt x="4402086" y="11231"/>
                    <a:pt x="4402086" y="15285"/>
                  </a:cubicBezTo>
                  <a:lnTo>
                    <a:pt x="4402086" y="1993589"/>
                  </a:lnTo>
                  <a:cubicBezTo>
                    <a:pt x="4402086" y="1997643"/>
                    <a:pt x="4400476" y="2001531"/>
                    <a:pt x="4397609" y="2004398"/>
                  </a:cubicBezTo>
                  <a:cubicBezTo>
                    <a:pt x="4394742" y="2007264"/>
                    <a:pt x="4390854" y="2008875"/>
                    <a:pt x="4386800" y="2008875"/>
                  </a:cubicBezTo>
                  <a:lnTo>
                    <a:pt x="15285" y="2008875"/>
                  </a:lnTo>
                  <a:cubicBezTo>
                    <a:pt x="11231" y="2008875"/>
                    <a:pt x="7344" y="2007264"/>
                    <a:pt x="4477" y="2004398"/>
                  </a:cubicBezTo>
                  <a:cubicBezTo>
                    <a:pt x="1610" y="2001531"/>
                    <a:pt x="0" y="1997643"/>
                    <a:pt x="0" y="1993589"/>
                  </a:cubicBezTo>
                  <a:lnTo>
                    <a:pt x="0" y="15285"/>
                  </a:lnTo>
                  <a:cubicBezTo>
                    <a:pt x="0" y="11231"/>
                    <a:pt x="1610" y="7344"/>
                    <a:pt x="4477" y="4477"/>
                  </a:cubicBezTo>
                  <a:cubicBezTo>
                    <a:pt x="7344" y="1610"/>
                    <a:pt x="11231" y="0"/>
                    <a:pt x="15285" y="0"/>
                  </a:cubicBezTo>
                  <a:close/>
                </a:path>
              </a:pathLst>
            </a:custGeom>
            <a:solidFill>
              <a:srgbClr val="000000">
                <a:alpha val="0"/>
              </a:srgbClr>
            </a:solidFill>
            <a:ln w="200025" cap="rnd">
              <a:gradFill>
                <a:gsLst>
                  <a:gs pos="0">
                    <a:srgbClr val="7800FF">
                      <a:alpha val="100000"/>
                    </a:srgbClr>
                  </a:gs>
                  <a:gs pos="50000">
                    <a:srgbClr val="FF00ED">
                      <a:alpha val="100000"/>
                    </a:srgbClr>
                  </a:gs>
                  <a:gs pos="100000">
                    <a:srgbClr val="00F7FF">
                      <a:alpha val="100000"/>
                    </a:srgbClr>
                  </a:gs>
                </a:gsLst>
                <a:path path="circle">
                  <a:fillToRect r="100000" b="100000"/>
                </a:path>
                <a:tileRect l="-100000" t="-100000"/>
              </a:gradFill>
              <a:prstDash val="solid"/>
              <a:round/>
            </a:ln>
          </p:spPr>
        </p:sp>
        <p:sp>
          <p:nvSpPr>
            <p:cNvPr id="9" name="TextBox 9"/>
            <p:cNvSpPr txBox="1"/>
            <p:nvPr/>
          </p:nvSpPr>
          <p:spPr>
            <a:xfrm>
              <a:off x="0" y="-47625"/>
              <a:ext cx="4402086" cy="2056500"/>
            </a:xfrm>
            <a:prstGeom prst="rect">
              <a:avLst/>
            </a:prstGeom>
          </p:spPr>
          <p:txBody>
            <a:bodyPr lIns="50800" tIns="50800" rIns="50800" bIns="50800" rtlCol="0" anchor="ctr"/>
            <a:lstStyle/>
            <a:p>
              <a:pPr algn="ctr">
                <a:lnSpc>
                  <a:spcPts val="3468"/>
                </a:lnSpc>
              </a:pPr>
              <a:endParaRPr/>
            </a:p>
          </p:txBody>
        </p:sp>
      </p:grpSp>
      <p:sp>
        <p:nvSpPr>
          <p:cNvPr id="10" name="TextBox 10"/>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11</a:t>
            </a:r>
          </a:p>
        </p:txBody>
      </p:sp>
      <p:sp>
        <p:nvSpPr>
          <p:cNvPr id="12" name="TextBox 12"/>
          <p:cNvSpPr txBox="1"/>
          <p:nvPr/>
        </p:nvSpPr>
        <p:spPr>
          <a:xfrm>
            <a:off x="3374068" y="1984364"/>
            <a:ext cx="11614763" cy="1449115"/>
          </a:xfrm>
          <a:prstGeom prst="rect">
            <a:avLst/>
          </a:prstGeom>
        </p:spPr>
        <p:txBody>
          <a:bodyPr lIns="0" tIns="0" rIns="0" bIns="0" rtlCol="0" anchor="t">
            <a:spAutoFit/>
          </a:bodyPr>
          <a:lstStyle/>
          <a:p>
            <a:pPr algn="ctr">
              <a:lnSpc>
                <a:spcPts val="11342"/>
              </a:lnSpc>
            </a:pPr>
            <a:r>
              <a:rPr lang="fr-FR" sz="9600" dirty="0">
                <a:solidFill>
                  <a:schemeClr val="bg1"/>
                </a:solidFill>
                <a:latin typeface="Open Sauce Light" panose="020B0604020202020204" charset="0"/>
              </a:rPr>
              <a:t>Exemple :</a:t>
            </a:r>
            <a:endParaRPr lang="en-US" sz="10802" spc="-550" dirty="0">
              <a:solidFill>
                <a:schemeClr val="bg1"/>
              </a:solidFill>
              <a:latin typeface="Open Sauce Light" panose="020B0604020202020204" charset="0"/>
              <a:ea typeface="Open Sauce Light"/>
              <a:cs typeface="Open Sauce Light"/>
              <a:sym typeface="Open Sauce Light"/>
            </a:endParaRPr>
          </a:p>
        </p:txBody>
      </p:sp>
      <p:sp>
        <p:nvSpPr>
          <p:cNvPr id="17" name="Rectangle 4">
            <a:extLst>
              <a:ext uri="{FF2B5EF4-FFF2-40B4-BE49-F238E27FC236}">
                <a16:creationId xmlns:a16="http://schemas.microsoft.com/office/drawing/2014/main" id="{14DA84E0-AA0D-477C-922B-A538FF38669F}"/>
              </a:ext>
            </a:extLst>
          </p:cNvPr>
          <p:cNvSpPr>
            <a:spLocks noChangeArrowheads="1"/>
          </p:cNvSpPr>
          <p:nvPr/>
        </p:nvSpPr>
        <p:spPr bwMode="auto">
          <a:xfrm>
            <a:off x="1323237" y="3352995"/>
            <a:ext cx="629676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sz="4000" b="1" dirty="0" err="1">
                <a:solidFill>
                  <a:schemeClr val="bg1"/>
                </a:solidFill>
              </a:rPr>
              <a:t>Logistic</a:t>
            </a:r>
            <a:r>
              <a:rPr lang="fr-FR" sz="4000" b="1" dirty="0">
                <a:solidFill>
                  <a:schemeClr val="bg1"/>
                </a:solidFill>
              </a:rPr>
              <a:t> </a:t>
            </a:r>
            <a:r>
              <a:rPr lang="fr-FR" sz="4000" b="1" dirty="0" err="1">
                <a:solidFill>
                  <a:schemeClr val="bg1"/>
                </a:solidFill>
              </a:rPr>
              <a:t>map</a:t>
            </a:r>
            <a:r>
              <a:rPr lang="fr-FR" sz="4000" b="1" dirty="0">
                <a:solidFill>
                  <a:schemeClr val="bg1"/>
                </a:solidFill>
              </a:rPr>
              <a:t> :</a:t>
            </a:r>
            <a:r>
              <a:rPr lang="pt-BR" sz="4000" b="1" dirty="0">
                <a:solidFill>
                  <a:schemeClr val="bg1"/>
                </a:solidFill>
              </a:rPr>
              <a:t> </a:t>
            </a:r>
            <a:r>
              <a:rPr lang="pt-BR" sz="4000" dirty="0">
                <a:solidFill>
                  <a:schemeClr val="bg1"/>
                </a:solidFill>
                <a:highlight>
                  <a:srgbClr val="000000"/>
                </a:highlight>
              </a:rPr>
              <a:t>x</a:t>
            </a:r>
            <a:r>
              <a:rPr lang="pt-BR" sz="2800" dirty="0">
                <a:solidFill>
                  <a:schemeClr val="bg1"/>
                </a:solidFill>
                <a:highlight>
                  <a:srgbClr val="000000"/>
                </a:highlight>
              </a:rPr>
              <a:t>n+1</a:t>
            </a:r>
            <a:r>
              <a:rPr lang="pt-BR" sz="3200" dirty="0">
                <a:solidFill>
                  <a:schemeClr val="bg1"/>
                </a:solidFill>
                <a:highlight>
                  <a:srgbClr val="000000"/>
                </a:highlight>
              </a:rPr>
              <a:t>​=r×x</a:t>
            </a:r>
            <a:r>
              <a:rPr lang="pt-BR" sz="2800" dirty="0">
                <a:solidFill>
                  <a:schemeClr val="bg1"/>
                </a:solidFill>
                <a:highlight>
                  <a:srgbClr val="000000"/>
                </a:highlight>
              </a:rPr>
              <a:t>n</a:t>
            </a:r>
            <a:r>
              <a:rPr lang="pt-BR" sz="3200" dirty="0">
                <a:solidFill>
                  <a:schemeClr val="bg1"/>
                </a:solidFill>
                <a:highlight>
                  <a:srgbClr val="000000"/>
                </a:highlight>
              </a:rPr>
              <a:t>​×(1−x</a:t>
            </a:r>
            <a:r>
              <a:rPr lang="pt-BR" sz="2800" dirty="0">
                <a:solidFill>
                  <a:schemeClr val="bg1"/>
                </a:solidFill>
                <a:highlight>
                  <a:srgbClr val="000000"/>
                </a:highlight>
              </a:rPr>
              <a:t>n</a:t>
            </a:r>
            <a:r>
              <a:rPr lang="pt-BR" sz="3200" dirty="0">
                <a:solidFill>
                  <a:schemeClr val="bg1"/>
                </a:solidFill>
                <a:highlight>
                  <a:srgbClr val="000000"/>
                </a:highlight>
              </a:rPr>
              <a:t>​)</a:t>
            </a:r>
            <a:endParaRPr lang="fr-FR" sz="3200" dirty="0">
              <a:solidFill>
                <a:schemeClr val="bg1"/>
              </a:solidFill>
              <a:highlight>
                <a:srgbClr val="000000"/>
              </a:highlight>
            </a:endParaRPr>
          </a:p>
        </p:txBody>
      </p:sp>
      <p:sp>
        <p:nvSpPr>
          <p:cNvPr id="11" name="TextBox 10">
            <a:extLst>
              <a:ext uri="{FF2B5EF4-FFF2-40B4-BE49-F238E27FC236}">
                <a16:creationId xmlns:a16="http://schemas.microsoft.com/office/drawing/2014/main" id="{1FEAE931-4678-4B62-AA60-C83E762B1AAF}"/>
              </a:ext>
            </a:extLst>
          </p:cNvPr>
          <p:cNvSpPr txBox="1"/>
          <p:nvPr/>
        </p:nvSpPr>
        <p:spPr>
          <a:xfrm>
            <a:off x="1323236" y="4266524"/>
            <a:ext cx="8049363" cy="2062103"/>
          </a:xfrm>
          <a:prstGeom prst="rect">
            <a:avLst/>
          </a:prstGeom>
          <a:noFill/>
        </p:spPr>
        <p:txBody>
          <a:bodyPr wrap="square" rtlCol="0">
            <a:spAutoFit/>
          </a:bodyPr>
          <a:lstStyle/>
          <a:p>
            <a:r>
              <a:rPr lang="fr-FR" sz="3200" b="1" dirty="0">
                <a:solidFill>
                  <a:schemeClr val="bg1"/>
                </a:solidFill>
              </a:rPr>
              <a:t>r</a:t>
            </a:r>
            <a:r>
              <a:rPr lang="fr-FR" sz="3200" dirty="0">
                <a:solidFill>
                  <a:schemeClr val="bg1"/>
                </a:solidFill>
              </a:rPr>
              <a:t> ➔ </a:t>
            </a:r>
            <a:r>
              <a:rPr lang="fr-FR" sz="3200" b="1" dirty="0">
                <a:solidFill>
                  <a:schemeClr val="bg1"/>
                </a:solidFill>
              </a:rPr>
              <a:t>Paramètre de contrôle</a:t>
            </a:r>
            <a:r>
              <a:rPr lang="fr-FR" sz="3200" dirty="0">
                <a:solidFill>
                  <a:schemeClr val="bg1"/>
                </a:solidFill>
              </a:rPr>
              <a:t> :</a:t>
            </a:r>
          </a:p>
          <a:p>
            <a:pPr>
              <a:buFont typeface="Arial" panose="020B0604020202020204" pitchFamily="34" charset="0"/>
              <a:buChar char="•"/>
            </a:pPr>
            <a:r>
              <a:rPr lang="fr-FR" sz="3200" dirty="0">
                <a:solidFill>
                  <a:schemeClr val="bg1"/>
                </a:solidFill>
              </a:rPr>
              <a:t>C'est un nombre réel choisi entre 0 et 4.</a:t>
            </a:r>
          </a:p>
          <a:p>
            <a:r>
              <a:rPr lang="fr-FR" sz="3200" b="1" dirty="0">
                <a:solidFill>
                  <a:schemeClr val="bg1"/>
                </a:solidFill>
              </a:rPr>
              <a:t>X</a:t>
            </a:r>
            <a:r>
              <a:rPr lang="fr-FR" sz="2400" b="1" dirty="0">
                <a:solidFill>
                  <a:schemeClr val="bg1"/>
                </a:solidFill>
              </a:rPr>
              <a:t>0</a:t>
            </a:r>
            <a:r>
              <a:rPr lang="fr-FR" sz="3200" b="1" dirty="0">
                <a:solidFill>
                  <a:schemeClr val="bg1"/>
                </a:solidFill>
              </a:rPr>
              <a:t>​</a:t>
            </a:r>
            <a:r>
              <a:rPr lang="fr-FR" sz="3200" dirty="0">
                <a:solidFill>
                  <a:schemeClr val="bg1"/>
                </a:solidFill>
              </a:rPr>
              <a:t> ➔ </a:t>
            </a:r>
            <a:r>
              <a:rPr lang="fr-FR" sz="3200" b="1" dirty="0">
                <a:solidFill>
                  <a:schemeClr val="bg1"/>
                </a:solidFill>
              </a:rPr>
              <a:t>Condition initiale</a:t>
            </a:r>
            <a:r>
              <a:rPr lang="fr-FR" sz="3200" dirty="0">
                <a:solidFill>
                  <a:schemeClr val="bg1"/>
                </a:solidFill>
              </a:rPr>
              <a:t> :</a:t>
            </a:r>
          </a:p>
          <a:p>
            <a:pPr>
              <a:buFont typeface="Arial" panose="020B0604020202020204" pitchFamily="34" charset="0"/>
              <a:buChar char="•"/>
            </a:pPr>
            <a:r>
              <a:rPr lang="fr-FR" sz="3200" dirty="0">
                <a:solidFill>
                  <a:schemeClr val="bg1"/>
                </a:solidFill>
              </a:rPr>
              <a:t>Elle doit être un nombre compris entre 0 et 1.</a:t>
            </a:r>
          </a:p>
        </p:txBody>
      </p:sp>
      <p:sp>
        <p:nvSpPr>
          <p:cNvPr id="16" name="Rectangle 1">
            <a:extLst>
              <a:ext uri="{FF2B5EF4-FFF2-40B4-BE49-F238E27FC236}">
                <a16:creationId xmlns:a16="http://schemas.microsoft.com/office/drawing/2014/main" id="{90E3E4EA-474C-4609-B194-CF480187B673}"/>
              </a:ext>
            </a:extLst>
          </p:cNvPr>
          <p:cNvSpPr>
            <a:spLocks noChangeArrowheads="1"/>
          </p:cNvSpPr>
          <p:nvPr/>
        </p:nvSpPr>
        <p:spPr bwMode="auto">
          <a:xfrm>
            <a:off x="1356383" y="6335195"/>
            <a:ext cx="25298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DZ" sz="3200" b="0" i="0" u="none" strike="noStrike" cap="none" normalizeH="0" baseline="0" dirty="0">
                <a:ln>
                  <a:noFill/>
                </a:ln>
                <a:solidFill>
                  <a:schemeClr val="bg1"/>
                </a:solidFill>
                <a:effectLst/>
                <a:highlight>
                  <a:srgbClr val="000000"/>
                </a:highlight>
                <a:latin typeface="Arial" panose="020B0604020202020204" pitchFamily="34" charset="0"/>
              </a:rPr>
              <a:t> </a:t>
            </a:r>
            <a:r>
              <a:rPr kumimoji="0" lang="fr-DZ" altLang="fr-DZ" sz="3200" b="0" i="0" u="none" strike="noStrike" cap="none" normalizeH="0" baseline="0" dirty="0">
                <a:ln>
                  <a:noFill/>
                </a:ln>
                <a:solidFill>
                  <a:schemeClr val="bg1"/>
                </a:solidFill>
                <a:effectLst/>
                <a:highlight>
                  <a:srgbClr val="000000"/>
                </a:highlight>
                <a:latin typeface="Arial" panose="020B0604020202020204" pitchFamily="34" charset="0"/>
              </a:rPr>
              <a:t>r</a:t>
            </a:r>
            <a:r>
              <a:rPr kumimoji="0" lang="fr-FR" altLang="fr-DZ" sz="3200" b="0" i="0" u="none" strike="noStrike" cap="none" normalizeH="0" baseline="0" dirty="0">
                <a:ln>
                  <a:noFill/>
                </a:ln>
                <a:solidFill>
                  <a:schemeClr val="bg1"/>
                </a:solidFill>
                <a:effectLst/>
                <a:highlight>
                  <a:srgbClr val="000000"/>
                </a:highlight>
                <a:latin typeface="Arial" panose="020B0604020202020204" pitchFamily="34" charset="0"/>
              </a:rPr>
              <a:t>  </a:t>
            </a:r>
            <a:r>
              <a:rPr kumimoji="0" lang="fr-DZ" altLang="fr-DZ" sz="3200" b="0" i="0" u="none" strike="noStrike" cap="none" normalizeH="0" baseline="0" dirty="0">
                <a:ln>
                  <a:noFill/>
                </a:ln>
                <a:solidFill>
                  <a:schemeClr val="bg1"/>
                </a:solidFill>
                <a:effectLst/>
                <a:latin typeface="Arial" panose="020B0604020202020204" pitchFamily="34" charset="0"/>
              </a:rPr>
              <a:t>=3.9</a:t>
            </a:r>
            <a:endParaRPr kumimoji="0" lang="fr-FR" altLang="fr-DZ"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DZ" altLang="fr-DZ" sz="3200" b="0" i="0" u="none" strike="noStrike" cap="none" normalizeH="0" baseline="0" dirty="0">
                <a:ln>
                  <a:noFill/>
                </a:ln>
                <a:solidFill>
                  <a:schemeClr val="bg1"/>
                </a:solidFill>
                <a:effectLst/>
                <a:highlight>
                  <a:srgbClr val="000000"/>
                </a:highlight>
                <a:latin typeface="Arial" panose="020B0604020202020204" pitchFamily="34" charset="0"/>
              </a:rPr>
              <a:t>x0</a:t>
            </a:r>
            <a:r>
              <a:rPr kumimoji="0" lang="fr-DZ" altLang="fr-DZ" sz="3200" b="0" i="0" u="none" strike="noStrike" cap="none" normalizeH="0" baseline="0" dirty="0">
                <a:ln>
                  <a:noFill/>
                </a:ln>
                <a:solidFill>
                  <a:schemeClr val="bg1"/>
                </a:solidFill>
                <a:effectLst/>
                <a:latin typeface="Arial" panose="020B0604020202020204" pitchFamily="34" charset="0"/>
              </a:rPr>
              <a:t>=0.5</a:t>
            </a:r>
          </a:p>
        </p:txBody>
      </p:sp>
      <p:graphicFrame>
        <p:nvGraphicFramePr>
          <p:cNvPr id="19" name="Table 22">
            <a:extLst>
              <a:ext uri="{FF2B5EF4-FFF2-40B4-BE49-F238E27FC236}">
                <a16:creationId xmlns:a16="http://schemas.microsoft.com/office/drawing/2014/main" id="{8E07425E-8242-44ED-8EC6-007DF29C9358}"/>
              </a:ext>
            </a:extLst>
          </p:cNvPr>
          <p:cNvGraphicFramePr>
            <a:graphicFrameLocks noGrp="1"/>
          </p:cNvGraphicFramePr>
          <p:nvPr>
            <p:extLst>
              <p:ext uri="{D42A27DB-BD31-4B8C-83A1-F6EECF244321}">
                <p14:modId xmlns:p14="http://schemas.microsoft.com/office/powerpoint/2010/main" val="78560998"/>
              </p:ext>
            </p:extLst>
          </p:nvPr>
        </p:nvGraphicFramePr>
        <p:xfrm>
          <a:off x="3278070" y="6810185"/>
          <a:ext cx="4976220" cy="2319159"/>
        </p:xfrm>
        <a:graphic>
          <a:graphicData uri="http://schemas.openxmlformats.org/drawingml/2006/table">
            <a:tbl>
              <a:tblPr firstRow="1" bandRow="1">
                <a:tableStyleId>{00A15C55-8517-42AA-B614-E9B94910E393}</a:tableStyleId>
              </a:tblPr>
              <a:tblGrid>
                <a:gridCol w="1658740">
                  <a:extLst>
                    <a:ext uri="{9D8B030D-6E8A-4147-A177-3AD203B41FA5}">
                      <a16:colId xmlns:a16="http://schemas.microsoft.com/office/drawing/2014/main" val="581480768"/>
                    </a:ext>
                  </a:extLst>
                </a:gridCol>
                <a:gridCol w="1658740">
                  <a:extLst>
                    <a:ext uri="{9D8B030D-6E8A-4147-A177-3AD203B41FA5}">
                      <a16:colId xmlns:a16="http://schemas.microsoft.com/office/drawing/2014/main" val="2239367593"/>
                    </a:ext>
                  </a:extLst>
                </a:gridCol>
                <a:gridCol w="1658740">
                  <a:extLst>
                    <a:ext uri="{9D8B030D-6E8A-4147-A177-3AD203B41FA5}">
                      <a16:colId xmlns:a16="http://schemas.microsoft.com/office/drawing/2014/main" val="1509933265"/>
                    </a:ext>
                  </a:extLst>
                </a:gridCol>
              </a:tblGrid>
              <a:tr h="0">
                <a:tc>
                  <a:txBody>
                    <a:bodyPr/>
                    <a:lstStyle/>
                    <a:p>
                      <a:pPr algn="ctr"/>
                      <a:r>
                        <a:rPr lang="fr-FR" sz="2400" dirty="0" err="1">
                          <a:solidFill>
                            <a:schemeClr val="tx1"/>
                          </a:solidFill>
                        </a:rPr>
                        <a:t>Xn</a:t>
                      </a:r>
                      <a:r>
                        <a:rPr lang="fr-FR" sz="2400" dirty="0">
                          <a:solidFill>
                            <a:schemeClr val="tx1"/>
                          </a:solidFill>
                        </a:rPr>
                        <a:t>​×255</a:t>
                      </a:r>
                      <a:endParaRPr lang="fr-DZ" sz="2400" dirty="0">
                        <a:solidFill>
                          <a:schemeClr val="tx1"/>
                        </a:solidFill>
                      </a:endParaRPr>
                    </a:p>
                  </a:txBody>
                  <a:tcPr/>
                </a:tc>
                <a:tc>
                  <a:txBody>
                    <a:bodyPr/>
                    <a:lstStyle/>
                    <a:p>
                      <a:pPr algn="ctr"/>
                      <a:r>
                        <a:rPr lang="fr-FR" sz="2400" dirty="0" err="1">
                          <a:solidFill>
                            <a:schemeClr val="tx1"/>
                          </a:solidFill>
                        </a:rPr>
                        <a:t>Xn</a:t>
                      </a:r>
                      <a:endParaRPr lang="fr-DZ" sz="2400" dirty="0">
                        <a:solidFill>
                          <a:schemeClr val="tx1"/>
                        </a:solidFill>
                      </a:endParaRPr>
                    </a:p>
                  </a:txBody>
                  <a:tcPr/>
                </a:tc>
                <a:tc>
                  <a:txBody>
                    <a:bodyPr/>
                    <a:lstStyle/>
                    <a:p>
                      <a:pPr algn="ctr"/>
                      <a:r>
                        <a:rPr lang="fr-FR" sz="2400" dirty="0">
                          <a:solidFill>
                            <a:schemeClr val="tx1"/>
                          </a:solidFill>
                        </a:rPr>
                        <a:t>n</a:t>
                      </a:r>
                      <a:endParaRPr lang="fr-DZ" sz="2400" dirty="0">
                        <a:solidFill>
                          <a:schemeClr val="tx1"/>
                        </a:solidFill>
                      </a:endParaRPr>
                    </a:p>
                  </a:txBody>
                  <a:tcPr/>
                </a:tc>
                <a:extLst>
                  <a:ext uri="{0D108BD9-81ED-4DB2-BD59-A6C34878D82A}">
                    <a16:rowId xmlns:a16="http://schemas.microsoft.com/office/drawing/2014/main" val="3666895318"/>
                  </a:ext>
                </a:extLst>
              </a:tr>
              <a:tr h="490359">
                <a:tc>
                  <a:txBody>
                    <a:bodyPr/>
                    <a:lstStyle/>
                    <a:p>
                      <a:pPr algn="ctr"/>
                      <a:r>
                        <a:rPr lang="fr-FR" sz="2400" dirty="0"/>
                        <a:t>128</a:t>
                      </a:r>
                      <a:endParaRPr lang="fr-DZ" sz="2400" dirty="0"/>
                    </a:p>
                  </a:txBody>
                  <a:tcPr/>
                </a:tc>
                <a:tc>
                  <a:txBody>
                    <a:bodyPr/>
                    <a:lstStyle/>
                    <a:p>
                      <a:pPr algn="ctr"/>
                      <a:r>
                        <a:rPr lang="fr-FR" sz="2400" dirty="0"/>
                        <a:t>0,5</a:t>
                      </a:r>
                      <a:endParaRPr lang="fr-DZ" sz="2400" dirty="0"/>
                    </a:p>
                  </a:txBody>
                  <a:tcPr/>
                </a:tc>
                <a:tc>
                  <a:txBody>
                    <a:bodyPr/>
                    <a:lstStyle/>
                    <a:p>
                      <a:pPr algn="ctr"/>
                      <a:r>
                        <a:rPr lang="fr-FR" sz="2400" dirty="0"/>
                        <a:t>0</a:t>
                      </a:r>
                      <a:endParaRPr lang="fr-DZ" sz="2400" dirty="0"/>
                    </a:p>
                  </a:txBody>
                  <a:tcPr/>
                </a:tc>
                <a:extLst>
                  <a:ext uri="{0D108BD9-81ED-4DB2-BD59-A6C34878D82A}">
                    <a16:rowId xmlns:a16="http://schemas.microsoft.com/office/drawing/2014/main" val="2675275414"/>
                  </a:ext>
                </a:extLst>
              </a:tr>
              <a:tr h="370840">
                <a:tc>
                  <a:txBody>
                    <a:bodyPr/>
                    <a:lstStyle/>
                    <a:p>
                      <a:pPr algn="ctr"/>
                      <a:r>
                        <a:rPr lang="fr-FR" sz="2400" dirty="0"/>
                        <a:t>248</a:t>
                      </a:r>
                      <a:endParaRPr lang="fr-DZ" sz="2400" dirty="0"/>
                    </a:p>
                  </a:txBody>
                  <a:tcPr/>
                </a:tc>
                <a:tc>
                  <a:txBody>
                    <a:bodyPr/>
                    <a:lstStyle/>
                    <a:p>
                      <a:pPr algn="ctr"/>
                      <a:r>
                        <a:rPr lang="fr-FR" sz="2400" dirty="0"/>
                        <a:t>0,975</a:t>
                      </a:r>
                      <a:endParaRPr lang="fr-DZ" sz="2400" dirty="0"/>
                    </a:p>
                  </a:txBody>
                  <a:tcPr/>
                </a:tc>
                <a:tc>
                  <a:txBody>
                    <a:bodyPr/>
                    <a:lstStyle/>
                    <a:p>
                      <a:pPr algn="ctr"/>
                      <a:r>
                        <a:rPr lang="fr-FR" sz="2400" dirty="0"/>
                        <a:t>1</a:t>
                      </a:r>
                      <a:endParaRPr lang="fr-DZ" sz="2400" dirty="0"/>
                    </a:p>
                  </a:txBody>
                  <a:tcPr/>
                </a:tc>
                <a:extLst>
                  <a:ext uri="{0D108BD9-81ED-4DB2-BD59-A6C34878D82A}">
                    <a16:rowId xmlns:a16="http://schemas.microsoft.com/office/drawing/2014/main" val="2275968960"/>
                  </a:ext>
                </a:extLst>
              </a:tr>
              <a:tr h="370840">
                <a:tc>
                  <a:txBody>
                    <a:bodyPr/>
                    <a:lstStyle/>
                    <a:p>
                      <a:pPr algn="ctr"/>
                      <a:r>
                        <a:rPr lang="fr-FR" sz="2400" dirty="0"/>
                        <a:t>24</a:t>
                      </a:r>
                      <a:endParaRPr lang="fr-DZ" sz="2400" dirty="0"/>
                    </a:p>
                  </a:txBody>
                  <a:tcPr/>
                </a:tc>
                <a:tc>
                  <a:txBody>
                    <a:bodyPr/>
                    <a:lstStyle/>
                    <a:p>
                      <a:pPr algn="ctr"/>
                      <a:r>
                        <a:rPr lang="fr-FR" sz="2400" dirty="0"/>
                        <a:t>0,095</a:t>
                      </a:r>
                      <a:endParaRPr lang="fr-DZ" sz="2400" dirty="0"/>
                    </a:p>
                  </a:txBody>
                  <a:tcPr/>
                </a:tc>
                <a:tc>
                  <a:txBody>
                    <a:bodyPr/>
                    <a:lstStyle/>
                    <a:p>
                      <a:pPr algn="ctr"/>
                      <a:r>
                        <a:rPr lang="fr-FR" sz="2400" dirty="0"/>
                        <a:t>2</a:t>
                      </a:r>
                      <a:endParaRPr lang="fr-DZ" sz="2400" dirty="0"/>
                    </a:p>
                  </a:txBody>
                  <a:tcPr/>
                </a:tc>
                <a:extLst>
                  <a:ext uri="{0D108BD9-81ED-4DB2-BD59-A6C34878D82A}">
                    <a16:rowId xmlns:a16="http://schemas.microsoft.com/office/drawing/2014/main" val="319761046"/>
                  </a:ext>
                </a:extLst>
              </a:tr>
              <a:tr h="0">
                <a:tc>
                  <a:txBody>
                    <a:bodyPr/>
                    <a:lstStyle/>
                    <a:p>
                      <a:pPr algn="ctr"/>
                      <a:r>
                        <a:rPr lang="fr-FR" sz="2400" dirty="0"/>
                        <a:t>85</a:t>
                      </a:r>
                      <a:endParaRPr lang="fr-DZ" sz="2400" dirty="0"/>
                    </a:p>
                  </a:txBody>
                  <a:tcPr/>
                </a:tc>
                <a:tc>
                  <a:txBody>
                    <a:bodyPr/>
                    <a:lstStyle/>
                    <a:p>
                      <a:pPr algn="ctr"/>
                      <a:r>
                        <a:rPr lang="fr-FR" sz="2400" dirty="0"/>
                        <a:t>0,335</a:t>
                      </a:r>
                      <a:endParaRPr lang="fr-DZ" sz="2400" dirty="0"/>
                    </a:p>
                  </a:txBody>
                  <a:tcPr/>
                </a:tc>
                <a:tc>
                  <a:txBody>
                    <a:bodyPr/>
                    <a:lstStyle/>
                    <a:p>
                      <a:pPr algn="ctr"/>
                      <a:r>
                        <a:rPr lang="fr-FR" sz="2400" dirty="0"/>
                        <a:t>3</a:t>
                      </a:r>
                      <a:endParaRPr lang="fr-DZ" sz="2400" dirty="0"/>
                    </a:p>
                  </a:txBody>
                  <a:tcPr/>
                </a:tc>
                <a:extLst>
                  <a:ext uri="{0D108BD9-81ED-4DB2-BD59-A6C34878D82A}">
                    <a16:rowId xmlns:a16="http://schemas.microsoft.com/office/drawing/2014/main" val="1842616171"/>
                  </a:ext>
                </a:extLst>
              </a:tr>
            </a:tbl>
          </a:graphicData>
        </a:graphic>
      </p:graphicFrame>
      <p:graphicFrame>
        <p:nvGraphicFramePr>
          <p:cNvPr id="24" name="Table 23">
            <a:extLst>
              <a:ext uri="{FF2B5EF4-FFF2-40B4-BE49-F238E27FC236}">
                <a16:creationId xmlns:a16="http://schemas.microsoft.com/office/drawing/2014/main" id="{45266E95-BB1C-4B17-8569-DFB7FBF0925F}"/>
              </a:ext>
            </a:extLst>
          </p:cNvPr>
          <p:cNvGraphicFramePr>
            <a:graphicFrameLocks noGrp="1"/>
          </p:cNvGraphicFramePr>
          <p:nvPr>
            <p:extLst>
              <p:ext uri="{D42A27DB-BD31-4B8C-83A1-F6EECF244321}">
                <p14:modId xmlns:p14="http://schemas.microsoft.com/office/powerpoint/2010/main" val="2128492154"/>
              </p:ext>
            </p:extLst>
          </p:nvPr>
        </p:nvGraphicFramePr>
        <p:xfrm>
          <a:off x="10081915" y="3621029"/>
          <a:ext cx="5257800" cy="1048940"/>
        </p:xfrm>
        <a:graphic>
          <a:graphicData uri="http://schemas.openxmlformats.org/drawingml/2006/table">
            <a:tbl>
              <a:tblPr>
                <a:tableStyleId>{775DCB02-9BB8-47FD-8907-85C794F793BA}</a:tableStyleId>
              </a:tblPr>
              <a:tblGrid>
                <a:gridCol w="1314450">
                  <a:extLst>
                    <a:ext uri="{9D8B030D-6E8A-4147-A177-3AD203B41FA5}">
                      <a16:colId xmlns:a16="http://schemas.microsoft.com/office/drawing/2014/main" val="662274730"/>
                    </a:ext>
                  </a:extLst>
                </a:gridCol>
                <a:gridCol w="1314450">
                  <a:extLst>
                    <a:ext uri="{9D8B030D-6E8A-4147-A177-3AD203B41FA5}">
                      <a16:colId xmlns:a16="http://schemas.microsoft.com/office/drawing/2014/main" val="48268691"/>
                    </a:ext>
                  </a:extLst>
                </a:gridCol>
                <a:gridCol w="1314450">
                  <a:extLst>
                    <a:ext uri="{9D8B030D-6E8A-4147-A177-3AD203B41FA5}">
                      <a16:colId xmlns:a16="http://schemas.microsoft.com/office/drawing/2014/main" val="2930816832"/>
                    </a:ext>
                  </a:extLst>
                </a:gridCol>
                <a:gridCol w="1314450">
                  <a:extLst>
                    <a:ext uri="{9D8B030D-6E8A-4147-A177-3AD203B41FA5}">
                      <a16:colId xmlns:a16="http://schemas.microsoft.com/office/drawing/2014/main" val="2641377944"/>
                    </a:ext>
                  </a:extLst>
                </a:gridCol>
              </a:tblGrid>
              <a:tr h="524470">
                <a:tc>
                  <a:txBody>
                    <a:bodyPr/>
                    <a:lstStyle/>
                    <a:p>
                      <a:pPr algn="ctr"/>
                      <a:r>
                        <a:rPr lang="fr-FR" sz="2400" b="1" dirty="0"/>
                        <a:t>Pixel 1</a:t>
                      </a:r>
                    </a:p>
                  </a:txBody>
                  <a:tcPr anchor="ctr"/>
                </a:tc>
                <a:tc>
                  <a:txBody>
                    <a:bodyPr/>
                    <a:lstStyle/>
                    <a:p>
                      <a:pPr algn="ctr"/>
                      <a:r>
                        <a:rPr lang="fr-FR" sz="2400" b="1" dirty="0"/>
                        <a:t>Pixel 2</a:t>
                      </a:r>
                    </a:p>
                  </a:txBody>
                  <a:tcPr anchor="ctr"/>
                </a:tc>
                <a:tc>
                  <a:txBody>
                    <a:bodyPr/>
                    <a:lstStyle/>
                    <a:p>
                      <a:pPr algn="ctr"/>
                      <a:r>
                        <a:rPr lang="fr-FR" sz="2400" b="1"/>
                        <a:t>Pixel 3</a:t>
                      </a:r>
                    </a:p>
                  </a:txBody>
                  <a:tcPr anchor="ctr"/>
                </a:tc>
                <a:tc>
                  <a:txBody>
                    <a:bodyPr/>
                    <a:lstStyle/>
                    <a:p>
                      <a:pPr algn="ctr"/>
                      <a:r>
                        <a:rPr lang="fr-FR" sz="2400" b="1"/>
                        <a:t>Pixel 4</a:t>
                      </a:r>
                    </a:p>
                  </a:txBody>
                  <a:tcPr anchor="ctr"/>
                </a:tc>
                <a:extLst>
                  <a:ext uri="{0D108BD9-81ED-4DB2-BD59-A6C34878D82A}">
                    <a16:rowId xmlns:a16="http://schemas.microsoft.com/office/drawing/2014/main" val="2950904715"/>
                  </a:ext>
                </a:extLst>
              </a:tr>
              <a:tr h="524470">
                <a:tc>
                  <a:txBody>
                    <a:bodyPr/>
                    <a:lstStyle/>
                    <a:p>
                      <a:pPr algn="ctr"/>
                      <a:r>
                        <a:rPr lang="fr-DZ" sz="2400" b="1" dirty="0"/>
                        <a:t>100</a:t>
                      </a:r>
                    </a:p>
                  </a:txBody>
                  <a:tcPr anchor="ctr"/>
                </a:tc>
                <a:tc>
                  <a:txBody>
                    <a:bodyPr/>
                    <a:lstStyle/>
                    <a:p>
                      <a:pPr algn="ctr"/>
                      <a:r>
                        <a:rPr lang="fr-DZ" sz="2400" b="1" dirty="0"/>
                        <a:t>150</a:t>
                      </a:r>
                    </a:p>
                  </a:txBody>
                  <a:tcPr anchor="ctr"/>
                </a:tc>
                <a:tc>
                  <a:txBody>
                    <a:bodyPr/>
                    <a:lstStyle/>
                    <a:p>
                      <a:pPr algn="ctr"/>
                      <a:r>
                        <a:rPr lang="fr-DZ" sz="2400" b="1" dirty="0"/>
                        <a:t>200</a:t>
                      </a:r>
                    </a:p>
                  </a:txBody>
                  <a:tcPr anchor="ctr"/>
                </a:tc>
                <a:tc>
                  <a:txBody>
                    <a:bodyPr/>
                    <a:lstStyle/>
                    <a:p>
                      <a:pPr algn="ctr"/>
                      <a:r>
                        <a:rPr lang="fr-DZ" sz="2400" b="1" dirty="0"/>
                        <a:t>250</a:t>
                      </a:r>
                    </a:p>
                  </a:txBody>
                  <a:tcPr anchor="ctr"/>
                </a:tc>
                <a:extLst>
                  <a:ext uri="{0D108BD9-81ED-4DB2-BD59-A6C34878D82A}">
                    <a16:rowId xmlns:a16="http://schemas.microsoft.com/office/drawing/2014/main" val="3110268966"/>
                  </a:ext>
                </a:extLst>
              </a:tr>
            </a:tbl>
          </a:graphicData>
        </a:graphic>
      </p:graphicFrame>
      <p:graphicFrame>
        <p:nvGraphicFramePr>
          <p:cNvPr id="25" name="Table 24">
            <a:extLst>
              <a:ext uri="{FF2B5EF4-FFF2-40B4-BE49-F238E27FC236}">
                <a16:creationId xmlns:a16="http://schemas.microsoft.com/office/drawing/2014/main" id="{C4785904-5672-40B6-A988-21514CF57F33}"/>
              </a:ext>
            </a:extLst>
          </p:cNvPr>
          <p:cNvGraphicFramePr>
            <a:graphicFrameLocks noGrp="1"/>
          </p:cNvGraphicFramePr>
          <p:nvPr>
            <p:extLst>
              <p:ext uri="{D42A27DB-BD31-4B8C-83A1-F6EECF244321}">
                <p14:modId xmlns:p14="http://schemas.microsoft.com/office/powerpoint/2010/main" val="1594981795"/>
              </p:ext>
            </p:extLst>
          </p:nvPr>
        </p:nvGraphicFramePr>
        <p:xfrm>
          <a:off x="9259439" y="4972397"/>
          <a:ext cx="7848600" cy="2725595"/>
        </p:xfrm>
        <a:graphic>
          <a:graphicData uri="http://schemas.openxmlformats.org/drawingml/2006/table">
            <a:tbl>
              <a:tblPr>
                <a:tableStyleId>{775DCB02-9BB8-47FD-8907-85C794F793BA}</a:tableStyleId>
              </a:tblPr>
              <a:tblGrid>
                <a:gridCol w="1962150">
                  <a:extLst>
                    <a:ext uri="{9D8B030D-6E8A-4147-A177-3AD203B41FA5}">
                      <a16:colId xmlns:a16="http://schemas.microsoft.com/office/drawing/2014/main" val="3631146734"/>
                    </a:ext>
                  </a:extLst>
                </a:gridCol>
                <a:gridCol w="1962150">
                  <a:extLst>
                    <a:ext uri="{9D8B030D-6E8A-4147-A177-3AD203B41FA5}">
                      <a16:colId xmlns:a16="http://schemas.microsoft.com/office/drawing/2014/main" val="1108946682"/>
                    </a:ext>
                  </a:extLst>
                </a:gridCol>
                <a:gridCol w="1962150">
                  <a:extLst>
                    <a:ext uri="{9D8B030D-6E8A-4147-A177-3AD203B41FA5}">
                      <a16:colId xmlns:a16="http://schemas.microsoft.com/office/drawing/2014/main" val="2706892187"/>
                    </a:ext>
                  </a:extLst>
                </a:gridCol>
                <a:gridCol w="1962150">
                  <a:extLst>
                    <a:ext uri="{9D8B030D-6E8A-4147-A177-3AD203B41FA5}">
                      <a16:colId xmlns:a16="http://schemas.microsoft.com/office/drawing/2014/main" val="866863233"/>
                    </a:ext>
                  </a:extLst>
                </a:gridCol>
              </a:tblGrid>
              <a:tr h="545119">
                <a:tc>
                  <a:txBody>
                    <a:bodyPr/>
                    <a:lstStyle/>
                    <a:p>
                      <a:pPr algn="ctr"/>
                      <a:r>
                        <a:rPr lang="fr-FR" b="1"/>
                        <a:t>Pixel original</a:t>
                      </a:r>
                    </a:p>
                  </a:txBody>
                  <a:tcPr anchor="ctr"/>
                </a:tc>
                <a:tc>
                  <a:txBody>
                    <a:bodyPr/>
                    <a:lstStyle/>
                    <a:p>
                      <a:pPr algn="ctr"/>
                      <a:r>
                        <a:rPr lang="fr-FR" b="1"/>
                        <a:t>Valeur chaotique</a:t>
                      </a:r>
                    </a:p>
                  </a:txBody>
                  <a:tcPr anchor="ctr"/>
                </a:tc>
                <a:tc>
                  <a:txBody>
                    <a:bodyPr/>
                    <a:lstStyle/>
                    <a:p>
                      <a:pPr algn="ctr"/>
                      <a:r>
                        <a:rPr lang="fr-FR" b="1"/>
                        <a:t>Opération</a:t>
                      </a:r>
                    </a:p>
                  </a:txBody>
                  <a:tcPr anchor="ctr"/>
                </a:tc>
                <a:tc>
                  <a:txBody>
                    <a:bodyPr/>
                    <a:lstStyle/>
                    <a:p>
                      <a:pPr algn="ctr"/>
                      <a:r>
                        <a:rPr lang="fr-FR" b="1"/>
                        <a:t>Pixel chiffré</a:t>
                      </a:r>
                    </a:p>
                  </a:txBody>
                  <a:tcPr anchor="ctr"/>
                </a:tc>
                <a:extLst>
                  <a:ext uri="{0D108BD9-81ED-4DB2-BD59-A6C34878D82A}">
                    <a16:rowId xmlns:a16="http://schemas.microsoft.com/office/drawing/2014/main" val="2034617082"/>
                  </a:ext>
                </a:extLst>
              </a:tr>
              <a:tr h="545119">
                <a:tc>
                  <a:txBody>
                    <a:bodyPr/>
                    <a:lstStyle/>
                    <a:p>
                      <a:pPr algn="ctr"/>
                      <a:r>
                        <a:rPr lang="fr-DZ" b="1"/>
                        <a:t>100</a:t>
                      </a:r>
                    </a:p>
                  </a:txBody>
                  <a:tcPr anchor="ctr"/>
                </a:tc>
                <a:tc>
                  <a:txBody>
                    <a:bodyPr/>
                    <a:lstStyle/>
                    <a:p>
                      <a:pPr algn="ctr"/>
                      <a:r>
                        <a:rPr lang="fr-DZ" b="1" dirty="0"/>
                        <a:t>128</a:t>
                      </a:r>
                    </a:p>
                  </a:txBody>
                  <a:tcPr anchor="ctr"/>
                </a:tc>
                <a:tc>
                  <a:txBody>
                    <a:bodyPr/>
                    <a:lstStyle/>
                    <a:p>
                      <a:pPr algn="ctr"/>
                      <a:r>
                        <a:rPr lang="fr-FR" b="1"/>
                        <a:t>100 XOR 128 = 228</a:t>
                      </a:r>
                    </a:p>
                  </a:txBody>
                  <a:tcPr anchor="ctr"/>
                </a:tc>
                <a:tc>
                  <a:txBody>
                    <a:bodyPr/>
                    <a:lstStyle/>
                    <a:p>
                      <a:pPr algn="ctr"/>
                      <a:r>
                        <a:rPr lang="fr-DZ" b="1"/>
                        <a:t>228</a:t>
                      </a:r>
                    </a:p>
                  </a:txBody>
                  <a:tcPr anchor="ctr"/>
                </a:tc>
                <a:extLst>
                  <a:ext uri="{0D108BD9-81ED-4DB2-BD59-A6C34878D82A}">
                    <a16:rowId xmlns:a16="http://schemas.microsoft.com/office/drawing/2014/main" val="2348699407"/>
                  </a:ext>
                </a:extLst>
              </a:tr>
              <a:tr h="545119">
                <a:tc>
                  <a:txBody>
                    <a:bodyPr/>
                    <a:lstStyle/>
                    <a:p>
                      <a:pPr algn="ctr"/>
                      <a:r>
                        <a:rPr lang="fr-DZ" b="1"/>
                        <a:t>150</a:t>
                      </a:r>
                    </a:p>
                  </a:txBody>
                  <a:tcPr anchor="ctr"/>
                </a:tc>
                <a:tc>
                  <a:txBody>
                    <a:bodyPr/>
                    <a:lstStyle/>
                    <a:p>
                      <a:pPr algn="ctr"/>
                      <a:r>
                        <a:rPr lang="fr-DZ" b="1"/>
                        <a:t>248</a:t>
                      </a:r>
                    </a:p>
                  </a:txBody>
                  <a:tcPr anchor="ctr"/>
                </a:tc>
                <a:tc>
                  <a:txBody>
                    <a:bodyPr/>
                    <a:lstStyle/>
                    <a:p>
                      <a:pPr algn="ctr"/>
                      <a:r>
                        <a:rPr lang="fr-FR" b="1"/>
                        <a:t>150 XOR 248 = 102</a:t>
                      </a:r>
                    </a:p>
                  </a:txBody>
                  <a:tcPr anchor="ctr"/>
                </a:tc>
                <a:tc>
                  <a:txBody>
                    <a:bodyPr/>
                    <a:lstStyle/>
                    <a:p>
                      <a:pPr algn="ctr"/>
                      <a:r>
                        <a:rPr lang="fr-DZ" b="1"/>
                        <a:t>102</a:t>
                      </a:r>
                    </a:p>
                  </a:txBody>
                  <a:tcPr anchor="ctr"/>
                </a:tc>
                <a:extLst>
                  <a:ext uri="{0D108BD9-81ED-4DB2-BD59-A6C34878D82A}">
                    <a16:rowId xmlns:a16="http://schemas.microsoft.com/office/drawing/2014/main" val="1796059449"/>
                  </a:ext>
                </a:extLst>
              </a:tr>
              <a:tr h="545119">
                <a:tc>
                  <a:txBody>
                    <a:bodyPr/>
                    <a:lstStyle/>
                    <a:p>
                      <a:pPr algn="ctr"/>
                      <a:r>
                        <a:rPr lang="fr-DZ" b="1"/>
                        <a:t>200</a:t>
                      </a:r>
                    </a:p>
                  </a:txBody>
                  <a:tcPr anchor="ctr"/>
                </a:tc>
                <a:tc>
                  <a:txBody>
                    <a:bodyPr/>
                    <a:lstStyle/>
                    <a:p>
                      <a:pPr algn="ctr"/>
                      <a:r>
                        <a:rPr lang="fr-DZ" b="1"/>
                        <a:t>24</a:t>
                      </a:r>
                    </a:p>
                  </a:txBody>
                  <a:tcPr anchor="ctr"/>
                </a:tc>
                <a:tc>
                  <a:txBody>
                    <a:bodyPr/>
                    <a:lstStyle/>
                    <a:p>
                      <a:pPr algn="ctr"/>
                      <a:r>
                        <a:rPr lang="fr-FR" b="1"/>
                        <a:t>200 XOR 24 = 208</a:t>
                      </a:r>
                    </a:p>
                  </a:txBody>
                  <a:tcPr anchor="ctr"/>
                </a:tc>
                <a:tc>
                  <a:txBody>
                    <a:bodyPr/>
                    <a:lstStyle/>
                    <a:p>
                      <a:pPr algn="ctr"/>
                      <a:r>
                        <a:rPr lang="fr-DZ" b="1"/>
                        <a:t>208</a:t>
                      </a:r>
                    </a:p>
                  </a:txBody>
                  <a:tcPr anchor="ctr"/>
                </a:tc>
                <a:extLst>
                  <a:ext uri="{0D108BD9-81ED-4DB2-BD59-A6C34878D82A}">
                    <a16:rowId xmlns:a16="http://schemas.microsoft.com/office/drawing/2014/main" val="468479304"/>
                  </a:ext>
                </a:extLst>
              </a:tr>
              <a:tr h="545119">
                <a:tc>
                  <a:txBody>
                    <a:bodyPr/>
                    <a:lstStyle/>
                    <a:p>
                      <a:pPr algn="ctr"/>
                      <a:r>
                        <a:rPr lang="fr-DZ" b="1"/>
                        <a:t>250</a:t>
                      </a:r>
                    </a:p>
                  </a:txBody>
                  <a:tcPr anchor="ctr"/>
                </a:tc>
                <a:tc>
                  <a:txBody>
                    <a:bodyPr/>
                    <a:lstStyle/>
                    <a:p>
                      <a:pPr algn="ctr"/>
                      <a:r>
                        <a:rPr lang="fr-DZ" b="1"/>
                        <a:t>85</a:t>
                      </a:r>
                    </a:p>
                  </a:txBody>
                  <a:tcPr anchor="ctr"/>
                </a:tc>
                <a:tc>
                  <a:txBody>
                    <a:bodyPr/>
                    <a:lstStyle/>
                    <a:p>
                      <a:pPr algn="ctr"/>
                      <a:r>
                        <a:rPr lang="fr-FR" b="1"/>
                        <a:t>250 XOR 85 = 171</a:t>
                      </a:r>
                    </a:p>
                  </a:txBody>
                  <a:tcPr anchor="ctr"/>
                </a:tc>
                <a:tc>
                  <a:txBody>
                    <a:bodyPr/>
                    <a:lstStyle/>
                    <a:p>
                      <a:pPr algn="ctr"/>
                      <a:r>
                        <a:rPr lang="fr-DZ" b="1" dirty="0"/>
                        <a:t>171</a:t>
                      </a:r>
                    </a:p>
                  </a:txBody>
                  <a:tcPr anchor="ctr"/>
                </a:tc>
                <a:extLst>
                  <a:ext uri="{0D108BD9-81ED-4DB2-BD59-A6C34878D82A}">
                    <a16:rowId xmlns:a16="http://schemas.microsoft.com/office/drawing/2014/main" val="1983662226"/>
                  </a:ext>
                </a:extLst>
              </a:tr>
            </a:tbl>
          </a:graphicData>
        </a:graphic>
      </p:graphicFrame>
      <p:graphicFrame>
        <p:nvGraphicFramePr>
          <p:cNvPr id="26" name="Table 25">
            <a:extLst>
              <a:ext uri="{FF2B5EF4-FFF2-40B4-BE49-F238E27FC236}">
                <a16:creationId xmlns:a16="http://schemas.microsoft.com/office/drawing/2014/main" id="{B419D4AB-590A-481C-BB22-B5ACC09D4218}"/>
              </a:ext>
            </a:extLst>
          </p:cNvPr>
          <p:cNvGraphicFramePr>
            <a:graphicFrameLocks noGrp="1"/>
          </p:cNvGraphicFramePr>
          <p:nvPr>
            <p:extLst>
              <p:ext uri="{D42A27DB-BD31-4B8C-83A1-F6EECF244321}">
                <p14:modId xmlns:p14="http://schemas.microsoft.com/office/powerpoint/2010/main" val="255070701"/>
              </p:ext>
            </p:extLst>
          </p:nvPr>
        </p:nvGraphicFramePr>
        <p:xfrm>
          <a:off x="10081915" y="8050817"/>
          <a:ext cx="5257800" cy="1048940"/>
        </p:xfrm>
        <a:graphic>
          <a:graphicData uri="http://schemas.openxmlformats.org/drawingml/2006/table">
            <a:tbl>
              <a:tblPr>
                <a:tableStyleId>{775DCB02-9BB8-47FD-8907-85C794F793BA}</a:tableStyleId>
              </a:tblPr>
              <a:tblGrid>
                <a:gridCol w="1314450">
                  <a:extLst>
                    <a:ext uri="{9D8B030D-6E8A-4147-A177-3AD203B41FA5}">
                      <a16:colId xmlns:a16="http://schemas.microsoft.com/office/drawing/2014/main" val="3977591918"/>
                    </a:ext>
                  </a:extLst>
                </a:gridCol>
                <a:gridCol w="1314450">
                  <a:extLst>
                    <a:ext uri="{9D8B030D-6E8A-4147-A177-3AD203B41FA5}">
                      <a16:colId xmlns:a16="http://schemas.microsoft.com/office/drawing/2014/main" val="4058952375"/>
                    </a:ext>
                  </a:extLst>
                </a:gridCol>
                <a:gridCol w="1314450">
                  <a:extLst>
                    <a:ext uri="{9D8B030D-6E8A-4147-A177-3AD203B41FA5}">
                      <a16:colId xmlns:a16="http://schemas.microsoft.com/office/drawing/2014/main" val="288452791"/>
                    </a:ext>
                  </a:extLst>
                </a:gridCol>
                <a:gridCol w="1314450">
                  <a:extLst>
                    <a:ext uri="{9D8B030D-6E8A-4147-A177-3AD203B41FA5}">
                      <a16:colId xmlns:a16="http://schemas.microsoft.com/office/drawing/2014/main" val="3421182160"/>
                    </a:ext>
                  </a:extLst>
                </a:gridCol>
              </a:tblGrid>
              <a:tr h="524470">
                <a:tc>
                  <a:txBody>
                    <a:bodyPr/>
                    <a:lstStyle/>
                    <a:p>
                      <a:pPr algn="ctr"/>
                      <a:r>
                        <a:rPr lang="fr-FR" sz="2400" b="1"/>
                        <a:t>Pixel 1</a:t>
                      </a:r>
                    </a:p>
                  </a:txBody>
                  <a:tcPr anchor="ctr"/>
                </a:tc>
                <a:tc>
                  <a:txBody>
                    <a:bodyPr/>
                    <a:lstStyle/>
                    <a:p>
                      <a:pPr algn="ctr"/>
                      <a:r>
                        <a:rPr lang="fr-FR" sz="2400" b="1" dirty="0"/>
                        <a:t>Pixel 2</a:t>
                      </a:r>
                    </a:p>
                  </a:txBody>
                  <a:tcPr anchor="ctr"/>
                </a:tc>
                <a:tc>
                  <a:txBody>
                    <a:bodyPr/>
                    <a:lstStyle/>
                    <a:p>
                      <a:pPr algn="ctr"/>
                      <a:r>
                        <a:rPr lang="fr-FR" sz="2400" b="1"/>
                        <a:t>Pixel 3</a:t>
                      </a:r>
                    </a:p>
                  </a:txBody>
                  <a:tcPr anchor="ctr"/>
                </a:tc>
                <a:tc>
                  <a:txBody>
                    <a:bodyPr/>
                    <a:lstStyle/>
                    <a:p>
                      <a:pPr algn="ctr"/>
                      <a:r>
                        <a:rPr lang="fr-FR" sz="2400" b="1"/>
                        <a:t>Pixel 4</a:t>
                      </a:r>
                    </a:p>
                  </a:txBody>
                  <a:tcPr anchor="ctr"/>
                </a:tc>
                <a:extLst>
                  <a:ext uri="{0D108BD9-81ED-4DB2-BD59-A6C34878D82A}">
                    <a16:rowId xmlns:a16="http://schemas.microsoft.com/office/drawing/2014/main" val="2912552137"/>
                  </a:ext>
                </a:extLst>
              </a:tr>
              <a:tr h="524470">
                <a:tc>
                  <a:txBody>
                    <a:bodyPr/>
                    <a:lstStyle/>
                    <a:p>
                      <a:pPr algn="ctr"/>
                      <a:r>
                        <a:rPr lang="fr-DZ" sz="2400" b="1"/>
                        <a:t>228</a:t>
                      </a:r>
                    </a:p>
                  </a:txBody>
                  <a:tcPr anchor="ctr"/>
                </a:tc>
                <a:tc>
                  <a:txBody>
                    <a:bodyPr/>
                    <a:lstStyle/>
                    <a:p>
                      <a:pPr algn="ctr"/>
                      <a:r>
                        <a:rPr lang="fr-DZ" sz="2400" b="1"/>
                        <a:t>102</a:t>
                      </a:r>
                    </a:p>
                  </a:txBody>
                  <a:tcPr anchor="ctr"/>
                </a:tc>
                <a:tc>
                  <a:txBody>
                    <a:bodyPr/>
                    <a:lstStyle/>
                    <a:p>
                      <a:pPr algn="ctr"/>
                      <a:r>
                        <a:rPr lang="fr-DZ" sz="2400" b="1"/>
                        <a:t>208</a:t>
                      </a:r>
                    </a:p>
                  </a:txBody>
                  <a:tcPr anchor="ctr"/>
                </a:tc>
                <a:tc>
                  <a:txBody>
                    <a:bodyPr/>
                    <a:lstStyle/>
                    <a:p>
                      <a:pPr algn="ctr"/>
                      <a:r>
                        <a:rPr lang="fr-DZ" sz="2400" b="1" dirty="0"/>
                        <a:t>171</a:t>
                      </a:r>
                    </a:p>
                  </a:txBody>
                  <a:tcPr anchor="ctr"/>
                </a:tc>
                <a:extLst>
                  <a:ext uri="{0D108BD9-81ED-4DB2-BD59-A6C34878D82A}">
                    <a16:rowId xmlns:a16="http://schemas.microsoft.com/office/drawing/2014/main" val="799376778"/>
                  </a:ext>
                </a:extLst>
              </a:tr>
            </a:tbl>
          </a:graphicData>
        </a:graphic>
      </p:graphicFrame>
    </p:spTree>
    <p:extLst>
      <p:ext uri="{BB962C8B-B14F-4D97-AF65-F5344CB8AC3E}">
        <p14:creationId xmlns:p14="http://schemas.microsoft.com/office/powerpoint/2010/main" val="3927235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1000"/>
                                        <p:tgtEl>
                                          <p:spTgt spid="24"/>
                                        </p:tgtEl>
                                      </p:cBhvr>
                                    </p:animEffect>
                                    <p:anim calcmode="lin" valueType="num">
                                      <p:cBhvr>
                                        <p:cTn id="48" dur="1000" fill="hold"/>
                                        <p:tgtEl>
                                          <p:spTgt spid="24"/>
                                        </p:tgtEl>
                                        <p:attrNameLst>
                                          <p:attrName>ppt_x</p:attrName>
                                        </p:attrNameLst>
                                      </p:cBhvr>
                                      <p:tavLst>
                                        <p:tav tm="0">
                                          <p:val>
                                            <p:strVal val="#ppt_x"/>
                                          </p:val>
                                        </p:tav>
                                        <p:tav tm="100000">
                                          <p:val>
                                            <p:strVal val="#ppt_x"/>
                                          </p:val>
                                        </p:tav>
                                      </p:tavLst>
                                    </p:anim>
                                    <p:anim calcmode="lin" valueType="num">
                                      <p:cBhvr>
                                        <p:cTn id="4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1000"/>
                                        <p:tgtEl>
                                          <p:spTgt spid="25"/>
                                        </p:tgtEl>
                                      </p:cBhvr>
                                    </p:animEffect>
                                    <p:anim calcmode="lin" valueType="num">
                                      <p:cBhvr>
                                        <p:cTn id="55" dur="1000" fill="hold"/>
                                        <p:tgtEl>
                                          <p:spTgt spid="25"/>
                                        </p:tgtEl>
                                        <p:attrNameLst>
                                          <p:attrName>ppt_x</p:attrName>
                                        </p:attrNameLst>
                                      </p:cBhvr>
                                      <p:tavLst>
                                        <p:tav tm="0">
                                          <p:val>
                                            <p:strVal val="#ppt_x"/>
                                          </p:val>
                                        </p:tav>
                                        <p:tav tm="100000">
                                          <p:val>
                                            <p:strVal val="#ppt_x"/>
                                          </p:val>
                                        </p:tav>
                                      </p:tavLst>
                                    </p:anim>
                                    <p:anim calcmode="lin" valueType="num">
                                      <p:cBhvr>
                                        <p:cTn id="5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1000"/>
                                        <p:tgtEl>
                                          <p:spTgt spid="26"/>
                                        </p:tgtEl>
                                      </p:cBhvr>
                                    </p:animEffect>
                                    <p:anim calcmode="lin" valueType="num">
                                      <p:cBhvr>
                                        <p:cTn id="62" dur="1000" fill="hold"/>
                                        <p:tgtEl>
                                          <p:spTgt spid="26"/>
                                        </p:tgtEl>
                                        <p:attrNameLst>
                                          <p:attrName>ppt_x</p:attrName>
                                        </p:attrNameLst>
                                      </p:cBhvr>
                                      <p:tavLst>
                                        <p:tav tm="0">
                                          <p:val>
                                            <p:strVal val="#ppt_x"/>
                                          </p:val>
                                        </p:tav>
                                        <p:tav tm="100000">
                                          <p:val>
                                            <p:strVal val="#ppt_x"/>
                                          </p:val>
                                        </p:tav>
                                      </p:tavLst>
                                    </p:anim>
                                    <p:anim calcmode="lin" valueType="num">
                                      <p:cBhvr>
                                        <p:cTn id="6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11"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grpSp>
        <p:nvGrpSpPr>
          <p:cNvPr id="2" name="Group 2"/>
          <p:cNvGrpSpPr/>
          <p:nvPr/>
        </p:nvGrpSpPr>
        <p:grpSpPr>
          <a:xfrm>
            <a:off x="15677399" y="672397"/>
            <a:ext cx="1861136" cy="551650"/>
            <a:chOff x="0" y="0"/>
            <a:chExt cx="490176" cy="145291"/>
          </a:xfrm>
        </p:grpSpPr>
        <p:sp>
          <p:nvSpPr>
            <p:cNvPr id="3" name="Freeform 3"/>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4" name="TextBox 4"/>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12</a:t>
            </a:r>
          </a:p>
        </p:txBody>
      </p:sp>
      <p:sp>
        <p:nvSpPr>
          <p:cNvPr id="6" name="Freeform 6"/>
          <p:cNvSpPr/>
          <p:nvPr/>
        </p:nvSpPr>
        <p:spPr>
          <a:xfrm rot="-4459759">
            <a:off x="6388784" y="318458"/>
            <a:ext cx="9833745" cy="11049152"/>
          </a:xfrm>
          <a:custGeom>
            <a:avLst/>
            <a:gdLst/>
            <a:ahLst/>
            <a:cxnLst/>
            <a:rect l="l" t="t" r="r" b="b"/>
            <a:pathLst>
              <a:path w="9833745" h="11049152">
                <a:moveTo>
                  <a:pt x="0" y="0"/>
                </a:moveTo>
                <a:lnTo>
                  <a:pt x="9833745" y="0"/>
                </a:lnTo>
                <a:lnTo>
                  <a:pt x="9833745" y="11049152"/>
                </a:lnTo>
                <a:lnTo>
                  <a:pt x="0" y="11049152"/>
                </a:lnTo>
                <a:lnTo>
                  <a:pt x="0" y="0"/>
                </a:lnTo>
                <a:close/>
              </a:path>
            </a:pathLst>
          </a:custGeom>
          <a:blipFill>
            <a:blip r:embed="rId2"/>
            <a:stretch>
              <a:fillRect/>
            </a:stretch>
          </a:blipFill>
        </p:spPr>
      </p:sp>
      <p:sp>
        <p:nvSpPr>
          <p:cNvPr id="8" name="TextBox 8"/>
          <p:cNvSpPr txBox="1"/>
          <p:nvPr/>
        </p:nvSpPr>
        <p:spPr>
          <a:xfrm>
            <a:off x="1393435" y="1123950"/>
            <a:ext cx="10190983" cy="866774"/>
          </a:xfrm>
          <a:prstGeom prst="rect">
            <a:avLst/>
          </a:prstGeom>
        </p:spPr>
        <p:txBody>
          <a:bodyPr lIns="0" tIns="0" rIns="0" bIns="0" rtlCol="0" anchor="t">
            <a:spAutoFit/>
          </a:bodyPr>
          <a:lstStyle/>
          <a:p>
            <a:pPr algn="just">
              <a:lnSpc>
                <a:spcPts val="6664"/>
              </a:lnSpc>
            </a:pPr>
            <a:r>
              <a:rPr lang="en-US" sz="6346" b="1" spc="-323" dirty="0">
                <a:solidFill>
                  <a:srgbClr val="FFFFFF"/>
                </a:solidFill>
                <a:latin typeface="Open Sauce Bold"/>
                <a:ea typeface="Open Sauce Bold"/>
                <a:cs typeface="Open Sauce Bold"/>
                <a:sym typeface="Open Sauce Bold"/>
              </a:rPr>
              <a:t> 5. AVANTAGES </a:t>
            </a:r>
          </a:p>
        </p:txBody>
      </p:sp>
      <p:graphicFrame>
        <p:nvGraphicFramePr>
          <p:cNvPr id="9" name="Table 9">
            <a:extLst>
              <a:ext uri="{FF2B5EF4-FFF2-40B4-BE49-F238E27FC236}">
                <a16:creationId xmlns:a16="http://schemas.microsoft.com/office/drawing/2014/main" id="{E3151A7F-8294-49F0-9350-3FDFCF2BAAE2}"/>
              </a:ext>
            </a:extLst>
          </p:cNvPr>
          <p:cNvGraphicFramePr>
            <a:graphicFrameLocks noGrp="1"/>
          </p:cNvGraphicFramePr>
          <p:nvPr>
            <p:extLst>
              <p:ext uri="{D42A27DB-BD31-4B8C-83A1-F6EECF244321}">
                <p14:modId xmlns:p14="http://schemas.microsoft.com/office/powerpoint/2010/main" val="4288207306"/>
              </p:ext>
            </p:extLst>
          </p:nvPr>
        </p:nvGraphicFramePr>
        <p:xfrm>
          <a:off x="1400259" y="4000500"/>
          <a:ext cx="12192000" cy="2804160"/>
        </p:xfrm>
        <a:graphic>
          <a:graphicData uri="http://schemas.openxmlformats.org/drawingml/2006/table">
            <a:tbl>
              <a:tblPr firstRow="1" bandRow="1">
                <a:effectLst>
                  <a:outerShdw blurRad="40000" dist="20000" dir="5400000" rotWithShape="0">
                    <a:srgbClr val="000000">
                      <a:alpha val="38000"/>
                    </a:srgbClr>
                  </a:outerShdw>
                  <a:reflection blurRad="6350" stA="52000" endA="300" endPos="35000" dir="5400000" sy="-100000" algn="bl" rotWithShape="0"/>
                </a:effectLst>
                <a:tableStyleId>{775DCB02-9BB8-47FD-8907-85C794F793BA}</a:tableStyleId>
              </a:tblPr>
              <a:tblGrid>
                <a:gridCol w="3048000">
                  <a:extLst>
                    <a:ext uri="{9D8B030D-6E8A-4147-A177-3AD203B41FA5}">
                      <a16:colId xmlns:a16="http://schemas.microsoft.com/office/drawing/2014/main" val="2999857099"/>
                    </a:ext>
                  </a:extLst>
                </a:gridCol>
                <a:gridCol w="3048000">
                  <a:extLst>
                    <a:ext uri="{9D8B030D-6E8A-4147-A177-3AD203B41FA5}">
                      <a16:colId xmlns:a16="http://schemas.microsoft.com/office/drawing/2014/main" val="2524605655"/>
                    </a:ext>
                  </a:extLst>
                </a:gridCol>
                <a:gridCol w="3048000">
                  <a:extLst>
                    <a:ext uri="{9D8B030D-6E8A-4147-A177-3AD203B41FA5}">
                      <a16:colId xmlns:a16="http://schemas.microsoft.com/office/drawing/2014/main" val="361283046"/>
                    </a:ext>
                  </a:extLst>
                </a:gridCol>
                <a:gridCol w="3048000">
                  <a:extLst>
                    <a:ext uri="{9D8B030D-6E8A-4147-A177-3AD203B41FA5}">
                      <a16:colId xmlns:a16="http://schemas.microsoft.com/office/drawing/2014/main" val="3605597073"/>
                    </a:ext>
                  </a:extLst>
                </a:gridCol>
              </a:tblGrid>
              <a:tr h="370840">
                <a:tc>
                  <a:txBody>
                    <a:bodyPr/>
                    <a:lstStyle/>
                    <a:p>
                      <a:pPr algn="ctr"/>
                      <a:r>
                        <a:rPr lang="fr-FR" sz="4000" i="0" dirty="0">
                          <a:solidFill>
                            <a:schemeClr val="tx1"/>
                          </a:solidFill>
                          <a:effectLst>
                            <a:glow rad="228600">
                              <a:schemeClr val="accent5">
                                <a:satMod val="175000"/>
                                <a:alpha val="40000"/>
                              </a:schemeClr>
                            </a:glow>
                          </a:effectLst>
                        </a:rPr>
                        <a:t>Type</a:t>
                      </a:r>
                      <a:endParaRPr lang="fr-DZ" sz="4000" i="0" dirty="0">
                        <a:solidFill>
                          <a:schemeClr val="tx1"/>
                        </a:solidFill>
                        <a:effectLst>
                          <a:glow rad="228600">
                            <a:schemeClr val="accent5">
                              <a:satMod val="175000"/>
                              <a:alpha val="40000"/>
                            </a:schemeClr>
                          </a:glow>
                        </a:effectLst>
                      </a:endParaRPr>
                    </a:p>
                  </a:txBody>
                  <a:tcPr/>
                </a:tc>
                <a:tc>
                  <a:txBody>
                    <a:bodyPr/>
                    <a:lstStyle/>
                    <a:p>
                      <a:pPr algn="ctr"/>
                      <a:r>
                        <a:rPr lang="fr-FR" sz="4000" dirty="0">
                          <a:solidFill>
                            <a:schemeClr val="tx1"/>
                          </a:solidFill>
                          <a:effectLst>
                            <a:glow rad="228600">
                              <a:schemeClr val="accent5">
                                <a:satMod val="175000"/>
                                <a:alpha val="40000"/>
                              </a:schemeClr>
                            </a:glow>
                          </a:effectLst>
                        </a:rPr>
                        <a:t>Vitesse</a:t>
                      </a:r>
                      <a:endParaRPr lang="fr-DZ" sz="4000" dirty="0">
                        <a:solidFill>
                          <a:schemeClr val="tx1"/>
                        </a:solidFill>
                        <a:effectLst>
                          <a:glow rad="228600">
                            <a:schemeClr val="accent5">
                              <a:satMod val="175000"/>
                              <a:alpha val="40000"/>
                            </a:schemeClr>
                          </a:glow>
                        </a:effectLst>
                      </a:endParaRPr>
                    </a:p>
                  </a:txBody>
                  <a:tcPr/>
                </a:tc>
                <a:tc>
                  <a:txBody>
                    <a:bodyPr/>
                    <a:lstStyle/>
                    <a:p>
                      <a:pPr algn="ctr"/>
                      <a:r>
                        <a:rPr lang="fr-FR" sz="4000" dirty="0">
                          <a:solidFill>
                            <a:schemeClr val="tx1"/>
                          </a:solidFill>
                          <a:effectLst>
                            <a:glow rad="228600">
                              <a:schemeClr val="accent5">
                                <a:satMod val="175000"/>
                                <a:alpha val="40000"/>
                              </a:schemeClr>
                            </a:glow>
                          </a:effectLst>
                        </a:rPr>
                        <a:t>Sécurité</a:t>
                      </a:r>
                      <a:endParaRPr lang="fr-DZ" sz="4000" dirty="0">
                        <a:solidFill>
                          <a:schemeClr val="tx1"/>
                        </a:solidFill>
                        <a:effectLst>
                          <a:glow rad="228600">
                            <a:schemeClr val="accent5">
                              <a:satMod val="175000"/>
                              <a:alpha val="40000"/>
                            </a:schemeClr>
                          </a:glow>
                        </a:effectLst>
                      </a:endParaRPr>
                    </a:p>
                  </a:txBody>
                  <a:tcPr/>
                </a:tc>
                <a:tc>
                  <a:txBody>
                    <a:bodyPr/>
                    <a:lstStyle/>
                    <a:p>
                      <a:pPr algn="ctr"/>
                      <a:r>
                        <a:rPr lang="fr-FR" sz="4000" dirty="0">
                          <a:solidFill>
                            <a:schemeClr val="tx1"/>
                          </a:solidFill>
                          <a:effectLst>
                            <a:glow rad="228600">
                              <a:schemeClr val="accent5">
                                <a:satMod val="175000"/>
                                <a:alpha val="40000"/>
                              </a:schemeClr>
                            </a:glow>
                          </a:effectLst>
                        </a:rPr>
                        <a:t>Facilité</a:t>
                      </a:r>
                      <a:endParaRPr lang="fr-DZ" sz="4000" dirty="0">
                        <a:solidFill>
                          <a:schemeClr val="tx1"/>
                        </a:solidFill>
                        <a:effectLst>
                          <a:glow rad="228600">
                            <a:schemeClr val="accent5">
                              <a:satMod val="175000"/>
                              <a:alpha val="40000"/>
                            </a:schemeClr>
                          </a:glow>
                        </a:effectLst>
                      </a:endParaRPr>
                    </a:p>
                  </a:txBody>
                  <a:tcPr/>
                </a:tc>
                <a:extLst>
                  <a:ext uri="{0D108BD9-81ED-4DB2-BD59-A6C34878D82A}">
                    <a16:rowId xmlns:a16="http://schemas.microsoft.com/office/drawing/2014/main" val="918260382"/>
                  </a:ext>
                </a:extLst>
              </a:tr>
              <a:tr h="370840">
                <a:tc>
                  <a:txBody>
                    <a:bodyPr/>
                    <a:lstStyle/>
                    <a:p>
                      <a:pPr algn="ctr"/>
                      <a:r>
                        <a:rPr lang="fr-FR" sz="4000" b="1" dirty="0">
                          <a:effectLst>
                            <a:glow rad="228600">
                              <a:schemeClr val="accent5">
                                <a:satMod val="175000"/>
                                <a:alpha val="40000"/>
                              </a:schemeClr>
                            </a:glow>
                          </a:effectLst>
                        </a:rPr>
                        <a:t>Par Pixel</a:t>
                      </a:r>
                      <a:endParaRPr lang="fr-DZ" sz="4000" b="1" dirty="0">
                        <a:effectLst>
                          <a:glow rad="228600">
                            <a:schemeClr val="accent5">
                              <a:satMod val="175000"/>
                              <a:alpha val="40000"/>
                            </a:schemeClr>
                          </a:glow>
                        </a:effectLst>
                      </a:endParaRPr>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extLst>
                  <a:ext uri="{0D108BD9-81ED-4DB2-BD59-A6C34878D82A}">
                    <a16:rowId xmlns:a16="http://schemas.microsoft.com/office/drawing/2014/main" val="1855552461"/>
                  </a:ext>
                </a:extLst>
              </a:tr>
              <a:tr h="370840">
                <a:tc>
                  <a:txBody>
                    <a:bodyPr/>
                    <a:lstStyle/>
                    <a:p>
                      <a:pPr algn="ctr"/>
                      <a:r>
                        <a:rPr lang="fr-FR" sz="4000" b="1" dirty="0">
                          <a:effectLst>
                            <a:glow rad="228600">
                              <a:schemeClr val="accent5">
                                <a:satMod val="175000"/>
                                <a:alpha val="40000"/>
                              </a:schemeClr>
                            </a:glow>
                          </a:effectLst>
                        </a:rPr>
                        <a:t>Par Blocs</a:t>
                      </a:r>
                      <a:endParaRPr lang="fr-DZ" sz="4000" b="1" dirty="0">
                        <a:effectLst>
                          <a:glow rad="228600">
                            <a:schemeClr val="accent5">
                              <a:satMod val="175000"/>
                              <a:alpha val="40000"/>
                            </a:schemeClr>
                          </a:glow>
                        </a:effectLst>
                      </a:endParaRPr>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extLst>
                  <a:ext uri="{0D108BD9-81ED-4DB2-BD59-A6C34878D82A}">
                    <a16:rowId xmlns:a16="http://schemas.microsoft.com/office/drawing/2014/main" val="1097822768"/>
                  </a:ext>
                </a:extLst>
              </a:tr>
              <a:tr h="370840">
                <a:tc>
                  <a:txBody>
                    <a:bodyPr/>
                    <a:lstStyle/>
                    <a:p>
                      <a:pPr algn="ctr"/>
                      <a:r>
                        <a:rPr lang="fr-FR" sz="4000" b="1" dirty="0">
                          <a:effectLst>
                            <a:glow rad="228600">
                              <a:schemeClr val="accent5">
                                <a:satMod val="175000"/>
                                <a:alpha val="40000"/>
                              </a:schemeClr>
                            </a:glow>
                          </a:effectLst>
                        </a:rPr>
                        <a:t>Chaotique</a:t>
                      </a:r>
                      <a:endParaRPr lang="fr-DZ" sz="4000" b="1" dirty="0">
                        <a:effectLst>
                          <a:glow rad="228600">
                            <a:schemeClr val="accent5">
                              <a:satMod val="175000"/>
                              <a:alpha val="40000"/>
                            </a:schemeClr>
                          </a:glow>
                        </a:effectLst>
                      </a:endParaRPr>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tc>
                  <a:txBody>
                    <a:bodyPr/>
                    <a:lstStyle/>
                    <a:p>
                      <a:pPr algn="ctr"/>
                      <a:r>
                        <a:rPr lang="fr-FR" sz="4000" dirty="0"/>
                        <a:t>👍</a:t>
                      </a:r>
                      <a:endParaRPr lang="fr-DZ" sz="4000" dirty="0"/>
                    </a:p>
                  </a:txBody>
                  <a:tcPr/>
                </a:tc>
                <a:extLst>
                  <a:ext uri="{0D108BD9-81ED-4DB2-BD59-A6C34878D82A}">
                    <a16:rowId xmlns:a16="http://schemas.microsoft.com/office/drawing/2014/main" val="6019329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30A3D"/>
        </a:solidFill>
        <a:effectLst/>
      </p:bgPr>
    </p:bg>
    <p:spTree>
      <p:nvGrpSpPr>
        <p:cNvPr id="1" name=""/>
        <p:cNvGrpSpPr/>
        <p:nvPr/>
      </p:nvGrpSpPr>
      <p:grpSpPr>
        <a:xfrm>
          <a:off x="0" y="0"/>
          <a:ext cx="0" cy="0"/>
          <a:chOff x="0" y="0"/>
          <a:chExt cx="0" cy="0"/>
        </a:xfrm>
      </p:grpSpPr>
      <p:sp>
        <p:nvSpPr>
          <p:cNvPr id="2" name="Freeform 2"/>
          <p:cNvSpPr/>
          <p:nvPr/>
        </p:nvSpPr>
        <p:spPr>
          <a:xfrm rot="6188040">
            <a:off x="10704073" y="-2192767"/>
            <a:ext cx="9706985" cy="10906725"/>
          </a:xfrm>
          <a:custGeom>
            <a:avLst/>
            <a:gdLst/>
            <a:ahLst/>
            <a:cxnLst/>
            <a:rect l="l" t="t" r="r" b="b"/>
            <a:pathLst>
              <a:path w="9706985" h="10906725">
                <a:moveTo>
                  <a:pt x="0" y="0"/>
                </a:moveTo>
                <a:lnTo>
                  <a:pt x="9706985" y="0"/>
                </a:lnTo>
                <a:lnTo>
                  <a:pt x="9706985" y="10906725"/>
                </a:lnTo>
                <a:lnTo>
                  <a:pt x="0" y="10906725"/>
                </a:lnTo>
                <a:lnTo>
                  <a:pt x="0" y="0"/>
                </a:lnTo>
                <a:close/>
              </a:path>
            </a:pathLst>
          </a:custGeom>
          <a:blipFill>
            <a:blip r:embed="rId2"/>
            <a:stretch>
              <a:fillRect/>
            </a:stretch>
          </a:blipFill>
        </p:spPr>
      </p:sp>
      <p:grpSp>
        <p:nvGrpSpPr>
          <p:cNvPr id="3" name="Group 3"/>
          <p:cNvGrpSpPr/>
          <p:nvPr/>
        </p:nvGrpSpPr>
        <p:grpSpPr>
          <a:xfrm>
            <a:off x="15677399" y="672397"/>
            <a:ext cx="1861136" cy="551650"/>
            <a:chOff x="0" y="0"/>
            <a:chExt cx="490176" cy="145291"/>
          </a:xfrm>
        </p:grpSpPr>
        <p:sp>
          <p:nvSpPr>
            <p:cNvPr id="4" name="Freeform 4"/>
            <p:cNvSpPr/>
            <p:nvPr/>
          </p:nvSpPr>
          <p:spPr>
            <a:xfrm>
              <a:off x="0" y="0"/>
              <a:ext cx="490176" cy="145291"/>
            </a:xfrm>
            <a:custGeom>
              <a:avLst/>
              <a:gdLst/>
              <a:ahLst/>
              <a:cxnLst/>
              <a:rect l="l" t="t" r="r" b="b"/>
              <a:pathLst>
                <a:path w="490176" h="145291">
                  <a:moveTo>
                    <a:pt x="45758" y="0"/>
                  </a:moveTo>
                  <a:lnTo>
                    <a:pt x="444418" y="0"/>
                  </a:lnTo>
                  <a:cubicBezTo>
                    <a:pt x="456554" y="0"/>
                    <a:pt x="468192" y="4821"/>
                    <a:pt x="476774" y="13402"/>
                  </a:cubicBezTo>
                  <a:cubicBezTo>
                    <a:pt x="485355" y="21983"/>
                    <a:pt x="490176" y="33622"/>
                    <a:pt x="490176" y="45758"/>
                  </a:cubicBezTo>
                  <a:lnTo>
                    <a:pt x="490176" y="99533"/>
                  </a:lnTo>
                  <a:cubicBezTo>
                    <a:pt x="490176" y="111669"/>
                    <a:pt x="485355" y="123307"/>
                    <a:pt x="476774" y="131888"/>
                  </a:cubicBezTo>
                  <a:cubicBezTo>
                    <a:pt x="468192" y="140470"/>
                    <a:pt x="456554" y="145291"/>
                    <a:pt x="444418" y="145291"/>
                  </a:cubicBezTo>
                  <a:lnTo>
                    <a:pt x="45758" y="145291"/>
                  </a:lnTo>
                  <a:cubicBezTo>
                    <a:pt x="33622" y="145291"/>
                    <a:pt x="21983" y="140470"/>
                    <a:pt x="13402" y="131888"/>
                  </a:cubicBezTo>
                  <a:cubicBezTo>
                    <a:pt x="4821" y="123307"/>
                    <a:pt x="0" y="111669"/>
                    <a:pt x="0" y="99533"/>
                  </a:cubicBezTo>
                  <a:lnTo>
                    <a:pt x="0" y="45758"/>
                  </a:lnTo>
                  <a:cubicBezTo>
                    <a:pt x="0" y="33622"/>
                    <a:pt x="4821" y="21983"/>
                    <a:pt x="13402" y="13402"/>
                  </a:cubicBezTo>
                  <a:cubicBezTo>
                    <a:pt x="21983" y="4821"/>
                    <a:pt x="33622" y="0"/>
                    <a:pt x="45758" y="0"/>
                  </a:cubicBezTo>
                  <a:close/>
                </a:path>
              </a:pathLst>
            </a:custGeom>
            <a:solidFill>
              <a:srgbClr val="7800FF"/>
            </a:solidFill>
          </p:spPr>
        </p:sp>
        <p:sp>
          <p:nvSpPr>
            <p:cNvPr id="5" name="TextBox 5"/>
            <p:cNvSpPr txBox="1"/>
            <p:nvPr/>
          </p:nvSpPr>
          <p:spPr>
            <a:xfrm>
              <a:off x="0" y="-38100"/>
              <a:ext cx="490176" cy="183391"/>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5791534" y="708739"/>
            <a:ext cx="1607535" cy="357277"/>
          </a:xfrm>
          <a:prstGeom prst="rect">
            <a:avLst/>
          </a:prstGeom>
        </p:spPr>
        <p:txBody>
          <a:bodyPr lIns="0" tIns="0" rIns="0" bIns="0" rtlCol="0" anchor="t">
            <a:spAutoFit/>
          </a:bodyPr>
          <a:lstStyle/>
          <a:p>
            <a:pPr algn="ctr">
              <a:lnSpc>
                <a:spcPts val="3037"/>
              </a:lnSpc>
            </a:pPr>
            <a:r>
              <a:rPr lang="en-US" sz="2169" b="1" dirty="0">
                <a:solidFill>
                  <a:srgbClr val="FFFFFF"/>
                </a:solidFill>
                <a:latin typeface="Montserrat Bold"/>
                <a:ea typeface="Montserrat Bold"/>
                <a:cs typeface="Montserrat Bold"/>
                <a:sym typeface="Montserrat Bold"/>
              </a:rPr>
              <a:t>Page 13</a:t>
            </a:r>
          </a:p>
        </p:txBody>
      </p:sp>
      <p:sp>
        <p:nvSpPr>
          <p:cNvPr id="18" name="TextBox 18"/>
          <p:cNvSpPr txBox="1"/>
          <p:nvPr/>
        </p:nvSpPr>
        <p:spPr>
          <a:xfrm>
            <a:off x="255575" y="1224047"/>
            <a:ext cx="8091538" cy="1414980"/>
          </a:xfrm>
          <a:prstGeom prst="rect">
            <a:avLst/>
          </a:prstGeom>
        </p:spPr>
        <p:txBody>
          <a:bodyPr lIns="0" tIns="0" rIns="0" bIns="0" rtlCol="0" anchor="t">
            <a:spAutoFit/>
          </a:bodyPr>
          <a:lstStyle/>
          <a:p>
            <a:pPr algn="just">
              <a:lnSpc>
                <a:spcPts val="10822"/>
              </a:lnSpc>
            </a:pPr>
            <a:r>
              <a:rPr lang="en-US" sz="10307" spc="-525" dirty="0">
                <a:solidFill>
                  <a:srgbClr val="FFFFFF"/>
                </a:solidFill>
                <a:latin typeface="Open Sauce Light"/>
                <a:ea typeface="Open Sauce Light"/>
                <a:cs typeface="Open Sauce Light"/>
                <a:sym typeface="Open Sauce Light"/>
              </a:rPr>
              <a:t> 6. Conclusion</a:t>
            </a:r>
          </a:p>
        </p:txBody>
      </p:sp>
      <p:sp>
        <p:nvSpPr>
          <p:cNvPr id="14" name="Rectangle 1">
            <a:extLst>
              <a:ext uri="{FF2B5EF4-FFF2-40B4-BE49-F238E27FC236}">
                <a16:creationId xmlns:a16="http://schemas.microsoft.com/office/drawing/2014/main" id="{6AB68BE1-03A6-4ECB-B596-CDBEF114EBC3}"/>
              </a:ext>
            </a:extLst>
          </p:cNvPr>
          <p:cNvSpPr>
            <a:spLocks noChangeArrowheads="1"/>
          </p:cNvSpPr>
          <p:nvPr/>
        </p:nvSpPr>
        <p:spPr bwMode="auto">
          <a:xfrm>
            <a:off x="0" y="0"/>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DZ"/>
          </a:p>
        </p:txBody>
      </p:sp>
      <p:sp>
        <p:nvSpPr>
          <p:cNvPr id="15" name="Rectangle 2">
            <a:extLst>
              <a:ext uri="{FF2B5EF4-FFF2-40B4-BE49-F238E27FC236}">
                <a16:creationId xmlns:a16="http://schemas.microsoft.com/office/drawing/2014/main" id="{D9117A68-A661-4B5C-8C6D-42FA2F188345}"/>
              </a:ext>
            </a:extLst>
          </p:cNvPr>
          <p:cNvSpPr>
            <a:spLocks noChangeArrowheads="1"/>
          </p:cNvSpPr>
          <p:nvPr/>
        </p:nvSpPr>
        <p:spPr bwMode="auto">
          <a:xfrm>
            <a:off x="703618" y="3004888"/>
            <a:ext cx="960120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2400" b="0" i="0" u="none" strike="noStrike" cap="none" normalizeH="0" baseline="0" dirty="0">
                <a:ln>
                  <a:noFill/>
                </a:ln>
                <a:solidFill>
                  <a:schemeClr val="bg1"/>
                </a:solidFill>
                <a:effectLst/>
                <a:latin typeface="Montserrat" panose="00000500000000000000" pitchFamily="2" charset="0"/>
              </a:rPr>
              <a:t>Dans un monde de plus en plus dépendant des données visuelles, le chiffrement des images émerge comme un rempart essentiel pour garantir la confidentialité et l'intégrité des informations.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2400" b="0" i="0" u="none" strike="noStrike" cap="none" normalizeH="0" baseline="0" dirty="0">
                <a:ln>
                  <a:noFill/>
                </a:ln>
                <a:solidFill>
                  <a:schemeClr val="bg1"/>
                </a:solidFill>
                <a:effectLst/>
                <a:latin typeface="Montserrat" panose="00000500000000000000" pitchFamily="2" charset="0"/>
              </a:rPr>
              <a:t>Les techniques que nous avons explorées, allant du chiffrement pixel par pixel aux algorithmes chaotiques avancés, offrent des niveaux de protection variés, adaptables en fonction de la sensibilité des données et des exigences de sécurité.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2400" b="0" i="0" u="none" strike="noStrike" cap="none" normalizeH="0" baseline="0" dirty="0">
                <a:ln>
                  <a:noFill/>
                </a:ln>
                <a:solidFill>
                  <a:schemeClr val="bg1"/>
                </a:solidFill>
                <a:effectLst/>
                <a:latin typeface="Montserrat" panose="00000500000000000000" pitchFamily="2" charset="0"/>
              </a:rPr>
              <a:t>Avec l'évolution des méthodes d'attaque, les défis en matière de cybersécurité imposent une actualisation continue des techniques de chiffrement</a:t>
            </a:r>
            <a:endParaRPr kumimoji="0" lang="ar-DZ" altLang="fr-DZ" sz="2400" b="0" i="0" u="none" strike="noStrike" cap="none" normalizeH="0" baseline="0" dirty="0">
              <a:ln>
                <a:noFill/>
              </a:ln>
              <a:solidFill>
                <a:schemeClr val="bg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DZ" altLang="fr-DZ" sz="2400" b="0" i="0" u="none" strike="noStrike" cap="none" normalizeH="0" baseline="0" dirty="0">
                <a:ln>
                  <a:noFill/>
                </a:ln>
                <a:solidFill>
                  <a:schemeClr val="bg1"/>
                </a:solidFill>
                <a:effectLst/>
                <a:latin typeface="Montserrat" panose="00000500000000000000" pitchFamily="2" charset="0"/>
              </a:rPr>
              <a:t>En conclusion, le chiffrement des images ne représente pas seulement un outil technologique, mais une exigence éthique et juridique, nécessitant une collaboration étroite entre développeurs, experts en sécurité et chercheurs pour rester constamment en avance sur les menaces cybernétiques.</a:t>
            </a:r>
          </a:p>
        </p:txBody>
      </p:sp>
      <p:pic>
        <p:nvPicPr>
          <p:cNvPr id="29" name="Picture 28">
            <a:extLst>
              <a:ext uri="{FF2B5EF4-FFF2-40B4-BE49-F238E27FC236}">
                <a16:creationId xmlns:a16="http://schemas.microsoft.com/office/drawing/2014/main" id="{41CE7E4A-FF9B-47E2-97A6-F97364C948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1079" y="4772679"/>
            <a:ext cx="6077988" cy="44743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762</Words>
  <Application>Microsoft Office PowerPoint</Application>
  <PresentationFormat>Custom</PresentationFormat>
  <Paragraphs>136</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Montserrat Bold</vt:lpstr>
      <vt:lpstr>Montserrat</vt:lpstr>
      <vt:lpstr>Open Sauce Light</vt:lpstr>
      <vt:lpstr>Arial</vt:lpstr>
      <vt:lpstr>Arial Unicode MS</vt:lpstr>
      <vt:lpstr>Calibri</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Cyber Security Presentation</dc:title>
  <dc:creator>Mohamed Cherif</dc:creator>
  <cp:lastModifiedBy>Mohamed Cherif</cp:lastModifiedBy>
  <cp:revision>27</cp:revision>
  <dcterms:created xsi:type="dcterms:W3CDTF">2006-08-16T00:00:00Z</dcterms:created>
  <dcterms:modified xsi:type="dcterms:W3CDTF">2025-04-26T13:39:05Z</dcterms:modified>
  <dc:identifier>DAGk_Q4nDTE</dc:identifier>
</cp:coreProperties>
</file>