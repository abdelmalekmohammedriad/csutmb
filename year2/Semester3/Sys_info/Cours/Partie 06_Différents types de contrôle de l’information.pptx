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83" r:id="rId2"/>
    <p:sldId id="320" r:id="rId3"/>
    <p:sldId id="299" r:id="rId4"/>
    <p:sldId id="304" r:id="rId5"/>
    <p:sldId id="308" r:id="rId6"/>
    <p:sldId id="309" r:id="rId7"/>
    <p:sldId id="310" r:id="rId8"/>
    <p:sldId id="311" r:id="rId9"/>
    <p:sldId id="313" r:id="rId10"/>
    <p:sldId id="314" r:id="rId11"/>
    <p:sldId id="315" r:id="rId12"/>
    <p:sldId id="316" r:id="rId13"/>
    <p:sldId id="317" r:id="rId14"/>
    <p:sldId id="319" r:id="rId15"/>
    <p:sldId id="321" r:id="rId16"/>
    <p:sldId id="322" r:id="rId17"/>
    <p:sldId id="323" r:id="rId18"/>
  </p:sldIdLst>
  <p:sldSz cx="9144000" cy="6858000" type="screen4x3"/>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4660"/>
  </p:normalViewPr>
  <p:slideViewPr>
    <p:cSldViewPr>
      <p:cViewPr varScale="1">
        <p:scale>
          <a:sx n="59" d="100"/>
          <a:sy n="59" d="100"/>
        </p:scale>
        <p:origin x="1468"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1588BB4-B097-4833-94B1-75AB959485B8}" type="datetimeFigureOut">
              <a:rPr lang="fr-FR" smtClean="0"/>
              <a:t>03/03/2024</a:t>
            </a:fld>
            <a:endParaRPr lang="fr-FR"/>
          </a:p>
        </p:txBody>
      </p:sp>
      <p:sp>
        <p:nvSpPr>
          <p:cNvPr id="4" name="Espace réservé de l'image des diapositives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9BD77DD-DE13-4E1E-AD49-D8F3FAF789C5}" type="slidenum">
              <a:rPr lang="fr-FR" smtClean="0"/>
              <a:t>‹#›</a:t>
            </a:fld>
            <a:endParaRPr lang="fr-FR"/>
          </a:p>
        </p:txBody>
      </p:sp>
    </p:spTree>
    <p:extLst>
      <p:ext uri="{BB962C8B-B14F-4D97-AF65-F5344CB8AC3E}">
        <p14:creationId xmlns:p14="http://schemas.microsoft.com/office/powerpoint/2010/main" val="3691103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3/3/2024</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3/3/2024</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3/3/2024</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3851675" y="185356"/>
            <a:ext cx="4975020" cy="6218851"/>
          </a:xfrm>
          <a:prstGeom prst="rect">
            <a:avLst/>
          </a:prstGeom>
        </p:spPr>
      </p:pic>
      <p:sp>
        <p:nvSpPr>
          <p:cNvPr id="18" name="bg object 18"/>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3/3/2024</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5313" y="69722"/>
            <a:ext cx="9013408" cy="6692231"/>
          </a:xfrm>
          <a:prstGeom prst="rect">
            <a:avLst/>
          </a:prstGeom>
        </p:spPr>
      </p:pic>
      <p:sp>
        <p:nvSpPr>
          <p:cNvPr id="17" name="bg object 17"/>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12700">
            <a:solidFill>
              <a:srgbClr val="000000"/>
            </a:solidFill>
          </a:ln>
        </p:spPr>
        <p:txBody>
          <a:bodyPr wrap="square" lIns="0" tIns="0" rIns="0" bIns="0" rtlCol="0"/>
          <a:lstStyle/>
          <a:p>
            <a:endParaRPr/>
          </a:p>
        </p:txBody>
      </p:sp>
      <p:sp>
        <p:nvSpPr>
          <p:cNvPr id="18" name="bg object 18"/>
          <p:cNvSpPr/>
          <p:nvPr/>
        </p:nvSpPr>
        <p:spPr>
          <a:xfrm>
            <a:off x="62931" y="1396688"/>
            <a:ext cx="9022080" cy="120650"/>
          </a:xfrm>
          <a:custGeom>
            <a:avLst/>
            <a:gdLst/>
            <a:ahLst/>
            <a:cxnLst/>
            <a:rect l="l" t="t" r="r" b="b"/>
            <a:pathLst>
              <a:path w="9022080" h="120650">
                <a:moveTo>
                  <a:pt x="9021572" y="0"/>
                </a:moveTo>
                <a:lnTo>
                  <a:pt x="0" y="0"/>
                </a:lnTo>
                <a:lnTo>
                  <a:pt x="0" y="120580"/>
                </a:lnTo>
                <a:lnTo>
                  <a:pt x="9021572" y="120580"/>
                </a:lnTo>
                <a:lnTo>
                  <a:pt x="9021572" y="0"/>
                </a:lnTo>
                <a:close/>
              </a:path>
            </a:pathLst>
          </a:custGeom>
          <a:solidFill>
            <a:srgbClr val="E6B0AB"/>
          </a:solidFill>
        </p:spPr>
        <p:txBody>
          <a:bodyPr wrap="square" lIns="0" tIns="0" rIns="0" bIns="0" rtlCol="0"/>
          <a:lstStyle/>
          <a:p>
            <a:endParaRPr/>
          </a:p>
        </p:txBody>
      </p:sp>
      <p:sp>
        <p:nvSpPr>
          <p:cNvPr id="19" name="bg object 19"/>
          <p:cNvSpPr/>
          <p:nvPr/>
        </p:nvSpPr>
        <p:spPr>
          <a:xfrm>
            <a:off x="62931" y="2976711"/>
            <a:ext cx="9022080" cy="111125"/>
          </a:xfrm>
          <a:custGeom>
            <a:avLst/>
            <a:gdLst/>
            <a:ahLst/>
            <a:cxnLst/>
            <a:rect l="l" t="t" r="r" b="b"/>
            <a:pathLst>
              <a:path w="9022080" h="111125">
                <a:moveTo>
                  <a:pt x="9021572" y="0"/>
                </a:moveTo>
                <a:lnTo>
                  <a:pt x="0" y="0"/>
                </a:lnTo>
                <a:lnTo>
                  <a:pt x="0" y="110531"/>
                </a:lnTo>
                <a:lnTo>
                  <a:pt x="9021572" y="110531"/>
                </a:lnTo>
                <a:lnTo>
                  <a:pt x="9021572" y="0"/>
                </a:lnTo>
                <a:close/>
              </a:path>
            </a:pathLst>
          </a:custGeom>
          <a:solidFill>
            <a:srgbClr val="918485"/>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3/3/2024</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p>
        </p:txBody>
      </p:sp>
      <p:sp>
        <p:nvSpPr>
          <p:cNvPr id="2" name="Holder 2"/>
          <p:cNvSpPr>
            <a:spLocks noGrp="1"/>
          </p:cNvSpPr>
          <p:nvPr>
            <p:ph type="title"/>
          </p:nvPr>
        </p:nvSpPr>
        <p:spPr>
          <a:xfrm>
            <a:off x="993444" y="292430"/>
            <a:ext cx="5885180" cy="635000"/>
          </a:xfrm>
          <a:prstGeom prst="rect">
            <a:avLst/>
          </a:prstGeom>
        </p:spPr>
        <p:txBody>
          <a:bodyPr wrap="square" lIns="0" tIns="0" rIns="0" bIns="0">
            <a:spAutoFit/>
          </a:bodyPr>
          <a:lstStyle>
            <a:lvl1pPr>
              <a:defRPr sz="4000" b="1" i="0">
                <a:solidFill>
                  <a:srgbClr val="696363"/>
                </a:solidFill>
                <a:latin typeface="Arial"/>
                <a:cs typeface="Arial"/>
              </a:defRPr>
            </a:lvl1pPr>
          </a:lstStyle>
          <a:p>
            <a:endParaRPr/>
          </a:p>
        </p:txBody>
      </p:sp>
      <p:sp>
        <p:nvSpPr>
          <p:cNvPr id="3" name="Holder 3"/>
          <p:cNvSpPr>
            <a:spLocks noGrp="1"/>
          </p:cNvSpPr>
          <p:nvPr>
            <p:ph type="body" idx="1"/>
          </p:nvPr>
        </p:nvSpPr>
        <p:spPr>
          <a:xfrm>
            <a:off x="985164" y="1421383"/>
            <a:ext cx="7173671" cy="4111625"/>
          </a:xfrm>
          <a:prstGeom prst="rect">
            <a:avLst/>
          </a:prstGeom>
        </p:spPr>
        <p:txBody>
          <a:bodyPr wrap="square" lIns="0" tIns="0" rIns="0" bIns="0">
            <a:spAutoFit/>
          </a:bodyPr>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993444" y="6289162"/>
            <a:ext cx="1969770" cy="229870"/>
          </a:xfrm>
          <a:prstGeom prst="rect">
            <a:avLst/>
          </a:prstGeom>
        </p:spPr>
        <p:txBody>
          <a:bodyPr wrap="square" lIns="0" tIns="0" rIns="0" bIns="0">
            <a:spAutoFit/>
          </a:bodyPr>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3/3/2024</a:t>
            </a:fld>
            <a:endParaRPr lang="en-US"/>
          </a:p>
        </p:txBody>
      </p:sp>
      <p:sp>
        <p:nvSpPr>
          <p:cNvPr id="6" name="Holder 6"/>
          <p:cNvSpPr>
            <a:spLocks noGrp="1"/>
          </p:cNvSpPr>
          <p:nvPr>
            <p:ph type="sldNum" sz="quarter" idx="7"/>
          </p:nvPr>
        </p:nvSpPr>
        <p:spPr>
          <a:xfrm>
            <a:off x="231952" y="6329836"/>
            <a:ext cx="287020" cy="227965"/>
          </a:xfrm>
          <a:prstGeom prst="rect">
            <a:avLst/>
          </a:prstGeom>
        </p:spPr>
        <p:txBody>
          <a:bodyPr wrap="square" lIns="0" tIns="0" rIns="0" bIns="0">
            <a:spAutoFit/>
          </a:bodyPr>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95745" y="2803382"/>
            <a:ext cx="8229600" cy="1327150"/>
          </a:xfrm>
          <a:custGeom>
            <a:avLst/>
            <a:gdLst/>
            <a:ahLst/>
            <a:cxnLst/>
            <a:rect l="l" t="t" r="r" b="b"/>
            <a:pathLst>
              <a:path w="8229600" h="1327150">
                <a:moveTo>
                  <a:pt x="0" y="221195"/>
                </a:moveTo>
                <a:lnTo>
                  <a:pt x="4493" y="176617"/>
                </a:lnTo>
                <a:lnTo>
                  <a:pt x="17382" y="135096"/>
                </a:lnTo>
                <a:lnTo>
                  <a:pt x="37776" y="97523"/>
                </a:lnTo>
                <a:lnTo>
                  <a:pt x="64786" y="64786"/>
                </a:lnTo>
                <a:lnTo>
                  <a:pt x="97523" y="37776"/>
                </a:lnTo>
                <a:lnTo>
                  <a:pt x="135096" y="17382"/>
                </a:lnTo>
                <a:lnTo>
                  <a:pt x="176617" y="4493"/>
                </a:lnTo>
                <a:lnTo>
                  <a:pt x="221196" y="0"/>
                </a:lnTo>
                <a:lnTo>
                  <a:pt x="8008404" y="0"/>
                </a:lnTo>
                <a:lnTo>
                  <a:pt x="8051759" y="4289"/>
                </a:lnTo>
                <a:lnTo>
                  <a:pt x="8093052" y="16837"/>
                </a:lnTo>
                <a:lnTo>
                  <a:pt x="8131123" y="37163"/>
                </a:lnTo>
                <a:lnTo>
                  <a:pt x="8164812" y="64786"/>
                </a:lnTo>
                <a:lnTo>
                  <a:pt x="8192436" y="98476"/>
                </a:lnTo>
                <a:lnTo>
                  <a:pt x="8212762" y="136548"/>
                </a:lnTo>
                <a:lnTo>
                  <a:pt x="8225310" y="177841"/>
                </a:lnTo>
                <a:lnTo>
                  <a:pt x="8229600" y="221195"/>
                </a:lnTo>
                <a:lnTo>
                  <a:pt x="8229600" y="1105953"/>
                </a:lnTo>
                <a:lnTo>
                  <a:pt x="8225106" y="1150532"/>
                </a:lnTo>
                <a:lnTo>
                  <a:pt x="8212217" y="1192053"/>
                </a:lnTo>
                <a:lnTo>
                  <a:pt x="8191823" y="1229626"/>
                </a:lnTo>
                <a:lnTo>
                  <a:pt x="8164813" y="1262363"/>
                </a:lnTo>
                <a:lnTo>
                  <a:pt x="8132077" y="1289373"/>
                </a:lnTo>
                <a:lnTo>
                  <a:pt x="8094504" y="1309767"/>
                </a:lnTo>
                <a:lnTo>
                  <a:pt x="8052983" y="1322656"/>
                </a:lnTo>
                <a:lnTo>
                  <a:pt x="8008404" y="1327149"/>
                </a:lnTo>
                <a:lnTo>
                  <a:pt x="221196" y="1327149"/>
                </a:lnTo>
                <a:lnTo>
                  <a:pt x="176617" y="1322656"/>
                </a:lnTo>
                <a:lnTo>
                  <a:pt x="135096" y="1309767"/>
                </a:lnTo>
                <a:lnTo>
                  <a:pt x="97523" y="1289373"/>
                </a:lnTo>
                <a:lnTo>
                  <a:pt x="64786" y="1262363"/>
                </a:lnTo>
                <a:lnTo>
                  <a:pt x="37776" y="1229626"/>
                </a:lnTo>
                <a:lnTo>
                  <a:pt x="17382" y="1192053"/>
                </a:lnTo>
                <a:lnTo>
                  <a:pt x="4493" y="1150532"/>
                </a:lnTo>
                <a:lnTo>
                  <a:pt x="0" y="1105953"/>
                </a:lnTo>
                <a:lnTo>
                  <a:pt x="0" y="221195"/>
                </a:lnTo>
                <a:close/>
              </a:path>
            </a:pathLst>
          </a:custGeom>
          <a:ln/>
        </p:spPr>
        <p:style>
          <a:lnRef idx="0">
            <a:schemeClr val="accent1"/>
          </a:lnRef>
          <a:fillRef idx="3">
            <a:schemeClr val="accent1"/>
          </a:fillRef>
          <a:effectRef idx="3">
            <a:schemeClr val="accent1"/>
          </a:effectRef>
          <a:fontRef idx="minor">
            <a:schemeClr val="lt1"/>
          </a:fontRef>
        </p:style>
        <p:txBody>
          <a:bodyPr wrap="square" lIns="0" tIns="0" rIns="0" bIns="0" rtlCol="0"/>
          <a:lstStyle/>
          <a:p>
            <a:endParaRPr dirty="0"/>
          </a:p>
        </p:txBody>
      </p:sp>
      <p:pic>
        <p:nvPicPr>
          <p:cNvPr id="11" name="object 11"/>
          <p:cNvPicPr/>
          <p:nvPr/>
        </p:nvPicPr>
        <p:blipFill>
          <a:blip r:embed="rId2" cstate="print"/>
          <a:stretch>
            <a:fillRect/>
          </a:stretch>
        </p:blipFill>
        <p:spPr>
          <a:xfrm>
            <a:off x="361950" y="5562600"/>
            <a:ext cx="8477250" cy="793750"/>
          </a:xfrm>
          <a:prstGeom prst="rect">
            <a:avLst/>
          </a:prstGeom>
        </p:spPr>
      </p:pic>
      <p:sp>
        <p:nvSpPr>
          <p:cNvPr id="12" name="object 12"/>
          <p:cNvSpPr/>
          <p:nvPr/>
        </p:nvSpPr>
        <p:spPr>
          <a:xfrm>
            <a:off x="381000" y="5562600"/>
            <a:ext cx="8350250" cy="666750"/>
          </a:xfrm>
          <a:custGeom>
            <a:avLst/>
            <a:gdLst/>
            <a:ahLst/>
            <a:cxnLst/>
            <a:rect l="l" t="t" r="r" b="b"/>
            <a:pathLst>
              <a:path w="8350250" h="666750">
                <a:moveTo>
                  <a:pt x="8327026" y="666749"/>
                </a:moveTo>
                <a:lnTo>
                  <a:pt x="23222" y="666749"/>
                </a:lnTo>
                <a:lnTo>
                  <a:pt x="14183" y="664925"/>
                </a:lnTo>
                <a:lnTo>
                  <a:pt x="6801" y="659948"/>
                </a:lnTo>
                <a:lnTo>
                  <a:pt x="1824" y="652566"/>
                </a:lnTo>
                <a:lnTo>
                  <a:pt x="0" y="643527"/>
                </a:lnTo>
                <a:lnTo>
                  <a:pt x="0" y="23222"/>
                </a:lnTo>
                <a:lnTo>
                  <a:pt x="1824" y="14183"/>
                </a:lnTo>
                <a:lnTo>
                  <a:pt x="6801" y="6801"/>
                </a:lnTo>
                <a:lnTo>
                  <a:pt x="14183" y="1824"/>
                </a:lnTo>
                <a:lnTo>
                  <a:pt x="23222" y="0"/>
                </a:lnTo>
                <a:lnTo>
                  <a:pt x="8333186" y="0"/>
                </a:lnTo>
                <a:lnTo>
                  <a:pt x="8339093" y="2446"/>
                </a:lnTo>
                <a:lnTo>
                  <a:pt x="8347803" y="11156"/>
                </a:lnTo>
                <a:lnTo>
                  <a:pt x="8350250" y="17063"/>
                </a:lnTo>
                <a:lnTo>
                  <a:pt x="8350250" y="643527"/>
                </a:lnTo>
                <a:lnTo>
                  <a:pt x="8348425" y="652566"/>
                </a:lnTo>
                <a:lnTo>
                  <a:pt x="8343448" y="659948"/>
                </a:lnTo>
                <a:lnTo>
                  <a:pt x="8336066" y="664925"/>
                </a:lnTo>
                <a:lnTo>
                  <a:pt x="8327026" y="666749"/>
                </a:lnTo>
                <a:close/>
              </a:path>
            </a:pathLst>
          </a:custGeom>
          <a:solidFill>
            <a:srgbClr val="E9EEE7"/>
          </a:solidFill>
        </p:spPr>
        <p:txBody>
          <a:bodyPr wrap="square" lIns="0" tIns="0" rIns="0" bIns="0" rtlCol="0"/>
          <a:lstStyle/>
          <a:p>
            <a:endParaRPr dirty="0"/>
          </a:p>
        </p:txBody>
      </p:sp>
      <p:sp>
        <p:nvSpPr>
          <p:cNvPr id="13" name="object 13"/>
          <p:cNvSpPr/>
          <p:nvPr/>
        </p:nvSpPr>
        <p:spPr>
          <a:xfrm>
            <a:off x="415850" y="5563213"/>
            <a:ext cx="8350250" cy="246379"/>
          </a:xfrm>
          <a:custGeom>
            <a:avLst/>
            <a:gdLst/>
            <a:ahLst/>
            <a:cxnLst/>
            <a:rect l="l" t="t" r="r" b="b"/>
            <a:pathLst>
              <a:path w="8350250" h="246379">
                <a:moveTo>
                  <a:pt x="8350250" y="246063"/>
                </a:moveTo>
                <a:lnTo>
                  <a:pt x="0" y="246063"/>
                </a:lnTo>
                <a:lnTo>
                  <a:pt x="0" y="97453"/>
                </a:lnTo>
                <a:lnTo>
                  <a:pt x="8326" y="59520"/>
                </a:lnTo>
                <a:lnTo>
                  <a:pt x="31032" y="28543"/>
                </a:lnTo>
                <a:lnTo>
                  <a:pt x="64709" y="7658"/>
                </a:lnTo>
                <a:lnTo>
                  <a:pt x="105950" y="0"/>
                </a:lnTo>
                <a:lnTo>
                  <a:pt x="8244300" y="0"/>
                </a:lnTo>
                <a:lnTo>
                  <a:pt x="8285540" y="7658"/>
                </a:lnTo>
                <a:lnTo>
                  <a:pt x="8319217" y="28543"/>
                </a:lnTo>
                <a:lnTo>
                  <a:pt x="8341923" y="59520"/>
                </a:lnTo>
                <a:lnTo>
                  <a:pt x="8350250" y="97453"/>
                </a:lnTo>
                <a:lnTo>
                  <a:pt x="8350250" y="246063"/>
                </a:lnTo>
                <a:close/>
              </a:path>
            </a:pathLst>
          </a:custGeom>
        </p:spPr>
        <p:style>
          <a:lnRef idx="1">
            <a:schemeClr val="accent1"/>
          </a:lnRef>
          <a:fillRef idx="3">
            <a:schemeClr val="accent1"/>
          </a:fillRef>
          <a:effectRef idx="2">
            <a:schemeClr val="accent1"/>
          </a:effectRef>
          <a:fontRef idx="minor">
            <a:schemeClr val="lt1"/>
          </a:fontRef>
        </p:style>
        <p:txBody>
          <a:bodyPr wrap="square" lIns="0" tIns="0" rIns="0" bIns="0" rtlCol="0"/>
          <a:lstStyle/>
          <a:p>
            <a:endParaRPr dirty="0"/>
          </a:p>
        </p:txBody>
      </p:sp>
      <p:sp>
        <p:nvSpPr>
          <p:cNvPr id="14" name="object 14"/>
          <p:cNvSpPr txBox="1"/>
          <p:nvPr/>
        </p:nvSpPr>
        <p:spPr>
          <a:xfrm>
            <a:off x="458787" y="5054377"/>
            <a:ext cx="1928495" cy="718185"/>
          </a:xfrm>
          <a:prstGeom prst="rect">
            <a:avLst/>
          </a:prstGeom>
        </p:spPr>
        <p:txBody>
          <a:bodyPr vert="horz" wrap="square" lIns="0" tIns="153670" rIns="0" bIns="0" rtlCol="0">
            <a:spAutoFit/>
          </a:bodyPr>
          <a:lstStyle/>
          <a:p>
            <a:pPr marL="12700">
              <a:lnSpc>
                <a:spcPct val="100000"/>
              </a:lnSpc>
              <a:spcBef>
                <a:spcPts val="1210"/>
              </a:spcBef>
            </a:pPr>
            <a:r>
              <a:rPr sz="1800" b="1" spc="-10" dirty="0">
                <a:solidFill>
                  <a:srgbClr val="3B8C39"/>
                </a:solidFill>
                <a:latin typeface="Calibri"/>
                <a:cs typeface="Calibri"/>
              </a:rPr>
              <a:t>Etudiants</a:t>
            </a:r>
            <a:r>
              <a:rPr sz="1800" b="1" spc="-45" dirty="0">
                <a:solidFill>
                  <a:srgbClr val="3B8C39"/>
                </a:solidFill>
                <a:latin typeface="Calibri"/>
                <a:cs typeface="Calibri"/>
              </a:rPr>
              <a:t> </a:t>
            </a:r>
            <a:r>
              <a:rPr sz="1800" b="1" spc="-10" dirty="0">
                <a:solidFill>
                  <a:srgbClr val="3B8C39"/>
                </a:solidFill>
                <a:latin typeface="Calibri"/>
                <a:cs typeface="Calibri"/>
              </a:rPr>
              <a:t>concernés</a:t>
            </a:r>
            <a:endParaRPr sz="1800" dirty="0">
              <a:latin typeface="Calibri"/>
              <a:cs typeface="Calibri"/>
            </a:endParaRPr>
          </a:p>
          <a:p>
            <a:pPr marL="99695">
              <a:lnSpc>
                <a:spcPct val="100000"/>
              </a:lnSpc>
              <a:spcBef>
                <a:spcPts val="740"/>
              </a:spcBef>
            </a:pPr>
            <a:r>
              <a:rPr sz="1200" b="1" spc="-10" dirty="0">
                <a:solidFill>
                  <a:srgbClr val="FFFFFF"/>
                </a:solidFill>
                <a:latin typeface="Calibri"/>
                <a:cs typeface="Calibri"/>
              </a:rPr>
              <a:t>Faculté/Institut</a:t>
            </a:r>
            <a:endParaRPr sz="1200" dirty="0">
              <a:latin typeface="Calibri"/>
              <a:cs typeface="Calibri"/>
            </a:endParaRPr>
          </a:p>
        </p:txBody>
      </p:sp>
      <p:sp>
        <p:nvSpPr>
          <p:cNvPr id="15" name="object 15"/>
          <p:cNvSpPr txBox="1"/>
          <p:nvPr/>
        </p:nvSpPr>
        <p:spPr>
          <a:xfrm>
            <a:off x="3125787" y="5562536"/>
            <a:ext cx="87058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Département</a:t>
            </a:r>
            <a:endParaRPr sz="1200" dirty="0">
              <a:latin typeface="Calibri"/>
              <a:cs typeface="Calibri"/>
            </a:endParaRPr>
          </a:p>
        </p:txBody>
      </p:sp>
      <p:sp>
        <p:nvSpPr>
          <p:cNvPr id="16" name="object 16"/>
          <p:cNvSpPr txBox="1"/>
          <p:nvPr/>
        </p:nvSpPr>
        <p:spPr>
          <a:xfrm>
            <a:off x="4921250" y="5562536"/>
            <a:ext cx="467359"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Niveau</a:t>
            </a:r>
            <a:endParaRPr sz="1200" dirty="0">
              <a:latin typeface="Calibri"/>
              <a:cs typeface="Calibri"/>
            </a:endParaRPr>
          </a:p>
        </p:txBody>
      </p:sp>
      <p:sp>
        <p:nvSpPr>
          <p:cNvPr id="17" name="object 17"/>
          <p:cNvSpPr txBox="1"/>
          <p:nvPr/>
        </p:nvSpPr>
        <p:spPr>
          <a:xfrm>
            <a:off x="5900737" y="5560949"/>
            <a:ext cx="63436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Spécialité</a:t>
            </a:r>
            <a:endParaRPr sz="1200" dirty="0">
              <a:latin typeface="Calibri"/>
              <a:cs typeface="Calibri"/>
            </a:endParaRPr>
          </a:p>
        </p:txBody>
      </p:sp>
      <p:sp>
        <p:nvSpPr>
          <p:cNvPr id="18" name="object 18"/>
          <p:cNvSpPr txBox="1"/>
          <p:nvPr/>
        </p:nvSpPr>
        <p:spPr>
          <a:xfrm>
            <a:off x="4926012" y="5852020"/>
            <a:ext cx="230504"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a:cs typeface="Calibri"/>
              </a:rPr>
              <a:t>L</a:t>
            </a:r>
            <a:r>
              <a:rPr sz="1400" spc="-5" dirty="0">
                <a:latin typeface="Calibri"/>
                <a:cs typeface="Calibri"/>
              </a:rPr>
              <a:t> </a:t>
            </a:r>
            <a:r>
              <a:rPr lang="fr-FR" sz="1400" spc="-5" dirty="0">
                <a:latin typeface="Calibri"/>
                <a:cs typeface="Calibri"/>
              </a:rPr>
              <a:t>2</a:t>
            </a:r>
            <a:endParaRPr sz="1400" dirty="0">
              <a:latin typeface="Calibri"/>
              <a:cs typeface="Calibri"/>
            </a:endParaRPr>
          </a:p>
        </p:txBody>
      </p:sp>
      <p:sp>
        <p:nvSpPr>
          <p:cNvPr id="19" name="object 19"/>
          <p:cNvSpPr txBox="1"/>
          <p:nvPr/>
        </p:nvSpPr>
        <p:spPr>
          <a:xfrm>
            <a:off x="5900737" y="5852858"/>
            <a:ext cx="1450954" cy="228268"/>
          </a:xfrm>
          <a:prstGeom prst="rect">
            <a:avLst/>
          </a:prstGeom>
        </p:spPr>
        <p:txBody>
          <a:bodyPr vert="horz" wrap="square" lIns="0" tIns="12700" rIns="0" bIns="0" rtlCol="0">
            <a:spAutoFit/>
          </a:bodyPr>
          <a:lstStyle/>
          <a:p>
            <a:pPr marL="12700">
              <a:lnSpc>
                <a:spcPct val="100000"/>
              </a:lnSpc>
              <a:spcBef>
                <a:spcPts val="100"/>
              </a:spcBef>
            </a:pPr>
            <a:r>
              <a:rPr lang="fr-FR" sz="1400" spc="-5" dirty="0">
                <a:latin typeface="Calibri"/>
                <a:cs typeface="Calibri"/>
              </a:rPr>
              <a:t>Informatique</a:t>
            </a:r>
            <a:endParaRPr sz="1400" dirty="0">
              <a:latin typeface="Calibri"/>
              <a:cs typeface="Calibri"/>
            </a:endParaRPr>
          </a:p>
        </p:txBody>
      </p:sp>
      <p:sp>
        <p:nvSpPr>
          <p:cNvPr id="20" name="object 20"/>
          <p:cNvSpPr txBox="1"/>
          <p:nvPr/>
        </p:nvSpPr>
        <p:spPr>
          <a:xfrm>
            <a:off x="2349517" y="4177328"/>
            <a:ext cx="4276697" cy="356508"/>
          </a:xfrm>
          <a:prstGeom prst="rect">
            <a:avLst/>
          </a:prstGeom>
        </p:spPr>
        <p:txBody>
          <a:bodyPr vert="horz" wrap="square" lIns="0" tIns="48260" rIns="0" bIns="0" rtlCol="0">
            <a:spAutoFit/>
          </a:bodyPr>
          <a:lstStyle/>
          <a:p>
            <a:pPr marL="1905" algn="ctr">
              <a:lnSpc>
                <a:spcPct val="100000"/>
              </a:lnSpc>
              <a:spcBef>
                <a:spcPts val="380"/>
              </a:spcBef>
            </a:pPr>
            <a:r>
              <a:rPr sz="2000" b="1" spc="-60" dirty="0">
                <a:latin typeface="Calibri"/>
                <a:cs typeface="Calibri"/>
              </a:rPr>
              <a:t>Dr.</a:t>
            </a:r>
            <a:r>
              <a:rPr sz="2000" b="1" spc="-35" dirty="0">
                <a:latin typeface="Calibri"/>
                <a:cs typeface="Calibri"/>
              </a:rPr>
              <a:t> </a:t>
            </a:r>
            <a:r>
              <a:rPr lang="fr-FR" sz="2000" b="1" spc="-5" dirty="0">
                <a:latin typeface="Calibri"/>
                <a:cs typeface="Calibri"/>
              </a:rPr>
              <a:t>Djelloul Kheira</a:t>
            </a:r>
          </a:p>
        </p:txBody>
      </p:sp>
      <p:sp>
        <p:nvSpPr>
          <p:cNvPr id="21" name="object 21"/>
          <p:cNvSpPr txBox="1"/>
          <p:nvPr/>
        </p:nvSpPr>
        <p:spPr>
          <a:xfrm>
            <a:off x="549275" y="5844920"/>
            <a:ext cx="1691005" cy="228268"/>
          </a:xfrm>
          <a:prstGeom prst="rect">
            <a:avLst/>
          </a:prstGeom>
        </p:spPr>
        <p:txBody>
          <a:bodyPr vert="horz" wrap="square" lIns="0" tIns="12700" rIns="0" bIns="0" rtlCol="0">
            <a:spAutoFit/>
          </a:bodyPr>
          <a:lstStyle/>
          <a:p>
            <a:pPr marL="12700">
              <a:lnSpc>
                <a:spcPct val="100000"/>
              </a:lnSpc>
              <a:spcBef>
                <a:spcPts val="100"/>
              </a:spcBef>
            </a:pPr>
            <a:r>
              <a:rPr lang="fr-FR" sz="1400" spc="-10" dirty="0">
                <a:latin typeface="Calibri"/>
                <a:cs typeface="Calibri"/>
              </a:rPr>
              <a:t>Science Exactes </a:t>
            </a:r>
            <a:endParaRPr sz="1400" dirty="0">
              <a:latin typeface="Calibri"/>
              <a:cs typeface="Calibri"/>
            </a:endParaRPr>
          </a:p>
        </p:txBody>
      </p:sp>
      <p:sp>
        <p:nvSpPr>
          <p:cNvPr id="22" name="object 22"/>
          <p:cNvSpPr txBox="1"/>
          <p:nvPr/>
        </p:nvSpPr>
        <p:spPr>
          <a:xfrm>
            <a:off x="3133725" y="5852020"/>
            <a:ext cx="2222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Calibri"/>
                <a:cs typeface="Calibri"/>
              </a:rPr>
              <a:t>MI</a:t>
            </a:r>
            <a:endParaRPr sz="1400" dirty="0">
              <a:latin typeface="Calibri"/>
              <a:cs typeface="Calibri"/>
            </a:endParaRPr>
          </a:p>
        </p:txBody>
      </p:sp>
      <p:sp>
        <p:nvSpPr>
          <p:cNvPr id="23" name="object 23"/>
          <p:cNvSpPr txBox="1"/>
          <p:nvPr/>
        </p:nvSpPr>
        <p:spPr>
          <a:xfrm>
            <a:off x="1556514" y="3053567"/>
            <a:ext cx="6308062" cy="764312"/>
          </a:xfrm>
          <a:prstGeom prst="rect">
            <a:avLst/>
          </a:prstGeom>
        </p:spPr>
        <p:txBody>
          <a:bodyPr vert="horz" wrap="square" lIns="0" tIns="12700" rIns="0" bIns="0" rtlCol="0">
            <a:spAutoFit/>
          </a:bodyPr>
          <a:lstStyle/>
          <a:p>
            <a:pPr marL="12700" algn="ctr">
              <a:spcBef>
                <a:spcPts val="100"/>
              </a:spcBef>
            </a:pPr>
            <a:r>
              <a:rPr lang="fr-FR" sz="2400" b="1" dirty="0" smtClean="0">
                <a:solidFill>
                  <a:schemeClr val="bg1"/>
                </a:solidFill>
                <a:latin typeface="Arial Black" panose="020B0A04020102020204" pitchFamily="34" charset="0"/>
              </a:rPr>
              <a:t>Outils </a:t>
            </a:r>
            <a:r>
              <a:rPr lang="fr-FR" sz="2400" b="1" dirty="0">
                <a:solidFill>
                  <a:schemeClr val="bg1"/>
                </a:solidFill>
                <a:latin typeface="Arial Black" panose="020B0A04020102020204" pitchFamily="34" charset="0"/>
              </a:rPr>
              <a:t>d’analyse de l’information</a:t>
            </a:r>
            <a:r>
              <a:rPr lang="fr-FR" sz="2400" b="1" spc="-5" dirty="0">
                <a:solidFill>
                  <a:srgbClr val="FFFFFF"/>
                </a:solidFill>
                <a:cs typeface="Calibri"/>
              </a:rPr>
              <a:t> </a:t>
            </a:r>
            <a:endParaRPr lang="fr-FR" sz="2400" b="1" spc="-5" dirty="0">
              <a:solidFill>
                <a:srgbClr val="FFFFFF"/>
              </a:solidFill>
              <a:latin typeface="Calibri"/>
              <a:cs typeface="Calibri"/>
            </a:endParaRPr>
          </a:p>
          <a:p>
            <a:pPr marL="12700" algn="ctr">
              <a:spcBef>
                <a:spcPts val="100"/>
              </a:spcBef>
            </a:pPr>
            <a:r>
              <a:rPr lang="fr-FR" sz="2400" b="1" spc="-5" dirty="0" smtClean="0">
                <a:solidFill>
                  <a:srgbClr val="FFFFFF"/>
                </a:solidFill>
                <a:latin typeface="Calibri"/>
                <a:cs typeface="Calibri"/>
              </a:rPr>
              <a:t>( Contrôle de l’information )</a:t>
            </a:r>
            <a:endParaRPr lang="fr-FR" sz="2400" b="1" spc="-5" dirty="0">
              <a:solidFill>
                <a:srgbClr val="FFFFFF"/>
              </a:solidFill>
              <a:cs typeface="Calibri"/>
            </a:endParaRPr>
          </a:p>
        </p:txBody>
      </p:sp>
      <p:sp>
        <p:nvSpPr>
          <p:cNvPr id="24" name="object 24"/>
          <p:cNvSpPr txBox="1">
            <a:spLocks noGrp="1"/>
          </p:cNvSpPr>
          <p:nvPr>
            <p:ph type="title"/>
          </p:nvPr>
        </p:nvSpPr>
        <p:spPr>
          <a:xfrm>
            <a:off x="1481475" y="2161874"/>
            <a:ext cx="5995736" cy="536044"/>
          </a:xfrm>
          <a:prstGeom prst="rect">
            <a:avLst/>
          </a:prstGeom>
        </p:spPr>
        <p:txBody>
          <a:bodyPr vert="horz" wrap="square" lIns="0" tIns="12700" rIns="0" bIns="0" rtlCol="0">
            <a:spAutoFit/>
          </a:bodyPr>
          <a:lstStyle/>
          <a:p>
            <a:pPr marL="81915" algn="ctr">
              <a:lnSpc>
                <a:spcPct val="100000"/>
              </a:lnSpc>
              <a:spcBef>
                <a:spcPts val="100"/>
              </a:spcBef>
            </a:pPr>
            <a:r>
              <a:rPr lang="fr-FR" sz="3400" spc="-10" dirty="0">
                <a:solidFill>
                  <a:schemeClr val="tx1"/>
                </a:solidFill>
                <a:latin typeface="+mj-lt"/>
              </a:rPr>
              <a:t>Système d’Information </a:t>
            </a:r>
            <a:endParaRPr sz="3400" spc="-10" dirty="0">
              <a:solidFill>
                <a:schemeClr val="tx1"/>
              </a:solidFill>
              <a:latin typeface="+mj-lt"/>
            </a:endParaRPr>
          </a:p>
        </p:txBody>
      </p:sp>
      <p:sp>
        <p:nvSpPr>
          <p:cNvPr id="2" name="Titre 1">
            <a:extLst>
              <a:ext uri="{FF2B5EF4-FFF2-40B4-BE49-F238E27FC236}">
                <a16:creationId xmlns:a16="http://schemas.microsoft.com/office/drawing/2014/main" id="{B2F0860D-43F6-6382-4D6A-7B0904825D92}"/>
              </a:ext>
            </a:extLst>
          </p:cNvPr>
          <p:cNvSpPr txBox="1">
            <a:spLocks/>
          </p:cNvSpPr>
          <p:nvPr/>
        </p:nvSpPr>
        <p:spPr>
          <a:xfrm>
            <a:off x="1300662" y="162048"/>
            <a:ext cx="6643734" cy="1894362"/>
          </a:xfrm>
          <a:prstGeom prst="rect">
            <a:avLst/>
          </a:prstGeom>
        </p:spPr>
        <p:txBody>
          <a:bodyPr wrap="square" lIns="0" tIns="0" rIns="0" bIns="0">
            <a:normAutofit fontScale="97500"/>
          </a:bodyPr>
          <a:lstStyle>
            <a:lvl1pPr>
              <a:defRPr sz="4000" b="1" i="0">
                <a:solidFill>
                  <a:srgbClr val="696363"/>
                </a:solidFill>
                <a:latin typeface="Arial"/>
                <a:ea typeface="+mj-ea"/>
                <a:cs typeface="Arial"/>
              </a:defRPr>
            </a:lvl1pPr>
          </a:lstStyle>
          <a:p>
            <a:pPr algn="ctr"/>
            <a:r>
              <a:rPr lang="fr-FR" sz="1600" kern="0" dirty="0">
                <a:latin typeface="Times New Roman" panose="02020603050405020304" pitchFamily="18" charset="0"/>
                <a:cs typeface="Times New Roman" pitchFamily="18" charset="0"/>
              </a:rPr>
              <a:t>République algérienne démocratique et populaire Ministère de l’enseignement supérieur et de la recherche scientifique</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universitaire de Tahri Mohamed Béchar </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Faculté des Sciences Exactes </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Département Mathématiques et informatique</a:t>
            </a:r>
            <a:br>
              <a:rPr lang="fr-FR" sz="1600" kern="0" dirty="0">
                <a:latin typeface="Times New Roman" panose="02020603050405020304" pitchFamily="18" charset="0"/>
                <a:cs typeface="Times New Roman" pitchFamily="18" charset="0"/>
              </a:rPr>
            </a:br>
            <a:endParaRPr lang="fr-FR" sz="1600" kern="0" dirty="0">
              <a:latin typeface="Times New Roman" panose="02020603050405020304" pitchFamily="18" charset="0"/>
              <a:cs typeface="Times New Roman" pitchFamily="18" charset="0"/>
            </a:endParaRPr>
          </a:p>
        </p:txBody>
      </p:sp>
      <p:pic>
        <p:nvPicPr>
          <p:cNvPr id="3" name="Image 2">
            <a:extLst>
              <a:ext uri="{FF2B5EF4-FFF2-40B4-BE49-F238E27FC236}">
                <a16:creationId xmlns:a16="http://schemas.microsoft.com/office/drawing/2014/main" id="{79F30AB1-0092-EDB1-5C79-5087FF950227}"/>
              </a:ext>
            </a:extLst>
          </p:cNvPr>
          <p:cNvPicPr>
            <a:picLocks noChangeAspect="1"/>
          </p:cNvPicPr>
          <p:nvPr/>
        </p:nvPicPr>
        <p:blipFill>
          <a:blip r:embed="rId3"/>
          <a:stretch>
            <a:fillRect/>
          </a:stretch>
        </p:blipFill>
        <p:spPr>
          <a:xfrm>
            <a:off x="7484137" y="281869"/>
            <a:ext cx="1533247" cy="1322947"/>
          </a:xfrm>
          <a:prstGeom prst="rect">
            <a:avLst/>
          </a:prstGeom>
        </p:spPr>
      </p:pic>
      <p:pic>
        <p:nvPicPr>
          <p:cNvPr id="5" name="Image 4">
            <a:extLst>
              <a:ext uri="{FF2B5EF4-FFF2-40B4-BE49-F238E27FC236}">
                <a16:creationId xmlns:a16="http://schemas.microsoft.com/office/drawing/2014/main" id="{3CD2F1B5-E013-6539-3F6D-A9B53857A438}"/>
              </a:ext>
            </a:extLst>
          </p:cNvPr>
          <p:cNvPicPr>
            <a:picLocks noChangeAspect="1"/>
          </p:cNvPicPr>
          <p:nvPr/>
        </p:nvPicPr>
        <p:blipFill>
          <a:blip r:embed="rId3"/>
          <a:stretch>
            <a:fillRect/>
          </a:stretch>
        </p:blipFill>
        <p:spPr>
          <a:xfrm>
            <a:off x="381001" y="208856"/>
            <a:ext cx="1371600" cy="1322947"/>
          </a:xfrm>
          <a:prstGeom prst="rect">
            <a:avLst/>
          </a:prstGeom>
        </p:spPr>
      </p:pic>
    </p:spTree>
    <p:extLst>
      <p:ext uri="{BB962C8B-B14F-4D97-AF65-F5344CB8AC3E}">
        <p14:creationId xmlns:p14="http://schemas.microsoft.com/office/powerpoint/2010/main" val="1389409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353FAF0-7B2F-3F3A-9160-A2395DB0C87A}"/>
              </a:ext>
            </a:extLst>
          </p:cNvPr>
          <p:cNvSpPr txBox="1"/>
          <p:nvPr/>
        </p:nvSpPr>
        <p:spPr>
          <a:xfrm>
            <a:off x="762000" y="1905000"/>
            <a:ext cx="7924800" cy="4247317"/>
          </a:xfrm>
          <a:prstGeom prst="rect">
            <a:avLst/>
          </a:prstGeom>
          <a:noFill/>
        </p:spPr>
        <p:txBody>
          <a:bodyPr wrap="square">
            <a:spAutoFit/>
          </a:bodyPr>
          <a:lstStyle/>
          <a:p>
            <a:pPr algn="ctr">
              <a:lnSpc>
                <a:spcPct val="150000"/>
              </a:lnSpc>
            </a:pPr>
            <a:r>
              <a:rPr lang="fr-FR" sz="3600" b="1" dirty="0">
                <a:solidFill>
                  <a:schemeClr val="accent6">
                    <a:lumMod val="50000"/>
                  </a:schemeClr>
                </a:solidFill>
                <a:latin typeface="Arial Black" panose="020B0A04020102020204" pitchFamily="34" charset="0"/>
              </a:rPr>
              <a:t>  Partie </a:t>
            </a:r>
            <a:r>
              <a:rPr lang="fr-FR" sz="3600" b="1" dirty="0" smtClean="0">
                <a:solidFill>
                  <a:schemeClr val="accent6">
                    <a:lumMod val="50000"/>
                  </a:schemeClr>
                </a:solidFill>
                <a:latin typeface="Arial Black" panose="020B0A04020102020204" pitchFamily="34" charset="0"/>
              </a:rPr>
              <a:t>2</a:t>
            </a:r>
          </a:p>
          <a:p>
            <a:pPr algn="ctr">
              <a:lnSpc>
                <a:spcPct val="150000"/>
              </a:lnSpc>
            </a:pPr>
            <a:r>
              <a:rPr lang="fr-FR" sz="3600" b="1" dirty="0">
                <a:solidFill>
                  <a:schemeClr val="accent6">
                    <a:lumMod val="50000"/>
                  </a:schemeClr>
                </a:solidFill>
                <a:latin typeface="Arial Black" panose="020B0A04020102020204" pitchFamily="34" charset="0"/>
              </a:rPr>
              <a:t>Différents types de contrôle de l’information  </a:t>
            </a:r>
          </a:p>
          <a:p>
            <a:pPr algn="ctr">
              <a:lnSpc>
                <a:spcPct val="150000"/>
              </a:lnSpc>
            </a:pPr>
            <a:endParaRPr lang="fr-FR" sz="3600" b="1" dirty="0">
              <a:solidFill>
                <a:schemeClr val="accent6">
                  <a:lumMod val="50000"/>
                </a:schemeClr>
              </a:solidFill>
              <a:latin typeface="Arial Black" panose="020B0A04020102020204" pitchFamily="34" charset="0"/>
            </a:endParaRPr>
          </a:p>
          <a:p>
            <a:pPr algn="ctr">
              <a:lnSpc>
                <a:spcPct val="150000"/>
              </a:lnSpc>
            </a:pPr>
            <a:r>
              <a:rPr lang="fr-FR" sz="3600" b="1" dirty="0">
                <a:solidFill>
                  <a:schemeClr val="accent6">
                    <a:lumMod val="50000"/>
                  </a:schemeClr>
                </a:solidFill>
                <a:latin typeface="Arial Black" panose="020B0A04020102020204" pitchFamily="34" charset="0"/>
              </a:rPr>
              <a:t> </a:t>
            </a:r>
            <a:r>
              <a:rPr lang="fr-FR" sz="3600" b="1" dirty="0" smtClean="0">
                <a:solidFill>
                  <a:schemeClr val="accent6">
                    <a:lumMod val="50000"/>
                  </a:schemeClr>
                </a:solidFill>
                <a:latin typeface="Arial Black" panose="020B0A04020102020204" pitchFamily="34" charset="0"/>
              </a:rPr>
              <a:t>  </a:t>
            </a:r>
            <a:endParaRPr lang="fr-FR" sz="3600" b="1" dirty="0">
              <a:solidFill>
                <a:schemeClr val="accent6">
                  <a:lumMod val="50000"/>
                </a:schemeClr>
              </a:solidFill>
              <a:latin typeface="Arial Black" panose="020B0A04020102020204" pitchFamily="34" charset="0"/>
            </a:endParaRPr>
          </a:p>
        </p:txBody>
      </p:sp>
    </p:spTree>
    <p:extLst>
      <p:ext uri="{BB962C8B-B14F-4D97-AF65-F5344CB8AC3E}">
        <p14:creationId xmlns:p14="http://schemas.microsoft.com/office/powerpoint/2010/main" val="2220906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3</a:t>
            </a:fld>
            <a:endParaRPr spc="-4" dirty="0"/>
          </a:p>
        </p:txBody>
      </p:sp>
      <p:sp>
        <p:nvSpPr>
          <p:cNvPr id="12" name="object 3"/>
          <p:cNvSpPr txBox="1">
            <a:spLocks/>
          </p:cNvSpPr>
          <p:nvPr/>
        </p:nvSpPr>
        <p:spPr>
          <a:xfrm>
            <a:off x="443776" y="550017"/>
            <a:ext cx="3366223" cy="625971"/>
          </a:xfrm>
          <a:prstGeom prst="rect">
            <a:avLst/>
          </a:prstGeom>
        </p:spPr>
        <p:txBody>
          <a:bodyPr vert="horz" wrap="square" lIns="0" tIns="10317" rIns="0" bIns="0" rtlCol="0">
            <a:spAutoFit/>
          </a:bodyPr>
          <a:lstStyle>
            <a:lvl1pPr>
              <a:defRPr sz="4000" b="1" i="0">
                <a:solidFill>
                  <a:srgbClr val="696363"/>
                </a:solidFill>
                <a:latin typeface="Arial"/>
                <a:ea typeface="+mj-ea"/>
                <a:cs typeface="Arial"/>
              </a:defRPr>
            </a:lvl1pPr>
          </a:lstStyle>
          <a:p>
            <a:pPr marL="10860">
              <a:spcBef>
                <a:spcPts val="81"/>
              </a:spcBef>
            </a:pPr>
            <a:r>
              <a:rPr lang="fr-FR" i="1" kern="0" spc="-4" dirty="0">
                <a:solidFill>
                  <a:srgbClr val="FF0000"/>
                </a:solidFill>
                <a:latin typeface="+mj-lt"/>
              </a:rPr>
              <a:t>Introduction </a:t>
            </a:r>
          </a:p>
        </p:txBody>
      </p:sp>
      <p:sp>
        <p:nvSpPr>
          <p:cNvPr id="3" name="ZoneTexte 2">
            <a:extLst>
              <a:ext uri="{FF2B5EF4-FFF2-40B4-BE49-F238E27FC236}">
                <a16:creationId xmlns:a16="http://schemas.microsoft.com/office/drawing/2014/main" id="{9A74D38F-7EEB-2CE3-6224-CF823B0C59BC}"/>
              </a:ext>
            </a:extLst>
          </p:cNvPr>
          <p:cNvSpPr txBox="1"/>
          <p:nvPr/>
        </p:nvSpPr>
        <p:spPr>
          <a:xfrm>
            <a:off x="474598" y="1326822"/>
            <a:ext cx="8212201" cy="2957861"/>
          </a:xfrm>
          <a:prstGeom prst="rect">
            <a:avLst/>
          </a:prstGeom>
          <a:noFill/>
        </p:spPr>
        <p:txBody>
          <a:bodyPr wrap="square">
            <a:spAutoFit/>
          </a:bodyPr>
          <a:lstStyle/>
          <a:p>
            <a:pPr algn="just">
              <a:lnSpc>
                <a:spcPct val="150000"/>
              </a:lnSpc>
            </a:pPr>
            <a:r>
              <a:rPr lang="fr-FR" sz="1800" b="0" i="0" u="none" strike="noStrike" baseline="0" dirty="0">
                <a:latin typeface="+mj-lt"/>
              </a:rPr>
              <a:t>L’information est  vitale  pour la prise de décision dans une  entreprise.  D’où la présence d’une  erreur  dans  l’information  peut  avoir  de  graves  conséquences  sur  l’entreprise  qui l’utilise. Prévoir des contrôles devient alors nécessaire pour éviter au maximum ce genre de problèmes. </a:t>
            </a:r>
          </a:p>
          <a:p>
            <a:pPr algn="just">
              <a:lnSpc>
                <a:spcPct val="150000"/>
              </a:lnSpc>
            </a:pPr>
            <a:endParaRPr lang="fr-FR" dirty="0">
              <a:latin typeface="+mj-lt"/>
            </a:endParaRPr>
          </a:p>
          <a:p>
            <a:pPr marL="742950" lvl="1" indent="-285750" algn="just">
              <a:lnSpc>
                <a:spcPct val="150000"/>
              </a:lnSpc>
              <a:buFont typeface="Wingdings" panose="05000000000000000000" pitchFamily="2" charset="2"/>
              <a:buChar char="q"/>
            </a:pPr>
            <a:r>
              <a:rPr lang="fr-FR" b="0" i="0" u="none" strike="noStrike" baseline="0" dirty="0">
                <a:latin typeface="+mj-lt"/>
              </a:rPr>
              <a:t>Contrôler une information permet de vérifier sa justesse et sa conformité par rapport à la  </a:t>
            </a:r>
            <a:r>
              <a:rPr lang="fr-FR" sz="1800" b="0" i="0" u="none" strike="noStrike" baseline="0" dirty="0">
                <a:latin typeface="+mj-lt"/>
              </a:rPr>
              <a:t>réalité de l’entreprise. </a:t>
            </a:r>
            <a:endParaRPr lang="fr-FR" dirty="0">
              <a:latin typeface="+mj-lt"/>
            </a:endParaRPr>
          </a:p>
        </p:txBody>
      </p:sp>
    </p:spTree>
    <p:extLst>
      <p:ext uri="{BB962C8B-B14F-4D97-AF65-F5344CB8AC3E}">
        <p14:creationId xmlns:p14="http://schemas.microsoft.com/office/powerpoint/2010/main" val="348690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4</a:t>
            </a:fld>
            <a:endParaRPr spc="-4" dirty="0"/>
          </a:p>
        </p:txBody>
      </p:sp>
      <p:sp>
        <p:nvSpPr>
          <p:cNvPr id="3" name="ZoneTexte 2">
            <a:extLst>
              <a:ext uri="{FF2B5EF4-FFF2-40B4-BE49-F238E27FC236}">
                <a16:creationId xmlns:a16="http://schemas.microsoft.com/office/drawing/2014/main" id="{1C712B02-2FDC-DF30-CF1C-01CB4DA5F1A0}"/>
              </a:ext>
            </a:extLst>
          </p:cNvPr>
          <p:cNvSpPr txBox="1"/>
          <p:nvPr/>
        </p:nvSpPr>
        <p:spPr>
          <a:xfrm>
            <a:off x="456620" y="457200"/>
            <a:ext cx="8230180" cy="1619033"/>
          </a:xfrm>
          <a:prstGeom prst="rect">
            <a:avLst/>
          </a:prstGeom>
          <a:noFill/>
        </p:spPr>
        <p:txBody>
          <a:bodyPr wrap="square">
            <a:spAutoFit/>
          </a:bodyPr>
          <a:lstStyle/>
          <a:p>
            <a:pPr algn="just">
              <a:lnSpc>
                <a:spcPct val="150000"/>
              </a:lnSpc>
            </a:pPr>
            <a:r>
              <a:rPr lang="fr-FR" sz="3200" b="1" i="1" u="none" strike="noStrike" baseline="0" dirty="0">
                <a:solidFill>
                  <a:srgbClr val="FF0000"/>
                </a:solidFill>
                <a:latin typeface="+mj-lt"/>
              </a:rPr>
              <a:t>Définition du Contrôle </a:t>
            </a:r>
          </a:p>
          <a:p>
            <a:pPr algn="just">
              <a:lnSpc>
                <a:spcPct val="150000"/>
              </a:lnSpc>
            </a:pPr>
            <a:r>
              <a:rPr lang="fr-FR" sz="1800" b="0" i="0" u="none" strike="noStrike" baseline="0" dirty="0">
                <a:latin typeface="+mj-lt"/>
              </a:rPr>
              <a:t>  vérification que les caractéristiques d’une information sont conformes à ce qu’elles doivent être. Les contrôles peuvent être manuels (usuel), automatiques.</a:t>
            </a:r>
            <a:endParaRPr lang="fr-FR" dirty="0">
              <a:latin typeface="+mj-lt"/>
            </a:endParaRPr>
          </a:p>
        </p:txBody>
      </p:sp>
      <p:sp>
        <p:nvSpPr>
          <p:cNvPr id="5" name="ZoneTexte 4">
            <a:extLst>
              <a:ext uri="{FF2B5EF4-FFF2-40B4-BE49-F238E27FC236}">
                <a16:creationId xmlns:a16="http://schemas.microsoft.com/office/drawing/2014/main" id="{37593608-60FC-1182-B81D-DDAA26336578}"/>
              </a:ext>
            </a:extLst>
          </p:cNvPr>
          <p:cNvSpPr txBox="1"/>
          <p:nvPr/>
        </p:nvSpPr>
        <p:spPr>
          <a:xfrm>
            <a:off x="767993" y="3541764"/>
            <a:ext cx="7924800" cy="646331"/>
          </a:xfrm>
          <a:prstGeom prst="rect">
            <a:avLst/>
          </a:prstGeom>
          <a:noFill/>
        </p:spPr>
        <p:txBody>
          <a:bodyPr wrap="square">
            <a:spAutoFit/>
          </a:bodyPr>
          <a:lstStyle/>
          <a:p>
            <a:pPr algn="l"/>
            <a:endParaRPr lang="fr-FR" sz="1800" b="1" i="1" u="none" strike="noStrike" baseline="0" dirty="0">
              <a:latin typeface="+mj-lt"/>
            </a:endParaRPr>
          </a:p>
          <a:p>
            <a:pPr algn="l"/>
            <a:r>
              <a:rPr lang="fr-FR" b="1" i="1" dirty="0">
                <a:latin typeface="+mj-lt"/>
              </a:rPr>
              <a:t>                                  </a:t>
            </a:r>
            <a:r>
              <a:rPr lang="fr-FR" sz="1800" b="1" i="1" u="none" strike="noStrike" baseline="0" dirty="0">
                <a:latin typeface="+mj-lt"/>
              </a:rPr>
              <a:t>On distingue deux types de contrôles :</a:t>
            </a:r>
            <a:endParaRPr lang="fr-FR" b="1" i="1" dirty="0">
              <a:latin typeface="+mj-lt"/>
            </a:endParaRPr>
          </a:p>
        </p:txBody>
      </p:sp>
      <p:sp>
        <p:nvSpPr>
          <p:cNvPr id="8" name="ZoneTexte 7">
            <a:extLst>
              <a:ext uri="{FF2B5EF4-FFF2-40B4-BE49-F238E27FC236}">
                <a16:creationId xmlns:a16="http://schemas.microsoft.com/office/drawing/2014/main" id="{FE98F17E-861E-C154-3405-8E8D54367F61}"/>
              </a:ext>
            </a:extLst>
          </p:cNvPr>
          <p:cNvSpPr txBox="1"/>
          <p:nvPr/>
        </p:nvSpPr>
        <p:spPr>
          <a:xfrm>
            <a:off x="882293" y="5150970"/>
            <a:ext cx="213360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Les contrôles directs</a:t>
            </a:r>
            <a:endParaRPr lang="fr-FR" dirty="0"/>
          </a:p>
        </p:txBody>
      </p:sp>
      <p:sp>
        <p:nvSpPr>
          <p:cNvPr id="10" name="ZoneTexte 9">
            <a:extLst>
              <a:ext uri="{FF2B5EF4-FFF2-40B4-BE49-F238E27FC236}">
                <a16:creationId xmlns:a16="http://schemas.microsoft.com/office/drawing/2014/main" id="{3B10935C-C7BB-AE88-930E-9FA1BD39DCE6}"/>
              </a:ext>
            </a:extLst>
          </p:cNvPr>
          <p:cNvSpPr txBox="1"/>
          <p:nvPr/>
        </p:nvSpPr>
        <p:spPr>
          <a:xfrm>
            <a:off x="5492395" y="5162920"/>
            <a:ext cx="213360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Les contrôles indirects</a:t>
            </a:r>
            <a:endParaRPr lang="fr-FR" dirty="0"/>
          </a:p>
        </p:txBody>
      </p:sp>
      <p:cxnSp>
        <p:nvCxnSpPr>
          <p:cNvPr id="13" name="Connecteur droit avec flèche 12">
            <a:extLst>
              <a:ext uri="{FF2B5EF4-FFF2-40B4-BE49-F238E27FC236}">
                <a16:creationId xmlns:a16="http://schemas.microsoft.com/office/drawing/2014/main" id="{C65978BA-AA1A-499D-B59C-2DF14B95DB70}"/>
              </a:ext>
            </a:extLst>
          </p:cNvPr>
          <p:cNvCxnSpPr>
            <a:cxnSpLocks/>
          </p:cNvCxnSpPr>
          <p:nvPr/>
        </p:nvCxnSpPr>
        <p:spPr>
          <a:xfrm flipH="1">
            <a:off x="1949093" y="4195414"/>
            <a:ext cx="1657351" cy="9555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Connecteur droit avec flèche 14">
            <a:extLst>
              <a:ext uri="{FF2B5EF4-FFF2-40B4-BE49-F238E27FC236}">
                <a16:creationId xmlns:a16="http://schemas.microsoft.com/office/drawing/2014/main" id="{0A28255A-C5AD-80D3-8A5C-5B8F3B15B33B}"/>
              </a:ext>
            </a:extLst>
          </p:cNvPr>
          <p:cNvCxnSpPr>
            <a:endCxn id="10" idx="0"/>
          </p:cNvCxnSpPr>
          <p:nvPr/>
        </p:nvCxnSpPr>
        <p:spPr>
          <a:xfrm>
            <a:off x="4882795" y="4199225"/>
            <a:ext cx="1676400" cy="9636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 name="ZoneTexte 3">
            <a:extLst>
              <a:ext uri="{FF2B5EF4-FFF2-40B4-BE49-F238E27FC236}">
                <a16:creationId xmlns:a16="http://schemas.microsoft.com/office/drawing/2014/main" id="{97F42A14-59EB-8EAD-D7E9-9A0D68355DE3}"/>
              </a:ext>
            </a:extLst>
          </p:cNvPr>
          <p:cNvSpPr txBox="1"/>
          <p:nvPr/>
        </p:nvSpPr>
        <p:spPr>
          <a:xfrm>
            <a:off x="466190" y="2603045"/>
            <a:ext cx="6280507" cy="584775"/>
          </a:xfrm>
          <a:prstGeom prst="rect">
            <a:avLst/>
          </a:prstGeom>
          <a:noFill/>
        </p:spPr>
        <p:txBody>
          <a:bodyPr wrap="square">
            <a:spAutoFit/>
          </a:bodyPr>
          <a:lstStyle/>
          <a:p>
            <a:pPr algn="l"/>
            <a:r>
              <a:rPr lang="fr-FR" sz="3200" b="1" i="1" dirty="0">
                <a:solidFill>
                  <a:srgbClr val="FF0000"/>
                </a:solidFill>
                <a:latin typeface="+mj-lt"/>
              </a:rPr>
              <a:t>Principaux types de contrôles</a:t>
            </a:r>
          </a:p>
        </p:txBody>
      </p:sp>
    </p:spTree>
    <p:extLst>
      <p:ext uri="{BB962C8B-B14F-4D97-AF65-F5344CB8AC3E}">
        <p14:creationId xmlns:p14="http://schemas.microsoft.com/office/powerpoint/2010/main" val="219329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6A17D5E-FDB1-5541-283F-EA96D3383BD8}"/>
              </a:ext>
            </a:extLst>
          </p:cNvPr>
          <p:cNvSpPr txBox="1"/>
          <p:nvPr/>
        </p:nvSpPr>
        <p:spPr>
          <a:xfrm>
            <a:off x="419100" y="1143000"/>
            <a:ext cx="8153400" cy="136280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fr-FR" sz="1900" dirty="0"/>
              <a:t>Il s’agit des contrôles qui s’effectuent sur l’information elle-même sans tenir compte des  autres informations existant dans le système. Les principaux types de contrôles directs sont : </a:t>
            </a:r>
          </a:p>
        </p:txBody>
      </p:sp>
      <p:sp>
        <p:nvSpPr>
          <p:cNvPr id="7" name="ZoneTexte 6">
            <a:extLst>
              <a:ext uri="{FF2B5EF4-FFF2-40B4-BE49-F238E27FC236}">
                <a16:creationId xmlns:a16="http://schemas.microsoft.com/office/drawing/2014/main" id="{3CF50EE3-0DC0-9F4D-4E7C-94BE8DBD177F}"/>
              </a:ext>
            </a:extLst>
          </p:cNvPr>
          <p:cNvSpPr txBox="1"/>
          <p:nvPr/>
        </p:nvSpPr>
        <p:spPr>
          <a:xfrm>
            <a:off x="-76200" y="381000"/>
            <a:ext cx="4572000" cy="523220"/>
          </a:xfrm>
          <a:prstGeom prst="rect">
            <a:avLst/>
          </a:prstGeom>
          <a:noFill/>
        </p:spPr>
        <p:txBody>
          <a:bodyPr wrap="square">
            <a:spAutoFit/>
          </a:bodyPr>
          <a:lstStyle/>
          <a:p>
            <a:pPr algn="ctr"/>
            <a:r>
              <a:rPr lang="fr-FR" sz="2800" b="1" i="1" u="none" strike="noStrike" baseline="0" dirty="0">
                <a:solidFill>
                  <a:srgbClr val="0070C0"/>
                </a:solidFill>
                <a:latin typeface="+mj-lt"/>
              </a:rPr>
              <a:t>1) Les contrôles directs</a:t>
            </a:r>
            <a:endParaRPr lang="fr-FR" sz="2800" i="1" dirty="0">
              <a:solidFill>
                <a:srgbClr val="0070C0"/>
              </a:solidFill>
              <a:latin typeface="+mj-lt"/>
            </a:endParaRPr>
          </a:p>
        </p:txBody>
      </p:sp>
      <p:grpSp>
        <p:nvGrpSpPr>
          <p:cNvPr id="13" name="Groupe 12">
            <a:extLst>
              <a:ext uri="{FF2B5EF4-FFF2-40B4-BE49-F238E27FC236}">
                <a16:creationId xmlns:a16="http://schemas.microsoft.com/office/drawing/2014/main" id="{5BD07603-2D2C-3C5C-D8F1-A3E7F88B6BF1}"/>
              </a:ext>
            </a:extLst>
          </p:cNvPr>
          <p:cNvGrpSpPr/>
          <p:nvPr/>
        </p:nvGrpSpPr>
        <p:grpSpPr>
          <a:xfrm>
            <a:off x="1447800" y="2882609"/>
            <a:ext cx="5753100" cy="2613447"/>
            <a:chOff x="419100" y="2940421"/>
            <a:chExt cx="5753100" cy="2613447"/>
          </a:xfrm>
        </p:grpSpPr>
        <p:sp>
          <p:nvSpPr>
            <p:cNvPr id="8" name="ZoneTexte 7">
              <a:extLst>
                <a:ext uri="{FF2B5EF4-FFF2-40B4-BE49-F238E27FC236}">
                  <a16:creationId xmlns:a16="http://schemas.microsoft.com/office/drawing/2014/main" id="{82D859DB-4AB9-6FA4-41B4-EA8649ECD532}"/>
                </a:ext>
              </a:extLst>
            </p:cNvPr>
            <p:cNvSpPr txBox="1"/>
            <p:nvPr/>
          </p:nvSpPr>
          <p:spPr>
            <a:xfrm>
              <a:off x="2468803" y="2940421"/>
              <a:ext cx="1615594"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Les contrôles directs</a:t>
              </a:r>
              <a:endParaRPr lang="fr-FR" dirty="0"/>
            </a:p>
          </p:txBody>
        </p:sp>
        <p:sp>
          <p:nvSpPr>
            <p:cNvPr id="9" name="ZoneTexte 8">
              <a:extLst>
                <a:ext uri="{FF2B5EF4-FFF2-40B4-BE49-F238E27FC236}">
                  <a16:creationId xmlns:a16="http://schemas.microsoft.com/office/drawing/2014/main" id="{83079658-0FC5-F209-7A77-9C3BF18D45C9}"/>
                </a:ext>
              </a:extLst>
            </p:cNvPr>
            <p:cNvSpPr txBox="1"/>
            <p:nvPr/>
          </p:nvSpPr>
          <p:spPr>
            <a:xfrm>
              <a:off x="419100" y="4907537"/>
              <a:ext cx="15240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a:t>
              </a:r>
            </a:p>
            <a:p>
              <a:pPr algn="ctr"/>
              <a:r>
                <a:rPr lang="fr-FR" sz="1800" b="1" i="0" u="none" strike="noStrike" baseline="0" dirty="0">
                  <a:latin typeface="Times New Roman" panose="02020603050405020304" pitchFamily="18" charset="0"/>
                </a:rPr>
                <a:t>de présence</a:t>
              </a:r>
              <a:endParaRPr lang="fr-FR" dirty="0"/>
            </a:p>
          </p:txBody>
        </p:sp>
        <p:sp>
          <p:nvSpPr>
            <p:cNvPr id="10" name="ZoneTexte 9">
              <a:extLst>
                <a:ext uri="{FF2B5EF4-FFF2-40B4-BE49-F238E27FC236}">
                  <a16:creationId xmlns:a16="http://schemas.microsoft.com/office/drawing/2014/main" id="{20BEC725-25E7-D992-519B-EC45DE04D0D9}"/>
                </a:ext>
              </a:extLst>
            </p:cNvPr>
            <p:cNvSpPr txBox="1"/>
            <p:nvPr/>
          </p:nvSpPr>
          <p:spPr>
            <a:xfrm>
              <a:off x="2407997" y="4882622"/>
              <a:ext cx="16764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a:t>
              </a:r>
            </a:p>
            <a:p>
              <a:pPr algn="ctr"/>
              <a:r>
                <a:rPr lang="fr-FR" sz="1800" b="1" i="0" u="none" strike="noStrike" baseline="0" dirty="0">
                  <a:latin typeface="Times New Roman" panose="02020603050405020304" pitchFamily="18" charset="0"/>
                </a:rPr>
                <a:t>de type</a:t>
              </a:r>
              <a:endParaRPr lang="fr-FR" dirty="0"/>
            </a:p>
          </p:txBody>
        </p:sp>
        <p:sp>
          <p:nvSpPr>
            <p:cNvPr id="11" name="ZoneTexte 10">
              <a:extLst>
                <a:ext uri="{FF2B5EF4-FFF2-40B4-BE49-F238E27FC236}">
                  <a16:creationId xmlns:a16="http://schemas.microsoft.com/office/drawing/2014/main" id="{BDB610C9-B9CB-4C5A-FCED-06B513F5A413}"/>
                </a:ext>
              </a:extLst>
            </p:cNvPr>
            <p:cNvSpPr txBox="1"/>
            <p:nvPr/>
          </p:nvSpPr>
          <p:spPr>
            <a:xfrm>
              <a:off x="4572000" y="4907452"/>
              <a:ext cx="16002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a:t>
              </a:r>
            </a:p>
            <a:p>
              <a:pPr algn="ctr"/>
              <a:r>
                <a:rPr lang="fr-FR" sz="1800" b="1" i="0" u="none" strike="noStrike" baseline="0" dirty="0">
                  <a:latin typeface="Times New Roman" panose="02020603050405020304" pitchFamily="18" charset="0"/>
                </a:rPr>
                <a:t>de cadrage</a:t>
              </a:r>
              <a:endParaRPr lang="fr-FR" dirty="0"/>
            </a:p>
          </p:txBody>
        </p:sp>
      </p:grpSp>
      <p:sp>
        <p:nvSpPr>
          <p:cNvPr id="15" name="Accolade fermante 14">
            <a:extLst>
              <a:ext uri="{FF2B5EF4-FFF2-40B4-BE49-F238E27FC236}">
                <a16:creationId xmlns:a16="http://schemas.microsoft.com/office/drawing/2014/main" id="{E6273F14-9598-092E-0A13-7694182E55C3}"/>
              </a:ext>
            </a:extLst>
          </p:cNvPr>
          <p:cNvSpPr/>
          <p:nvPr/>
        </p:nvSpPr>
        <p:spPr>
          <a:xfrm rot="16200000">
            <a:off x="3619266" y="1967075"/>
            <a:ext cx="1295870" cy="4419598"/>
          </a:xfrm>
          <a:prstGeom prst="rightBrace">
            <a:avLst>
              <a:gd name="adj1" fmla="val 8333"/>
              <a:gd name="adj2" fmla="val 497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64193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3077B84-51A0-3BE8-95D5-D594A91C86AD}"/>
              </a:ext>
            </a:extLst>
          </p:cNvPr>
          <p:cNvSpPr txBox="1"/>
          <p:nvPr/>
        </p:nvSpPr>
        <p:spPr>
          <a:xfrm>
            <a:off x="457200" y="304800"/>
            <a:ext cx="3733800"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présence</a:t>
            </a:r>
            <a:endParaRPr lang="fr-FR" dirty="0"/>
          </a:p>
        </p:txBody>
      </p:sp>
      <p:sp>
        <p:nvSpPr>
          <p:cNvPr id="6" name="ZoneTexte 5">
            <a:extLst>
              <a:ext uri="{FF2B5EF4-FFF2-40B4-BE49-F238E27FC236}">
                <a16:creationId xmlns:a16="http://schemas.microsoft.com/office/drawing/2014/main" id="{809B95BA-840A-4B38-ABA9-15F1E8BC96DD}"/>
              </a:ext>
            </a:extLst>
          </p:cNvPr>
          <p:cNvSpPr txBox="1"/>
          <p:nvPr/>
        </p:nvSpPr>
        <p:spPr>
          <a:xfrm>
            <a:off x="304800" y="1066800"/>
            <a:ext cx="8686800" cy="5196935"/>
          </a:xfrm>
          <a:prstGeom prst="rect">
            <a:avLst/>
          </a:prstGeom>
          <a:noFill/>
        </p:spPr>
        <p:txBody>
          <a:bodyPr wrap="square">
            <a:spAutoFit/>
          </a:bodyPr>
          <a:lstStyle/>
          <a:p>
            <a:pPr algn="just">
              <a:lnSpc>
                <a:spcPct val="150000"/>
              </a:lnSpc>
            </a:pPr>
            <a:r>
              <a:rPr lang="fr-FR" dirty="0"/>
              <a:t>  </a:t>
            </a:r>
            <a:r>
              <a:rPr lang="fr-FR" sz="1900" dirty="0"/>
              <a:t>Consiste à vérifier l’existence ou non d’une information sur le support où elle devrait se trouver. Le support peut être un document ou un fichier. En effet, le rajout d’une nouvelle occurrence  d’information  nécessite  d’abord  de  vérifier  que  celle-ci  n’existe  pas  déjà  sur  le support (non présence), cela nous évitera d’avoir des doublons de l’information. De même, avant toute opération de manipulation d’une occurrence d’information, nous devons d’abord vérifier son existence (présence) sans quoi la manipulation serait impossible. </a:t>
            </a:r>
          </a:p>
          <a:p>
            <a:pPr>
              <a:lnSpc>
                <a:spcPct val="150000"/>
              </a:lnSpc>
            </a:pPr>
            <a:r>
              <a:rPr lang="fr-FR" b="1" i="1" dirty="0"/>
              <a:t>Exemples : </a:t>
            </a:r>
          </a:p>
          <a:p>
            <a:pPr marL="742950" lvl="1" indent="-285750">
              <a:lnSpc>
                <a:spcPct val="150000"/>
              </a:lnSpc>
              <a:buFont typeface="Wingdings" panose="05000000000000000000" pitchFamily="2" charset="2"/>
              <a:buChar char="q"/>
            </a:pPr>
            <a:r>
              <a:rPr lang="fr-FR" dirty="0"/>
              <a:t>Avant  d’insérer  les  notes  d’examens  d’un  étudiant,  on  doit  d’abord  vérifier  que  ce dernier existe (présence). </a:t>
            </a:r>
          </a:p>
          <a:p>
            <a:pPr marL="742950" lvl="1" indent="-285750">
              <a:lnSpc>
                <a:spcPct val="150000"/>
              </a:lnSpc>
              <a:buFont typeface="Wingdings" panose="05000000000000000000" pitchFamily="2" charset="2"/>
              <a:buChar char="q"/>
            </a:pPr>
            <a:r>
              <a:rPr lang="fr-FR" dirty="0"/>
              <a:t>L’insertion d’un nouvel étudiant nécessite de vérifier que ce dernier n’existe pas dans le fichier des étudiants (non présence). </a:t>
            </a:r>
          </a:p>
        </p:txBody>
      </p:sp>
    </p:spTree>
    <p:extLst>
      <p:ext uri="{BB962C8B-B14F-4D97-AF65-F5344CB8AC3E}">
        <p14:creationId xmlns:p14="http://schemas.microsoft.com/office/powerpoint/2010/main" val="373961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12EC1C4-FDE7-17B6-8B80-8FC887E178A9}"/>
              </a:ext>
            </a:extLst>
          </p:cNvPr>
          <p:cNvSpPr txBox="1"/>
          <p:nvPr/>
        </p:nvSpPr>
        <p:spPr>
          <a:xfrm>
            <a:off x="381000" y="457200"/>
            <a:ext cx="2743200" cy="38100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type</a:t>
            </a:r>
            <a:endParaRPr lang="fr-FR" dirty="0"/>
          </a:p>
        </p:txBody>
      </p:sp>
      <p:sp>
        <p:nvSpPr>
          <p:cNvPr id="6" name="ZoneTexte 5">
            <a:extLst>
              <a:ext uri="{FF2B5EF4-FFF2-40B4-BE49-F238E27FC236}">
                <a16:creationId xmlns:a16="http://schemas.microsoft.com/office/drawing/2014/main" id="{0BA4F947-6968-FB0F-0144-379BFEB9A4F2}"/>
              </a:ext>
            </a:extLst>
          </p:cNvPr>
          <p:cNvSpPr txBox="1"/>
          <p:nvPr/>
        </p:nvSpPr>
        <p:spPr>
          <a:xfrm>
            <a:off x="533400" y="1219200"/>
            <a:ext cx="8305800" cy="1362809"/>
          </a:xfrm>
          <a:prstGeom prst="rect">
            <a:avLst/>
          </a:prstGeom>
          <a:noFill/>
        </p:spPr>
        <p:txBody>
          <a:bodyPr wrap="square">
            <a:spAutoFit/>
          </a:bodyPr>
          <a:lstStyle/>
          <a:p>
            <a:pPr>
              <a:lnSpc>
                <a:spcPct val="150000"/>
              </a:lnSpc>
            </a:pPr>
            <a:r>
              <a:rPr lang="fr-FR" sz="1900" dirty="0"/>
              <a:t>Consiste à vérifier que le type de l’information est conforme à ce qu’il devrait être. </a:t>
            </a:r>
          </a:p>
          <a:p>
            <a:pPr>
              <a:lnSpc>
                <a:spcPct val="150000"/>
              </a:lnSpc>
            </a:pPr>
            <a:r>
              <a:rPr lang="fr-FR" sz="1900" b="1" i="1" dirty="0"/>
              <a:t>Exemple : </a:t>
            </a:r>
          </a:p>
          <a:p>
            <a:pPr>
              <a:lnSpc>
                <a:spcPct val="150000"/>
              </a:lnSpc>
            </a:pPr>
            <a:r>
              <a:rPr lang="fr-FR" sz="1900" dirty="0"/>
              <a:t>N° de téléphone = 02145T566</a:t>
            </a:r>
          </a:p>
        </p:txBody>
      </p:sp>
      <p:sp>
        <p:nvSpPr>
          <p:cNvPr id="8" name="ZoneTexte 7">
            <a:extLst>
              <a:ext uri="{FF2B5EF4-FFF2-40B4-BE49-F238E27FC236}">
                <a16:creationId xmlns:a16="http://schemas.microsoft.com/office/drawing/2014/main" id="{D3ABC96F-4793-F4AD-A55A-96134C2DD548}"/>
              </a:ext>
            </a:extLst>
          </p:cNvPr>
          <p:cNvSpPr txBox="1"/>
          <p:nvPr/>
        </p:nvSpPr>
        <p:spPr>
          <a:xfrm>
            <a:off x="522270" y="2955303"/>
            <a:ext cx="7783530" cy="384721"/>
          </a:xfrm>
          <a:prstGeom prst="rect">
            <a:avLst/>
          </a:prstGeom>
          <a:noFill/>
        </p:spPr>
        <p:txBody>
          <a:bodyPr wrap="square">
            <a:spAutoFit/>
          </a:bodyPr>
          <a:lstStyle/>
          <a:p>
            <a:r>
              <a:rPr lang="fr-FR" sz="1900" dirty="0"/>
              <a:t> Erreur : « T » n’est pas un chiffre et le numéro de  téléphone est numérique. </a:t>
            </a:r>
          </a:p>
        </p:txBody>
      </p:sp>
    </p:spTree>
    <p:extLst>
      <p:ext uri="{BB962C8B-B14F-4D97-AF65-F5344CB8AC3E}">
        <p14:creationId xmlns:p14="http://schemas.microsoft.com/office/powerpoint/2010/main" val="1511397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B6CBDC3-D4E8-C8D8-8630-4C6A821ED51C}"/>
              </a:ext>
            </a:extLst>
          </p:cNvPr>
          <p:cNvSpPr txBox="1"/>
          <p:nvPr/>
        </p:nvSpPr>
        <p:spPr>
          <a:xfrm>
            <a:off x="457200" y="228600"/>
            <a:ext cx="2438400" cy="38100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fr-FR" sz="1800" b="1" i="0" u="none" strike="noStrike" baseline="0" dirty="0">
                <a:latin typeface="Times New Roman" panose="02020603050405020304" pitchFamily="18" charset="0"/>
              </a:rPr>
              <a:t>Contrôle de cadrage</a:t>
            </a:r>
            <a:endParaRPr lang="fr-FR" dirty="0"/>
          </a:p>
        </p:txBody>
      </p:sp>
      <p:sp>
        <p:nvSpPr>
          <p:cNvPr id="6" name="ZoneTexte 5">
            <a:extLst>
              <a:ext uri="{FF2B5EF4-FFF2-40B4-BE49-F238E27FC236}">
                <a16:creationId xmlns:a16="http://schemas.microsoft.com/office/drawing/2014/main" id="{BB2EBA8F-5426-F654-C313-1F8185877C7D}"/>
              </a:ext>
            </a:extLst>
          </p:cNvPr>
          <p:cNvSpPr txBox="1"/>
          <p:nvPr/>
        </p:nvSpPr>
        <p:spPr>
          <a:xfrm>
            <a:off x="457200" y="914400"/>
            <a:ext cx="8458200" cy="5310043"/>
          </a:xfrm>
          <a:prstGeom prst="rect">
            <a:avLst/>
          </a:prstGeom>
          <a:noFill/>
        </p:spPr>
        <p:txBody>
          <a:bodyPr wrap="square">
            <a:spAutoFit/>
          </a:bodyPr>
          <a:lstStyle/>
          <a:p>
            <a:pPr>
              <a:lnSpc>
                <a:spcPct val="150000"/>
              </a:lnSpc>
            </a:pPr>
            <a:r>
              <a:rPr lang="fr-FR" sz="1900" dirty="0"/>
              <a:t>Désigne la position d’une information dans une zone de saisie ou de remplissage. </a:t>
            </a:r>
          </a:p>
          <a:p>
            <a:pPr>
              <a:lnSpc>
                <a:spcPct val="150000"/>
              </a:lnSpc>
            </a:pPr>
            <a:r>
              <a:rPr lang="fr-FR" sz="1900" b="1" i="1" dirty="0"/>
              <a:t>Exemples : </a:t>
            </a:r>
          </a:p>
          <a:p>
            <a:pPr marL="342900" indent="-342900">
              <a:lnSpc>
                <a:spcPct val="150000"/>
              </a:lnSpc>
              <a:buFont typeface="Wingdings" panose="05000000000000000000" pitchFamily="2" charset="2"/>
              <a:buChar char="q"/>
            </a:pPr>
            <a:r>
              <a:rPr lang="fr-FR" sz="1900" dirty="0"/>
              <a:t>Les informations numériques sont toujours cadrées à droite dans une zone de saisie.  </a:t>
            </a:r>
          </a:p>
          <a:p>
            <a:pPr marL="342900" indent="-342900">
              <a:lnSpc>
                <a:spcPct val="150000"/>
              </a:lnSpc>
              <a:buFont typeface="Wingdings" panose="05000000000000000000" pitchFamily="2" charset="2"/>
              <a:buChar char="q"/>
            </a:pPr>
            <a:r>
              <a:rPr lang="fr-FR" sz="1900" dirty="0"/>
              <a:t>Les informations alphabétiques et alphanumériques sont toujours cadrées à gauche. </a:t>
            </a:r>
          </a:p>
          <a:p>
            <a:pPr>
              <a:lnSpc>
                <a:spcPct val="150000"/>
              </a:lnSpc>
            </a:pPr>
            <a:endParaRPr lang="fr-FR" sz="1900" dirty="0"/>
          </a:p>
          <a:p>
            <a:pPr>
              <a:lnSpc>
                <a:spcPct val="150000"/>
              </a:lnSpc>
            </a:pPr>
            <a:r>
              <a:rPr lang="fr-FR" sz="1900" b="1" i="1" dirty="0"/>
              <a:t>Remarque : </a:t>
            </a:r>
          </a:p>
          <a:p>
            <a:pPr algn="just">
              <a:lnSpc>
                <a:spcPct val="150000"/>
              </a:lnSpc>
            </a:pPr>
            <a:r>
              <a:rPr lang="fr-FR" sz="1900" dirty="0"/>
              <a:t>    La  majorité  des  outils  dédiés  au  développement  comme  Delphi,  </a:t>
            </a:r>
            <a:r>
              <a:rPr lang="fr-FR" sz="1900" dirty="0" err="1"/>
              <a:t>Windev</a:t>
            </a:r>
            <a:r>
              <a:rPr lang="fr-FR" sz="1900" dirty="0"/>
              <a:t>  ou  autres permettent  la  prise  en  charge  automatique  de  ce  type  de  contrôles  de  manière  facile  et automatique sans avoir à programmer de code, chose qui n’était pas évidente avec les anciens langages de programmation. </a:t>
            </a:r>
          </a:p>
        </p:txBody>
      </p:sp>
      <p:pic>
        <p:nvPicPr>
          <p:cNvPr id="8" name="Image 7">
            <a:extLst>
              <a:ext uri="{FF2B5EF4-FFF2-40B4-BE49-F238E27FC236}">
                <a16:creationId xmlns:a16="http://schemas.microsoft.com/office/drawing/2014/main" id="{56F3A0EB-A88B-BC0F-D193-80380EB61D70}"/>
              </a:ext>
            </a:extLst>
          </p:cNvPr>
          <p:cNvPicPr>
            <a:picLocks noChangeAspect="1"/>
          </p:cNvPicPr>
          <p:nvPr/>
        </p:nvPicPr>
        <p:blipFill>
          <a:blip r:embed="rId2"/>
          <a:stretch>
            <a:fillRect/>
          </a:stretch>
        </p:blipFill>
        <p:spPr>
          <a:xfrm>
            <a:off x="2895600" y="3276600"/>
            <a:ext cx="4953000" cy="990600"/>
          </a:xfrm>
          <a:prstGeom prst="rect">
            <a:avLst/>
          </a:prstGeom>
        </p:spPr>
      </p:pic>
    </p:spTree>
    <p:extLst>
      <p:ext uri="{BB962C8B-B14F-4D97-AF65-F5344CB8AC3E}">
        <p14:creationId xmlns:p14="http://schemas.microsoft.com/office/powerpoint/2010/main" val="1193319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6A17D5E-FDB1-5541-283F-EA96D3383BD8}"/>
              </a:ext>
            </a:extLst>
          </p:cNvPr>
          <p:cNvSpPr txBox="1"/>
          <p:nvPr/>
        </p:nvSpPr>
        <p:spPr>
          <a:xfrm>
            <a:off x="419100" y="1143000"/>
            <a:ext cx="8153400" cy="180139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fr-FR" sz="1900" dirty="0"/>
              <a:t>Il  s’agit  des  contrôles  qui  vérifient  la  conformité  d’une  information  par  rapport  à  l’ensemble  des  informations  se  trouvant  dans  le  système.  Ceci  se  fait  par  comparaison d’informations entre elles. Les types de contrôles indirects sont : </a:t>
            </a:r>
          </a:p>
        </p:txBody>
      </p:sp>
      <p:sp>
        <p:nvSpPr>
          <p:cNvPr id="7" name="ZoneTexte 6">
            <a:extLst>
              <a:ext uri="{FF2B5EF4-FFF2-40B4-BE49-F238E27FC236}">
                <a16:creationId xmlns:a16="http://schemas.microsoft.com/office/drawing/2014/main" id="{3CF50EE3-0DC0-9F4D-4E7C-94BE8DBD177F}"/>
              </a:ext>
            </a:extLst>
          </p:cNvPr>
          <p:cNvSpPr txBox="1"/>
          <p:nvPr/>
        </p:nvSpPr>
        <p:spPr>
          <a:xfrm>
            <a:off x="-76200" y="381000"/>
            <a:ext cx="4572000" cy="523220"/>
          </a:xfrm>
          <a:prstGeom prst="rect">
            <a:avLst/>
          </a:prstGeom>
          <a:noFill/>
        </p:spPr>
        <p:txBody>
          <a:bodyPr wrap="square">
            <a:spAutoFit/>
          </a:bodyPr>
          <a:lstStyle/>
          <a:p>
            <a:pPr algn="ctr"/>
            <a:r>
              <a:rPr lang="fr-FR" sz="2800" b="1" i="1" dirty="0">
                <a:solidFill>
                  <a:srgbClr val="0070C0"/>
                </a:solidFill>
                <a:latin typeface="+mj-lt"/>
              </a:rPr>
              <a:t>2</a:t>
            </a:r>
            <a:r>
              <a:rPr lang="fr-FR" sz="2800" b="1" i="1" u="none" strike="noStrike" baseline="0" dirty="0">
                <a:solidFill>
                  <a:srgbClr val="0070C0"/>
                </a:solidFill>
                <a:latin typeface="+mj-lt"/>
              </a:rPr>
              <a:t>) Les contrôles indirects</a:t>
            </a:r>
            <a:endParaRPr lang="fr-FR" sz="2800" i="1" dirty="0">
              <a:solidFill>
                <a:srgbClr val="0070C0"/>
              </a:solidFill>
              <a:latin typeface="+mj-lt"/>
            </a:endParaRPr>
          </a:p>
        </p:txBody>
      </p:sp>
      <p:grpSp>
        <p:nvGrpSpPr>
          <p:cNvPr id="13" name="Groupe 12">
            <a:extLst>
              <a:ext uri="{FF2B5EF4-FFF2-40B4-BE49-F238E27FC236}">
                <a16:creationId xmlns:a16="http://schemas.microsoft.com/office/drawing/2014/main" id="{5BD07603-2D2C-3C5C-D8F1-A3E7F88B6BF1}"/>
              </a:ext>
            </a:extLst>
          </p:cNvPr>
          <p:cNvGrpSpPr/>
          <p:nvPr/>
        </p:nvGrpSpPr>
        <p:grpSpPr>
          <a:xfrm>
            <a:off x="1066800" y="3650650"/>
            <a:ext cx="7389546" cy="2447722"/>
            <a:chOff x="1068512" y="3029612"/>
            <a:chExt cx="6825493" cy="2447722"/>
          </a:xfrm>
        </p:grpSpPr>
        <p:sp>
          <p:nvSpPr>
            <p:cNvPr id="8" name="ZoneTexte 7">
              <a:extLst>
                <a:ext uri="{FF2B5EF4-FFF2-40B4-BE49-F238E27FC236}">
                  <a16:creationId xmlns:a16="http://schemas.microsoft.com/office/drawing/2014/main" id="{82D859DB-4AB9-6FA4-41B4-EA8649ECD532}"/>
                </a:ext>
              </a:extLst>
            </p:cNvPr>
            <p:cNvSpPr txBox="1"/>
            <p:nvPr/>
          </p:nvSpPr>
          <p:spPr>
            <a:xfrm>
              <a:off x="3788185" y="3029612"/>
              <a:ext cx="1615594"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Les contrôles indirects</a:t>
              </a:r>
              <a:endParaRPr lang="fr-FR" dirty="0"/>
            </a:p>
          </p:txBody>
        </p:sp>
        <p:sp>
          <p:nvSpPr>
            <p:cNvPr id="9" name="ZoneTexte 8">
              <a:extLst>
                <a:ext uri="{FF2B5EF4-FFF2-40B4-BE49-F238E27FC236}">
                  <a16:creationId xmlns:a16="http://schemas.microsoft.com/office/drawing/2014/main" id="{83079658-0FC5-F209-7A77-9C3BF18D45C9}"/>
                </a:ext>
              </a:extLst>
            </p:cNvPr>
            <p:cNvSpPr txBox="1"/>
            <p:nvPr/>
          </p:nvSpPr>
          <p:spPr>
            <a:xfrm>
              <a:off x="1068512" y="4831003"/>
              <a:ext cx="2286000" cy="646331"/>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a:t>
              </a:r>
            </a:p>
            <a:p>
              <a:pPr algn="ctr"/>
              <a:r>
                <a:rPr lang="fr-FR" sz="1800" b="1" i="0" u="none" strike="noStrike" baseline="0" dirty="0">
                  <a:latin typeface="Times New Roman" panose="02020603050405020304" pitchFamily="18" charset="0"/>
                </a:rPr>
                <a:t>cohérence interne</a:t>
              </a:r>
              <a:endParaRPr lang="fr-FR" dirty="0"/>
            </a:p>
          </p:txBody>
        </p:sp>
        <p:sp>
          <p:nvSpPr>
            <p:cNvPr id="10" name="ZoneTexte 9">
              <a:extLst>
                <a:ext uri="{FF2B5EF4-FFF2-40B4-BE49-F238E27FC236}">
                  <a16:creationId xmlns:a16="http://schemas.microsoft.com/office/drawing/2014/main" id="{20BEC725-25E7-D992-519B-EC45DE04D0D9}"/>
                </a:ext>
              </a:extLst>
            </p:cNvPr>
            <p:cNvSpPr txBox="1"/>
            <p:nvPr/>
          </p:nvSpPr>
          <p:spPr>
            <a:xfrm>
              <a:off x="3788185" y="4795703"/>
              <a:ext cx="1676400" cy="646331"/>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vrai semblance</a:t>
              </a:r>
              <a:endParaRPr lang="fr-FR" dirty="0"/>
            </a:p>
          </p:txBody>
        </p:sp>
        <p:sp>
          <p:nvSpPr>
            <p:cNvPr id="11" name="ZoneTexte 10">
              <a:extLst>
                <a:ext uri="{FF2B5EF4-FFF2-40B4-BE49-F238E27FC236}">
                  <a16:creationId xmlns:a16="http://schemas.microsoft.com/office/drawing/2014/main" id="{BDB610C9-B9CB-4C5A-FCED-06B513F5A413}"/>
                </a:ext>
              </a:extLst>
            </p:cNvPr>
            <p:cNvSpPr txBox="1"/>
            <p:nvPr/>
          </p:nvSpPr>
          <p:spPr>
            <a:xfrm>
              <a:off x="5941887" y="4770796"/>
              <a:ext cx="1952118" cy="646331"/>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a:t>
              </a:r>
            </a:p>
            <a:p>
              <a:pPr algn="ctr"/>
              <a:r>
                <a:rPr lang="fr-FR" sz="1800" b="1" i="0" u="none" strike="noStrike" baseline="0" dirty="0">
                  <a:latin typeface="Times New Roman" panose="02020603050405020304" pitchFamily="18" charset="0"/>
                </a:rPr>
                <a:t>cohérence externe</a:t>
              </a:r>
              <a:endParaRPr lang="fr-FR" dirty="0"/>
            </a:p>
          </p:txBody>
        </p:sp>
      </p:grpSp>
      <p:sp>
        <p:nvSpPr>
          <p:cNvPr id="15" name="Accolade fermante 14">
            <a:extLst>
              <a:ext uri="{FF2B5EF4-FFF2-40B4-BE49-F238E27FC236}">
                <a16:creationId xmlns:a16="http://schemas.microsoft.com/office/drawing/2014/main" id="{E6273F14-9598-092E-0A13-7694182E55C3}"/>
              </a:ext>
            </a:extLst>
          </p:cNvPr>
          <p:cNvSpPr/>
          <p:nvPr/>
        </p:nvSpPr>
        <p:spPr>
          <a:xfrm rot="16200000">
            <a:off x="4245271" y="2343906"/>
            <a:ext cx="1010919" cy="4961124"/>
          </a:xfrm>
          <a:prstGeom prst="rightBrace">
            <a:avLst>
              <a:gd name="adj1" fmla="val 8333"/>
              <a:gd name="adj2" fmla="val 497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fr-FR"/>
          </a:p>
        </p:txBody>
      </p:sp>
      <p:sp>
        <p:nvSpPr>
          <p:cNvPr id="3" name="ZoneTexte 2">
            <a:extLst>
              <a:ext uri="{FF2B5EF4-FFF2-40B4-BE49-F238E27FC236}">
                <a16:creationId xmlns:a16="http://schemas.microsoft.com/office/drawing/2014/main" id="{AFADAE35-6E8F-0A57-7491-53E4CF481781}"/>
              </a:ext>
            </a:extLst>
          </p:cNvPr>
          <p:cNvSpPr txBox="1"/>
          <p:nvPr/>
        </p:nvSpPr>
        <p:spPr>
          <a:xfrm>
            <a:off x="2623335" y="2825366"/>
            <a:ext cx="4607958" cy="646331"/>
          </a:xfrm>
          <a:prstGeom prst="rect">
            <a:avLst/>
          </a:prstGeom>
          <a:noFill/>
        </p:spPr>
        <p:txBody>
          <a:bodyPr wrap="square">
            <a:spAutoFit/>
          </a:bodyPr>
          <a:lstStyle/>
          <a:p>
            <a:pPr algn="ctr"/>
            <a:r>
              <a:rPr lang="fr-FR" sz="1800" b="1" i="1" u="none" strike="noStrike" baseline="0" dirty="0">
                <a:solidFill>
                  <a:srgbClr val="C00000"/>
                </a:solidFill>
                <a:latin typeface="+mj-lt"/>
              </a:rPr>
              <a:t>C’est la détermination de la justesse d’une information par rapport à d’autres </a:t>
            </a:r>
            <a:endParaRPr lang="fr-FR" b="1" i="1" dirty="0">
              <a:solidFill>
                <a:srgbClr val="C00000"/>
              </a:solidFill>
            </a:endParaRPr>
          </a:p>
        </p:txBody>
      </p:sp>
    </p:spTree>
    <p:extLst>
      <p:ext uri="{BB962C8B-B14F-4D97-AF65-F5344CB8AC3E}">
        <p14:creationId xmlns:p14="http://schemas.microsoft.com/office/powerpoint/2010/main" val="75772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10</a:t>
            </a:fld>
            <a:endParaRPr spc="-4" dirty="0"/>
          </a:p>
        </p:txBody>
      </p:sp>
      <p:sp>
        <p:nvSpPr>
          <p:cNvPr id="6" name="ZoneTexte 5">
            <a:extLst>
              <a:ext uri="{FF2B5EF4-FFF2-40B4-BE49-F238E27FC236}">
                <a16:creationId xmlns:a16="http://schemas.microsoft.com/office/drawing/2014/main" id="{EC32A2CE-7AD9-AF30-BB2A-CB373775C762}"/>
              </a:ext>
            </a:extLst>
          </p:cNvPr>
          <p:cNvSpPr txBox="1"/>
          <p:nvPr/>
        </p:nvSpPr>
        <p:spPr>
          <a:xfrm>
            <a:off x="351882" y="562471"/>
            <a:ext cx="3229518" cy="369332"/>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r-FR" sz="1800" b="1" i="0" u="none" strike="noStrike" baseline="0" dirty="0">
                <a:latin typeface="Times New Roman" panose="02020603050405020304" pitchFamily="18" charset="0"/>
              </a:rPr>
              <a:t>Contrôle de cohérence interne</a:t>
            </a:r>
            <a:endParaRPr lang="fr-FR" dirty="0"/>
          </a:p>
        </p:txBody>
      </p:sp>
      <p:sp>
        <p:nvSpPr>
          <p:cNvPr id="8" name="ZoneTexte 7">
            <a:extLst>
              <a:ext uri="{FF2B5EF4-FFF2-40B4-BE49-F238E27FC236}">
                <a16:creationId xmlns:a16="http://schemas.microsoft.com/office/drawing/2014/main" id="{8042784B-A1B6-2C75-4573-8F4C158E9638}"/>
              </a:ext>
            </a:extLst>
          </p:cNvPr>
          <p:cNvSpPr txBox="1"/>
          <p:nvPr/>
        </p:nvSpPr>
        <p:spPr>
          <a:xfrm>
            <a:off x="321060" y="1219200"/>
            <a:ext cx="8686165" cy="4199611"/>
          </a:xfrm>
          <a:prstGeom prst="rect">
            <a:avLst/>
          </a:prstGeom>
          <a:noFill/>
        </p:spPr>
        <p:txBody>
          <a:bodyPr wrap="square">
            <a:spAutoFit/>
          </a:bodyPr>
          <a:lstStyle/>
          <a:p>
            <a:pPr algn="just">
              <a:lnSpc>
                <a:spcPct val="150000"/>
              </a:lnSpc>
            </a:pPr>
            <a:r>
              <a:rPr lang="fr-FR" sz="2000" b="0" i="0" u="none" strike="noStrike" baseline="0" dirty="0">
                <a:latin typeface="+mj-lt"/>
              </a:rPr>
              <a:t>   C’est la vérification de la justesse de la valeur d’une partie d’une donnée par rapport aux autres parties de la même donnée. Il est utilisé surtout dans le cas des données à codification articulée.</a:t>
            </a:r>
          </a:p>
          <a:p>
            <a:pPr algn="just">
              <a:lnSpc>
                <a:spcPct val="150000"/>
              </a:lnSpc>
            </a:pPr>
            <a:endParaRPr lang="fr-FR" sz="2000" b="0" i="0" u="none" strike="noStrike" baseline="0" dirty="0">
              <a:latin typeface="+mj-lt"/>
            </a:endParaRPr>
          </a:p>
          <a:p>
            <a:pPr algn="just">
              <a:lnSpc>
                <a:spcPct val="150000"/>
              </a:lnSpc>
            </a:pPr>
            <a:r>
              <a:rPr lang="fr-FR" sz="2000" b="1" i="0" u="none" strike="noStrike" baseline="0" dirty="0">
                <a:latin typeface="+mj-lt"/>
              </a:rPr>
              <a:t>Exemple</a:t>
            </a:r>
            <a:r>
              <a:rPr lang="fr-FR" sz="2000" b="0" i="0" u="none" strike="noStrike" baseline="0" dirty="0">
                <a:latin typeface="+mj-lt"/>
              </a:rPr>
              <a:t> : </a:t>
            </a:r>
            <a:endParaRPr lang="fr-FR" sz="2000" dirty="0">
              <a:latin typeface="+mj-lt"/>
            </a:endParaRPr>
          </a:p>
          <a:p>
            <a:pPr marL="342900" indent="-342900" algn="just">
              <a:lnSpc>
                <a:spcPct val="150000"/>
              </a:lnSpc>
              <a:buFont typeface="Wingdings" panose="05000000000000000000" pitchFamily="2" charset="2"/>
              <a:buChar char="§"/>
            </a:pPr>
            <a:r>
              <a:rPr lang="fr-FR" sz="2000" b="0" i="0" u="none" strike="noStrike" baseline="0" dirty="0">
                <a:latin typeface="+mj-lt"/>
              </a:rPr>
              <a:t>31/02/1999 </a:t>
            </a:r>
            <a:r>
              <a:rPr lang="fr-FR" sz="2000" dirty="0">
                <a:latin typeface="+mj-lt"/>
                <a:sym typeface="Wingdings" panose="05000000000000000000" pitchFamily="2" charset="2"/>
              </a:rPr>
              <a:t> </a:t>
            </a:r>
            <a:r>
              <a:rPr lang="fr-FR" sz="2000" b="0" i="0" u="none" strike="noStrike" baseline="0" dirty="0">
                <a:latin typeface="+mj-lt"/>
              </a:rPr>
              <a:t> erreur car Jour = 31 incompatible avec moi = 02 (Février)</a:t>
            </a:r>
          </a:p>
          <a:p>
            <a:pPr marL="342900" indent="-342900" algn="just">
              <a:lnSpc>
                <a:spcPct val="150000"/>
              </a:lnSpc>
              <a:buFont typeface="Wingdings" panose="05000000000000000000" pitchFamily="2" charset="2"/>
              <a:buChar char="§"/>
            </a:pPr>
            <a:r>
              <a:rPr lang="fr-FR" sz="2000" dirty="0">
                <a:latin typeface="+mj-lt"/>
              </a:rPr>
              <a:t>Soit la codification suivante relative à des véhicules roulants : [Code Véhicule][Nombre de roues]. L’occurrence [CA][02] signifie « Camion à 2 roues », or ceci est faux car il n’existe  pas de camion ayant seulement 2 roues. </a:t>
            </a:r>
          </a:p>
        </p:txBody>
      </p:sp>
    </p:spTree>
    <p:extLst>
      <p:ext uri="{BB962C8B-B14F-4D97-AF65-F5344CB8AC3E}">
        <p14:creationId xmlns:p14="http://schemas.microsoft.com/office/powerpoint/2010/main" val="82322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11</a:t>
            </a:fld>
            <a:endParaRPr spc="-4" dirty="0"/>
          </a:p>
        </p:txBody>
      </p:sp>
      <p:sp>
        <p:nvSpPr>
          <p:cNvPr id="10" name="ZoneTexte 9">
            <a:extLst>
              <a:ext uri="{FF2B5EF4-FFF2-40B4-BE49-F238E27FC236}">
                <a16:creationId xmlns:a16="http://schemas.microsoft.com/office/drawing/2014/main" id="{034ADE6D-4845-4967-D079-F3878CAABBAD}"/>
              </a:ext>
            </a:extLst>
          </p:cNvPr>
          <p:cNvSpPr txBox="1"/>
          <p:nvPr/>
        </p:nvSpPr>
        <p:spPr>
          <a:xfrm>
            <a:off x="533400" y="304800"/>
            <a:ext cx="3429000" cy="369332"/>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1800" b="1" i="0" u="none" strike="noStrike" baseline="0" dirty="0">
                <a:latin typeface="Times New Roman" panose="02020603050405020304" pitchFamily="18" charset="0"/>
              </a:rPr>
              <a:t>Contrôle de cohérence externe</a:t>
            </a:r>
            <a:endParaRPr lang="fr-FR" dirty="0"/>
          </a:p>
        </p:txBody>
      </p:sp>
      <p:sp>
        <p:nvSpPr>
          <p:cNvPr id="15" name="ZoneTexte 14">
            <a:extLst>
              <a:ext uri="{FF2B5EF4-FFF2-40B4-BE49-F238E27FC236}">
                <a16:creationId xmlns:a16="http://schemas.microsoft.com/office/drawing/2014/main" id="{C8579D78-A7A5-57FA-464F-DAF6C56FDF3B}"/>
              </a:ext>
            </a:extLst>
          </p:cNvPr>
          <p:cNvSpPr txBox="1"/>
          <p:nvPr/>
        </p:nvSpPr>
        <p:spPr>
          <a:xfrm>
            <a:off x="609600" y="1066800"/>
            <a:ext cx="8077200" cy="1362809"/>
          </a:xfrm>
          <a:prstGeom prst="rect">
            <a:avLst/>
          </a:prstGeom>
          <a:noFill/>
        </p:spPr>
        <p:txBody>
          <a:bodyPr wrap="square">
            <a:spAutoFit/>
          </a:bodyPr>
          <a:lstStyle/>
          <a:p>
            <a:pPr algn="just">
              <a:lnSpc>
                <a:spcPct val="150000"/>
              </a:lnSpc>
            </a:pPr>
            <a:r>
              <a:rPr lang="fr-FR" sz="1900" b="0" i="0" u="none" strike="noStrike" baseline="0" dirty="0">
                <a:latin typeface="+mj-lt"/>
              </a:rPr>
              <a:t>Il consiste à vérifier la justesse de la valeur d’une donnée par rapport à d’autres données, soit dans le même fichier soit dans un autre fichier.</a:t>
            </a:r>
          </a:p>
          <a:p>
            <a:pPr algn="just">
              <a:lnSpc>
                <a:spcPct val="150000"/>
              </a:lnSpc>
            </a:pPr>
            <a:r>
              <a:rPr lang="fr-FR" sz="1900" b="1" i="1" u="none" strike="noStrike" baseline="0" dirty="0">
                <a:latin typeface="+mj-lt"/>
              </a:rPr>
              <a:t>Exemple 1 : Enregistrement étudiant</a:t>
            </a:r>
            <a:endParaRPr lang="fr-FR" sz="1900" b="1" i="1" dirty="0">
              <a:latin typeface="+mj-lt"/>
            </a:endParaRPr>
          </a:p>
        </p:txBody>
      </p:sp>
      <p:graphicFrame>
        <p:nvGraphicFramePr>
          <p:cNvPr id="16" name="Tableau 16">
            <a:extLst>
              <a:ext uri="{FF2B5EF4-FFF2-40B4-BE49-F238E27FC236}">
                <a16:creationId xmlns:a16="http://schemas.microsoft.com/office/drawing/2014/main" id="{62DF82B0-F433-C647-51BA-AC549220F6A9}"/>
              </a:ext>
            </a:extLst>
          </p:cNvPr>
          <p:cNvGraphicFramePr>
            <a:graphicFrameLocks noGrp="1"/>
          </p:cNvGraphicFramePr>
          <p:nvPr>
            <p:extLst>
              <p:ext uri="{D42A27DB-BD31-4B8C-83A1-F6EECF244321}">
                <p14:modId xmlns:p14="http://schemas.microsoft.com/office/powerpoint/2010/main" val="1807101413"/>
              </p:ext>
            </p:extLst>
          </p:nvPr>
        </p:nvGraphicFramePr>
        <p:xfrm>
          <a:off x="1447800" y="2715409"/>
          <a:ext cx="6400800" cy="741680"/>
        </p:xfrm>
        <a:graphic>
          <a:graphicData uri="http://schemas.openxmlformats.org/drawingml/2006/table">
            <a:tbl>
              <a:tblPr firstRow="1" bandRow="1">
                <a:tableStyleId>{5C22544A-7EE6-4342-B048-85BDC9FD1C3A}</a:tableStyleId>
              </a:tblPr>
              <a:tblGrid>
                <a:gridCol w="941344">
                  <a:extLst>
                    <a:ext uri="{9D8B030D-6E8A-4147-A177-3AD203B41FA5}">
                      <a16:colId xmlns:a16="http://schemas.microsoft.com/office/drawing/2014/main" val="1219740686"/>
                    </a:ext>
                  </a:extLst>
                </a:gridCol>
                <a:gridCol w="1176682">
                  <a:extLst>
                    <a:ext uri="{9D8B030D-6E8A-4147-A177-3AD203B41FA5}">
                      <a16:colId xmlns:a16="http://schemas.microsoft.com/office/drawing/2014/main" val="231273922"/>
                    </a:ext>
                  </a:extLst>
                </a:gridCol>
                <a:gridCol w="2118028">
                  <a:extLst>
                    <a:ext uri="{9D8B030D-6E8A-4147-A177-3AD203B41FA5}">
                      <a16:colId xmlns:a16="http://schemas.microsoft.com/office/drawing/2014/main" val="2713117690"/>
                    </a:ext>
                  </a:extLst>
                </a:gridCol>
                <a:gridCol w="2164746">
                  <a:extLst>
                    <a:ext uri="{9D8B030D-6E8A-4147-A177-3AD203B41FA5}">
                      <a16:colId xmlns:a16="http://schemas.microsoft.com/office/drawing/2014/main" val="1455675502"/>
                    </a:ext>
                  </a:extLst>
                </a:gridCol>
              </a:tblGrid>
              <a:tr h="370840">
                <a:tc>
                  <a:txBody>
                    <a:bodyPr/>
                    <a:lstStyle/>
                    <a:p>
                      <a:r>
                        <a:rPr lang="fr-FR" dirty="0"/>
                        <a:t>N°</a:t>
                      </a:r>
                    </a:p>
                  </a:txBody>
                  <a:tcPr/>
                </a:tc>
                <a:tc>
                  <a:txBody>
                    <a:bodyPr/>
                    <a:lstStyle/>
                    <a:p>
                      <a:r>
                        <a:rPr lang="fr-FR" dirty="0"/>
                        <a:t>Nom </a:t>
                      </a:r>
                    </a:p>
                  </a:txBody>
                  <a:tcPr/>
                </a:tc>
                <a:tc>
                  <a:txBody>
                    <a:bodyPr/>
                    <a:lstStyle/>
                    <a:p>
                      <a:pPr algn="ctr"/>
                      <a:r>
                        <a:rPr lang="fr-FR" dirty="0"/>
                        <a:t>Date de naissance </a:t>
                      </a:r>
                    </a:p>
                  </a:txBody>
                  <a:tcPr/>
                </a:tc>
                <a:tc>
                  <a:txBody>
                    <a:bodyPr/>
                    <a:lstStyle/>
                    <a:p>
                      <a:pPr algn="ctr"/>
                      <a:r>
                        <a:rPr lang="fr-FR" dirty="0"/>
                        <a:t>Date d’inscription</a:t>
                      </a:r>
                    </a:p>
                  </a:txBody>
                  <a:tcPr/>
                </a:tc>
                <a:extLst>
                  <a:ext uri="{0D108BD9-81ED-4DB2-BD59-A6C34878D82A}">
                    <a16:rowId xmlns:a16="http://schemas.microsoft.com/office/drawing/2014/main" val="210961852"/>
                  </a:ext>
                </a:extLst>
              </a:tr>
              <a:tr h="370840">
                <a:tc>
                  <a:txBody>
                    <a:bodyPr/>
                    <a:lstStyle/>
                    <a:p>
                      <a:r>
                        <a:rPr lang="fr-FR" dirty="0"/>
                        <a:t>001</a:t>
                      </a:r>
                    </a:p>
                  </a:txBody>
                  <a:tcPr/>
                </a:tc>
                <a:tc>
                  <a:txBody>
                    <a:bodyPr/>
                    <a:lstStyle/>
                    <a:p>
                      <a:r>
                        <a:rPr lang="fr-FR" dirty="0"/>
                        <a:t>Ali</a:t>
                      </a:r>
                    </a:p>
                  </a:txBody>
                  <a:tcPr/>
                </a:tc>
                <a:tc>
                  <a:txBody>
                    <a:bodyPr/>
                    <a:lstStyle/>
                    <a:p>
                      <a:pPr algn="ctr"/>
                      <a:r>
                        <a:rPr lang="fr-FR" dirty="0"/>
                        <a:t>2001</a:t>
                      </a:r>
                    </a:p>
                  </a:txBody>
                  <a:tcPr/>
                </a:tc>
                <a:tc>
                  <a:txBody>
                    <a:bodyPr/>
                    <a:lstStyle/>
                    <a:p>
                      <a:r>
                        <a:rPr lang="fr-FR" dirty="0"/>
                        <a:t>2000</a:t>
                      </a:r>
                    </a:p>
                  </a:txBody>
                  <a:tcPr/>
                </a:tc>
                <a:extLst>
                  <a:ext uri="{0D108BD9-81ED-4DB2-BD59-A6C34878D82A}">
                    <a16:rowId xmlns:a16="http://schemas.microsoft.com/office/drawing/2014/main" val="3441124202"/>
                  </a:ext>
                </a:extLst>
              </a:tr>
            </a:tbl>
          </a:graphicData>
        </a:graphic>
      </p:graphicFrame>
      <p:sp>
        <p:nvSpPr>
          <p:cNvPr id="18" name="ZoneTexte 17">
            <a:extLst>
              <a:ext uri="{FF2B5EF4-FFF2-40B4-BE49-F238E27FC236}">
                <a16:creationId xmlns:a16="http://schemas.microsoft.com/office/drawing/2014/main" id="{12BB9CE7-0479-A68E-28AE-78E5918E9D53}"/>
              </a:ext>
            </a:extLst>
          </p:cNvPr>
          <p:cNvSpPr txBox="1"/>
          <p:nvPr/>
        </p:nvSpPr>
        <p:spPr>
          <a:xfrm>
            <a:off x="1885950" y="4114800"/>
            <a:ext cx="5524500" cy="369332"/>
          </a:xfrm>
          <a:prstGeom prst="rect">
            <a:avLst/>
          </a:prstGeom>
          <a:noFill/>
        </p:spPr>
        <p:txBody>
          <a:bodyPr wrap="square">
            <a:spAutoFit/>
          </a:bodyPr>
          <a:lstStyle/>
          <a:p>
            <a:r>
              <a:rPr lang="fr-FR" sz="1800" b="0" i="0" u="none" strike="noStrike" baseline="0" dirty="0">
                <a:latin typeface="+mj-lt"/>
              </a:rPr>
              <a:t>Il y'a erreur car date de naissance &lt; date inscription.</a:t>
            </a:r>
            <a:endParaRPr lang="fr-FR" dirty="0">
              <a:latin typeface="+mj-lt"/>
            </a:endParaRPr>
          </a:p>
        </p:txBody>
      </p:sp>
    </p:spTree>
    <p:extLst>
      <p:ext uri="{BB962C8B-B14F-4D97-AF65-F5344CB8AC3E}">
        <p14:creationId xmlns:p14="http://schemas.microsoft.com/office/powerpoint/2010/main" val="139008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AC28D1F9-CF0B-7B8D-797D-76272ED64FE5}"/>
              </a:ext>
            </a:extLst>
          </p:cNvPr>
          <p:cNvSpPr txBox="1"/>
          <p:nvPr/>
        </p:nvSpPr>
        <p:spPr>
          <a:xfrm>
            <a:off x="304800" y="762000"/>
            <a:ext cx="8534400" cy="4202561"/>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fr-FR" dirty="0"/>
              <a:t>Soit  la  date  de  naissance  =  25/10/2005  d’un  étudiant.  L’immatriculation  d’un  étudiant  dans une université est structurée comme suit [Année de naissance][Année du BAC][N° séquentiel]. </a:t>
            </a:r>
          </a:p>
          <a:p>
            <a:pPr>
              <a:lnSpc>
                <a:spcPct val="150000"/>
              </a:lnSpc>
            </a:pPr>
            <a:endParaRPr lang="fr-FR" dirty="0"/>
          </a:p>
          <a:p>
            <a:pPr marL="285750" indent="-285750">
              <a:lnSpc>
                <a:spcPct val="150000"/>
              </a:lnSpc>
              <a:buFont typeface="Wingdings" panose="05000000000000000000" pitchFamily="2" charset="2"/>
              <a:buChar char="v"/>
            </a:pPr>
            <a:r>
              <a:rPr lang="fr-FR" dirty="0"/>
              <a:t>Soit l’occurrence de matricule de cet  étudiant  nouvellement inscrit : [05][2007][3569]. </a:t>
            </a:r>
          </a:p>
          <a:p>
            <a:pPr>
              <a:lnSpc>
                <a:spcPct val="150000"/>
              </a:lnSpc>
            </a:pPr>
            <a:endParaRPr lang="fr-FR" dirty="0"/>
          </a:p>
          <a:p>
            <a:pPr>
              <a:lnSpc>
                <a:spcPct val="150000"/>
              </a:lnSpc>
            </a:pPr>
            <a:r>
              <a:rPr lang="fr-FR" dirty="0"/>
              <a:t>Nous  avons  donc  l’information  sur  l’année  d’obtention  du  BAC  =  2007.  Le  calcul  de </a:t>
            </a:r>
          </a:p>
          <a:p>
            <a:pPr>
              <a:lnSpc>
                <a:spcPct val="150000"/>
              </a:lnSpc>
            </a:pPr>
            <a:r>
              <a:rPr lang="fr-FR" dirty="0"/>
              <a:t>l’âge de l’étudiant permet de déduire que ce dernier a 2 ans, or il est impossible d’avoir le </a:t>
            </a:r>
          </a:p>
          <a:p>
            <a:pPr>
              <a:lnSpc>
                <a:spcPct val="150000"/>
              </a:lnSpc>
            </a:pPr>
            <a:r>
              <a:rPr lang="fr-FR" dirty="0"/>
              <a:t>BAC à cet âge </a:t>
            </a:r>
            <a:r>
              <a:rPr lang="fr-FR" dirty="0">
                <a:sym typeface="Wingdings" panose="05000000000000000000" pitchFamily="2" charset="2"/>
              </a:rPr>
              <a:t> </a:t>
            </a:r>
            <a:r>
              <a:rPr lang="fr-FR" dirty="0"/>
              <a:t>on détecte alors une erreur sur la date de naissance. </a:t>
            </a:r>
          </a:p>
        </p:txBody>
      </p:sp>
      <p:sp>
        <p:nvSpPr>
          <p:cNvPr id="7" name="ZoneTexte 6">
            <a:extLst>
              <a:ext uri="{FF2B5EF4-FFF2-40B4-BE49-F238E27FC236}">
                <a16:creationId xmlns:a16="http://schemas.microsoft.com/office/drawing/2014/main" id="{02FE243D-9D9A-8C5F-D657-2A0A99EB64D7}"/>
              </a:ext>
            </a:extLst>
          </p:cNvPr>
          <p:cNvSpPr txBox="1"/>
          <p:nvPr/>
        </p:nvSpPr>
        <p:spPr>
          <a:xfrm>
            <a:off x="457200" y="378113"/>
            <a:ext cx="4572000" cy="369332"/>
          </a:xfrm>
          <a:prstGeom prst="rect">
            <a:avLst/>
          </a:prstGeom>
          <a:noFill/>
        </p:spPr>
        <p:txBody>
          <a:bodyPr wrap="square">
            <a:spAutoFit/>
          </a:bodyPr>
          <a:lstStyle/>
          <a:p>
            <a:r>
              <a:rPr lang="fr-FR" sz="1800" b="1" i="1" u="none" strike="noStrike" baseline="0" dirty="0">
                <a:latin typeface="+mj-lt"/>
              </a:rPr>
              <a:t>Exemple 2:  </a:t>
            </a:r>
            <a:endParaRPr lang="fr-FR" dirty="0"/>
          </a:p>
        </p:txBody>
      </p:sp>
    </p:spTree>
    <p:extLst>
      <p:ext uri="{BB962C8B-B14F-4D97-AF65-F5344CB8AC3E}">
        <p14:creationId xmlns:p14="http://schemas.microsoft.com/office/powerpoint/2010/main" val="296023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394E3247-F7E6-8E90-21DD-C2C22C7C8C3A}"/>
              </a:ext>
            </a:extLst>
          </p:cNvPr>
          <p:cNvSpPr txBox="1"/>
          <p:nvPr/>
        </p:nvSpPr>
        <p:spPr>
          <a:xfrm>
            <a:off x="533400" y="533400"/>
            <a:ext cx="2971800" cy="369332"/>
          </a:xfrm>
          <a:prstGeom prst="rect">
            <a:avLst/>
          </a:prstGeom>
          <a:solidFill>
            <a:srgbClr val="FFC000"/>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1800" b="1" i="0" u="none" strike="noStrike" baseline="0" dirty="0">
                <a:latin typeface="Times New Roman" panose="02020603050405020304" pitchFamily="18" charset="0"/>
              </a:rPr>
              <a:t>Contrôle de vrai semblance</a:t>
            </a:r>
            <a:endParaRPr lang="fr-FR" dirty="0"/>
          </a:p>
        </p:txBody>
      </p:sp>
      <p:sp>
        <p:nvSpPr>
          <p:cNvPr id="6" name="ZoneTexte 5">
            <a:extLst>
              <a:ext uri="{FF2B5EF4-FFF2-40B4-BE49-F238E27FC236}">
                <a16:creationId xmlns:a16="http://schemas.microsoft.com/office/drawing/2014/main" id="{B988A012-0706-D3F4-5E3C-42FB6D0F5153}"/>
              </a:ext>
            </a:extLst>
          </p:cNvPr>
          <p:cNvSpPr txBox="1"/>
          <p:nvPr/>
        </p:nvSpPr>
        <p:spPr>
          <a:xfrm>
            <a:off x="460196" y="2438400"/>
            <a:ext cx="8223608" cy="1362809"/>
          </a:xfrm>
          <a:prstGeom prst="rect">
            <a:avLst/>
          </a:prstGeom>
          <a:noFill/>
        </p:spPr>
        <p:txBody>
          <a:bodyPr wrap="square">
            <a:spAutoFit/>
          </a:bodyPr>
          <a:lstStyle/>
          <a:p>
            <a:pPr>
              <a:lnSpc>
                <a:spcPct val="150000"/>
              </a:lnSpc>
            </a:pPr>
            <a:r>
              <a:rPr lang="fr-FR" sz="1900" b="1" i="1" dirty="0"/>
              <a:t>Exemple : </a:t>
            </a:r>
          </a:p>
          <a:p>
            <a:pPr>
              <a:lnSpc>
                <a:spcPct val="150000"/>
              </a:lnSpc>
            </a:pPr>
            <a:r>
              <a:rPr lang="fr-FR" sz="1900" dirty="0"/>
              <a:t>L’occurrence de code postal [71 210] est invraisemblable car il y a 58 Wilaya seulement en Algérie, d’où la valeur 71 n’est pas correcte.</a:t>
            </a:r>
          </a:p>
        </p:txBody>
      </p:sp>
      <p:sp>
        <p:nvSpPr>
          <p:cNvPr id="8" name="ZoneTexte 7">
            <a:extLst>
              <a:ext uri="{FF2B5EF4-FFF2-40B4-BE49-F238E27FC236}">
                <a16:creationId xmlns:a16="http://schemas.microsoft.com/office/drawing/2014/main" id="{57073C2B-0F8B-151D-7771-5CB86F6D669F}"/>
              </a:ext>
            </a:extLst>
          </p:cNvPr>
          <p:cNvSpPr txBox="1"/>
          <p:nvPr/>
        </p:nvSpPr>
        <p:spPr>
          <a:xfrm>
            <a:off x="505146" y="1295400"/>
            <a:ext cx="7876854" cy="924227"/>
          </a:xfrm>
          <a:prstGeom prst="rect">
            <a:avLst/>
          </a:prstGeom>
          <a:noFill/>
        </p:spPr>
        <p:txBody>
          <a:bodyPr wrap="square">
            <a:spAutoFit/>
          </a:bodyPr>
          <a:lstStyle/>
          <a:p>
            <a:pPr>
              <a:lnSpc>
                <a:spcPct val="150000"/>
              </a:lnSpc>
            </a:pPr>
            <a:r>
              <a:rPr lang="fr-FR" sz="1900" dirty="0"/>
              <a:t>Il  s’agit  de  s’assurer  qu’une  information  est  vraisemblable,  autrement  dit  possible  et concevable en fonction de son sens. </a:t>
            </a:r>
          </a:p>
        </p:txBody>
      </p:sp>
    </p:spTree>
    <p:extLst>
      <p:ext uri="{BB962C8B-B14F-4D97-AF65-F5344CB8AC3E}">
        <p14:creationId xmlns:p14="http://schemas.microsoft.com/office/powerpoint/2010/main" val="312639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D5955CE-5BD6-70C9-97E8-2665A16D9B24}"/>
              </a:ext>
            </a:extLst>
          </p:cNvPr>
          <p:cNvSpPr txBox="1"/>
          <p:nvPr/>
        </p:nvSpPr>
        <p:spPr>
          <a:xfrm>
            <a:off x="381000" y="169967"/>
            <a:ext cx="8382000" cy="6518066"/>
          </a:xfrm>
          <a:prstGeom prst="rect">
            <a:avLst/>
          </a:prstGeom>
          <a:noFill/>
        </p:spPr>
        <p:txBody>
          <a:bodyPr wrap="square">
            <a:spAutoFit/>
          </a:bodyPr>
          <a:lstStyle/>
          <a:p>
            <a:pPr algn="just"/>
            <a:r>
              <a:rPr lang="fr-FR" sz="3200" b="1" i="1" dirty="0">
                <a:solidFill>
                  <a:srgbClr val="FF0000"/>
                </a:solidFill>
                <a:latin typeface="+mj-lt"/>
              </a:rPr>
              <a:t>Conclusion </a:t>
            </a:r>
          </a:p>
          <a:p>
            <a:pPr algn="just"/>
            <a:endParaRPr lang="fr-FR" dirty="0"/>
          </a:p>
          <a:p>
            <a:pPr marL="342900" indent="-342900" algn="just">
              <a:lnSpc>
                <a:spcPct val="150000"/>
              </a:lnSpc>
              <a:buFont typeface="Wingdings" panose="05000000000000000000" pitchFamily="2" charset="2"/>
              <a:buChar char="q"/>
            </a:pPr>
            <a:r>
              <a:rPr lang="fr-FR" sz="1900" dirty="0"/>
              <a:t>  L'information  est une  donnée  supplémentaire  dans  le  patrimoine  intellectuel  de  l'individu et de l'entreprise. Cette information peut avoir plusieurs formes (écrite, orale, qualitative...) et peut être représentée par plusieurs types de code. </a:t>
            </a:r>
          </a:p>
          <a:p>
            <a:pPr algn="just">
              <a:lnSpc>
                <a:spcPct val="150000"/>
              </a:lnSpc>
            </a:pPr>
            <a:endParaRPr lang="fr-FR" sz="1900" dirty="0"/>
          </a:p>
          <a:p>
            <a:pPr marL="342900" indent="-342900" algn="just">
              <a:lnSpc>
                <a:spcPct val="150000"/>
              </a:lnSpc>
              <a:buFont typeface="Wingdings" panose="05000000000000000000" pitchFamily="2" charset="2"/>
              <a:buChar char="q"/>
            </a:pPr>
            <a:r>
              <a:rPr lang="fr-FR" sz="1900" dirty="0"/>
              <a:t>  Toutefois,  pour  qu'une  information  soit  de  qualité,  il  faut  qu'elle  remplisse les   critères de  : fiabilité,  pertinence,  actualité,  originalité  et  accessibilité. La  plupart  du temps, l'obtention de cette information a un coût qui doit être raisonnable par rapport à l'objectif à atteindre. </a:t>
            </a:r>
          </a:p>
          <a:p>
            <a:pPr algn="just">
              <a:lnSpc>
                <a:spcPct val="150000"/>
              </a:lnSpc>
            </a:pPr>
            <a:endParaRPr lang="fr-FR" sz="1900" dirty="0"/>
          </a:p>
          <a:p>
            <a:pPr marL="342900" indent="-342900" algn="just">
              <a:lnSpc>
                <a:spcPct val="150000"/>
              </a:lnSpc>
              <a:buFont typeface="Wingdings" panose="05000000000000000000" pitchFamily="2" charset="2"/>
              <a:buChar char="q"/>
            </a:pPr>
            <a:r>
              <a:rPr lang="fr-FR" sz="1900" dirty="0"/>
              <a:t>  L'information remplit trois rôles principaux dans l'entreprise. Elle est perçue comme un outil  d'aide  à  la  décision,  un  outil  de  communication  interne  et  externe,  un  outil  de travail collectif. </a:t>
            </a:r>
          </a:p>
        </p:txBody>
      </p:sp>
    </p:spTree>
    <p:extLst>
      <p:ext uri="{BB962C8B-B14F-4D97-AF65-F5344CB8AC3E}">
        <p14:creationId xmlns:p14="http://schemas.microsoft.com/office/powerpoint/2010/main" val="91583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381000"/>
            <a:ext cx="8382000" cy="3554819"/>
          </a:xfrm>
          <a:prstGeom prst="rect">
            <a:avLst/>
          </a:prstGeom>
        </p:spPr>
        <p:txBody>
          <a:bodyPr wrap="square">
            <a:spAutoFit/>
          </a:bodyPr>
          <a:lstStyle/>
          <a:p>
            <a:pPr>
              <a:spcAft>
                <a:spcPts val="0"/>
              </a:spcAft>
            </a:pPr>
            <a:r>
              <a:rPr lang="fr-FR" b="1" u="sng" dirty="0">
                <a:solidFill>
                  <a:srgbClr val="000000"/>
                </a:solidFill>
                <a:latin typeface="Times New Roman" panose="02020603050405020304" pitchFamily="18" charset="0"/>
                <a:ea typeface="Times New Roman" panose="02020603050405020304" pitchFamily="18" charset="0"/>
              </a:rPr>
              <a:t>Exercice 01 : </a:t>
            </a:r>
            <a:endParaRPr lang="fr-FR" dirty="0">
              <a:solidFill>
                <a:srgbClr val="000000"/>
              </a:solidFill>
              <a:latin typeface="Times New Roman" panose="02020603050405020304" pitchFamily="18" charset="0"/>
              <a:ea typeface="Times New Roman" panose="02020603050405020304" pitchFamily="18" charset="0"/>
            </a:endParaRPr>
          </a:p>
          <a:p>
            <a:pPr>
              <a:spcAft>
                <a:spcPts val="0"/>
              </a:spcAft>
            </a:pPr>
            <a:r>
              <a:rPr lang="fr-FR" b="1" dirty="0">
                <a:solidFill>
                  <a:srgbClr val="000000"/>
                </a:solidFill>
                <a:latin typeface="Times New Roman" panose="02020603050405020304" pitchFamily="18" charset="0"/>
                <a:ea typeface="Times New Roman" panose="02020603050405020304" pitchFamily="18" charset="0"/>
              </a:rPr>
              <a:t> </a:t>
            </a:r>
            <a:endParaRPr lang="fr-FR" dirty="0">
              <a:solidFill>
                <a:srgbClr val="000000"/>
              </a:solidFill>
              <a:latin typeface="Times New Roman" panose="02020603050405020304" pitchFamily="18" charset="0"/>
              <a:ea typeface="Times New Roman" panose="02020603050405020304" pitchFamily="18" charset="0"/>
            </a:endParaRPr>
          </a:p>
          <a:p>
            <a:pPr algn="just">
              <a:lnSpc>
                <a:spcPct val="150000"/>
              </a:lnSpc>
              <a:spcAft>
                <a:spcPts val="0"/>
              </a:spcAft>
            </a:pPr>
            <a:r>
              <a:rPr lang="fr-FR" dirty="0">
                <a:solidFill>
                  <a:srgbClr val="000000"/>
                </a:solidFill>
                <a:latin typeface="Times New Roman" panose="02020603050405020304" pitchFamily="18" charset="0"/>
                <a:ea typeface="Times New Roman" panose="02020603050405020304" pitchFamily="18" charset="0"/>
              </a:rPr>
              <a:t>  On considère un établissement de formation qui offre des formations à 3 niveaux :  technicien, technicien supérieur et ingénieur. Chaque  niveau  est  organisé  en  4  spécialités  (gestion,  finance, comptabilité et marketing). La spécialité comporte 3 sections et une section ne peut contenir plus de 90 étudiants.   </a:t>
            </a:r>
          </a:p>
          <a:p>
            <a:pPr algn="just">
              <a:lnSpc>
                <a:spcPct val="150000"/>
              </a:lnSpc>
              <a:spcAft>
                <a:spcPts val="0"/>
              </a:spcAft>
            </a:pPr>
            <a:r>
              <a:rPr lang="fr-FR" dirty="0">
                <a:solidFill>
                  <a:srgbClr val="000000"/>
                </a:solidFill>
                <a:latin typeface="Times New Roman" panose="02020603050405020304" pitchFamily="18" charset="0"/>
                <a:ea typeface="Times New Roman" panose="02020603050405020304" pitchFamily="18" charset="0"/>
              </a:rPr>
              <a:t>          1) Faire une codification de ces étudiants selon les trois premiers types de codification vue en cours ? </a:t>
            </a:r>
          </a:p>
          <a:p>
            <a:pPr algn="just">
              <a:lnSpc>
                <a:spcPct val="150000"/>
              </a:lnSpc>
              <a:spcAft>
                <a:spcPts val="0"/>
              </a:spcAft>
            </a:pPr>
            <a:r>
              <a:rPr lang="fr-FR" dirty="0">
                <a:solidFill>
                  <a:srgbClr val="000000"/>
                </a:solidFill>
                <a:latin typeface="Times New Roman" panose="02020603050405020304" pitchFamily="18" charset="0"/>
                <a:ea typeface="Times New Roman" panose="02020603050405020304" pitchFamily="18" charset="0"/>
              </a:rPr>
              <a:t>          2) Donner les avantages et les inconvénients de chaque proposition ?</a:t>
            </a:r>
            <a:r>
              <a:rPr lang="fr-FR" b="1" dirty="0">
                <a:solidFill>
                  <a:srgbClr val="000000"/>
                </a:solidFill>
                <a:latin typeface="Times New Roman" panose="02020603050405020304" pitchFamily="18" charset="0"/>
                <a:ea typeface="Times New Roman" panose="02020603050405020304" pitchFamily="18" charset="0"/>
              </a:rPr>
              <a:t>  </a:t>
            </a:r>
            <a:endParaRPr lang="fr-FR"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36734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04800"/>
            <a:ext cx="8763000" cy="6324808"/>
          </a:xfrm>
          <a:prstGeom prst="rect">
            <a:avLst/>
          </a:prstGeom>
        </p:spPr>
        <p:txBody>
          <a:bodyPr wrap="square">
            <a:spAutoFit/>
          </a:bodyPr>
          <a:lstStyle/>
          <a:p>
            <a:r>
              <a:rPr lang="fr-FR" dirty="0">
                <a:solidFill>
                  <a:srgbClr val="000000"/>
                </a:solidFill>
                <a:latin typeface="Times New Roman" panose="02020603050405020304" pitchFamily="18" charset="0"/>
                <a:ea typeface="Times New Roman" panose="02020603050405020304" pitchFamily="18" charset="0"/>
              </a:rPr>
              <a:t> </a:t>
            </a:r>
            <a:r>
              <a:rPr lang="fr-FR" b="1" u="sng" dirty="0"/>
              <a:t>Exercice 02 :</a:t>
            </a:r>
            <a:endParaRPr lang="fr-FR" dirty="0"/>
          </a:p>
          <a:p>
            <a:pPr algn="just">
              <a:lnSpc>
                <a:spcPct val="150000"/>
              </a:lnSpc>
              <a:spcAft>
                <a:spcPts val="0"/>
              </a:spcAft>
            </a:pPr>
            <a:r>
              <a:rPr lang="fr-FR" dirty="0" smtClean="0">
                <a:solidFill>
                  <a:srgbClr val="000000"/>
                </a:solidFill>
                <a:latin typeface="Times New Roman" panose="02020603050405020304" pitchFamily="18" charset="0"/>
                <a:ea typeface="Times New Roman" panose="02020603050405020304" pitchFamily="18" charset="0"/>
              </a:rPr>
              <a:t>Soit </a:t>
            </a:r>
            <a:r>
              <a:rPr lang="fr-FR" dirty="0">
                <a:solidFill>
                  <a:srgbClr val="000000"/>
                </a:solidFill>
                <a:latin typeface="Times New Roman" panose="02020603050405020304" pitchFamily="18" charset="0"/>
                <a:ea typeface="Times New Roman" panose="02020603050405020304" pitchFamily="18" charset="0"/>
              </a:rPr>
              <a:t>le fichier FEMPL contenant les informations des employés d'une entreprise. Chaque enregistrement de ce fichier contient les rubriques suivantes :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Matricule de l'employé.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Numéro de service.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Nom.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Prénom.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Adresse.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Situation familiale. </a:t>
            </a:r>
          </a:p>
          <a:p>
            <a:pPr>
              <a:lnSpc>
                <a:spcPct val="150000"/>
              </a:lnSpc>
              <a:spcAft>
                <a:spcPts val="0"/>
              </a:spcAft>
            </a:pPr>
            <a:r>
              <a:rPr lang="fr-FR" dirty="0">
                <a:solidFill>
                  <a:srgbClr val="000000"/>
                </a:solidFill>
                <a:latin typeface="Times New Roman" panose="02020603050405020304" pitchFamily="18" charset="0"/>
                <a:ea typeface="Times New Roman" panose="02020603050405020304" pitchFamily="18" charset="0"/>
              </a:rPr>
              <a:t>             Sachant que le nombre d'employés ne dépasse pas 1500 et que le nombre de service est de 15, proposez une codification : </a:t>
            </a:r>
          </a:p>
          <a:p>
            <a:pPr marL="342900" lvl="0" indent="-342900">
              <a:lnSpc>
                <a:spcPct val="150000"/>
              </a:lnSpc>
              <a:spcAft>
                <a:spcPts val="0"/>
              </a:spcAft>
              <a:buFont typeface="+mj-lt"/>
              <a:buAutoNum type="arabicPeriod"/>
            </a:pPr>
            <a:r>
              <a:rPr lang="fr-FR" dirty="0">
                <a:solidFill>
                  <a:srgbClr val="000000"/>
                </a:solidFill>
                <a:latin typeface="Times New Roman" panose="02020603050405020304" pitchFamily="18" charset="0"/>
                <a:ea typeface="Times New Roman" panose="02020603050405020304" pitchFamily="18" charset="0"/>
              </a:rPr>
              <a:t>Pour la donnée "Matricule de l'employé", dans lequel on peut connaître l'année d'entrée dans l'entreprise et le sexe de l'employé. </a:t>
            </a:r>
          </a:p>
          <a:p>
            <a:pPr marL="342900" lvl="0" indent="-342900">
              <a:lnSpc>
                <a:spcPct val="150000"/>
              </a:lnSpc>
              <a:spcAft>
                <a:spcPts val="0"/>
              </a:spcAft>
              <a:buFont typeface="+mj-lt"/>
              <a:buAutoNum type="arabicPeriod"/>
            </a:pPr>
            <a:r>
              <a:rPr lang="fr-FR" dirty="0">
                <a:solidFill>
                  <a:srgbClr val="000000"/>
                </a:solidFill>
                <a:latin typeface="Times New Roman" panose="02020603050405020304" pitchFamily="18" charset="0"/>
                <a:ea typeface="Times New Roman" panose="02020603050405020304" pitchFamily="18" charset="0"/>
              </a:rPr>
              <a:t>Pour le service. </a:t>
            </a:r>
          </a:p>
          <a:p>
            <a:pPr marL="342900" lvl="0" indent="-342900">
              <a:lnSpc>
                <a:spcPct val="150000"/>
              </a:lnSpc>
              <a:spcAft>
                <a:spcPts val="0"/>
              </a:spcAft>
              <a:buFont typeface="+mj-lt"/>
              <a:buAutoNum type="arabicPeriod"/>
            </a:pPr>
            <a:r>
              <a:rPr lang="fr-FR" dirty="0">
                <a:solidFill>
                  <a:srgbClr val="000000"/>
                </a:solidFill>
                <a:latin typeface="Times New Roman" panose="02020603050405020304" pitchFamily="18" charset="0"/>
                <a:ea typeface="Times New Roman" panose="02020603050405020304" pitchFamily="18" charset="0"/>
              </a:rPr>
              <a:t>Pour la situation familiale.</a:t>
            </a:r>
            <a:endParaRPr lang="fr-FR" dirty="0"/>
          </a:p>
        </p:txBody>
      </p:sp>
    </p:spTree>
    <p:extLst>
      <p:ext uri="{BB962C8B-B14F-4D97-AF65-F5344CB8AC3E}">
        <p14:creationId xmlns:p14="http://schemas.microsoft.com/office/powerpoint/2010/main" val="2854675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1000"/>
            <a:ext cx="8153400" cy="3970318"/>
          </a:xfrm>
          <a:prstGeom prst="rect">
            <a:avLst/>
          </a:prstGeom>
        </p:spPr>
        <p:txBody>
          <a:bodyPr wrap="square">
            <a:spAutoFit/>
          </a:bodyPr>
          <a:lstStyle/>
          <a:p>
            <a:pPr>
              <a:spcAft>
                <a:spcPts val="0"/>
              </a:spcAft>
            </a:pPr>
            <a:r>
              <a:rPr lang="fr-FR" b="1" dirty="0">
                <a:solidFill>
                  <a:srgbClr val="000000"/>
                </a:solidFill>
                <a:latin typeface="Times New Roman" panose="02020603050405020304" pitchFamily="18" charset="0"/>
                <a:ea typeface="Times New Roman" panose="02020603050405020304" pitchFamily="18" charset="0"/>
              </a:rPr>
              <a:t>Exercice </a:t>
            </a:r>
            <a:r>
              <a:rPr lang="fr-FR" b="1" dirty="0" smtClean="0">
                <a:solidFill>
                  <a:srgbClr val="000000"/>
                </a:solidFill>
                <a:latin typeface="Times New Roman" panose="02020603050405020304" pitchFamily="18" charset="0"/>
                <a:ea typeface="Times New Roman" panose="02020603050405020304" pitchFamily="18" charset="0"/>
              </a:rPr>
              <a:t>03</a:t>
            </a:r>
            <a:r>
              <a:rPr lang="fr-FR" b="1" dirty="0">
                <a:solidFill>
                  <a:srgbClr val="000000"/>
                </a:solidFill>
                <a:latin typeface="Times New Roman" panose="02020603050405020304" pitchFamily="18" charset="0"/>
                <a:ea typeface="Times New Roman" panose="02020603050405020304" pitchFamily="18" charset="0"/>
              </a:rPr>
              <a:t> : </a:t>
            </a:r>
            <a:endParaRPr lang="fr-FR" dirty="0">
              <a:solidFill>
                <a:srgbClr val="000000"/>
              </a:solidFill>
              <a:latin typeface="Times New Roman" panose="02020603050405020304" pitchFamily="18" charset="0"/>
              <a:ea typeface="Times New Roman" panose="02020603050405020304" pitchFamily="18" charset="0"/>
            </a:endParaRPr>
          </a:p>
          <a:p>
            <a:pPr>
              <a:spcAft>
                <a:spcPts val="0"/>
              </a:spcAft>
            </a:pPr>
            <a:r>
              <a:rPr lang="fr-FR" b="1" dirty="0">
                <a:solidFill>
                  <a:srgbClr val="000000"/>
                </a:solidFill>
                <a:latin typeface="Times New Roman" panose="02020603050405020304" pitchFamily="18" charset="0"/>
                <a:ea typeface="Times New Roman" panose="02020603050405020304" pitchFamily="18" charset="0"/>
              </a:rPr>
              <a:t> </a:t>
            </a:r>
            <a:endParaRPr lang="fr-FR" dirty="0">
              <a:solidFill>
                <a:srgbClr val="000000"/>
              </a:solidFill>
              <a:latin typeface="Times New Roman" panose="02020603050405020304" pitchFamily="18" charset="0"/>
              <a:ea typeface="Times New Roman" panose="02020603050405020304" pitchFamily="18" charset="0"/>
            </a:endParaRPr>
          </a:p>
          <a:p>
            <a:pPr>
              <a:lnSpc>
                <a:spcPct val="150000"/>
              </a:lnSpc>
              <a:spcAft>
                <a:spcPts val="0"/>
              </a:spcAft>
            </a:pPr>
            <a:r>
              <a:rPr lang="fr-FR" dirty="0">
                <a:solidFill>
                  <a:srgbClr val="000000"/>
                </a:solidFill>
                <a:latin typeface="Times New Roman" panose="02020603050405020304" pitchFamily="18" charset="0"/>
                <a:ea typeface="Times New Roman" panose="02020603050405020304" pitchFamily="18" charset="0"/>
              </a:rPr>
              <a:t>  On considère le fichier enseignant d’un établissement de formation, représenté par les informations suivantes :  numéro,  nom,  prénom,  date  de  naissance,  rue,  code  postal,  téléphone,  année  de recrutement, grade et catégorie (vacataire ou permanent)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Proposer  une  codification  pour  le  numéro  enseignant  ?  (Doit  tenir  compte  de  l’année  de recrutement et permettre la répartition des enseignants selon la catégorie).  </a:t>
            </a:r>
          </a:p>
          <a:p>
            <a:pPr marL="342900" lvl="0" indent="-342900">
              <a:lnSpc>
                <a:spcPct val="150000"/>
              </a:lnSpc>
              <a:spcAft>
                <a:spcPts val="0"/>
              </a:spcAft>
              <a:buFont typeface="Wingdings" panose="05000000000000000000" pitchFamily="2" charset="2"/>
              <a:buChar char=""/>
            </a:pPr>
            <a:r>
              <a:rPr lang="fr-FR" dirty="0">
                <a:solidFill>
                  <a:srgbClr val="000000"/>
                </a:solidFill>
                <a:latin typeface="Times New Roman" panose="02020603050405020304" pitchFamily="18" charset="0"/>
                <a:ea typeface="Times New Roman" panose="02020603050405020304" pitchFamily="18" charset="0"/>
              </a:rPr>
              <a:t>Utiliser un tableau pour recenser tous les contrôles que peuvent subir les rubriques du fichier enseignant lors de l’enregistrement d’un nouvel enseignant ?  </a:t>
            </a:r>
          </a:p>
        </p:txBody>
      </p:sp>
    </p:spTree>
    <p:extLst>
      <p:ext uri="{BB962C8B-B14F-4D97-AF65-F5344CB8AC3E}">
        <p14:creationId xmlns:p14="http://schemas.microsoft.com/office/powerpoint/2010/main" val="1665250834"/>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4943</TotalTime>
  <Words>1310</Words>
  <Application>Microsoft Office PowerPoint</Application>
  <PresentationFormat>On-screen Show (4:3)</PresentationFormat>
  <Paragraphs>128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Black</vt:lpstr>
      <vt:lpstr>Calibri</vt:lpstr>
      <vt:lpstr>Franklin Gothic Medium</vt:lpstr>
      <vt:lpstr>Times New Roman</vt:lpstr>
      <vt:lpstr>Wingdings</vt:lpstr>
      <vt:lpstr>Office Theme</vt:lpstr>
      <vt:lpstr>Système d’Information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I. Introduction aux compilateurs</dc:title>
  <dc:creator>AISSA</dc:creator>
  <cp:lastModifiedBy>hp</cp:lastModifiedBy>
  <cp:revision>45</cp:revision>
  <dcterms:created xsi:type="dcterms:W3CDTF">2022-09-13T16:09:23Z</dcterms:created>
  <dcterms:modified xsi:type="dcterms:W3CDTF">2024-03-04T06:51:32Z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2020-12-27T00:00:00Z</vt:filetime>
  </property>
  <property fmtid="{D5CDD505-2E9C-101B-9397-08002B2CF9AE}" pid="3" name="Creator">
    <vt:lpwstr>Microsoft® Office PowerPoint® 2007</vt:lpwstr>
  </property>
  <property fmtid="{D5CDD505-2E9C-101B-9397-08002B2CF9AE}" pid="4" name="LastSaved">
    <vt:filetime>2022-09-13T00:00:00Z</vt:filetime>
  </property>
</Properties>
</file>