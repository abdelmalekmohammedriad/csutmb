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83" r:id="rId2"/>
    <p:sldId id="327" r:id="rId3"/>
    <p:sldId id="305" r:id="rId4"/>
    <p:sldId id="351" r:id="rId5"/>
    <p:sldId id="306" r:id="rId6"/>
    <p:sldId id="331" r:id="rId7"/>
    <p:sldId id="307" r:id="rId8"/>
    <p:sldId id="341" r:id="rId9"/>
    <p:sldId id="342" r:id="rId10"/>
    <p:sldId id="343" r:id="rId11"/>
    <p:sldId id="328" r:id="rId12"/>
    <p:sldId id="332" r:id="rId13"/>
    <p:sldId id="334" r:id="rId14"/>
    <p:sldId id="336" r:id="rId15"/>
    <p:sldId id="335" r:id="rId16"/>
    <p:sldId id="333" r:id="rId17"/>
    <p:sldId id="311" r:id="rId18"/>
    <p:sldId id="347" r:id="rId19"/>
    <p:sldId id="349" r:id="rId20"/>
    <p:sldId id="350" r:id="rId21"/>
    <p:sldId id="348" r:id="rId22"/>
    <p:sldId id="340" r:id="rId23"/>
    <p:sldId id="312" r:id="rId24"/>
    <p:sldId id="345" r:id="rId25"/>
    <p:sldId id="314" r:id="rId26"/>
    <p:sldId id="316" r:id="rId27"/>
  </p:sldIdLst>
  <p:sldSz cx="9144000" cy="6858000" type="screen4x3"/>
  <p:notesSz cx="9144000" cy="6858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p:cViewPr varScale="1">
        <p:scale>
          <a:sx n="63" d="100"/>
          <a:sy n="63" d="100"/>
        </p:scale>
        <p:origin x="1404" y="5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81588BB4-B097-4833-94B1-75AB959485B8}" type="datetimeFigureOut">
              <a:rPr lang="fr-FR" smtClean="0"/>
              <a:t>18/02/2024</a:t>
            </a:fld>
            <a:endParaRPr lang="fr-FR"/>
          </a:p>
        </p:txBody>
      </p:sp>
      <p:sp>
        <p:nvSpPr>
          <p:cNvPr id="4" name="Espace réservé de l'image des diapositives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89BD77DD-DE13-4E1E-AD49-D8F3FAF789C5}" type="slidenum">
              <a:rPr lang="fr-FR" smtClean="0"/>
              <a:t>‹#›</a:t>
            </a:fld>
            <a:endParaRPr lang="fr-FR"/>
          </a:p>
        </p:txBody>
      </p:sp>
    </p:spTree>
    <p:extLst>
      <p:ext uri="{BB962C8B-B14F-4D97-AF65-F5344CB8AC3E}">
        <p14:creationId xmlns:p14="http://schemas.microsoft.com/office/powerpoint/2010/main" val="3691103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696363"/>
                </a:solidFill>
                <a:latin typeface="Times New Roman"/>
                <a:cs typeface="Times New Roman"/>
              </a:defRPr>
            </a:lvl1pPr>
          </a:lstStyle>
          <a:p>
            <a:pPr marL="12700">
              <a:lnSpc>
                <a:spcPts val="1530"/>
              </a:lnSpc>
            </a:pPr>
            <a:r>
              <a:rPr spc="-114" dirty="0"/>
              <a:t>I</a:t>
            </a:r>
            <a:r>
              <a:rPr spc="-60" dirty="0"/>
              <a:t>n</a:t>
            </a:r>
            <a:r>
              <a:rPr spc="15" dirty="0"/>
              <a:t>t</a:t>
            </a:r>
            <a:r>
              <a:rPr dirty="0"/>
              <a:t>r</a:t>
            </a:r>
            <a:r>
              <a:rPr spc="-60" dirty="0"/>
              <a:t>odu</a:t>
            </a:r>
            <a:r>
              <a:rPr spc="-50" dirty="0"/>
              <a:t>ctio</a:t>
            </a:r>
            <a:r>
              <a:rPr spc="-60" dirty="0"/>
              <a:t>n</a:t>
            </a:r>
            <a:r>
              <a:rPr spc="-95" dirty="0"/>
              <a:t> </a:t>
            </a:r>
            <a:r>
              <a:rPr spc="-85" dirty="0"/>
              <a:t>au</a:t>
            </a:r>
            <a:r>
              <a:rPr spc="-60" dirty="0"/>
              <a:t>x </a:t>
            </a:r>
            <a:r>
              <a:rPr spc="-70" dirty="0"/>
              <a:t>co</a:t>
            </a:r>
            <a:r>
              <a:rPr spc="-90" dirty="0"/>
              <a:t>mp</a:t>
            </a:r>
            <a:r>
              <a:rPr spc="-40" dirty="0"/>
              <a:t>i</a:t>
            </a:r>
            <a:r>
              <a:rPr spc="-70" dirty="0"/>
              <a:t>l</a:t>
            </a:r>
            <a:r>
              <a:rPr spc="-114" dirty="0"/>
              <a:t>a</a:t>
            </a:r>
            <a:r>
              <a:rPr spc="-15" dirty="0"/>
              <a:t>t</a:t>
            </a:r>
            <a:r>
              <a:rPr spc="-30" dirty="0"/>
              <a:t>e</a:t>
            </a:r>
            <a:r>
              <a:rPr spc="-60" dirty="0"/>
              <a:t>u</a:t>
            </a:r>
            <a:r>
              <a:rPr spc="30" dirty="0"/>
              <a:t>r</a:t>
            </a:r>
            <a:r>
              <a:rPr spc="-110" dirty="0"/>
              <a:t>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2/18/2024</a:t>
            </a:fld>
            <a:endParaRPr lang="en-US"/>
          </a:p>
        </p:txBody>
      </p:sp>
      <p:sp>
        <p:nvSpPr>
          <p:cNvPr id="6" name="Holder 6"/>
          <p:cNvSpPr>
            <a:spLocks noGrp="1"/>
          </p:cNvSpPr>
          <p:nvPr>
            <p:ph type="sldNum" sz="quarter" idx="7"/>
          </p:nvPr>
        </p:nvSpPr>
        <p:spPr/>
        <p:txBody>
          <a:bodyPr lIns="0" tIns="0" rIns="0" bIns="0"/>
          <a:lstStyle>
            <a:lvl1pPr>
              <a:defRPr sz="1400" b="0" i="0">
                <a:solidFill>
                  <a:schemeClr val="bg1"/>
                </a:solidFill>
                <a:latin typeface="Franklin Gothic Medium"/>
                <a:cs typeface="Franklin Gothic Medium"/>
              </a:defRPr>
            </a:lvl1pPr>
          </a:lstStyle>
          <a:p>
            <a:pPr marL="39370">
              <a:lnSpc>
                <a:spcPts val="1664"/>
              </a:lnSpc>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696363"/>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6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696363"/>
                </a:solidFill>
                <a:latin typeface="Times New Roman"/>
                <a:cs typeface="Times New Roman"/>
              </a:defRPr>
            </a:lvl1pPr>
          </a:lstStyle>
          <a:p>
            <a:pPr marL="12700">
              <a:lnSpc>
                <a:spcPts val="1530"/>
              </a:lnSpc>
            </a:pPr>
            <a:r>
              <a:rPr spc="-114" dirty="0"/>
              <a:t>I</a:t>
            </a:r>
            <a:r>
              <a:rPr spc="-60" dirty="0"/>
              <a:t>n</a:t>
            </a:r>
            <a:r>
              <a:rPr spc="15" dirty="0"/>
              <a:t>t</a:t>
            </a:r>
            <a:r>
              <a:rPr dirty="0"/>
              <a:t>r</a:t>
            </a:r>
            <a:r>
              <a:rPr spc="-60" dirty="0"/>
              <a:t>odu</a:t>
            </a:r>
            <a:r>
              <a:rPr spc="-50" dirty="0"/>
              <a:t>ctio</a:t>
            </a:r>
            <a:r>
              <a:rPr spc="-60" dirty="0"/>
              <a:t>n</a:t>
            </a:r>
            <a:r>
              <a:rPr spc="-95" dirty="0"/>
              <a:t> </a:t>
            </a:r>
            <a:r>
              <a:rPr spc="-85" dirty="0"/>
              <a:t>au</a:t>
            </a:r>
            <a:r>
              <a:rPr spc="-60" dirty="0"/>
              <a:t>x </a:t>
            </a:r>
            <a:r>
              <a:rPr spc="-70" dirty="0"/>
              <a:t>co</a:t>
            </a:r>
            <a:r>
              <a:rPr spc="-90" dirty="0"/>
              <a:t>mp</a:t>
            </a:r>
            <a:r>
              <a:rPr spc="-40" dirty="0"/>
              <a:t>i</a:t>
            </a:r>
            <a:r>
              <a:rPr spc="-70" dirty="0"/>
              <a:t>l</a:t>
            </a:r>
            <a:r>
              <a:rPr spc="-114" dirty="0"/>
              <a:t>a</a:t>
            </a:r>
            <a:r>
              <a:rPr spc="-15" dirty="0"/>
              <a:t>t</a:t>
            </a:r>
            <a:r>
              <a:rPr spc="-30" dirty="0"/>
              <a:t>e</a:t>
            </a:r>
            <a:r>
              <a:rPr spc="-60" dirty="0"/>
              <a:t>u</a:t>
            </a:r>
            <a:r>
              <a:rPr spc="30" dirty="0"/>
              <a:t>r</a:t>
            </a:r>
            <a:r>
              <a:rPr spc="-110" dirty="0"/>
              <a:t>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2/18/2024</a:t>
            </a:fld>
            <a:endParaRPr lang="en-US"/>
          </a:p>
        </p:txBody>
      </p:sp>
      <p:sp>
        <p:nvSpPr>
          <p:cNvPr id="6" name="Holder 6"/>
          <p:cNvSpPr>
            <a:spLocks noGrp="1"/>
          </p:cNvSpPr>
          <p:nvPr>
            <p:ph type="sldNum" sz="quarter" idx="7"/>
          </p:nvPr>
        </p:nvSpPr>
        <p:spPr/>
        <p:txBody>
          <a:bodyPr lIns="0" tIns="0" rIns="0" bIns="0"/>
          <a:lstStyle>
            <a:lvl1pPr>
              <a:defRPr sz="1400" b="0" i="0">
                <a:solidFill>
                  <a:schemeClr val="bg1"/>
                </a:solidFill>
                <a:latin typeface="Franklin Gothic Medium"/>
                <a:cs typeface="Franklin Gothic Medium"/>
              </a:defRPr>
            </a:lvl1pPr>
          </a:lstStyle>
          <a:p>
            <a:pPr marL="39370">
              <a:lnSpc>
                <a:spcPts val="1664"/>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696363"/>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0" i="0">
                <a:solidFill>
                  <a:srgbClr val="696363"/>
                </a:solidFill>
                <a:latin typeface="Times New Roman"/>
                <a:cs typeface="Times New Roman"/>
              </a:defRPr>
            </a:lvl1pPr>
          </a:lstStyle>
          <a:p>
            <a:pPr marL="12700">
              <a:lnSpc>
                <a:spcPts val="1530"/>
              </a:lnSpc>
            </a:pPr>
            <a:r>
              <a:rPr spc="-114" dirty="0"/>
              <a:t>I</a:t>
            </a:r>
            <a:r>
              <a:rPr spc="-60" dirty="0"/>
              <a:t>n</a:t>
            </a:r>
            <a:r>
              <a:rPr spc="15" dirty="0"/>
              <a:t>t</a:t>
            </a:r>
            <a:r>
              <a:rPr dirty="0"/>
              <a:t>r</a:t>
            </a:r>
            <a:r>
              <a:rPr spc="-60" dirty="0"/>
              <a:t>odu</a:t>
            </a:r>
            <a:r>
              <a:rPr spc="-50" dirty="0"/>
              <a:t>ctio</a:t>
            </a:r>
            <a:r>
              <a:rPr spc="-60" dirty="0"/>
              <a:t>n</a:t>
            </a:r>
            <a:r>
              <a:rPr spc="-95" dirty="0"/>
              <a:t> </a:t>
            </a:r>
            <a:r>
              <a:rPr spc="-85" dirty="0"/>
              <a:t>au</a:t>
            </a:r>
            <a:r>
              <a:rPr spc="-60" dirty="0"/>
              <a:t>x </a:t>
            </a:r>
            <a:r>
              <a:rPr spc="-70" dirty="0"/>
              <a:t>co</a:t>
            </a:r>
            <a:r>
              <a:rPr spc="-90" dirty="0"/>
              <a:t>mp</a:t>
            </a:r>
            <a:r>
              <a:rPr spc="-40" dirty="0"/>
              <a:t>i</a:t>
            </a:r>
            <a:r>
              <a:rPr spc="-70" dirty="0"/>
              <a:t>l</a:t>
            </a:r>
            <a:r>
              <a:rPr spc="-114" dirty="0"/>
              <a:t>a</a:t>
            </a:r>
            <a:r>
              <a:rPr spc="-15" dirty="0"/>
              <a:t>t</a:t>
            </a:r>
            <a:r>
              <a:rPr spc="-30" dirty="0"/>
              <a:t>e</a:t>
            </a:r>
            <a:r>
              <a:rPr spc="-60" dirty="0"/>
              <a:t>u</a:t>
            </a:r>
            <a:r>
              <a:rPr spc="30" dirty="0"/>
              <a:t>r</a:t>
            </a:r>
            <a:r>
              <a:rPr spc="-110" dirty="0"/>
              <a:t>s</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2/18/2024</a:t>
            </a:fld>
            <a:endParaRPr lang="en-US"/>
          </a:p>
        </p:txBody>
      </p:sp>
      <p:sp>
        <p:nvSpPr>
          <p:cNvPr id="7" name="Holder 7"/>
          <p:cNvSpPr>
            <a:spLocks noGrp="1"/>
          </p:cNvSpPr>
          <p:nvPr>
            <p:ph type="sldNum" sz="quarter" idx="7"/>
          </p:nvPr>
        </p:nvSpPr>
        <p:spPr/>
        <p:txBody>
          <a:bodyPr lIns="0" tIns="0" rIns="0" bIns="0"/>
          <a:lstStyle>
            <a:lvl1pPr>
              <a:defRPr sz="1400" b="0" i="0">
                <a:solidFill>
                  <a:schemeClr val="bg1"/>
                </a:solidFill>
                <a:latin typeface="Franklin Gothic Medium"/>
                <a:cs typeface="Franklin Gothic Medium"/>
              </a:defRPr>
            </a:lvl1pPr>
          </a:lstStyle>
          <a:p>
            <a:pPr marL="39370">
              <a:lnSpc>
                <a:spcPts val="1664"/>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4007" y="69722"/>
            <a:ext cx="9013825" cy="6693534"/>
          </a:xfrm>
          <a:custGeom>
            <a:avLst/>
            <a:gdLst/>
            <a:ahLst/>
            <a:cxnLst/>
            <a:rect l="l" t="t" r="r" b="b"/>
            <a:pathLst>
              <a:path w="9013825" h="6693534">
                <a:moveTo>
                  <a:pt x="0" y="329946"/>
                </a:moveTo>
                <a:lnTo>
                  <a:pt x="3577" y="281184"/>
                </a:lnTo>
                <a:lnTo>
                  <a:pt x="13968" y="234645"/>
                </a:lnTo>
                <a:lnTo>
                  <a:pt x="30664" y="190840"/>
                </a:lnTo>
                <a:lnTo>
                  <a:pt x="53153" y="150277"/>
                </a:lnTo>
                <a:lnTo>
                  <a:pt x="80925" y="113468"/>
                </a:lnTo>
                <a:lnTo>
                  <a:pt x="113469" y="80923"/>
                </a:lnTo>
                <a:lnTo>
                  <a:pt x="150276" y="53151"/>
                </a:lnTo>
                <a:lnTo>
                  <a:pt x="190835" y="30662"/>
                </a:lnTo>
                <a:lnTo>
                  <a:pt x="234636" y="13967"/>
                </a:lnTo>
                <a:lnTo>
                  <a:pt x="281168" y="3576"/>
                </a:lnTo>
                <a:lnTo>
                  <a:pt x="329920" y="0"/>
                </a:lnTo>
                <a:lnTo>
                  <a:pt x="8683498" y="0"/>
                </a:lnTo>
                <a:lnTo>
                  <a:pt x="8732228" y="3576"/>
                </a:lnTo>
                <a:lnTo>
                  <a:pt x="8778740" y="13967"/>
                </a:lnTo>
                <a:lnTo>
                  <a:pt x="8822525" y="30662"/>
                </a:lnTo>
                <a:lnTo>
                  <a:pt x="8863071" y="53151"/>
                </a:lnTo>
                <a:lnTo>
                  <a:pt x="8899868" y="80923"/>
                </a:lnTo>
                <a:lnTo>
                  <a:pt x="8932405" y="113468"/>
                </a:lnTo>
                <a:lnTo>
                  <a:pt x="8960172" y="150277"/>
                </a:lnTo>
                <a:lnTo>
                  <a:pt x="8982656" y="190840"/>
                </a:lnTo>
                <a:lnTo>
                  <a:pt x="8999349" y="234645"/>
                </a:lnTo>
                <a:lnTo>
                  <a:pt x="9009740" y="281184"/>
                </a:lnTo>
                <a:lnTo>
                  <a:pt x="9013317" y="329946"/>
                </a:lnTo>
                <a:lnTo>
                  <a:pt x="9013317" y="6363525"/>
                </a:lnTo>
                <a:lnTo>
                  <a:pt x="9009740" y="6412277"/>
                </a:lnTo>
                <a:lnTo>
                  <a:pt x="8999349" y="6458809"/>
                </a:lnTo>
                <a:lnTo>
                  <a:pt x="8982656" y="6502608"/>
                </a:lnTo>
                <a:lnTo>
                  <a:pt x="8960172" y="6543167"/>
                </a:lnTo>
                <a:lnTo>
                  <a:pt x="8932405" y="6579973"/>
                </a:lnTo>
                <a:lnTo>
                  <a:pt x="8899868" y="6612516"/>
                </a:lnTo>
                <a:lnTo>
                  <a:pt x="8863071" y="6640287"/>
                </a:lnTo>
                <a:lnTo>
                  <a:pt x="8822525" y="6662775"/>
                </a:lnTo>
                <a:lnTo>
                  <a:pt x="8778740" y="6679470"/>
                </a:lnTo>
                <a:lnTo>
                  <a:pt x="8732228" y="6689861"/>
                </a:lnTo>
                <a:lnTo>
                  <a:pt x="8683498" y="6693438"/>
                </a:lnTo>
                <a:lnTo>
                  <a:pt x="329920" y="6693439"/>
                </a:lnTo>
                <a:lnTo>
                  <a:pt x="281168" y="6689861"/>
                </a:lnTo>
                <a:lnTo>
                  <a:pt x="234636" y="6679470"/>
                </a:lnTo>
                <a:lnTo>
                  <a:pt x="190835" y="6662775"/>
                </a:lnTo>
                <a:lnTo>
                  <a:pt x="150276" y="6640287"/>
                </a:lnTo>
                <a:lnTo>
                  <a:pt x="113469" y="6612516"/>
                </a:lnTo>
                <a:lnTo>
                  <a:pt x="80925" y="6579973"/>
                </a:lnTo>
                <a:lnTo>
                  <a:pt x="53153" y="6543167"/>
                </a:lnTo>
                <a:lnTo>
                  <a:pt x="30664" y="6502608"/>
                </a:lnTo>
                <a:lnTo>
                  <a:pt x="13968" y="6458809"/>
                </a:lnTo>
                <a:lnTo>
                  <a:pt x="3577" y="6412277"/>
                </a:lnTo>
                <a:lnTo>
                  <a:pt x="0" y="6363525"/>
                </a:lnTo>
                <a:lnTo>
                  <a:pt x="0" y="329946"/>
                </a:lnTo>
                <a:close/>
              </a:path>
            </a:pathLst>
          </a:custGeom>
          <a:ln w="12700">
            <a:solidFill>
              <a:srgbClr val="000000"/>
            </a:solidFill>
          </a:ln>
        </p:spPr>
        <p:txBody>
          <a:bodyPr wrap="square" lIns="0" tIns="0" rIns="0" bIns="0" rtlCol="0"/>
          <a:lstStyle/>
          <a:p>
            <a:endParaRPr/>
          </a:p>
        </p:txBody>
      </p:sp>
      <p:pic>
        <p:nvPicPr>
          <p:cNvPr id="17" name="bg object 17"/>
          <p:cNvPicPr/>
          <p:nvPr/>
        </p:nvPicPr>
        <p:blipFill>
          <a:blip r:embed="rId2" cstate="print"/>
          <a:stretch>
            <a:fillRect/>
          </a:stretch>
        </p:blipFill>
        <p:spPr>
          <a:xfrm>
            <a:off x="3851675" y="185356"/>
            <a:ext cx="4975020" cy="6218851"/>
          </a:xfrm>
          <a:prstGeom prst="rect">
            <a:avLst/>
          </a:prstGeom>
        </p:spPr>
      </p:pic>
      <p:sp>
        <p:nvSpPr>
          <p:cNvPr id="18" name="bg object 18"/>
          <p:cNvSpPr/>
          <p:nvPr/>
        </p:nvSpPr>
        <p:spPr>
          <a:xfrm>
            <a:off x="146304"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000" b="1" i="0">
                <a:solidFill>
                  <a:srgbClr val="696363"/>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400" b="0" i="0">
                <a:solidFill>
                  <a:srgbClr val="696363"/>
                </a:solidFill>
                <a:latin typeface="Times New Roman"/>
                <a:cs typeface="Times New Roman"/>
              </a:defRPr>
            </a:lvl1pPr>
          </a:lstStyle>
          <a:p>
            <a:pPr marL="12700">
              <a:lnSpc>
                <a:spcPts val="1530"/>
              </a:lnSpc>
            </a:pPr>
            <a:r>
              <a:rPr spc="-114" dirty="0"/>
              <a:t>I</a:t>
            </a:r>
            <a:r>
              <a:rPr spc="-60" dirty="0"/>
              <a:t>n</a:t>
            </a:r>
            <a:r>
              <a:rPr spc="15" dirty="0"/>
              <a:t>t</a:t>
            </a:r>
            <a:r>
              <a:rPr dirty="0"/>
              <a:t>r</a:t>
            </a:r>
            <a:r>
              <a:rPr spc="-60" dirty="0"/>
              <a:t>odu</a:t>
            </a:r>
            <a:r>
              <a:rPr spc="-50" dirty="0"/>
              <a:t>ctio</a:t>
            </a:r>
            <a:r>
              <a:rPr spc="-60" dirty="0"/>
              <a:t>n</a:t>
            </a:r>
            <a:r>
              <a:rPr spc="-95" dirty="0"/>
              <a:t> </a:t>
            </a:r>
            <a:r>
              <a:rPr spc="-85" dirty="0"/>
              <a:t>au</a:t>
            </a:r>
            <a:r>
              <a:rPr spc="-60" dirty="0"/>
              <a:t>x </a:t>
            </a:r>
            <a:r>
              <a:rPr spc="-70" dirty="0"/>
              <a:t>co</a:t>
            </a:r>
            <a:r>
              <a:rPr spc="-90" dirty="0"/>
              <a:t>mp</a:t>
            </a:r>
            <a:r>
              <a:rPr spc="-40" dirty="0"/>
              <a:t>i</a:t>
            </a:r>
            <a:r>
              <a:rPr spc="-70" dirty="0"/>
              <a:t>l</a:t>
            </a:r>
            <a:r>
              <a:rPr spc="-114" dirty="0"/>
              <a:t>a</a:t>
            </a:r>
            <a:r>
              <a:rPr spc="-15" dirty="0"/>
              <a:t>t</a:t>
            </a:r>
            <a:r>
              <a:rPr spc="-30" dirty="0"/>
              <a:t>e</a:t>
            </a:r>
            <a:r>
              <a:rPr spc="-60" dirty="0"/>
              <a:t>u</a:t>
            </a:r>
            <a:r>
              <a:rPr spc="30" dirty="0"/>
              <a:t>r</a:t>
            </a:r>
            <a:r>
              <a:rPr spc="-110" dirty="0"/>
              <a:t>s</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2/18/2024</a:t>
            </a:fld>
            <a:endParaRPr lang="en-US"/>
          </a:p>
        </p:txBody>
      </p:sp>
      <p:sp>
        <p:nvSpPr>
          <p:cNvPr id="5" name="Holder 5"/>
          <p:cNvSpPr>
            <a:spLocks noGrp="1"/>
          </p:cNvSpPr>
          <p:nvPr>
            <p:ph type="sldNum" sz="quarter" idx="7"/>
          </p:nvPr>
        </p:nvSpPr>
        <p:spPr/>
        <p:txBody>
          <a:bodyPr lIns="0" tIns="0" rIns="0" bIns="0"/>
          <a:lstStyle>
            <a:lvl1pPr>
              <a:defRPr sz="1400" b="0" i="0">
                <a:solidFill>
                  <a:schemeClr val="bg1"/>
                </a:solidFill>
                <a:latin typeface="Franklin Gothic Medium"/>
                <a:cs typeface="Franklin Gothic Medium"/>
              </a:defRPr>
            </a:lvl1pPr>
          </a:lstStyle>
          <a:p>
            <a:pPr marL="39370">
              <a:lnSpc>
                <a:spcPts val="1664"/>
              </a:lnSpc>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65313" y="69722"/>
            <a:ext cx="9013408" cy="6692231"/>
          </a:xfrm>
          <a:prstGeom prst="rect">
            <a:avLst/>
          </a:prstGeom>
        </p:spPr>
      </p:pic>
      <p:sp>
        <p:nvSpPr>
          <p:cNvPr id="17" name="bg object 17"/>
          <p:cNvSpPr/>
          <p:nvPr/>
        </p:nvSpPr>
        <p:spPr>
          <a:xfrm>
            <a:off x="65313" y="69722"/>
            <a:ext cx="9013825" cy="6692265"/>
          </a:xfrm>
          <a:custGeom>
            <a:avLst/>
            <a:gdLst/>
            <a:ahLst/>
            <a:cxnLst/>
            <a:rect l="l" t="t" r="r" b="b"/>
            <a:pathLst>
              <a:path w="9013825" h="6692265">
                <a:moveTo>
                  <a:pt x="0" y="329946"/>
                </a:moveTo>
                <a:lnTo>
                  <a:pt x="3576" y="281184"/>
                </a:lnTo>
                <a:lnTo>
                  <a:pt x="13965" y="234645"/>
                </a:lnTo>
                <a:lnTo>
                  <a:pt x="30657" y="190840"/>
                </a:lnTo>
                <a:lnTo>
                  <a:pt x="53141" y="150277"/>
                </a:lnTo>
                <a:lnTo>
                  <a:pt x="80907" y="113468"/>
                </a:lnTo>
                <a:lnTo>
                  <a:pt x="113445" y="80923"/>
                </a:lnTo>
                <a:lnTo>
                  <a:pt x="150245" y="53151"/>
                </a:lnTo>
                <a:lnTo>
                  <a:pt x="190796" y="30662"/>
                </a:lnTo>
                <a:lnTo>
                  <a:pt x="234589" y="13967"/>
                </a:lnTo>
                <a:lnTo>
                  <a:pt x="281114" y="3576"/>
                </a:lnTo>
                <a:lnTo>
                  <a:pt x="329859" y="0"/>
                </a:lnTo>
                <a:lnTo>
                  <a:pt x="8683462" y="0"/>
                </a:lnTo>
                <a:lnTo>
                  <a:pt x="8732224" y="3576"/>
                </a:lnTo>
                <a:lnTo>
                  <a:pt x="8778762" y="13967"/>
                </a:lnTo>
                <a:lnTo>
                  <a:pt x="8822568" y="30662"/>
                </a:lnTo>
                <a:lnTo>
                  <a:pt x="8863130" y="53151"/>
                </a:lnTo>
                <a:lnTo>
                  <a:pt x="8899939" y="80923"/>
                </a:lnTo>
                <a:lnTo>
                  <a:pt x="8932485" y="113468"/>
                </a:lnTo>
                <a:lnTo>
                  <a:pt x="8960257" y="150277"/>
                </a:lnTo>
                <a:lnTo>
                  <a:pt x="8982745" y="190840"/>
                </a:lnTo>
                <a:lnTo>
                  <a:pt x="8999440" y="234645"/>
                </a:lnTo>
                <a:lnTo>
                  <a:pt x="9009831" y="281184"/>
                </a:lnTo>
                <a:lnTo>
                  <a:pt x="9013408" y="329946"/>
                </a:lnTo>
                <a:lnTo>
                  <a:pt x="9013408" y="6362369"/>
                </a:lnTo>
                <a:lnTo>
                  <a:pt x="9009831" y="6411115"/>
                </a:lnTo>
                <a:lnTo>
                  <a:pt x="8999440" y="6457639"/>
                </a:lnTo>
                <a:lnTo>
                  <a:pt x="8982745" y="6501432"/>
                </a:lnTo>
                <a:lnTo>
                  <a:pt x="8960257" y="6541984"/>
                </a:lnTo>
                <a:lnTo>
                  <a:pt x="8932485" y="6578785"/>
                </a:lnTo>
                <a:lnTo>
                  <a:pt x="8899939" y="6611323"/>
                </a:lnTo>
                <a:lnTo>
                  <a:pt x="8863130" y="6639090"/>
                </a:lnTo>
                <a:lnTo>
                  <a:pt x="8822568" y="6661574"/>
                </a:lnTo>
                <a:lnTo>
                  <a:pt x="8778762" y="6678266"/>
                </a:lnTo>
                <a:lnTo>
                  <a:pt x="8732224" y="6688655"/>
                </a:lnTo>
                <a:lnTo>
                  <a:pt x="8683462" y="6692231"/>
                </a:lnTo>
                <a:lnTo>
                  <a:pt x="329859" y="6692231"/>
                </a:lnTo>
                <a:lnTo>
                  <a:pt x="281114" y="6688655"/>
                </a:lnTo>
                <a:lnTo>
                  <a:pt x="234589" y="6678266"/>
                </a:lnTo>
                <a:lnTo>
                  <a:pt x="190796" y="6661574"/>
                </a:lnTo>
                <a:lnTo>
                  <a:pt x="150245" y="6639090"/>
                </a:lnTo>
                <a:lnTo>
                  <a:pt x="113445" y="6611323"/>
                </a:lnTo>
                <a:lnTo>
                  <a:pt x="80907" y="6578785"/>
                </a:lnTo>
                <a:lnTo>
                  <a:pt x="53141" y="6541984"/>
                </a:lnTo>
                <a:lnTo>
                  <a:pt x="30657" y="6501432"/>
                </a:lnTo>
                <a:lnTo>
                  <a:pt x="13965" y="6457639"/>
                </a:lnTo>
                <a:lnTo>
                  <a:pt x="3576" y="6411115"/>
                </a:lnTo>
                <a:lnTo>
                  <a:pt x="0" y="6362369"/>
                </a:lnTo>
                <a:lnTo>
                  <a:pt x="0" y="329946"/>
                </a:lnTo>
                <a:close/>
              </a:path>
            </a:pathLst>
          </a:custGeom>
          <a:ln w="12700">
            <a:solidFill>
              <a:srgbClr val="000000"/>
            </a:solidFill>
          </a:ln>
        </p:spPr>
        <p:txBody>
          <a:bodyPr wrap="square" lIns="0" tIns="0" rIns="0" bIns="0" rtlCol="0"/>
          <a:lstStyle/>
          <a:p>
            <a:endParaRPr/>
          </a:p>
        </p:txBody>
      </p:sp>
      <p:sp>
        <p:nvSpPr>
          <p:cNvPr id="18" name="bg object 18"/>
          <p:cNvSpPr/>
          <p:nvPr/>
        </p:nvSpPr>
        <p:spPr>
          <a:xfrm>
            <a:off x="62931" y="1396688"/>
            <a:ext cx="9022080" cy="120650"/>
          </a:xfrm>
          <a:custGeom>
            <a:avLst/>
            <a:gdLst/>
            <a:ahLst/>
            <a:cxnLst/>
            <a:rect l="l" t="t" r="r" b="b"/>
            <a:pathLst>
              <a:path w="9022080" h="120650">
                <a:moveTo>
                  <a:pt x="9021572" y="0"/>
                </a:moveTo>
                <a:lnTo>
                  <a:pt x="0" y="0"/>
                </a:lnTo>
                <a:lnTo>
                  <a:pt x="0" y="120580"/>
                </a:lnTo>
                <a:lnTo>
                  <a:pt x="9021572" y="120580"/>
                </a:lnTo>
                <a:lnTo>
                  <a:pt x="9021572" y="0"/>
                </a:lnTo>
                <a:close/>
              </a:path>
            </a:pathLst>
          </a:custGeom>
          <a:solidFill>
            <a:srgbClr val="E6B0AB"/>
          </a:solidFill>
        </p:spPr>
        <p:txBody>
          <a:bodyPr wrap="square" lIns="0" tIns="0" rIns="0" bIns="0" rtlCol="0"/>
          <a:lstStyle/>
          <a:p>
            <a:endParaRPr/>
          </a:p>
        </p:txBody>
      </p:sp>
      <p:sp>
        <p:nvSpPr>
          <p:cNvPr id="19" name="bg object 19"/>
          <p:cNvSpPr/>
          <p:nvPr/>
        </p:nvSpPr>
        <p:spPr>
          <a:xfrm>
            <a:off x="62931" y="2976711"/>
            <a:ext cx="9022080" cy="111125"/>
          </a:xfrm>
          <a:custGeom>
            <a:avLst/>
            <a:gdLst/>
            <a:ahLst/>
            <a:cxnLst/>
            <a:rect l="l" t="t" r="r" b="b"/>
            <a:pathLst>
              <a:path w="9022080" h="111125">
                <a:moveTo>
                  <a:pt x="9021572" y="0"/>
                </a:moveTo>
                <a:lnTo>
                  <a:pt x="0" y="0"/>
                </a:lnTo>
                <a:lnTo>
                  <a:pt x="0" y="110531"/>
                </a:lnTo>
                <a:lnTo>
                  <a:pt x="9021572" y="110531"/>
                </a:lnTo>
                <a:lnTo>
                  <a:pt x="9021572" y="0"/>
                </a:lnTo>
                <a:close/>
              </a:path>
            </a:pathLst>
          </a:custGeom>
          <a:solidFill>
            <a:srgbClr val="918485"/>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400" b="0" i="0">
                <a:solidFill>
                  <a:srgbClr val="696363"/>
                </a:solidFill>
                <a:latin typeface="Times New Roman"/>
                <a:cs typeface="Times New Roman"/>
              </a:defRPr>
            </a:lvl1pPr>
          </a:lstStyle>
          <a:p>
            <a:pPr marL="12700">
              <a:lnSpc>
                <a:spcPts val="1530"/>
              </a:lnSpc>
            </a:pPr>
            <a:r>
              <a:rPr spc="-114" dirty="0"/>
              <a:t>I</a:t>
            </a:r>
            <a:r>
              <a:rPr spc="-60" dirty="0"/>
              <a:t>n</a:t>
            </a:r>
            <a:r>
              <a:rPr spc="15" dirty="0"/>
              <a:t>t</a:t>
            </a:r>
            <a:r>
              <a:rPr dirty="0"/>
              <a:t>r</a:t>
            </a:r>
            <a:r>
              <a:rPr spc="-60" dirty="0"/>
              <a:t>odu</a:t>
            </a:r>
            <a:r>
              <a:rPr spc="-50" dirty="0"/>
              <a:t>ctio</a:t>
            </a:r>
            <a:r>
              <a:rPr spc="-60" dirty="0"/>
              <a:t>n</a:t>
            </a:r>
            <a:r>
              <a:rPr spc="-95" dirty="0"/>
              <a:t> </a:t>
            </a:r>
            <a:r>
              <a:rPr spc="-85" dirty="0"/>
              <a:t>au</a:t>
            </a:r>
            <a:r>
              <a:rPr spc="-60" dirty="0"/>
              <a:t>x </a:t>
            </a:r>
            <a:r>
              <a:rPr spc="-70" dirty="0"/>
              <a:t>co</a:t>
            </a:r>
            <a:r>
              <a:rPr spc="-90" dirty="0"/>
              <a:t>mp</a:t>
            </a:r>
            <a:r>
              <a:rPr spc="-40" dirty="0"/>
              <a:t>i</a:t>
            </a:r>
            <a:r>
              <a:rPr spc="-70" dirty="0"/>
              <a:t>l</a:t>
            </a:r>
            <a:r>
              <a:rPr spc="-114" dirty="0"/>
              <a:t>a</a:t>
            </a:r>
            <a:r>
              <a:rPr spc="-15" dirty="0"/>
              <a:t>t</a:t>
            </a:r>
            <a:r>
              <a:rPr spc="-30" dirty="0"/>
              <a:t>e</a:t>
            </a:r>
            <a:r>
              <a:rPr spc="-60" dirty="0"/>
              <a:t>u</a:t>
            </a:r>
            <a:r>
              <a:rPr spc="30" dirty="0"/>
              <a:t>r</a:t>
            </a:r>
            <a:r>
              <a:rPr spc="-110" dirty="0"/>
              <a:t>s</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2/18/2024</a:t>
            </a:fld>
            <a:endParaRPr lang="en-US"/>
          </a:p>
        </p:txBody>
      </p:sp>
      <p:sp>
        <p:nvSpPr>
          <p:cNvPr id="4" name="Holder 4"/>
          <p:cNvSpPr>
            <a:spLocks noGrp="1"/>
          </p:cNvSpPr>
          <p:nvPr>
            <p:ph type="sldNum" sz="quarter" idx="7"/>
          </p:nvPr>
        </p:nvSpPr>
        <p:spPr/>
        <p:txBody>
          <a:bodyPr lIns="0" tIns="0" rIns="0" bIns="0"/>
          <a:lstStyle>
            <a:lvl1pPr>
              <a:defRPr sz="1400" b="0" i="0">
                <a:solidFill>
                  <a:schemeClr val="bg1"/>
                </a:solidFill>
                <a:latin typeface="Franklin Gothic Medium"/>
                <a:cs typeface="Franklin Gothic Medium"/>
              </a:defRPr>
            </a:lvl1pPr>
          </a:lstStyle>
          <a:p>
            <a:pPr marL="39370">
              <a:lnSpc>
                <a:spcPts val="1664"/>
              </a:lnSpc>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4007" y="69722"/>
            <a:ext cx="9013825" cy="6693534"/>
          </a:xfrm>
          <a:custGeom>
            <a:avLst/>
            <a:gdLst/>
            <a:ahLst/>
            <a:cxnLst/>
            <a:rect l="l" t="t" r="r" b="b"/>
            <a:pathLst>
              <a:path w="9013825" h="6693534">
                <a:moveTo>
                  <a:pt x="0" y="329946"/>
                </a:moveTo>
                <a:lnTo>
                  <a:pt x="3577" y="281184"/>
                </a:lnTo>
                <a:lnTo>
                  <a:pt x="13968" y="234645"/>
                </a:lnTo>
                <a:lnTo>
                  <a:pt x="30664" y="190840"/>
                </a:lnTo>
                <a:lnTo>
                  <a:pt x="53153" y="150277"/>
                </a:lnTo>
                <a:lnTo>
                  <a:pt x="80925" y="113468"/>
                </a:lnTo>
                <a:lnTo>
                  <a:pt x="113469" y="80923"/>
                </a:lnTo>
                <a:lnTo>
                  <a:pt x="150276" y="53151"/>
                </a:lnTo>
                <a:lnTo>
                  <a:pt x="190835" y="30662"/>
                </a:lnTo>
                <a:lnTo>
                  <a:pt x="234636" y="13967"/>
                </a:lnTo>
                <a:lnTo>
                  <a:pt x="281168" y="3576"/>
                </a:lnTo>
                <a:lnTo>
                  <a:pt x="329920" y="0"/>
                </a:lnTo>
                <a:lnTo>
                  <a:pt x="8683498" y="0"/>
                </a:lnTo>
                <a:lnTo>
                  <a:pt x="8732228" y="3576"/>
                </a:lnTo>
                <a:lnTo>
                  <a:pt x="8778740" y="13967"/>
                </a:lnTo>
                <a:lnTo>
                  <a:pt x="8822525" y="30662"/>
                </a:lnTo>
                <a:lnTo>
                  <a:pt x="8863071" y="53151"/>
                </a:lnTo>
                <a:lnTo>
                  <a:pt x="8899868" y="80923"/>
                </a:lnTo>
                <a:lnTo>
                  <a:pt x="8932405" y="113468"/>
                </a:lnTo>
                <a:lnTo>
                  <a:pt x="8960172" y="150277"/>
                </a:lnTo>
                <a:lnTo>
                  <a:pt x="8982656" y="190840"/>
                </a:lnTo>
                <a:lnTo>
                  <a:pt x="8999349" y="234645"/>
                </a:lnTo>
                <a:lnTo>
                  <a:pt x="9009740" y="281184"/>
                </a:lnTo>
                <a:lnTo>
                  <a:pt x="9013317" y="329946"/>
                </a:lnTo>
                <a:lnTo>
                  <a:pt x="9013317" y="6363525"/>
                </a:lnTo>
                <a:lnTo>
                  <a:pt x="9009740" y="6412277"/>
                </a:lnTo>
                <a:lnTo>
                  <a:pt x="8999349" y="6458809"/>
                </a:lnTo>
                <a:lnTo>
                  <a:pt x="8982656" y="6502608"/>
                </a:lnTo>
                <a:lnTo>
                  <a:pt x="8960172" y="6543167"/>
                </a:lnTo>
                <a:lnTo>
                  <a:pt x="8932405" y="6579973"/>
                </a:lnTo>
                <a:lnTo>
                  <a:pt x="8899868" y="6612516"/>
                </a:lnTo>
                <a:lnTo>
                  <a:pt x="8863071" y="6640287"/>
                </a:lnTo>
                <a:lnTo>
                  <a:pt x="8822525" y="6662775"/>
                </a:lnTo>
                <a:lnTo>
                  <a:pt x="8778740" y="6679470"/>
                </a:lnTo>
                <a:lnTo>
                  <a:pt x="8732228" y="6689861"/>
                </a:lnTo>
                <a:lnTo>
                  <a:pt x="8683498" y="6693438"/>
                </a:lnTo>
                <a:lnTo>
                  <a:pt x="329920" y="6693439"/>
                </a:lnTo>
                <a:lnTo>
                  <a:pt x="281168" y="6689861"/>
                </a:lnTo>
                <a:lnTo>
                  <a:pt x="234636" y="6679470"/>
                </a:lnTo>
                <a:lnTo>
                  <a:pt x="190835" y="6662775"/>
                </a:lnTo>
                <a:lnTo>
                  <a:pt x="150276" y="6640287"/>
                </a:lnTo>
                <a:lnTo>
                  <a:pt x="113469" y="6612516"/>
                </a:lnTo>
                <a:lnTo>
                  <a:pt x="80925" y="6579973"/>
                </a:lnTo>
                <a:lnTo>
                  <a:pt x="53153" y="6543167"/>
                </a:lnTo>
                <a:lnTo>
                  <a:pt x="30664" y="6502608"/>
                </a:lnTo>
                <a:lnTo>
                  <a:pt x="13968" y="6458809"/>
                </a:lnTo>
                <a:lnTo>
                  <a:pt x="3577" y="6412277"/>
                </a:lnTo>
                <a:lnTo>
                  <a:pt x="0" y="6363525"/>
                </a:lnTo>
                <a:lnTo>
                  <a:pt x="0" y="329946"/>
                </a:lnTo>
                <a:close/>
              </a:path>
            </a:pathLst>
          </a:custGeom>
          <a:ln w="12700">
            <a:solidFill>
              <a:srgbClr val="000000"/>
            </a:solidFill>
          </a:ln>
        </p:spPr>
        <p:txBody>
          <a:bodyPr wrap="square" lIns="0" tIns="0" rIns="0" bIns="0" rtlCol="0"/>
          <a:lstStyle/>
          <a:p>
            <a:endParaRPr/>
          </a:p>
        </p:txBody>
      </p:sp>
      <p:sp>
        <p:nvSpPr>
          <p:cNvPr id="2" name="Holder 2"/>
          <p:cNvSpPr>
            <a:spLocks noGrp="1"/>
          </p:cNvSpPr>
          <p:nvPr>
            <p:ph type="title"/>
          </p:nvPr>
        </p:nvSpPr>
        <p:spPr>
          <a:xfrm>
            <a:off x="993444" y="292430"/>
            <a:ext cx="5885180" cy="635000"/>
          </a:xfrm>
          <a:prstGeom prst="rect">
            <a:avLst/>
          </a:prstGeom>
        </p:spPr>
        <p:txBody>
          <a:bodyPr wrap="square" lIns="0" tIns="0" rIns="0" bIns="0">
            <a:spAutoFit/>
          </a:bodyPr>
          <a:lstStyle>
            <a:lvl1pPr>
              <a:defRPr sz="4000" b="1" i="0">
                <a:solidFill>
                  <a:srgbClr val="696363"/>
                </a:solidFill>
                <a:latin typeface="Arial"/>
                <a:cs typeface="Arial"/>
              </a:defRPr>
            </a:lvl1pPr>
          </a:lstStyle>
          <a:p>
            <a:endParaRPr/>
          </a:p>
        </p:txBody>
      </p:sp>
      <p:sp>
        <p:nvSpPr>
          <p:cNvPr id="3" name="Holder 3"/>
          <p:cNvSpPr>
            <a:spLocks noGrp="1"/>
          </p:cNvSpPr>
          <p:nvPr>
            <p:ph type="body" idx="1"/>
          </p:nvPr>
        </p:nvSpPr>
        <p:spPr>
          <a:xfrm>
            <a:off x="985164" y="1421383"/>
            <a:ext cx="7173671" cy="4111625"/>
          </a:xfrm>
          <a:prstGeom prst="rect">
            <a:avLst/>
          </a:prstGeom>
        </p:spPr>
        <p:txBody>
          <a:bodyPr wrap="square" lIns="0" tIns="0" rIns="0" bIns="0">
            <a:spAutoFit/>
          </a:bodyPr>
          <a:lstStyle>
            <a:lvl1pPr>
              <a:defRPr sz="26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993444" y="6289162"/>
            <a:ext cx="1969770" cy="229870"/>
          </a:xfrm>
          <a:prstGeom prst="rect">
            <a:avLst/>
          </a:prstGeom>
        </p:spPr>
        <p:txBody>
          <a:bodyPr wrap="square" lIns="0" tIns="0" rIns="0" bIns="0">
            <a:spAutoFit/>
          </a:bodyPr>
          <a:lstStyle>
            <a:lvl1pPr>
              <a:defRPr sz="1400" b="0" i="0">
                <a:solidFill>
                  <a:srgbClr val="696363"/>
                </a:solidFill>
                <a:latin typeface="Times New Roman"/>
                <a:cs typeface="Times New Roman"/>
              </a:defRPr>
            </a:lvl1pPr>
          </a:lstStyle>
          <a:p>
            <a:pPr marL="12700">
              <a:lnSpc>
                <a:spcPts val="1530"/>
              </a:lnSpc>
            </a:pPr>
            <a:r>
              <a:rPr spc="-114" dirty="0"/>
              <a:t>I</a:t>
            </a:r>
            <a:r>
              <a:rPr spc="-60" dirty="0"/>
              <a:t>n</a:t>
            </a:r>
            <a:r>
              <a:rPr spc="15" dirty="0"/>
              <a:t>t</a:t>
            </a:r>
            <a:r>
              <a:rPr dirty="0"/>
              <a:t>r</a:t>
            </a:r>
            <a:r>
              <a:rPr spc="-60" dirty="0"/>
              <a:t>odu</a:t>
            </a:r>
            <a:r>
              <a:rPr spc="-50" dirty="0"/>
              <a:t>ctio</a:t>
            </a:r>
            <a:r>
              <a:rPr spc="-60" dirty="0"/>
              <a:t>n</a:t>
            </a:r>
            <a:r>
              <a:rPr spc="-95" dirty="0"/>
              <a:t> </a:t>
            </a:r>
            <a:r>
              <a:rPr spc="-85" dirty="0"/>
              <a:t>au</a:t>
            </a:r>
            <a:r>
              <a:rPr spc="-60" dirty="0"/>
              <a:t>x </a:t>
            </a:r>
            <a:r>
              <a:rPr spc="-70" dirty="0"/>
              <a:t>co</a:t>
            </a:r>
            <a:r>
              <a:rPr spc="-90" dirty="0"/>
              <a:t>mp</a:t>
            </a:r>
            <a:r>
              <a:rPr spc="-40" dirty="0"/>
              <a:t>i</a:t>
            </a:r>
            <a:r>
              <a:rPr spc="-70" dirty="0"/>
              <a:t>l</a:t>
            </a:r>
            <a:r>
              <a:rPr spc="-114" dirty="0"/>
              <a:t>a</a:t>
            </a:r>
            <a:r>
              <a:rPr spc="-15" dirty="0"/>
              <a:t>t</a:t>
            </a:r>
            <a:r>
              <a:rPr spc="-30" dirty="0"/>
              <a:t>e</a:t>
            </a:r>
            <a:r>
              <a:rPr spc="-60" dirty="0"/>
              <a:t>u</a:t>
            </a:r>
            <a:r>
              <a:rPr spc="30" dirty="0"/>
              <a:t>r</a:t>
            </a:r>
            <a:r>
              <a:rPr spc="-110" dirty="0"/>
              <a:t>s</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2/18/2024</a:t>
            </a:fld>
            <a:endParaRPr lang="en-US"/>
          </a:p>
        </p:txBody>
      </p:sp>
      <p:sp>
        <p:nvSpPr>
          <p:cNvPr id="6" name="Holder 6"/>
          <p:cNvSpPr>
            <a:spLocks noGrp="1"/>
          </p:cNvSpPr>
          <p:nvPr>
            <p:ph type="sldNum" sz="quarter" idx="7"/>
          </p:nvPr>
        </p:nvSpPr>
        <p:spPr>
          <a:xfrm>
            <a:off x="231952" y="6329836"/>
            <a:ext cx="287020" cy="227965"/>
          </a:xfrm>
          <a:prstGeom prst="rect">
            <a:avLst/>
          </a:prstGeom>
        </p:spPr>
        <p:txBody>
          <a:bodyPr wrap="square" lIns="0" tIns="0" rIns="0" bIns="0">
            <a:spAutoFit/>
          </a:bodyPr>
          <a:lstStyle>
            <a:lvl1pPr>
              <a:defRPr sz="1400" b="0" i="0">
                <a:solidFill>
                  <a:schemeClr val="bg1"/>
                </a:solidFill>
                <a:latin typeface="Franklin Gothic Medium"/>
                <a:cs typeface="Franklin Gothic Medium"/>
              </a:defRPr>
            </a:lvl1pPr>
          </a:lstStyle>
          <a:p>
            <a:pPr marL="39370">
              <a:lnSpc>
                <a:spcPts val="1664"/>
              </a:lnSpc>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595745" y="2803382"/>
            <a:ext cx="8229600" cy="1327150"/>
          </a:xfrm>
          <a:custGeom>
            <a:avLst/>
            <a:gdLst/>
            <a:ahLst/>
            <a:cxnLst/>
            <a:rect l="l" t="t" r="r" b="b"/>
            <a:pathLst>
              <a:path w="8229600" h="1327150">
                <a:moveTo>
                  <a:pt x="0" y="221195"/>
                </a:moveTo>
                <a:lnTo>
                  <a:pt x="4493" y="176617"/>
                </a:lnTo>
                <a:lnTo>
                  <a:pt x="17382" y="135096"/>
                </a:lnTo>
                <a:lnTo>
                  <a:pt x="37776" y="97523"/>
                </a:lnTo>
                <a:lnTo>
                  <a:pt x="64786" y="64786"/>
                </a:lnTo>
                <a:lnTo>
                  <a:pt x="97523" y="37776"/>
                </a:lnTo>
                <a:lnTo>
                  <a:pt x="135096" y="17382"/>
                </a:lnTo>
                <a:lnTo>
                  <a:pt x="176617" y="4493"/>
                </a:lnTo>
                <a:lnTo>
                  <a:pt x="221196" y="0"/>
                </a:lnTo>
                <a:lnTo>
                  <a:pt x="8008404" y="0"/>
                </a:lnTo>
                <a:lnTo>
                  <a:pt x="8051759" y="4289"/>
                </a:lnTo>
                <a:lnTo>
                  <a:pt x="8093052" y="16837"/>
                </a:lnTo>
                <a:lnTo>
                  <a:pt x="8131123" y="37163"/>
                </a:lnTo>
                <a:lnTo>
                  <a:pt x="8164812" y="64786"/>
                </a:lnTo>
                <a:lnTo>
                  <a:pt x="8192436" y="98476"/>
                </a:lnTo>
                <a:lnTo>
                  <a:pt x="8212762" y="136548"/>
                </a:lnTo>
                <a:lnTo>
                  <a:pt x="8225310" y="177841"/>
                </a:lnTo>
                <a:lnTo>
                  <a:pt x="8229600" y="221195"/>
                </a:lnTo>
                <a:lnTo>
                  <a:pt x="8229600" y="1105953"/>
                </a:lnTo>
                <a:lnTo>
                  <a:pt x="8225106" y="1150532"/>
                </a:lnTo>
                <a:lnTo>
                  <a:pt x="8212217" y="1192053"/>
                </a:lnTo>
                <a:lnTo>
                  <a:pt x="8191823" y="1229626"/>
                </a:lnTo>
                <a:lnTo>
                  <a:pt x="8164813" y="1262363"/>
                </a:lnTo>
                <a:lnTo>
                  <a:pt x="8132077" y="1289373"/>
                </a:lnTo>
                <a:lnTo>
                  <a:pt x="8094504" y="1309767"/>
                </a:lnTo>
                <a:lnTo>
                  <a:pt x="8052983" y="1322656"/>
                </a:lnTo>
                <a:lnTo>
                  <a:pt x="8008404" y="1327149"/>
                </a:lnTo>
                <a:lnTo>
                  <a:pt x="221196" y="1327149"/>
                </a:lnTo>
                <a:lnTo>
                  <a:pt x="176617" y="1322656"/>
                </a:lnTo>
                <a:lnTo>
                  <a:pt x="135096" y="1309767"/>
                </a:lnTo>
                <a:lnTo>
                  <a:pt x="97523" y="1289373"/>
                </a:lnTo>
                <a:lnTo>
                  <a:pt x="64786" y="1262363"/>
                </a:lnTo>
                <a:lnTo>
                  <a:pt x="37776" y="1229626"/>
                </a:lnTo>
                <a:lnTo>
                  <a:pt x="17382" y="1192053"/>
                </a:lnTo>
                <a:lnTo>
                  <a:pt x="4493" y="1150532"/>
                </a:lnTo>
                <a:lnTo>
                  <a:pt x="0" y="1105953"/>
                </a:lnTo>
                <a:lnTo>
                  <a:pt x="0" y="221195"/>
                </a:lnTo>
                <a:close/>
              </a:path>
            </a:pathLst>
          </a:custGeom>
          <a:ln/>
        </p:spPr>
        <p:style>
          <a:lnRef idx="0">
            <a:schemeClr val="accent1"/>
          </a:lnRef>
          <a:fillRef idx="3">
            <a:schemeClr val="accent1"/>
          </a:fillRef>
          <a:effectRef idx="3">
            <a:schemeClr val="accent1"/>
          </a:effectRef>
          <a:fontRef idx="minor">
            <a:schemeClr val="lt1"/>
          </a:fontRef>
        </p:style>
        <p:txBody>
          <a:bodyPr wrap="square" lIns="0" tIns="0" rIns="0" bIns="0" rtlCol="0"/>
          <a:lstStyle/>
          <a:p>
            <a:endParaRPr dirty="0"/>
          </a:p>
        </p:txBody>
      </p:sp>
      <p:pic>
        <p:nvPicPr>
          <p:cNvPr id="11" name="object 11"/>
          <p:cNvPicPr/>
          <p:nvPr/>
        </p:nvPicPr>
        <p:blipFill>
          <a:blip r:embed="rId2" cstate="print"/>
          <a:stretch>
            <a:fillRect/>
          </a:stretch>
        </p:blipFill>
        <p:spPr>
          <a:xfrm>
            <a:off x="361950" y="5562600"/>
            <a:ext cx="8477250" cy="793750"/>
          </a:xfrm>
          <a:prstGeom prst="rect">
            <a:avLst/>
          </a:prstGeom>
        </p:spPr>
      </p:pic>
      <p:sp>
        <p:nvSpPr>
          <p:cNvPr id="12" name="object 12"/>
          <p:cNvSpPr/>
          <p:nvPr/>
        </p:nvSpPr>
        <p:spPr>
          <a:xfrm>
            <a:off x="381000" y="5562600"/>
            <a:ext cx="8350250" cy="666750"/>
          </a:xfrm>
          <a:custGeom>
            <a:avLst/>
            <a:gdLst/>
            <a:ahLst/>
            <a:cxnLst/>
            <a:rect l="l" t="t" r="r" b="b"/>
            <a:pathLst>
              <a:path w="8350250" h="666750">
                <a:moveTo>
                  <a:pt x="8327026" y="666749"/>
                </a:moveTo>
                <a:lnTo>
                  <a:pt x="23222" y="666749"/>
                </a:lnTo>
                <a:lnTo>
                  <a:pt x="14183" y="664925"/>
                </a:lnTo>
                <a:lnTo>
                  <a:pt x="6801" y="659948"/>
                </a:lnTo>
                <a:lnTo>
                  <a:pt x="1824" y="652566"/>
                </a:lnTo>
                <a:lnTo>
                  <a:pt x="0" y="643527"/>
                </a:lnTo>
                <a:lnTo>
                  <a:pt x="0" y="23222"/>
                </a:lnTo>
                <a:lnTo>
                  <a:pt x="1824" y="14183"/>
                </a:lnTo>
                <a:lnTo>
                  <a:pt x="6801" y="6801"/>
                </a:lnTo>
                <a:lnTo>
                  <a:pt x="14183" y="1824"/>
                </a:lnTo>
                <a:lnTo>
                  <a:pt x="23222" y="0"/>
                </a:lnTo>
                <a:lnTo>
                  <a:pt x="8333186" y="0"/>
                </a:lnTo>
                <a:lnTo>
                  <a:pt x="8339093" y="2446"/>
                </a:lnTo>
                <a:lnTo>
                  <a:pt x="8347803" y="11156"/>
                </a:lnTo>
                <a:lnTo>
                  <a:pt x="8350250" y="17063"/>
                </a:lnTo>
                <a:lnTo>
                  <a:pt x="8350250" y="643527"/>
                </a:lnTo>
                <a:lnTo>
                  <a:pt x="8348425" y="652566"/>
                </a:lnTo>
                <a:lnTo>
                  <a:pt x="8343448" y="659948"/>
                </a:lnTo>
                <a:lnTo>
                  <a:pt x="8336066" y="664925"/>
                </a:lnTo>
                <a:lnTo>
                  <a:pt x="8327026" y="666749"/>
                </a:lnTo>
                <a:close/>
              </a:path>
            </a:pathLst>
          </a:custGeom>
          <a:solidFill>
            <a:srgbClr val="E9EEE7"/>
          </a:solidFill>
        </p:spPr>
        <p:txBody>
          <a:bodyPr wrap="square" lIns="0" tIns="0" rIns="0" bIns="0" rtlCol="0"/>
          <a:lstStyle/>
          <a:p>
            <a:endParaRPr dirty="0"/>
          </a:p>
        </p:txBody>
      </p:sp>
      <p:sp>
        <p:nvSpPr>
          <p:cNvPr id="13" name="object 13"/>
          <p:cNvSpPr/>
          <p:nvPr/>
        </p:nvSpPr>
        <p:spPr>
          <a:xfrm>
            <a:off x="415850" y="5563213"/>
            <a:ext cx="8350250" cy="246379"/>
          </a:xfrm>
          <a:custGeom>
            <a:avLst/>
            <a:gdLst/>
            <a:ahLst/>
            <a:cxnLst/>
            <a:rect l="l" t="t" r="r" b="b"/>
            <a:pathLst>
              <a:path w="8350250" h="246379">
                <a:moveTo>
                  <a:pt x="8350250" y="246063"/>
                </a:moveTo>
                <a:lnTo>
                  <a:pt x="0" y="246063"/>
                </a:lnTo>
                <a:lnTo>
                  <a:pt x="0" y="97453"/>
                </a:lnTo>
                <a:lnTo>
                  <a:pt x="8326" y="59520"/>
                </a:lnTo>
                <a:lnTo>
                  <a:pt x="31032" y="28543"/>
                </a:lnTo>
                <a:lnTo>
                  <a:pt x="64709" y="7658"/>
                </a:lnTo>
                <a:lnTo>
                  <a:pt x="105950" y="0"/>
                </a:lnTo>
                <a:lnTo>
                  <a:pt x="8244300" y="0"/>
                </a:lnTo>
                <a:lnTo>
                  <a:pt x="8285540" y="7658"/>
                </a:lnTo>
                <a:lnTo>
                  <a:pt x="8319217" y="28543"/>
                </a:lnTo>
                <a:lnTo>
                  <a:pt x="8341923" y="59520"/>
                </a:lnTo>
                <a:lnTo>
                  <a:pt x="8350250" y="97453"/>
                </a:lnTo>
                <a:lnTo>
                  <a:pt x="8350250" y="246063"/>
                </a:lnTo>
                <a:close/>
              </a:path>
            </a:pathLst>
          </a:custGeom>
        </p:spPr>
        <p:style>
          <a:lnRef idx="1">
            <a:schemeClr val="accent1"/>
          </a:lnRef>
          <a:fillRef idx="3">
            <a:schemeClr val="accent1"/>
          </a:fillRef>
          <a:effectRef idx="2">
            <a:schemeClr val="accent1"/>
          </a:effectRef>
          <a:fontRef idx="minor">
            <a:schemeClr val="lt1"/>
          </a:fontRef>
        </p:style>
        <p:txBody>
          <a:bodyPr wrap="square" lIns="0" tIns="0" rIns="0" bIns="0" rtlCol="0"/>
          <a:lstStyle/>
          <a:p>
            <a:endParaRPr dirty="0"/>
          </a:p>
        </p:txBody>
      </p:sp>
      <p:sp>
        <p:nvSpPr>
          <p:cNvPr id="14" name="object 14"/>
          <p:cNvSpPr txBox="1"/>
          <p:nvPr/>
        </p:nvSpPr>
        <p:spPr>
          <a:xfrm>
            <a:off x="458787" y="5054377"/>
            <a:ext cx="1928495" cy="718185"/>
          </a:xfrm>
          <a:prstGeom prst="rect">
            <a:avLst/>
          </a:prstGeom>
        </p:spPr>
        <p:txBody>
          <a:bodyPr vert="horz" wrap="square" lIns="0" tIns="153670" rIns="0" bIns="0" rtlCol="0">
            <a:spAutoFit/>
          </a:bodyPr>
          <a:lstStyle/>
          <a:p>
            <a:pPr marL="12700">
              <a:lnSpc>
                <a:spcPct val="100000"/>
              </a:lnSpc>
              <a:spcBef>
                <a:spcPts val="1210"/>
              </a:spcBef>
            </a:pPr>
            <a:r>
              <a:rPr sz="1800" b="1" spc="-10" dirty="0">
                <a:solidFill>
                  <a:srgbClr val="3B8C39"/>
                </a:solidFill>
                <a:latin typeface="Calibri"/>
                <a:cs typeface="Calibri"/>
              </a:rPr>
              <a:t>Etudiants</a:t>
            </a:r>
            <a:r>
              <a:rPr sz="1800" b="1" spc="-45" dirty="0">
                <a:solidFill>
                  <a:srgbClr val="3B8C39"/>
                </a:solidFill>
                <a:latin typeface="Calibri"/>
                <a:cs typeface="Calibri"/>
              </a:rPr>
              <a:t> </a:t>
            </a:r>
            <a:r>
              <a:rPr sz="1800" b="1" spc="-10" dirty="0">
                <a:solidFill>
                  <a:srgbClr val="3B8C39"/>
                </a:solidFill>
                <a:latin typeface="Calibri"/>
                <a:cs typeface="Calibri"/>
              </a:rPr>
              <a:t>concernés</a:t>
            </a:r>
            <a:endParaRPr sz="1800" dirty="0">
              <a:latin typeface="Calibri"/>
              <a:cs typeface="Calibri"/>
            </a:endParaRPr>
          </a:p>
          <a:p>
            <a:pPr marL="99695">
              <a:lnSpc>
                <a:spcPct val="100000"/>
              </a:lnSpc>
              <a:spcBef>
                <a:spcPts val="740"/>
              </a:spcBef>
            </a:pPr>
            <a:r>
              <a:rPr sz="1200" b="1" spc="-10" dirty="0">
                <a:solidFill>
                  <a:srgbClr val="FFFFFF"/>
                </a:solidFill>
                <a:latin typeface="Calibri"/>
                <a:cs typeface="Calibri"/>
              </a:rPr>
              <a:t>Faculté/Institut</a:t>
            </a:r>
            <a:endParaRPr sz="1200" dirty="0">
              <a:latin typeface="Calibri"/>
              <a:cs typeface="Calibri"/>
            </a:endParaRPr>
          </a:p>
        </p:txBody>
      </p:sp>
      <p:sp>
        <p:nvSpPr>
          <p:cNvPr id="15" name="object 15"/>
          <p:cNvSpPr txBox="1"/>
          <p:nvPr/>
        </p:nvSpPr>
        <p:spPr>
          <a:xfrm>
            <a:off x="3125787" y="5562536"/>
            <a:ext cx="870585"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FFFFFF"/>
                </a:solidFill>
                <a:latin typeface="Calibri"/>
                <a:cs typeface="Calibri"/>
              </a:rPr>
              <a:t>Département</a:t>
            </a:r>
            <a:endParaRPr sz="1200" dirty="0">
              <a:latin typeface="Calibri"/>
              <a:cs typeface="Calibri"/>
            </a:endParaRPr>
          </a:p>
        </p:txBody>
      </p:sp>
      <p:sp>
        <p:nvSpPr>
          <p:cNvPr id="16" name="object 16"/>
          <p:cNvSpPr txBox="1"/>
          <p:nvPr/>
        </p:nvSpPr>
        <p:spPr>
          <a:xfrm>
            <a:off x="4921250" y="5562536"/>
            <a:ext cx="467359"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FFFFFF"/>
                </a:solidFill>
                <a:latin typeface="Calibri"/>
                <a:cs typeface="Calibri"/>
              </a:rPr>
              <a:t>Niveau</a:t>
            </a:r>
            <a:endParaRPr sz="1200" dirty="0">
              <a:latin typeface="Calibri"/>
              <a:cs typeface="Calibri"/>
            </a:endParaRPr>
          </a:p>
        </p:txBody>
      </p:sp>
      <p:sp>
        <p:nvSpPr>
          <p:cNvPr id="17" name="object 17"/>
          <p:cNvSpPr txBox="1"/>
          <p:nvPr/>
        </p:nvSpPr>
        <p:spPr>
          <a:xfrm>
            <a:off x="5900737" y="5560949"/>
            <a:ext cx="634365"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FFFFFF"/>
                </a:solidFill>
                <a:latin typeface="Calibri"/>
                <a:cs typeface="Calibri"/>
              </a:rPr>
              <a:t>Spécialité</a:t>
            </a:r>
            <a:endParaRPr sz="1200" dirty="0">
              <a:latin typeface="Calibri"/>
              <a:cs typeface="Calibri"/>
            </a:endParaRPr>
          </a:p>
        </p:txBody>
      </p:sp>
      <p:sp>
        <p:nvSpPr>
          <p:cNvPr id="18" name="object 18"/>
          <p:cNvSpPr txBox="1"/>
          <p:nvPr/>
        </p:nvSpPr>
        <p:spPr>
          <a:xfrm>
            <a:off x="4926012" y="5852020"/>
            <a:ext cx="230504" cy="228268"/>
          </a:xfrm>
          <a:prstGeom prst="rect">
            <a:avLst/>
          </a:prstGeom>
        </p:spPr>
        <p:txBody>
          <a:bodyPr vert="horz" wrap="square" lIns="0" tIns="12700" rIns="0" bIns="0" rtlCol="0">
            <a:spAutoFit/>
          </a:bodyPr>
          <a:lstStyle/>
          <a:p>
            <a:pPr marL="12700">
              <a:lnSpc>
                <a:spcPct val="100000"/>
              </a:lnSpc>
              <a:spcBef>
                <a:spcPts val="100"/>
              </a:spcBef>
            </a:pPr>
            <a:r>
              <a:rPr sz="1400" dirty="0">
                <a:latin typeface="Calibri"/>
                <a:cs typeface="Calibri"/>
              </a:rPr>
              <a:t>L</a:t>
            </a:r>
            <a:r>
              <a:rPr sz="1400" spc="-5" dirty="0">
                <a:latin typeface="Calibri"/>
                <a:cs typeface="Calibri"/>
              </a:rPr>
              <a:t> </a:t>
            </a:r>
            <a:r>
              <a:rPr lang="fr-FR" sz="1400" spc="-5" dirty="0">
                <a:latin typeface="Calibri"/>
                <a:cs typeface="Calibri"/>
              </a:rPr>
              <a:t>2</a:t>
            </a:r>
            <a:endParaRPr sz="1400" dirty="0">
              <a:latin typeface="Calibri"/>
              <a:cs typeface="Calibri"/>
            </a:endParaRPr>
          </a:p>
        </p:txBody>
      </p:sp>
      <p:sp>
        <p:nvSpPr>
          <p:cNvPr id="19" name="object 19"/>
          <p:cNvSpPr txBox="1"/>
          <p:nvPr/>
        </p:nvSpPr>
        <p:spPr>
          <a:xfrm>
            <a:off x="5900737" y="5852858"/>
            <a:ext cx="1450954" cy="228268"/>
          </a:xfrm>
          <a:prstGeom prst="rect">
            <a:avLst/>
          </a:prstGeom>
        </p:spPr>
        <p:txBody>
          <a:bodyPr vert="horz" wrap="square" lIns="0" tIns="12700" rIns="0" bIns="0" rtlCol="0">
            <a:spAutoFit/>
          </a:bodyPr>
          <a:lstStyle/>
          <a:p>
            <a:pPr marL="12700">
              <a:lnSpc>
                <a:spcPct val="100000"/>
              </a:lnSpc>
              <a:spcBef>
                <a:spcPts val="100"/>
              </a:spcBef>
            </a:pPr>
            <a:r>
              <a:rPr lang="fr-FR" sz="1400" spc="-5" dirty="0">
                <a:latin typeface="Calibri"/>
                <a:cs typeface="Calibri"/>
              </a:rPr>
              <a:t>Informatique</a:t>
            </a:r>
            <a:endParaRPr sz="1400" dirty="0">
              <a:latin typeface="Calibri"/>
              <a:cs typeface="Calibri"/>
            </a:endParaRPr>
          </a:p>
        </p:txBody>
      </p:sp>
      <p:sp>
        <p:nvSpPr>
          <p:cNvPr id="20" name="object 20"/>
          <p:cNvSpPr txBox="1"/>
          <p:nvPr/>
        </p:nvSpPr>
        <p:spPr>
          <a:xfrm>
            <a:off x="2349517" y="4177328"/>
            <a:ext cx="4276697" cy="356508"/>
          </a:xfrm>
          <a:prstGeom prst="rect">
            <a:avLst/>
          </a:prstGeom>
        </p:spPr>
        <p:txBody>
          <a:bodyPr vert="horz" wrap="square" lIns="0" tIns="48260" rIns="0" bIns="0" rtlCol="0">
            <a:spAutoFit/>
          </a:bodyPr>
          <a:lstStyle/>
          <a:p>
            <a:pPr marL="1905" algn="ctr">
              <a:lnSpc>
                <a:spcPct val="100000"/>
              </a:lnSpc>
              <a:spcBef>
                <a:spcPts val="380"/>
              </a:spcBef>
            </a:pPr>
            <a:r>
              <a:rPr sz="2000" b="1" spc="-60" dirty="0">
                <a:latin typeface="Calibri"/>
                <a:cs typeface="Calibri"/>
              </a:rPr>
              <a:t>Dr.</a:t>
            </a:r>
            <a:r>
              <a:rPr sz="2000" b="1" spc="-35" dirty="0">
                <a:latin typeface="Calibri"/>
                <a:cs typeface="Calibri"/>
              </a:rPr>
              <a:t> </a:t>
            </a:r>
            <a:r>
              <a:rPr lang="fr-FR" sz="2000" b="1" spc="-5" dirty="0">
                <a:latin typeface="Calibri"/>
                <a:cs typeface="Calibri"/>
              </a:rPr>
              <a:t>Djelloul Kheira</a:t>
            </a:r>
          </a:p>
        </p:txBody>
      </p:sp>
      <p:sp>
        <p:nvSpPr>
          <p:cNvPr id="21" name="object 21"/>
          <p:cNvSpPr txBox="1"/>
          <p:nvPr/>
        </p:nvSpPr>
        <p:spPr>
          <a:xfrm>
            <a:off x="549275" y="5844920"/>
            <a:ext cx="1691005" cy="228268"/>
          </a:xfrm>
          <a:prstGeom prst="rect">
            <a:avLst/>
          </a:prstGeom>
        </p:spPr>
        <p:txBody>
          <a:bodyPr vert="horz" wrap="square" lIns="0" tIns="12700" rIns="0" bIns="0" rtlCol="0">
            <a:spAutoFit/>
          </a:bodyPr>
          <a:lstStyle/>
          <a:p>
            <a:pPr marL="12700">
              <a:lnSpc>
                <a:spcPct val="100000"/>
              </a:lnSpc>
              <a:spcBef>
                <a:spcPts val="100"/>
              </a:spcBef>
            </a:pPr>
            <a:r>
              <a:rPr lang="fr-FR" sz="1400" spc="-10" dirty="0">
                <a:latin typeface="Calibri"/>
                <a:cs typeface="Calibri"/>
              </a:rPr>
              <a:t>Science Exactes </a:t>
            </a:r>
            <a:endParaRPr sz="1400" dirty="0">
              <a:latin typeface="Calibri"/>
              <a:cs typeface="Calibri"/>
            </a:endParaRPr>
          </a:p>
        </p:txBody>
      </p:sp>
      <p:sp>
        <p:nvSpPr>
          <p:cNvPr id="22" name="object 22"/>
          <p:cNvSpPr txBox="1"/>
          <p:nvPr/>
        </p:nvSpPr>
        <p:spPr>
          <a:xfrm>
            <a:off x="3133725" y="5852020"/>
            <a:ext cx="22225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Calibri"/>
                <a:cs typeface="Calibri"/>
              </a:rPr>
              <a:t>MI</a:t>
            </a:r>
            <a:endParaRPr sz="1400" dirty="0">
              <a:latin typeface="Calibri"/>
              <a:cs typeface="Calibri"/>
            </a:endParaRPr>
          </a:p>
        </p:txBody>
      </p:sp>
      <p:sp>
        <p:nvSpPr>
          <p:cNvPr id="23" name="object 23"/>
          <p:cNvSpPr txBox="1"/>
          <p:nvPr/>
        </p:nvSpPr>
        <p:spPr>
          <a:xfrm>
            <a:off x="1845338" y="2934703"/>
            <a:ext cx="6308062" cy="764312"/>
          </a:xfrm>
          <a:prstGeom prst="rect">
            <a:avLst/>
          </a:prstGeom>
        </p:spPr>
        <p:txBody>
          <a:bodyPr vert="horz" wrap="square" lIns="0" tIns="12700" rIns="0" bIns="0" rtlCol="0">
            <a:spAutoFit/>
          </a:bodyPr>
          <a:lstStyle/>
          <a:p>
            <a:pPr marL="12700" algn="ctr">
              <a:lnSpc>
                <a:spcPct val="100000"/>
              </a:lnSpc>
              <a:spcBef>
                <a:spcPts val="100"/>
              </a:spcBef>
            </a:pPr>
            <a:endParaRPr lang="fr-FR" sz="2400" b="1" spc="-5" dirty="0">
              <a:solidFill>
                <a:srgbClr val="FFFFFF"/>
              </a:solidFill>
              <a:latin typeface="Calibri"/>
              <a:cs typeface="Calibri"/>
            </a:endParaRPr>
          </a:p>
          <a:p>
            <a:pPr marL="12700" algn="ctr">
              <a:lnSpc>
                <a:spcPct val="100000"/>
              </a:lnSpc>
              <a:spcBef>
                <a:spcPts val="100"/>
              </a:spcBef>
            </a:pPr>
            <a:r>
              <a:rPr lang="fr-FR" sz="2400" b="1" spc="-5" dirty="0" smtClean="0">
                <a:solidFill>
                  <a:srgbClr val="FFFFFF"/>
                </a:solidFill>
                <a:latin typeface="Calibri"/>
                <a:cs typeface="Calibri"/>
              </a:rPr>
              <a:t>Outils d’analyse de l’information  </a:t>
            </a:r>
            <a:endParaRPr lang="fr-FR" sz="2400" b="1" spc="-5" dirty="0">
              <a:solidFill>
                <a:srgbClr val="FFFFFF"/>
              </a:solidFill>
              <a:latin typeface="Calibri"/>
              <a:cs typeface="Calibri"/>
            </a:endParaRPr>
          </a:p>
        </p:txBody>
      </p:sp>
      <p:sp>
        <p:nvSpPr>
          <p:cNvPr id="24" name="object 24"/>
          <p:cNvSpPr txBox="1">
            <a:spLocks noGrp="1"/>
          </p:cNvSpPr>
          <p:nvPr>
            <p:ph type="title"/>
          </p:nvPr>
        </p:nvSpPr>
        <p:spPr>
          <a:xfrm>
            <a:off x="1481475" y="2161874"/>
            <a:ext cx="5995736" cy="536044"/>
          </a:xfrm>
          <a:prstGeom prst="rect">
            <a:avLst/>
          </a:prstGeom>
        </p:spPr>
        <p:txBody>
          <a:bodyPr vert="horz" wrap="square" lIns="0" tIns="12700" rIns="0" bIns="0" rtlCol="0">
            <a:spAutoFit/>
          </a:bodyPr>
          <a:lstStyle/>
          <a:p>
            <a:pPr marL="81915" algn="ctr">
              <a:lnSpc>
                <a:spcPct val="100000"/>
              </a:lnSpc>
              <a:spcBef>
                <a:spcPts val="100"/>
              </a:spcBef>
            </a:pPr>
            <a:r>
              <a:rPr lang="fr-FR" sz="3400" spc="-10" dirty="0">
                <a:solidFill>
                  <a:schemeClr val="tx1"/>
                </a:solidFill>
                <a:latin typeface="+mj-lt"/>
              </a:rPr>
              <a:t>Système d’Information </a:t>
            </a:r>
            <a:endParaRPr sz="3400" spc="-10" dirty="0">
              <a:solidFill>
                <a:schemeClr val="tx1"/>
              </a:solidFill>
              <a:latin typeface="+mj-lt"/>
            </a:endParaRPr>
          </a:p>
        </p:txBody>
      </p:sp>
      <p:sp>
        <p:nvSpPr>
          <p:cNvPr id="2" name="Titre 1">
            <a:extLst>
              <a:ext uri="{FF2B5EF4-FFF2-40B4-BE49-F238E27FC236}">
                <a16:creationId xmlns:a16="http://schemas.microsoft.com/office/drawing/2014/main" id="{B2F0860D-43F6-6382-4D6A-7B0904825D92}"/>
              </a:ext>
            </a:extLst>
          </p:cNvPr>
          <p:cNvSpPr txBox="1">
            <a:spLocks/>
          </p:cNvSpPr>
          <p:nvPr/>
        </p:nvSpPr>
        <p:spPr>
          <a:xfrm>
            <a:off x="1300662" y="162048"/>
            <a:ext cx="6643734" cy="1894362"/>
          </a:xfrm>
          <a:prstGeom prst="rect">
            <a:avLst/>
          </a:prstGeom>
        </p:spPr>
        <p:txBody>
          <a:bodyPr wrap="square" lIns="0" tIns="0" rIns="0" bIns="0">
            <a:normAutofit fontScale="97500"/>
          </a:bodyPr>
          <a:lstStyle>
            <a:lvl1pPr>
              <a:defRPr sz="4000" b="1" i="0">
                <a:solidFill>
                  <a:srgbClr val="696363"/>
                </a:solidFill>
                <a:latin typeface="Arial"/>
                <a:ea typeface="+mj-ea"/>
                <a:cs typeface="Arial"/>
              </a:defRPr>
            </a:lvl1pPr>
          </a:lstStyle>
          <a:p>
            <a:pPr algn="ctr"/>
            <a:r>
              <a:rPr lang="fr-FR" sz="1600" kern="0" dirty="0">
                <a:latin typeface="Times New Roman" panose="02020603050405020304" pitchFamily="18" charset="0"/>
                <a:cs typeface="Times New Roman" pitchFamily="18" charset="0"/>
              </a:rPr>
              <a:t>République algérienne démocratique et populaire Ministère de l’enseignement supérieur et de la recherche scientifique</a:t>
            </a:r>
            <a:br>
              <a:rPr lang="fr-FR" sz="1600" kern="0" dirty="0">
                <a:latin typeface="Times New Roman" panose="02020603050405020304" pitchFamily="18" charset="0"/>
                <a:cs typeface="Times New Roman" pitchFamily="18" charset="0"/>
              </a:rPr>
            </a:br>
            <a:r>
              <a:rPr lang="fr-FR" sz="1600" kern="0" dirty="0">
                <a:latin typeface="Times New Roman" panose="02020603050405020304" pitchFamily="18" charset="0"/>
                <a:cs typeface="Times New Roman" pitchFamily="18" charset="0"/>
              </a:rPr>
              <a:t>universitaire de Tahri Mohamed Béchar </a:t>
            </a:r>
            <a:br>
              <a:rPr lang="fr-FR" sz="1600" kern="0" dirty="0">
                <a:latin typeface="Times New Roman" panose="02020603050405020304" pitchFamily="18" charset="0"/>
                <a:cs typeface="Times New Roman" pitchFamily="18" charset="0"/>
              </a:rPr>
            </a:br>
            <a:r>
              <a:rPr lang="fr-FR" sz="1600" kern="0" dirty="0">
                <a:latin typeface="Times New Roman" panose="02020603050405020304" pitchFamily="18" charset="0"/>
                <a:cs typeface="Times New Roman" pitchFamily="18" charset="0"/>
              </a:rPr>
              <a:t>Faculté des Sciences Exactes </a:t>
            </a:r>
            <a:br>
              <a:rPr lang="fr-FR" sz="1600" kern="0" dirty="0">
                <a:latin typeface="Times New Roman" panose="02020603050405020304" pitchFamily="18" charset="0"/>
                <a:cs typeface="Times New Roman" pitchFamily="18" charset="0"/>
              </a:rPr>
            </a:br>
            <a:r>
              <a:rPr lang="fr-FR" sz="1600" kern="0" dirty="0">
                <a:latin typeface="Times New Roman" panose="02020603050405020304" pitchFamily="18" charset="0"/>
                <a:cs typeface="Times New Roman" pitchFamily="18" charset="0"/>
              </a:rPr>
              <a:t>Département Mathématiques et informatique</a:t>
            </a:r>
            <a:br>
              <a:rPr lang="fr-FR" sz="1600" kern="0" dirty="0">
                <a:latin typeface="Times New Roman" panose="02020603050405020304" pitchFamily="18" charset="0"/>
                <a:cs typeface="Times New Roman" pitchFamily="18" charset="0"/>
              </a:rPr>
            </a:br>
            <a:endParaRPr lang="fr-FR" sz="1600" kern="0" dirty="0">
              <a:latin typeface="Times New Roman" panose="02020603050405020304" pitchFamily="18" charset="0"/>
              <a:cs typeface="Times New Roman" pitchFamily="18" charset="0"/>
            </a:endParaRPr>
          </a:p>
        </p:txBody>
      </p:sp>
      <p:pic>
        <p:nvPicPr>
          <p:cNvPr id="3" name="Image 2">
            <a:extLst>
              <a:ext uri="{FF2B5EF4-FFF2-40B4-BE49-F238E27FC236}">
                <a16:creationId xmlns:a16="http://schemas.microsoft.com/office/drawing/2014/main" id="{79F30AB1-0092-EDB1-5C79-5087FF950227}"/>
              </a:ext>
            </a:extLst>
          </p:cNvPr>
          <p:cNvPicPr>
            <a:picLocks noChangeAspect="1"/>
          </p:cNvPicPr>
          <p:nvPr/>
        </p:nvPicPr>
        <p:blipFill>
          <a:blip r:embed="rId3"/>
          <a:stretch>
            <a:fillRect/>
          </a:stretch>
        </p:blipFill>
        <p:spPr>
          <a:xfrm>
            <a:off x="7484137" y="281869"/>
            <a:ext cx="1533247" cy="1322947"/>
          </a:xfrm>
          <a:prstGeom prst="rect">
            <a:avLst/>
          </a:prstGeom>
        </p:spPr>
      </p:pic>
      <p:pic>
        <p:nvPicPr>
          <p:cNvPr id="5" name="Image 4">
            <a:extLst>
              <a:ext uri="{FF2B5EF4-FFF2-40B4-BE49-F238E27FC236}">
                <a16:creationId xmlns:a16="http://schemas.microsoft.com/office/drawing/2014/main" id="{3CD2F1B5-E013-6539-3F6D-A9B53857A438}"/>
              </a:ext>
            </a:extLst>
          </p:cNvPr>
          <p:cNvPicPr>
            <a:picLocks noChangeAspect="1"/>
          </p:cNvPicPr>
          <p:nvPr/>
        </p:nvPicPr>
        <p:blipFill>
          <a:blip r:embed="rId3"/>
          <a:stretch>
            <a:fillRect/>
          </a:stretch>
        </p:blipFill>
        <p:spPr>
          <a:xfrm>
            <a:off x="381001" y="208856"/>
            <a:ext cx="1371600" cy="1322947"/>
          </a:xfrm>
          <a:prstGeom prst="rect">
            <a:avLst/>
          </a:prstGeom>
        </p:spPr>
      </p:pic>
    </p:spTree>
    <p:extLst>
      <p:ext uri="{BB962C8B-B14F-4D97-AF65-F5344CB8AC3E}">
        <p14:creationId xmlns:p14="http://schemas.microsoft.com/office/powerpoint/2010/main" val="13894092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F25E8C38-C763-425E-A2FD-4028271B63E5}"/>
              </a:ext>
            </a:extLst>
          </p:cNvPr>
          <p:cNvSpPr txBox="1"/>
          <p:nvPr/>
        </p:nvSpPr>
        <p:spPr>
          <a:xfrm>
            <a:off x="246380" y="656525"/>
            <a:ext cx="8458200" cy="1362809"/>
          </a:xfrm>
          <a:prstGeom prst="rect">
            <a:avLst/>
          </a:prstGeom>
          <a:noFill/>
        </p:spPr>
        <p:txBody>
          <a:bodyPr wrap="square">
            <a:spAutoFit/>
          </a:bodyPr>
          <a:lstStyle/>
          <a:p>
            <a:pPr algn="just">
              <a:lnSpc>
                <a:spcPct val="150000"/>
              </a:lnSpc>
            </a:pPr>
            <a:r>
              <a:rPr lang="fr-FR" sz="1900" dirty="0"/>
              <a:t>  L'information est au cœur du système de gestion de l'entreprise, comme elle est au cœur de toute décision à prendre. Être bien informé est souvent un préalable à la réussite.</a:t>
            </a:r>
          </a:p>
        </p:txBody>
      </p:sp>
      <p:sp>
        <p:nvSpPr>
          <p:cNvPr id="7" name="ZoneTexte 6">
            <a:extLst>
              <a:ext uri="{FF2B5EF4-FFF2-40B4-BE49-F238E27FC236}">
                <a16:creationId xmlns:a16="http://schemas.microsoft.com/office/drawing/2014/main" id="{36EFCAED-EEAF-7FCC-0232-E2CAF5068AD7}"/>
              </a:ext>
            </a:extLst>
          </p:cNvPr>
          <p:cNvSpPr txBox="1"/>
          <p:nvPr/>
        </p:nvSpPr>
        <p:spPr>
          <a:xfrm>
            <a:off x="342900" y="2740441"/>
            <a:ext cx="8458200" cy="92422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fr-FR" sz="1900" dirty="0"/>
              <a:t>L’information constitue le support des connaissances et des communications humaines.</a:t>
            </a:r>
          </a:p>
        </p:txBody>
      </p:sp>
      <p:sp>
        <p:nvSpPr>
          <p:cNvPr id="9" name="ZoneTexte 8">
            <a:extLst>
              <a:ext uri="{FF2B5EF4-FFF2-40B4-BE49-F238E27FC236}">
                <a16:creationId xmlns:a16="http://schemas.microsoft.com/office/drawing/2014/main" id="{15DA82AD-AFAB-3242-5C4E-10CFD553F2C3}"/>
              </a:ext>
            </a:extLst>
          </p:cNvPr>
          <p:cNvSpPr txBox="1"/>
          <p:nvPr/>
        </p:nvSpPr>
        <p:spPr>
          <a:xfrm>
            <a:off x="533400" y="2149055"/>
            <a:ext cx="4572000" cy="461665"/>
          </a:xfrm>
          <a:prstGeom prst="rect">
            <a:avLst/>
          </a:prstGeom>
          <a:noFill/>
        </p:spPr>
        <p:txBody>
          <a:bodyPr wrap="square">
            <a:spAutoFit/>
          </a:bodyPr>
          <a:lstStyle/>
          <a:p>
            <a:r>
              <a:rPr lang="fr-FR" sz="2400" b="1" i="1" u="sng" dirty="0">
                <a:solidFill>
                  <a:schemeClr val="accent6">
                    <a:lumMod val="75000"/>
                  </a:schemeClr>
                </a:solidFill>
              </a:rPr>
              <a:t>Définition : </a:t>
            </a:r>
          </a:p>
        </p:txBody>
      </p:sp>
      <p:sp>
        <p:nvSpPr>
          <p:cNvPr id="11" name="ZoneTexte 10">
            <a:extLst>
              <a:ext uri="{FF2B5EF4-FFF2-40B4-BE49-F238E27FC236}">
                <a16:creationId xmlns:a16="http://schemas.microsoft.com/office/drawing/2014/main" id="{21EB3DD8-409D-0838-D371-B4EA203CCD75}"/>
              </a:ext>
            </a:extLst>
          </p:cNvPr>
          <p:cNvSpPr txBox="1"/>
          <p:nvPr/>
        </p:nvSpPr>
        <p:spPr>
          <a:xfrm>
            <a:off x="246380" y="71750"/>
            <a:ext cx="4572000" cy="584775"/>
          </a:xfrm>
          <a:prstGeom prst="rect">
            <a:avLst/>
          </a:prstGeom>
          <a:noFill/>
        </p:spPr>
        <p:txBody>
          <a:bodyPr wrap="square">
            <a:spAutoFit/>
          </a:bodyPr>
          <a:lstStyle/>
          <a:p>
            <a:r>
              <a:rPr lang="fr-FR" sz="3200" b="1" i="1" dirty="0">
                <a:solidFill>
                  <a:srgbClr val="FF0000"/>
                </a:solidFill>
                <a:latin typeface="+mj-lt"/>
              </a:rPr>
              <a:t>L’information</a:t>
            </a:r>
          </a:p>
        </p:txBody>
      </p:sp>
      <p:sp>
        <p:nvSpPr>
          <p:cNvPr id="2" name="ZoneTexte 1">
            <a:extLst>
              <a:ext uri="{FF2B5EF4-FFF2-40B4-BE49-F238E27FC236}">
                <a16:creationId xmlns:a16="http://schemas.microsoft.com/office/drawing/2014/main" id="{F09392F5-A51F-3A19-7D35-FA1C23946737}"/>
              </a:ext>
            </a:extLst>
          </p:cNvPr>
          <p:cNvSpPr txBox="1"/>
          <p:nvPr/>
        </p:nvSpPr>
        <p:spPr>
          <a:xfrm>
            <a:off x="342900" y="3886200"/>
            <a:ext cx="8458200" cy="924227"/>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fr-FR" sz="1900" dirty="0"/>
              <a:t>L'information est un renseignement qui améliore le degré de connaissance du</a:t>
            </a:r>
          </a:p>
          <a:p>
            <a:pPr algn="just">
              <a:lnSpc>
                <a:spcPct val="150000"/>
              </a:lnSpc>
            </a:pPr>
            <a:r>
              <a:rPr lang="fr-FR" sz="1900" dirty="0"/>
              <a:t>phénomène étudié et permet de prendre des décisions efficaces.</a:t>
            </a:r>
          </a:p>
        </p:txBody>
      </p:sp>
      <p:sp>
        <p:nvSpPr>
          <p:cNvPr id="3" name="ZoneTexte 2">
            <a:extLst>
              <a:ext uri="{FF2B5EF4-FFF2-40B4-BE49-F238E27FC236}">
                <a16:creationId xmlns:a16="http://schemas.microsoft.com/office/drawing/2014/main" id="{8ED57C35-79AD-B88C-7E89-FD0A6F0B1418}"/>
              </a:ext>
            </a:extLst>
          </p:cNvPr>
          <p:cNvSpPr txBox="1"/>
          <p:nvPr/>
        </p:nvSpPr>
        <p:spPr>
          <a:xfrm>
            <a:off x="352425" y="5181600"/>
            <a:ext cx="8448675" cy="1061829"/>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fr-FR" dirty="0"/>
              <a:t>L’information est un signe ou un ensemble de signes que l’on peut reconnaitre et qui</a:t>
            </a:r>
          </a:p>
          <a:p>
            <a:pPr algn="just"/>
            <a:r>
              <a:rPr lang="fr-FR" dirty="0"/>
              <a:t>permettent des classements (C’est une représentation du renseignement à  l’aide de symboles).</a:t>
            </a:r>
          </a:p>
        </p:txBody>
      </p:sp>
    </p:spTree>
    <p:extLst>
      <p:ext uri="{BB962C8B-B14F-4D97-AF65-F5344CB8AC3E}">
        <p14:creationId xmlns:p14="http://schemas.microsoft.com/office/powerpoint/2010/main" val="789590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1000"/>
                                        <p:tgtEl>
                                          <p:spTgt spid="2"/>
                                        </p:tgtEl>
                                      </p:cBhvr>
                                    </p:animEffect>
                                    <p:anim calcmode="lin" valueType="num">
                                      <p:cBhvr>
                                        <p:cTn id="29" dur="1000" fill="hold"/>
                                        <p:tgtEl>
                                          <p:spTgt spid="2"/>
                                        </p:tgtEl>
                                        <p:attrNameLst>
                                          <p:attrName>ppt_x</p:attrName>
                                        </p:attrNameLst>
                                      </p:cBhvr>
                                      <p:tavLst>
                                        <p:tav tm="0">
                                          <p:val>
                                            <p:strVal val="#ppt_x"/>
                                          </p:val>
                                        </p:tav>
                                        <p:tav tm="100000">
                                          <p:val>
                                            <p:strVal val="#ppt_x"/>
                                          </p:val>
                                        </p:tav>
                                      </p:tavLst>
                                    </p:anim>
                                    <p:anim calcmode="lin" valueType="num">
                                      <p:cBhvr>
                                        <p:cTn id="3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1000"/>
                                        <p:tgtEl>
                                          <p:spTgt spid="3"/>
                                        </p:tgtEl>
                                      </p:cBhvr>
                                    </p:animEffect>
                                    <p:anim calcmode="lin" valueType="num">
                                      <p:cBhvr>
                                        <p:cTn id="36" dur="1000" fill="hold"/>
                                        <p:tgtEl>
                                          <p:spTgt spid="3"/>
                                        </p:tgtEl>
                                        <p:attrNameLst>
                                          <p:attrName>ppt_x</p:attrName>
                                        </p:attrNameLst>
                                      </p:cBhvr>
                                      <p:tavLst>
                                        <p:tav tm="0">
                                          <p:val>
                                            <p:strVal val="#ppt_x"/>
                                          </p:val>
                                        </p:tav>
                                        <p:tav tm="100000">
                                          <p:val>
                                            <p:strVal val="#ppt_x"/>
                                          </p:val>
                                        </p:tav>
                                      </p:tavLst>
                                    </p:anim>
                                    <p:anim calcmode="lin" valueType="num">
                                      <p:cBhvr>
                                        <p:cTn id="37"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2"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xfrm>
            <a:off x="198344" y="5610879"/>
            <a:ext cx="245433" cy="179536"/>
          </a:xfrm>
          <a:prstGeom prst="rect">
            <a:avLst/>
          </a:prstGeom>
        </p:spPr>
        <p:txBody>
          <a:bodyPr vert="horz" wrap="square" lIns="0" tIns="0" rIns="0" bIns="0" rtlCol="0">
            <a:spAutoFit/>
          </a:bodyPr>
          <a:lstStyle/>
          <a:p>
            <a:pPr marL="33665">
              <a:lnSpc>
                <a:spcPts val="1380"/>
              </a:lnSpc>
            </a:pPr>
            <a:fld id="{81D60167-4931-47E6-BA6A-407CBD079E47}" type="slidenum">
              <a:rPr spc="-4" dirty="0"/>
              <a:pPr marL="33665">
                <a:lnSpc>
                  <a:spcPts val="1380"/>
                </a:lnSpc>
              </a:pPr>
              <a:t>3</a:t>
            </a:fld>
            <a:endParaRPr spc="-4" dirty="0"/>
          </a:p>
        </p:txBody>
      </p:sp>
      <p:sp>
        <p:nvSpPr>
          <p:cNvPr id="7" name="ZoneTexte 6">
            <a:extLst>
              <a:ext uri="{FF2B5EF4-FFF2-40B4-BE49-F238E27FC236}">
                <a16:creationId xmlns:a16="http://schemas.microsoft.com/office/drawing/2014/main" id="{625B9FA7-EB7D-EBC8-4811-B4DAF171C75C}"/>
              </a:ext>
            </a:extLst>
          </p:cNvPr>
          <p:cNvSpPr txBox="1"/>
          <p:nvPr/>
        </p:nvSpPr>
        <p:spPr>
          <a:xfrm>
            <a:off x="198344" y="168217"/>
            <a:ext cx="5364256" cy="430887"/>
          </a:xfrm>
          <a:prstGeom prst="rect">
            <a:avLst/>
          </a:prstGeom>
          <a:noFill/>
        </p:spPr>
        <p:txBody>
          <a:bodyPr wrap="square">
            <a:spAutoFit/>
          </a:bodyPr>
          <a:lstStyle/>
          <a:p>
            <a:pPr algn="l"/>
            <a:r>
              <a:rPr lang="fr-FR" sz="2200" b="1" i="0" u="none" strike="noStrike" baseline="0" dirty="0">
                <a:solidFill>
                  <a:schemeClr val="accent6">
                    <a:lumMod val="50000"/>
                  </a:schemeClr>
                </a:solidFill>
                <a:latin typeface="+mj-lt"/>
              </a:rPr>
              <a:t>3. Les caractéristiques de l'information</a:t>
            </a:r>
          </a:p>
        </p:txBody>
      </p:sp>
      <p:sp>
        <p:nvSpPr>
          <p:cNvPr id="16" name="ZoneTexte 15">
            <a:extLst>
              <a:ext uri="{FF2B5EF4-FFF2-40B4-BE49-F238E27FC236}">
                <a16:creationId xmlns:a16="http://schemas.microsoft.com/office/drawing/2014/main" id="{66DB3265-DBB8-9F63-CF0B-C1BAE5AEAF9D}"/>
              </a:ext>
            </a:extLst>
          </p:cNvPr>
          <p:cNvSpPr txBox="1"/>
          <p:nvPr/>
        </p:nvSpPr>
        <p:spPr>
          <a:xfrm>
            <a:off x="424727" y="625415"/>
            <a:ext cx="8414473" cy="1295868"/>
          </a:xfrm>
          <a:prstGeom prst="rect">
            <a:avLst/>
          </a:prstGeom>
          <a:noFill/>
        </p:spPr>
        <p:txBody>
          <a:bodyPr wrap="square">
            <a:spAutoFit/>
          </a:bodyPr>
          <a:lstStyle/>
          <a:p>
            <a:pPr algn="just">
              <a:lnSpc>
                <a:spcPct val="150000"/>
              </a:lnSpc>
            </a:pPr>
            <a:r>
              <a:rPr lang="fr-FR" b="1" i="1" dirty="0">
                <a:latin typeface="+mj-lt"/>
              </a:rPr>
              <a:t>1)  Le coût de l'information</a:t>
            </a:r>
          </a:p>
          <a:p>
            <a:pPr algn="just">
              <a:lnSpc>
                <a:spcPct val="150000"/>
              </a:lnSpc>
            </a:pPr>
            <a:r>
              <a:rPr lang="fr-FR" dirty="0">
                <a:latin typeface="+mj-lt"/>
              </a:rPr>
              <a:t>Le coût d'une information correspond à l'ensemble des sommes engagées par l'entreprise pour sa recherche, son traitement, son stockage et même sa destruction.</a:t>
            </a:r>
          </a:p>
        </p:txBody>
      </p:sp>
      <p:sp>
        <p:nvSpPr>
          <p:cNvPr id="3" name="ZoneTexte 2">
            <a:extLst>
              <a:ext uri="{FF2B5EF4-FFF2-40B4-BE49-F238E27FC236}">
                <a16:creationId xmlns:a16="http://schemas.microsoft.com/office/drawing/2014/main" id="{51DEF86D-A086-7CBD-0EAF-BF1FB85F70E6}"/>
              </a:ext>
            </a:extLst>
          </p:cNvPr>
          <p:cNvSpPr txBox="1"/>
          <p:nvPr/>
        </p:nvSpPr>
        <p:spPr>
          <a:xfrm>
            <a:off x="359159" y="2133600"/>
            <a:ext cx="8414473" cy="4524315"/>
          </a:xfrm>
          <a:prstGeom prst="rect">
            <a:avLst/>
          </a:prstGeom>
          <a:noFill/>
        </p:spPr>
        <p:txBody>
          <a:bodyPr wrap="square">
            <a:spAutoFit/>
          </a:bodyPr>
          <a:lstStyle/>
          <a:p>
            <a:pPr algn="just">
              <a:lnSpc>
                <a:spcPct val="150000"/>
              </a:lnSpc>
            </a:pPr>
            <a:r>
              <a:rPr lang="fr-FR" b="0" i="0" dirty="0">
                <a:solidFill>
                  <a:srgbClr val="000000"/>
                </a:solidFill>
                <a:effectLst/>
                <a:latin typeface="-apple-system"/>
              </a:rPr>
              <a:t>  </a:t>
            </a:r>
            <a:r>
              <a:rPr lang="fr-FR" b="1" i="1" dirty="0">
                <a:solidFill>
                  <a:srgbClr val="000000"/>
                </a:solidFill>
                <a:effectLst/>
                <a:latin typeface="-apple-system"/>
              </a:rPr>
              <a:t>2) Pertinence</a:t>
            </a:r>
            <a:endParaRPr lang="fr-FR" b="1" i="1" dirty="0">
              <a:solidFill>
                <a:srgbClr val="000000"/>
              </a:solidFill>
              <a:latin typeface="-apple-system"/>
            </a:endParaRPr>
          </a:p>
          <a:p>
            <a:pPr algn="just">
              <a:lnSpc>
                <a:spcPct val="150000"/>
              </a:lnSpc>
            </a:pPr>
            <a:r>
              <a:rPr lang="fr-FR" b="0" i="0" dirty="0">
                <a:solidFill>
                  <a:srgbClr val="000000"/>
                </a:solidFill>
                <a:effectLst/>
                <a:latin typeface="-apple-system"/>
              </a:rPr>
              <a:t>       Elle doit être directement liée au sujet ou au problème en question.</a:t>
            </a:r>
          </a:p>
          <a:p>
            <a:pPr algn="just"/>
            <a:endParaRPr lang="fr-FR" b="0" i="0" dirty="0">
              <a:solidFill>
                <a:srgbClr val="000000"/>
              </a:solidFill>
              <a:effectLst/>
              <a:latin typeface="-apple-system"/>
            </a:endParaRPr>
          </a:p>
          <a:p>
            <a:pPr algn="just">
              <a:lnSpc>
                <a:spcPct val="150000"/>
              </a:lnSpc>
            </a:pPr>
            <a:r>
              <a:rPr lang="fr-FR" b="1" i="1" dirty="0">
                <a:solidFill>
                  <a:srgbClr val="000000"/>
                </a:solidFill>
                <a:latin typeface="-apple-system"/>
              </a:rPr>
              <a:t>3)  </a:t>
            </a:r>
            <a:r>
              <a:rPr lang="fr-FR" b="1" i="1" dirty="0">
                <a:solidFill>
                  <a:srgbClr val="000000"/>
                </a:solidFill>
                <a:effectLst/>
                <a:latin typeface="-apple-system"/>
              </a:rPr>
              <a:t>Exactitude</a:t>
            </a:r>
          </a:p>
          <a:p>
            <a:pPr algn="just">
              <a:lnSpc>
                <a:spcPct val="150000"/>
              </a:lnSpc>
            </a:pPr>
            <a:r>
              <a:rPr lang="fr-FR" b="0" i="0" dirty="0">
                <a:solidFill>
                  <a:srgbClr val="000000"/>
                </a:solidFill>
                <a:effectLst/>
                <a:latin typeface="-apple-system"/>
              </a:rPr>
              <a:t> L'information doit être précise et correcte. L'exactitude de l'information est essentielle pour prendre des décisions éclairées.</a:t>
            </a:r>
          </a:p>
          <a:p>
            <a:pPr algn="just"/>
            <a:endParaRPr lang="fr-FR" dirty="0">
              <a:solidFill>
                <a:srgbClr val="000000"/>
              </a:solidFill>
              <a:latin typeface="-apple-system"/>
            </a:endParaRPr>
          </a:p>
          <a:p>
            <a:pPr algn="just">
              <a:lnSpc>
                <a:spcPct val="150000"/>
              </a:lnSpc>
            </a:pPr>
            <a:r>
              <a:rPr lang="fr-FR" b="1" i="1" dirty="0">
                <a:solidFill>
                  <a:srgbClr val="000000"/>
                </a:solidFill>
                <a:effectLst/>
                <a:latin typeface="-apple-system"/>
              </a:rPr>
              <a:t>4)  Fiabilité </a:t>
            </a:r>
            <a:endParaRPr lang="fr-FR" b="0" i="0" dirty="0">
              <a:solidFill>
                <a:srgbClr val="000000"/>
              </a:solidFill>
              <a:effectLst/>
              <a:latin typeface="-apple-system"/>
            </a:endParaRPr>
          </a:p>
          <a:p>
            <a:pPr algn="just">
              <a:lnSpc>
                <a:spcPct val="150000"/>
              </a:lnSpc>
            </a:pPr>
            <a:r>
              <a:rPr lang="fr-FR" b="0" i="0" dirty="0">
                <a:solidFill>
                  <a:srgbClr val="000000"/>
                </a:solidFill>
                <a:effectLst/>
                <a:latin typeface="-apple-system"/>
              </a:rPr>
              <a:t>L'information doit provenir de sources fiables et crédibles. Il est important de vérifier la crédibilité des sources pour s'assurer que l'information est fiable.</a:t>
            </a:r>
          </a:p>
          <a:p>
            <a:pPr algn="just"/>
            <a:endParaRPr lang="fr-FR" b="0" i="0" dirty="0">
              <a:solidFill>
                <a:srgbClr val="000000"/>
              </a:solidFill>
              <a:effectLst/>
              <a:latin typeface="-apple-system"/>
            </a:endParaRPr>
          </a:p>
          <a:p>
            <a:pPr algn="just"/>
            <a:endParaRPr lang="fr-FR" b="0" i="0" dirty="0">
              <a:solidFill>
                <a:srgbClr val="000000"/>
              </a:solidFill>
              <a:effectLst/>
              <a:latin typeface="-apple-system"/>
            </a:endParaRPr>
          </a:p>
        </p:txBody>
      </p:sp>
    </p:spTree>
    <p:extLst>
      <p:ext uri="{BB962C8B-B14F-4D97-AF65-F5344CB8AC3E}">
        <p14:creationId xmlns:p14="http://schemas.microsoft.com/office/powerpoint/2010/main" val="2749064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1000"/>
                                        <p:tgtEl>
                                          <p:spTgt spid="3">
                                            <p:txEl>
                                              <p:pRg st="6" end="6"/>
                                            </p:txEl>
                                          </p:spTgt>
                                        </p:tgtEl>
                                      </p:cBhvr>
                                    </p:animEffect>
                                    <p:anim calcmode="lin" valueType="num">
                                      <p:cBhvr>
                                        <p:cTn id="3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Effect transition="in" filter="fade">
                                      <p:cBhvr>
                                        <p:cTn id="43" dur="1000"/>
                                        <p:tgtEl>
                                          <p:spTgt spid="3">
                                            <p:txEl>
                                              <p:pRg st="7" end="7"/>
                                            </p:txEl>
                                          </p:spTgt>
                                        </p:tgtEl>
                                      </p:cBhvr>
                                    </p:animEffect>
                                    <p:anim calcmode="lin" valueType="num">
                                      <p:cBhvr>
                                        <p:cTn id="44"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B3A62CDA-14B6-A5CD-737C-35950EBCCC0A}"/>
              </a:ext>
            </a:extLst>
          </p:cNvPr>
          <p:cNvSpPr txBox="1"/>
          <p:nvPr/>
        </p:nvSpPr>
        <p:spPr>
          <a:xfrm>
            <a:off x="457200" y="533400"/>
            <a:ext cx="8305800" cy="5450851"/>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tabLst/>
              <a:defRPr/>
            </a:pPr>
            <a:r>
              <a:rPr kumimoji="0" lang="fr-FR" sz="1800" b="1" i="1" u="none" strike="noStrike" kern="1200" cap="none" spc="0" normalizeH="0" baseline="0" noProof="0" dirty="0">
                <a:ln>
                  <a:noFill/>
                </a:ln>
                <a:solidFill>
                  <a:srgbClr val="000000"/>
                </a:solidFill>
                <a:effectLst/>
                <a:uLnTx/>
                <a:uFillTx/>
                <a:latin typeface="-apple-system"/>
                <a:ea typeface="+mn-ea"/>
                <a:cs typeface="+mn-cs"/>
              </a:rPr>
              <a:t>5)  Complétude </a:t>
            </a:r>
          </a:p>
          <a:p>
            <a:pPr marL="0" marR="0" lvl="0" indent="0" algn="just" defTabSz="914400" rtl="0" eaLnBrk="1" fontAlgn="auto" latinLnBrk="0" hangingPunct="1">
              <a:lnSpc>
                <a:spcPct val="150000"/>
              </a:lnSpc>
              <a:spcBef>
                <a:spcPts val="0"/>
              </a:spcBef>
              <a:spcAft>
                <a:spcPts val="0"/>
              </a:spcAft>
              <a:buClrTx/>
              <a:buSzTx/>
              <a:tabLst/>
              <a:defRPr/>
            </a:pPr>
            <a:r>
              <a:rPr kumimoji="0" lang="fr-FR" sz="1800" b="0" i="0" u="none" strike="noStrike" kern="1200" cap="none" spc="0" normalizeH="0" baseline="0" noProof="0" dirty="0">
                <a:ln>
                  <a:noFill/>
                </a:ln>
                <a:solidFill>
                  <a:srgbClr val="000000"/>
                </a:solidFill>
                <a:effectLst/>
                <a:uLnTx/>
                <a:uFillTx/>
                <a:latin typeface="-apple-system"/>
                <a:ea typeface="+mn-ea"/>
                <a:cs typeface="+mn-cs"/>
              </a:rPr>
              <a:t>L'information doit être complète et fournir tous les détails nécessaires pour répondre à une question ou pour comprendre un sujet donné. </a:t>
            </a:r>
          </a:p>
          <a:p>
            <a:pPr marL="0" marR="0" lvl="0" indent="0" algn="just" defTabSz="914400" rtl="0" eaLnBrk="1" fontAlgn="auto" latinLnBrk="0" hangingPunct="1">
              <a:lnSpc>
                <a:spcPct val="150000"/>
              </a:lnSpc>
              <a:spcBef>
                <a:spcPts val="0"/>
              </a:spcBef>
              <a:spcAft>
                <a:spcPts val="0"/>
              </a:spcAft>
              <a:buClrTx/>
              <a:buSzTx/>
              <a:tabLst/>
              <a:defRPr/>
            </a:pPr>
            <a:endParaRPr lang="fr-FR" dirty="0">
              <a:solidFill>
                <a:srgbClr val="000000"/>
              </a:solidFill>
              <a:latin typeface="-apple-system"/>
            </a:endParaRPr>
          </a:p>
          <a:p>
            <a:pPr marL="0" marR="0" lvl="0" indent="0" algn="just" defTabSz="914400" rtl="0" eaLnBrk="1" fontAlgn="auto" latinLnBrk="0" hangingPunct="1">
              <a:lnSpc>
                <a:spcPct val="150000"/>
              </a:lnSpc>
              <a:spcBef>
                <a:spcPts val="0"/>
              </a:spcBef>
              <a:spcAft>
                <a:spcPts val="0"/>
              </a:spcAft>
              <a:buClrTx/>
              <a:buSzTx/>
              <a:tabLst/>
              <a:defRPr/>
            </a:pPr>
            <a:r>
              <a:rPr kumimoji="0" lang="fr-FR" sz="1800" b="1" i="1" u="none" strike="noStrike" kern="1200" cap="none" spc="0" normalizeH="0" baseline="0" noProof="0" dirty="0">
                <a:ln>
                  <a:noFill/>
                </a:ln>
                <a:solidFill>
                  <a:srgbClr val="000000"/>
                </a:solidFill>
                <a:effectLst/>
                <a:uLnTx/>
                <a:uFillTx/>
                <a:latin typeface="-apple-system"/>
                <a:ea typeface="+mn-ea"/>
                <a:cs typeface="+mn-cs"/>
              </a:rPr>
              <a:t>6) Actualité </a:t>
            </a:r>
          </a:p>
          <a:p>
            <a:pPr marL="0" marR="0" lvl="0" indent="0" algn="just" defTabSz="914400" rtl="0" eaLnBrk="1" fontAlgn="auto" latinLnBrk="0" hangingPunct="1">
              <a:lnSpc>
                <a:spcPct val="150000"/>
              </a:lnSpc>
              <a:spcBef>
                <a:spcPts val="0"/>
              </a:spcBef>
              <a:spcAft>
                <a:spcPts val="0"/>
              </a:spcAft>
              <a:buClrTx/>
              <a:buSzTx/>
              <a:tabLst/>
              <a:defRPr/>
            </a:pPr>
            <a:r>
              <a:rPr kumimoji="0" lang="fr-FR" sz="1800" b="0" i="0" u="none" strike="noStrike" kern="1200" cap="none" spc="0" normalizeH="0" baseline="0" noProof="0" dirty="0">
                <a:ln>
                  <a:noFill/>
                </a:ln>
                <a:solidFill>
                  <a:srgbClr val="000000"/>
                </a:solidFill>
                <a:effectLst/>
                <a:uLnTx/>
                <a:uFillTx/>
                <a:latin typeface="-apple-system"/>
                <a:ea typeface="+mn-ea"/>
                <a:cs typeface="+mn-cs"/>
              </a:rPr>
              <a:t>L'information doit être à jour et basée sur les connaissances les plus récentes disponibles. Les informations obsolètes peuvent ne plus être pertinentes ou exactes, surtout dans des domaines en constante évolution comme la science, la technologie ou l'économie.</a:t>
            </a:r>
          </a:p>
          <a:p>
            <a:pPr marL="0" marR="0" lvl="0" indent="0" algn="just" defTabSz="914400" rtl="0" eaLnBrk="1" fontAlgn="auto" latinLnBrk="0" hangingPunct="1">
              <a:lnSpc>
                <a:spcPct val="150000"/>
              </a:lnSpc>
              <a:spcBef>
                <a:spcPts val="0"/>
              </a:spcBef>
              <a:spcAft>
                <a:spcPts val="0"/>
              </a:spcAft>
              <a:buClrTx/>
              <a:buSzTx/>
              <a:tabLst/>
              <a:defRPr/>
            </a:pPr>
            <a:endParaRPr kumimoji="0" lang="fr-FR" sz="1800" b="0" i="0" u="none" strike="noStrike" kern="1200" cap="none" spc="0" normalizeH="0" baseline="0" noProof="0" dirty="0">
              <a:ln>
                <a:noFill/>
              </a:ln>
              <a:solidFill>
                <a:srgbClr val="000000"/>
              </a:solidFill>
              <a:effectLst/>
              <a:uLnTx/>
              <a:uFillTx/>
              <a:latin typeface="-apple-system"/>
              <a:ea typeface="+mn-ea"/>
              <a:cs typeface="+mn-cs"/>
            </a:endParaRPr>
          </a:p>
          <a:p>
            <a:pPr marL="0" marR="0" lvl="0" indent="0" algn="just" defTabSz="914400" rtl="0" eaLnBrk="1" fontAlgn="auto" latinLnBrk="0" hangingPunct="1">
              <a:lnSpc>
                <a:spcPct val="150000"/>
              </a:lnSpc>
              <a:spcBef>
                <a:spcPts val="0"/>
              </a:spcBef>
              <a:spcAft>
                <a:spcPts val="0"/>
              </a:spcAft>
              <a:buClrTx/>
              <a:buSzTx/>
              <a:tabLst/>
              <a:defRPr/>
            </a:pPr>
            <a:r>
              <a:rPr kumimoji="0" lang="fr-FR" sz="1800" b="1" i="1" u="none" strike="noStrike" kern="1200" cap="none" spc="0" normalizeH="0" baseline="0" noProof="0" dirty="0">
                <a:ln>
                  <a:noFill/>
                </a:ln>
                <a:solidFill>
                  <a:srgbClr val="000000"/>
                </a:solidFill>
                <a:effectLst/>
                <a:uLnTx/>
                <a:uFillTx/>
                <a:latin typeface="-apple-system"/>
                <a:ea typeface="+mn-ea"/>
                <a:cs typeface="+mn-cs"/>
              </a:rPr>
              <a:t>7) Objectivité </a:t>
            </a:r>
          </a:p>
          <a:p>
            <a:pPr marL="0" marR="0" lvl="0" indent="0" algn="just" defTabSz="914400" rtl="0" eaLnBrk="1" fontAlgn="auto" latinLnBrk="0" hangingPunct="1">
              <a:lnSpc>
                <a:spcPct val="150000"/>
              </a:lnSpc>
              <a:spcBef>
                <a:spcPts val="0"/>
              </a:spcBef>
              <a:spcAft>
                <a:spcPts val="0"/>
              </a:spcAft>
              <a:buClrTx/>
              <a:buSzTx/>
              <a:tabLst/>
              <a:defRPr/>
            </a:pPr>
            <a:r>
              <a:rPr kumimoji="0" lang="fr-FR" sz="1800" b="0" i="0" u="none" strike="noStrike" kern="1200" cap="none" spc="0" normalizeH="0" baseline="0" noProof="0" dirty="0">
                <a:ln>
                  <a:noFill/>
                </a:ln>
                <a:solidFill>
                  <a:srgbClr val="000000"/>
                </a:solidFill>
                <a:effectLst/>
                <a:uLnTx/>
                <a:uFillTx/>
                <a:latin typeface="-apple-system"/>
                <a:ea typeface="+mn-ea"/>
                <a:cs typeface="+mn-cs"/>
              </a:rPr>
              <a:t> L'information doit être impartiale et objective, sans partialité ni biais. Elle doit présenter les faits de manière neutre, sans favoriser un point de vue particulier.</a:t>
            </a:r>
          </a:p>
        </p:txBody>
      </p:sp>
    </p:spTree>
    <p:extLst>
      <p:ext uri="{BB962C8B-B14F-4D97-AF65-F5344CB8AC3E}">
        <p14:creationId xmlns:p14="http://schemas.microsoft.com/office/powerpoint/2010/main" val="305531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1000"/>
                                        <p:tgtEl>
                                          <p:spTgt spid="7">
                                            <p:txEl>
                                              <p:pRg st="1" end="1"/>
                                            </p:txEl>
                                          </p:spTgt>
                                        </p:tgtEl>
                                      </p:cBhvr>
                                    </p:animEffect>
                                    <p:anim calcmode="lin" valueType="num">
                                      <p:cBhvr>
                                        <p:cTn id="1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Effect transition="in" filter="fade">
                                      <p:cBhvr>
                                        <p:cTn id="19" dur="1000"/>
                                        <p:tgtEl>
                                          <p:spTgt spid="7">
                                            <p:txEl>
                                              <p:pRg st="3" end="3"/>
                                            </p:txEl>
                                          </p:spTgt>
                                        </p:tgtEl>
                                      </p:cBhvr>
                                    </p:animEffect>
                                    <p:anim calcmode="lin" valueType="num">
                                      <p:cBhvr>
                                        <p:cTn id="2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7">
                                            <p:txEl>
                                              <p:pRg st="4" end="4"/>
                                            </p:txEl>
                                          </p:spTgt>
                                        </p:tgtEl>
                                        <p:attrNameLst>
                                          <p:attrName>style.visibility</p:attrName>
                                        </p:attrNameLst>
                                      </p:cBhvr>
                                      <p:to>
                                        <p:strVal val="visible"/>
                                      </p:to>
                                    </p:set>
                                    <p:animEffect transition="in" filter="fade">
                                      <p:cBhvr>
                                        <p:cTn id="24" dur="1000"/>
                                        <p:tgtEl>
                                          <p:spTgt spid="7">
                                            <p:txEl>
                                              <p:pRg st="4" end="4"/>
                                            </p:txEl>
                                          </p:spTgt>
                                        </p:tgtEl>
                                      </p:cBhvr>
                                    </p:animEffect>
                                    <p:anim calcmode="lin" valueType="num">
                                      <p:cBhvr>
                                        <p:cTn id="2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animEffect transition="in" filter="fade">
                                      <p:cBhvr>
                                        <p:cTn id="31" dur="1000"/>
                                        <p:tgtEl>
                                          <p:spTgt spid="7">
                                            <p:txEl>
                                              <p:pRg st="6" end="6"/>
                                            </p:txEl>
                                          </p:spTgt>
                                        </p:tgtEl>
                                      </p:cBhvr>
                                    </p:animEffect>
                                    <p:anim calcmode="lin" valueType="num">
                                      <p:cBhvr>
                                        <p:cTn id="32"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7">
                                            <p:txEl>
                                              <p:pRg st="6" end="6"/>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7">
                                            <p:txEl>
                                              <p:pRg st="7" end="7"/>
                                            </p:txEl>
                                          </p:spTgt>
                                        </p:tgtEl>
                                        <p:attrNameLst>
                                          <p:attrName>style.visibility</p:attrName>
                                        </p:attrNameLst>
                                      </p:cBhvr>
                                      <p:to>
                                        <p:strVal val="visible"/>
                                      </p:to>
                                    </p:set>
                                    <p:animEffect transition="in" filter="fade">
                                      <p:cBhvr>
                                        <p:cTn id="36" dur="1000"/>
                                        <p:tgtEl>
                                          <p:spTgt spid="7">
                                            <p:txEl>
                                              <p:pRg st="7" end="7"/>
                                            </p:txEl>
                                          </p:spTgt>
                                        </p:tgtEl>
                                      </p:cBhvr>
                                    </p:animEffect>
                                    <p:anim calcmode="lin" valueType="num">
                                      <p:cBhvr>
                                        <p:cTn id="37"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38"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xfrm>
            <a:off x="198344" y="5610879"/>
            <a:ext cx="245433" cy="179536"/>
          </a:xfrm>
          <a:prstGeom prst="rect">
            <a:avLst/>
          </a:prstGeom>
        </p:spPr>
        <p:txBody>
          <a:bodyPr vert="horz" wrap="square" lIns="0" tIns="0" rIns="0" bIns="0" rtlCol="0">
            <a:spAutoFit/>
          </a:bodyPr>
          <a:lstStyle/>
          <a:p>
            <a:pPr marL="33665">
              <a:lnSpc>
                <a:spcPts val="1380"/>
              </a:lnSpc>
            </a:pPr>
            <a:fld id="{81D60167-4931-47E6-BA6A-407CBD079E47}" type="slidenum">
              <a:rPr spc="-4" dirty="0"/>
              <a:pPr marL="33665">
                <a:lnSpc>
                  <a:spcPts val="1380"/>
                </a:lnSpc>
              </a:pPr>
              <a:t>5</a:t>
            </a:fld>
            <a:endParaRPr spc="-4" dirty="0"/>
          </a:p>
        </p:txBody>
      </p:sp>
      <p:sp>
        <p:nvSpPr>
          <p:cNvPr id="3" name="ZoneTexte 2">
            <a:extLst>
              <a:ext uri="{FF2B5EF4-FFF2-40B4-BE49-F238E27FC236}">
                <a16:creationId xmlns:a16="http://schemas.microsoft.com/office/drawing/2014/main" id="{BD3596C4-8CB2-5F7A-2A99-6A0774FD13E9}"/>
              </a:ext>
            </a:extLst>
          </p:cNvPr>
          <p:cNvSpPr txBox="1"/>
          <p:nvPr/>
        </p:nvSpPr>
        <p:spPr>
          <a:xfrm>
            <a:off x="198344" y="304800"/>
            <a:ext cx="7726456" cy="584775"/>
          </a:xfrm>
          <a:prstGeom prst="rect">
            <a:avLst/>
          </a:prstGeom>
          <a:noFill/>
        </p:spPr>
        <p:txBody>
          <a:bodyPr wrap="square">
            <a:spAutoFit/>
          </a:bodyPr>
          <a:lstStyle/>
          <a:p>
            <a:r>
              <a:rPr lang="fr-FR" sz="3200" b="1" i="1" dirty="0">
                <a:solidFill>
                  <a:srgbClr val="FF0000"/>
                </a:solidFill>
                <a:latin typeface="+mj-lt"/>
              </a:rPr>
              <a:t>Les principaux rôles de l'information</a:t>
            </a:r>
          </a:p>
        </p:txBody>
      </p:sp>
      <p:sp>
        <p:nvSpPr>
          <p:cNvPr id="5" name="ZoneTexte 4">
            <a:extLst>
              <a:ext uri="{FF2B5EF4-FFF2-40B4-BE49-F238E27FC236}">
                <a16:creationId xmlns:a16="http://schemas.microsoft.com/office/drawing/2014/main" id="{D839D00D-D959-EF67-EB71-2184006C2A21}"/>
              </a:ext>
            </a:extLst>
          </p:cNvPr>
          <p:cNvSpPr txBox="1"/>
          <p:nvPr/>
        </p:nvSpPr>
        <p:spPr>
          <a:xfrm>
            <a:off x="311535" y="1067585"/>
            <a:ext cx="8288967" cy="3994299"/>
          </a:xfrm>
          <a:prstGeom prst="rect">
            <a:avLst/>
          </a:prstGeom>
          <a:noFill/>
        </p:spPr>
        <p:txBody>
          <a:bodyPr wrap="square">
            <a:spAutoFit/>
          </a:bodyPr>
          <a:lstStyle/>
          <a:p>
            <a:pPr marL="342900" indent="-342900" algn="just">
              <a:lnSpc>
                <a:spcPct val="150000"/>
              </a:lnSpc>
              <a:buFont typeface="+mj-lt"/>
              <a:buAutoNum type="arabicParenR"/>
            </a:pPr>
            <a:r>
              <a:rPr lang="fr-FR" sz="1900" b="1" i="0" u="none" strike="noStrike" baseline="0" dirty="0">
                <a:latin typeface="+mj-lt"/>
              </a:rPr>
              <a:t>Support des processus de gestion : </a:t>
            </a:r>
            <a:r>
              <a:rPr lang="fr-FR" sz="1900" b="1" dirty="0">
                <a:latin typeface="+mj-lt"/>
              </a:rPr>
              <a:t> </a:t>
            </a:r>
            <a:r>
              <a:rPr lang="fr-FR" sz="1900" b="0" i="0" u="none" strike="noStrike" baseline="0" dirty="0">
                <a:latin typeface="+mj-lt"/>
              </a:rPr>
              <a:t>Traitement des commandes, tenue d'une comptabilité, programmation d'une action, ... Nécessitent que l'on dispose d'informations.</a:t>
            </a:r>
          </a:p>
          <a:p>
            <a:pPr marL="342900" indent="-342900" algn="just">
              <a:lnSpc>
                <a:spcPct val="150000"/>
              </a:lnSpc>
              <a:buFont typeface="+mj-lt"/>
              <a:buAutoNum type="arabicParenR"/>
            </a:pPr>
            <a:r>
              <a:rPr lang="fr-FR" sz="1900" b="1" i="0" u="none" strike="noStrike" baseline="0" dirty="0">
                <a:latin typeface="+mj-lt"/>
              </a:rPr>
              <a:t>Outil de communication</a:t>
            </a:r>
          </a:p>
          <a:p>
            <a:pPr marL="742950" lvl="1" indent="-285750" algn="just">
              <a:lnSpc>
                <a:spcPct val="150000"/>
              </a:lnSpc>
              <a:buFont typeface="Wingdings" panose="05000000000000000000" pitchFamily="2" charset="2"/>
              <a:buChar char="§"/>
            </a:pPr>
            <a:r>
              <a:rPr lang="fr-FR" sz="1900" b="0" i="0" u="none" strike="noStrike" baseline="0" dirty="0">
                <a:latin typeface="+mj-lt"/>
              </a:rPr>
              <a:t>L'échange d'informations est nécessaire pour la réalisation de nombreuses activités.</a:t>
            </a:r>
          </a:p>
          <a:p>
            <a:pPr marL="742950" lvl="1" indent="-285750" algn="just">
              <a:lnSpc>
                <a:spcPct val="150000"/>
              </a:lnSpc>
              <a:buFont typeface="Wingdings" panose="05000000000000000000" pitchFamily="2" charset="2"/>
              <a:buChar char="§"/>
            </a:pPr>
            <a:r>
              <a:rPr lang="fr-FR" sz="1900" b="0" i="0" u="none" strike="noStrike" baseline="0" dirty="0">
                <a:latin typeface="+mj-lt"/>
              </a:rPr>
              <a:t>La technologie a également beaucoup fait évoluer cet aspect, (aux systèmes de messagerie et courrier électronique, aux réseaux (Internet bien sûr, mais aussi l'intranet d'entreprise, ...)</a:t>
            </a:r>
          </a:p>
        </p:txBody>
      </p:sp>
    </p:spTree>
    <p:extLst>
      <p:ext uri="{BB962C8B-B14F-4D97-AF65-F5344CB8AC3E}">
        <p14:creationId xmlns:p14="http://schemas.microsoft.com/office/powerpoint/2010/main" val="3377466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fade">
                                      <p:cBhvr>
                                        <p:cTn id="14" dur="1000"/>
                                        <p:tgtEl>
                                          <p:spTgt spid="5">
                                            <p:txEl>
                                              <p:pRg st="1" end="1"/>
                                            </p:txEl>
                                          </p:spTgt>
                                        </p:tgtEl>
                                      </p:cBhvr>
                                    </p:animEffect>
                                    <p:anim calcmode="lin" valueType="num">
                                      <p:cBhvr>
                                        <p:cTn id="1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1000"/>
                                        <p:tgtEl>
                                          <p:spTgt spid="5">
                                            <p:txEl>
                                              <p:pRg st="2" end="2"/>
                                            </p:txEl>
                                          </p:spTgt>
                                        </p:tgtEl>
                                      </p:cBhvr>
                                    </p:animEffect>
                                    <p:anim calcmode="lin" valueType="num">
                                      <p:cBhvr>
                                        <p:cTn id="2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5">
                                            <p:txEl>
                                              <p:pRg st="3" end="3"/>
                                            </p:txEl>
                                          </p:spTgt>
                                        </p:tgtEl>
                                        <p:attrNameLst>
                                          <p:attrName>style.visibility</p:attrName>
                                        </p:attrNameLst>
                                      </p:cBhvr>
                                      <p:to>
                                        <p:strVal val="visible"/>
                                      </p:to>
                                    </p:set>
                                    <p:animEffect transition="in" filter="fade">
                                      <p:cBhvr>
                                        <p:cTn id="26" dur="1000"/>
                                        <p:tgtEl>
                                          <p:spTgt spid="5">
                                            <p:txEl>
                                              <p:pRg st="3" end="3"/>
                                            </p:txEl>
                                          </p:spTgt>
                                        </p:tgtEl>
                                      </p:cBhvr>
                                    </p:animEffect>
                                    <p:anim calcmode="lin" valueType="num">
                                      <p:cBhvr>
                                        <p:cTn id="27"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8EF4BD34-ABFB-9D6D-5C97-4440B6CDE598}"/>
              </a:ext>
            </a:extLst>
          </p:cNvPr>
          <p:cNvPicPr>
            <a:picLocks noChangeAspect="1"/>
          </p:cNvPicPr>
          <p:nvPr/>
        </p:nvPicPr>
        <p:blipFill>
          <a:blip r:embed="rId2"/>
          <a:stretch>
            <a:fillRect/>
          </a:stretch>
        </p:blipFill>
        <p:spPr>
          <a:xfrm>
            <a:off x="0" y="130989"/>
            <a:ext cx="7882811" cy="859611"/>
          </a:xfrm>
          <a:prstGeom prst="rect">
            <a:avLst/>
          </a:prstGeom>
        </p:spPr>
      </p:pic>
      <p:sp>
        <p:nvSpPr>
          <p:cNvPr id="10" name="ZoneTexte 9">
            <a:extLst>
              <a:ext uri="{FF2B5EF4-FFF2-40B4-BE49-F238E27FC236}">
                <a16:creationId xmlns:a16="http://schemas.microsoft.com/office/drawing/2014/main" id="{89D84EAD-46FF-A8FA-CDC0-87E1ACCD8D98}"/>
              </a:ext>
            </a:extLst>
          </p:cNvPr>
          <p:cNvSpPr txBox="1"/>
          <p:nvPr/>
        </p:nvSpPr>
        <p:spPr>
          <a:xfrm>
            <a:off x="457200" y="1143000"/>
            <a:ext cx="8305800" cy="3994299"/>
          </a:xfrm>
          <a:prstGeom prst="rect">
            <a:avLst/>
          </a:prstGeom>
          <a:noFill/>
        </p:spPr>
        <p:txBody>
          <a:bodyPr wrap="square">
            <a:spAutoFit/>
          </a:bodyPr>
          <a:lstStyle/>
          <a:p>
            <a:pPr marL="742950" lvl="1" indent="-285750" algn="just">
              <a:lnSpc>
                <a:spcPct val="150000"/>
              </a:lnSpc>
              <a:buFont typeface="Wingdings" panose="05000000000000000000" pitchFamily="2" charset="2"/>
              <a:buChar char="§"/>
            </a:pPr>
            <a:r>
              <a:rPr kumimoji="0" lang="fr-FR" sz="1900" b="1" i="0" u="none" strike="noStrike" kern="1200" cap="none" spc="0" normalizeH="0" baseline="0" noProof="0" dirty="0">
                <a:ln>
                  <a:noFill/>
                </a:ln>
                <a:solidFill>
                  <a:prstClr val="black"/>
                </a:solidFill>
                <a:effectLst/>
                <a:uLnTx/>
                <a:uFillTx/>
                <a:latin typeface="+mj-lt"/>
                <a:ea typeface="+mn-ea"/>
                <a:cs typeface="+mn-cs"/>
              </a:rPr>
              <a:t>Un outil de communication interne </a:t>
            </a:r>
            <a:r>
              <a:rPr kumimoji="0" lang="fr-FR" sz="1900" b="0" i="0" u="none" strike="noStrike" kern="1200" cap="none" spc="0" normalizeH="0" baseline="0" noProof="0" dirty="0">
                <a:ln>
                  <a:noFill/>
                </a:ln>
                <a:solidFill>
                  <a:prstClr val="black"/>
                </a:solidFill>
                <a:effectLst/>
                <a:uLnTx/>
                <a:uFillTx/>
                <a:latin typeface="+mj-lt"/>
                <a:ea typeface="+mn-ea"/>
                <a:cs typeface="+mn-cs"/>
              </a:rPr>
              <a:t>(elle permet d’assurer la coordination entre les différents services et acteurs de l’entreprise),</a:t>
            </a:r>
          </a:p>
          <a:p>
            <a:pPr marL="742950" lvl="1" indent="-285750" algn="just">
              <a:lnSpc>
                <a:spcPct val="150000"/>
              </a:lnSpc>
              <a:buFont typeface="Wingdings" panose="05000000000000000000" pitchFamily="2" charset="2"/>
              <a:buChar char="§"/>
            </a:pPr>
            <a:r>
              <a:rPr kumimoji="0" lang="fr-FR" sz="1900" b="1" i="0" u="none" strike="noStrike" kern="1200" cap="none" spc="0" normalizeH="0" baseline="0" noProof="0" dirty="0">
                <a:ln>
                  <a:noFill/>
                </a:ln>
                <a:solidFill>
                  <a:prstClr val="black"/>
                </a:solidFill>
                <a:effectLst/>
                <a:uLnTx/>
                <a:uFillTx/>
                <a:latin typeface="+mj-lt"/>
                <a:ea typeface="+mn-ea"/>
                <a:cs typeface="+mn-cs"/>
              </a:rPr>
              <a:t>Un outil de communication externe </a:t>
            </a:r>
            <a:r>
              <a:rPr kumimoji="0" lang="fr-FR" sz="1900" b="0" i="0" u="none" strike="noStrike" kern="1200" cap="none" spc="0" normalizeH="0" baseline="0" noProof="0" dirty="0">
                <a:ln>
                  <a:noFill/>
                </a:ln>
                <a:solidFill>
                  <a:prstClr val="black"/>
                </a:solidFill>
                <a:effectLst/>
                <a:uLnTx/>
                <a:uFillTx/>
                <a:latin typeface="+mj-lt"/>
                <a:ea typeface="+mn-ea"/>
                <a:cs typeface="+mn-cs"/>
              </a:rPr>
              <a:t>(une organisation diffuse de l’information vers son environnement extérieur en faisant par exemple de la publicité)</a:t>
            </a:r>
            <a:endParaRPr lang="fr-FR" sz="1900" b="0" i="0" u="none" strike="noStrike" baseline="0" dirty="0">
              <a:latin typeface="+mj-lt"/>
            </a:endParaRPr>
          </a:p>
          <a:p>
            <a:pPr marL="457200" indent="-457200" algn="just">
              <a:lnSpc>
                <a:spcPct val="150000"/>
              </a:lnSpc>
              <a:buAutoNum type="arabicParenR" startAt="3"/>
            </a:pPr>
            <a:r>
              <a:rPr lang="fr-FR" sz="1900" b="1" i="0" u="none" strike="noStrike" baseline="0" dirty="0">
                <a:latin typeface="+mj-lt"/>
              </a:rPr>
              <a:t>Outil de connaissance individuelle : </a:t>
            </a:r>
            <a:r>
              <a:rPr lang="fr-FR" sz="1900" b="0" i="0" u="none" strike="noStrike" baseline="0" dirty="0">
                <a:latin typeface="+mj-lt"/>
              </a:rPr>
              <a:t>La capacité cognitive des organisations est aussi celle des individus qui en font partie.</a:t>
            </a:r>
          </a:p>
          <a:p>
            <a:pPr marL="457200" indent="-457200" algn="just">
              <a:lnSpc>
                <a:spcPct val="150000"/>
              </a:lnSpc>
              <a:buAutoNum type="arabicParenR" startAt="3"/>
            </a:pPr>
            <a:r>
              <a:rPr lang="fr-FR" sz="1900" b="1" i="0" u="none" strike="noStrike" baseline="0" dirty="0">
                <a:latin typeface="+mj-lt"/>
              </a:rPr>
              <a:t>Information base de décision :  </a:t>
            </a:r>
            <a:r>
              <a:rPr lang="fr-FR" sz="1900" i="0" u="none" strike="noStrike" baseline="0" dirty="0">
                <a:latin typeface="+mj-lt"/>
              </a:rPr>
              <a:t>l’efficacité de la décision dépend de la qualité de l’information disponible.</a:t>
            </a:r>
          </a:p>
        </p:txBody>
      </p:sp>
    </p:spTree>
    <p:extLst>
      <p:ext uri="{BB962C8B-B14F-4D97-AF65-F5344CB8AC3E}">
        <p14:creationId xmlns:p14="http://schemas.microsoft.com/office/powerpoint/2010/main" val="3837671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anim calcmode="lin" valueType="num">
                                      <p:cBhvr>
                                        <p:cTn id="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1" end="1"/>
                                            </p:txEl>
                                          </p:spTgt>
                                        </p:tgtEl>
                                        <p:attrNameLst>
                                          <p:attrName>style.visibility</p:attrName>
                                        </p:attrNameLst>
                                      </p:cBhvr>
                                      <p:to>
                                        <p:strVal val="visible"/>
                                      </p:to>
                                    </p:set>
                                    <p:animEffect transition="in" filter="fade">
                                      <p:cBhvr>
                                        <p:cTn id="14" dur="1000"/>
                                        <p:tgtEl>
                                          <p:spTgt spid="10">
                                            <p:txEl>
                                              <p:pRg st="1" end="1"/>
                                            </p:txEl>
                                          </p:spTgt>
                                        </p:tgtEl>
                                      </p:cBhvr>
                                    </p:animEffect>
                                    <p:anim calcmode="lin" valueType="num">
                                      <p:cBhvr>
                                        <p:cTn id="15"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xEl>
                                              <p:pRg st="2" end="2"/>
                                            </p:txEl>
                                          </p:spTgt>
                                        </p:tgtEl>
                                        <p:attrNameLst>
                                          <p:attrName>style.visibility</p:attrName>
                                        </p:attrNameLst>
                                      </p:cBhvr>
                                      <p:to>
                                        <p:strVal val="visible"/>
                                      </p:to>
                                    </p:set>
                                    <p:animEffect transition="in" filter="fade">
                                      <p:cBhvr>
                                        <p:cTn id="21" dur="1000"/>
                                        <p:tgtEl>
                                          <p:spTgt spid="10">
                                            <p:txEl>
                                              <p:pRg st="2" end="2"/>
                                            </p:txEl>
                                          </p:spTgt>
                                        </p:tgtEl>
                                      </p:cBhvr>
                                    </p:animEffect>
                                    <p:anim calcmode="lin" valueType="num">
                                      <p:cBhvr>
                                        <p:cTn id="22"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
                                            <p:txEl>
                                              <p:pRg st="3" end="3"/>
                                            </p:txEl>
                                          </p:spTgt>
                                        </p:tgtEl>
                                        <p:attrNameLst>
                                          <p:attrName>style.visibility</p:attrName>
                                        </p:attrNameLst>
                                      </p:cBhvr>
                                      <p:to>
                                        <p:strVal val="visible"/>
                                      </p:to>
                                    </p:set>
                                    <p:animEffect transition="in" filter="fade">
                                      <p:cBhvr>
                                        <p:cTn id="28" dur="1000"/>
                                        <p:tgtEl>
                                          <p:spTgt spid="10">
                                            <p:txEl>
                                              <p:pRg st="3" end="3"/>
                                            </p:txEl>
                                          </p:spTgt>
                                        </p:tgtEl>
                                      </p:cBhvr>
                                    </p:animEffect>
                                    <p:anim calcmode="lin" valueType="num">
                                      <p:cBhvr>
                                        <p:cTn id="29"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xfrm>
            <a:off x="198344" y="5610879"/>
            <a:ext cx="245433" cy="179536"/>
          </a:xfrm>
          <a:prstGeom prst="rect">
            <a:avLst/>
          </a:prstGeom>
        </p:spPr>
        <p:txBody>
          <a:bodyPr vert="horz" wrap="square" lIns="0" tIns="0" rIns="0" bIns="0" rtlCol="0">
            <a:spAutoFit/>
          </a:bodyPr>
          <a:lstStyle/>
          <a:p>
            <a:pPr marL="33665">
              <a:lnSpc>
                <a:spcPts val="1380"/>
              </a:lnSpc>
            </a:pPr>
            <a:fld id="{81D60167-4931-47E6-BA6A-407CBD079E47}" type="slidenum">
              <a:rPr spc="-4" dirty="0"/>
              <a:pPr marL="33665">
                <a:lnSpc>
                  <a:spcPts val="1380"/>
                </a:lnSpc>
              </a:pPr>
              <a:t>7</a:t>
            </a:fld>
            <a:endParaRPr spc="-4" dirty="0"/>
          </a:p>
        </p:txBody>
      </p:sp>
      <p:sp>
        <p:nvSpPr>
          <p:cNvPr id="3" name="ZoneTexte 2">
            <a:extLst>
              <a:ext uri="{FF2B5EF4-FFF2-40B4-BE49-F238E27FC236}">
                <a16:creationId xmlns:a16="http://schemas.microsoft.com/office/drawing/2014/main" id="{03FB5886-942E-3A99-129B-AABAEB17D045}"/>
              </a:ext>
            </a:extLst>
          </p:cNvPr>
          <p:cNvSpPr txBox="1"/>
          <p:nvPr/>
        </p:nvSpPr>
        <p:spPr>
          <a:xfrm>
            <a:off x="321060" y="1872823"/>
            <a:ext cx="3794849" cy="2126864"/>
          </a:xfrm>
          <a:prstGeom prst="rect">
            <a:avLst/>
          </a:prstGeom>
          <a:noFill/>
        </p:spPr>
        <p:txBody>
          <a:bodyPr wrap="square">
            <a:spAutoFit/>
          </a:bodyPr>
          <a:lstStyle/>
          <a:p>
            <a:pPr>
              <a:lnSpc>
                <a:spcPct val="150000"/>
              </a:lnSpc>
            </a:pPr>
            <a:r>
              <a:rPr lang="fr-FR" b="1" i="0" u="none" strike="noStrike" baseline="0" dirty="0">
                <a:latin typeface="+mj-lt"/>
              </a:rPr>
              <a:t>Sources externes </a:t>
            </a:r>
          </a:p>
          <a:p>
            <a:pPr>
              <a:lnSpc>
                <a:spcPct val="150000"/>
              </a:lnSpc>
            </a:pPr>
            <a:r>
              <a:rPr lang="fr-FR" dirty="0"/>
              <a:t>A partir des médias, des documents spécialisés (fiches techniques), des organisations publiques (administrations, ministères)</a:t>
            </a:r>
            <a:endParaRPr lang="fr-FR" dirty="0">
              <a:latin typeface="+mj-lt"/>
            </a:endParaRPr>
          </a:p>
        </p:txBody>
      </p:sp>
      <p:sp>
        <p:nvSpPr>
          <p:cNvPr id="4" name="ZoneTexte 3">
            <a:extLst>
              <a:ext uri="{FF2B5EF4-FFF2-40B4-BE49-F238E27FC236}">
                <a16:creationId xmlns:a16="http://schemas.microsoft.com/office/drawing/2014/main" id="{D77484ED-3D27-6428-2325-39FAC187A62F}"/>
              </a:ext>
            </a:extLst>
          </p:cNvPr>
          <p:cNvSpPr txBox="1"/>
          <p:nvPr/>
        </p:nvSpPr>
        <p:spPr>
          <a:xfrm>
            <a:off x="2438400" y="304800"/>
            <a:ext cx="4638674" cy="523220"/>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2800" b="1" i="1" u="none" strike="noStrike" kern="1200" cap="none" spc="0" normalizeH="0" baseline="0" noProof="0" dirty="0">
                <a:ln>
                  <a:noFill/>
                </a:ln>
                <a:solidFill>
                  <a:srgbClr val="FF0000"/>
                </a:solidFill>
                <a:effectLst/>
                <a:uLnTx/>
                <a:uFillTx/>
                <a:latin typeface="Calibri"/>
                <a:ea typeface="+mn-ea"/>
                <a:cs typeface="+mn-cs"/>
              </a:rPr>
              <a:t>Les Sources D'information</a:t>
            </a:r>
          </a:p>
        </p:txBody>
      </p:sp>
      <p:sp>
        <p:nvSpPr>
          <p:cNvPr id="6" name="ZoneTexte 5">
            <a:extLst>
              <a:ext uri="{FF2B5EF4-FFF2-40B4-BE49-F238E27FC236}">
                <a16:creationId xmlns:a16="http://schemas.microsoft.com/office/drawing/2014/main" id="{E69D1B50-A5F6-BEA3-5A45-8B1091F1FF91}"/>
              </a:ext>
            </a:extLst>
          </p:cNvPr>
          <p:cNvSpPr txBox="1"/>
          <p:nvPr/>
        </p:nvSpPr>
        <p:spPr>
          <a:xfrm>
            <a:off x="4841491" y="1665074"/>
            <a:ext cx="4029074" cy="1711366"/>
          </a:xfrm>
          <a:prstGeom prst="rect">
            <a:avLst/>
          </a:prstGeom>
          <a:noFill/>
        </p:spPr>
        <p:txBody>
          <a:bodyPr wrap="square">
            <a:spAutoFit/>
          </a:bodyPr>
          <a:lstStyle/>
          <a:p>
            <a:pPr algn="just">
              <a:lnSpc>
                <a:spcPct val="150000"/>
              </a:lnSpc>
            </a:pPr>
            <a:r>
              <a:rPr lang="fr-FR" b="1" dirty="0">
                <a:latin typeface="+mj-lt"/>
              </a:rPr>
              <a:t>    </a:t>
            </a:r>
            <a:r>
              <a:rPr lang="fr-FR" b="1" i="0" u="none" strike="noStrike" baseline="0" dirty="0">
                <a:latin typeface="+mj-lt"/>
              </a:rPr>
              <a:t>Sources Internes </a:t>
            </a:r>
            <a:r>
              <a:rPr lang="fr-FR" b="0" i="0" u="none" strike="noStrike" baseline="0" dirty="0">
                <a:latin typeface="+mj-lt"/>
              </a:rPr>
              <a:t>:</a:t>
            </a:r>
          </a:p>
          <a:p>
            <a:pPr algn="just">
              <a:lnSpc>
                <a:spcPct val="150000"/>
              </a:lnSpc>
            </a:pPr>
            <a:r>
              <a:rPr lang="fr-FR" dirty="0"/>
              <a:t>A partir des rapports des dirigeants, des documents comptables et financiers, des notes de services.</a:t>
            </a:r>
            <a:endParaRPr lang="fr-FR" b="0" i="0" u="none" strike="noStrike" baseline="0" dirty="0">
              <a:latin typeface="+mj-lt"/>
            </a:endParaRPr>
          </a:p>
        </p:txBody>
      </p:sp>
      <p:cxnSp>
        <p:nvCxnSpPr>
          <p:cNvPr id="8" name="Connecteur droit 7">
            <a:extLst>
              <a:ext uri="{FF2B5EF4-FFF2-40B4-BE49-F238E27FC236}">
                <a16:creationId xmlns:a16="http://schemas.microsoft.com/office/drawing/2014/main" id="{47434B3C-163C-AEA4-E231-B7B9D7929DD7}"/>
              </a:ext>
            </a:extLst>
          </p:cNvPr>
          <p:cNvCxnSpPr/>
          <p:nvPr/>
        </p:nvCxnSpPr>
        <p:spPr>
          <a:xfrm>
            <a:off x="4572000" y="1524000"/>
            <a:ext cx="0" cy="4572000"/>
          </a:xfrm>
          <a:prstGeom prst="line">
            <a:avLst/>
          </a:prstGeom>
        </p:spPr>
        <p:style>
          <a:lnRef idx="3">
            <a:schemeClr val="accent1"/>
          </a:lnRef>
          <a:fillRef idx="0">
            <a:schemeClr val="accent1"/>
          </a:fillRef>
          <a:effectRef idx="2">
            <a:schemeClr val="accent1"/>
          </a:effectRef>
          <a:fontRef idx="minor">
            <a:schemeClr val="tx1"/>
          </a:fontRef>
        </p:style>
      </p:cxnSp>
      <p:cxnSp>
        <p:nvCxnSpPr>
          <p:cNvPr id="5" name="Connecteur droit avec flèche 4">
            <a:extLst>
              <a:ext uri="{FF2B5EF4-FFF2-40B4-BE49-F238E27FC236}">
                <a16:creationId xmlns:a16="http://schemas.microsoft.com/office/drawing/2014/main" id="{A8D8DB6A-16BC-A37D-728D-373BB25B1701}"/>
              </a:ext>
            </a:extLst>
          </p:cNvPr>
          <p:cNvCxnSpPr/>
          <p:nvPr/>
        </p:nvCxnSpPr>
        <p:spPr>
          <a:xfrm flipH="1">
            <a:off x="1981200" y="990600"/>
            <a:ext cx="1447800" cy="76200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9" name="Connecteur droit avec flèche 8">
            <a:extLst>
              <a:ext uri="{FF2B5EF4-FFF2-40B4-BE49-F238E27FC236}">
                <a16:creationId xmlns:a16="http://schemas.microsoft.com/office/drawing/2014/main" id="{2E52E9FE-49BB-BB2C-6E80-7EC27F6D8028}"/>
              </a:ext>
            </a:extLst>
          </p:cNvPr>
          <p:cNvCxnSpPr/>
          <p:nvPr/>
        </p:nvCxnSpPr>
        <p:spPr>
          <a:xfrm>
            <a:off x="5257800" y="990600"/>
            <a:ext cx="1371600" cy="53340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43703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xfrm>
            <a:off x="198344" y="5610879"/>
            <a:ext cx="245433" cy="179536"/>
          </a:xfrm>
          <a:prstGeom prst="rect">
            <a:avLst/>
          </a:prstGeom>
        </p:spPr>
        <p:txBody>
          <a:bodyPr vert="horz" wrap="square" lIns="0" tIns="0" rIns="0" bIns="0" rtlCol="0">
            <a:spAutoFit/>
          </a:bodyPr>
          <a:lstStyle/>
          <a:p>
            <a:pPr marL="33665">
              <a:lnSpc>
                <a:spcPts val="1380"/>
              </a:lnSpc>
            </a:pPr>
            <a:fld id="{81D60167-4931-47E6-BA6A-407CBD079E47}" type="slidenum">
              <a:rPr spc="-4" dirty="0"/>
              <a:pPr marL="33665">
                <a:lnSpc>
                  <a:spcPts val="1380"/>
                </a:lnSpc>
              </a:pPr>
              <a:t>8</a:t>
            </a:fld>
            <a:endParaRPr spc="-4" dirty="0"/>
          </a:p>
        </p:txBody>
      </p:sp>
      <p:sp>
        <p:nvSpPr>
          <p:cNvPr id="3" name="ZoneTexte 2">
            <a:extLst>
              <a:ext uri="{FF2B5EF4-FFF2-40B4-BE49-F238E27FC236}">
                <a16:creationId xmlns:a16="http://schemas.microsoft.com/office/drawing/2014/main" id="{CB61D47A-7F42-5D19-8476-8FE7B674B7EA}"/>
              </a:ext>
            </a:extLst>
          </p:cNvPr>
          <p:cNvSpPr txBox="1"/>
          <p:nvPr/>
        </p:nvSpPr>
        <p:spPr>
          <a:xfrm>
            <a:off x="321060" y="304800"/>
            <a:ext cx="7756140" cy="584775"/>
          </a:xfrm>
          <a:prstGeom prst="rect">
            <a:avLst/>
          </a:prstGeom>
          <a:noFill/>
        </p:spPr>
        <p:txBody>
          <a:bodyPr wrap="square">
            <a:spAutoFit/>
          </a:bodyPr>
          <a:lstStyle/>
          <a:p>
            <a:r>
              <a:rPr lang="fr-FR" sz="3200" b="1" i="1" dirty="0">
                <a:solidFill>
                  <a:srgbClr val="FF0000"/>
                </a:solidFill>
              </a:rPr>
              <a:t>Les manipulations de l'information</a:t>
            </a:r>
          </a:p>
        </p:txBody>
      </p:sp>
      <p:sp>
        <p:nvSpPr>
          <p:cNvPr id="5" name="ZoneTexte 4">
            <a:extLst>
              <a:ext uri="{FF2B5EF4-FFF2-40B4-BE49-F238E27FC236}">
                <a16:creationId xmlns:a16="http://schemas.microsoft.com/office/drawing/2014/main" id="{7E40409E-FCD6-5278-0020-94834D0A535C}"/>
              </a:ext>
            </a:extLst>
          </p:cNvPr>
          <p:cNvSpPr txBox="1"/>
          <p:nvPr/>
        </p:nvSpPr>
        <p:spPr>
          <a:xfrm>
            <a:off x="321916" y="698871"/>
            <a:ext cx="8534400" cy="5866350"/>
          </a:xfrm>
          <a:prstGeom prst="rect">
            <a:avLst/>
          </a:prstGeom>
          <a:noFill/>
        </p:spPr>
        <p:txBody>
          <a:bodyPr wrap="square">
            <a:spAutoFit/>
          </a:bodyPr>
          <a:lstStyle/>
          <a:p>
            <a:pPr algn="l">
              <a:lnSpc>
                <a:spcPct val="150000"/>
              </a:lnSpc>
            </a:pPr>
            <a:endParaRPr lang="fr-FR" sz="1800" b="0" i="0" u="none" strike="noStrike" baseline="0" dirty="0">
              <a:latin typeface="+mj-lt"/>
            </a:endParaRPr>
          </a:p>
          <a:p>
            <a:pPr algn="l">
              <a:lnSpc>
                <a:spcPct val="150000"/>
              </a:lnSpc>
            </a:pPr>
            <a:r>
              <a:rPr lang="fr-FR" sz="1800" b="0" i="0" u="none" strike="noStrike" baseline="0" dirty="0">
                <a:latin typeface="+mj-lt"/>
              </a:rPr>
              <a:t>Les actions de base de l'information sont résumées dans ce qui suit : </a:t>
            </a:r>
          </a:p>
          <a:p>
            <a:pPr algn="l">
              <a:lnSpc>
                <a:spcPct val="150000"/>
              </a:lnSpc>
            </a:pPr>
            <a:endParaRPr lang="fr-FR" dirty="0">
              <a:latin typeface="+mj-lt"/>
            </a:endParaRPr>
          </a:p>
          <a:p>
            <a:pPr marL="342900" indent="-342900" algn="l">
              <a:lnSpc>
                <a:spcPct val="150000"/>
              </a:lnSpc>
              <a:buFont typeface="+mj-lt"/>
              <a:buAutoNum type="arabicParenR"/>
            </a:pPr>
            <a:r>
              <a:rPr lang="fr-FR" sz="1800" b="1" i="1" u="none" strike="noStrike" baseline="0" dirty="0">
                <a:latin typeface="+mj-lt"/>
              </a:rPr>
              <a:t>Création :  </a:t>
            </a:r>
            <a:r>
              <a:rPr lang="fr-FR" dirty="0"/>
              <a:t>On crée de l’information en décidant ou bien en réutilisant ce qu’on l’on sait par ailleurs. </a:t>
            </a:r>
          </a:p>
          <a:p>
            <a:pPr marL="342900" indent="-342900" algn="l">
              <a:lnSpc>
                <a:spcPct val="150000"/>
              </a:lnSpc>
              <a:buFont typeface="+mj-lt"/>
              <a:buAutoNum type="arabicParenR"/>
            </a:pPr>
            <a:endParaRPr lang="fr-FR" sz="1800" b="1" i="1" u="none" strike="noStrike" baseline="0" dirty="0">
              <a:latin typeface="+mj-lt"/>
            </a:endParaRPr>
          </a:p>
          <a:p>
            <a:pPr marL="342900" indent="-342900" algn="l">
              <a:lnSpc>
                <a:spcPct val="150000"/>
              </a:lnSpc>
              <a:buFont typeface="+mj-lt"/>
              <a:buAutoNum type="arabicParenR"/>
            </a:pPr>
            <a:r>
              <a:rPr lang="fr-FR" sz="1800" b="1" i="1" u="none" strike="noStrike" baseline="0" dirty="0">
                <a:latin typeface="+mj-lt"/>
              </a:rPr>
              <a:t>Recopie : </a:t>
            </a:r>
            <a:r>
              <a:rPr lang="fr-FR" dirty="0"/>
              <a:t>Consiste à faire passer l’information d’un support vers un autre sans rien lui ajouter</a:t>
            </a:r>
            <a:r>
              <a:rPr lang="fr-FR" dirty="0">
                <a:sym typeface="Wingdings" panose="05000000000000000000" pitchFamily="2" charset="2"/>
              </a:rPr>
              <a:t> </a:t>
            </a:r>
            <a:r>
              <a:rPr lang="fr-FR" i="1" dirty="0"/>
              <a:t>Exem</a:t>
            </a:r>
            <a:r>
              <a:rPr lang="fr-FR" b="1" i="1" dirty="0"/>
              <a:t>ple </a:t>
            </a:r>
            <a:r>
              <a:rPr lang="fr-FR" b="1" dirty="0"/>
              <a:t>: </a:t>
            </a:r>
            <a:r>
              <a:rPr lang="fr-FR" dirty="0"/>
              <a:t>copie de supports informatiques.</a:t>
            </a:r>
            <a:r>
              <a:rPr lang="fr-FR" b="1" i="1" dirty="0">
                <a:latin typeface="+mj-lt"/>
              </a:rPr>
              <a:t> </a:t>
            </a:r>
          </a:p>
          <a:p>
            <a:pPr marL="342900" indent="-342900" algn="l">
              <a:lnSpc>
                <a:spcPct val="150000"/>
              </a:lnSpc>
              <a:buFont typeface="+mj-lt"/>
              <a:buAutoNum type="arabicParenR"/>
            </a:pPr>
            <a:endParaRPr lang="fr-FR" sz="1800" b="1" i="1" u="none" strike="noStrike" baseline="0" dirty="0">
              <a:latin typeface="+mj-lt"/>
            </a:endParaRPr>
          </a:p>
          <a:p>
            <a:pPr marL="342900" indent="-342900" algn="l">
              <a:lnSpc>
                <a:spcPct val="150000"/>
              </a:lnSpc>
              <a:buFont typeface="+mj-lt"/>
              <a:buAutoNum type="arabicParenR"/>
            </a:pPr>
            <a:r>
              <a:rPr lang="fr-FR" sz="1800" b="1" i="1" u="none" strike="noStrike" baseline="0" dirty="0">
                <a:latin typeface="+mj-lt"/>
              </a:rPr>
              <a:t>Traduction :  </a:t>
            </a:r>
            <a:r>
              <a:rPr lang="fr-FR" dirty="0"/>
              <a:t>Recopie avec modification de l’information. Elle s’applique dès qu’il y a un code d’expression, une langue </a:t>
            </a:r>
            <a:r>
              <a:rPr lang="fr-FR" dirty="0">
                <a:sym typeface="Wingdings" panose="05000000000000000000" pitchFamily="2" charset="2"/>
              </a:rPr>
              <a:t></a:t>
            </a:r>
            <a:r>
              <a:rPr lang="fr-FR" dirty="0"/>
              <a:t> </a:t>
            </a:r>
            <a:r>
              <a:rPr lang="fr-FR" b="1" i="1" dirty="0"/>
              <a:t>Exemple :</a:t>
            </a:r>
            <a:r>
              <a:rPr lang="fr-FR" dirty="0"/>
              <a:t> traduire une disquette vers une imprimante, c’est à dire, on traduit le contenu de la disquette en un texte imprimé sur papier.</a:t>
            </a:r>
          </a:p>
          <a:p>
            <a:pPr algn="l">
              <a:lnSpc>
                <a:spcPct val="150000"/>
              </a:lnSpc>
            </a:pPr>
            <a:endParaRPr lang="fr-FR" dirty="0">
              <a:latin typeface="+mj-lt"/>
            </a:endParaRPr>
          </a:p>
        </p:txBody>
      </p:sp>
    </p:spTree>
    <p:extLst>
      <p:ext uri="{BB962C8B-B14F-4D97-AF65-F5344CB8AC3E}">
        <p14:creationId xmlns:p14="http://schemas.microsoft.com/office/powerpoint/2010/main" val="2135038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fade">
                                      <p:cBhvr>
                                        <p:cTn id="7" dur="1000"/>
                                        <p:tgtEl>
                                          <p:spTgt spid="5">
                                            <p:txEl>
                                              <p:pRg st="3" end="3"/>
                                            </p:txEl>
                                          </p:spTgt>
                                        </p:tgtEl>
                                      </p:cBhvr>
                                    </p:animEffect>
                                    <p:anim calcmode="lin" valueType="num">
                                      <p:cBhvr>
                                        <p:cTn id="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5" end="5"/>
                                            </p:txEl>
                                          </p:spTgt>
                                        </p:tgtEl>
                                        <p:attrNameLst>
                                          <p:attrName>style.visibility</p:attrName>
                                        </p:attrNameLst>
                                      </p:cBhvr>
                                      <p:to>
                                        <p:strVal val="visible"/>
                                      </p:to>
                                    </p:set>
                                    <p:animEffect transition="in" filter="fade">
                                      <p:cBhvr>
                                        <p:cTn id="14" dur="1000"/>
                                        <p:tgtEl>
                                          <p:spTgt spid="5">
                                            <p:txEl>
                                              <p:pRg st="5" end="5"/>
                                            </p:txEl>
                                          </p:spTgt>
                                        </p:tgtEl>
                                      </p:cBhvr>
                                    </p:animEffect>
                                    <p:anim calcmode="lin" valueType="num">
                                      <p:cBhvr>
                                        <p:cTn id="15"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animEffect transition="in" filter="fade">
                                      <p:cBhvr>
                                        <p:cTn id="21" dur="1000"/>
                                        <p:tgtEl>
                                          <p:spTgt spid="5">
                                            <p:txEl>
                                              <p:pRg st="7" end="7"/>
                                            </p:txEl>
                                          </p:spTgt>
                                        </p:tgtEl>
                                      </p:cBhvr>
                                    </p:animEffect>
                                    <p:anim calcmode="lin" valueType="num">
                                      <p:cBhvr>
                                        <p:cTn id="22"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xfrm>
            <a:off x="198344" y="5610879"/>
            <a:ext cx="245433" cy="179536"/>
          </a:xfrm>
          <a:prstGeom prst="rect">
            <a:avLst/>
          </a:prstGeom>
        </p:spPr>
        <p:txBody>
          <a:bodyPr vert="horz" wrap="square" lIns="0" tIns="0" rIns="0" bIns="0" rtlCol="0">
            <a:spAutoFit/>
          </a:bodyPr>
          <a:lstStyle/>
          <a:p>
            <a:pPr marL="33665" marR="0" lvl="0" indent="0" algn="l" defTabSz="914400" rtl="0" eaLnBrk="1" fontAlgn="auto" latinLnBrk="0" hangingPunct="1">
              <a:lnSpc>
                <a:spcPts val="1380"/>
              </a:lnSpc>
              <a:spcBef>
                <a:spcPts val="0"/>
              </a:spcBef>
              <a:spcAft>
                <a:spcPts val="0"/>
              </a:spcAft>
              <a:buClrTx/>
              <a:buSzTx/>
              <a:buFontTx/>
              <a:buNone/>
              <a:tabLst/>
              <a:defRPr/>
            </a:pPr>
            <a:fld id="{81D60167-4931-47E6-BA6A-407CBD079E47}" type="slidenum">
              <a:rPr kumimoji="0" sz="1400" b="0" i="0" u="none" strike="noStrike" kern="1200" cap="none" spc="-4" normalizeH="0" baseline="0" noProof="0" dirty="0">
                <a:ln>
                  <a:noFill/>
                </a:ln>
                <a:solidFill>
                  <a:prstClr val="white"/>
                </a:solidFill>
                <a:effectLst/>
                <a:uLnTx/>
                <a:uFillTx/>
                <a:latin typeface="Franklin Gothic Medium"/>
                <a:ea typeface="+mn-ea"/>
              </a:rPr>
              <a:pPr marL="33665" marR="0" lvl="0" indent="0" algn="l" defTabSz="914400" rtl="0" eaLnBrk="1" fontAlgn="auto" latinLnBrk="0" hangingPunct="1">
                <a:lnSpc>
                  <a:spcPts val="1380"/>
                </a:lnSpc>
                <a:spcBef>
                  <a:spcPts val="0"/>
                </a:spcBef>
                <a:spcAft>
                  <a:spcPts val="0"/>
                </a:spcAft>
                <a:buClrTx/>
                <a:buSzTx/>
                <a:buFontTx/>
                <a:buNone/>
                <a:tabLst/>
                <a:defRPr/>
              </a:pPr>
              <a:t>9</a:t>
            </a:fld>
            <a:endParaRPr kumimoji="0" sz="1400" b="0" i="0" u="none" strike="noStrike" kern="1200" cap="none" spc="-4" normalizeH="0" baseline="0" noProof="0" dirty="0">
              <a:ln>
                <a:noFill/>
              </a:ln>
              <a:solidFill>
                <a:prstClr val="white"/>
              </a:solidFill>
              <a:effectLst/>
              <a:uLnTx/>
              <a:uFillTx/>
              <a:latin typeface="Franklin Gothic Medium"/>
              <a:ea typeface="+mn-ea"/>
            </a:endParaRPr>
          </a:p>
        </p:txBody>
      </p:sp>
      <p:sp>
        <p:nvSpPr>
          <p:cNvPr id="3" name="ZoneTexte 2">
            <a:extLst>
              <a:ext uri="{FF2B5EF4-FFF2-40B4-BE49-F238E27FC236}">
                <a16:creationId xmlns:a16="http://schemas.microsoft.com/office/drawing/2014/main" id="{CB61D47A-7F42-5D19-8476-8FE7B674B7EA}"/>
              </a:ext>
            </a:extLst>
          </p:cNvPr>
          <p:cNvSpPr txBox="1"/>
          <p:nvPr/>
        </p:nvSpPr>
        <p:spPr>
          <a:xfrm>
            <a:off x="321060" y="304800"/>
            <a:ext cx="7756140"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3200" b="1" i="1" u="none" strike="noStrike" kern="1200" cap="none" spc="0" normalizeH="0" baseline="0" noProof="0" dirty="0">
                <a:ln>
                  <a:noFill/>
                </a:ln>
                <a:solidFill>
                  <a:srgbClr val="FF0000"/>
                </a:solidFill>
                <a:effectLst/>
                <a:uLnTx/>
                <a:uFillTx/>
                <a:latin typeface="Calibri"/>
                <a:ea typeface="+mn-ea"/>
                <a:cs typeface="+mn-cs"/>
              </a:rPr>
              <a:t>Les manipulations de l'information</a:t>
            </a:r>
          </a:p>
        </p:txBody>
      </p:sp>
      <p:sp>
        <p:nvSpPr>
          <p:cNvPr id="5" name="ZoneTexte 4">
            <a:extLst>
              <a:ext uri="{FF2B5EF4-FFF2-40B4-BE49-F238E27FC236}">
                <a16:creationId xmlns:a16="http://schemas.microsoft.com/office/drawing/2014/main" id="{7E40409E-FCD6-5278-0020-94834D0A535C}"/>
              </a:ext>
            </a:extLst>
          </p:cNvPr>
          <p:cNvSpPr txBox="1"/>
          <p:nvPr/>
        </p:nvSpPr>
        <p:spPr>
          <a:xfrm>
            <a:off x="321916" y="698871"/>
            <a:ext cx="8534400" cy="5035353"/>
          </a:xfrm>
          <a:prstGeom prst="rect">
            <a:avLst/>
          </a:prstGeom>
          <a:noFill/>
        </p:spPr>
        <p:txBody>
          <a:bodyPr wrap="square">
            <a:spAutoFit/>
          </a:bodyPr>
          <a:lstStyle/>
          <a:p>
            <a:pPr marR="0" lvl="0" algn="l" defTabSz="914400" rtl="0" eaLnBrk="1" fontAlgn="auto" latinLnBrk="0" hangingPunct="1">
              <a:lnSpc>
                <a:spcPct val="150000"/>
              </a:lnSpc>
              <a:spcBef>
                <a:spcPts val="0"/>
              </a:spcBef>
              <a:spcAft>
                <a:spcPts val="0"/>
              </a:spcAft>
              <a:buClrTx/>
              <a:buSzTx/>
              <a:tabLst/>
              <a:defRPr/>
            </a:pPr>
            <a:endParaRPr lang="fr-FR" b="1" i="1" dirty="0">
              <a:solidFill>
                <a:prstClr val="black"/>
              </a:solidFill>
              <a:latin typeface="Calibri"/>
            </a:endParaRPr>
          </a:p>
          <a:p>
            <a:pPr marR="0" lvl="0" algn="l" defTabSz="914400" rtl="0" eaLnBrk="1" fontAlgn="auto" latinLnBrk="0" hangingPunct="1">
              <a:lnSpc>
                <a:spcPct val="150000"/>
              </a:lnSpc>
              <a:spcBef>
                <a:spcPts val="0"/>
              </a:spcBef>
              <a:spcAft>
                <a:spcPts val="0"/>
              </a:spcAft>
              <a:buClrTx/>
              <a:buSzTx/>
              <a:tabLst/>
              <a:defRPr/>
            </a:pPr>
            <a:r>
              <a:rPr kumimoji="0" lang="fr-FR" sz="1800" b="1" i="1" u="none" strike="noStrike" kern="1200" cap="none" spc="0" normalizeH="0" baseline="0" noProof="0" dirty="0">
                <a:ln>
                  <a:noFill/>
                </a:ln>
                <a:solidFill>
                  <a:prstClr val="black"/>
                </a:solidFill>
                <a:effectLst/>
                <a:uLnTx/>
                <a:uFillTx/>
                <a:latin typeface="Calibri"/>
                <a:ea typeface="+mn-ea"/>
                <a:cs typeface="+mn-cs"/>
              </a:rPr>
              <a:t>4)   Mémorisation : </a:t>
            </a:r>
            <a:r>
              <a:rPr kumimoji="0" lang="fr-FR" sz="1800" b="0" i="0" u="none" strike="noStrike" kern="1200" cap="none" spc="0" normalizeH="0" baseline="0" noProof="0" dirty="0">
                <a:ln>
                  <a:noFill/>
                </a:ln>
                <a:solidFill>
                  <a:prstClr val="black"/>
                </a:solidFill>
                <a:effectLst/>
                <a:uLnTx/>
                <a:uFillTx/>
                <a:latin typeface="Calibri"/>
                <a:ea typeface="+mn-ea"/>
                <a:cs typeface="+mn-cs"/>
              </a:rPr>
              <a:t>c’est la conservation de l’information dans le temps. Elle suppose un rangement sur un support. </a:t>
            </a:r>
            <a:r>
              <a:rPr lang="fr-FR" dirty="0"/>
              <a:t>Exemple : les fichiers sur disque, disquettes, CD, papier, ...</a:t>
            </a:r>
            <a:endParaRPr kumimoji="0" lang="fr-FR" sz="1800" b="0" i="0" u="none" strike="noStrike" kern="1200" cap="none" spc="0" normalizeH="0" baseline="0" noProof="0" dirty="0">
              <a:ln>
                <a:noFill/>
              </a:ln>
              <a:solidFill>
                <a:prstClr val="black"/>
              </a:solidFill>
              <a:effectLst/>
              <a:uLnTx/>
              <a:uFillTx/>
              <a:latin typeface="Calibri"/>
              <a:ea typeface="+mn-ea"/>
              <a:cs typeface="+mn-cs"/>
            </a:endParaRPr>
          </a:p>
          <a:p>
            <a:pPr marR="0" lvl="0" algn="l" defTabSz="914400" rtl="0" eaLnBrk="1" fontAlgn="auto" latinLnBrk="0" hangingPunct="1">
              <a:lnSpc>
                <a:spcPct val="150000"/>
              </a:lnSpc>
              <a:spcBef>
                <a:spcPts val="0"/>
              </a:spcBef>
              <a:spcAft>
                <a:spcPts val="0"/>
              </a:spcAft>
              <a:buClrTx/>
              <a:buSzTx/>
              <a:tabLst/>
              <a:defRPr/>
            </a:pPr>
            <a:endParaRPr lang="fr-FR" b="1" i="1" dirty="0">
              <a:solidFill>
                <a:prstClr val="black"/>
              </a:solidFill>
              <a:latin typeface="Calibri"/>
            </a:endParaRPr>
          </a:p>
          <a:p>
            <a:pPr marR="0" lvl="0" algn="l" defTabSz="914400" rtl="0" eaLnBrk="1" fontAlgn="auto" latinLnBrk="0" hangingPunct="1">
              <a:lnSpc>
                <a:spcPct val="150000"/>
              </a:lnSpc>
              <a:spcBef>
                <a:spcPts val="0"/>
              </a:spcBef>
              <a:spcAft>
                <a:spcPts val="0"/>
              </a:spcAft>
              <a:buClrTx/>
              <a:buSzTx/>
              <a:tabLst/>
              <a:defRPr/>
            </a:pPr>
            <a:r>
              <a:rPr kumimoji="0" lang="fr-FR" sz="1800" b="1" i="1" u="none" strike="noStrike" kern="1200" cap="none" spc="0" normalizeH="0" baseline="0" noProof="0" dirty="0">
                <a:ln>
                  <a:noFill/>
                </a:ln>
                <a:solidFill>
                  <a:prstClr val="black"/>
                </a:solidFill>
                <a:effectLst/>
                <a:uLnTx/>
                <a:uFillTx/>
                <a:latin typeface="Calibri"/>
                <a:ea typeface="+mn-ea"/>
                <a:cs typeface="+mn-cs"/>
              </a:rPr>
              <a:t>5)   Transport : </a:t>
            </a:r>
            <a:r>
              <a:rPr lang="fr-FR" dirty="0"/>
              <a:t>déplacer l’information d’un endroit à un autre en utilisant les réseaux de transmission, les bus d’E/S, les ondes, … </a:t>
            </a:r>
          </a:p>
          <a:p>
            <a:pPr marR="0" lvl="0" algn="l" defTabSz="914400" rtl="0" eaLnBrk="1" fontAlgn="auto" latinLnBrk="0" hangingPunct="1">
              <a:lnSpc>
                <a:spcPct val="150000"/>
              </a:lnSpc>
              <a:spcBef>
                <a:spcPts val="0"/>
              </a:spcBef>
              <a:spcAft>
                <a:spcPts val="0"/>
              </a:spcAft>
              <a:buClrTx/>
              <a:buSzTx/>
              <a:tabLst/>
              <a:defRPr/>
            </a:pPr>
            <a:endParaRPr lang="fr-FR" b="1" i="1" dirty="0">
              <a:solidFill>
                <a:prstClr val="black"/>
              </a:solidFill>
              <a:latin typeface="Calibri"/>
            </a:endParaRPr>
          </a:p>
          <a:p>
            <a:pPr marR="0" lvl="0" algn="l" defTabSz="914400" rtl="0" eaLnBrk="1" fontAlgn="auto" latinLnBrk="0" hangingPunct="1">
              <a:lnSpc>
                <a:spcPct val="150000"/>
              </a:lnSpc>
              <a:spcBef>
                <a:spcPts val="0"/>
              </a:spcBef>
              <a:spcAft>
                <a:spcPts val="0"/>
              </a:spcAft>
              <a:buClrTx/>
              <a:buSzTx/>
              <a:tabLst/>
              <a:defRPr/>
            </a:pPr>
            <a:r>
              <a:rPr kumimoji="0" lang="fr-FR" sz="1800" b="1" i="1" u="none" strike="noStrike" kern="1200" cap="none" spc="0" normalizeH="0" baseline="0" noProof="0" dirty="0">
                <a:ln>
                  <a:noFill/>
                </a:ln>
                <a:solidFill>
                  <a:prstClr val="black"/>
                </a:solidFill>
                <a:effectLst/>
                <a:uLnTx/>
                <a:uFillTx/>
                <a:latin typeface="Calibri"/>
                <a:ea typeface="+mn-ea"/>
                <a:cs typeface="+mn-cs"/>
              </a:rPr>
              <a:t>6)   Traitement </a:t>
            </a:r>
            <a:r>
              <a:rPr lang="fr-FR" b="1" i="1" dirty="0">
                <a:solidFill>
                  <a:prstClr val="black"/>
                </a:solidFill>
                <a:latin typeface="Calibri"/>
              </a:rPr>
              <a:t>: </a:t>
            </a:r>
            <a:r>
              <a:rPr lang="fr-FR" dirty="0"/>
              <a:t>: Il répond au schéma suivant :</a:t>
            </a:r>
          </a:p>
          <a:p>
            <a:pPr marL="342900" marR="0" lvl="0" indent="-342900" algn="l" defTabSz="914400" rtl="0" eaLnBrk="1" fontAlgn="auto" latinLnBrk="0" hangingPunct="1">
              <a:lnSpc>
                <a:spcPct val="150000"/>
              </a:lnSpc>
              <a:spcBef>
                <a:spcPts val="0"/>
              </a:spcBef>
              <a:spcAft>
                <a:spcPts val="0"/>
              </a:spcAft>
              <a:buClrTx/>
              <a:buSzTx/>
              <a:buFont typeface="+mj-lt"/>
              <a:buAutoNum type="arabicParenR"/>
              <a:tabLst/>
              <a:defRPr/>
            </a:pPr>
            <a:endParaRPr lang="fr-FR" dirty="0"/>
          </a:p>
          <a:p>
            <a:pPr marR="0" lvl="0" algn="l" defTabSz="914400" rtl="0" eaLnBrk="1" fontAlgn="auto" latinLnBrk="0" hangingPunct="1">
              <a:lnSpc>
                <a:spcPct val="150000"/>
              </a:lnSpc>
              <a:spcBef>
                <a:spcPts val="0"/>
              </a:spcBef>
              <a:spcAft>
                <a:spcPts val="0"/>
              </a:spcAft>
              <a:buClrTx/>
              <a:buSzTx/>
              <a:tabLst/>
              <a:defRPr/>
            </a:pPr>
            <a:endParaRPr lang="fr-FR" dirty="0"/>
          </a:p>
          <a:p>
            <a:pPr marR="0" lvl="0" algn="l" defTabSz="914400" rtl="0" eaLnBrk="1" fontAlgn="auto" latinLnBrk="0" hangingPunct="1">
              <a:lnSpc>
                <a:spcPct val="150000"/>
              </a:lnSpc>
              <a:spcBef>
                <a:spcPts val="0"/>
              </a:spcBef>
              <a:spcAft>
                <a:spcPts val="0"/>
              </a:spcAft>
              <a:buClrTx/>
              <a:buSzTx/>
              <a:tabLst/>
              <a:defRPr/>
            </a:pPr>
            <a:endParaRPr lang="fr-FR" b="1" i="1" dirty="0">
              <a:solidFill>
                <a:prstClr val="black"/>
              </a:solidFill>
              <a:latin typeface="Calibri"/>
            </a:endParaRPr>
          </a:p>
          <a:p>
            <a:pPr marR="0" lvl="0" algn="l" defTabSz="914400" rtl="0" eaLnBrk="1" fontAlgn="auto" latinLnBrk="0" hangingPunct="1">
              <a:lnSpc>
                <a:spcPct val="150000"/>
              </a:lnSpc>
              <a:spcBef>
                <a:spcPts val="0"/>
              </a:spcBef>
              <a:spcAft>
                <a:spcPts val="0"/>
              </a:spcAft>
              <a:buClrTx/>
              <a:buSzTx/>
              <a:tabLst/>
              <a:defRPr/>
            </a:pPr>
            <a:r>
              <a:rPr kumimoji="0" lang="fr-FR" sz="1800" b="1" i="1" u="none" strike="noStrike" kern="1200" cap="none" spc="0" normalizeH="0" baseline="0" noProof="0" dirty="0">
                <a:ln>
                  <a:noFill/>
                </a:ln>
                <a:solidFill>
                  <a:prstClr val="black"/>
                </a:solidFill>
                <a:effectLst/>
                <a:uLnTx/>
                <a:uFillTx/>
                <a:latin typeface="Calibri"/>
                <a:ea typeface="+mn-ea"/>
                <a:cs typeface="+mn-cs"/>
              </a:rPr>
              <a:t>7)   Destruction   </a:t>
            </a:r>
            <a:r>
              <a:rPr kumimoji="0" lang="fr-FR" sz="1800" u="none" strike="noStrike" kern="1200" cap="none" spc="0" normalizeH="0" baseline="0" noProof="0" dirty="0">
                <a:ln>
                  <a:noFill/>
                </a:ln>
                <a:solidFill>
                  <a:prstClr val="black"/>
                </a:solidFill>
                <a:effectLst/>
                <a:uLnTx/>
                <a:uFillTx/>
                <a:latin typeface="Calibri"/>
                <a:ea typeface="+mn-ea"/>
                <a:cs typeface="+mn-cs"/>
              </a:rPr>
              <a:t>c’est  la  faire  disparaître.  </a:t>
            </a:r>
          </a:p>
        </p:txBody>
      </p:sp>
      <p:pic>
        <p:nvPicPr>
          <p:cNvPr id="4" name="Image 3">
            <a:extLst>
              <a:ext uri="{FF2B5EF4-FFF2-40B4-BE49-F238E27FC236}">
                <a16:creationId xmlns:a16="http://schemas.microsoft.com/office/drawing/2014/main" id="{90629325-A7D2-4B61-92FB-014E30455425}"/>
              </a:ext>
            </a:extLst>
          </p:cNvPr>
          <p:cNvPicPr>
            <a:picLocks noChangeAspect="1"/>
          </p:cNvPicPr>
          <p:nvPr/>
        </p:nvPicPr>
        <p:blipFill>
          <a:blip r:embed="rId2"/>
          <a:stretch>
            <a:fillRect/>
          </a:stretch>
        </p:blipFill>
        <p:spPr>
          <a:xfrm>
            <a:off x="2057400" y="4191000"/>
            <a:ext cx="4915153" cy="882695"/>
          </a:xfrm>
          <a:prstGeom prst="rect">
            <a:avLst/>
          </a:prstGeom>
        </p:spPr>
      </p:pic>
    </p:spTree>
    <p:extLst>
      <p:ext uri="{BB962C8B-B14F-4D97-AF65-F5344CB8AC3E}">
        <p14:creationId xmlns:p14="http://schemas.microsoft.com/office/powerpoint/2010/main" val="3719368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3" end="3"/>
                                            </p:txEl>
                                          </p:spTgt>
                                        </p:tgtEl>
                                        <p:attrNameLst>
                                          <p:attrName>style.visibility</p:attrName>
                                        </p:attrNameLst>
                                      </p:cBhvr>
                                      <p:to>
                                        <p:strVal val="visible"/>
                                      </p:to>
                                    </p:set>
                                    <p:animEffect transition="in" filter="fade">
                                      <p:cBhvr>
                                        <p:cTn id="14" dur="1000"/>
                                        <p:tgtEl>
                                          <p:spTgt spid="5">
                                            <p:txEl>
                                              <p:pRg st="3" end="3"/>
                                            </p:txEl>
                                          </p:spTgt>
                                        </p:tgtEl>
                                      </p:cBhvr>
                                    </p:animEffect>
                                    <p:anim calcmode="lin" valueType="num">
                                      <p:cBhvr>
                                        <p:cTn id="15"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animEffect transition="in" filter="fade">
                                      <p:cBhvr>
                                        <p:cTn id="21" dur="1000"/>
                                        <p:tgtEl>
                                          <p:spTgt spid="5">
                                            <p:txEl>
                                              <p:pRg st="5" end="5"/>
                                            </p:txEl>
                                          </p:spTgt>
                                        </p:tgtEl>
                                      </p:cBhvr>
                                    </p:animEffect>
                                    <p:anim calcmode="lin" valueType="num">
                                      <p:cBhvr>
                                        <p:cTn id="22"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anim calcmode="lin" valueType="num">
                                      <p:cBhvr>
                                        <p:cTn id="29" dur="1000" fill="hold"/>
                                        <p:tgtEl>
                                          <p:spTgt spid="4"/>
                                        </p:tgtEl>
                                        <p:attrNameLst>
                                          <p:attrName>ppt_x</p:attrName>
                                        </p:attrNameLst>
                                      </p:cBhvr>
                                      <p:tavLst>
                                        <p:tav tm="0">
                                          <p:val>
                                            <p:strVal val="#ppt_x"/>
                                          </p:val>
                                        </p:tav>
                                        <p:tav tm="100000">
                                          <p:val>
                                            <p:strVal val="#ppt_x"/>
                                          </p:val>
                                        </p:tav>
                                      </p:tavLst>
                                    </p:anim>
                                    <p:anim calcmode="lin" valueType="num">
                                      <p:cBhvr>
                                        <p:cTn id="3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5">
                                            <p:txEl>
                                              <p:pRg st="9" end="9"/>
                                            </p:txEl>
                                          </p:spTgt>
                                        </p:tgtEl>
                                        <p:attrNameLst>
                                          <p:attrName>style.visibility</p:attrName>
                                        </p:attrNameLst>
                                      </p:cBhvr>
                                      <p:to>
                                        <p:strVal val="visible"/>
                                      </p:to>
                                    </p:set>
                                    <p:animEffect transition="in" filter="fade">
                                      <p:cBhvr>
                                        <p:cTn id="35" dur="1000"/>
                                        <p:tgtEl>
                                          <p:spTgt spid="5">
                                            <p:txEl>
                                              <p:pRg st="9" end="9"/>
                                            </p:txEl>
                                          </p:spTgt>
                                        </p:tgtEl>
                                      </p:cBhvr>
                                    </p:animEffect>
                                    <p:anim calcmode="lin" valueType="num">
                                      <p:cBhvr>
                                        <p:cTn id="36" dur="1000" fill="hold"/>
                                        <p:tgtEl>
                                          <p:spTgt spid="5">
                                            <p:txEl>
                                              <p:pRg st="9" end="9"/>
                                            </p:txEl>
                                          </p:spTgt>
                                        </p:tgtEl>
                                        <p:attrNameLst>
                                          <p:attrName>ppt_x</p:attrName>
                                        </p:attrNameLst>
                                      </p:cBhvr>
                                      <p:tavLst>
                                        <p:tav tm="0">
                                          <p:val>
                                            <p:strVal val="#ppt_x"/>
                                          </p:val>
                                        </p:tav>
                                        <p:tav tm="100000">
                                          <p:val>
                                            <p:strVal val="#ppt_x"/>
                                          </p:val>
                                        </p:tav>
                                      </p:tavLst>
                                    </p:anim>
                                    <p:anim calcmode="lin" valueType="num">
                                      <p:cBhvr>
                                        <p:cTn id="37" dur="1000" fill="hold"/>
                                        <p:tgtEl>
                                          <p:spTgt spid="5">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xfrm>
            <a:off x="198344" y="5610879"/>
            <a:ext cx="245433" cy="179536"/>
          </a:xfrm>
          <a:prstGeom prst="rect">
            <a:avLst/>
          </a:prstGeom>
        </p:spPr>
        <p:txBody>
          <a:bodyPr vert="horz" wrap="square" lIns="0" tIns="0" rIns="0" bIns="0" rtlCol="0">
            <a:spAutoFit/>
          </a:bodyPr>
          <a:lstStyle/>
          <a:p>
            <a:pPr marL="33665" marR="0" lvl="0" indent="0" algn="l" defTabSz="914400" rtl="0" eaLnBrk="1" fontAlgn="auto" latinLnBrk="0" hangingPunct="1">
              <a:lnSpc>
                <a:spcPts val="1380"/>
              </a:lnSpc>
              <a:spcBef>
                <a:spcPts val="0"/>
              </a:spcBef>
              <a:spcAft>
                <a:spcPts val="0"/>
              </a:spcAft>
              <a:buClrTx/>
              <a:buSzTx/>
              <a:buFontTx/>
              <a:buNone/>
              <a:tabLst/>
              <a:defRPr/>
            </a:pPr>
            <a:fld id="{81D60167-4931-47E6-BA6A-407CBD079E47}" type="slidenum">
              <a:rPr kumimoji="0" sz="1400" b="0" i="0" u="none" strike="noStrike" kern="1200" cap="none" spc="-4" normalizeH="0" baseline="0" noProof="0" dirty="0">
                <a:ln>
                  <a:noFill/>
                </a:ln>
                <a:solidFill>
                  <a:prstClr val="white"/>
                </a:solidFill>
                <a:effectLst/>
                <a:uLnTx/>
                <a:uFillTx/>
                <a:latin typeface="Franklin Gothic Medium"/>
                <a:ea typeface="+mn-ea"/>
              </a:rPr>
              <a:pPr marL="33665" marR="0" lvl="0" indent="0" algn="l" defTabSz="914400" rtl="0" eaLnBrk="1" fontAlgn="auto" latinLnBrk="0" hangingPunct="1">
                <a:lnSpc>
                  <a:spcPts val="1380"/>
                </a:lnSpc>
                <a:spcBef>
                  <a:spcPts val="0"/>
                </a:spcBef>
                <a:spcAft>
                  <a:spcPts val="0"/>
                </a:spcAft>
                <a:buClrTx/>
                <a:buSzTx/>
                <a:buFontTx/>
                <a:buNone/>
                <a:tabLst/>
                <a:defRPr/>
              </a:pPr>
              <a:t>10</a:t>
            </a:fld>
            <a:endParaRPr kumimoji="0" sz="1400" b="0" i="0" u="none" strike="noStrike" kern="1200" cap="none" spc="-4" normalizeH="0" baseline="0" noProof="0" dirty="0">
              <a:ln>
                <a:noFill/>
              </a:ln>
              <a:solidFill>
                <a:prstClr val="white"/>
              </a:solidFill>
              <a:effectLst/>
              <a:uLnTx/>
              <a:uFillTx/>
              <a:latin typeface="Franklin Gothic Medium"/>
              <a:ea typeface="+mn-ea"/>
            </a:endParaRPr>
          </a:p>
        </p:txBody>
      </p:sp>
      <p:sp>
        <p:nvSpPr>
          <p:cNvPr id="3" name="ZoneTexte 2">
            <a:extLst>
              <a:ext uri="{FF2B5EF4-FFF2-40B4-BE49-F238E27FC236}">
                <a16:creationId xmlns:a16="http://schemas.microsoft.com/office/drawing/2014/main" id="{CB61D47A-7F42-5D19-8476-8FE7B674B7EA}"/>
              </a:ext>
            </a:extLst>
          </p:cNvPr>
          <p:cNvSpPr txBox="1"/>
          <p:nvPr/>
        </p:nvSpPr>
        <p:spPr>
          <a:xfrm>
            <a:off x="321060" y="304800"/>
            <a:ext cx="7756140"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3200" b="1" i="1" u="none" strike="noStrike" kern="1200" cap="none" spc="0" normalizeH="0" baseline="0" noProof="0" dirty="0">
                <a:ln>
                  <a:noFill/>
                </a:ln>
                <a:solidFill>
                  <a:srgbClr val="FF0000"/>
                </a:solidFill>
                <a:effectLst/>
                <a:uLnTx/>
                <a:uFillTx/>
                <a:latin typeface="Calibri"/>
                <a:ea typeface="+mn-ea"/>
                <a:cs typeface="+mn-cs"/>
              </a:rPr>
              <a:t>Les manipulations de l'information</a:t>
            </a:r>
          </a:p>
        </p:txBody>
      </p:sp>
      <p:sp>
        <p:nvSpPr>
          <p:cNvPr id="5" name="ZoneTexte 4">
            <a:extLst>
              <a:ext uri="{FF2B5EF4-FFF2-40B4-BE49-F238E27FC236}">
                <a16:creationId xmlns:a16="http://schemas.microsoft.com/office/drawing/2014/main" id="{7E40409E-FCD6-5278-0020-94834D0A535C}"/>
              </a:ext>
            </a:extLst>
          </p:cNvPr>
          <p:cNvSpPr txBox="1"/>
          <p:nvPr/>
        </p:nvSpPr>
        <p:spPr>
          <a:xfrm>
            <a:off x="321916" y="698871"/>
            <a:ext cx="8534400" cy="3373359"/>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fr-FR" sz="1800" b="1" i="1" u="none" strike="noStrike" kern="1200" cap="none" spc="0" normalizeH="0" baseline="0" noProof="0" dirty="0">
              <a:ln>
                <a:noFill/>
              </a:ln>
              <a:solidFill>
                <a:prstClr val="black"/>
              </a:solidFill>
              <a:effectLst/>
              <a:uLnTx/>
              <a:uFillTx/>
              <a:latin typeface="Calibri"/>
              <a:ea typeface="+mn-ea"/>
              <a:cs typeface="+mn-cs"/>
            </a:endParaRPr>
          </a:p>
          <a:p>
            <a:pPr marR="0" lvl="0" algn="l" defTabSz="914400" rtl="0" eaLnBrk="1" fontAlgn="auto" latinLnBrk="0" hangingPunct="1">
              <a:lnSpc>
                <a:spcPct val="150000"/>
              </a:lnSpc>
              <a:spcBef>
                <a:spcPts val="0"/>
              </a:spcBef>
              <a:spcAft>
                <a:spcPts val="0"/>
              </a:spcAft>
              <a:buClrTx/>
              <a:buSzTx/>
              <a:tabLst/>
              <a:defRPr/>
            </a:pPr>
            <a:r>
              <a:rPr kumimoji="0" lang="fr-FR" sz="1800" b="1" i="1" u="none" strike="noStrike" kern="1200" cap="none" spc="0" normalizeH="0" baseline="0" noProof="0" dirty="0">
                <a:ln>
                  <a:noFill/>
                </a:ln>
                <a:solidFill>
                  <a:prstClr val="black"/>
                </a:solidFill>
                <a:effectLst/>
                <a:uLnTx/>
                <a:uFillTx/>
                <a:latin typeface="Calibri"/>
                <a:ea typeface="+mn-ea"/>
                <a:cs typeface="+mn-cs"/>
              </a:rPr>
              <a:t>8)   Compréhension</a:t>
            </a:r>
            <a:r>
              <a:rPr kumimoji="0" lang="fr-FR" sz="1800" b="0" i="0" u="none" strike="noStrike" kern="1200" cap="none" spc="0" normalizeH="0" baseline="0" noProof="0" dirty="0">
                <a:ln>
                  <a:noFill/>
                </a:ln>
                <a:solidFill>
                  <a:prstClr val="black"/>
                </a:solidFill>
                <a:effectLst/>
                <a:uLnTx/>
                <a:uFillTx/>
                <a:latin typeface="Calibri"/>
                <a:ea typeface="+mn-ea"/>
                <a:cs typeface="+mn-cs"/>
              </a:rPr>
              <a:t> : C'est le processus par lequel on accède à un sens de l'information. C'est un processus complexe et particulièrement difficile à réaliser par l'ordinateur. Par exemple : </a:t>
            </a:r>
            <a:r>
              <a:rPr kumimoji="0" lang="fr-FR" sz="1800" b="0" i="0" u="none" strike="noStrike" kern="1200" cap="none" spc="0" normalizeH="0" baseline="0" noProof="0" dirty="0">
                <a:ln>
                  <a:noFill/>
                </a:ln>
                <a:solidFill>
                  <a:prstClr val="black"/>
                </a:solidFill>
                <a:effectLst/>
                <a:uLnTx/>
                <a:uFillTx/>
                <a:latin typeface="Abel" panose="020B0604020202020204" pitchFamily="2" charset="0"/>
                <a:ea typeface="+mn-ea"/>
                <a:cs typeface="+mn-cs"/>
              </a:rPr>
              <a:t>■ </a:t>
            </a:r>
            <a:r>
              <a:rPr kumimoji="0" lang="fr-FR" sz="1800" b="0" i="0" u="none" strike="noStrike" kern="1200" cap="none" spc="0" normalizeH="0" baseline="0" noProof="0" dirty="0">
                <a:ln>
                  <a:noFill/>
                </a:ln>
                <a:solidFill>
                  <a:prstClr val="black"/>
                </a:solidFill>
                <a:effectLst/>
                <a:uLnTx/>
                <a:uFillTx/>
                <a:latin typeface="Calibri"/>
                <a:ea typeface="+mn-ea"/>
                <a:cs typeface="+mn-cs"/>
              </a:rPr>
              <a:t>La reconnaissance de la parole   </a:t>
            </a:r>
            <a:r>
              <a:rPr kumimoji="0" lang="fr-FR" sz="1800" b="0" i="0" u="none" strike="noStrike" kern="1200" cap="none" spc="0" normalizeH="0" baseline="0" noProof="0" dirty="0">
                <a:ln>
                  <a:noFill/>
                </a:ln>
                <a:solidFill>
                  <a:prstClr val="black"/>
                </a:solidFill>
                <a:effectLst/>
                <a:uLnTx/>
                <a:uFillTx/>
                <a:latin typeface="Abel" panose="02000506030000020004" pitchFamily="2" charset="0"/>
                <a:ea typeface="+mn-ea"/>
                <a:cs typeface="+mn-cs"/>
              </a:rPr>
              <a:t>■ </a:t>
            </a:r>
            <a:r>
              <a:rPr kumimoji="0" lang="fr-FR" sz="1800" b="0" i="0" u="none" strike="noStrike" kern="1200" cap="none" spc="0" normalizeH="0" baseline="0" noProof="0" dirty="0">
                <a:ln>
                  <a:noFill/>
                </a:ln>
                <a:solidFill>
                  <a:prstClr val="black"/>
                </a:solidFill>
                <a:effectLst/>
                <a:uLnTx/>
                <a:uFillTx/>
                <a:latin typeface="Calibri"/>
                <a:ea typeface="+mn-ea"/>
                <a:cs typeface="+mn-cs"/>
              </a:rPr>
              <a:t>La reconnaissance des formes</a:t>
            </a:r>
          </a:p>
          <a:p>
            <a:pPr marR="0" lvl="0" algn="l" defTabSz="914400" rtl="0" eaLnBrk="1" fontAlgn="auto" latinLnBrk="0" hangingPunct="1">
              <a:lnSpc>
                <a:spcPct val="150000"/>
              </a:lnSpc>
              <a:spcBef>
                <a:spcPts val="0"/>
              </a:spcBef>
              <a:spcAft>
                <a:spcPts val="0"/>
              </a:spcAft>
              <a:buClrTx/>
              <a:buSzTx/>
              <a:tabLst/>
              <a:defRPr/>
            </a:pPr>
            <a:endParaRPr lang="fr-FR" dirty="0">
              <a:solidFill>
                <a:prstClr val="black"/>
              </a:solidFill>
              <a:latin typeface="Calibri"/>
            </a:endParaRPr>
          </a:p>
          <a:p>
            <a:pPr marR="0" lvl="0" algn="l" defTabSz="914400" rtl="0" eaLnBrk="1" fontAlgn="auto" latinLnBrk="0" hangingPunct="1">
              <a:lnSpc>
                <a:spcPct val="150000"/>
              </a:lnSpc>
              <a:spcBef>
                <a:spcPts val="0"/>
              </a:spcBef>
              <a:spcAft>
                <a:spcPts val="0"/>
              </a:spcAft>
              <a:buClrTx/>
              <a:buSzTx/>
              <a:tabLst/>
              <a:defRPr/>
            </a:pPr>
            <a:r>
              <a:rPr kumimoji="0" lang="fr-FR" sz="1800" b="1" i="1" u="none" strike="noStrike" kern="1200" cap="none" spc="0" normalizeH="0" baseline="0" noProof="0" dirty="0">
                <a:ln>
                  <a:noFill/>
                </a:ln>
                <a:solidFill>
                  <a:prstClr val="black"/>
                </a:solidFill>
                <a:effectLst/>
                <a:uLnTx/>
                <a:uFillTx/>
                <a:latin typeface="Calibri"/>
                <a:ea typeface="+mn-ea"/>
                <a:cs typeface="+mn-cs"/>
              </a:rPr>
              <a:t>9)   Résume : </a:t>
            </a:r>
            <a:r>
              <a:rPr kumimoji="0" lang="fr-FR" sz="1800" b="0" i="0" u="none" strike="noStrike" kern="1200" cap="none" spc="0" normalizeH="0" baseline="0" noProof="0" dirty="0">
                <a:ln>
                  <a:noFill/>
                </a:ln>
                <a:solidFill>
                  <a:prstClr val="black"/>
                </a:solidFill>
                <a:effectLst/>
                <a:uLnTx/>
                <a:uFillTx/>
                <a:latin typeface="Calibri"/>
                <a:ea typeface="+mn-ea"/>
                <a:cs typeface="+mn-cs"/>
              </a:rPr>
              <a:t>Résumer un ensemble d'informations et réduire son volume en tentant de garder son sens. Il suppose la compréhension de l'information afin d'appliquer le procédé du résumé</a:t>
            </a:r>
          </a:p>
        </p:txBody>
      </p:sp>
    </p:spTree>
    <p:extLst>
      <p:ext uri="{BB962C8B-B14F-4D97-AF65-F5344CB8AC3E}">
        <p14:creationId xmlns:p14="http://schemas.microsoft.com/office/powerpoint/2010/main" val="4266057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3" end="3"/>
                                            </p:txEl>
                                          </p:spTgt>
                                        </p:tgtEl>
                                        <p:attrNameLst>
                                          <p:attrName>style.visibility</p:attrName>
                                        </p:attrNameLst>
                                      </p:cBhvr>
                                      <p:to>
                                        <p:strVal val="visible"/>
                                      </p:to>
                                    </p:set>
                                    <p:animEffect transition="in" filter="fade">
                                      <p:cBhvr>
                                        <p:cTn id="14" dur="1000"/>
                                        <p:tgtEl>
                                          <p:spTgt spid="5">
                                            <p:txEl>
                                              <p:pRg st="3" end="3"/>
                                            </p:txEl>
                                          </p:spTgt>
                                        </p:tgtEl>
                                      </p:cBhvr>
                                    </p:animEffect>
                                    <p:anim calcmode="lin" valueType="num">
                                      <p:cBhvr>
                                        <p:cTn id="15"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C8A3BE3C-4239-29B7-C7B7-8F9D248C3E4F}"/>
              </a:ext>
            </a:extLst>
          </p:cNvPr>
          <p:cNvSpPr txBox="1"/>
          <p:nvPr/>
        </p:nvSpPr>
        <p:spPr>
          <a:xfrm>
            <a:off x="246380" y="882689"/>
            <a:ext cx="8534400" cy="1801391"/>
          </a:xfrm>
          <a:prstGeom prst="rect">
            <a:avLst/>
          </a:prstGeom>
          <a:noFill/>
        </p:spPr>
        <p:txBody>
          <a:bodyPr wrap="square">
            <a:spAutoFit/>
          </a:bodyPr>
          <a:lstStyle/>
          <a:p>
            <a:pPr algn="just">
              <a:lnSpc>
                <a:spcPct val="150000"/>
              </a:lnSpc>
            </a:pPr>
            <a:r>
              <a:rPr lang="fr-FR" sz="1900" dirty="0"/>
              <a:t>   On utilise parfois indifféremment les termes information et donnée. En fait, une donnée ne devient une information que lorsqu’elle est reçue par un être humain qui en fait une interprétation. La signification d’une donnée brute n’est donc pas la même d’une personne à une autre. </a:t>
            </a:r>
          </a:p>
        </p:txBody>
      </p:sp>
      <p:sp>
        <p:nvSpPr>
          <p:cNvPr id="6" name="ZoneTexte 5">
            <a:extLst>
              <a:ext uri="{FF2B5EF4-FFF2-40B4-BE49-F238E27FC236}">
                <a16:creationId xmlns:a16="http://schemas.microsoft.com/office/drawing/2014/main" id="{AF32A1E6-4B85-F0F4-84D7-336E227BB649}"/>
              </a:ext>
            </a:extLst>
          </p:cNvPr>
          <p:cNvSpPr txBox="1"/>
          <p:nvPr/>
        </p:nvSpPr>
        <p:spPr>
          <a:xfrm>
            <a:off x="381000" y="154054"/>
            <a:ext cx="5392420" cy="584775"/>
          </a:xfrm>
          <a:prstGeom prst="rect">
            <a:avLst/>
          </a:prstGeom>
          <a:noFill/>
        </p:spPr>
        <p:txBody>
          <a:bodyPr wrap="square">
            <a:spAutoFit/>
          </a:bodyPr>
          <a:lstStyle/>
          <a:p>
            <a:r>
              <a:rPr lang="fr-FR" sz="3200" b="1" i="1" dirty="0">
                <a:solidFill>
                  <a:srgbClr val="FF0000"/>
                </a:solidFill>
              </a:rPr>
              <a:t>L’information et donnée </a:t>
            </a:r>
          </a:p>
        </p:txBody>
      </p:sp>
      <p:sp>
        <p:nvSpPr>
          <p:cNvPr id="3" name="ZoneTexte 2">
            <a:extLst>
              <a:ext uri="{FF2B5EF4-FFF2-40B4-BE49-F238E27FC236}">
                <a16:creationId xmlns:a16="http://schemas.microsoft.com/office/drawing/2014/main" id="{D2CD9DE7-B5DF-8F68-3158-B55610706A34}"/>
              </a:ext>
            </a:extLst>
          </p:cNvPr>
          <p:cNvSpPr txBox="1"/>
          <p:nvPr/>
        </p:nvSpPr>
        <p:spPr>
          <a:xfrm>
            <a:off x="457200" y="2971800"/>
            <a:ext cx="8534400" cy="1801391"/>
          </a:xfrm>
          <a:prstGeom prst="rect">
            <a:avLst/>
          </a:prstGeom>
          <a:noFill/>
        </p:spPr>
        <p:txBody>
          <a:bodyPr wrap="square">
            <a:spAutoFit/>
          </a:bodyPr>
          <a:lstStyle/>
          <a:p>
            <a:pPr algn="ctr">
              <a:lnSpc>
                <a:spcPct val="150000"/>
              </a:lnSpc>
            </a:pPr>
            <a:r>
              <a:rPr lang="fr-FR" sz="1900" b="1" dirty="0"/>
              <a:t>Dans le contexte d’une entreprise, les données stockées dans le système informatique sont la traduction codée d’informations, ce qui explique que les deux termes, information et donnée, soient le plus souvent considérés comme synonymes.</a:t>
            </a:r>
          </a:p>
        </p:txBody>
      </p:sp>
      <p:sp>
        <p:nvSpPr>
          <p:cNvPr id="7" name="ZoneTexte 6">
            <a:extLst>
              <a:ext uri="{FF2B5EF4-FFF2-40B4-BE49-F238E27FC236}">
                <a16:creationId xmlns:a16="http://schemas.microsoft.com/office/drawing/2014/main" id="{D75343F7-4891-621C-9751-EF81755C0C5B}"/>
              </a:ext>
            </a:extLst>
          </p:cNvPr>
          <p:cNvSpPr txBox="1"/>
          <p:nvPr/>
        </p:nvSpPr>
        <p:spPr>
          <a:xfrm>
            <a:off x="1066800" y="5334000"/>
            <a:ext cx="7239000" cy="830997"/>
          </a:xfrm>
          <a:prstGeom prst="rect">
            <a:avLst/>
          </a:prstGeom>
          <a:noFill/>
        </p:spPr>
        <p:txBody>
          <a:bodyPr wrap="square">
            <a:spAutoFit/>
          </a:bodyPr>
          <a:lstStyle/>
          <a:p>
            <a:pPr algn="ctr"/>
            <a:r>
              <a:rPr lang="fr-FR" sz="2400" b="1" dirty="0">
                <a:solidFill>
                  <a:srgbClr val="FF0000"/>
                </a:solidFill>
              </a:rPr>
              <a:t>Dans les systèmes informatiques, la donnée est par ailleurs la traduction codée d'une information.</a:t>
            </a:r>
          </a:p>
        </p:txBody>
      </p:sp>
    </p:spTree>
    <p:extLst>
      <p:ext uri="{BB962C8B-B14F-4D97-AF65-F5344CB8AC3E}">
        <p14:creationId xmlns:p14="http://schemas.microsoft.com/office/powerpoint/2010/main" val="1089908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8059EB12-A733-F326-8311-C0115603D7F7}"/>
              </a:ext>
            </a:extLst>
          </p:cNvPr>
          <p:cNvSpPr txBox="1"/>
          <p:nvPr/>
        </p:nvSpPr>
        <p:spPr>
          <a:xfrm>
            <a:off x="152400" y="304800"/>
            <a:ext cx="8839200" cy="1077218"/>
          </a:xfrm>
          <a:prstGeom prst="rect">
            <a:avLst/>
          </a:prstGeom>
          <a:noFill/>
        </p:spPr>
        <p:txBody>
          <a:bodyPr wrap="square">
            <a:spAutoFit/>
          </a:bodyPr>
          <a:lstStyle/>
          <a:p>
            <a:pPr algn="ctr"/>
            <a:r>
              <a:rPr lang="fr-FR" sz="3200" b="1" i="1" dirty="0">
                <a:solidFill>
                  <a:srgbClr val="FF0000"/>
                </a:solidFill>
              </a:rPr>
              <a:t>Représentation de l’information :</a:t>
            </a:r>
          </a:p>
          <a:p>
            <a:pPr algn="ctr"/>
            <a:r>
              <a:rPr lang="fr-FR" sz="3200" b="1" i="1" dirty="0">
                <a:solidFill>
                  <a:srgbClr val="FF0000"/>
                </a:solidFill>
              </a:rPr>
              <a:t>Concepts : information comme renseignement </a:t>
            </a:r>
          </a:p>
        </p:txBody>
      </p:sp>
      <p:sp>
        <p:nvSpPr>
          <p:cNvPr id="7" name="ZoneTexte 6">
            <a:extLst>
              <a:ext uri="{FF2B5EF4-FFF2-40B4-BE49-F238E27FC236}">
                <a16:creationId xmlns:a16="http://schemas.microsoft.com/office/drawing/2014/main" id="{E1BBEADE-B158-C0C5-8EEA-B21F953719E9}"/>
              </a:ext>
            </a:extLst>
          </p:cNvPr>
          <p:cNvSpPr txBox="1"/>
          <p:nvPr/>
        </p:nvSpPr>
        <p:spPr>
          <a:xfrm>
            <a:off x="762000" y="1828800"/>
            <a:ext cx="7620000" cy="2999283"/>
          </a:xfrm>
          <a:prstGeom prst="rect">
            <a:avLst/>
          </a:prstGeom>
          <a:noFill/>
        </p:spPr>
        <p:txBody>
          <a:bodyPr wrap="square">
            <a:spAutoFit/>
          </a:bodyPr>
          <a:lstStyle/>
          <a:p>
            <a:pPr>
              <a:lnSpc>
                <a:spcPct val="150000"/>
              </a:lnSpc>
            </a:pPr>
            <a:r>
              <a:rPr lang="fr-FR" sz="2800" b="1" i="1" dirty="0">
                <a:solidFill>
                  <a:srgbClr val="FF0000"/>
                </a:solidFill>
              </a:rPr>
              <a:t> a/ L’entité(individu, objet) : </a:t>
            </a:r>
          </a:p>
          <a:p>
            <a:pPr>
              <a:lnSpc>
                <a:spcPct val="150000"/>
              </a:lnSpc>
            </a:pPr>
            <a:r>
              <a:rPr lang="fr-FR" sz="2000" dirty="0"/>
              <a:t>c’est l’objet, le  concept, ou l’événement qu’on veut décrire.</a:t>
            </a:r>
          </a:p>
          <a:p>
            <a:pPr>
              <a:lnSpc>
                <a:spcPct val="150000"/>
              </a:lnSpc>
            </a:pPr>
            <a:r>
              <a:rPr lang="fr-FR" sz="2000" b="1" i="1" dirty="0"/>
              <a:t>• Exemples: </a:t>
            </a:r>
          </a:p>
          <a:p>
            <a:pPr>
              <a:lnSpc>
                <a:spcPct val="150000"/>
              </a:lnSpc>
            </a:pPr>
            <a:r>
              <a:rPr lang="fr-FR" sz="2000" dirty="0"/>
              <a:t>• Entité Etudiant</a:t>
            </a:r>
          </a:p>
          <a:p>
            <a:pPr>
              <a:lnSpc>
                <a:spcPct val="150000"/>
              </a:lnSpc>
            </a:pPr>
            <a:r>
              <a:rPr lang="fr-FR" sz="2000" dirty="0"/>
              <a:t>• Entité Client</a:t>
            </a:r>
          </a:p>
          <a:p>
            <a:pPr>
              <a:lnSpc>
                <a:spcPct val="150000"/>
              </a:lnSpc>
            </a:pPr>
            <a:r>
              <a:rPr lang="fr-FR" sz="2000" dirty="0"/>
              <a:t>• Entité Commande </a:t>
            </a:r>
          </a:p>
        </p:txBody>
      </p:sp>
    </p:spTree>
    <p:extLst>
      <p:ext uri="{BB962C8B-B14F-4D97-AF65-F5344CB8AC3E}">
        <p14:creationId xmlns:p14="http://schemas.microsoft.com/office/powerpoint/2010/main" val="1473185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8059EB12-A733-F326-8311-C0115603D7F7}"/>
              </a:ext>
            </a:extLst>
          </p:cNvPr>
          <p:cNvSpPr txBox="1"/>
          <p:nvPr/>
        </p:nvSpPr>
        <p:spPr>
          <a:xfrm>
            <a:off x="152400" y="304800"/>
            <a:ext cx="8839200" cy="1077218"/>
          </a:xfrm>
          <a:prstGeom prst="rect">
            <a:avLst/>
          </a:prstGeom>
          <a:noFill/>
        </p:spPr>
        <p:txBody>
          <a:bodyPr wrap="square">
            <a:spAutoFit/>
          </a:bodyPr>
          <a:lstStyle/>
          <a:p>
            <a:pPr algn="ctr"/>
            <a:r>
              <a:rPr lang="fr-FR" sz="3200" b="1" i="1" dirty="0">
                <a:solidFill>
                  <a:srgbClr val="FF0000"/>
                </a:solidFill>
              </a:rPr>
              <a:t>Représentation de l’information :</a:t>
            </a:r>
          </a:p>
          <a:p>
            <a:pPr algn="ctr"/>
            <a:r>
              <a:rPr lang="fr-FR" sz="3200" b="1" i="1" dirty="0">
                <a:solidFill>
                  <a:srgbClr val="FF0000"/>
                </a:solidFill>
              </a:rPr>
              <a:t>Concepts : information comme renseignement </a:t>
            </a:r>
          </a:p>
        </p:txBody>
      </p:sp>
      <p:sp>
        <p:nvSpPr>
          <p:cNvPr id="3" name="ZoneTexte 2">
            <a:extLst>
              <a:ext uri="{FF2B5EF4-FFF2-40B4-BE49-F238E27FC236}">
                <a16:creationId xmlns:a16="http://schemas.microsoft.com/office/drawing/2014/main" id="{D6EA0DB7-7757-F32B-9567-665ABDF4D053}"/>
              </a:ext>
            </a:extLst>
          </p:cNvPr>
          <p:cNvSpPr txBox="1"/>
          <p:nvPr/>
        </p:nvSpPr>
        <p:spPr>
          <a:xfrm>
            <a:off x="457200" y="1676400"/>
            <a:ext cx="8153400" cy="1614288"/>
          </a:xfrm>
          <a:prstGeom prst="rect">
            <a:avLst/>
          </a:prstGeom>
          <a:noFill/>
        </p:spPr>
        <p:txBody>
          <a:bodyPr wrap="square">
            <a:spAutoFit/>
          </a:bodyPr>
          <a:lstStyle/>
          <a:p>
            <a:pPr>
              <a:lnSpc>
                <a:spcPct val="150000"/>
              </a:lnSpc>
            </a:pPr>
            <a:r>
              <a:rPr lang="fr-FR" sz="2800" b="1" i="1" dirty="0">
                <a:solidFill>
                  <a:srgbClr val="FF0000"/>
                </a:solidFill>
              </a:rPr>
              <a:t> b/l’attribut ou rubrique : </a:t>
            </a:r>
            <a:r>
              <a:rPr lang="fr-FR" sz="2000" dirty="0"/>
              <a:t>(la propriété ou la rubrique liée à  l’individu)  c’est la caractéristique que l’on retient pour décrire l’entité ou l’individu.</a:t>
            </a:r>
          </a:p>
        </p:txBody>
      </p:sp>
      <p:pic>
        <p:nvPicPr>
          <p:cNvPr id="6" name="Image 5">
            <a:extLst>
              <a:ext uri="{FF2B5EF4-FFF2-40B4-BE49-F238E27FC236}">
                <a16:creationId xmlns:a16="http://schemas.microsoft.com/office/drawing/2014/main" id="{43644D62-1682-6939-E6FD-6CC6E96AFD45}"/>
              </a:ext>
            </a:extLst>
          </p:cNvPr>
          <p:cNvPicPr>
            <a:picLocks noChangeAspect="1"/>
          </p:cNvPicPr>
          <p:nvPr/>
        </p:nvPicPr>
        <p:blipFill>
          <a:blip r:embed="rId2"/>
          <a:stretch>
            <a:fillRect/>
          </a:stretch>
        </p:blipFill>
        <p:spPr>
          <a:xfrm>
            <a:off x="1050744" y="3586363"/>
            <a:ext cx="7407456" cy="2966837"/>
          </a:xfrm>
          <a:prstGeom prst="rect">
            <a:avLst/>
          </a:prstGeom>
        </p:spPr>
      </p:pic>
    </p:spTree>
    <p:extLst>
      <p:ext uri="{BB962C8B-B14F-4D97-AF65-F5344CB8AC3E}">
        <p14:creationId xmlns:p14="http://schemas.microsoft.com/office/powerpoint/2010/main" val="3042572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8059EB12-A733-F326-8311-C0115603D7F7}"/>
              </a:ext>
            </a:extLst>
          </p:cNvPr>
          <p:cNvSpPr txBox="1"/>
          <p:nvPr/>
        </p:nvSpPr>
        <p:spPr>
          <a:xfrm>
            <a:off x="152400" y="304800"/>
            <a:ext cx="8839200" cy="107721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3200" b="1" i="1" u="none" strike="noStrike" kern="1200" cap="none" spc="0" normalizeH="0" baseline="0" noProof="0" dirty="0">
                <a:ln>
                  <a:noFill/>
                </a:ln>
                <a:solidFill>
                  <a:srgbClr val="FF0000"/>
                </a:solidFill>
                <a:effectLst/>
                <a:uLnTx/>
                <a:uFillTx/>
                <a:latin typeface="Calibri"/>
                <a:ea typeface="+mn-ea"/>
                <a:cs typeface="+mn-cs"/>
              </a:rPr>
              <a:t>Représentation de l’information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3200" b="1" i="1" u="none" strike="noStrike" kern="1200" cap="none" spc="0" normalizeH="0" baseline="0" noProof="0" dirty="0">
                <a:ln>
                  <a:noFill/>
                </a:ln>
                <a:solidFill>
                  <a:srgbClr val="FF0000"/>
                </a:solidFill>
                <a:effectLst/>
                <a:uLnTx/>
                <a:uFillTx/>
                <a:latin typeface="Calibri"/>
                <a:ea typeface="+mn-ea"/>
                <a:cs typeface="+mn-cs"/>
              </a:rPr>
              <a:t>Concepts : information comme renseignement </a:t>
            </a:r>
          </a:p>
        </p:txBody>
      </p:sp>
      <p:sp>
        <p:nvSpPr>
          <p:cNvPr id="7" name="ZoneTexte 6">
            <a:extLst>
              <a:ext uri="{FF2B5EF4-FFF2-40B4-BE49-F238E27FC236}">
                <a16:creationId xmlns:a16="http://schemas.microsoft.com/office/drawing/2014/main" id="{E1BBEADE-B158-C0C5-8EEA-B21F953719E9}"/>
              </a:ext>
            </a:extLst>
          </p:cNvPr>
          <p:cNvSpPr txBox="1"/>
          <p:nvPr/>
        </p:nvSpPr>
        <p:spPr>
          <a:xfrm>
            <a:off x="457200" y="1382018"/>
            <a:ext cx="8305800" cy="1152623"/>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fr-FR" sz="2800" b="1" i="1" u="none" strike="noStrike" kern="1200" cap="none" spc="0" normalizeH="0" baseline="0" noProof="0" dirty="0">
                <a:ln>
                  <a:noFill/>
                </a:ln>
                <a:solidFill>
                  <a:srgbClr val="FF0000"/>
                </a:solidFill>
                <a:effectLst/>
                <a:uLnTx/>
                <a:uFillTx/>
                <a:latin typeface="Calibri"/>
                <a:ea typeface="+mn-ea"/>
                <a:cs typeface="+mn-cs"/>
              </a:rPr>
              <a:t> a/ Les valeurs (occurrences ) : </a:t>
            </a:r>
            <a:r>
              <a:rPr kumimoji="0" lang="fr-FR" sz="2000" b="0" i="0" u="none" strike="noStrike" kern="1200" cap="none" spc="0" normalizeH="0" baseline="0" noProof="0" dirty="0">
                <a:ln>
                  <a:noFill/>
                </a:ln>
                <a:solidFill>
                  <a:prstClr val="black"/>
                </a:solidFill>
                <a:effectLst/>
                <a:uLnTx/>
                <a:uFillTx/>
                <a:latin typeface="Calibri"/>
                <a:ea typeface="+mn-ea"/>
                <a:cs typeface="+mn-cs"/>
              </a:rPr>
              <a:t>(ou mesures) pour ces attributs , c’est la réalisation  particulière concrète de chaque attribut ou propriété.  </a:t>
            </a:r>
          </a:p>
        </p:txBody>
      </p:sp>
      <p:pic>
        <p:nvPicPr>
          <p:cNvPr id="4" name="Image 3">
            <a:extLst>
              <a:ext uri="{FF2B5EF4-FFF2-40B4-BE49-F238E27FC236}">
                <a16:creationId xmlns:a16="http://schemas.microsoft.com/office/drawing/2014/main" id="{B7A3FCAC-6479-1FD5-BBD8-879D16346D68}"/>
              </a:ext>
            </a:extLst>
          </p:cNvPr>
          <p:cNvPicPr>
            <a:picLocks noChangeAspect="1"/>
          </p:cNvPicPr>
          <p:nvPr/>
        </p:nvPicPr>
        <p:blipFill>
          <a:blip r:embed="rId2"/>
          <a:stretch>
            <a:fillRect/>
          </a:stretch>
        </p:blipFill>
        <p:spPr>
          <a:xfrm>
            <a:off x="1066800" y="3048000"/>
            <a:ext cx="7271124" cy="3397425"/>
          </a:xfrm>
          <a:prstGeom prst="rect">
            <a:avLst/>
          </a:prstGeom>
        </p:spPr>
      </p:pic>
    </p:spTree>
    <p:extLst>
      <p:ext uri="{BB962C8B-B14F-4D97-AF65-F5344CB8AC3E}">
        <p14:creationId xmlns:p14="http://schemas.microsoft.com/office/powerpoint/2010/main" val="4253973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8059EB12-A733-F326-8311-C0115603D7F7}"/>
              </a:ext>
            </a:extLst>
          </p:cNvPr>
          <p:cNvSpPr txBox="1"/>
          <p:nvPr/>
        </p:nvSpPr>
        <p:spPr>
          <a:xfrm>
            <a:off x="152400" y="304800"/>
            <a:ext cx="8839200" cy="1077218"/>
          </a:xfrm>
          <a:prstGeom prst="rect">
            <a:avLst/>
          </a:prstGeom>
          <a:noFill/>
        </p:spPr>
        <p:txBody>
          <a:bodyPr wrap="square">
            <a:spAutoFit/>
          </a:bodyPr>
          <a:lstStyle/>
          <a:p>
            <a:pPr algn="ctr"/>
            <a:r>
              <a:rPr lang="fr-FR" sz="3200" b="1" i="1" dirty="0">
                <a:solidFill>
                  <a:srgbClr val="FF0000"/>
                </a:solidFill>
              </a:rPr>
              <a:t>Représentation de l’information :</a:t>
            </a:r>
          </a:p>
          <a:p>
            <a:pPr algn="ctr"/>
            <a:r>
              <a:rPr lang="fr-FR" sz="3200" b="1" i="1" dirty="0">
                <a:solidFill>
                  <a:srgbClr val="FF0000"/>
                </a:solidFill>
              </a:rPr>
              <a:t>Concepts : information comme renseignement </a:t>
            </a:r>
          </a:p>
        </p:txBody>
      </p:sp>
      <p:sp>
        <p:nvSpPr>
          <p:cNvPr id="7" name="ZoneTexte 6">
            <a:extLst>
              <a:ext uri="{FF2B5EF4-FFF2-40B4-BE49-F238E27FC236}">
                <a16:creationId xmlns:a16="http://schemas.microsoft.com/office/drawing/2014/main" id="{E1BBEADE-B158-C0C5-8EEA-B21F953719E9}"/>
              </a:ext>
            </a:extLst>
          </p:cNvPr>
          <p:cNvSpPr txBox="1"/>
          <p:nvPr/>
        </p:nvSpPr>
        <p:spPr>
          <a:xfrm>
            <a:off x="457200" y="1295400"/>
            <a:ext cx="7620000" cy="1152623"/>
          </a:xfrm>
          <a:prstGeom prst="rect">
            <a:avLst/>
          </a:prstGeom>
          <a:noFill/>
        </p:spPr>
        <p:txBody>
          <a:bodyPr wrap="square">
            <a:spAutoFit/>
          </a:bodyPr>
          <a:lstStyle/>
          <a:p>
            <a:pPr>
              <a:lnSpc>
                <a:spcPct val="150000"/>
              </a:lnSpc>
            </a:pPr>
            <a:r>
              <a:rPr lang="fr-FR" sz="2800" b="1" i="1" dirty="0">
                <a:solidFill>
                  <a:srgbClr val="FF0000"/>
                </a:solidFill>
              </a:rPr>
              <a:t> a/ Les valeurs Occurrences : </a:t>
            </a:r>
            <a:r>
              <a:rPr lang="fr-FR" sz="2000" b="0" i="0" u="none" strike="noStrike" baseline="0" dirty="0">
                <a:latin typeface="+mj-lt"/>
              </a:rPr>
              <a:t>(ou mesures) pour ces attributs. </a:t>
            </a:r>
            <a:endParaRPr lang="fr-FR" sz="2000" dirty="0">
              <a:latin typeface="+mj-lt"/>
            </a:endParaRPr>
          </a:p>
        </p:txBody>
      </p:sp>
      <p:pic>
        <p:nvPicPr>
          <p:cNvPr id="3" name="Image 2">
            <a:extLst>
              <a:ext uri="{FF2B5EF4-FFF2-40B4-BE49-F238E27FC236}">
                <a16:creationId xmlns:a16="http://schemas.microsoft.com/office/drawing/2014/main" id="{EE77380A-3890-91D3-BBA9-6D38113D87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2467073"/>
            <a:ext cx="8382000" cy="4168775"/>
          </a:xfrm>
          <a:prstGeom prst="rect">
            <a:avLst/>
          </a:prstGeom>
        </p:spPr>
      </p:pic>
    </p:spTree>
    <p:extLst>
      <p:ext uri="{BB962C8B-B14F-4D97-AF65-F5344CB8AC3E}">
        <p14:creationId xmlns:p14="http://schemas.microsoft.com/office/powerpoint/2010/main" val="28872263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3B9FCE03-8407-7525-56A2-EAC6CE4451F4}"/>
              </a:ext>
            </a:extLst>
          </p:cNvPr>
          <p:cNvPicPr>
            <a:picLocks noChangeAspect="1"/>
          </p:cNvPicPr>
          <p:nvPr/>
        </p:nvPicPr>
        <p:blipFill>
          <a:blip r:embed="rId2"/>
          <a:stretch>
            <a:fillRect/>
          </a:stretch>
        </p:blipFill>
        <p:spPr>
          <a:xfrm>
            <a:off x="533401" y="422476"/>
            <a:ext cx="8382000" cy="6013048"/>
          </a:xfrm>
          <a:prstGeom prst="rect">
            <a:avLst/>
          </a:prstGeom>
        </p:spPr>
      </p:pic>
    </p:spTree>
    <p:extLst>
      <p:ext uri="{BB962C8B-B14F-4D97-AF65-F5344CB8AC3E}">
        <p14:creationId xmlns:p14="http://schemas.microsoft.com/office/powerpoint/2010/main" val="407252781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xfrm>
            <a:off x="198344" y="5610879"/>
            <a:ext cx="245433" cy="179536"/>
          </a:xfrm>
          <a:prstGeom prst="rect">
            <a:avLst/>
          </a:prstGeom>
        </p:spPr>
        <p:txBody>
          <a:bodyPr vert="horz" wrap="square" lIns="0" tIns="0" rIns="0" bIns="0" rtlCol="0">
            <a:spAutoFit/>
          </a:bodyPr>
          <a:lstStyle/>
          <a:p>
            <a:pPr marL="33665">
              <a:lnSpc>
                <a:spcPts val="1380"/>
              </a:lnSpc>
            </a:pPr>
            <a:fld id="{81D60167-4931-47E6-BA6A-407CBD079E47}" type="slidenum">
              <a:rPr spc="-4" dirty="0"/>
              <a:pPr marL="33665">
                <a:lnSpc>
                  <a:spcPts val="1380"/>
                </a:lnSpc>
              </a:pPr>
              <a:t>17</a:t>
            </a:fld>
            <a:endParaRPr spc="-4" dirty="0"/>
          </a:p>
        </p:txBody>
      </p:sp>
      <p:sp>
        <p:nvSpPr>
          <p:cNvPr id="3" name="ZoneTexte 2">
            <a:extLst>
              <a:ext uri="{FF2B5EF4-FFF2-40B4-BE49-F238E27FC236}">
                <a16:creationId xmlns:a16="http://schemas.microsoft.com/office/drawing/2014/main" id="{7EA880D5-D8E5-0FA4-C48B-F94E4CF31CF9}"/>
              </a:ext>
            </a:extLst>
          </p:cNvPr>
          <p:cNvSpPr txBox="1"/>
          <p:nvPr/>
        </p:nvSpPr>
        <p:spPr>
          <a:xfrm>
            <a:off x="188819" y="161144"/>
            <a:ext cx="4572000" cy="584775"/>
          </a:xfrm>
          <a:prstGeom prst="rect">
            <a:avLst/>
          </a:prstGeom>
          <a:noFill/>
        </p:spPr>
        <p:txBody>
          <a:bodyPr wrap="square">
            <a:spAutoFit/>
          </a:bodyPr>
          <a:lstStyle/>
          <a:p>
            <a:r>
              <a:rPr lang="fr-FR" sz="3200" b="1" i="1" dirty="0">
                <a:solidFill>
                  <a:srgbClr val="FF0000"/>
                </a:solidFill>
              </a:rPr>
              <a:t>Etude de l’information </a:t>
            </a:r>
            <a:endParaRPr lang="fr-FR" sz="2200" b="1" dirty="0">
              <a:solidFill>
                <a:schemeClr val="accent6">
                  <a:lumMod val="50000"/>
                </a:schemeClr>
              </a:solidFill>
              <a:latin typeface="+mj-lt"/>
            </a:endParaRPr>
          </a:p>
        </p:txBody>
      </p:sp>
      <p:sp>
        <p:nvSpPr>
          <p:cNvPr id="5" name="ZoneTexte 4">
            <a:extLst>
              <a:ext uri="{FF2B5EF4-FFF2-40B4-BE49-F238E27FC236}">
                <a16:creationId xmlns:a16="http://schemas.microsoft.com/office/drawing/2014/main" id="{86969076-DD08-4961-7663-E1530E9927E8}"/>
              </a:ext>
            </a:extLst>
          </p:cNvPr>
          <p:cNvSpPr txBox="1"/>
          <p:nvPr/>
        </p:nvSpPr>
        <p:spPr>
          <a:xfrm>
            <a:off x="415202" y="943902"/>
            <a:ext cx="7696200" cy="461665"/>
          </a:xfrm>
          <a:prstGeom prst="rect">
            <a:avLst/>
          </a:prstGeom>
          <a:noFill/>
        </p:spPr>
        <p:txBody>
          <a:bodyPr wrap="square">
            <a:spAutoFit/>
          </a:bodyPr>
          <a:lstStyle/>
          <a:p>
            <a:r>
              <a:rPr lang="fr-FR" sz="2400" b="1" i="0" u="none" strike="noStrike" baseline="0" dirty="0">
                <a:solidFill>
                  <a:schemeClr val="accent6">
                    <a:lumMod val="75000"/>
                  </a:schemeClr>
                </a:solidFill>
                <a:latin typeface="Times New Roman" panose="02020603050405020304" pitchFamily="18" charset="0"/>
              </a:rPr>
              <a:t>1. Classes d'information et réalisation de classe</a:t>
            </a:r>
            <a:endParaRPr lang="fr-FR" sz="2400" dirty="0">
              <a:solidFill>
                <a:schemeClr val="accent6">
                  <a:lumMod val="75000"/>
                </a:schemeClr>
              </a:solidFill>
            </a:endParaRPr>
          </a:p>
        </p:txBody>
      </p:sp>
      <p:sp>
        <p:nvSpPr>
          <p:cNvPr id="7" name="ZoneTexte 6">
            <a:extLst>
              <a:ext uri="{FF2B5EF4-FFF2-40B4-BE49-F238E27FC236}">
                <a16:creationId xmlns:a16="http://schemas.microsoft.com/office/drawing/2014/main" id="{0634894A-865A-EAB7-5636-117303CFF614}"/>
              </a:ext>
            </a:extLst>
          </p:cNvPr>
          <p:cNvSpPr txBox="1"/>
          <p:nvPr/>
        </p:nvSpPr>
        <p:spPr>
          <a:xfrm>
            <a:off x="273721" y="1405567"/>
            <a:ext cx="8441940" cy="1711366"/>
          </a:xfrm>
          <a:prstGeom prst="rect">
            <a:avLst/>
          </a:prstGeom>
          <a:noFill/>
        </p:spPr>
        <p:txBody>
          <a:bodyPr wrap="square">
            <a:spAutoFit/>
          </a:bodyPr>
          <a:lstStyle/>
          <a:p>
            <a:pPr algn="just">
              <a:lnSpc>
                <a:spcPct val="150000"/>
              </a:lnSpc>
            </a:pPr>
            <a:r>
              <a:rPr lang="fr-FR" sz="1800" b="0" i="0" u="none" strike="noStrike" baseline="0" dirty="0">
                <a:latin typeface="+mj-lt"/>
              </a:rPr>
              <a:t>   Un type ou classe est un ensemble d'éléments ayant les mêmes caractéristiques. Une occurrence d'un type ou d'une classe est un élément particulier à cet ensemble. Exemple : La classe des étudiants (chaque étudiant est considéré comme une occurrence de la classe des étudiants).</a:t>
            </a:r>
            <a:endParaRPr lang="fr-FR" dirty="0">
              <a:latin typeface="+mj-lt"/>
            </a:endParaRPr>
          </a:p>
        </p:txBody>
      </p:sp>
      <p:pic>
        <p:nvPicPr>
          <p:cNvPr id="2" name="Image 1">
            <a:extLst>
              <a:ext uri="{FF2B5EF4-FFF2-40B4-BE49-F238E27FC236}">
                <a16:creationId xmlns:a16="http://schemas.microsoft.com/office/drawing/2014/main" id="{E3E0C770-FFF4-9B46-9526-D12F894DD8DD}"/>
              </a:ext>
            </a:extLst>
          </p:cNvPr>
          <p:cNvPicPr>
            <a:picLocks noChangeAspect="1"/>
          </p:cNvPicPr>
          <p:nvPr/>
        </p:nvPicPr>
        <p:blipFill>
          <a:blip r:embed="rId2"/>
          <a:stretch>
            <a:fillRect/>
          </a:stretch>
        </p:blipFill>
        <p:spPr>
          <a:xfrm>
            <a:off x="862877" y="3271738"/>
            <a:ext cx="7239000" cy="1974444"/>
          </a:xfrm>
          <a:prstGeom prst="rect">
            <a:avLst/>
          </a:prstGeom>
        </p:spPr>
      </p:pic>
      <p:sp>
        <p:nvSpPr>
          <p:cNvPr id="6" name="ZoneTexte 5">
            <a:extLst>
              <a:ext uri="{FF2B5EF4-FFF2-40B4-BE49-F238E27FC236}">
                <a16:creationId xmlns:a16="http://schemas.microsoft.com/office/drawing/2014/main" id="{B9F10558-D6CC-817F-8C6A-023B33E9C5A7}"/>
              </a:ext>
            </a:extLst>
          </p:cNvPr>
          <p:cNvSpPr txBox="1"/>
          <p:nvPr/>
        </p:nvSpPr>
        <p:spPr>
          <a:xfrm>
            <a:off x="76200" y="5266164"/>
            <a:ext cx="8991600" cy="1295868"/>
          </a:xfrm>
          <a:prstGeom prst="rect">
            <a:avLst/>
          </a:prstGeom>
          <a:noFill/>
        </p:spPr>
        <p:txBody>
          <a:bodyPr wrap="square">
            <a:spAutoFit/>
          </a:bodyPr>
          <a:lstStyle/>
          <a:p>
            <a:pPr>
              <a:lnSpc>
                <a:spcPct val="150000"/>
              </a:lnSpc>
            </a:pPr>
            <a:r>
              <a:rPr lang="fr-FR" b="1" i="1" dirty="0">
                <a:latin typeface="+mj-lt"/>
              </a:rPr>
              <a:t>Exemple : </a:t>
            </a:r>
            <a:r>
              <a:rPr lang="fr-FR" dirty="0">
                <a:latin typeface="+mj-lt"/>
              </a:rPr>
              <a:t>la classe des étudiants : chaque étudiant est considéré comme une </a:t>
            </a:r>
            <a:r>
              <a:rPr lang="fr-FR" b="1" dirty="0">
                <a:solidFill>
                  <a:srgbClr val="FF0000"/>
                </a:solidFill>
                <a:latin typeface="+mj-lt"/>
              </a:rPr>
              <a:t>occurrence de la </a:t>
            </a:r>
          </a:p>
          <a:p>
            <a:pPr>
              <a:lnSpc>
                <a:spcPct val="150000"/>
              </a:lnSpc>
            </a:pPr>
            <a:r>
              <a:rPr lang="fr-FR" b="1" dirty="0">
                <a:solidFill>
                  <a:srgbClr val="FF0000"/>
                </a:solidFill>
                <a:latin typeface="+mj-lt"/>
              </a:rPr>
              <a:t>classe </a:t>
            </a:r>
            <a:r>
              <a:rPr lang="fr-FR" dirty="0">
                <a:latin typeface="+mj-lt"/>
              </a:rPr>
              <a:t>des étudiants. La classe des enseignants : chaque enseignant est une occurrence de la </a:t>
            </a:r>
          </a:p>
          <a:p>
            <a:pPr>
              <a:lnSpc>
                <a:spcPct val="150000"/>
              </a:lnSpc>
            </a:pPr>
            <a:r>
              <a:rPr lang="fr-FR" dirty="0">
                <a:latin typeface="+mj-lt"/>
              </a:rPr>
              <a:t>classe des enseignants. </a:t>
            </a:r>
          </a:p>
        </p:txBody>
      </p:sp>
    </p:spTree>
    <p:extLst>
      <p:ext uri="{BB962C8B-B14F-4D97-AF65-F5344CB8AC3E}">
        <p14:creationId xmlns:p14="http://schemas.microsoft.com/office/powerpoint/2010/main" val="4021418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BDE2A344-54B4-5767-CAF6-33A3A173579F}"/>
              </a:ext>
            </a:extLst>
          </p:cNvPr>
          <p:cNvSpPr txBox="1"/>
          <p:nvPr/>
        </p:nvSpPr>
        <p:spPr>
          <a:xfrm>
            <a:off x="304800" y="228600"/>
            <a:ext cx="8077200" cy="830997"/>
          </a:xfrm>
          <a:prstGeom prst="rect">
            <a:avLst/>
          </a:prstGeom>
          <a:noFill/>
        </p:spPr>
        <p:txBody>
          <a:bodyPr wrap="square">
            <a:spAutoFit/>
          </a:bodyPr>
          <a:lstStyle/>
          <a:p>
            <a:r>
              <a:rPr lang="fr-FR" sz="2400" b="1" dirty="0">
                <a:solidFill>
                  <a:schemeClr val="accent6">
                    <a:lumMod val="75000"/>
                  </a:schemeClr>
                </a:solidFill>
                <a:latin typeface="Times New Roman" panose="02020603050405020304" pitchFamily="18" charset="0"/>
              </a:rPr>
              <a:t>2. Rubriques et occurrences de rubriques (attribue et occurrences des attributs) </a:t>
            </a:r>
          </a:p>
        </p:txBody>
      </p:sp>
      <p:sp>
        <p:nvSpPr>
          <p:cNvPr id="7" name="ZoneTexte 6">
            <a:extLst>
              <a:ext uri="{FF2B5EF4-FFF2-40B4-BE49-F238E27FC236}">
                <a16:creationId xmlns:a16="http://schemas.microsoft.com/office/drawing/2014/main" id="{43EE1273-07C5-44FE-7A94-AA1D7F5D8EA3}"/>
              </a:ext>
            </a:extLst>
          </p:cNvPr>
          <p:cNvSpPr txBox="1"/>
          <p:nvPr/>
        </p:nvSpPr>
        <p:spPr>
          <a:xfrm>
            <a:off x="361950" y="2593285"/>
            <a:ext cx="3505200" cy="70788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fr-FR" sz="2000" b="1" dirty="0">
                <a:solidFill>
                  <a:srgbClr val="FF0000"/>
                </a:solidFill>
              </a:rPr>
              <a:t>Classification des rubrique </a:t>
            </a:r>
          </a:p>
          <a:p>
            <a:r>
              <a:rPr lang="fr-FR" sz="2000" b="1" dirty="0">
                <a:solidFill>
                  <a:srgbClr val="FF0000"/>
                </a:solidFill>
              </a:rPr>
              <a:t>              ( attribue ) </a:t>
            </a:r>
          </a:p>
        </p:txBody>
      </p:sp>
      <p:sp>
        <p:nvSpPr>
          <p:cNvPr id="9" name="ZoneTexte 8">
            <a:extLst>
              <a:ext uri="{FF2B5EF4-FFF2-40B4-BE49-F238E27FC236}">
                <a16:creationId xmlns:a16="http://schemas.microsoft.com/office/drawing/2014/main" id="{9D046B53-EEA3-0532-7C36-FFB6C1445B32}"/>
              </a:ext>
            </a:extLst>
          </p:cNvPr>
          <p:cNvSpPr txBox="1"/>
          <p:nvPr/>
        </p:nvSpPr>
        <p:spPr>
          <a:xfrm>
            <a:off x="5334000" y="1267450"/>
            <a:ext cx="2667000"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fr-FR" dirty="0"/>
              <a:t> Les rubriques primaires </a:t>
            </a:r>
          </a:p>
        </p:txBody>
      </p:sp>
      <p:sp>
        <p:nvSpPr>
          <p:cNvPr id="11" name="ZoneTexte 10">
            <a:extLst>
              <a:ext uri="{FF2B5EF4-FFF2-40B4-BE49-F238E27FC236}">
                <a16:creationId xmlns:a16="http://schemas.microsoft.com/office/drawing/2014/main" id="{0536E4F4-96AD-3D2A-983D-10538A9EA971}"/>
              </a:ext>
            </a:extLst>
          </p:cNvPr>
          <p:cNvSpPr txBox="1"/>
          <p:nvPr/>
        </p:nvSpPr>
        <p:spPr>
          <a:xfrm>
            <a:off x="5334000" y="2360354"/>
            <a:ext cx="2514600"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fr-FR" dirty="0"/>
              <a:t>Les rubriques calculées  </a:t>
            </a:r>
          </a:p>
        </p:txBody>
      </p:sp>
      <p:sp>
        <p:nvSpPr>
          <p:cNvPr id="13" name="ZoneTexte 12">
            <a:extLst>
              <a:ext uri="{FF2B5EF4-FFF2-40B4-BE49-F238E27FC236}">
                <a16:creationId xmlns:a16="http://schemas.microsoft.com/office/drawing/2014/main" id="{DEB80A81-5A31-4083-A781-B8D2B159CACB}"/>
              </a:ext>
            </a:extLst>
          </p:cNvPr>
          <p:cNvSpPr txBox="1"/>
          <p:nvPr/>
        </p:nvSpPr>
        <p:spPr>
          <a:xfrm>
            <a:off x="5314950" y="3495675"/>
            <a:ext cx="2533650"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fr-FR" dirty="0"/>
              <a:t>Les rubrique de situation </a:t>
            </a:r>
          </a:p>
        </p:txBody>
      </p:sp>
      <p:sp>
        <p:nvSpPr>
          <p:cNvPr id="15" name="ZoneTexte 14">
            <a:extLst>
              <a:ext uri="{FF2B5EF4-FFF2-40B4-BE49-F238E27FC236}">
                <a16:creationId xmlns:a16="http://schemas.microsoft.com/office/drawing/2014/main" id="{5B589409-124D-057A-9068-3892CAF3B31A}"/>
              </a:ext>
            </a:extLst>
          </p:cNvPr>
          <p:cNvSpPr txBox="1"/>
          <p:nvPr/>
        </p:nvSpPr>
        <p:spPr>
          <a:xfrm>
            <a:off x="5362575" y="4650046"/>
            <a:ext cx="2486025"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fr-FR" dirty="0"/>
              <a:t>Les rubrique libres  </a:t>
            </a:r>
          </a:p>
        </p:txBody>
      </p:sp>
      <p:cxnSp>
        <p:nvCxnSpPr>
          <p:cNvPr id="17" name="Connecteur droit avec flèche 16">
            <a:extLst>
              <a:ext uri="{FF2B5EF4-FFF2-40B4-BE49-F238E27FC236}">
                <a16:creationId xmlns:a16="http://schemas.microsoft.com/office/drawing/2014/main" id="{2FF360AA-7509-E414-D401-77E20C7C81AC}"/>
              </a:ext>
            </a:extLst>
          </p:cNvPr>
          <p:cNvCxnSpPr>
            <a:cxnSpLocks/>
          </p:cNvCxnSpPr>
          <p:nvPr/>
        </p:nvCxnSpPr>
        <p:spPr>
          <a:xfrm flipV="1">
            <a:off x="3962401" y="1452116"/>
            <a:ext cx="1295399" cy="14434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Connecteur droit avec flèche 20">
            <a:extLst>
              <a:ext uri="{FF2B5EF4-FFF2-40B4-BE49-F238E27FC236}">
                <a16:creationId xmlns:a16="http://schemas.microsoft.com/office/drawing/2014/main" id="{30F4D532-7417-41E8-B600-0CD54CF24D70}"/>
              </a:ext>
            </a:extLst>
          </p:cNvPr>
          <p:cNvCxnSpPr>
            <a:cxnSpLocks/>
          </p:cNvCxnSpPr>
          <p:nvPr/>
        </p:nvCxnSpPr>
        <p:spPr>
          <a:xfrm flipV="1">
            <a:off x="4000500" y="2526268"/>
            <a:ext cx="1142999" cy="3693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Connecteur droit avec flèche 24">
            <a:extLst>
              <a:ext uri="{FF2B5EF4-FFF2-40B4-BE49-F238E27FC236}">
                <a16:creationId xmlns:a16="http://schemas.microsoft.com/office/drawing/2014/main" id="{6A5BFE8F-5037-00D3-9A7A-6F14275092B5}"/>
              </a:ext>
            </a:extLst>
          </p:cNvPr>
          <p:cNvCxnSpPr>
            <a:cxnSpLocks/>
          </p:cNvCxnSpPr>
          <p:nvPr/>
        </p:nvCxnSpPr>
        <p:spPr>
          <a:xfrm>
            <a:off x="4000500" y="2895600"/>
            <a:ext cx="1257300" cy="8873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Connecteur droit avec flèche 27">
            <a:extLst>
              <a:ext uri="{FF2B5EF4-FFF2-40B4-BE49-F238E27FC236}">
                <a16:creationId xmlns:a16="http://schemas.microsoft.com/office/drawing/2014/main" id="{0A95F0D2-72AA-7433-380E-C510FE970535}"/>
              </a:ext>
            </a:extLst>
          </p:cNvPr>
          <p:cNvCxnSpPr>
            <a:cxnSpLocks/>
          </p:cNvCxnSpPr>
          <p:nvPr/>
        </p:nvCxnSpPr>
        <p:spPr>
          <a:xfrm>
            <a:off x="4000500" y="2957958"/>
            <a:ext cx="1181100" cy="17736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5183568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F3A8165-1B36-86CF-70BA-DB805271469E}"/>
              </a:ext>
            </a:extLst>
          </p:cNvPr>
          <p:cNvSpPr txBox="1"/>
          <p:nvPr/>
        </p:nvSpPr>
        <p:spPr>
          <a:xfrm>
            <a:off x="609600" y="762000"/>
            <a:ext cx="2667000"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fr-FR" dirty="0"/>
              <a:t> Les rubriques primaires </a:t>
            </a:r>
          </a:p>
        </p:txBody>
      </p:sp>
      <p:cxnSp>
        <p:nvCxnSpPr>
          <p:cNvPr id="4" name="Connecteur droit 3">
            <a:extLst>
              <a:ext uri="{FF2B5EF4-FFF2-40B4-BE49-F238E27FC236}">
                <a16:creationId xmlns:a16="http://schemas.microsoft.com/office/drawing/2014/main" id="{D42DD917-449C-A9D6-B7AA-0EB6B61AA72C}"/>
              </a:ext>
            </a:extLst>
          </p:cNvPr>
          <p:cNvCxnSpPr/>
          <p:nvPr/>
        </p:nvCxnSpPr>
        <p:spPr>
          <a:xfrm>
            <a:off x="4191000" y="457200"/>
            <a:ext cx="0" cy="5791200"/>
          </a:xfrm>
          <a:prstGeom prst="line">
            <a:avLst/>
          </a:prstGeom>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436E876D-11E9-2BA4-9B07-43F0ADC5538B}"/>
              </a:ext>
            </a:extLst>
          </p:cNvPr>
          <p:cNvSpPr txBox="1"/>
          <p:nvPr/>
        </p:nvSpPr>
        <p:spPr>
          <a:xfrm>
            <a:off x="228600" y="1752600"/>
            <a:ext cx="3505199" cy="2542363"/>
          </a:xfrm>
          <a:prstGeom prst="rect">
            <a:avLst/>
          </a:prstGeom>
          <a:noFill/>
        </p:spPr>
        <p:txBody>
          <a:bodyPr wrap="square">
            <a:spAutoFit/>
          </a:bodyPr>
          <a:lstStyle/>
          <a:p>
            <a:pPr algn="just">
              <a:lnSpc>
                <a:spcPct val="150000"/>
              </a:lnSpc>
            </a:pPr>
            <a:r>
              <a:rPr lang="fr-FR" dirty="0"/>
              <a:t>Ce sont les caractéristiques décrivant les éléments du système naturel. </a:t>
            </a:r>
          </a:p>
          <a:p>
            <a:pPr algn="just">
              <a:lnSpc>
                <a:spcPct val="150000"/>
              </a:lnSpc>
            </a:pPr>
            <a:r>
              <a:rPr lang="fr-FR" dirty="0"/>
              <a:t>Exemple : </a:t>
            </a:r>
          </a:p>
          <a:p>
            <a:pPr marL="285750" indent="-285750" algn="just">
              <a:lnSpc>
                <a:spcPct val="150000"/>
              </a:lnSpc>
              <a:buFont typeface="Courier New" panose="02070309020205020404" pitchFamily="49" charset="0"/>
              <a:buChar char="o"/>
            </a:pPr>
            <a:r>
              <a:rPr lang="fr-FR" dirty="0"/>
              <a:t>nom d’une personne</a:t>
            </a:r>
          </a:p>
          <a:p>
            <a:pPr marL="285750" indent="-285750" algn="just">
              <a:lnSpc>
                <a:spcPct val="150000"/>
              </a:lnSpc>
              <a:buFont typeface="Courier New" panose="02070309020205020404" pitchFamily="49" charset="0"/>
              <a:buChar char="o"/>
            </a:pPr>
            <a:r>
              <a:rPr lang="fr-FR" dirty="0"/>
              <a:t>le numéro d’un compte. </a:t>
            </a:r>
          </a:p>
        </p:txBody>
      </p:sp>
      <p:sp>
        <p:nvSpPr>
          <p:cNvPr id="7" name="ZoneTexte 6">
            <a:extLst>
              <a:ext uri="{FF2B5EF4-FFF2-40B4-BE49-F238E27FC236}">
                <a16:creationId xmlns:a16="http://schemas.microsoft.com/office/drawing/2014/main" id="{CEFB47E8-C87B-D2FE-48E8-08CE6DD0C3D4}"/>
              </a:ext>
            </a:extLst>
          </p:cNvPr>
          <p:cNvSpPr txBox="1"/>
          <p:nvPr/>
        </p:nvSpPr>
        <p:spPr>
          <a:xfrm>
            <a:off x="5334000" y="733425"/>
            <a:ext cx="2514600"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fr-FR" dirty="0"/>
              <a:t>Les rubriques calculées  </a:t>
            </a:r>
          </a:p>
        </p:txBody>
      </p:sp>
      <p:sp>
        <p:nvSpPr>
          <p:cNvPr id="9" name="ZoneTexte 8">
            <a:extLst>
              <a:ext uri="{FF2B5EF4-FFF2-40B4-BE49-F238E27FC236}">
                <a16:creationId xmlns:a16="http://schemas.microsoft.com/office/drawing/2014/main" id="{1E53D282-2E27-5A2E-CF4D-E8CEB08E5D35}"/>
              </a:ext>
            </a:extLst>
          </p:cNvPr>
          <p:cNvSpPr txBox="1"/>
          <p:nvPr/>
        </p:nvSpPr>
        <p:spPr>
          <a:xfrm>
            <a:off x="4495800" y="1295400"/>
            <a:ext cx="4572000" cy="5035353"/>
          </a:xfrm>
          <a:prstGeom prst="rect">
            <a:avLst/>
          </a:prstGeom>
          <a:noFill/>
        </p:spPr>
        <p:txBody>
          <a:bodyPr wrap="square">
            <a:spAutoFit/>
          </a:bodyPr>
          <a:lstStyle/>
          <a:p>
            <a:pPr algn="just">
              <a:lnSpc>
                <a:spcPct val="150000"/>
              </a:lnSpc>
            </a:pPr>
            <a:r>
              <a:rPr lang="fr-FR" dirty="0"/>
              <a:t>Ce  sont  les  rubriques  dont  les  occurrences  sont  obtenues  à  la  suite  d’un  calcul  lors  d’un traitement. </a:t>
            </a:r>
          </a:p>
          <a:p>
            <a:pPr algn="just">
              <a:lnSpc>
                <a:spcPct val="150000"/>
              </a:lnSpc>
            </a:pPr>
            <a:r>
              <a:rPr lang="fr-FR" dirty="0"/>
              <a:t>On distingue plusieurs types de rubriques calculées : </a:t>
            </a:r>
          </a:p>
          <a:p>
            <a:pPr marL="285750" indent="-285750" algn="just">
              <a:lnSpc>
                <a:spcPct val="150000"/>
              </a:lnSpc>
              <a:buFont typeface="Courier New" panose="02070309020205020404" pitchFamily="49" charset="0"/>
              <a:buChar char="o"/>
            </a:pPr>
            <a:r>
              <a:rPr lang="fr-FR" b="1" i="1" dirty="0"/>
              <a:t>Compteur </a:t>
            </a:r>
          </a:p>
          <a:p>
            <a:pPr algn="just">
              <a:lnSpc>
                <a:spcPct val="150000"/>
              </a:lnSpc>
            </a:pPr>
            <a:r>
              <a:rPr lang="fr-FR" i="1" dirty="0"/>
              <a:t>       </a:t>
            </a:r>
            <a:r>
              <a:rPr lang="nl-NL" i="1" dirty="0"/>
              <a:t>NPERS := 0 ;         NPERS := NPERS + 1 </a:t>
            </a:r>
            <a:endParaRPr lang="fr-FR" i="1" dirty="0"/>
          </a:p>
          <a:p>
            <a:pPr marL="285750" indent="-285750" algn="just">
              <a:lnSpc>
                <a:spcPct val="150000"/>
              </a:lnSpc>
              <a:buFont typeface="Courier New" panose="02070309020205020404" pitchFamily="49" charset="0"/>
              <a:buChar char="o"/>
            </a:pPr>
            <a:r>
              <a:rPr lang="fr-FR" b="1" i="1" dirty="0"/>
              <a:t>Cumuls </a:t>
            </a:r>
          </a:p>
          <a:p>
            <a:pPr>
              <a:lnSpc>
                <a:spcPct val="150000"/>
              </a:lnSpc>
            </a:pPr>
            <a:r>
              <a:rPr lang="fr-FR" b="1" i="1" dirty="0"/>
              <a:t>     </a:t>
            </a:r>
            <a:r>
              <a:rPr lang="fr-FR" i="1" dirty="0" err="1"/>
              <a:t>Qte_Stock</a:t>
            </a:r>
            <a:r>
              <a:rPr lang="fr-FR" i="1" dirty="0"/>
              <a:t> = </a:t>
            </a:r>
            <a:r>
              <a:rPr lang="fr-FR" i="1" dirty="0" err="1"/>
              <a:t>Qte_Stock</a:t>
            </a:r>
            <a:r>
              <a:rPr lang="fr-FR" i="1" dirty="0"/>
              <a:t> + </a:t>
            </a:r>
            <a:r>
              <a:rPr lang="fr-FR" i="1" dirty="0" err="1"/>
              <a:t>New_Qte_Entree</a:t>
            </a:r>
            <a:r>
              <a:rPr lang="fr-FR" i="1" dirty="0"/>
              <a:t> </a:t>
            </a:r>
          </a:p>
          <a:p>
            <a:pPr marL="285750" indent="-285750" algn="just">
              <a:lnSpc>
                <a:spcPct val="150000"/>
              </a:lnSpc>
              <a:buFont typeface="Courier New" panose="02070309020205020404" pitchFamily="49" charset="0"/>
              <a:buChar char="o"/>
            </a:pPr>
            <a:r>
              <a:rPr lang="fr-FR" b="1" i="1" dirty="0"/>
              <a:t>Choix </a:t>
            </a:r>
          </a:p>
          <a:p>
            <a:pPr algn="just">
              <a:lnSpc>
                <a:spcPct val="150000"/>
              </a:lnSpc>
            </a:pPr>
            <a:r>
              <a:rPr lang="fr-FR" i="1" dirty="0"/>
              <a:t>     Si </a:t>
            </a:r>
            <a:r>
              <a:rPr lang="fr-FR" i="1" dirty="0" err="1"/>
              <a:t>Salaire_Brut</a:t>
            </a:r>
            <a:r>
              <a:rPr lang="fr-FR" i="1" dirty="0"/>
              <a:t> &lt;= 5000 alors IRG = 0 </a:t>
            </a:r>
          </a:p>
          <a:p>
            <a:pPr marL="285750" indent="-285750" algn="just">
              <a:lnSpc>
                <a:spcPct val="150000"/>
              </a:lnSpc>
              <a:buFont typeface="Courier New" panose="02070309020205020404" pitchFamily="49" charset="0"/>
              <a:buChar char="o"/>
            </a:pPr>
            <a:r>
              <a:rPr lang="fr-FR" i="1" dirty="0"/>
              <a:t> </a:t>
            </a:r>
            <a:r>
              <a:rPr lang="fr-FR" b="1" i="1" dirty="0"/>
              <a:t>Calculs </a:t>
            </a:r>
          </a:p>
        </p:txBody>
      </p:sp>
    </p:spTree>
    <p:extLst>
      <p:ext uri="{BB962C8B-B14F-4D97-AF65-F5344CB8AC3E}">
        <p14:creationId xmlns:p14="http://schemas.microsoft.com/office/powerpoint/2010/main" val="2475456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6C48F439-9B87-74EB-94F7-D08A60810B2A}"/>
              </a:ext>
            </a:extLst>
          </p:cNvPr>
          <p:cNvSpPr txBox="1"/>
          <p:nvPr/>
        </p:nvSpPr>
        <p:spPr>
          <a:xfrm>
            <a:off x="609600" y="533400"/>
            <a:ext cx="2533650"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fr-FR" dirty="0"/>
              <a:t>Les rubrique de situation </a:t>
            </a:r>
          </a:p>
        </p:txBody>
      </p:sp>
      <p:sp>
        <p:nvSpPr>
          <p:cNvPr id="3" name="ZoneTexte 2">
            <a:extLst>
              <a:ext uri="{FF2B5EF4-FFF2-40B4-BE49-F238E27FC236}">
                <a16:creationId xmlns:a16="http://schemas.microsoft.com/office/drawing/2014/main" id="{16FD25A6-2C33-948A-6199-02533326BD33}"/>
              </a:ext>
            </a:extLst>
          </p:cNvPr>
          <p:cNvSpPr txBox="1"/>
          <p:nvPr/>
        </p:nvSpPr>
        <p:spPr>
          <a:xfrm>
            <a:off x="5638800" y="533400"/>
            <a:ext cx="2486025"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fr-FR" dirty="0"/>
              <a:t>Les rubrique libres  </a:t>
            </a:r>
          </a:p>
        </p:txBody>
      </p:sp>
      <p:cxnSp>
        <p:nvCxnSpPr>
          <p:cNvPr id="5" name="Connecteur droit avec flèche 4">
            <a:extLst>
              <a:ext uri="{FF2B5EF4-FFF2-40B4-BE49-F238E27FC236}">
                <a16:creationId xmlns:a16="http://schemas.microsoft.com/office/drawing/2014/main" id="{62FEDCCC-9293-AFFC-89C6-75C10CCB1894}"/>
              </a:ext>
            </a:extLst>
          </p:cNvPr>
          <p:cNvCxnSpPr/>
          <p:nvPr/>
        </p:nvCxnSpPr>
        <p:spPr>
          <a:xfrm>
            <a:off x="4343400" y="718066"/>
            <a:ext cx="0" cy="514933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7" name="ZoneTexte 6">
            <a:extLst>
              <a:ext uri="{FF2B5EF4-FFF2-40B4-BE49-F238E27FC236}">
                <a16:creationId xmlns:a16="http://schemas.microsoft.com/office/drawing/2014/main" id="{14EEF883-9162-5A6F-385A-68CB89D40C61}"/>
              </a:ext>
            </a:extLst>
          </p:cNvPr>
          <p:cNvSpPr txBox="1"/>
          <p:nvPr/>
        </p:nvSpPr>
        <p:spPr>
          <a:xfrm>
            <a:off x="304800" y="1233100"/>
            <a:ext cx="4572000" cy="646331"/>
          </a:xfrm>
          <a:prstGeom prst="rect">
            <a:avLst/>
          </a:prstGeom>
          <a:noFill/>
        </p:spPr>
        <p:txBody>
          <a:bodyPr wrap="square">
            <a:spAutoFit/>
          </a:bodyPr>
          <a:lstStyle/>
          <a:p>
            <a:r>
              <a:rPr lang="fr-FR" dirty="0"/>
              <a:t>Elles sont liées aux caractéristiques ou propriétés de situation.</a:t>
            </a:r>
          </a:p>
        </p:txBody>
      </p:sp>
      <p:sp>
        <p:nvSpPr>
          <p:cNvPr id="9" name="ZoneTexte 8">
            <a:extLst>
              <a:ext uri="{FF2B5EF4-FFF2-40B4-BE49-F238E27FC236}">
                <a16:creationId xmlns:a16="http://schemas.microsoft.com/office/drawing/2014/main" id="{81BA5588-BEFC-79F8-013C-955CD0A09655}"/>
              </a:ext>
            </a:extLst>
          </p:cNvPr>
          <p:cNvSpPr txBox="1"/>
          <p:nvPr/>
        </p:nvSpPr>
        <p:spPr>
          <a:xfrm>
            <a:off x="200026" y="2228849"/>
            <a:ext cx="3762373" cy="1477328"/>
          </a:xfrm>
          <a:prstGeom prst="rect">
            <a:avLst/>
          </a:prstGeom>
          <a:noFill/>
        </p:spPr>
        <p:txBody>
          <a:bodyPr wrap="square">
            <a:spAutoFit/>
          </a:bodyPr>
          <a:lstStyle/>
          <a:p>
            <a:pPr algn="just"/>
            <a:r>
              <a:rPr lang="fr-FR" b="1" dirty="0"/>
              <a:t>Exemple : </a:t>
            </a:r>
            <a:r>
              <a:rPr lang="fr-FR" dirty="0"/>
              <a:t>la</a:t>
            </a:r>
            <a:r>
              <a:rPr lang="fr-FR" b="1" dirty="0"/>
              <a:t> </a:t>
            </a:r>
            <a:r>
              <a:rPr lang="fr-FR" dirty="0"/>
              <a:t>quantité en stock diminue à chaque événement « arrivée d’une commande » </a:t>
            </a:r>
          </a:p>
          <a:p>
            <a:pPr algn="just"/>
            <a:r>
              <a:rPr lang="fr-FR" dirty="0"/>
              <a:t>et  augmente à chaque  événement  « achats  d’article</a:t>
            </a:r>
          </a:p>
        </p:txBody>
      </p:sp>
      <p:sp>
        <p:nvSpPr>
          <p:cNvPr id="11" name="ZoneTexte 10">
            <a:extLst>
              <a:ext uri="{FF2B5EF4-FFF2-40B4-BE49-F238E27FC236}">
                <a16:creationId xmlns:a16="http://schemas.microsoft.com/office/drawing/2014/main" id="{2E391EF6-319D-4961-B9CC-7F6BED2AEFA1}"/>
              </a:ext>
            </a:extLst>
          </p:cNvPr>
          <p:cNvSpPr txBox="1"/>
          <p:nvPr/>
        </p:nvSpPr>
        <p:spPr>
          <a:xfrm>
            <a:off x="4371974" y="1143000"/>
            <a:ext cx="4572000" cy="3139321"/>
          </a:xfrm>
          <a:prstGeom prst="rect">
            <a:avLst/>
          </a:prstGeom>
          <a:noFill/>
        </p:spPr>
        <p:txBody>
          <a:bodyPr wrap="square">
            <a:spAutoFit/>
          </a:bodyPr>
          <a:lstStyle/>
          <a:p>
            <a:pPr algn="just"/>
            <a:r>
              <a:rPr lang="fr-FR" dirty="0"/>
              <a:t>Ce sont des rubriques indépendantes du système d’information et qui facilitent la lecture des documents.  Ces  informations  sont  généralement  générées  par  le  système  d’édition  du  document. </a:t>
            </a:r>
          </a:p>
          <a:p>
            <a:pPr algn="just"/>
            <a:endParaRPr lang="fr-FR" dirty="0"/>
          </a:p>
          <a:p>
            <a:pPr algn="just"/>
            <a:r>
              <a:rPr lang="fr-FR" dirty="0"/>
              <a:t>Exemple : le N° d’ordre dans une liste qui ne reflète pas toujours un numéro d’identifiant </a:t>
            </a:r>
          </a:p>
          <a:p>
            <a:pPr algn="just"/>
            <a:r>
              <a:rPr lang="fr-FR" dirty="0"/>
              <a:t>dans la base d’information. Les numéros de page, les signatures, les entêtes et les pieds de </a:t>
            </a:r>
          </a:p>
          <a:p>
            <a:pPr algn="just"/>
            <a:r>
              <a:rPr lang="fr-FR" dirty="0"/>
              <a:t>pages, … etc. </a:t>
            </a:r>
          </a:p>
        </p:txBody>
      </p:sp>
    </p:spTree>
    <p:extLst>
      <p:ext uri="{BB962C8B-B14F-4D97-AF65-F5344CB8AC3E}">
        <p14:creationId xmlns:p14="http://schemas.microsoft.com/office/powerpoint/2010/main" val="739190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B2C82F4-DDD8-1050-ECD4-687642259F07}"/>
              </a:ext>
            </a:extLst>
          </p:cNvPr>
          <p:cNvSpPr txBox="1"/>
          <p:nvPr/>
        </p:nvSpPr>
        <p:spPr>
          <a:xfrm>
            <a:off x="3505200" y="457200"/>
            <a:ext cx="2590800"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fr-FR" b="1" dirty="0">
                <a:solidFill>
                  <a:srgbClr val="FF0000"/>
                </a:solidFill>
              </a:rPr>
              <a:t>Format d’une rubrique </a:t>
            </a:r>
          </a:p>
        </p:txBody>
      </p:sp>
      <p:sp>
        <p:nvSpPr>
          <p:cNvPr id="4" name="ZoneTexte 3">
            <a:extLst>
              <a:ext uri="{FF2B5EF4-FFF2-40B4-BE49-F238E27FC236}">
                <a16:creationId xmlns:a16="http://schemas.microsoft.com/office/drawing/2014/main" id="{F25B3F95-B140-5F3A-E621-2863486A09AA}"/>
              </a:ext>
            </a:extLst>
          </p:cNvPr>
          <p:cNvSpPr txBox="1"/>
          <p:nvPr/>
        </p:nvSpPr>
        <p:spPr>
          <a:xfrm>
            <a:off x="990600" y="1939409"/>
            <a:ext cx="2514600"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fr-FR" dirty="0"/>
              <a:t> Nature de la rubrique </a:t>
            </a:r>
          </a:p>
        </p:txBody>
      </p:sp>
      <p:cxnSp>
        <p:nvCxnSpPr>
          <p:cNvPr id="6" name="Connecteur droit avec flèche 5">
            <a:extLst>
              <a:ext uri="{FF2B5EF4-FFF2-40B4-BE49-F238E27FC236}">
                <a16:creationId xmlns:a16="http://schemas.microsoft.com/office/drawing/2014/main" id="{ABBBEA4B-1E05-A704-5571-818CC671BD73}"/>
              </a:ext>
            </a:extLst>
          </p:cNvPr>
          <p:cNvCxnSpPr>
            <a:cxnSpLocks/>
            <a:endCxn id="4" idx="0"/>
          </p:cNvCxnSpPr>
          <p:nvPr/>
        </p:nvCxnSpPr>
        <p:spPr>
          <a:xfrm flipH="1">
            <a:off x="2247900" y="891361"/>
            <a:ext cx="1714500" cy="104804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8" name="ZoneTexte 7">
            <a:extLst>
              <a:ext uri="{FF2B5EF4-FFF2-40B4-BE49-F238E27FC236}">
                <a16:creationId xmlns:a16="http://schemas.microsoft.com/office/drawing/2014/main" id="{A626E884-F2D5-0404-B670-4C3FFB435B5F}"/>
              </a:ext>
            </a:extLst>
          </p:cNvPr>
          <p:cNvSpPr txBox="1"/>
          <p:nvPr/>
        </p:nvSpPr>
        <p:spPr>
          <a:xfrm>
            <a:off x="190500" y="2590800"/>
            <a:ext cx="4038600" cy="4204356"/>
          </a:xfrm>
          <a:prstGeom prst="rect">
            <a:avLst/>
          </a:prstGeom>
          <a:noFill/>
        </p:spPr>
        <p:txBody>
          <a:bodyPr wrap="square">
            <a:spAutoFit/>
          </a:bodyPr>
          <a:lstStyle/>
          <a:p>
            <a:pPr algn="just">
              <a:lnSpc>
                <a:spcPct val="150000"/>
              </a:lnSpc>
            </a:pPr>
            <a:r>
              <a:rPr lang="fr-FR" dirty="0"/>
              <a:t>Une rubrique peut être de nature : </a:t>
            </a:r>
          </a:p>
          <a:p>
            <a:pPr marL="285750" indent="-285750" algn="just">
              <a:lnSpc>
                <a:spcPct val="150000"/>
              </a:lnSpc>
              <a:buFont typeface="Wingdings" panose="05000000000000000000" pitchFamily="2" charset="2"/>
              <a:buChar char="§"/>
            </a:pPr>
            <a:r>
              <a:rPr lang="fr-FR" dirty="0"/>
              <a:t>Numérique : chiffres (0, …,9), les symboles de signe + et – </a:t>
            </a:r>
          </a:p>
          <a:p>
            <a:pPr marL="285750" indent="-285750" algn="just">
              <a:lnSpc>
                <a:spcPct val="150000"/>
              </a:lnSpc>
              <a:buFont typeface="Wingdings" panose="05000000000000000000" pitchFamily="2" charset="2"/>
              <a:buChar char="§"/>
            </a:pPr>
            <a:r>
              <a:rPr lang="fr-FR" dirty="0"/>
              <a:t>Alphabétique : toutes les lettres de l’alphabet </a:t>
            </a:r>
          </a:p>
          <a:p>
            <a:pPr marL="285750" indent="-285750" algn="just">
              <a:lnSpc>
                <a:spcPct val="150000"/>
              </a:lnSpc>
              <a:buFont typeface="Wingdings" panose="05000000000000000000" pitchFamily="2" charset="2"/>
              <a:buChar char="§"/>
            </a:pPr>
            <a:r>
              <a:rPr lang="fr-FR" dirty="0"/>
              <a:t>α-numérique : chiffres, lettres, caractères spéciaux </a:t>
            </a:r>
          </a:p>
          <a:p>
            <a:pPr marL="285750" indent="-285750" algn="just">
              <a:lnSpc>
                <a:spcPct val="150000"/>
              </a:lnSpc>
              <a:buFont typeface="Wingdings" panose="05000000000000000000" pitchFamily="2" charset="2"/>
              <a:buChar char="§"/>
            </a:pPr>
            <a:r>
              <a:rPr lang="fr-FR" dirty="0"/>
              <a:t>Date </a:t>
            </a:r>
          </a:p>
          <a:p>
            <a:pPr marL="285750" indent="-285750" algn="just">
              <a:lnSpc>
                <a:spcPct val="150000"/>
              </a:lnSpc>
              <a:buFont typeface="Wingdings" panose="05000000000000000000" pitchFamily="2" charset="2"/>
              <a:buChar char="§"/>
            </a:pPr>
            <a:r>
              <a:rPr lang="fr-FR" dirty="0"/>
              <a:t>Booléen : Vrai ou Faux ;</a:t>
            </a:r>
          </a:p>
          <a:p>
            <a:pPr algn="just">
              <a:lnSpc>
                <a:spcPct val="150000"/>
              </a:lnSpc>
            </a:pPr>
            <a:endParaRPr lang="fr-FR" dirty="0"/>
          </a:p>
        </p:txBody>
      </p:sp>
      <p:cxnSp>
        <p:nvCxnSpPr>
          <p:cNvPr id="13" name="Connecteur droit 12">
            <a:extLst>
              <a:ext uri="{FF2B5EF4-FFF2-40B4-BE49-F238E27FC236}">
                <a16:creationId xmlns:a16="http://schemas.microsoft.com/office/drawing/2014/main" id="{C5193BDB-582B-77D3-7F1B-DCC3B4B589D5}"/>
              </a:ext>
            </a:extLst>
          </p:cNvPr>
          <p:cNvCxnSpPr>
            <a:cxnSpLocks/>
          </p:cNvCxnSpPr>
          <p:nvPr/>
        </p:nvCxnSpPr>
        <p:spPr>
          <a:xfrm>
            <a:off x="4572000" y="1939409"/>
            <a:ext cx="0" cy="4232791"/>
          </a:xfrm>
          <a:prstGeom prst="line">
            <a:avLst/>
          </a:prstGeom>
        </p:spPr>
        <p:style>
          <a:lnRef idx="3">
            <a:schemeClr val="accent1"/>
          </a:lnRef>
          <a:fillRef idx="0">
            <a:schemeClr val="accent1"/>
          </a:fillRef>
          <a:effectRef idx="2">
            <a:schemeClr val="accent1"/>
          </a:effectRef>
          <a:fontRef idx="minor">
            <a:schemeClr val="tx1"/>
          </a:fontRef>
        </p:style>
      </p:cxnSp>
      <p:sp>
        <p:nvSpPr>
          <p:cNvPr id="15" name="ZoneTexte 14">
            <a:extLst>
              <a:ext uri="{FF2B5EF4-FFF2-40B4-BE49-F238E27FC236}">
                <a16:creationId xmlns:a16="http://schemas.microsoft.com/office/drawing/2014/main" id="{CB126637-93D6-0464-3521-C721A4DBF5AC}"/>
              </a:ext>
            </a:extLst>
          </p:cNvPr>
          <p:cNvSpPr txBox="1"/>
          <p:nvPr/>
        </p:nvSpPr>
        <p:spPr>
          <a:xfrm>
            <a:off x="5562601" y="1939408"/>
            <a:ext cx="2438394"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fr-FR" dirty="0"/>
              <a:t> longueur de la rubrique</a:t>
            </a:r>
          </a:p>
        </p:txBody>
      </p:sp>
      <p:cxnSp>
        <p:nvCxnSpPr>
          <p:cNvPr id="16" name="Connecteur droit avec flèche 15">
            <a:extLst>
              <a:ext uri="{FF2B5EF4-FFF2-40B4-BE49-F238E27FC236}">
                <a16:creationId xmlns:a16="http://schemas.microsoft.com/office/drawing/2014/main" id="{DB912DFC-EC8F-EB78-FCA3-900FFFEFC15B}"/>
              </a:ext>
            </a:extLst>
          </p:cNvPr>
          <p:cNvCxnSpPr>
            <a:cxnSpLocks/>
          </p:cNvCxnSpPr>
          <p:nvPr/>
        </p:nvCxnSpPr>
        <p:spPr>
          <a:xfrm>
            <a:off x="5486400" y="964018"/>
            <a:ext cx="1981200" cy="97539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1" name="ZoneTexte 20">
            <a:extLst>
              <a:ext uri="{FF2B5EF4-FFF2-40B4-BE49-F238E27FC236}">
                <a16:creationId xmlns:a16="http://schemas.microsoft.com/office/drawing/2014/main" id="{3EB72ECB-EA8B-951B-0B0B-6E7004B17CD3}"/>
              </a:ext>
            </a:extLst>
          </p:cNvPr>
          <p:cNvSpPr txBox="1"/>
          <p:nvPr/>
        </p:nvSpPr>
        <p:spPr>
          <a:xfrm>
            <a:off x="4572000" y="2581275"/>
            <a:ext cx="4572000" cy="2403863"/>
          </a:xfrm>
          <a:prstGeom prst="rect">
            <a:avLst/>
          </a:prstGeom>
          <a:noFill/>
        </p:spPr>
        <p:txBody>
          <a:bodyPr wrap="square">
            <a:spAutoFit/>
          </a:bodyPr>
          <a:lstStyle/>
          <a:p>
            <a:pPr marL="285750" indent="-285750" algn="just">
              <a:buFont typeface="Wingdings" panose="05000000000000000000" pitchFamily="2" charset="2"/>
              <a:buChar char="§"/>
            </a:pPr>
            <a:r>
              <a:rPr lang="fr-FR" dirty="0"/>
              <a:t>C’est le nombre de caractères de l’occurrence la plus longue. </a:t>
            </a:r>
          </a:p>
          <a:p>
            <a:pPr algn="just"/>
            <a:r>
              <a:rPr lang="fr-FR" dirty="0"/>
              <a:t> </a:t>
            </a:r>
          </a:p>
          <a:p>
            <a:pPr algn="just"/>
            <a:r>
              <a:rPr lang="fr-FR" b="1" i="1" dirty="0"/>
              <a:t>Exemple :   </a:t>
            </a:r>
          </a:p>
          <a:p>
            <a:pPr marL="285750" indent="-285750" algn="just">
              <a:lnSpc>
                <a:spcPct val="150000"/>
              </a:lnSpc>
              <a:buFont typeface="Courier New" panose="02070309020205020404" pitchFamily="49" charset="0"/>
              <a:buChar char="o"/>
            </a:pPr>
            <a:r>
              <a:rPr lang="fr-FR" dirty="0"/>
              <a:t>Le matricule étudiant à l’université est défini sur 7 caractères numériques. </a:t>
            </a:r>
          </a:p>
          <a:p>
            <a:pPr marL="285750" indent="-285750" algn="just">
              <a:lnSpc>
                <a:spcPct val="150000"/>
              </a:lnSpc>
              <a:buFont typeface="Courier New" panose="02070309020205020404" pitchFamily="49" charset="0"/>
              <a:buChar char="o"/>
            </a:pPr>
            <a:r>
              <a:rPr lang="fr-FR" dirty="0"/>
              <a:t>Le Nom de l’étudiant sur 30 caractères. </a:t>
            </a:r>
          </a:p>
        </p:txBody>
      </p:sp>
    </p:spTree>
    <p:extLst>
      <p:ext uri="{BB962C8B-B14F-4D97-AF65-F5344CB8AC3E}">
        <p14:creationId xmlns:p14="http://schemas.microsoft.com/office/powerpoint/2010/main" val="3968834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barn(inVertical)">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1000"/>
                                        <p:tgtEl>
                                          <p:spTgt spid="15"/>
                                        </p:tgtEl>
                                      </p:cBhvr>
                                    </p:animEffect>
                                    <p:anim calcmode="lin" valueType="num">
                                      <p:cBhvr>
                                        <p:cTn id="32" dur="1000" fill="hold"/>
                                        <p:tgtEl>
                                          <p:spTgt spid="15"/>
                                        </p:tgtEl>
                                        <p:attrNameLst>
                                          <p:attrName>ppt_x</p:attrName>
                                        </p:attrNameLst>
                                      </p:cBhvr>
                                      <p:tavLst>
                                        <p:tav tm="0">
                                          <p:val>
                                            <p:strVal val="#ppt_x"/>
                                          </p:val>
                                        </p:tav>
                                        <p:tav tm="100000">
                                          <p:val>
                                            <p:strVal val="#ppt_x"/>
                                          </p:val>
                                        </p:tav>
                                      </p:tavLst>
                                    </p:anim>
                                    <p:anim calcmode="lin" valueType="num">
                                      <p:cBhvr>
                                        <p:cTn id="3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1000"/>
                                        <p:tgtEl>
                                          <p:spTgt spid="21"/>
                                        </p:tgtEl>
                                      </p:cBhvr>
                                    </p:animEffect>
                                    <p:anim calcmode="lin" valueType="num">
                                      <p:cBhvr>
                                        <p:cTn id="39" dur="1000" fill="hold"/>
                                        <p:tgtEl>
                                          <p:spTgt spid="21"/>
                                        </p:tgtEl>
                                        <p:attrNameLst>
                                          <p:attrName>ppt_x</p:attrName>
                                        </p:attrNameLst>
                                      </p:cBhvr>
                                      <p:tavLst>
                                        <p:tav tm="0">
                                          <p:val>
                                            <p:strVal val="#ppt_x"/>
                                          </p:val>
                                        </p:tav>
                                        <p:tav tm="100000">
                                          <p:val>
                                            <p:strVal val="#ppt_x"/>
                                          </p:val>
                                        </p:tav>
                                      </p:tavLst>
                                    </p:anim>
                                    <p:anim calcmode="lin" valueType="num">
                                      <p:cBhvr>
                                        <p:cTn id="40"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p:bldP spid="15" grpId="0" animBg="1"/>
      <p:bldP spid="2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xfrm>
            <a:off x="198344" y="5610879"/>
            <a:ext cx="245433" cy="179536"/>
          </a:xfrm>
          <a:prstGeom prst="rect">
            <a:avLst/>
          </a:prstGeom>
        </p:spPr>
        <p:txBody>
          <a:bodyPr vert="horz" wrap="square" lIns="0" tIns="0" rIns="0" bIns="0" rtlCol="0">
            <a:spAutoFit/>
          </a:bodyPr>
          <a:lstStyle/>
          <a:p>
            <a:pPr marL="33665">
              <a:lnSpc>
                <a:spcPts val="1380"/>
              </a:lnSpc>
            </a:pPr>
            <a:fld id="{81D60167-4931-47E6-BA6A-407CBD079E47}" type="slidenum">
              <a:rPr spc="-4" dirty="0"/>
              <a:pPr marL="33665">
                <a:lnSpc>
                  <a:spcPts val="1380"/>
                </a:lnSpc>
              </a:pPr>
              <a:t>22</a:t>
            </a:fld>
            <a:endParaRPr spc="-4" dirty="0"/>
          </a:p>
        </p:txBody>
      </p:sp>
      <p:sp>
        <p:nvSpPr>
          <p:cNvPr id="3" name="ZoneTexte 2">
            <a:extLst>
              <a:ext uri="{FF2B5EF4-FFF2-40B4-BE49-F238E27FC236}">
                <a16:creationId xmlns:a16="http://schemas.microsoft.com/office/drawing/2014/main" id="{7EA880D5-D8E5-0FA4-C48B-F94E4CF31CF9}"/>
              </a:ext>
            </a:extLst>
          </p:cNvPr>
          <p:cNvSpPr txBox="1"/>
          <p:nvPr/>
        </p:nvSpPr>
        <p:spPr>
          <a:xfrm>
            <a:off x="198344" y="304800"/>
            <a:ext cx="4572000" cy="584775"/>
          </a:xfrm>
          <a:prstGeom prst="rect">
            <a:avLst/>
          </a:prstGeom>
          <a:noFill/>
        </p:spPr>
        <p:txBody>
          <a:bodyPr wrap="square">
            <a:spAutoFit/>
          </a:bodyPr>
          <a:lstStyle/>
          <a:p>
            <a:r>
              <a:rPr lang="fr-FR" sz="3200" b="1" i="1" dirty="0">
                <a:solidFill>
                  <a:srgbClr val="FF0000"/>
                </a:solidFill>
              </a:rPr>
              <a:t>Etude de l’information </a:t>
            </a:r>
            <a:endParaRPr lang="fr-FR" sz="2200" b="1" dirty="0">
              <a:solidFill>
                <a:schemeClr val="accent6">
                  <a:lumMod val="50000"/>
                </a:schemeClr>
              </a:solidFill>
              <a:latin typeface="+mj-lt"/>
            </a:endParaRPr>
          </a:p>
        </p:txBody>
      </p:sp>
      <p:sp>
        <p:nvSpPr>
          <p:cNvPr id="9" name="ZoneTexte 8">
            <a:extLst>
              <a:ext uri="{FF2B5EF4-FFF2-40B4-BE49-F238E27FC236}">
                <a16:creationId xmlns:a16="http://schemas.microsoft.com/office/drawing/2014/main" id="{C9206C8A-1F02-7DDB-7904-6141B77867B5}"/>
              </a:ext>
            </a:extLst>
          </p:cNvPr>
          <p:cNvSpPr txBox="1"/>
          <p:nvPr/>
        </p:nvSpPr>
        <p:spPr>
          <a:xfrm>
            <a:off x="434252" y="1025137"/>
            <a:ext cx="8229600" cy="3531736"/>
          </a:xfrm>
          <a:prstGeom prst="rect">
            <a:avLst/>
          </a:prstGeom>
          <a:noFill/>
        </p:spPr>
        <p:txBody>
          <a:bodyPr wrap="square">
            <a:spAutoFit/>
          </a:bodyPr>
          <a:lstStyle/>
          <a:p>
            <a:r>
              <a:rPr lang="fr-FR" sz="2400" b="1" dirty="0">
                <a:solidFill>
                  <a:schemeClr val="accent6">
                    <a:lumMod val="75000"/>
                  </a:schemeClr>
                </a:solidFill>
                <a:latin typeface="Times New Roman" panose="02020603050405020304" pitchFamily="18" charset="0"/>
              </a:rPr>
              <a:t>Description de classe </a:t>
            </a:r>
          </a:p>
          <a:p>
            <a:pPr algn="just">
              <a:lnSpc>
                <a:spcPct val="150000"/>
              </a:lnSpc>
            </a:pPr>
            <a:r>
              <a:rPr lang="fr-FR" sz="1900" b="0" i="0" u="none" strike="noStrike" baseline="0" dirty="0">
                <a:solidFill>
                  <a:srgbClr val="333333"/>
                </a:solidFill>
                <a:latin typeface="+mj-lt"/>
              </a:rPr>
              <a:t>    Une description de classe ou de type regroupe l'ensemble de toutes les rubriques permettant de décrire une classe d'informations </a:t>
            </a:r>
          </a:p>
          <a:p>
            <a:pPr marL="342900" indent="-342900" algn="just">
              <a:lnSpc>
                <a:spcPct val="150000"/>
              </a:lnSpc>
              <a:buFont typeface="Wingdings" panose="05000000000000000000" pitchFamily="2" charset="2"/>
              <a:buChar char="§"/>
            </a:pPr>
            <a:r>
              <a:rPr lang="fr-FR" sz="1900" b="0" i="0" u="none" strike="noStrike" baseline="0" dirty="0" smtClean="0">
                <a:solidFill>
                  <a:srgbClr val="333333"/>
                </a:solidFill>
                <a:latin typeface="+mj-lt"/>
              </a:rPr>
              <a:t>Pour </a:t>
            </a:r>
            <a:r>
              <a:rPr lang="fr-FR" sz="1900" b="0" i="0" u="none" strike="noStrike" baseline="0" dirty="0">
                <a:solidFill>
                  <a:srgbClr val="333333"/>
                </a:solidFill>
                <a:latin typeface="+mj-lt"/>
              </a:rPr>
              <a:t>représenter une description de classe on utilise un descripteur qui sera composé de :</a:t>
            </a:r>
          </a:p>
          <a:p>
            <a:pPr algn="ctr">
              <a:lnSpc>
                <a:spcPct val="150000"/>
              </a:lnSpc>
            </a:pPr>
            <a:r>
              <a:rPr lang="fr-FR" sz="1900" b="1" i="0" u="none" strike="noStrike" baseline="0" dirty="0">
                <a:solidFill>
                  <a:srgbClr val="333333"/>
                </a:solidFill>
                <a:latin typeface="+mj-lt"/>
              </a:rPr>
              <a:t> * Nom de la classe * Suivie entre accolades ({}) </a:t>
            </a:r>
          </a:p>
          <a:p>
            <a:pPr algn="just">
              <a:lnSpc>
                <a:spcPct val="150000"/>
              </a:lnSpc>
            </a:pPr>
            <a:endParaRPr lang="fr-FR" sz="1900" dirty="0">
              <a:solidFill>
                <a:srgbClr val="333333"/>
              </a:solidFill>
              <a:latin typeface="+mj-lt"/>
            </a:endParaRPr>
          </a:p>
          <a:p>
            <a:pPr algn="just">
              <a:lnSpc>
                <a:spcPct val="150000"/>
              </a:lnSpc>
            </a:pPr>
            <a:r>
              <a:rPr lang="fr-FR" sz="1900" b="0" i="0" u="none" strike="noStrike" baseline="0" dirty="0">
                <a:solidFill>
                  <a:srgbClr val="333333"/>
                </a:solidFill>
                <a:latin typeface="+mj-lt"/>
              </a:rPr>
              <a:t>de la liste des rubriques concernées en les séparant par des virgules.</a:t>
            </a:r>
            <a:endParaRPr lang="fr-FR" sz="1900" dirty="0">
              <a:latin typeface="+mj-lt"/>
            </a:endParaRPr>
          </a:p>
        </p:txBody>
      </p:sp>
    </p:spTree>
    <p:extLst>
      <p:ext uri="{BB962C8B-B14F-4D97-AF65-F5344CB8AC3E}">
        <p14:creationId xmlns:p14="http://schemas.microsoft.com/office/powerpoint/2010/main" val="3080461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xfrm>
            <a:off x="198344" y="5610879"/>
            <a:ext cx="245433" cy="179536"/>
          </a:xfrm>
          <a:prstGeom prst="rect">
            <a:avLst/>
          </a:prstGeom>
        </p:spPr>
        <p:txBody>
          <a:bodyPr vert="horz" wrap="square" lIns="0" tIns="0" rIns="0" bIns="0" rtlCol="0">
            <a:spAutoFit/>
          </a:bodyPr>
          <a:lstStyle/>
          <a:p>
            <a:pPr marL="33665">
              <a:lnSpc>
                <a:spcPts val="1380"/>
              </a:lnSpc>
            </a:pPr>
            <a:fld id="{81D60167-4931-47E6-BA6A-407CBD079E47}" type="slidenum">
              <a:rPr spc="-4" dirty="0"/>
              <a:pPr marL="33665">
                <a:lnSpc>
                  <a:spcPts val="1380"/>
                </a:lnSpc>
              </a:pPr>
              <a:t>23</a:t>
            </a:fld>
            <a:endParaRPr spc="-4" dirty="0"/>
          </a:p>
        </p:txBody>
      </p:sp>
      <p:sp>
        <p:nvSpPr>
          <p:cNvPr id="3" name="ZoneTexte 2">
            <a:extLst>
              <a:ext uri="{FF2B5EF4-FFF2-40B4-BE49-F238E27FC236}">
                <a16:creationId xmlns:a16="http://schemas.microsoft.com/office/drawing/2014/main" id="{4F55051D-7E46-DF57-E2A9-2E59EAB998E5}"/>
              </a:ext>
            </a:extLst>
          </p:cNvPr>
          <p:cNvSpPr txBox="1"/>
          <p:nvPr/>
        </p:nvSpPr>
        <p:spPr>
          <a:xfrm>
            <a:off x="213754" y="381000"/>
            <a:ext cx="8625445" cy="6025624"/>
          </a:xfrm>
          <a:prstGeom prst="rect">
            <a:avLst/>
          </a:prstGeom>
          <a:noFill/>
        </p:spPr>
        <p:txBody>
          <a:bodyPr wrap="square">
            <a:spAutoFit/>
          </a:bodyPr>
          <a:lstStyle/>
          <a:p>
            <a:pPr>
              <a:lnSpc>
                <a:spcPct val="150000"/>
              </a:lnSpc>
            </a:pPr>
            <a:r>
              <a:rPr lang="fr-FR" b="1" i="1" dirty="0"/>
              <a:t>Exemple : </a:t>
            </a:r>
          </a:p>
          <a:p>
            <a:pPr>
              <a:lnSpc>
                <a:spcPct val="150000"/>
              </a:lnSpc>
            </a:pPr>
            <a:r>
              <a:rPr lang="fr-FR" dirty="0"/>
              <a:t>Les descripteurs de classes suivants : </a:t>
            </a:r>
          </a:p>
          <a:p>
            <a:pPr marL="742950" lvl="1" indent="-285750">
              <a:lnSpc>
                <a:spcPct val="150000"/>
              </a:lnSpc>
              <a:buFont typeface="Wingdings" panose="05000000000000000000" pitchFamily="2" charset="2"/>
              <a:buChar char="ü"/>
            </a:pPr>
            <a:r>
              <a:rPr lang="fr-FR" b="1" dirty="0"/>
              <a:t>AFFECTATION_ETUDIANT </a:t>
            </a:r>
            <a:r>
              <a:rPr lang="fr-FR" dirty="0"/>
              <a:t>{Matricule, Filière, Année, Groupe} </a:t>
            </a:r>
          </a:p>
          <a:p>
            <a:pPr marL="742950" lvl="1" indent="-285750">
              <a:lnSpc>
                <a:spcPct val="150000"/>
              </a:lnSpc>
              <a:buFont typeface="Wingdings" panose="05000000000000000000" pitchFamily="2" charset="2"/>
              <a:buChar char="ü"/>
            </a:pPr>
            <a:r>
              <a:rPr lang="fr-FR" b="1" dirty="0"/>
              <a:t>CLIENT</a:t>
            </a:r>
            <a:r>
              <a:rPr lang="fr-FR" dirty="0"/>
              <a:t> {</a:t>
            </a:r>
            <a:r>
              <a:rPr lang="fr-FR" dirty="0" err="1"/>
              <a:t>CodeClient</a:t>
            </a:r>
            <a:r>
              <a:rPr lang="fr-FR" dirty="0"/>
              <a:t>, </a:t>
            </a:r>
            <a:r>
              <a:rPr lang="fr-FR" dirty="0" err="1"/>
              <a:t>NomClient</a:t>
            </a:r>
            <a:r>
              <a:rPr lang="fr-FR" dirty="0"/>
              <a:t>, ADRESSE {Rue, </a:t>
            </a:r>
            <a:r>
              <a:rPr lang="fr-FR" dirty="0" err="1"/>
              <a:t>CodePostal</a:t>
            </a:r>
            <a:r>
              <a:rPr lang="fr-FR" dirty="0"/>
              <a:t>}} </a:t>
            </a:r>
          </a:p>
          <a:p>
            <a:pPr marL="742950" lvl="1" indent="-285750">
              <a:lnSpc>
                <a:spcPct val="150000"/>
              </a:lnSpc>
              <a:buFont typeface="Wingdings" panose="05000000000000000000" pitchFamily="2" charset="2"/>
              <a:buChar char="ü"/>
            </a:pPr>
            <a:r>
              <a:rPr lang="fr-FR" b="1" dirty="0"/>
              <a:t>ETUDIANT</a:t>
            </a:r>
            <a:r>
              <a:rPr lang="fr-FR" dirty="0"/>
              <a:t> {matricule, </a:t>
            </a:r>
            <a:r>
              <a:rPr lang="fr-FR" dirty="0" err="1"/>
              <a:t>Nom_Pren</a:t>
            </a:r>
            <a:r>
              <a:rPr lang="fr-FR" dirty="0"/>
              <a:t>, MODULE {</a:t>
            </a:r>
            <a:r>
              <a:rPr lang="fr-FR" dirty="0" err="1"/>
              <a:t>Code_Module</a:t>
            </a:r>
            <a:r>
              <a:rPr lang="fr-FR" dirty="0"/>
              <a:t>, Coefficient, EMD {</a:t>
            </a:r>
            <a:r>
              <a:rPr lang="fr-FR" dirty="0" err="1"/>
              <a:t>NumEMD</a:t>
            </a:r>
            <a:r>
              <a:rPr lang="fr-FR" dirty="0"/>
              <a:t>, NOTE}}} </a:t>
            </a:r>
          </a:p>
          <a:p>
            <a:pPr lvl="1">
              <a:lnSpc>
                <a:spcPct val="150000"/>
              </a:lnSpc>
            </a:pPr>
            <a:endParaRPr lang="fr-FR" dirty="0"/>
          </a:p>
          <a:p>
            <a:pPr marL="285750" indent="-285750" algn="just">
              <a:lnSpc>
                <a:spcPct val="150000"/>
              </a:lnSpc>
              <a:buFont typeface="Wingdings" panose="05000000000000000000" pitchFamily="2" charset="2"/>
              <a:buChar char="§"/>
            </a:pPr>
            <a:r>
              <a:rPr lang="fr-FR" sz="1900" dirty="0"/>
              <a:t>Adresse est une </a:t>
            </a:r>
            <a:r>
              <a:rPr lang="fr-FR" sz="1900" b="1" dirty="0">
                <a:solidFill>
                  <a:srgbClr val="C00000"/>
                </a:solidFill>
              </a:rPr>
              <a:t>rubrique groupée </a:t>
            </a:r>
            <a:r>
              <a:rPr lang="fr-FR" sz="1900" dirty="0"/>
              <a:t>: si l'on considère qu'un client n'a qu'une et une seule adresse. Elle deviendra une rubrique </a:t>
            </a:r>
            <a:r>
              <a:rPr lang="fr-FR" sz="1900" b="1" dirty="0"/>
              <a:t>« groupée » </a:t>
            </a:r>
            <a:r>
              <a:rPr lang="fr-FR" sz="1900" dirty="0"/>
              <a:t>et </a:t>
            </a:r>
            <a:r>
              <a:rPr lang="fr-FR" sz="1900" b="1" dirty="0"/>
              <a:t>« répétitive » </a:t>
            </a:r>
            <a:r>
              <a:rPr lang="fr-FR" sz="1900" dirty="0"/>
              <a:t>si l'on considère qu'un client peut avoir plus d'une adresse</a:t>
            </a:r>
          </a:p>
          <a:p>
            <a:pPr algn="just"/>
            <a:endParaRPr lang="fr-FR" sz="1900" dirty="0"/>
          </a:p>
          <a:p>
            <a:pPr marL="285750" indent="-285750" algn="just">
              <a:buFont typeface="Wingdings" panose="05000000000000000000" pitchFamily="2" charset="2"/>
              <a:buChar char="§"/>
            </a:pPr>
            <a:r>
              <a:rPr lang="fr-FR" sz="1900" dirty="0"/>
              <a:t> Module et EMD sont des rubriques </a:t>
            </a:r>
            <a:r>
              <a:rPr lang="fr-FR" sz="1900" dirty="0">
                <a:solidFill>
                  <a:srgbClr val="C00000"/>
                </a:solidFill>
              </a:rPr>
              <a:t>répétitives de groupe</a:t>
            </a:r>
            <a:r>
              <a:rPr lang="fr-FR" sz="1900" dirty="0"/>
              <a:t>. </a:t>
            </a:r>
          </a:p>
          <a:p>
            <a:pPr algn="just"/>
            <a:endParaRPr lang="fr-FR" sz="1900" dirty="0"/>
          </a:p>
          <a:p>
            <a:pPr marL="285750" indent="-285750" algn="just">
              <a:lnSpc>
                <a:spcPct val="150000"/>
              </a:lnSpc>
              <a:buFont typeface="Wingdings" panose="05000000000000000000" pitchFamily="2" charset="2"/>
              <a:buChar char="§"/>
            </a:pPr>
            <a:r>
              <a:rPr lang="fr-FR" sz="1900" dirty="0"/>
              <a:t>Module est une nouvelle classe</a:t>
            </a:r>
            <a:r>
              <a:rPr lang="fr-FR" sz="1900" b="1" dirty="0">
                <a:solidFill>
                  <a:srgbClr val="C00000"/>
                </a:solidFill>
              </a:rPr>
              <a:t> subordonnée </a:t>
            </a:r>
            <a:r>
              <a:rPr lang="fr-FR" sz="1900" dirty="0"/>
              <a:t>à la classe Etudiant EMD est une nouvelle classe subordonnée à la classe Module.</a:t>
            </a:r>
          </a:p>
        </p:txBody>
      </p:sp>
    </p:spTree>
    <p:extLst>
      <p:ext uri="{BB962C8B-B14F-4D97-AF65-F5344CB8AC3E}">
        <p14:creationId xmlns:p14="http://schemas.microsoft.com/office/powerpoint/2010/main" val="1274013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D11C29AC-B394-DC5D-4347-83BF717A016F}"/>
              </a:ext>
            </a:extLst>
          </p:cNvPr>
          <p:cNvSpPr txBox="1"/>
          <p:nvPr/>
        </p:nvSpPr>
        <p:spPr>
          <a:xfrm>
            <a:off x="228600" y="304800"/>
            <a:ext cx="8686800" cy="584775"/>
          </a:xfrm>
          <a:prstGeom prst="rect">
            <a:avLst/>
          </a:prstGeom>
          <a:noFill/>
        </p:spPr>
        <p:txBody>
          <a:bodyPr wrap="square">
            <a:spAutoFit/>
          </a:bodyPr>
          <a:lstStyle/>
          <a:p>
            <a:r>
              <a:rPr lang="fr-FR" dirty="0"/>
              <a:t> </a:t>
            </a:r>
            <a:r>
              <a:rPr lang="fr-FR" sz="3200" b="1" i="0" u="none" strike="noStrike" dirty="0">
                <a:solidFill>
                  <a:srgbClr val="C00000"/>
                </a:solidFill>
                <a:effectLst/>
                <a:latin typeface="Verdana" panose="020B0604030504040204" pitchFamily="34" charset="0"/>
              </a:rPr>
              <a:t> </a:t>
            </a:r>
            <a:r>
              <a:rPr lang="fr-FR" sz="3200" b="1" i="1" dirty="0">
                <a:solidFill>
                  <a:srgbClr val="FF0000"/>
                </a:solidFill>
              </a:rPr>
              <a:t>Identifiant ou clé </a:t>
            </a:r>
            <a:r>
              <a:rPr lang="fr-FR" sz="3200" b="1" i="0" u="none" strike="noStrike" dirty="0">
                <a:solidFill>
                  <a:srgbClr val="C00000"/>
                </a:solidFill>
                <a:effectLst/>
                <a:latin typeface="Verdana" panose="020B0604030504040204" pitchFamily="34" charset="0"/>
              </a:rPr>
              <a:t>(</a:t>
            </a:r>
            <a:r>
              <a:rPr lang="fr-FR" sz="3200" b="1" i="1" dirty="0">
                <a:solidFill>
                  <a:srgbClr val="FF0000"/>
                </a:solidFill>
              </a:rPr>
              <a:t>Référence et Indicatif) </a:t>
            </a:r>
          </a:p>
        </p:txBody>
      </p:sp>
      <p:sp>
        <p:nvSpPr>
          <p:cNvPr id="7" name="ZoneTexte 6">
            <a:extLst>
              <a:ext uri="{FF2B5EF4-FFF2-40B4-BE49-F238E27FC236}">
                <a16:creationId xmlns:a16="http://schemas.microsoft.com/office/drawing/2014/main" id="{864C5463-764E-C08B-23B3-B7F84E73FA43}"/>
              </a:ext>
            </a:extLst>
          </p:cNvPr>
          <p:cNvSpPr txBox="1"/>
          <p:nvPr/>
        </p:nvSpPr>
        <p:spPr>
          <a:xfrm>
            <a:off x="228600" y="990600"/>
            <a:ext cx="8763000" cy="5062924"/>
          </a:xfrm>
          <a:prstGeom prst="rect">
            <a:avLst/>
          </a:prstGeom>
          <a:noFill/>
        </p:spPr>
        <p:txBody>
          <a:bodyPr wrap="square">
            <a:spAutoFit/>
          </a:bodyPr>
          <a:lstStyle/>
          <a:p>
            <a:endParaRPr lang="fr-FR" sz="1900" dirty="0"/>
          </a:p>
          <a:p>
            <a:r>
              <a:rPr lang="fr-FR" sz="1900" b="1" dirty="0"/>
              <a:t>Exemple : Le matricule de l’étudiant, N° de sécurité sociale, N° de permis de conduire,  </a:t>
            </a:r>
          </a:p>
          <a:p>
            <a:endParaRPr lang="fr-FR" sz="1900" dirty="0"/>
          </a:p>
          <a:p>
            <a:pPr marL="342900" indent="-342900">
              <a:buFont typeface="Wingdings" panose="05000000000000000000" pitchFamily="2" charset="2"/>
              <a:buChar char="q"/>
            </a:pPr>
            <a:r>
              <a:rPr lang="fr-FR" sz="1900" dirty="0"/>
              <a:t>Les  occurrences  d’une  rubrique  de  référence  sont  appelées  </a:t>
            </a:r>
            <a:r>
              <a:rPr lang="fr-FR" sz="1900" b="1" dirty="0">
                <a:solidFill>
                  <a:srgbClr val="FF0000"/>
                </a:solidFill>
              </a:rPr>
              <a:t>indicatifs.  </a:t>
            </a:r>
          </a:p>
          <a:p>
            <a:endParaRPr lang="fr-FR" sz="1900" dirty="0"/>
          </a:p>
          <a:p>
            <a:r>
              <a:rPr lang="fr-FR" sz="1900" b="1" dirty="0"/>
              <a:t>Exemple  :  les indicatifs de matricule étudiant 5842301, 5843001, … </a:t>
            </a:r>
          </a:p>
          <a:p>
            <a:endParaRPr lang="fr-FR" sz="1900" b="1" dirty="0"/>
          </a:p>
          <a:p>
            <a:r>
              <a:rPr lang="fr-FR" sz="1900" dirty="0"/>
              <a:t>A toute classe il faut attribuer une rubrique de référence soit : </a:t>
            </a:r>
          </a:p>
          <a:p>
            <a:endParaRPr lang="fr-FR" sz="1900" dirty="0"/>
          </a:p>
          <a:p>
            <a:pPr marL="342900" indent="-342900">
              <a:buFont typeface="Wingdings" panose="05000000000000000000" pitchFamily="2" charset="2"/>
              <a:buChar char="ü"/>
            </a:pPr>
            <a:r>
              <a:rPr lang="fr-FR" sz="1900" dirty="0"/>
              <a:t>En choisissant une parmi les rubriques de description de la classe. </a:t>
            </a:r>
          </a:p>
          <a:p>
            <a:pPr marL="342900" indent="-342900">
              <a:buFont typeface="Wingdings" panose="05000000000000000000" pitchFamily="2" charset="2"/>
              <a:buChar char="ü"/>
            </a:pPr>
            <a:r>
              <a:rPr lang="fr-FR" sz="1900" dirty="0"/>
              <a:t>En  ajoutant  une  nouvelle  rubrique  de  référence  qui  sera  considérée  comme  une rubrique décrivant la classe. </a:t>
            </a:r>
          </a:p>
          <a:p>
            <a:endParaRPr lang="fr-FR" sz="1900" dirty="0"/>
          </a:p>
          <a:p>
            <a:pPr marL="342900" indent="-342900">
              <a:buFont typeface="Wingdings" panose="05000000000000000000" pitchFamily="2" charset="2"/>
              <a:buChar char="§"/>
            </a:pPr>
            <a:r>
              <a:rPr lang="fr-FR" sz="1900" dirty="0"/>
              <a:t>En général, il est recommandé d’utiliser des rubriques numériques de longueur fixe comme rubrique de référence. Une </a:t>
            </a:r>
            <a:r>
              <a:rPr lang="fr-FR" sz="1900" b="1" dirty="0">
                <a:solidFill>
                  <a:srgbClr val="FF0000"/>
                </a:solidFill>
              </a:rPr>
              <a:t>référence </a:t>
            </a:r>
            <a:r>
              <a:rPr lang="fr-FR" sz="1900" dirty="0"/>
              <a:t>est une rubrique dont les occurrences permettent d’identifier sans ambiguïté chaque occurrence de classe. </a:t>
            </a:r>
          </a:p>
          <a:p>
            <a:pPr marL="342900" indent="-342900">
              <a:buFont typeface="Wingdings" panose="05000000000000000000" pitchFamily="2" charset="2"/>
              <a:buChar char="§"/>
            </a:pPr>
            <a:endParaRPr lang="fr-FR" sz="1900" dirty="0"/>
          </a:p>
        </p:txBody>
      </p:sp>
    </p:spTree>
    <p:extLst>
      <p:ext uri="{BB962C8B-B14F-4D97-AF65-F5344CB8AC3E}">
        <p14:creationId xmlns:p14="http://schemas.microsoft.com/office/powerpoint/2010/main" val="3482854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0CA9DDD7-E1F0-6555-18B8-8CB471959D94}"/>
              </a:ext>
            </a:extLst>
          </p:cNvPr>
          <p:cNvSpPr txBox="1"/>
          <p:nvPr/>
        </p:nvSpPr>
        <p:spPr>
          <a:xfrm>
            <a:off x="457200" y="2743200"/>
            <a:ext cx="8382000" cy="3117135"/>
          </a:xfrm>
          <a:prstGeom prst="rect">
            <a:avLst/>
          </a:prstGeom>
          <a:noFill/>
        </p:spPr>
        <p:txBody>
          <a:bodyPr wrap="square">
            <a:spAutoFit/>
          </a:bodyPr>
          <a:lstStyle/>
          <a:p>
            <a:pPr>
              <a:lnSpc>
                <a:spcPct val="150000"/>
              </a:lnSpc>
            </a:pPr>
            <a:r>
              <a:rPr lang="fr-FR" sz="1900" dirty="0"/>
              <a:t>Un </a:t>
            </a:r>
            <a:r>
              <a:rPr lang="fr-FR" sz="1900" b="1" dirty="0"/>
              <a:t>SI </a:t>
            </a:r>
            <a:r>
              <a:rPr lang="fr-FR" sz="1900" dirty="0"/>
              <a:t>peut avoir plusieurs types de schéma le décrivant comme nous le verrons plus tard. on distingue deux niveaux :</a:t>
            </a:r>
          </a:p>
          <a:p>
            <a:pPr marL="742950" lvl="1" indent="-285750">
              <a:lnSpc>
                <a:spcPct val="150000"/>
              </a:lnSpc>
              <a:buFont typeface="Wingdings" panose="05000000000000000000" pitchFamily="2" charset="2"/>
              <a:buChar char="ü"/>
            </a:pPr>
            <a:r>
              <a:rPr lang="fr-FR" sz="1900" b="1" i="1" dirty="0"/>
              <a:t>Niveau conceptuel (conception) : </a:t>
            </a:r>
            <a:r>
              <a:rPr lang="fr-FR" sz="1900" dirty="0"/>
              <a:t>il s'intéresse à l'aspect structurel des informations et dont le résultat est le schéma conceptuel du SI.</a:t>
            </a:r>
          </a:p>
          <a:p>
            <a:pPr marL="742950" lvl="1" indent="-285750">
              <a:lnSpc>
                <a:spcPct val="150000"/>
              </a:lnSpc>
              <a:buFont typeface="Wingdings" panose="05000000000000000000" pitchFamily="2" charset="2"/>
              <a:buChar char="ü"/>
            </a:pPr>
            <a:r>
              <a:rPr lang="fr-FR" sz="1900" b="1" i="1" dirty="0"/>
              <a:t>Niveau interne (réalisation) </a:t>
            </a:r>
            <a:r>
              <a:rPr lang="fr-FR" sz="1900" dirty="0"/>
              <a:t>: il s'intéresse aux valeurs telles qu'elles sont effectivement utilisées dans les traitements, c'est l'aspect implémentation ou réalisation.</a:t>
            </a:r>
          </a:p>
        </p:txBody>
      </p:sp>
      <p:sp>
        <p:nvSpPr>
          <p:cNvPr id="3" name="ZoneTexte 2">
            <a:extLst>
              <a:ext uri="{FF2B5EF4-FFF2-40B4-BE49-F238E27FC236}">
                <a16:creationId xmlns:a16="http://schemas.microsoft.com/office/drawing/2014/main" id="{3903A109-FD69-3D68-F150-27D51246309F}"/>
              </a:ext>
            </a:extLst>
          </p:cNvPr>
          <p:cNvSpPr txBox="1"/>
          <p:nvPr/>
        </p:nvSpPr>
        <p:spPr>
          <a:xfrm>
            <a:off x="285750" y="1184129"/>
            <a:ext cx="8229600" cy="1362809"/>
          </a:xfrm>
          <a:prstGeom prst="rect">
            <a:avLst/>
          </a:prstGeom>
          <a:noFill/>
        </p:spPr>
        <p:txBody>
          <a:bodyPr wrap="square">
            <a:spAutoFit/>
          </a:bodyPr>
          <a:lstStyle/>
          <a:p>
            <a:pPr algn="just">
              <a:lnSpc>
                <a:spcPct val="150000"/>
              </a:lnSpc>
            </a:pPr>
            <a:r>
              <a:rPr lang="fr-FR" sz="1900" b="1" dirty="0">
                <a:solidFill>
                  <a:srgbClr val="C00000"/>
                </a:solidFill>
              </a:rPr>
              <a:t>Schéma d'information  : </a:t>
            </a:r>
            <a:r>
              <a:rPr lang="fr-FR" sz="1900" dirty="0"/>
              <a:t>On appelle schéma d'information, l'ensemble des descripteurs de la classe du système d'information étudié et on note : S : {DC1,..., </a:t>
            </a:r>
            <a:r>
              <a:rPr lang="fr-FR" sz="1900" dirty="0" err="1"/>
              <a:t>DCn</a:t>
            </a:r>
            <a:r>
              <a:rPr lang="fr-FR" sz="1900" dirty="0"/>
              <a:t>}</a:t>
            </a:r>
          </a:p>
        </p:txBody>
      </p:sp>
      <p:sp>
        <p:nvSpPr>
          <p:cNvPr id="6" name="ZoneTexte 5">
            <a:extLst>
              <a:ext uri="{FF2B5EF4-FFF2-40B4-BE49-F238E27FC236}">
                <a16:creationId xmlns:a16="http://schemas.microsoft.com/office/drawing/2014/main" id="{9169BFE6-8D34-C975-19B2-98E77AC6C457}"/>
              </a:ext>
            </a:extLst>
          </p:cNvPr>
          <p:cNvSpPr txBox="1"/>
          <p:nvPr/>
        </p:nvSpPr>
        <p:spPr>
          <a:xfrm>
            <a:off x="304800" y="403092"/>
            <a:ext cx="4572000" cy="584775"/>
          </a:xfrm>
          <a:prstGeom prst="rect">
            <a:avLst/>
          </a:prstGeom>
          <a:noFill/>
        </p:spPr>
        <p:txBody>
          <a:bodyPr wrap="square">
            <a:spAutoFit/>
          </a:bodyPr>
          <a:lstStyle/>
          <a:p>
            <a:r>
              <a:rPr lang="fr-FR" sz="3200" b="1" i="1" dirty="0">
                <a:solidFill>
                  <a:srgbClr val="FF0000"/>
                </a:solidFill>
              </a:rPr>
              <a:t>Schéma d'information </a:t>
            </a:r>
          </a:p>
        </p:txBody>
      </p:sp>
    </p:spTree>
    <p:extLst>
      <p:ext uri="{BB962C8B-B14F-4D97-AF65-F5344CB8AC3E}">
        <p14:creationId xmlns:p14="http://schemas.microsoft.com/office/powerpoint/2010/main" val="3604773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4727E7DC-40C4-0CFE-2571-F1BF8FB10EAD}"/>
              </a:ext>
            </a:extLst>
          </p:cNvPr>
          <p:cNvSpPr txBox="1"/>
          <p:nvPr/>
        </p:nvSpPr>
        <p:spPr>
          <a:xfrm>
            <a:off x="304800" y="914400"/>
            <a:ext cx="7924800" cy="4204356"/>
          </a:xfrm>
          <a:prstGeom prst="rect">
            <a:avLst/>
          </a:prstGeom>
          <a:noFill/>
        </p:spPr>
        <p:txBody>
          <a:bodyPr wrap="square">
            <a:spAutoFit/>
          </a:bodyPr>
          <a:lstStyle/>
          <a:p>
            <a:pPr algn="just">
              <a:lnSpc>
                <a:spcPct val="150000"/>
              </a:lnSpc>
            </a:pPr>
            <a:r>
              <a:rPr lang="fr-FR" dirty="0"/>
              <a:t>Il y a trois critères essentiels pour caractériser la qualité d’une information:  </a:t>
            </a:r>
          </a:p>
          <a:p>
            <a:pPr marL="1200150" lvl="2" indent="-285750" algn="just">
              <a:lnSpc>
                <a:spcPct val="150000"/>
              </a:lnSpc>
              <a:buFont typeface="Wingdings" panose="05000000000000000000" pitchFamily="2" charset="2"/>
              <a:buChar char="ü"/>
            </a:pPr>
            <a:r>
              <a:rPr lang="fr-FR" dirty="0"/>
              <a:t>La fiabilité (est-elle exacte et à jour?) </a:t>
            </a:r>
          </a:p>
          <a:p>
            <a:pPr marL="1200150" lvl="2" indent="-285750" algn="just">
              <a:lnSpc>
                <a:spcPct val="150000"/>
              </a:lnSpc>
              <a:buFont typeface="Wingdings" panose="05000000000000000000" pitchFamily="2" charset="2"/>
              <a:buChar char="ü"/>
            </a:pPr>
            <a:r>
              <a:rPr lang="fr-FR" dirty="0"/>
              <a:t>La disponibilité (parvient-elle au bon moment, aux bons destinataires et sous une forme directement et rapidement exploitable?)  </a:t>
            </a:r>
          </a:p>
          <a:p>
            <a:pPr marL="1200150" lvl="2" indent="-285750" algn="just">
              <a:lnSpc>
                <a:spcPct val="150000"/>
              </a:lnSpc>
              <a:buFont typeface="Wingdings" panose="05000000000000000000" pitchFamily="2" charset="2"/>
              <a:buChar char="ü"/>
            </a:pPr>
            <a:r>
              <a:rPr lang="fr-FR" dirty="0"/>
              <a:t>La pertinence (est-elle autorisée par la législation et ni redondante ni calculable à partir d’autres informations?). </a:t>
            </a:r>
          </a:p>
          <a:p>
            <a:pPr algn="just">
              <a:lnSpc>
                <a:spcPct val="150000"/>
              </a:lnSpc>
            </a:pPr>
            <a:r>
              <a:rPr lang="fr-FR" b="1" i="1" dirty="0"/>
              <a:t>Exemple : </a:t>
            </a:r>
          </a:p>
          <a:p>
            <a:pPr algn="just">
              <a:lnSpc>
                <a:spcPct val="150000"/>
              </a:lnSpc>
            </a:pPr>
            <a:r>
              <a:rPr lang="fr-FR" dirty="0"/>
              <a:t>Si la date de naissance d’un individu est déjà mémorisée dans une base de données, son âge  n’est  pas  une  information  pertinente  puis qu’il  est  calculable  à  partir  de  la  date  de naissance. </a:t>
            </a:r>
          </a:p>
        </p:txBody>
      </p:sp>
      <p:sp>
        <p:nvSpPr>
          <p:cNvPr id="6" name="ZoneTexte 5">
            <a:extLst>
              <a:ext uri="{FF2B5EF4-FFF2-40B4-BE49-F238E27FC236}">
                <a16:creationId xmlns:a16="http://schemas.microsoft.com/office/drawing/2014/main" id="{F991125A-8353-9C88-3F5A-F0D13B5009B2}"/>
              </a:ext>
            </a:extLst>
          </p:cNvPr>
          <p:cNvSpPr txBox="1"/>
          <p:nvPr/>
        </p:nvSpPr>
        <p:spPr>
          <a:xfrm>
            <a:off x="152400" y="234375"/>
            <a:ext cx="4572000" cy="584775"/>
          </a:xfrm>
          <a:prstGeom prst="rect">
            <a:avLst/>
          </a:prstGeom>
          <a:noFill/>
        </p:spPr>
        <p:txBody>
          <a:bodyPr wrap="square">
            <a:spAutoFit/>
          </a:bodyPr>
          <a:lstStyle/>
          <a:p>
            <a:r>
              <a:rPr lang="fr-FR" dirty="0"/>
              <a:t> </a:t>
            </a:r>
            <a:r>
              <a:rPr lang="fr-FR" sz="3200" b="1" i="1" dirty="0">
                <a:solidFill>
                  <a:srgbClr val="FF0000"/>
                </a:solidFill>
              </a:rPr>
              <a:t>Qualité de l'information </a:t>
            </a:r>
          </a:p>
        </p:txBody>
      </p:sp>
    </p:spTree>
    <p:extLst>
      <p:ext uri="{BB962C8B-B14F-4D97-AF65-F5344CB8AC3E}">
        <p14:creationId xmlns:p14="http://schemas.microsoft.com/office/powerpoint/2010/main" val="1675489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3435</TotalTime>
  <Words>2022</Words>
  <Application>Microsoft Office PowerPoint</Application>
  <PresentationFormat>On-screen Show (4:3)</PresentationFormat>
  <Paragraphs>206</Paragraphs>
  <Slides>26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Abel</vt:lpstr>
      <vt:lpstr>-apple-system</vt:lpstr>
      <vt:lpstr>Arial</vt:lpstr>
      <vt:lpstr>Calibri</vt:lpstr>
      <vt:lpstr>Courier New</vt:lpstr>
      <vt:lpstr>Franklin Gothic Medium</vt:lpstr>
      <vt:lpstr>Times New Roman</vt:lpstr>
      <vt:lpstr>Verdana</vt:lpstr>
      <vt:lpstr>Wingdings</vt:lpstr>
      <vt:lpstr>Office Theme</vt:lpstr>
      <vt:lpstr>Système d’Information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Chapitre I. Introduction aux compilateurs</dc:title>
  <dc:creator>AISSA</dc:creator>
  <cp:lastModifiedBy>hp</cp:lastModifiedBy>
  <cp:revision>49</cp:revision>
  <dcterms:created xsi:type="dcterms:W3CDTF">2022-09-13T16:09:23Z</dcterms:created>
  <dcterms:modified xsi:type="dcterms:W3CDTF">2024-02-18T19:00:13Z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2020-12-27T00:00:00Z</vt:filetime>
  </property>
  <property fmtid="{D5CDD505-2E9C-101B-9397-08002B2CF9AE}" pid="3" name="Creator">
    <vt:lpwstr>Microsoft® Office PowerPoint® 2007</vt:lpwstr>
  </property>
  <property fmtid="{D5CDD505-2E9C-101B-9397-08002B2CF9AE}" pid="4" name="LastSaved">
    <vt:filetime>2022-09-13T00:00:00Z</vt:filetime>
  </property>
</Properties>
</file>